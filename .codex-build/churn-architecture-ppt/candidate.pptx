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03016ddcc4c7a" /><Relationship Type="http://schemas.openxmlformats.org/officeDocument/2006/relationships/extended-properties" Target="/docProps/app.xml" Id="R8e3660a956984e28" /><Relationship Type="http://schemas.openxmlformats.org/officeDocument/2006/relationships/officeDocument" Target="/ppt/presentation.xml" Id="R5daa7880b984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f1099015aa4129"/>
  </p:sldMasterIdLst>
  <p:notesMasterIdLst>
    <p:notesMasterId xmlns:r="http://schemas.openxmlformats.org/officeDocument/2006/relationships" r:id="Re11df729a3044722"/>
  </p:notesMasterIdLst>
  <p:sldIdLst>
    <p:sldId xmlns:r="http://schemas.openxmlformats.org/officeDocument/2006/relationships" id="256" r:id="R78e53c093e2444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b56e0636b84d76" /><Relationship Type="http://schemas.openxmlformats.org/officeDocument/2006/relationships/slideMaster" Target="/ppt/slideMasters/slideMaster1.xml" Id="R7cf1099015aa4129" /><Relationship Type="http://schemas.openxmlformats.org/officeDocument/2006/relationships/notesMaster" Target="/ppt/notesMasters/notesMaster1.xml" Id="Re11df729a3044722" /><Relationship Type="http://schemas.openxmlformats.org/officeDocument/2006/relationships/presProps" Target="/ppt/presProps.xml" Id="Rd60b814c63a44b01" /><Relationship Type="http://schemas.openxmlformats.org/officeDocument/2006/relationships/tableStyles" Target="/ppt/tableStyles.xml" Id="Re8846415f52144de" /><Relationship Type="http://schemas.openxmlformats.org/officeDocument/2006/relationships/slide" Target="/ppt/slides/slide1.xml" Id="R78e53c093e2444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7ae19e98f544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f95c195c3a45da" /><Relationship Type="http://schemas.openxmlformats.org/officeDocument/2006/relationships/notesMaster" Target="/ppt/notesMasters/notesMaster1.xml" Id="R201586d60ab042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문의 접수부터 상담 제안 확인까지의 이벤트 모델링 자료와 전체관계도 Mermaid 스크립트.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5a03721d04f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c0b742d3ee4c4d" /><Relationship Type="http://schemas.openxmlformats.org/officeDocument/2006/relationships/slideLayout" Target="/ppt/slideLayouts/slideLayout1.xml" Id="Rb434dad5278246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4dad5278246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ac5bc1f27421f" /><Relationship Type="http://schemas.openxmlformats.org/officeDocument/2006/relationships/notesSlide" Target="/ppt/notesSlides/notesSlide1.xml" Id="R4e97f5347e24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6A7631-F95E-4614-98F4-AB4B6DBE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② 논리 아키텍처 › 전체관계도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317E2-C76D-45F2-88A5-88A082D2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이탈위험 대응 상담 시스템 논리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EF05C-E640-4D32-936A-E872EDD0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0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C501B-44F2-4E61-A21C-FD0E61B0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C34AC-CB54-42C2-B046-65FBD21C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287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사용자·사내 연계 시스템·외부 AI 사업자의 통제 경계를 분리하고, 경계마다 전달 데이터와 민감정보를 표시함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DBE80-EB8C-4545-A8D4-4222DB38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2571750" cy="44005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2E74C6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C3AD-0194-4D59-8060-9D12E41D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C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E74C6"/>
                </a:solidFill>
                <a:latin typeface="Noto Sans KR"/>
                <a:ea typeface="Noto Sans KR"/>
                <a:cs typeface="Noto Sans KR"/>
              </a:rPr>
              <a:t>TB-1  외부 사용자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6348D-A429-473D-AA84-040FEFA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33375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1E2A5C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74A9D-8E1F-4C70-B246-1BB9FAE9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09775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TB-2  당사 통제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7A467-C0DF-40CD-8DD6-764FAE37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81125"/>
            <a:ext cx="228600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7C8598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65066-E5F5-4FCF-BB27-6C649ED2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382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TB-3  사내 연계 시스템 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D6C42-1EA0-4DD4-BA62-B95E4D71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2286000" cy="2066925"/>
          </a:xfrm>
          <a:prstGeom xmlns:a="http://schemas.openxmlformats.org/drawingml/2006/main" prst="roundRect">
            <a:avLst>
              <a:gd name="adj" fmla="val 46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404155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894A7-F68D-493C-BFF6-890DA1CB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719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415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404155"/>
                </a:solidFill>
                <a:latin typeface="Noto Sans KR"/>
                <a:ea typeface="Noto Sans KR"/>
                <a:cs typeface="Noto Sans KR"/>
              </a:rPr>
              <a:t>TB-4  외부 AI 사업자 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A8D29-FCAF-4E97-9F1F-EE71AB66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E74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0746F-E5EE-4120-8529-81F93D78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E74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상담사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166E6-BE6A-440C-98A8-169191B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E74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4C9FA-8FF3-4773-8FB6-A94FD792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15240">
            <a:solidFill>
              <a:srgbClr val="1E2A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이탈위험 대응 상담 시스템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8DE67-FA1E-41EC-BBEB-B30C65E1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C859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고객정보계</a:t>
            </a:r>
          </a:p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보유카드정보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4DC7A-D369-4EF4-8B6F-89F22D43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C859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카드이용계</a:t>
            </a:r>
          </a:p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이용현황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E50AA-2E06-44AB-B2CB-C2DB4F9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386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0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외부 예측 AI 서비스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1CDAF-85DC-472C-821A-BE39E621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482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0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외부 LLM</a:t>
            </a:r>
          </a:p>
        </p:txBody>
      </p:sp>
      <p:cxnSp>
        <p:nvCxnSpPr>
          <p:cNvPr id="62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571625" y="232410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0EC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381250" y="3048000"/>
            <a:ext cx="23812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E74C6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381250" y="3048000"/>
            <a:ext cx="2381250" cy="1771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E74C6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239000" y="2228850"/>
            <a:ext cx="257175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8598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239000" y="3038475"/>
            <a:ext cx="2571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8598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239000" y="3048000"/>
            <a:ext cx="257175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0415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239000" y="3048000"/>
            <a:ext cx="2571750" cy="2276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04155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D5435-0C85-4842-A9C6-16295BE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상담질문·본인확인 정보</a:t>
            </a:r>
          </a:p>
          <a:p xmlns:a="http://schemas.openxmlformats.org/drawingml/2006/main">
            <a:pPr algn="ctr">
              <a:def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상담 안내·확인 결과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B146AF-07D6-411C-9673-BFD51FCE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62200"/>
            <a:ext cx="13811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TB-1 · SL-1·2·3·4</a:t>
            </a: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
회원ID·질문·상담사ID
제안내용·근거·주의사항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33735-2168-4E97-8C51-A7388B54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TB-1 · SL-5</a:t>
            </a: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
원본 문서 경로
색인 완료 시각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9CEE0-926B-45F1-B2BE-36E39D0D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1762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TB-3 · SL-1·3</a:t>
            </a: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
회원ID·조회 기준일
카드ID·상품ID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8F578E-001D-4D61-9EF3-3B1F23A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86050"/>
            <a:ext cx="1762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TB-3 · SL-1·3</a:t>
            </a: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
회원ID·카드ID
승인 사용액·연체액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F415B-1CF8-46DF-A283-78DFFD7C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17621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TB-4 · SL-1·3·4</a:t>
            </a: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
회원ID·고객 현황·예측 기간
이탈 확률·위험 등급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E6008-4D9C-42F7-88AE-85EC504D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57750"/>
            <a:ext cx="17621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TB-4 · SL-2·5</a:t>
            </a: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
비식별 질문·선별 근거
질문 해석·상담 제안 초안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5D5605-799B-4596-A766-F045E848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81500"/>
            <a:ext cx="3333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E2A5C"/>
                </a:solidFill>
                <a:latin typeface="Noto Sans KR"/>
                <a:ea typeface="Noto Sans KR"/>
                <a:cs typeface="Noto Sans KR"/>
              </a:rPr>
              <a:t>외부 LLM 미통과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회원ID·카드ID·상담사ID·상담ID·원문 문서 경로</a:t>
            </a:r>
          </a:p>
          <a:p xmlns:a="http://schemas.openxmlformats.org/drawingml/2006/main">
            <a:pPr algn="ctr">
              <a:defRPr sz="1400"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E74C6"/>
                </a:solidFill>
                <a:latin typeface="Noto Sans KR"/>
                <a:ea typeface="Noto Sans KR"/>
                <a:cs typeface="Noto Sans KR"/>
              </a:rPr>
              <a:t>입력 전 제거하고 대체 ID를 사용함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0CEA3-D37B-42F6-BE0E-CBA5A2EB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53125"/>
            <a:ext cx="1162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SL-1 개인정보  회원ID·상담사ID·상담ID     SL-2 상담정보  질문·발언·상담일     SL-3 금융정보  카드ID·상품ID·승인액·연체액</a:t>
            </a:r>
          </a:p>
          <a:p xmlns:a="http://schemas.openxmlformats.org/drawingml/2006/main">
            <a:pPr algn="ctr">
              <a:def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4A5364"/>
                </a:solidFill>
                <a:latin typeface="Noto Sans KR"/>
                <a:ea typeface="Noto Sans KR"/>
                <a:cs typeface="Noto Sans KR"/>
              </a:rPr>
              <a:t>SL-4 추론정보  이탈확률·위험등급·판단신호     SL-5 내부업무정보  문서ID·문단·원문위치·버전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A552A8-C54C-4D79-8C28-A5BFE45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817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9BBBD5-0084-4B7E-9CFB-D93E6D77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08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Agentic AI Architecture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551617-F047-47FB-8DFF-F4EC33D4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008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7C8598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97667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2026-09-26T01:28:06.8340000Z</dcterms:created>
  <dcterms:modified xsi:type="dcterms:W3CDTF">2026-09-26T01:28:06.8340000Z</dcterms:modified>
</coreProperties>
</file>