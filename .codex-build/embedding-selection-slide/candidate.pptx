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코드는 임베딩 대상을 파일 수정 여부만으로 결정하지 않습니다. 정제 후 청크 본문 해시와 기존 모델 계약을 비교합니다. 이 슬라이드의 조건도는 prepare_embed()에 도달한 경우의 판단을 보여 줍니다. 모든 사례는 코드 규칙을 설명하며 이번에 실제 재색인을 실행해 얻은 결과가 아닙니다.
먼저 _is_no_op()는 기존 활성 세대가 있고 full_reindex가 False이며 청킹 정책 서명, 문서 프로필 서명, 임베딩 서명, 임베딩 계약, 선택된 원천의 SHA-256과 doc_key 대응이 모두 같으면 no_op으로 끝냅니다. 이 경로에서는 prepare_embed()를 실행하지 않으므로 기존 벡터 누락을 다시 조회하지 않습니다. 새 세대의 저장 상태를 변경하지는 않지만 실행 보고나 체크포인트까지 전혀 쓰지 않는다는 뜻은 아닙니다.
prepare_embed()는 현재 필요한 정제 청크 desired와 활성 세대의 청크 목록을 읽습니다. 재사용은 활성 manifest의 embedding_signature가 현재 embedder.signature와 같고 embedding_contract도 완전히 같으며 full_reindex가 False일 때 검토합니다. embedding_signature는 모델명과 프롬프트 정책을 식별하고, embedding_contract는 모델명, revision, max_seq_length, dimension, normalize_embeddings, pooling을 담습니다. 서명이 같더라도 revision이나 계약 값이 달라지면 재사용하지 않습니다. 최초 색인처럼 활성 세대가 없는 경우도 현재 대상 전체를 새로 임베딩합니다.
활성 세대의 같은 chunk_id가 같은 text_hash를 가지면 먼저 그 벡터를 재사용 후보로 지정합니다. 이 조건에 해당하지 않더라도 활성 세대 전체에 동일한 text_hash가 있으면 다른 ID의 벡터를 재사용 후보로 지정합니다. 비교 대상은 원문 파일 전체나 메타데이터가 아니라 정제된 청크 본문의 해시입니다. 따라서 원문 표현이 달라져도 정제 후 본문이 같으면 재사용할 수 있고, 청크 ID가 바뀌어도 가능합니다.
get_vectors()가 반환한 결과에서 선택한 원본 ID가 누락된 경우에만 해당 후보를 embed_ids로 이동합니다. 저장소 조회 자체가 예외를 던진 경우에는 예외를 전파하며 자동 재임베딩으로 전환하는 것이 아닙니다. 한 본문 해시에 대응하는 원본 ID는 활성 세대에서 선택하며, 선택한 ID의 벡터가 누락되면 다른 동등 해시 ID를 재탐색하지 않고 임베딩 대상으로 보냅니다. 이번 실행에서 새로 등장한 중복 본문끼리 벡터 계산을 하나로 합치는 구현도 아닙니다.
메타데이터는 metadata_hash로 별도 기록합니다. 출처나 접근 등급만 바뀌고 정제 본문이 같으면 다른 재사용 조건이 충족되는 한 벡터를 재사용합니다. upsert 단계는 재사용 벡터와 새 벡터를 모두 모아 desired_ids 전체를 현재 청크의 본문과 최신 메타데이터로 새 세대에 적재합니다. 벡터 재사용은 메타데이터 갱신을 생략한다는 뜻이 아닙니다.
기존 active ID 집합에서 desired ID 집합을 뺀 값은 deleted_ids에 기록됩니다. 이는 기존 활성 컬렉션에서 즉시 delete를 호출하는 뜻이 아니라 새 세대에 포함하지 않는다는 뜻입니다. 부분 실행에서는 선택되지 않은 원천의 청크를 desired에 유지하므로 임의로 삭제하지 않습니다. 모델에 전달하는 실제 입력은 self.embedder.embed([chunks[chunk_id].text for chunk_id in batch_ids])이며 메타데이터를 자동으로 붙이지 않습니다.
소스 근거:
hybrid-ai-lab/indexer/vector-bm25/app/application/indexing_service.py:249–278 (_is_no_op)
hybrid-ai-lab/indexer/vector-bm25/app/application/indexing_service.py:280–380 (현재 청크 구성)
hybrid-ai-lab/indexer/vector-bm25/app/application/indexing_service.py:409–481 (대상 계획)
hybrid-ai-lab/indexer/vector-bm25/app/application/indexing_service.py:484–539 (본문 임베딩과 전체 대상 적재)
hybrid-ai-lab/indexer/vector-bm25/app/infrastructure/settings.py:42–47 (임베딩 계약)
hybrid-ai-lab/indexer/vector-bm25/app/infrastructure/embedder.py:61–64 (모델 서명)
hybrid-ai-lab/indexer/vector-bm25/app/infrastructure/processor.py:79–82 (정제 본문 해시)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벡터DB 구성 원리 › 임베딩 대상 계획</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임베딩 대상 결정 원리</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sp>
      <p:sp>
        <p:nvSpPr>
          <p:cNvPr id="6" name="Text 4"/>
          <p:cNvSpPr/>
          <p:nvPr/>
        </p:nvSpPr>
        <p:spPr>
          <a:xfrm>
            <a:off x="502920" y="1627632"/>
            <a:ext cx="13624560" cy="347472"/>
          </a:xfrm>
          <a:prstGeom prst="rect">
            <a:avLst/>
          </a:prstGeom>
          <a:noFill/>
          <a:ln/>
        </p:spPr>
        <p:txBody>
          <a:bodyPr wrap="square" lIns="0" tIns="0" rIns="0" bIns="0" rtlCol="0" anchor="ctr"/>
          <a:lstStyle/>
          <a:p>
            <a:pPr indent="0" marL="0">
              <a:buNone/>
            </a:pPr>
            <a:r>
              <a:rPr lang="en-US" sz="2200" dirty="0">
                <a:solidFill>
                  <a:srgbClr val="4A5364"/>
                </a:solidFill>
                <a:latin typeface="Pretendard" pitchFamily="34" charset="0"/>
                <a:ea typeface="Pretendard" pitchFamily="34" charset="-122"/>
                <a:cs typeface="Pretendard" pitchFamily="34" charset="-120"/>
              </a:rPr>
              <a:t>모델·설정이 같고 본문도 같으면, 저장된 벡터를 재사용해 중복 계산을 줄입니다.</a:t>
            </a:r>
            <a:endParaRPr lang="en-US" sz="2200" dirty="0"/>
          </a:p>
        </p:txBody>
      </p:sp>
      <p:sp>
        <p:nvSpPr>
          <p:cNvPr id="7" name="Text 5"/>
          <p:cNvSpPr/>
          <p:nvPr/>
        </p:nvSpPr>
        <p:spPr>
          <a:xfrm>
            <a:off x="502920" y="2093976"/>
            <a:ext cx="13624560" cy="265176"/>
          </a:xfrm>
          <a:prstGeom prst="rect">
            <a:avLst/>
          </a:prstGeom>
          <a:noFill/>
          <a:ln/>
        </p:spPr>
        <p:txBody>
          <a:bodyPr wrap="square" lIns="0" tIns="0" rIns="0" bIns="0" rtlCol="0" anchor="ctr"/>
          <a:lstStyle/>
          <a:p>
            <a:pPr indent="0" marL="0">
              <a:buNone/>
            </a:pPr>
            <a:r>
              <a:rPr lang="en-US" sz="1700" dirty="0">
                <a:solidFill>
                  <a:srgbClr val="7C8598"/>
                </a:solidFill>
                <a:latin typeface="Pretendard" pitchFamily="34" charset="0"/>
                <a:ea typeface="Pretendard" pitchFamily="34" charset="-122"/>
                <a:cs typeface="Pretendard" pitchFamily="34" charset="-120"/>
              </a:rPr>
              <a:t>사전 검사: 원천·처리 계약이 모두 같고 전체 재색인이 아니면, 작업을 생략합니다(no_op).</a:t>
            </a:r>
            <a:endParaRPr lang="en-US" sz="1700" dirty="0"/>
          </a:p>
        </p:txBody>
      </p:sp>
      <p:sp>
        <p:nvSpPr>
          <p:cNvPr id="8" name="Text 6"/>
          <p:cNvSpPr/>
          <p:nvPr/>
        </p:nvSpPr>
        <p:spPr>
          <a:xfrm>
            <a:off x="502920" y="2569464"/>
            <a:ext cx="6720840" cy="329184"/>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청크별 판단 순서</a:t>
            </a:r>
            <a:endParaRPr lang="en-US" sz="2400" dirty="0"/>
          </a:p>
        </p:txBody>
      </p:sp>
      <p:sp>
        <p:nvSpPr>
          <p:cNvPr id="9" name="Text 7"/>
          <p:cNvSpPr/>
          <p:nvPr/>
        </p:nvSpPr>
        <p:spPr>
          <a:xfrm>
            <a:off x="7680960" y="2569464"/>
            <a:ext cx="6446520" cy="329184"/>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상황별 결정 예시</a:t>
            </a:r>
            <a:endParaRPr lang="en-US" sz="2400" dirty="0"/>
          </a:p>
        </p:txBody>
      </p:sp>
      <p:sp>
        <p:nvSpPr>
          <p:cNvPr id="10" name="Shape 8"/>
          <p:cNvSpPr/>
          <p:nvPr/>
        </p:nvSpPr>
        <p:spPr>
          <a:xfrm>
            <a:off x="502920" y="3072384"/>
            <a:ext cx="4681728" cy="786384"/>
          </a:xfrm>
          <a:prstGeom prst="rect">
            <a:avLst/>
          </a:prstGeom>
          <a:solidFill>
            <a:srgbClr val="F5F8FC"/>
          </a:solidFill>
          <a:ln w="12700">
            <a:solidFill>
              <a:srgbClr val="D9E0EC"/>
            </a:solidFill>
            <a:prstDash val="solid"/>
          </a:ln>
        </p:spPr>
      </p:sp>
      <p:sp>
        <p:nvSpPr>
          <p:cNvPr id="11" name="Text 9"/>
          <p:cNvSpPr/>
          <p:nvPr/>
        </p:nvSpPr>
        <p:spPr>
          <a:xfrm>
            <a:off x="676656" y="3182112"/>
            <a:ext cx="4334256" cy="256032"/>
          </a:xfrm>
          <a:prstGeom prst="rect">
            <a:avLst/>
          </a:prstGeom>
          <a:noFill/>
          <a:ln/>
        </p:spPr>
        <p:txBody>
          <a:bodyPr wrap="square" lIns="0" tIns="0" rIns="0" bIns="0" rtlCol="0" anchor="ctr"/>
          <a:lstStyle/>
          <a:p>
            <a:pPr indent="0" marL="0">
              <a:buNone/>
            </a:pPr>
            <a:r>
              <a:rPr lang="en-US" sz="2000" b="1" dirty="0">
                <a:solidFill>
                  <a:srgbClr val="1E2A5C"/>
                </a:solidFill>
                <a:latin typeface="Pretendard" pitchFamily="34" charset="0"/>
                <a:ea typeface="Pretendard" pitchFamily="34" charset="-122"/>
                <a:cs typeface="Pretendard" pitchFamily="34" charset="-120"/>
              </a:rPr>
              <a:t>1  재사용 가능한 실행인가요?</a:t>
            </a:r>
            <a:endParaRPr lang="en-US" sz="2000" dirty="0"/>
          </a:p>
        </p:txBody>
      </p:sp>
      <p:sp>
        <p:nvSpPr>
          <p:cNvPr id="12" name="Text 10"/>
          <p:cNvSpPr/>
          <p:nvPr/>
        </p:nvSpPr>
        <p:spPr>
          <a:xfrm>
            <a:off x="676656" y="3584448"/>
            <a:ext cx="4334256" cy="201168"/>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활성 세대 있음 · 모델/계약 동일 · 강제 재색인 아님</a:t>
            </a:r>
            <a:endParaRPr lang="en-US" sz="1400" dirty="0"/>
          </a:p>
        </p:txBody>
      </p:sp>
      <p:sp>
        <p:nvSpPr>
          <p:cNvPr id="13" name="Shape 11"/>
          <p:cNvSpPr/>
          <p:nvPr/>
        </p:nvSpPr>
        <p:spPr>
          <a:xfrm>
            <a:off x="502920" y="4288536"/>
            <a:ext cx="4681728" cy="685800"/>
          </a:xfrm>
          <a:prstGeom prst="rect">
            <a:avLst/>
          </a:prstGeom>
          <a:solidFill>
            <a:srgbClr val="F5F8FC"/>
          </a:solidFill>
          <a:ln w="12700">
            <a:solidFill>
              <a:srgbClr val="D9E0EC"/>
            </a:solidFill>
            <a:prstDash val="solid"/>
          </a:ln>
        </p:spPr>
      </p:sp>
      <p:sp>
        <p:nvSpPr>
          <p:cNvPr id="14" name="Text 12"/>
          <p:cNvSpPr/>
          <p:nvPr/>
        </p:nvSpPr>
        <p:spPr>
          <a:xfrm>
            <a:off x="676656" y="4398264"/>
            <a:ext cx="4334256" cy="256032"/>
          </a:xfrm>
          <a:prstGeom prst="rect">
            <a:avLst/>
          </a:prstGeom>
          <a:noFill/>
          <a:ln/>
        </p:spPr>
        <p:txBody>
          <a:bodyPr wrap="square" lIns="0" tIns="0" rIns="0" bIns="0" rtlCol="0" anchor="ctr"/>
          <a:lstStyle/>
          <a:p>
            <a:pPr indent="0" marL="0">
              <a:buNone/>
            </a:pPr>
            <a:r>
              <a:rPr lang="en-US" sz="2000" b="1" dirty="0">
                <a:solidFill>
                  <a:srgbClr val="1E2A5C"/>
                </a:solidFill>
                <a:latin typeface="Pretendard" pitchFamily="34" charset="0"/>
                <a:ea typeface="Pretendard" pitchFamily="34" charset="-122"/>
                <a:cs typeface="Pretendard" pitchFamily="34" charset="-120"/>
              </a:rPr>
              <a:t>2  같은 정제 본문이 있나요?</a:t>
            </a:r>
            <a:endParaRPr lang="en-US" sz="2000" dirty="0"/>
          </a:p>
        </p:txBody>
      </p:sp>
      <p:sp>
        <p:nvSpPr>
          <p:cNvPr id="15" name="Text 13"/>
          <p:cNvSpPr/>
          <p:nvPr/>
        </p:nvSpPr>
        <p:spPr>
          <a:xfrm>
            <a:off x="676656" y="4700016"/>
            <a:ext cx="4334256" cy="201168"/>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활성 세대의 text_hash 비교 · ID가 달라도 가능</a:t>
            </a:r>
            <a:endParaRPr lang="en-US" sz="1400" dirty="0"/>
          </a:p>
        </p:txBody>
      </p:sp>
      <p:sp>
        <p:nvSpPr>
          <p:cNvPr id="16" name="Shape 14"/>
          <p:cNvSpPr/>
          <p:nvPr/>
        </p:nvSpPr>
        <p:spPr>
          <a:xfrm>
            <a:off x="502920" y="5404104"/>
            <a:ext cx="4681728" cy="685800"/>
          </a:xfrm>
          <a:prstGeom prst="rect">
            <a:avLst/>
          </a:prstGeom>
          <a:solidFill>
            <a:srgbClr val="F5F8FC"/>
          </a:solidFill>
          <a:ln w="12700">
            <a:solidFill>
              <a:srgbClr val="D9E0EC"/>
            </a:solidFill>
            <a:prstDash val="solid"/>
          </a:ln>
        </p:spPr>
      </p:sp>
      <p:sp>
        <p:nvSpPr>
          <p:cNvPr id="17" name="Text 15"/>
          <p:cNvSpPr/>
          <p:nvPr/>
        </p:nvSpPr>
        <p:spPr>
          <a:xfrm>
            <a:off x="676656" y="5513832"/>
            <a:ext cx="4334256" cy="256032"/>
          </a:xfrm>
          <a:prstGeom prst="rect">
            <a:avLst/>
          </a:prstGeom>
          <a:noFill/>
          <a:ln/>
        </p:spPr>
        <p:txBody>
          <a:bodyPr wrap="square" lIns="0" tIns="0" rIns="0" bIns="0" rtlCol="0" anchor="ctr"/>
          <a:lstStyle/>
          <a:p>
            <a:pPr indent="0" marL="0">
              <a:buNone/>
            </a:pPr>
            <a:r>
              <a:rPr lang="en-US" sz="2000" b="1" dirty="0">
                <a:solidFill>
                  <a:srgbClr val="1E2A5C"/>
                </a:solidFill>
                <a:latin typeface="Pretendard" pitchFamily="34" charset="0"/>
                <a:ea typeface="Pretendard" pitchFamily="34" charset="-122"/>
                <a:cs typeface="Pretendard" pitchFamily="34" charset="-120"/>
              </a:rPr>
              <a:t>3  선택한 기존 벡터가 있나요?</a:t>
            </a:r>
            <a:endParaRPr lang="en-US" sz="2000" dirty="0"/>
          </a:p>
        </p:txBody>
      </p:sp>
      <p:sp>
        <p:nvSpPr>
          <p:cNvPr id="18" name="Text 16"/>
          <p:cNvSpPr/>
          <p:nvPr/>
        </p:nvSpPr>
        <p:spPr>
          <a:xfrm>
            <a:off x="676656" y="5815584"/>
            <a:ext cx="4334256" cy="201168"/>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get_vectors() 조회 결과에서 해당 ID 확인</a:t>
            </a:r>
            <a:endParaRPr lang="en-US" sz="1400" dirty="0"/>
          </a:p>
        </p:txBody>
      </p:sp>
      <p:sp>
        <p:nvSpPr>
          <p:cNvPr id="19" name="Shape 17"/>
          <p:cNvSpPr/>
          <p:nvPr/>
        </p:nvSpPr>
        <p:spPr>
          <a:xfrm>
            <a:off x="2843784" y="3886200"/>
            <a:ext cx="0" cy="338328"/>
          </a:xfrm>
          <a:prstGeom prst="line">
            <a:avLst/>
          </a:prstGeom>
          <a:noFill/>
          <a:ln w="25400">
            <a:solidFill>
              <a:srgbClr val="2E74C6"/>
            </a:solidFill>
            <a:prstDash val="solid"/>
            <a:tailEnd type="triangle"/>
          </a:ln>
        </p:spPr>
      </p:sp>
      <p:sp>
        <p:nvSpPr>
          <p:cNvPr id="20" name="Text 18"/>
          <p:cNvSpPr/>
          <p:nvPr/>
        </p:nvSpPr>
        <p:spPr>
          <a:xfrm>
            <a:off x="3017520" y="3977640"/>
            <a:ext cx="365760" cy="201168"/>
          </a:xfrm>
          <a:prstGeom prst="rect">
            <a:avLst/>
          </a:prstGeom>
          <a:noFill/>
          <a:ln/>
        </p:spPr>
        <p:txBody>
          <a:bodyPr wrap="square" lIns="0" tIns="0" rIns="0" bIns="0" rtlCol="0" anchor="ctr"/>
          <a:lstStyle/>
          <a:p>
            <a:pPr indent="0" marL="0">
              <a:buNone/>
            </a:pPr>
            <a:r>
              <a:rPr lang="en-US" sz="1500" dirty="0">
                <a:solidFill>
                  <a:srgbClr val="2E74C6"/>
                </a:solidFill>
                <a:latin typeface="Pretendard" pitchFamily="34" charset="0"/>
                <a:ea typeface="Pretendard" pitchFamily="34" charset="-122"/>
                <a:cs typeface="Pretendard" pitchFamily="34" charset="-120"/>
              </a:rPr>
              <a:t>예</a:t>
            </a:r>
            <a:endParaRPr lang="en-US" sz="1500" dirty="0"/>
          </a:p>
        </p:txBody>
      </p:sp>
      <p:sp>
        <p:nvSpPr>
          <p:cNvPr id="21" name="Shape 19"/>
          <p:cNvSpPr/>
          <p:nvPr/>
        </p:nvSpPr>
        <p:spPr>
          <a:xfrm>
            <a:off x="2843784" y="5001768"/>
            <a:ext cx="0" cy="338328"/>
          </a:xfrm>
          <a:prstGeom prst="line">
            <a:avLst/>
          </a:prstGeom>
          <a:noFill/>
          <a:ln w="25400">
            <a:solidFill>
              <a:srgbClr val="2E74C6"/>
            </a:solidFill>
            <a:prstDash val="solid"/>
            <a:tailEnd type="triangle"/>
          </a:ln>
        </p:spPr>
      </p:sp>
      <p:sp>
        <p:nvSpPr>
          <p:cNvPr id="22" name="Text 20"/>
          <p:cNvSpPr/>
          <p:nvPr/>
        </p:nvSpPr>
        <p:spPr>
          <a:xfrm>
            <a:off x="3017520" y="5093208"/>
            <a:ext cx="365760" cy="201168"/>
          </a:xfrm>
          <a:prstGeom prst="rect">
            <a:avLst/>
          </a:prstGeom>
          <a:noFill/>
          <a:ln/>
        </p:spPr>
        <p:txBody>
          <a:bodyPr wrap="square" lIns="0" tIns="0" rIns="0" bIns="0" rtlCol="0" anchor="ctr"/>
          <a:lstStyle/>
          <a:p>
            <a:pPr indent="0" marL="0">
              <a:buNone/>
            </a:pPr>
            <a:r>
              <a:rPr lang="en-US" sz="1500" dirty="0">
                <a:solidFill>
                  <a:srgbClr val="2E74C6"/>
                </a:solidFill>
                <a:latin typeface="Pretendard" pitchFamily="34" charset="0"/>
                <a:ea typeface="Pretendard" pitchFamily="34" charset="-122"/>
                <a:cs typeface="Pretendard" pitchFamily="34" charset="-120"/>
              </a:rPr>
              <a:t>예</a:t>
            </a:r>
            <a:endParaRPr lang="en-US" sz="1500" dirty="0"/>
          </a:p>
        </p:txBody>
      </p:sp>
      <p:sp>
        <p:nvSpPr>
          <p:cNvPr id="23" name="Shape 21"/>
          <p:cNvSpPr/>
          <p:nvPr/>
        </p:nvSpPr>
        <p:spPr>
          <a:xfrm>
            <a:off x="2843784" y="6117336"/>
            <a:ext cx="0" cy="274320"/>
          </a:xfrm>
          <a:prstGeom prst="line">
            <a:avLst/>
          </a:prstGeom>
          <a:noFill/>
          <a:ln w="25400">
            <a:solidFill>
              <a:srgbClr val="2E74C6"/>
            </a:solidFill>
            <a:prstDash val="solid"/>
            <a:tailEnd type="triangle"/>
          </a:ln>
        </p:spPr>
      </p:sp>
      <p:sp>
        <p:nvSpPr>
          <p:cNvPr id="24" name="Text 22"/>
          <p:cNvSpPr/>
          <p:nvPr/>
        </p:nvSpPr>
        <p:spPr>
          <a:xfrm>
            <a:off x="3017520" y="6181344"/>
            <a:ext cx="365760" cy="201168"/>
          </a:xfrm>
          <a:prstGeom prst="rect">
            <a:avLst/>
          </a:prstGeom>
          <a:noFill/>
          <a:ln/>
        </p:spPr>
        <p:txBody>
          <a:bodyPr wrap="square" lIns="0" tIns="0" rIns="0" bIns="0" rtlCol="0" anchor="ctr"/>
          <a:lstStyle/>
          <a:p>
            <a:pPr indent="0" marL="0">
              <a:buNone/>
            </a:pPr>
            <a:r>
              <a:rPr lang="en-US" sz="1500" dirty="0">
                <a:solidFill>
                  <a:srgbClr val="2E74C6"/>
                </a:solidFill>
                <a:latin typeface="Pretendard" pitchFamily="34" charset="0"/>
                <a:ea typeface="Pretendard" pitchFamily="34" charset="-122"/>
                <a:cs typeface="Pretendard" pitchFamily="34" charset="-120"/>
              </a:rPr>
              <a:t>예</a:t>
            </a:r>
            <a:endParaRPr lang="en-US" sz="1500" dirty="0"/>
          </a:p>
        </p:txBody>
      </p:sp>
      <p:sp>
        <p:nvSpPr>
          <p:cNvPr id="25" name="Shape 23"/>
          <p:cNvSpPr/>
          <p:nvPr/>
        </p:nvSpPr>
        <p:spPr>
          <a:xfrm>
            <a:off x="5833872" y="3465576"/>
            <a:ext cx="0" cy="2281428"/>
          </a:xfrm>
          <a:prstGeom prst="line">
            <a:avLst/>
          </a:prstGeom>
          <a:noFill/>
          <a:ln w="22860">
            <a:solidFill>
              <a:srgbClr val="4A5364"/>
            </a:solidFill>
            <a:prstDash val="solid"/>
          </a:ln>
        </p:spPr>
      </p:sp>
      <p:sp>
        <p:nvSpPr>
          <p:cNvPr id="26" name="Shape 24"/>
          <p:cNvSpPr/>
          <p:nvPr/>
        </p:nvSpPr>
        <p:spPr>
          <a:xfrm>
            <a:off x="5212080" y="3465576"/>
            <a:ext cx="621792" cy="0"/>
          </a:xfrm>
          <a:prstGeom prst="line">
            <a:avLst/>
          </a:prstGeom>
          <a:noFill/>
          <a:ln w="22860">
            <a:solidFill>
              <a:srgbClr val="4A5364"/>
            </a:solidFill>
            <a:prstDash val="solid"/>
          </a:ln>
        </p:spPr>
      </p:sp>
      <p:sp>
        <p:nvSpPr>
          <p:cNvPr id="27" name="Text 25"/>
          <p:cNvSpPr/>
          <p:nvPr/>
        </p:nvSpPr>
        <p:spPr>
          <a:xfrm>
            <a:off x="5239512" y="3209544"/>
            <a:ext cx="585216" cy="201168"/>
          </a:xfrm>
          <a:prstGeom prst="rect">
            <a:avLst/>
          </a:prstGeom>
          <a:noFill/>
          <a:ln/>
        </p:spPr>
        <p:txBody>
          <a:bodyPr wrap="square" lIns="0" tIns="0" rIns="0" bIns="0"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아니요</a:t>
            </a:r>
            <a:endParaRPr lang="en-US" sz="1400" dirty="0"/>
          </a:p>
        </p:txBody>
      </p:sp>
      <p:sp>
        <p:nvSpPr>
          <p:cNvPr id="28" name="Shape 26"/>
          <p:cNvSpPr/>
          <p:nvPr/>
        </p:nvSpPr>
        <p:spPr>
          <a:xfrm>
            <a:off x="5212080" y="4631436"/>
            <a:ext cx="621792" cy="0"/>
          </a:xfrm>
          <a:prstGeom prst="line">
            <a:avLst/>
          </a:prstGeom>
          <a:noFill/>
          <a:ln w="22860">
            <a:solidFill>
              <a:srgbClr val="4A5364"/>
            </a:solidFill>
            <a:prstDash val="solid"/>
          </a:ln>
        </p:spPr>
      </p:sp>
      <p:sp>
        <p:nvSpPr>
          <p:cNvPr id="29" name="Text 27"/>
          <p:cNvSpPr/>
          <p:nvPr/>
        </p:nvSpPr>
        <p:spPr>
          <a:xfrm>
            <a:off x="5239512" y="4375404"/>
            <a:ext cx="585216" cy="201168"/>
          </a:xfrm>
          <a:prstGeom prst="rect">
            <a:avLst/>
          </a:prstGeom>
          <a:noFill/>
          <a:ln/>
        </p:spPr>
        <p:txBody>
          <a:bodyPr wrap="square" lIns="0" tIns="0" rIns="0" bIns="0"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아니요</a:t>
            </a:r>
            <a:endParaRPr lang="en-US" sz="1400" dirty="0"/>
          </a:p>
        </p:txBody>
      </p:sp>
      <p:sp>
        <p:nvSpPr>
          <p:cNvPr id="30" name="Shape 28"/>
          <p:cNvSpPr/>
          <p:nvPr/>
        </p:nvSpPr>
        <p:spPr>
          <a:xfrm>
            <a:off x="5212080" y="5747004"/>
            <a:ext cx="621792" cy="0"/>
          </a:xfrm>
          <a:prstGeom prst="line">
            <a:avLst/>
          </a:prstGeom>
          <a:noFill/>
          <a:ln w="22860">
            <a:solidFill>
              <a:srgbClr val="4A5364"/>
            </a:solidFill>
            <a:prstDash val="solid"/>
          </a:ln>
        </p:spPr>
      </p:sp>
      <p:sp>
        <p:nvSpPr>
          <p:cNvPr id="31" name="Text 29"/>
          <p:cNvSpPr/>
          <p:nvPr/>
        </p:nvSpPr>
        <p:spPr>
          <a:xfrm>
            <a:off x="5239512" y="5490972"/>
            <a:ext cx="585216" cy="201168"/>
          </a:xfrm>
          <a:prstGeom prst="rect">
            <a:avLst/>
          </a:prstGeom>
          <a:noFill/>
          <a:ln/>
        </p:spPr>
        <p:txBody>
          <a:bodyPr wrap="square" lIns="0" tIns="0" rIns="0" bIns="0"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아니요</a:t>
            </a:r>
            <a:endParaRPr lang="en-US" sz="1400" dirty="0"/>
          </a:p>
        </p:txBody>
      </p:sp>
      <p:sp>
        <p:nvSpPr>
          <p:cNvPr id="32" name="Shape 30"/>
          <p:cNvSpPr/>
          <p:nvPr/>
        </p:nvSpPr>
        <p:spPr>
          <a:xfrm>
            <a:off x="5833872" y="4631436"/>
            <a:ext cx="274320" cy="0"/>
          </a:xfrm>
          <a:prstGeom prst="line">
            <a:avLst/>
          </a:prstGeom>
          <a:noFill/>
          <a:ln w="22860">
            <a:solidFill>
              <a:srgbClr val="4A5364"/>
            </a:solidFill>
            <a:prstDash val="solid"/>
            <a:tailEnd type="triangle"/>
          </a:ln>
        </p:spPr>
      </p:sp>
      <p:sp>
        <p:nvSpPr>
          <p:cNvPr id="33" name="Shape 31"/>
          <p:cNvSpPr/>
          <p:nvPr/>
        </p:nvSpPr>
        <p:spPr>
          <a:xfrm>
            <a:off x="6172200" y="4242816"/>
            <a:ext cx="1078992" cy="950976"/>
          </a:xfrm>
          <a:prstGeom prst="rect">
            <a:avLst/>
          </a:prstGeom>
          <a:solidFill>
            <a:srgbClr val="1E2A5C"/>
          </a:solidFill>
          <a:ln w="12700">
            <a:solidFill>
              <a:srgbClr val="1E2A5C"/>
            </a:solidFill>
            <a:prstDash val="solid"/>
          </a:ln>
        </p:spPr>
      </p:sp>
      <p:sp>
        <p:nvSpPr>
          <p:cNvPr id="34" name="Text 32"/>
          <p:cNvSpPr/>
          <p:nvPr/>
        </p:nvSpPr>
        <p:spPr>
          <a:xfrm>
            <a:off x="6254496" y="4407408"/>
            <a:ext cx="914400"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Pretendard" pitchFamily="34" charset="0"/>
                <a:ea typeface="Pretendard" pitchFamily="34" charset="-122"/>
                <a:cs typeface="Pretendard" pitchFamily="34" charset="-120"/>
              </a:rPr>
              <a:t>새로</a:t>
            </a:r>
            <a:endParaRPr lang="en-US" sz="2100" dirty="0"/>
          </a:p>
          <a:p>
            <a:pPr algn="ctr" indent="0" marL="0">
              <a:buNone/>
            </a:pPr>
            <a:r>
              <a:rPr lang="en-US" sz="2100" b="1" dirty="0">
                <a:solidFill>
                  <a:srgbClr val="FFFFFF"/>
                </a:solidFill>
                <a:latin typeface="Pretendard" pitchFamily="34" charset="0"/>
                <a:ea typeface="Pretendard" pitchFamily="34" charset="-122"/>
                <a:cs typeface="Pretendard" pitchFamily="34" charset="-120"/>
              </a:rPr>
              <a:t>임베딩</a:t>
            </a:r>
            <a:endParaRPr lang="en-US" sz="2100" dirty="0"/>
          </a:p>
        </p:txBody>
      </p:sp>
      <p:sp>
        <p:nvSpPr>
          <p:cNvPr id="35" name="Shape 33"/>
          <p:cNvSpPr/>
          <p:nvPr/>
        </p:nvSpPr>
        <p:spPr>
          <a:xfrm>
            <a:off x="502920" y="6455664"/>
            <a:ext cx="4681728" cy="493776"/>
          </a:xfrm>
          <a:prstGeom prst="rect">
            <a:avLst/>
          </a:prstGeom>
          <a:solidFill>
            <a:srgbClr val="EEF3FA"/>
          </a:solidFill>
          <a:ln w="12700">
            <a:solidFill>
              <a:srgbClr val="2E74C6"/>
            </a:solidFill>
            <a:prstDash val="solid"/>
          </a:ln>
        </p:spPr>
      </p:sp>
      <p:sp>
        <p:nvSpPr>
          <p:cNvPr id="36" name="Text 34"/>
          <p:cNvSpPr/>
          <p:nvPr/>
        </p:nvSpPr>
        <p:spPr>
          <a:xfrm>
            <a:off x="685800" y="6565392"/>
            <a:ext cx="4315968" cy="256032"/>
          </a:xfrm>
          <a:prstGeom prst="rect">
            <a:avLst/>
          </a:prstGeom>
          <a:noFill/>
          <a:ln/>
        </p:spPr>
        <p:txBody>
          <a:bodyPr wrap="square" lIns="0" tIns="0" rIns="0" bIns="0" rtlCol="0" anchor="ctr"/>
          <a:lstStyle/>
          <a:p>
            <a:pPr algn="ctr" indent="0" marL="0">
              <a:buNone/>
            </a:pPr>
            <a:r>
              <a:rPr lang="en-US" sz="2100" b="1" dirty="0">
                <a:solidFill>
                  <a:srgbClr val="2E74C6"/>
                </a:solidFill>
                <a:latin typeface="Pretendard" pitchFamily="34" charset="0"/>
                <a:ea typeface="Pretendard" pitchFamily="34" charset="-122"/>
                <a:cs typeface="Pretendard" pitchFamily="34" charset="-120"/>
              </a:rPr>
              <a:t>기존 벡터 재사용</a:t>
            </a:r>
            <a:endParaRPr lang="en-US" sz="2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680960" y="3072384"/>
          <a:ext cx="6446520" cy="3035808"/>
        </p:xfrm>
        <a:graphic>
          <a:graphicData uri="http://schemas.openxmlformats.org/drawingml/2006/table">
            <a:tbl>
              <a:tblPr/>
              <a:tblGrid>
                <a:gridCol w="4370832"/>
                <a:gridCol w="2075688"/>
              </a:tblGrid>
              <a:tr h="402336">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상황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결정</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466344">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출처·접근 등급 등 메타데이터만 변경</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벡터 재사용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466344">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ID 변경 · 정제 본문은 동일</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벡터 재사용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466344">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새 본문 · 일치하는 기존 해시 없음</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새 임베딩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466344">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선택한 기존 벡터가 조회 결과에 없음</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새 임베딩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768096">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모델·계약 변경 또는</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full_reindex = true</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현재 대상 전부</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새 임베딩</a:t>
                      </a:r>
                      <a:endParaRPr lang="en-US" sz="1700" dirty="0">
                        <a:latin typeface="Pretendard" charset="0"/>
                        <a:ea typeface="Pretendard" charset="0"/>
                        <a:cs typeface="Pretendard" charset="0"/>
                      </a:endParaRPr>
                    </a:p>
                  </a:txBody>
                  <a:tcPr marL="109728" marR="10972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bl>
          </a:graphicData>
        </a:graphic>
      </p:graphicFrame>
      <p:sp>
        <p:nvSpPr>
          <p:cNvPr id="38" name="Text 35"/>
          <p:cNvSpPr/>
          <p:nvPr/>
        </p:nvSpPr>
        <p:spPr>
          <a:xfrm>
            <a:off x="7680960" y="6245352"/>
            <a:ext cx="6446520" cy="228600"/>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재사용은 왼쪽 세 조건을 모두 만족할 때입니다.</a:t>
            </a:r>
            <a:endParaRPr lang="en-US" sz="1500" dirty="0"/>
          </a:p>
        </p:txBody>
      </p:sp>
      <p:sp>
        <p:nvSpPr>
          <p:cNvPr id="39" name="Text 36"/>
          <p:cNvSpPr/>
          <p:nvPr/>
        </p:nvSpPr>
        <p:spPr>
          <a:xfrm>
            <a:off x="7680960" y="6537960"/>
            <a:ext cx="6446520" cy="475488"/>
          </a:xfrm>
          <a:prstGeom prst="rect">
            <a:avLst/>
          </a:prstGeom>
          <a:noFill/>
          <a:ln/>
        </p:spPr>
        <p:txBody>
          <a:bodyPr wrap="square" lIns="0" tIns="0" rIns="0" bIns="0"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벡터를 재사용해도 최신 메타데이터와 함께</a:t>
            </a:r>
            <a:endParaRPr lang="en-US" sz="1800" dirty="0"/>
          </a:p>
          <a:p>
            <a:pPr indent="0" marL="0">
              <a:buNone/>
            </a:pPr>
            <a:r>
              <a:rPr lang="en-US" sz="1800" dirty="0">
                <a:solidFill>
                  <a:srgbClr val="4A5364"/>
                </a:solidFill>
                <a:latin typeface="Pretendard" pitchFamily="34" charset="0"/>
                <a:ea typeface="Pretendard" pitchFamily="34" charset="-122"/>
                <a:cs typeface="Pretendard" pitchFamily="34" charset="-120"/>
              </a:rPr>
              <a:t>새 세대에 다시 적재합니다.</a:t>
            </a:r>
            <a:endParaRPr lang="en-US" sz="1800" dirty="0"/>
          </a:p>
        </p:txBody>
      </p:sp>
      <p:sp>
        <p:nvSpPr>
          <p:cNvPr id="40" name="Shape 37"/>
          <p:cNvSpPr/>
          <p:nvPr/>
        </p:nvSpPr>
        <p:spPr>
          <a:xfrm>
            <a:off x="502920" y="7232904"/>
            <a:ext cx="13624560" cy="411480"/>
          </a:xfrm>
          <a:prstGeom prst="rect">
            <a:avLst/>
          </a:prstGeom>
          <a:solidFill>
            <a:srgbClr val="EEF3FA"/>
          </a:solidFill>
          <a:ln w="12700">
            <a:solidFill>
              <a:srgbClr val="EEF3FA"/>
            </a:solidFill>
            <a:prstDash val="solid"/>
          </a:ln>
        </p:spPr>
      </p:sp>
      <p:sp>
        <p:nvSpPr>
          <p:cNvPr id="41" name="Text 38"/>
          <p:cNvSpPr/>
          <p:nvPr/>
        </p:nvSpPr>
        <p:spPr>
          <a:xfrm>
            <a:off x="685800" y="7324344"/>
            <a:ext cx="13258800" cy="237744"/>
          </a:xfrm>
          <a:prstGeom prst="rect">
            <a:avLst/>
          </a:prstGeom>
          <a:noFill/>
          <a:ln/>
        </p:spPr>
        <p:txBody>
          <a:bodyPr wrap="square" lIns="0" tIns="0" rIns="0" bIns="0" rtlCol="0" anchor="ctr"/>
          <a:lstStyle/>
          <a:p>
            <a:pPr indent="0" marL="0">
              <a:buNone/>
            </a:pPr>
            <a:r>
              <a:rPr lang="en-US" sz="1900" b="1" dirty="0">
                <a:solidFill>
                  <a:srgbClr val="1E2A5C"/>
                </a:solidFill>
                <a:latin typeface="Pretendard" pitchFamily="34" charset="0"/>
                <a:ea typeface="Pretendard" pitchFamily="34" charset="-122"/>
                <a:cs typeface="Pretendard" pitchFamily="34" charset="-120"/>
              </a:rPr>
              <a:t>모델 입력은 정제 본문(chunk.text)뿐입니다. 메타데이터는 별도로 저장합니다.</a:t>
            </a:r>
            <a:endParaRPr lang="en-US" sz="1900" dirty="0"/>
          </a:p>
        </p:txBody>
      </p:sp>
      <p:sp>
        <p:nvSpPr>
          <p:cNvPr id="42" name="Text 39"/>
          <p:cNvSpPr/>
          <p:nvPr/>
        </p:nvSpPr>
        <p:spPr>
          <a:xfrm>
            <a:off x="502920" y="7690104"/>
            <a:ext cx="13624560" cy="192024"/>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삭제된 청크는 새 세대에서 제외합니다. 부분 실행에서 선택하지 않은 원천의 청크는 유지합니다.</a:t>
            </a:r>
            <a:endParaRPr lang="en-US" sz="1400" dirty="0"/>
          </a:p>
        </p:txBody>
      </p:sp>
      <p:sp>
        <p:nvSpPr>
          <p:cNvPr id="43" name="Shape 40"/>
          <p:cNvSpPr/>
          <p:nvPr/>
        </p:nvSpPr>
        <p:spPr>
          <a:xfrm>
            <a:off x="502920" y="7936992"/>
            <a:ext cx="13624560" cy="0"/>
          </a:xfrm>
          <a:prstGeom prst="line">
            <a:avLst/>
          </a:prstGeom>
          <a:noFill/>
          <a:ln w="8890">
            <a:solidFill>
              <a:srgbClr val="E9ECF3"/>
            </a:solidFill>
            <a:prstDash val="solid"/>
          </a:ln>
        </p:spPr>
      </p:sp>
      <p:sp>
        <p:nvSpPr>
          <p:cNvPr id="44" name="Text 41"/>
          <p:cNvSpPr/>
          <p:nvPr/>
        </p:nvSpPr>
        <p:spPr>
          <a:xfrm>
            <a:off x="502920" y="8019288"/>
            <a:ext cx="11247120" cy="164592"/>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코드 근거: indexing_service.py · prepare_embed() / embed() · settings.py</a:t>
            </a:r>
            <a:endParaRPr lang="en-US" sz="1400" dirty="0"/>
          </a:p>
        </p:txBody>
      </p:sp>
      <p:sp>
        <p:nvSpPr>
          <p:cNvPr id="45" name="Text 42"/>
          <p:cNvSpPr/>
          <p:nvPr/>
        </p:nvSpPr>
        <p:spPr>
          <a:xfrm>
            <a:off x="11795760" y="8019288"/>
            <a:ext cx="2331720" cy="164592"/>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임베딩 대상  /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임베딩 대상 결정 원리</dc:title>
  <dc:subject>본문 해시와 모델 계약에 따른 임베딩과 재사용 결정</dc:subject>
  <dc:creator>design-agentic-ai</dc:creator>
  <cp:lastModifiedBy>design-agentic-ai</cp:lastModifiedBy>
  <cp:revision>1</cp:revision>
  <dcterms:created xsi:type="dcterms:W3CDTF">2026-10-01T14:12:42Z</dcterms:created>
  <dcterms:modified xsi:type="dcterms:W3CDTF">2026-10-01T14:12:42Z</dcterms:modified>
</cp:coreProperties>
</file>