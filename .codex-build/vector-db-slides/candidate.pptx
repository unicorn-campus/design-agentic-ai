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벡터DB는 문서의 임베딩 벡터와 본문, 메타데이터를 저장하고 질의 벡터와 가까운 벡터에 연결된 문서를 찾습니다. 이 슬라이드는 그중 빠른 유사도 검색을 위한 HNSW 인덱스에 집중합니다. HNSW는 근사 최근접 이웃 검색 방식으로, 모든 벡터를 비교하는 정확 검색보다 빠르게 후보를 찾는 대신 일부 이웃을 놓칠 수 있습니다. 계층 그래프와 파란 경로는 원리를 설명하는 개념도이며 실제 실행 결과가 아닙니다. 같은 문자는 같은 벡터가 여러 계층에 등장한 것입니다.
M은 구축 시 만드는 연결의 밀도에 영향을 주는 파라미터입니다. 계층별 실제 차수의 단순 상한으로 해석하지 않습니다. M이 커지면 메모리와 구축 작업량이 늘지만 검색 속도는 데이터와 구현에 따라 달라집니다. ef_construction은 구축 중 후보 목록 크기이며 품질 개선은 포화될 수 있습니다. ef_search는 검색 중 유지하는 후보 목록 크기이고 실제 방문한 노드 총수와 다릅니다. 두 ef 값의 대소 관계를 일반 필수 규칙으로 두지 않습니다. hnswlib의 ef는 k 이상이어야 하며 제품별 이름과 허용 범위는 다릅니다.
M=16, ef_construction=200, ef_search=100은 참조 문서의 시작 예시이며 제품 기본값·보장값·우리 코드의 적용값이 아닙니다. 우리 코드의 hybrid-ai-lab/indexer/vector-bm25/app/infrastructure/index_repository.py:141-149는 Chroma의 cosine 공간을 명시합니다. M과 두 ef 값은 명시하지 않습니다.
Recall@k는 여기서 정확 최근접 이웃 top-k 대비 근사 검색이 회수한 비율로 측정할 수 있습니다. 실제 RAG 문서 관련성을 평가하는 정답셋 recall은 별도 평가입니다. p95는 95%의 검색이 그 시간 안에 완료되는 검색 지연입니다. 동일 질문셋, 거리 함수, 필터와 실행 환경에서 재현율·시간·인덱스 메모리 및 구축 시간을 함께 비교합니다.
출처:
https://github.com/cna-bootcamp/aistudy/blob/main/agentic-ai/textbook/11.RAG%20%ED%92%88%EC%A7%88%20%ED%8A%9C%EB%8B%9D.md
https://github.com/nmslib/hnswlib/blob/master/ALGO_PARAMS.md
https://arxiv.org/abs/1603.09320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IVF는 벡터를 군집으로 나누고 질문에 가까운 중심점의 군집부터 살펴봅니다. nlist는 전체 inverted list 또는 군집 수, nprobe는 검색할 군집 수입니다. 그림은 nlist=4, nprobe=2로 축약한 개념도이며 실제 벡터 분포나 모델 출력을 보여 주지 않습니다. 큰 점은 각 군집의 중심점입니다. 색칠한 두 군집에서 후보 벡터를 비교한 뒤 top_k개 결과를 반환합니다.
nlist가 커지면 평균 군집 크기는 작아지지만 중심점을 고르는 비용과 학습 품질 등도 영향을 받습니다. nprobe를 늘리면 일반적으로 재현율이 좋아지고 검색 시간이 늘어납니다. nprobe는 nlist 이하입니다. 군집 길이가 불균등할 수 있어 실제 탐색한 벡터 비율을 nprobe/nlist로 단정하지 않습니다.
10,000개 벡터, nlist=100, nprobe=5~10은 참조 문서의 설명용 시작 예시이며 제품 기본값이나 측정 결과가 아닙니다. nlist≈sqrt(N)을 보편 공식으로 적용하지 않습니다. Faiss는 centroid 할당과 list 스캔 비용을 균형 있게 보는 C×sqrt(N) 형태 등 조건별 지침을 설명합니다. 실제 데이터 분포와 대표 학습 표본, 거리 함수, 필터 및 지연 예산으로 측정해야 합니다. 같은 질문셋의 정확 top-k 대비 Recall@k, p95 검색시간, 인덱스 메모리와 구축 시간을 비교합니다.
IVF는 train으로 중심점을 학습한 후 add로 벡터를 추가합니다. 추가 데이터는 기존 군집에 배정되며 자동 재학습되지 않습니다. 분포가 달라지면 대표 표본으로 재학습과 재구축을 검토합니다.
nprobe=nlist는 모든 리스트를 방문한다는 뜻입니다. IVFFlat에서 별도의 스캔 제한 없이 원본 벡터를 같은 거리 함수와 동일 조건으로 모두 비교하면 정확 전수 검색과 같습니다. IVFPQ는 압축된 벡터 표현으로 거리를 근사하므로 모든 리스트를 방문해도 압축 오차가 남을 수 있습니다. IVFFlat 자체를 메모리 효율형으로 일반화하지 않습니다. 압축에 따른 메모리 절감은 IVFPQ 등과 구분합니다.
참조 문서의 Faiss 코드는 L2 거리 예시이며 우리 Chroma 코드의 cosine 설정과 구분합니다. Faiss는 벡터 검색 라이브러리이며 완전한 벡터DB 자체와 같은 범주는 아닙니다. 우리 코드가 IVF를 사용한다고 주장하지 않습니다.
출처:
https://github.com/cna-bootcamp/aistudy/blob/main/agentic-ai/textbook/11.RAG%20%ED%92%88%EC%A7%88%20%ED%8A%9C%EB%8B%9D.md
https://github.com/facebookresearch/faiss/wiki/Faster-search
https://github.com/facebookresearch/faiss/wiki/Faiss-indexes
https://github.com/facebookresearch/faiss/wiki/Guidelines-to-choose-an-index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cna-bootcamp/aistudy/blob/main/agentic-ai/textbook/11.RAG%20%ED%92%88%EC%A7%88%20%ED%8A%9C%EB%8B%9D.md"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github.com/cna-bootcamp/aistudy/blob/main/agentic-ai/textbook/11.RAG%20%ED%92%88%EC%A7%88%20%ED%8A%9C%EB%8B%9D.md"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3624560" cy="256032"/>
          </a:xfrm>
          <a:prstGeom prst="rect">
            <a:avLst/>
          </a:prstGeom>
          <a:noFill/>
          <a:ln/>
        </p:spPr>
        <p:txBody>
          <a:bodyPr wrap="square" lIns="0" tIns="0" rIns="0" bIns="0" rtlCol="0" anchor="ctr"/>
          <a:lstStyle/>
          <a:p>
            <a:pPr indent="0" marL="0">
              <a:buNone/>
            </a:pPr>
            <a:r>
              <a:rPr lang="en-US" sz="1500" dirty="0">
                <a:solidFill>
                  <a:srgbClr val="7C8598"/>
                </a:solidFill>
                <a:latin typeface="Pretendard" pitchFamily="34" charset="0"/>
                <a:ea typeface="Pretendard" pitchFamily="34" charset="-122"/>
                <a:cs typeface="Pretendard" pitchFamily="34" charset="-120"/>
              </a:rPr>
              <a:t>벡터DB 구성 원리 › 검색 인덱스 튜닝</a:t>
            </a:r>
            <a:endParaRPr lang="en-US" sz="1500" dirty="0"/>
          </a:p>
        </p:txBody>
      </p:sp>
      <p:sp>
        <p:nvSpPr>
          <p:cNvPr id="3" name="Text 1"/>
          <p:cNvSpPr/>
          <p:nvPr/>
        </p:nvSpPr>
        <p:spPr>
          <a:xfrm>
            <a:off x="502920" y="685800"/>
            <a:ext cx="13624560" cy="621792"/>
          </a:xfrm>
          <a:prstGeom prst="rect">
            <a:avLst/>
          </a:prstGeom>
          <a:noFill/>
          <a:ln/>
        </p:spPr>
        <p:txBody>
          <a:bodyPr wrap="square" lIns="0" tIns="0" rIns="0" bIns="0" rtlCol="0" anchor="ctr"/>
          <a:lstStyle/>
          <a:p>
            <a:pPr indent="0" marL="0">
              <a:buNone/>
            </a:pPr>
            <a:r>
              <a:rPr lang="en-US" sz="4800" b="1" dirty="0">
                <a:solidFill>
                  <a:srgbClr val="1E2A5C"/>
                </a:solidFill>
                <a:latin typeface="Pretendard" pitchFamily="34" charset="0"/>
                <a:ea typeface="Pretendard" pitchFamily="34" charset="-122"/>
                <a:cs typeface="Pretendard" pitchFamily="34" charset="-120"/>
              </a:rPr>
              <a:t>벡터DB와 HNSW 검색</a:t>
            </a:r>
            <a:endParaRPr lang="en-US" sz="4800" dirty="0"/>
          </a:p>
        </p:txBody>
      </p:sp>
      <p:sp>
        <p:nvSpPr>
          <p:cNvPr id="4" name="Shape 2"/>
          <p:cNvSpPr/>
          <p:nvPr/>
        </p:nvSpPr>
        <p:spPr>
          <a:xfrm>
            <a:off x="502920" y="1417320"/>
            <a:ext cx="13624560" cy="32004"/>
          </a:xfrm>
          <a:prstGeom prst="rect">
            <a:avLst/>
          </a:prstGeom>
          <a:solidFill>
            <a:srgbClr val="D9E0EC"/>
          </a:solidFill>
          <a:ln w="12700">
            <a:solidFill>
              <a:srgbClr val="D9E0EC"/>
            </a:solidFill>
            <a:prstDash val="solid"/>
          </a:ln>
        </p:spPr>
      </p:sp>
      <p:sp>
        <p:nvSpPr>
          <p:cNvPr id="5" name="Shape 3"/>
          <p:cNvSpPr/>
          <p:nvPr/>
        </p:nvSpPr>
        <p:spPr>
          <a:xfrm>
            <a:off x="502920" y="1417320"/>
            <a:ext cx="1920240" cy="32004"/>
          </a:xfrm>
          <a:prstGeom prst="rect">
            <a:avLst/>
          </a:prstGeom>
          <a:solidFill>
            <a:srgbClr val="2E74C6"/>
          </a:solidFill>
          <a:ln w="12700">
            <a:solidFill>
              <a:srgbClr val="2E74C6"/>
            </a:solidFill>
            <a:prstDash val="solid"/>
          </a:ln>
        </p:spPr>
      </p:sp>
      <p:sp>
        <p:nvSpPr>
          <p:cNvPr id="6" name="Text 4"/>
          <p:cNvSpPr/>
          <p:nvPr/>
        </p:nvSpPr>
        <p:spPr>
          <a:xfrm>
            <a:off x="502920" y="1627632"/>
            <a:ext cx="13624560" cy="347472"/>
          </a:xfrm>
          <a:prstGeom prst="rect">
            <a:avLst/>
          </a:prstGeom>
          <a:noFill/>
          <a:ln/>
        </p:spPr>
        <p:txBody>
          <a:bodyPr wrap="square" lIns="0" tIns="0" rIns="0" bIns="0" rtlCol="0" anchor="ctr"/>
          <a:lstStyle/>
          <a:p>
            <a:pPr indent="0" marL="0">
              <a:buNone/>
            </a:pPr>
            <a:r>
              <a:rPr lang="en-US" sz="2100" dirty="0">
                <a:solidFill>
                  <a:srgbClr val="4A5364"/>
                </a:solidFill>
                <a:latin typeface="Pretendard" pitchFamily="34" charset="0"/>
                <a:ea typeface="Pretendard" pitchFamily="34" charset="-122"/>
                <a:cs typeface="Pretendard" pitchFamily="34" charset="-120"/>
              </a:rPr>
              <a:t>벡터DB는 임베딩 벡터를 저장하고, 질문과 가까운 벡터에 연결된 문서를 찾습니다.</a:t>
            </a:r>
            <a:endParaRPr lang="en-US" sz="2100" dirty="0"/>
          </a:p>
        </p:txBody>
      </p:sp>
      <p:sp>
        <p:nvSpPr>
          <p:cNvPr id="7" name="Text 5"/>
          <p:cNvSpPr/>
          <p:nvPr/>
        </p:nvSpPr>
        <p:spPr>
          <a:xfrm>
            <a:off x="502920" y="2121408"/>
            <a:ext cx="6583680" cy="347472"/>
          </a:xfrm>
          <a:prstGeom prst="rect">
            <a:avLst/>
          </a:prstGeom>
          <a:noFill/>
          <a:ln/>
        </p:spPr>
        <p:txBody>
          <a:bodyPr wrap="square" lIns="0" tIns="0" rIns="0" bIns="0" rtlCol="0" anchor="ctr"/>
          <a:lstStyle/>
          <a:p>
            <a:pPr indent="0" marL="0">
              <a:buNone/>
            </a:pPr>
            <a:r>
              <a:rPr lang="en-US" sz="2400" b="1" dirty="0">
                <a:solidFill>
                  <a:srgbClr val="1E2A5C"/>
                </a:solidFill>
                <a:latin typeface="Pretendard" pitchFamily="34" charset="0"/>
                <a:ea typeface="Pretendard" pitchFamily="34" charset="-122"/>
                <a:cs typeface="Pretendard" pitchFamily="34" charset="-120"/>
              </a:rPr>
              <a:t>연결을 따라 범위를 좁히는 HNSW</a:t>
            </a:r>
            <a:endParaRPr lang="en-US" sz="2400" dirty="0"/>
          </a:p>
        </p:txBody>
      </p:sp>
      <p:sp>
        <p:nvSpPr>
          <p:cNvPr id="8" name="Text 6"/>
          <p:cNvSpPr/>
          <p:nvPr/>
        </p:nvSpPr>
        <p:spPr>
          <a:xfrm>
            <a:off x="7452360" y="2121408"/>
            <a:ext cx="6675120" cy="347472"/>
          </a:xfrm>
          <a:prstGeom prst="rect">
            <a:avLst/>
          </a:prstGeom>
          <a:noFill/>
          <a:ln/>
        </p:spPr>
        <p:txBody>
          <a:bodyPr wrap="square" lIns="0" tIns="0" rIns="0" bIns="0" rtlCol="0" anchor="ctr"/>
          <a:lstStyle/>
          <a:p>
            <a:pPr indent="0" marL="0">
              <a:buNone/>
            </a:pPr>
            <a:r>
              <a:rPr lang="en-US" sz="2400" b="1" dirty="0">
                <a:solidFill>
                  <a:srgbClr val="1E2A5C"/>
                </a:solidFill>
                <a:latin typeface="Pretendard" pitchFamily="34" charset="0"/>
                <a:ea typeface="Pretendard" pitchFamily="34" charset="-122"/>
                <a:cs typeface="Pretendard" pitchFamily="34" charset="-120"/>
              </a:rPr>
              <a:t>세 가지 파라미터</a:t>
            </a:r>
            <a:endParaRPr lang="en-US" sz="2400" dirty="0"/>
          </a:p>
        </p:txBody>
      </p:sp>
      <p:sp>
        <p:nvSpPr>
          <p:cNvPr id="9" name="Text 7"/>
          <p:cNvSpPr/>
          <p:nvPr/>
        </p:nvSpPr>
        <p:spPr>
          <a:xfrm>
            <a:off x="502920" y="2880360"/>
            <a:ext cx="1188720" cy="274320"/>
          </a:xfrm>
          <a:prstGeom prst="rect">
            <a:avLst/>
          </a:prstGeom>
          <a:noFill/>
          <a:ln/>
        </p:spPr>
        <p:txBody>
          <a:bodyPr wrap="square" lIns="0" tIns="0" rIns="0" bIns="0" rtlCol="0" anchor="ctr"/>
          <a:lstStyle/>
          <a:p>
            <a:pPr indent="0" marL="0">
              <a:buNone/>
            </a:pPr>
            <a:r>
              <a:rPr lang="en-US" sz="1700" b="1" dirty="0">
                <a:solidFill>
                  <a:srgbClr val="4A5364"/>
                </a:solidFill>
                <a:latin typeface="Pretendard" pitchFamily="34" charset="0"/>
                <a:ea typeface="Pretendard" pitchFamily="34" charset="-122"/>
                <a:cs typeface="Pretendard" pitchFamily="34" charset="-120"/>
              </a:rPr>
              <a:t>상위 계층</a:t>
            </a:r>
            <a:endParaRPr lang="en-US" sz="1700" dirty="0"/>
          </a:p>
        </p:txBody>
      </p:sp>
      <p:sp>
        <p:nvSpPr>
          <p:cNvPr id="10" name="Text 8"/>
          <p:cNvSpPr/>
          <p:nvPr/>
        </p:nvSpPr>
        <p:spPr>
          <a:xfrm>
            <a:off x="502920" y="3739896"/>
            <a:ext cx="1188720" cy="274320"/>
          </a:xfrm>
          <a:prstGeom prst="rect">
            <a:avLst/>
          </a:prstGeom>
          <a:noFill/>
          <a:ln/>
        </p:spPr>
        <p:txBody>
          <a:bodyPr wrap="square" lIns="0" tIns="0" rIns="0" bIns="0" rtlCol="0" anchor="ctr"/>
          <a:lstStyle/>
          <a:p>
            <a:pPr indent="0" marL="0">
              <a:buNone/>
            </a:pPr>
            <a:r>
              <a:rPr lang="en-US" sz="1700" dirty="0">
                <a:solidFill>
                  <a:srgbClr val="4A5364"/>
                </a:solidFill>
                <a:latin typeface="Pretendard" pitchFamily="34" charset="0"/>
                <a:ea typeface="Pretendard" pitchFamily="34" charset="-122"/>
                <a:cs typeface="Pretendard" pitchFamily="34" charset="-120"/>
              </a:rPr>
              <a:t>중간 계층</a:t>
            </a:r>
            <a:endParaRPr lang="en-US" sz="1700" dirty="0"/>
          </a:p>
        </p:txBody>
      </p:sp>
      <p:sp>
        <p:nvSpPr>
          <p:cNvPr id="11" name="Text 9"/>
          <p:cNvSpPr/>
          <p:nvPr/>
        </p:nvSpPr>
        <p:spPr>
          <a:xfrm>
            <a:off x="502920" y="4599432"/>
            <a:ext cx="1188720" cy="274320"/>
          </a:xfrm>
          <a:prstGeom prst="rect">
            <a:avLst/>
          </a:prstGeom>
          <a:noFill/>
          <a:ln/>
        </p:spPr>
        <p:txBody>
          <a:bodyPr wrap="square" lIns="0" tIns="0" rIns="0" bIns="0" rtlCol="0" anchor="ctr"/>
          <a:lstStyle/>
          <a:p>
            <a:pPr indent="0" marL="0">
              <a:buNone/>
            </a:pPr>
            <a:r>
              <a:rPr lang="en-US" sz="1700" b="1" dirty="0">
                <a:solidFill>
                  <a:srgbClr val="4A5364"/>
                </a:solidFill>
                <a:latin typeface="Pretendard" pitchFamily="34" charset="0"/>
                <a:ea typeface="Pretendard" pitchFamily="34" charset="-122"/>
                <a:cs typeface="Pretendard" pitchFamily="34" charset="-120"/>
              </a:rPr>
              <a:t>하위 계층</a:t>
            </a:r>
            <a:endParaRPr lang="en-US" sz="1700" dirty="0"/>
          </a:p>
        </p:txBody>
      </p:sp>
      <p:sp>
        <p:nvSpPr>
          <p:cNvPr id="12" name="Shape 10"/>
          <p:cNvSpPr/>
          <p:nvPr/>
        </p:nvSpPr>
        <p:spPr>
          <a:xfrm>
            <a:off x="1874520" y="3017520"/>
            <a:ext cx="3895344" cy="0"/>
          </a:xfrm>
          <a:prstGeom prst="line">
            <a:avLst/>
          </a:prstGeom>
          <a:noFill/>
          <a:ln w="25400">
            <a:solidFill>
              <a:srgbClr val="D9E0EC"/>
            </a:solidFill>
            <a:prstDash val="solid"/>
          </a:ln>
        </p:spPr>
      </p:sp>
      <p:sp>
        <p:nvSpPr>
          <p:cNvPr id="13" name="Shape 11"/>
          <p:cNvSpPr/>
          <p:nvPr/>
        </p:nvSpPr>
        <p:spPr>
          <a:xfrm>
            <a:off x="1874520" y="3877056"/>
            <a:ext cx="3895344" cy="0"/>
          </a:xfrm>
          <a:prstGeom prst="line">
            <a:avLst/>
          </a:prstGeom>
          <a:noFill/>
          <a:ln w="25400">
            <a:solidFill>
              <a:srgbClr val="D9E0EC"/>
            </a:solidFill>
            <a:prstDash val="solid"/>
          </a:ln>
        </p:spPr>
      </p:sp>
      <p:sp>
        <p:nvSpPr>
          <p:cNvPr id="14" name="Shape 12"/>
          <p:cNvSpPr/>
          <p:nvPr/>
        </p:nvSpPr>
        <p:spPr>
          <a:xfrm>
            <a:off x="1874520" y="4736592"/>
            <a:ext cx="3895344" cy="0"/>
          </a:xfrm>
          <a:prstGeom prst="line">
            <a:avLst/>
          </a:prstGeom>
          <a:noFill/>
          <a:ln w="25400">
            <a:solidFill>
              <a:srgbClr val="D9E0EC"/>
            </a:solidFill>
            <a:prstDash val="solid"/>
          </a:ln>
        </p:spPr>
      </p:sp>
      <p:sp>
        <p:nvSpPr>
          <p:cNvPr id="15" name="Shape 13"/>
          <p:cNvSpPr/>
          <p:nvPr/>
        </p:nvSpPr>
        <p:spPr>
          <a:xfrm>
            <a:off x="5769864" y="3200400"/>
            <a:ext cx="0" cy="493776"/>
          </a:xfrm>
          <a:prstGeom prst="line">
            <a:avLst/>
          </a:prstGeom>
          <a:noFill/>
          <a:ln w="31750">
            <a:solidFill>
              <a:srgbClr val="2E74C6"/>
            </a:solidFill>
            <a:prstDash val="solid"/>
            <a:tailEnd type="triangle"/>
          </a:ln>
        </p:spPr>
      </p:sp>
      <p:sp>
        <p:nvSpPr>
          <p:cNvPr id="16" name="Shape 14"/>
          <p:cNvSpPr/>
          <p:nvPr/>
        </p:nvSpPr>
        <p:spPr>
          <a:xfrm>
            <a:off x="4471416" y="4059936"/>
            <a:ext cx="0" cy="493776"/>
          </a:xfrm>
          <a:prstGeom prst="line">
            <a:avLst/>
          </a:prstGeom>
          <a:noFill/>
          <a:ln w="31750">
            <a:solidFill>
              <a:srgbClr val="2E74C6"/>
            </a:solidFill>
            <a:prstDash val="solid"/>
            <a:tailEnd type="triangle"/>
          </a:ln>
        </p:spPr>
      </p:sp>
      <p:sp>
        <p:nvSpPr>
          <p:cNvPr id="17" name="Shape 15"/>
          <p:cNvSpPr/>
          <p:nvPr/>
        </p:nvSpPr>
        <p:spPr>
          <a:xfrm>
            <a:off x="2057400" y="3017520"/>
            <a:ext cx="3529584" cy="0"/>
          </a:xfrm>
          <a:prstGeom prst="line">
            <a:avLst/>
          </a:prstGeom>
          <a:noFill/>
          <a:ln w="38100">
            <a:solidFill>
              <a:srgbClr val="2E74C6"/>
            </a:solidFill>
            <a:prstDash val="solid"/>
            <a:tailEnd type="triangle"/>
          </a:ln>
        </p:spPr>
      </p:sp>
      <p:sp>
        <p:nvSpPr>
          <p:cNvPr id="18" name="Shape 16"/>
          <p:cNvSpPr/>
          <p:nvPr/>
        </p:nvSpPr>
        <p:spPr>
          <a:xfrm>
            <a:off x="4654296" y="3877056"/>
            <a:ext cx="932688" cy="0"/>
          </a:xfrm>
          <a:prstGeom prst="line">
            <a:avLst/>
          </a:prstGeom>
          <a:noFill/>
          <a:ln w="38100">
            <a:solidFill>
              <a:srgbClr val="2E74C6"/>
            </a:solidFill>
            <a:prstDash val="solid"/>
            <a:headEnd type="triangle"/>
          </a:ln>
        </p:spPr>
      </p:sp>
      <p:sp>
        <p:nvSpPr>
          <p:cNvPr id="19" name="Shape 17"/>
          <p:cNvSpPr/>
          <p:nvPr/>
        </p:nvSpPr>
        <p:spPr>
          <a:xfrm>
            <a:off x="4005072" y="4736592"/>
            <a:ext cx="283464" cy="0"/>
          </a:xfrm>
          <a:prstGeom prst="line">
            <a:avLst/>
          </a:prstGeom>
          <a:noFill/>
          <a:ln w="38100">
            <a:solidFill>
              <a:srgbClr val="2E74C6"/>
            </a:solidFill>
            <a:prstDash val="solid"/>
            <a:headEnd type="triangle"/>
          </a:ln>
        </p:spPr>
      </p:sp>
      <p:sp>
        <p:nvSpPr>
          <p:cNvPr id="20" name="Shape 18"/>
          <p:cNvSpPr/>
          <p:nvPr/>
        </p:nvSpPr>
        <p:spPr>
          <a:xfrm>
            <a:off x="1691640" y="2834640"/>
            <a:ext cx="365760" cy="365760"/>
          </a:xfrm>
          <a:prstGeom prst="ellipse">
            <a:avLst/>
          </a:prstGeom>
          <a:solidFill>
            <a:srgbClr val="2E74C6"/>
          </a:solidFill>
          <a:ln w="19050">
            <a:solidFill>
              <a:srgbClr val="2E74C6"/>
            </a:solidFill>
            <a:prstDash val="solid"/>
          </a:ln>
        </p:spPr>
      </p:sp>
      <p:sp>
        <p:nvSpPr>
          <p:cNvPr id="21" name="Text 19"/>
          <p:cNvSpPr/>
          <p:nvPr/>
        </p:nvSpPr>
        <p:spPr>
          <a:xfrm>
            <a:off x="1700784" y="2898648"/>
            <a:ext cx="347472" cy="228600"/>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A</a:t>
            </a:r>
            <a:endParaRPr lang="en-US" sz="1600" dirty="0"/>
          </a:p>
        </p:txBody>
      </p:sp>
      <p:sp>
        <p:nvSpPr>
          <p:cNvPr id="22" name="Shape 20"/>
          <p:cNvSpPr/>
          <p:nvPr/>
        </p:nvSpPr>
        <p:spPr>
          <a:xfrm>
            <a:off x="5586984" y="2834640"/>
            <a:ext cx="365760" cy="365760"/>
          </a:xfrm>
          <a:prstGeom prst="ellipse">
            <a:avLst/>
          </a:prstGeom>
          <a:solidFill>
            <a:srgbClr val="2E74C6"/>
          </a:solidFill>
          <a:ln w="19050">
            <a:solidFill>
              <a:srgbClr val="2E74C6"/>
            </a:solidFill>
            <a:prstDash val="solid"/>
          </a:ln>
        </p:spPr>
      </p:sp>
      <p:sp>
        <p:nvSpPr>
          <p:cNvPr id="23" name="Text 21"/>
          <p:cNvSpPr/>
          <p:nvPr/>
        </p:nvSpPr>
        <p:spPr>
          <a:xfrm>
            <a:off x="5596128" y="2898648"/>
            <a:ext cx="347472" cy="228600"/>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B</a:t>
            </a:r>
            <a:endParaRPr lang="en-US" sz="1600" dirty="0"/>
          </a:p>
        </p:txBody>
      </p:sp>
      <p:sp>
        <p:nvSpPr>
          <p:cNvPr id="24" name="Shape 22"/>
          <p:cNvSpPr/>
          <p:nvPr/>
        </p:nvSpPr>
        <p:spPr>
          <a:xfrm>
            <a:off x="1691640" y="3694176"/>
            <a:ext cx="365760" cy="365760"/>
          </a:xfrm>
          <a:prstGeom prst="ellipse">
            <a:avLst/>
          </a:prstGeom>
          <a:solidFill>
            <a:srgbClr val="FFFFFF"/>
          </a:solidFill>
          <a:ln w="19050">
            <a:solidFill>
              <a:srgbClr val="4A5364"/>
            </a:solidFill>
            <a:prstDash val="solid"/>
          </a:ln>
        </p:spPr>
      </p:sp>
      <p:sp>
        <p:nvSpPr>
          <p:cNvPr id="25" name="Text 23"/>
          <p:cNvSpPr/>
          <p:nvPr/>
        </p:nvSpPr>
        <p:spPr>
          <a:xfrm>
            <a:off x="1700784" y="3758184"/>
            <a:ext cx="347472" cy="228600"/>
          </a:xfrm>
          <a:prstGeom prst="rect">
            <a:avLst/>
          </a:prstGeom>
          <a:noFill/>
          <a:ln/>
        </p:spPr>
        <p:txBody>
          <a:bodyPr wrap="square" lIns="0" tIns="0" rIns="0" bIns="0" rtlCol="0" anchor="ctr"/>
          <a:lstStyle/>
          <a:p>
            <a:pPr algn="ctr" indent="0" marL="0">
              <a:buNone/>
            </a:pPr>
            <a:r>
              <a:rPr lang="en-US" sz="1600" b="1" dirty="0">
                <a:solidFill>
                  <a:srgbClr val="1E2A5C"/>
                </a:solidFill>
                <a:latin typeface="Pretendard" pitchFamily="34" charset="0"/>
                <a:ea typeface="Pretendard" pitchFamily="34" charset="-122"/>
                <a:cs typeface="Pretendard" pitchFamily="34" charset="-120"/>
              </a:rPr>
              <a:t>A</a:t>
            </a:r>
            <a:endParaRPr lang="en-US" sz="1600" dirty="0"/>
          </a:p>
        </p:txBody>
      </p:sp>
      <p:sp>
        <p:nvSpPr>
          <p:cNvPr id="26" name="Shape 24"/>
          <p:cNvSpPr/>
          <p:nvPr/>
        </p:nvSpPr>
        <p:spPr>
          <a:xfrm>
            <a:off x="2990088" y="3694176"/>
            <a:ext cx="365760" cy="365760"/>
          </a:xfrm>
          <a:prstGeom prst="ellipse">
            <a:avLst/>
          </a:prstGeom>
          <a:solidFill>
            <a:srgbClr val="FFFFFF"/>
          </a:solidFill>
          <a:ln w="19050">
            <a:solidFill>
              <a:srgbClr val="4A5364"/>
            </a:solidFill>
            <a:prstDash val="solid"/>
          </a:ln>
        </p:spPr>
      </p:sp>
      <p:sp>
        <p:nvSpPr>
          <p:cNvPr id="27" name="Text 25"/>
          <p:cNvSpPr/>
          <p:nvPr/>
        </p:nvSpPr>
        <p:spPr>
          <a:xfrm>
            <a:off x="2999232" y="3758184"/>
            <a:ext cx="347472" cy="228600"/>
          </a:xfrm>
          <a:prstGeom prst="rect">
            <a:avLst/>
          </a:prstGeom>
          <a:noFill/>
          <a:ln/>
        </p:spPr>
        <p:txBody>
          <a:bodyPr wrap="square" lIns="0" tIns="0" rIns="0" bIns="0" rtlCol="0" anchor="ctr"/>
          <a:lstStyle/>
          <a:p>
            <a:pPr algn="ctr" indent="0" marL="0">
              <a:buNone/>
            </a:pPr>
            <a:r>
              <a:rPr lang="en-US" sz="1600" b="1" dirty="0">
                <a:solidFill>
                  <a:srgbClr val="1E2A5C"/>
                </a:solidFill>
                <a:latin typeface="Pretendard" pitchFamily="34" charset="0"/>
                <a:ea typeface="Pretendard" pitchFamily="34" charset="-122"/>
                <a:cs typeface="Pretendard" pitchFamily="34" charset="-120"/>
              </a:rPr>
              <a:t>C</a:t>
            </a:r>
            <a:endParaRPr lang="en-US" sz="1600" dirty="0"/>
          </a:p>
        </p:txBody>
      </p:sp>
      <p:sp>
        <p:nvSpPr>
          <p:cNvPr id="28" name="Shape 26"/>
          <p:cNvSpPr/>
          <p:nvPr/>
        </p:nvSpPr>
        <p:spPr>
          <a:xfrm>
            <a:off x="4288536" y="3694176"/>
            <a:ext cx="365760" cy="365760"/>
          </a:xfrm>
          <a:prstGeom prst="ellipse">
            <a:avLst/>
          </a:prstGeom>
          <a:solidFill>
            <a:srgbClr val="2E74C6"/>
          </a:solidFill>
          <a:ln w="19050">
            <a:solidFill>
              <a:srgbClr val="2E74C6"/>
            </a:solidFill>
            <a:prstDash val="solid"/>
          </a:ln>
        </p:spPr>
      </p:sp>
      <p:sp>
        <p:nvSpPr>
          <p:cNvPr id="29" name="Text 27"/>
          <p:cNvSpPr/>
          <p:nvPr/>
        </p:nvSpPr>
        <p:spPr>
          <a:xfrm>
            <a:off x="4297680" y="3758184"/>
            <a:ext cx="347472" cy="228600"/>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D</a:t>
            </a:r>
            <a:endParaRPr lang="en-US" sz="1600" dirty="0"/>
          </a:p>
        </p:txBody>
      </p:sp>
      <p:sp>
        <p:nvSpPr>
          <p:cNvPr id="30" name="Shape 28"/>
          <p:cNvSpPr/>
          <p:nvPr/>
        </p:nvSpPr>
        <p:spPr>
          <a:xfrm>
            <a:off x="5586984" y="3694176"/>
            <a:ext cx="365760" cy="365760"/>
          </a:xfrm>
          <a:prstGeom prst="ellipse">
            <a:avLst/>
          </a:prstGeom>
          <a:solidFill>
            <a:srgbClr val="2E74C6"/>
          </a:solidFill>
          <a:ln w="19050">
            <a:solidFill>
              <a:srgbClr val="2E74C6"/>
            </a:solidFill>
            <a:prstDash val="solid"/>
          </a:ln>
        </p:spPr>
      </p:sp>
      <p:sp>
        <p:nvSpPr>
          <p:cNvPr id="31" name="Text 29"/>
          <p:cNvSpPr/>
          <p:nvPr/>
        </p:nvSpPr>
        <p:spPr>
          <a:xfrm>
            <a:off x="5596128" y="3758184"/>
            <a:ext cx="347472" cy="228600"/>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B</a:t>
            </a:r>
            <a:endParaRPr lang="en-US" sz="1600" dirty="0"/>
          </a:p>
        </p:txBody>
      </p:sp>
      <p:sp>
        <p:nvSpPr>
          <p:cNvPr id="32" name="Shape 30"/>
          <p:cNvSpPr/>
          <p:nvPr/>
        </p:nvSpPr>
        <p:spPr>
          <a:xfrm>
            <a:off x="1691640" y="4553712"/>
            <a:ext cx="365760" cy="365760"/>
          </a:xfrm>
          <a:prstGeom prst="ellipse">
            <a:avLst/>
          </a:prstGeom>
          <a:solidFill>
            <a:srgbClr val="FFFFFF"/>
          </a:solidFill>
          <a:ln w="19050">
            <a:solidFill>
              <a:srgbClr val="4A5364"/>
            </a:solidFill>
            <a:prstDash val="solid"/>
          </a:ln>
        </p:spPr>
      </p:sp>
      <p:sp>
        <p:nvSpPr>
          <p:cNvPr id="33" name="Text 31"/>
          <p:cNvSpPr/>
          <p:nvPr/>
        </p:nvSpPr>
        <p:spPr>
          <a:xfrm>
            <a:off x="1700784" y="4617720"/>
            <a:ext cx="347472" cy="228600"/>
          </a:xfrm>
          <a:prstGeom prst="rect">
            <a:avLst/>
          </a:prstGeom>
          <a:noFill/>
          <a:ln/>
        </p:spPr>
        <p:txBody>
          <a:bodyPr wrap="square" lIns="0" tIns="0" rIns="0" bIns="0" rtlCol="0" anchor="ctr"/>
          <a:lstStyle/>
          <a:p>
            <a:pPr algn="ctr" indent="0" marL="0">
              <a:buNone/>
            </a:pPr>
            <a:r>
              <a:rPr lang="en-US" sz="1600" b="1" dirty="0">
                <a:solidFill>
                  <a:srgbClr val="1E2A5C"/>
                </a:solidFill>
                <a:latin typeface="Pretendard" pitchFamily="34" charset="0"/>
                <a:ea typeface="Pretendard" pitchFamily="34" charset="-122"/>
                <a:cs typeface="Pretendard" pitchFamily="34" charset="-120"/>
              </a:rPr>
              <a:t>A</a:t>
            </a:r>
            <a:endParaRPr lang="en-US" sz="1600" dirty="0"/>
          </a:p>
        </p:txBody>
      </p:sp>
      <p:sp>
        <p:nvSpPr>
          <p:cNvPr id="34" name="Shape 32"/>
          <p:cNvSpPr/>
          <p:nvPr/>
        </p:nvSpPr>
        <p:spPr>
          <a:xfrm>
            <a:off x="2340864" y="4553712"/>
            <a:ext cx="365760" cy="365760"/>
          </a:xfrm>
          <a:prstGeom prst="ellipse">
            <a:avLst/>
          </a:prstGeom>
          <a:solidFill>
            <a:srgbClr val="FFFFFF"/>
          </a:solidFill>
          <a:ln w="19050">
            <a:solidFill>
              <a:srgbClr val="4A5364"/>
            </a:solidFill>
            <a:prstDash val="solid"/>
          </a:ln>
        </p:spPr>
      </p:sp>
      <p:sp>
        <p:nvSpPr>
          <p:cNvPr id="35" name="Text 33"/>
          <p:cNvSpPr/>
          <p:nvPr/>
        </p:nvSpPr>
        <p:spPr>
          <a:xfrm>
            <a:off x="2350008" y="4617720"/>
            <a:ext cx="347472" cy="228600"/>
          </a:xfrm>
          <a:prstGeom prst="rect">
            <a:avLst/>
          </a:prstGeom>
          <a:noFill/>
          <a:ln/>
        </p:spPr>
        <p:txBody>
          <a:bodyPr wrap="square" lIns="0" tIns="0" rIns="0" bIns="0" rtlCol="0" anchor="ctr"/>
          <a:lstStyle/>
          <a:p>
            <a:pPr algn="ctr" indent="0" marL="0">
              <a:buNone/>
            </a:pPr>
            <a:r>
              <a:rPr lang="en-US" sz="1600" b="1" dirty="0">
                <a:solidFill>
                  <a:srgbClr val="1E2A5C"/>
                </a:solidFill>
                <a:latin typeface="Pretendard" pitchFamily="34" charset="0"/>
                <a:ea typeface="Pretendard" pitchFamily="34" charset="-122"/>
                <a:cs typeface="Pretendard" pitchFamily="34" charset="-120"/>
              </a:rPr>
              <a:t>E</a:t>
            </a:r>
            <a:endParaRPr lang="en-US" sz="1600" dirty="0"/>
          </a:p>
        </p:txBody>
      </p:sp>
      <p:sp>
        <p:nvSpPr>
          <p:cNvPr id="36" name="Shape 34"/>
          <p:cNvSpPr/>
          <p:nvPr/>
        </p:nvSpPr>
        <p:spPr>
          <a:xfrm>
            <a:off x="2990088" y="4553712"/>
            <a:ext cx="365760" cy="365760"/>
          </a:xfrm>
          <a:prstGeom prst="ellipse">
            <a:avLst/>
          </a:prstGeom>
          <a:solidFill>
            <a:srgbClr val="FFFFFF"/>
          </a:solidFill>
          <a:ln w="19050">
            <a:solidFill>
              <a:srgbClr val="4A5364"/>
            </a:solidFill>
            <a:prstDash val="solid"/>
          </a:ln>
        </p:spPr>
      </p:sp>
      <p:sp>
        <p:nvSpPr>
          <p:cNvPr id="37" name="Text 35"/>
          <p:cNvSpPr/>
          <p:nvPr/>
        </p:nvSpPr>
        <p:spPr>
          <a:xfrm>
            <a:off x="2999232" y="4617720"/>
            <a:ext cx="347472" cy="228600"/>
          </a:xfrm>
          <a:prstGeom prst="rect">
            <a:avLst/>
          </a:prstGeom>
          <a:noFill/>
          <a:ln/>
        </p:spPr>
        <p:txBody>
          <a:bodyPr wrap="square" lIns="0" tIns="0" rIns="0" bIns="0" rtlCol="0" anchor="ctr"/>
          <a:lstStyle/>
          <a:p>
            <a:pPr algn="ctr" indent="0" marL="0">
              <a:buNone/>
            </a:pPr>
            <a:r>
              <a:rPr lang="en-US" sz="1600" b="1" dirty="0">
                <a:solidFill>
                  <a:srgbClr val="1E2A5C"/>
                </a:solidFill>
                <a:latin typeface="Pretendard" pitchFamily="34" charset="0"/>
                <a:ea typeface="Pretendard" pitchFamily="34" charset="-122"/>
                <a:cs typeface="Pretendard" pitchFamily="34" charset="-120"/>
              </a:rPr>
              <a:t>C</a:t>
            </a:r>
            <a:endParaRPr lang="en-US" sz="1600" dirty="0"/>
          </a:p>
        </p:txBody>
      </p:sp>
      <p:sp>
        <p:nvSpPr>
          <p:cNvPr id="38" name="Shape 36"/>
          <p:cNvSpPr/>
          <p:nvPr/>
        </p:nvSpPr>
        <p:spPr>
          <a:xfrm>
            <a:off x="3639312" y="4553712"/>
            <a:ext cx="365760" cy="365760"/>
          </a:xfrm>
          <a:prstGeom prst="ellipse">
            <a:avLst/>
          </a:prstGeom>
          <a:solidFill>
            <a:srgbClr val="2E74C6"/>
          </a:solidFill>
          <a:ln w="19050">
            <a:solidFill>
              <a:srgbClr val="2E74C6"/>
            </a:solidFill>
            <a:prstDash val="solid"/>
          </a:ln>
        </p:spPr>
      </p:sp>
      <p:sp>
        <p:nvSpPr>
          <p:cNvPr id="39" name="Text 37"/>
          <p:cNvSpPr/>
          <p:nvPr/>
        </p:nvSpPr>
        <p:spPr>
          <a:xfrm>
            <a:off x="3648456" y="4617720"/>
            <a:ext cx="347472" cy="228600"/>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F</a:t>
            </a:r>
            <a:endParaRPr lang="en-US" sz="1600" dirty="0"/>
          </a:p>
        </p:txBody>
      </p:sp>
      <p:sp>
        <p:nvSpPr>
          <p:cNvPr id="40" name="Shape 38"/>
          <p:cNvSpPr/>
          <p:nvPr/>
        </p:nvSpPr>
        <p:spPr>
          <a:xfrm>
            <a:off x="4288536" y="4553712"/>
            <a:ext cx="365760" cy="365760"/>
          </a:xfrm>
          <a:prstGeom prst="ellipse">
            <a:avLst/>
          </a:prstGeom>
          <a:solidFill>
            <a:srgbClr val="2E74C6"/>
          </a:solidFill>
          <a:ln w="19050">
            <a:solidFill>
              <a:srgbClr val="2E74C6"/>
            </a:solidFill>
            <a:prstDash val="solid"/>
          </a:ln>
        </p:spPr>
      </p:sp>
      <p:sp>
        <p:nvSpPr>
          <p:cNvPr id="41" name="Text 39"/>
          <p:cNvSpPr/>
          <p:nvPr/>
        </p:nvSpPr>
        <p:spPr>
          <a:xfrm>
            <a:off x="4297680" y="4617720"/>
            <a:ext cx="347472" cy="228600"/>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D</a:t>
            </a:r>
            <a:endParaRPr lang="en-US" sz="1600" dirty="0"/>
          </a:p>
        </p:txBody>
      </p:sp>
      <p:sp>
        <p:nvSpPr>
          <p:cNvPr id="42" name="Shape 40"/>
          <p:cNvSpPr/>
          <p:nvPr/>
        </p:nvSpPr>
        <p:spPr>
          <a:xfrm>
            <a:off x="4937760" y="4553712"/>
            <a:ext cx="365760" cy="365760"/>
          </a:xfrm>
          <a:prstGeom prst="ellipse">
            <a:avLst/>
          </a:prstGeom>
          <a:solidFill>
            <a:srgbClr val="FFFFFF"/>
          </a:solidFill>
          <a:ln w="19050">
            <a:solidFill>
              <a:srgbClr val="4A5364"/>
            </a:solidFill>
            <a:prstDash val="solid"/>
          </a:ln>
        </p:spPr>
      </p:sp>
      <p:sp>
        <p:nvSpPr>
          <p:cNvPr id="43" name="Text 41"/>
          <p:cNvSpPr/>
          <p:nvPr/>
        </p:nvSpPr>
        <p:spPr>
          <a:xfrm>
            <a:off x="4946904" y="4617720"/>
            <a:ext cx="347472" cy="228600"/>
          </a:xfrm>
          <a:prstGeom prst="rect">
            <a:avLst/>
          </a:prstGeom>
          <a:noFill/>
          <a:ln/>
        </p:spPr>
        <p:txBody>
          <a:bodyPr wrap="square" lIns="0" tIns="0" rIns="0" bIns="0" rtlCol="0" anchor="ctr"/>
          <a:lstStyle/>
          <a:p>
            <a:pPr algn="ctr" indent="0" marL="0">
              <a:buNone/>
            </a:pPr>
            <a:r>
              <a:rPr lang="en-US" sz="1600" b="1" dirty="0">
                <a:solidFill>
                  <a:srgbClr val="1E2A5C"/>
                </a:solidFill>
                <a:latin typeface="Pretendard" pitchFamily="34" charset="0"/>
                <a:ea typeface="Pretendard" pitchFamily="34" charset="-122"/>
                <a:cs typeface="Pretendard" pitchFamily="34" charset="-120"/>
              </a:rPr>
              <a:t>G</a:t>
            </a:r>
            <a:endParaRPr lang="en-US" sz="1600" dirty="0"/>
          </a:p>
        </p:txBody>
      </p:sp>
      <p:sp>
        <p:nvSpPr>
          <p:cNvPr id="44" name="Shape 42"/>
          <p:cNvSpPr/>
          <p:nvPr/>
        </p:nvSpPr>
        <p:spPr>
          <a:xfrm>
            <a:off x="5586984" y="4553712"/>
            <a:ext cx="365760" cy="365760"/>
          </a:xfrm>
          <a:prstGeom prst="ellipse">
            <a:avLst/>
          </a:prstGeom>
          <a:solidFill>
            <a:srgbClr val="FFFFFF"/>
          </a:solidFill>
          <a:ln w="19050">
            <a:solidFill>
              <a:srgbClr val="4A5364"/>
            </a:solidFill>
            <a:prstDash val="solid"/>
          </a:ln>
        </p:spPr>
      </p:sp>
      <p:sp>
        <p:nvSpPr>
          <p:cNvPr id="45" name="Text 43"/>
          <p:cNvSpPr/>
          <p:nvPr/>
        </p:nvSpPr>
        <p:spPr>
          <a:xfrm>
            <a:off x="5596128" y="4617720"/>
            <a:ext cx="347472" cy="228600"/>
          </a:xfrm>
          <a:prstGeom prst="rect">
            <a:avLst/>
          </a:prstGeom>
          <a:noFill/>
          <a:ln/>
        </p:spPr>
        <p:txBody>
          <a:bodyPr wrap="square" lIns="0" tIns="0" rIns="0" bIns="0" rtlCol="0" anchor="ctr"/>
          <a:lstStyle/>
          <a:p>
            <a:pPr algn="ctr" indent="0" marL="0">
              <a:buNone/>
            </a:pPr>
            <a:r>
              <a:rPr lang="en-US" sz="1600" b="1" dirty="0">
                <a:solidFill>
                  <a:srgbClr val="1E2A5C"/>
                </a:solidFill>
                <a:latin typeface="Pretendard" pitchFamily="34" charset="0"/>
                <a:ea typeface="Pretendard" pitchFamily="34" charset="-122"/>
                <a:cs typeface="Pretendard" pitchFamily="34" charset="-120"/>
              </a:rPr>
              <a:t>B</a:t>
            </a:r>
            <a:endParaRPr lang="en-US" sz="1600" dirty="0"/>
          </a:p>
        </p:txBody>
      </p:sp>
      <p:sp>
        <p:nvSpPr>
          <p:cNvPr id="46" name="Text 44"/>
          <p:cNvSpPr/>
          <p:nvPr/>
        </p:nvSpPr>
        <p:spPr>
          <a:xfrm>
            <a:off x="2798064" y="2587752"/>
            <a:ext cx="3429000" cy="237744"/>
          </a:xfrm>
          <a:prstGeom prst="rect">
            <a:avLst/>
          </a:prstGeom>
          <a:noFill/>
          <a:ln/>
        </p:spPr>
        <p:txBody>
          <a:bodyPr wrap="square" lIns="0" tIns="0" rIns="0" bIns="0" rtlCol="0" anchor="ctr"/>
          <a:lstStyle/>
          <a:p>
            <a:pPr algn="ctr" indent="0" marL="0">
              <a:buNone/>
            </a:pPr>
            <a:r>
              <a:rPr lang="en-US" sz="1600" dirty="0">
                <a:solidFill>
                  <a:srgbClr val="2E74C6"/>
                </a:solidFill>
                <a:latin typeface="Pretendard" pitchFamily="34" charset="0"/>
                <a:ea typeface="Pretendard" pitchFamily="34" charset="-122"/>
                <a:cs typeface="Pretendard" pitchFamily="34" charset="-120"/>
              </a:rPr>
              <a:t>먼 구간을 빠르게 이동</a:t>
            </a:r>
            <a:endParaRPr lang="en-US" sz="1600" dirty="0"/>
          </a:p>
        </p:txBody>
      </p:sp>
      <p:sp>
        <p:nvSpPr>
          <p:cNvPr id="47" name="Text 45"/>
          <p:cNvSpPr/>
          <p:nvPr/>
        </p:nvSpPr>
        <p:spPr>
          <a:xfrm>
            <a:off x="2157984" y="5129784"/>
            <a:ext cx="4114800" cy="265176"/>
          </a:xfrm>
          <a:prstGeom prst="rect">
            <a:avLst/>
          </a:prstGeom>
          <a:noFill/>
          <a:ln/>
        </p:spPr>
        <p:txBody>
          <a:bodyPr wrap="square" lIns="0" tIns="0" rIns="0" bIns="0" rtlCol="0" anchor="ctr"/>
          <a:lstStyle/>
          <a:p>
            <a:pPr algn="ctr" indent="0" marL="0">
              <a:buNone/>
            </a:pPr>
            <a:r>
              <a:rPr lang="en-US" sz="1700" dirty="0">
                <a:solidFill>
                  <a:srgbClr val="2E74C6"/>
                </a:solidFill>
                <a:latin typeface="Pretendard" pitchFamily="34" charset="0"/>
                <a:ea typeface="Pretendard" pitchFamily="34" charset="-122"/>
                <a:cs typeface="Pretendard" pitchFamily="34" charset="-120"/>
              </a:rPr>
              <a:t>가까운 이웃을 세밀하게 비교</a:t>
            </a:r>
            <a:endParaRPr lang="en-US" sz="1700" dirty="0"/>
          </a:p>
        </p:txBody>
      </p:sp>
      <p:sp>
        <p:nvSpPr>
          <p:cNvPr id="48" name="Text 46"/>
          <p:cNvSpPr/>
          <p:nvPr/>
        </p:nvSpPr>
        <p:spPr>
          <a:xfrm>
            <a:off x="502920" y="5541264"/>
            <a:ext cx="6583680" cy="237744"/>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파란선은 검색 경로의 개념 예시입니다.</a:t>
            </a:r>
            <a:endParaRPr lang="en-US" sz="14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7452360" y="2724912"/>
          <a:ext cx="6675120" cy="2304288"/>
        </p:xfrm>
        <a:graphic>
          <a:graphicData uri="http://schemas.openxmlformats.org/drawingml/2006/table">
            <a:tbl>
              <a:tblPr/>
              <a:tblGrid>
                <a:gridCol w="2286000"/>
                <a:gridCol w="2240280"/>
                <a:gridCol w="2148840"/>
              </a:tblGrid>
              <a:tr h="438912">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파라미터</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무엇을 조정하나요?</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값을 높이면</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r>
              <a:tr h="621792">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M</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그래프 연결 밀도</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메모리·구축비용 증가</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r>
              <a:tr h="621792">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ef_construction</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구축할 때 후보 폭</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구축 품질·시간 증가</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r>
              <a:tr h="621792">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ef_search</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검색할 때 후보 폭</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재현율·검색시간 증가</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r>
            </a:tbl>
          </a:graphicData>
        </a:graphic>
      </p:graphicFrame>
      <p:sp>
        <p:nvSpPr>
          <p:cNvPr id="50" name="Text 47"/>
          <p:cNvSpPr/>
          <p:nvPr/>
        </p:nvSpPr>
        <p:spPr>
          <a:xfrm>
            <a:off x="7452360" y="5230368"/>
            <a:ext cx="6675120" cy="539496"/>
          </a:xfrm>
          <a:prstGeom prst="rect">
            <a:avLst/>
          </a:prstGeom>
          <a:noFill/>
          <a:ln/>
        </p:spPr>
        <p:txBody>
          <a:bodyPr wrap="square" lIns="0" tIns="0" rIns="0" bIns="0" rtlCol="0" anchor="ctr"/>
          <a:lstStyle/>
          <a:p>
            <a:pPr indent="0" marL="0">
              <a:buNone/>
            </a:pPr>
            <a:r>
              <a:rPr lang="en-US" sz="1600" dirty="0">
                <a:solidFill>
                  <a:srgbClr val="4A5364"/>
                </a:solidFill>
                <a:latin typeface="Pretendard" pitchFamily="34" charset="0"/>
                <a:ea typeface="Pretendard" pitchFamily="34" charset="-122"/>
                <a:cs typeface="Pretendard" pitchFamily="34" charset="-120"/>
              </a:rPr>
              <a:t>후보 폭은 유지하는 후보 목록의 크기입니다.</a:t>
            </a:r>
            <a:endParaRPr lang="en-US" sz="1600" dirty="0"/>
          </a:p>
          <a:p>
            <a:pPr indent="0" marL="0">
              <a:buNone/>
            </a:pPr>
            <a:r>
              <a:rPr lang="en-US" sz="1600" dirty="0">
                <a:solidFill>
                  <a:srgbClr val="4A5364"/>
                </a:solidFill>
                <a:latin typeface="Pretendard" pitchFamily="34" charset="0"/>
                <a:ea typeface="Pretendard" pitchFamily="34" charset="-122"/>
                <a:cs typeface="Pretendard" pitchFamily="34" charset="-120"/>
              </a:rPr>
              <a:t>실제로 방문한 모든 노드 수와는 다릅니다.</a:t>
            </a:r>
            <a:endParaRPr lang="en-US" sz="1600" dirty="0"/>
          </a:p>
        </p:txBody>
      </p:sp>
      <p:sp>
        <p:nvSpPr>
          <p:cNvPr id="51" name="Shape 48"/>
          <p:cNvSpPr/>
          <p:nvPr/>
        </p:nvSpPr>
        <p:spPr>
          <a:xfrm>
            <a:off x="502920" y="5998464"/>
            <a:ext cx="13624560" cy="621792"/>
          </a:xfrm>
          <a:prstGeom prst="rect">
            <a:avLst/>
          </a:prstGeom>
          <a:solidFill>
            <a:srgbClr val="EEF3FA"/>
          </a:solidFill>
          <a:ln w="12700">
            <a:solidFill>
              <a:srgbClr val="EEF3FA"/>
            </a:solidFill>
            <a:prstDash val="solid"/>
          </a:ln>
        </p:spPr>
      </p:sp>
      <p:sp>
        <p:nvSpPr>
          <p:cNvPr id="52" name="Text 49"/>
          <p:cNvSpPr/>
          <p:nvPr/>
        </p:nvSpPr>
        <p:spPr>
          <a:xfrm>
            <a:off x="685800" y="6181344"/>
            <a:ext cx="2331720" cy="246888"/>
          </a:xfrm>
          <a:prstGeom prst="rect">
            <a:avLst/>
          </a:prstGeom>
          <a:noFill/>
          <a:ln/>
        </p:spPr>
        <p:txBody>
          <a:bodyPr wrap="square" lIns="0" tIns="0" rIns="0" bIns="0" rtlCol="0" anchor="ctr"/>
          <a:lstStyle/>
          <a:p>
            <a:pPr indent="0" marL="0">
              <a:buNone/>
            </a:pPr>
            <a:r>
              <a:rPr lang="en-US" sz="1800" b="1" dirty="0">
                <a:solidFill>
                  <a:srgbClr val="2E74C6"/>
                </a:solidFill>
                <a:latin typeface="Pretendard" pitchFamily="34" charset="0"/>
                <a:ea typeface="Pretendard" pitchFamily="34" charset="-122"/>
                <a:cs typeface="Pretendard" pitchFamily="34" charset="-120"/>
              </a:rPr>
              <a:t>문서의 시작 예시</a:t>
            </a:r>
            <a:endParaRPr lang="en-US" sz="1800" dirty="0"/>
          </a:p>
        </p:txBody>
      </p:sp>
      <p:sp>
        <p:nvSpPr>
          <p:cNvPr id="53" name="Text 50"/>
          <p:cNvSpPr/>
          <p:nvPr/>
        </p:nvSpPr>
        <p:spPr>
          <a:xfrm>
            <a:off x="3127248" y="6163056"/>
            <a:ext cx="10698480" cy="283464"/>
          </a:xfrm>
          <a:prstGeom prst="rect">
            <a:avLst/>
          </a:prstGeom>
          <a:noFill/>
          <a:ln/>
        </p:spPr>
        <p:txBody>
          <a:bodyPr wrap="square" lIns="0" tIns="0" rIns="0" bIns="0" rtlCol="0" anchor="ctr"/>
          <a:lstStyle/>
          <a:p>
            <a:pPr indent="0" marL="0">
              <a:buNone/>
            </a:pPr>
            <a:r>
              <a:rPr lang="en-US" sz="2200" b="1" dirty="0">
                <a:solidFill>
                  <a:srgbClr val="1E2A5C"/>
                </a:solidFill>
                <a:latin typeface="Pretendard" pitchFamily="34" charset="0"/>
                <a:ea typeface="Pretendard" pitchFamily="34" charset="-122"/>
                <a:cs typeface="Pretendard" pitchFamily="34" charset="-120"/>
              </a:rPr>
              <a:t>M = 16   /   ef_construction = 200   /   ef_search = 100</a:t>
            </a:r>
            <a:endParaRPr lang="en-US" sz="2200" dirty="0"/>
          </a:p>
        </p:txBody>
      </p:sp>
      <p:sp>
        <p:nvSpPr>
          <p:cNvPr id="54" name="Text 51"/>
          <p:cNvSpPr/>
          <p:nvPr/>
        </p:nvSpPr>
        <p:spPr>
          <a:xfrm>
            <a:off x="502920" y="6830568"/>
            <a:ext cx="13624560" cy="283464"/>
          </a:xfrm>
          <a:prstGeom prst="rect">
            <a:avLst/>
          </a:prstGeom>
          <a:noFill/>
          <a:ln/>
        </p:spPr>
        <p:txBody>
          <a:bodyPr wrap="square" lIns="0" tIns="0" rIns="0" bIns="0" rtlCol="0" anchor="ctr"/>
          <a:lstStyle/>
          <a:p>
            <a:pPr indent="0" marL="0">
              <a:buNone/>
            </a:pPr>
            <a:r>
              <a:rPr lang="en-US" sz="1900" dirty="0">
                <a:solidFill>
                  <a:srgbClr val="2B3242"/>
                </a:solidFill>
                <a:latin typeface="Pretendard" pitchFamily="34" charset="0"/>
                <a:ea typeface="Pretendard" pitchFamily="34" charset="-122"/>
                <a:cs typeface="Pretendard" pitchFamily="34" charset="-120"/>
              </a:rPr>
              <a:t>top_k는 반환 개수입니다. ef_search는 보통 top_k 이상으로 두고 탐색 폭을 조정합니다.</a:t>
            </a:r>
            <a:endParaRPr lang="en-US" sz="1900" dirty="0"/>
          </a:p>
        </p:txBody>
      </p:sp>
      <p:sp>
        <p:nvSpPr>
          <p:cNvPr id="55" name="Text 52"/>
          <p:cNvSpPr/>
          <p:nvPr/>
        </p:nvSpPr>
        <p:spPr>
          <a:xfrm>
            <a:off x="502920" y="7306056"/>
            <a:ext cx="13624560" cy="292608"/>
          </a:xfrm>
          <a:prstGeom prst="rect">
            <a:avLst/>
          </a:prstGeom>
          <a:noFill/>
          <a:ln/>
        </p:spPr>
        <p:txBody>
          <a:bodyPr wrap="square" lIns="0" tIns="0" rIns="0" bIns="0" rtlCol="0" anchor="ctr"/>
          <a:lstStyle/>
          <a:p>
            <a:pPr indent="0" marL="0">
              <a:buNone/>
            </a:pPr>
            <a:r>
              <a:rPr lang="en-US" sz="2000" b="1" dirty="0">
                <a:solidFill>
                  <a:srgbClr val="1E2A5C"/>
                </a:solidFill>
                <a:latin typeface="Pretendard" pitchFamily="34" charset="0"/>
                <a:ea typeface="Pretendard" pitchFamily="34" charset="-122"/>
                <a:cs typeface="Pretendard" pitchFamily="34" charset="-120"/>
              </a:rPr>
              <a:t>같은 질문셋으로 Recall@k · p95 검색시간 · 메모리를 비교하며 조정합니다.</a:t>
            </a:r>
            <a:endParaRPr lang="en-US" sz="2000" dirty="0"/>
          </a:p>
        </p:txBody>
      </p:sp>
      <p:sp>
        <p:nvSpPr>
          <p:cNvPr id="56" name="Shape 53"/>
          <p:cNvSpPr/>
          <p:nvPr/>
        </p:nvSpPr>
        <p:spPr>
          <a:xfrm>
            <a:off x="502920" y="7854696"/>
            <a:ext cx="13624560" cy="0"/>
          </a:xfrm>
          <a:prstGeom prst="line">
            <a:avLst/>
          </a:prstGeom>
          <a:noFill/>
          <a:ln w="8890">
            <a:solidFill>
              <a:srgbClr val="E9ECF3"/>
            </a:solidFill>
            <a:prstDash val="solid"/>
          </a:ln>
        </p:spPr>
      </p:sp>
      <p:sp>
        <p:nvSpPr>
          <p:cNvPr id="57" name="Text 54">
            <a:hlinkClick r:id="rId1" tooltip=""/>
          </p:cNvPr>
          <p:cNvSpPr/>
          <p:nvPr/>
        </p:nvSpPr>
        <p:spPr>
          <a:xfrm>
            <a:off x="502920" y="7936992"/>
            <a:ext cx="10972800" cy="182880"/>
          </a:xfrm>
          <a:prstGeom prst="rect">
            <a:avLst/>
          </a:prstGeom>
          <a:noFill/>
          <a:ln/>
        </p:spPr>
        <p:txBody>
          <a:bodyPr wrap="square" lIns="0" tIns="0" rIns="0" bIns="0" rtlCol="0" anchor="ctr"/>
          <a:lstStyle/>
          <a:p>
            <a:pPr indent="0" marL="0">
              <a:buNone/>
            </a:pPr>
            <a:r>
              <a:rPr lang="en-US" sz="1400" u="sng" dirty="0">
                <a:solidFill>
                  <a:srgbClr val="7C8598"/>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참고: RAG 품질 튜닝 §4.1 · HNSW 공식 문서 | 수치는 제품 기본값이 아닙니다.</a:t>
            </a:r>
            <a:endParaRPr lang="en-US" sz="1400" dirty="0"/>
          </a:p>
        </p:txBody>
      </p:sp>
      <p:sp>
        <p:nvSpPr>
          <p:cNvPr id="58" name="Text 55"/>
          <p:cNvSpPr/>
          <p:nvPr/>
        </p:nvSpPr>
        <p:spPr>
          <a:xfrm>
            <a:off x="11430000" y="7936992"/>
            <a:ext cx="2697480" cy="182880"/>
          </a:xfrm>
          <a:prstGeom prst="rect">
            <a:avLst/>
          </a:prstGeom>
          <a:noFill/>
          <a:ln/>
        </p:spPr>
        <p:txBody>
          <a:bodyPr wrap="square" lIns="0" tIns="0" rIns="0" bIns="0" rtlCol="0" anchor="ctr"/>
          <a:lstStyle/>
          <a:p>
            <a:pPr algn="r" indent="0" marL="0">
              <a:buNone/>
            </a:pPr>
            <a:r>
              <a:rPr lang="en-US" sz="1400" dirty="0">
                <a:solidFill>
                  <a:srgbClr val="7C8598"/>
                </a:solidFill>
                <a:latin typeface="Pretendard" pitchFamily="34" charset="0"/>
                <a:ea typeface="Pretendard" pitchFamily="34" charset="-122"/>
                <a:cs typeface="Pretendard" pitchFamily="34" charset="-120"/>
              </a:rPr>
              <a:t>벡터DB  /  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3624560" cy="256032"/>
          </a:xfrm>
          <a:prstGeom prst="rect">
            <a:avLst/>
          </a:prstGeom>
          <a:noFill/>
          <a:ln/>
        </p:spPr>
        <p:txBody>
          <a:bodyPr wrap="square" lIns="0" tIns="0" rIns="0" bIns="0" rtlCol="0" anchor="ctr"/>
          <a:lstStyle/>
          <a:p>
            <a:pPr indent="0" marL="0">
              <a:buNone/>
            </a:pPr>
            <a:r>
              <a:rPr lang="en-US" sz="1500" dirty="0">
                <a:solidFill>
                  <a:srgbClr val="7C8598"/>
                </a:solidFill>
                <a:latin typeface="Pretendard" pitchFamily="34" charset="0"/>
                <a:ea typeface="Pretendard" pitchFamily="34" charset="-122"/>
                <a:cs typeface="Pretendard" pitchFamily="34" charset="-120"/>
              </a:rPr>
              <a:t>벡터DB 구성 원리 › 검색 인덱스 튜닝</a:t>
            </a:r>
            <a:endParaRPr lang="en-US" sz="1500" dirty="0"/>
          </a:p>
        </p:txBody>
      </p:sp>
      <p:sp>
        <p:nvSpPr>
          <p:cNvPr id="3" name="Text 1"/>
          <p:cNvSpPr/>
          <p:nvPr/>
        </p:nvSpPr>
        <p:spPr>
          <a:xfrm>
            <a:off x="502920" y="685800"/>
            <a:ext cx="13624560" cy="621792"/>
          </a:xfrm>
          <a:prstGeom prst="rect">
            <a:avLst/>
          </a:prstGeom>
          <a:noFill/>
          <a:ln/>
        </p:spPr>
        <p:txBody>
          <a:bodyPr wrap="square" lIns="0" tIns="0" rIns="0" bIns="0" rtlCol="0" anchor="ctr"/>
          <a:lstStyle/>
          <a:p>
            <a:pPr indent="0" marL="0">
              <a:buNone/>
            </a:pPr>
            <a:r>
              <a:rPr lang="en-US" sz="4800" b="1" dirty="0">
                <a:solidFill>
                  <a:srgbClr val="1E2A5C"/>
                </a:solidFill>
                <a:latin typeface="Pretendard" pitchFamily="34" charset="0"/>
                <a:ea typeface="Pretendard" pitchFamily="34" charset="-122"/>
                <a:cs typeface="Pretendard" pitchFamily="34" charset="-120"/>
              </a:rPr>
              <a:t>IVF 검색과 파라미터 튜닝</a:t>
            </a:r>
            <a:endParaRPr lang="en-US" sz="4800" dirty="0"/>
          </a:p>
        </p:txBody>
      </p:sp>
      <p:sp>
        <p:nvSpPr>
          <p:cNvPr id="4" name="Shape 2"/>
          <p:cNvSpPr/>
          <p:nvPr/>
        </p:nvSpPr>
        <p:spPr>
          <a:xfrm>
            <a:off x="502920" y="1417320"/>
            <a:ext cx="13624560" cy="32004"/>
          </a:xfrm>
          <a:prstGeom prst="rect">
            <a:avLst/>
          </a:prstGeom>
          <a:solidFill>
            <a:srgbClr val="D9E0EC"/>
          </a:solidFill>
          <a:ln w="12700">
            <a:solidFill>
              <a:srgbClr val="D9E0EC"/>
            </a:solidFill>
            <a:prstDash val="solid"/>
          </a:ln>
        </p:spPr>
      </p:sp>
      <p:sp>
        <p:nvSpPr>
          <p:cNvPr id="5" name="Shape 3"/>
          <p:cNvSpPr/>
          <p:nvPr/>
        </p:nvSpPr>
        <p:spPr>
          <a:xfrm>
            <a:off x="502920" y="1417320"/>
            <a:ext cx="1920240" cy="32004"/>
          </a:xfrm>
          <a:prstGeom prst="rect">
            <a:avLst/>
          </a:prstGeom>
          <a:solidFill>
            <a:srgbClr val="2E74C6"/>
          </a:solidFill>
          <a:ln w="12700">
            <a:solidFill>
              <a:srgbClr val="2E74C6"/>
            </a:solidFill>
            <a:prstDash val="solid"/>
          </a:ln>
        </p:spPr>
      </p:sp>
      <p:sp>
        <p:nvSpPr>
          <p:cNvPr id="6" name="Text 4"/>
          <p:cNvSpPr/>
          <p:nvPr/>
        </p:nvSpPr>
        <p:spPr>
          <a:xfrm>
            <a:off x="502920" y="1627632"/>
            <a:ext cx="13624560" cy="347472"/>
          </a:xfrm>
          <a:prstGeom prst="rect">
            <a:avLst/>
          </a:prstGeom>
          <a:noFill/>
          <a:ln/>
        </p:spPr>
        <p:txBody>
          <a:bodyPr wrap="square" lIns="0" tIns="0" rIns="0" bIns="0" rtlCol="0" anchor="ctr"/>
          <a:lstStyle/>
          <a:p>
            <a:pPr indent="0" marL="0">
              <a:buNone/>
            </a:pPr>
            <a:r>
              <a:rPr lang="en-US" sz="2100" dirty="0">
                <a:solidFill>
                  <a:srgbClr val="4A5364"/>
                </a:solidFill>
                <a:latin typeface="Pretendard" pitchFamily="34" charset="0"/>
                <a:ea typeface="Pretendard" pitchFamily="34" charset="-122"/>
                <a:cs typeface="Pretendard" pitchFamily="34" charset="-120"/>
              </a:rPr>
              <a:t>비슷한 벡터를 군집으로 묶고, 질문과 가까운 군집만 골라 검색합니다.</a:t>
            </a:r>
            <a:endParaRPr lang="en-US" sz="2100" dirty="0"/>
          </a:p>
        </p:txBody>
      </p:sp>
      <p:sp>
        <p:nvSpPr>
          <p:cNvPr id="7" name="Text 5"/>
          <p:cNvSpPr/>
          <p:nvPr/>
        </p:nvSpPr>
        <p:spPr>
          <a:xfrm>
            <a:off x="502920" y="2121408"/>
            <a:ext cx="6675120" cy="347472"/>
          </a:xfrm>
          <a:prstGeom prst="rect">
            <a:avLst/>
          </a:prstGeom>
          <a:noFill/>
          <a:ln/>
        </p:spPr>
        <p:txBody>
          <a:bodyPr wrap="square" lIns="0" tIns="0" rIns="0" bIns="0" rtlCol="0" anchor="ctr"/>
          <a:lstStyle/>
          <a:p>
            <a:pPr indent="0" marL="0">
              <a:buNone/>
            </a:pPr>
            <a:r>
              <a:rPr lang="en-US" sz="2400" b="1" dirty="0">
                <a:solidFill>
                  <a:srgbClr val="1E2A5C"/>
                </a:solidFill>
                <a:latin typeface="Pretendard" pitchFamily="34" charset="0"/>
                <a:ea typeface="Pretendard" pitchFamily="34" charset="-122"/>
                <a:cs typeface="Pretendard" pitchFamily="34" charset="-120"/>
              </a:rPr>
              <a:t>군집을 골라 검색 범위를 줄이는 IVF</a:t>
            </a:r>
            <a:endParaRPr lang="en-US" sz="2400" dirty="0"/>
          </a:p>
        </p:txBody>
      </p:sp>
      <p:sp>
        <p:nvSpPr>
          <p:cNvPr id="8" name="Text 6"/>
          <p:cNvSpPr/>
          <p:nvPr/>
        </p:nvSpPr>
        <p:spPr>
          <a:xfrm>
            <a:off x="7452360" y="2121408"/>
            <a:ext cx="6675120" cy="347472"/>
          </a:xfrm>
          <a:prstGeom prst="rect">
            <a:avLst/>
          </a:prstGeom>
          <a:noFill/>
          <a:ln/>
        </p:spPr>
        <p:txBody>
          <a:bodyPr wrap="square" lIns="0" tIns="0" rIns="0" bIns="0" rtlCol="0" anchor="ctr"/>
          <a:lstStyle/>
          <a:p>
            <a:pPr indent="0" marL="0">
              <a:buNone/>
            </a:pPr>
            <a:r>
              <a:rPr lang="en-US" sz="2400" b="1" dirty="0">
                <a:solidFill>
                  <a:srgbClr val="1E2A5C"/>
                </a:solidFill>
                <a:latin typeface="Pretendard" pitchFamily="34" charset="0"/>
                <a:ea typeface="Pretendard" pitchFamily="34" charset="-122"/>
                <a:cs typeface="Pretendard" pitchFamily="34" charset="-120"/>
              </a:rPr>
              <a:t>두 가지 파라미터</a:t>
            </a:r>
            <a:endParaRPr lang="en-US" sz="2400" dirty="0"/>
          </a:p>
        </p:txBody>
      </p:sp>
      <p:sp>
        <p:nvSpPr>
          <p:cNvPr id="9" name="Shape 7"/>
          <p:cNvSpPr/>
          <p:nvPr/>
        </p:nvSpPr>
        <p:spPr>
          <a:xfrm>
            <a:off x="3593592" y="2596896"/>
            <a:ext cx="329184" cy="329184"/>
          </a:xfrm>
          <a:prstGeom prst="ellipse">
            <a:avLst/>
          </a:prstGeom>
          <a:solidFill>
            <a:srgbClr val="FFFFFF"/>
          </a:solidFill>
          <a:ln w="19050">
            <a:solidFill>
              <a:srgbClr val="2E74C6"/>
            </a:solidFill>
            <a:prstDash val="solid"/>
          </a:ln>
        </p:spPr>
      </p:sp>
      <p:sp>
        <p:nvSpPr>
          <p:cNvPr id="10" name="Text 8"/>
          <p:cNvSpPr/>
          <p:nvPr/>
        </p:nvSpPr>
        <p:spPr>
          <a:xfrm>
            <a:off x="4069080" y="2633472"/>
            <a:ext cx="1828800" cy="256032"/>
          </a:xfrm>
          <a:prstGeom prst="rect">
            <a:avLst/>
          </a:prstGeom>
          <a:noFill/>
          <a:ln/>
        </p:spPr>
        <p:txBody>
          <a:bodyPr wrap="square" lIns="0" tIns="0" rIns="0" bIns="0" rtlCol="0" anchor="ctr"/>
          <a:lstStyle/>
          <a:p>
            <a:pPr indent="0" marL="0">
              <a:buNone/>
            </a:pPr>
            <a:r>
              <a:rPr lang="en-US" sz="1700" b="1" dirty="0">
                <a:solidFill>
                  <a:srgbClr val="2E74C6"/>
                </a:solidFill>
                <a:latin typeface="Pretendard" pitchFamily="34" charset="0"/>
                <a:ea typeface="Pretendard" pitchFamily="34" charset="-122"/>
                <a:cs typeface="Pretendard" pitchFamily="34" charset="-120"/>
              </a:rPr>
              <a:t>질문 벡터</a:t>
            </a:r>
            <a:endParaRPr lang="en-US" sz="1700" dirty="0"/>
          </a:p>
        </p:txBody>
      </p:sp>
      <p:sp>
        <p:nvSpPr>
          <p:cNvPr id="11" name="Shape 9"/>
          <p:cNvSpPr/>
          <p:nvPr/>
        </p:nvSpPr>
        <p:spPr>
          <a:xfrm>
            <a:off x="2980944" y="3063240"/>
            <a:ext cx="1554480" cy="0"/>
          </a:xfrm>
          <a:prstGeom prst="line">
            <a:avLst/>
          </a:prstGeom>
          <a:noFill/>
          <a:ln w="25400">
            <a:solidFill>
              <a:srgbClr val="2E74C6"/>
            </a:solidFill>
            <a:prstDash val="solid"/>
          </a:ln>
        </p:spPr>
      </p:sp>
      <p:sp>
        <p:nvSpPr>
          <p:cNvPr id="12" name="Shape 10"/>
          <p:cNvSpPr/>
          <p:nvPr/>
        </p:nvSpPr>
        <p:spPr>
          <a:xfrm>
            <a:off x="3758184" y="2926080"/>
            <a:ext cx="0" cy="137160"/>
          </a:xfrm>
          <a:prstGeom prst="line">
            <a:avLst/>
          </a:prstGeom>
          <a:noFill/>
          <a:ln w="25400">
            <a:solidFill>
              <a:srgbClr val="2E74C6"/>
            </a:solidFill>
            <a:prstDash val="solid"/>
          </a:ln>
        </p:spPr>
      </p:sp>
      <p:sp>
        <p:nvSpPr>
          <p:cNvPr id="13" name="Shape 11"/>
          <p:cNvSpPr/>
          <p:nvPr/>
        </p:nvSpPr>
        <p:spPr>
          <a:xfrm>
            <a:off x="2980944" y="3063240"/>
            <a:ext cx="0" cy="219456"/>
          </a:xfrm>
          <a:prstGeom prst="line">
            <a:avLst/>
          </a:prstGeom>
          <a:noFill/>
          <a:ln w="25400">
            <a:solidFill>
              <a:srgbClr val="2E74C6"/>
            </a:solidFill>
            <a:prstDash val="solid"/>
            <a:tailEnd type="triangle"/>
          </a:ln>
        </p:spPr>
      </p:sp>
      <p:sp>
        <p:nvSpPr>
          <p:cNvPr id="14" name="Shape 12"/>
          <p:cNvSpPr/>
          <p:nvPr/>
        </p:nvSpPr>
        <p:spPr>
          <a:xfrm>
            <a:off x="4535424" y="3063240"/>
            <a:ext cx="0" cy="219456"/>
          </a:xfrm>
          <a:prstGeom prst="line">
            <a:avLst/>
          </a:prstGeom>
          <a:noFill/>
          <a:ln w="25400">
            <a:solidFill>
              <a:srgbClr val="2E74C6"/>
            </a:solidFill>
            <a:prstDash val="solid"/>
            <a:tailEnd type="triangle"/>
          </a:ln>
        </p:spPr>
      </p:sp>
      <p:sp>
        <p:nvSpPr>
          <p:cNvPr id="15" name="Shape 13"/>
          <p:cNvSpPr/>
          <p:nvPr/>
        </p:nvSpPr>
        <p:spPr>
          <a:xfrm>
            <a:off x="731520" y="3355848"/>
            <a:ext cx="1389888" cy="1664208"/>
          </a:xfrm>
          <a:prstGeom prst="rect">
            <a:avLst/>
          </a:prstGeom>
          <a:solidFill>
            <a:srgbClr val="FFFFFF"/>
          </a:solidFill>
          <a:ln w="12700">
            <a:solidFill>
              <a:srgbClr val="D9E0EC"/>
            </a:solidFill>
            <a:prstDash val="solid"/>
          </a:ln>
        </p:spPr>
      </p:sp>
      <p:sp>
        <p:nvSpPr>
          <p:cNvPr id="16" name="Shape 14"/>
          <p:cNvSpPr/>
          <p:nvPr/>
        </p:nvSpPr>
        <p:spPr>
          <a:xfrm>
            <a:off x="1028700" y="3561588"/>
            <a:ext cx="118872" cy="118872"/>
          </a:xfrm>
          <a:prstGeom prst="ellipse">
            <a:avLst/>
          </a:prstGeom>
          <a:solidFill>
            <a:srgbClr val="D9E0EC"/>
          </a:solidFill>
          <a:ln w="19050">
            <a:solidFill>
              <a:srgbClr val="D9E0EC"/>
            </a:solidFill>
            <a:prstDash val="solid"/>
          </a:ln>
        </p:spPr>
      </p:sp>
      <p:sp>
        <p:nvSpPr>
          <p:cNvPr id="17" name="Shape 15"/>
          <p:cNvSpPr/>
          <p:nvPr/>
        </p:nvSpPr>
        <p:spPr>
          <a:xfrm>
            <a:off x="1641348" y="3598164"/>
            <a:ext cx="118872" cy="118872"/>
          </a:xfrm>
          <a:prstGeom prst="ellipse">
            <a:avLst/>
          </a:prstGeom>
          <a:solidFill>
            <a:srgbClr val="D9E0EC"/>
          </a:solidFill>
          <a:ln w="19050">
            <a:solidFill>
              <a:srgbClr val="D9E0EC"/>
            </a:solidFill>
            <a:prstDash val="solid"/>
          </a:ln>
        </p:spPr>
      </p:sp>
      <p:sp>
        <p:nvSpPr>
          <p:cNvPr id="18" name="Shape 16"/>
          <p:cNvSpPr/>
          <p:nvPr/>
        </p:nvSpPr>
        <p:spPr>
          <a:xfrm>
            <a:off x="973836" y="4055364"/>
            <a:ext cx="118872" cy="118872"/>
          </a:xfrm>
          <a:prstGeom prst="ellipse">
            <a:avLst/>
          </a:prstGeom>
          <a:solidFill>
            <a:srgbClr val="D9E0EC"/>
          </a:solidFill>
          <a:ln w="19050">
            <a:solidFill>
              <a:srgbClr val="D9E0EC"/>
            </a:solidFill>
            <a:prstDash val="solid"/>
          </a:ln>
        </p:spPr>
      </p:sp>
      <p:sp>
        <p:nvSpPr>
          <p:cNvPr id="19" name="Shape 17"/>
          <p:cNvSpPr/>
          <p:nvPr/>
        </p:nvSpPr>
        <p:spPr>
          <a:xfrm>
            <a:off x="1668780" y="4165092"/>
            <a:ext cx="118872" cy="118872"/>
          </a:xfrm>
          <a:prstGeom prst="ellipse">
            <a:avLst/>
          </a:prstGeom>
          <a:solidFill>
            <a:srgbClr val="D9E0EC"/>
          </a:solidFill>
          <a:ln w="19050">
            <a:solidFill>
              <a:srgbClr val="D9E0EC"/>
            </a:solidFill>
            <a:prstDash val="solid"/>
          </a:ln>
        </p:spPr>
      </p:sp>
      <p:sp>
        <p:nvSpPr>
          <p:cNvPr id="20" name="Shape 18"/>
          <p:cNvSpPr/>
          <p:nvPr/>
        </p:nvSpPr>
        <p:spPr>
          <a:xfrm>
            <a:off x="1321308" y="4329684"/>
            <a:ext cx="118872" cy="118872"/>
          </a:xfrm>
          <a:prstGeom prst="ellipse">
            <a:avLst/>
          </a:prstGeom>
          <a:solidFill>
            <a:srgbClr val="D9E0EC"/>
          </a:solidFill>
          <a:ln w="19050">
            <a:solidFill>
              <a:srgbClr val="D9E0EC"/>
            </a:solidFill>
            <a:prstDash val="solid"/>
          </a:ln>
        </p:spPr>
      </p:sp>
      <p:sp>
        <p:nvSpPr>
          <p:cNvPr id="21" name="Shape 19"/>
          <p:cNvSpPr/>
          <p:nvPr/>
        </p:nvSpPr>
        <p:spPr>
          <a:xfrm>
            <a:off x="1307592" y="3904488"/>
            <a:ext cx="237744" cy="237744"/>
          </a:xfrm>
          <a:prstGeom prst="ellipse">
            <a:avLst/>
          </a:prstGeom>
          <a:solidFill>
            <a:srgbClr val="4A5364"/>
          </a:solidFill>
          <a:ln w="19050">
            <a:solidFill>
              <a:srgbClr val="4A5364"/>
            </a:solidFill>
            <a:prstDash val="solid"/>
          </a:ln>
        </p:spPr>
      </p:sp>
      <p:sp>
        <p:nvSpPr>
          <p:cNvPr id="22" name="Text 20"/>
          <p:cNvSpPr/>
          <p:nvPr/>
        </p:nvSpPr>
        <p:spPr>
          <a:xfrm>
            <a:off x="841248" y="5166360"/>
            <a:ext cx="1170432" cy="256032"/>
          </a:xfrm>
          <a:prstGeom prst="rect">
            <a:avLst/>
          </a:prstGeom>
          <a:noFill/>
          <a:ln/>
        </p:spPr>
        <p:txBody>
          <a:bodyPr wrap="square" lIns="0" tIns="0" rIns="0" bIns="0" rtlCol="0" anchor="ctr"/>
          <a:lstStyle/>
          <a:p>
            <a:pPr algn="ctr" indent="0" marL="0">
              <a:buNone/>
            </a:pPr>
            <a:r>
              <a:rPr lang="en-US" sz="1800" dirty="0">
                <a:solidFill>
                  <a:srgbClr val="4A5364"/>
                </a:solidFill>
                <a:latin typeface="Pretendard" pitchFamily="34" charset="0"/>
                <a:ea typeface="Pretendard" pitchFamily="34" charset="-122"/>
                <a:cs typeface="Pretendard" pitchFamily="34" charset="-120"/>
              </a:rPr>
              <a:t>군집 1</a:t>
            </a:r>
            <a:endParaRPr lang="en-US" sz="1800" dirty="0"/>
          </a:p>
        </p:txBody>
      </p:sp>
      <p:sp>
        <p:nvSpPr>
          <p:cNvPr id="23" name="Shape 21"/>
          <p:cNvSpPr/>
          <p:nvPr/>
        </p:nvSpPr>
        <p:spPr>
          <a:xfrm>
            <a:off x="2286000" y="3355848"/>
            <a:ext cx="1389888" cy="1664208"/>
          </a:xfrm>
          <a:prstGeom prst="rect">
            <a:avLst/>
          </a:prstGeom>
          <a:solidFill>
            <a:srgbClr val="EEF3FA"/>
          </a:solidFill>
          <a:ln w="12700">
            <a:solidFill>
              <a:srgbClr val="2E74C6"/>
            </a:solidFill>
            <a:prstDash val="solid"/>
          </a:ln>
        </p:spPr>
      </p:sp>
      <p:sp>
        <p:nvSpPr>
          <p:cNvPr id="24" name="Shape 22"/>
          <p:cNvSpPr/>
          <p:nvPr/>
        </p:nvSpPr>
        <p:spPr>
          <a:xfrm>
            <a:off x="2583180" y="3561588"/>
            <a:ext cx="118872" cy="118872"/>
          </a:xfrm>
          <a:prstGeom prst="ellipse">
            <a:avLst/>
          </a:prstGeom>
          <a:solidFill>
            <a:srgbClr val="2E74C6"/>
          </a:solidFill>
          <a:ln w="19050">
            <a:solidFill>
              <a:srgbClr val="2E74C6"/>
            </a:solidFill>
            <a:prstDash val="solid"/>
          </a:ln>
        </p:spPr>
      </p:sp>
      <p:sp>
        <p:nvSpPr>
          <p:cNvPr id="25" name="Shape 23"/>
          <p:cNvSpPr/>
          <p:nvPr/>
        </p:nvSpPr>
        <p:spPr>
          <a:xfrm>
            <a:off x="3195828" y="3598164"/>
            <a:ext cx="118872" cy="118872"/>
          </a:xfrm>
          <a:prstGeom prst="ellipse">
            <a:avLst/>
          </a:prstGeom>
          <a:solidFill>
            <a:srgbClr val="2E74C6"/>
          </a:solidFill>
          <a:ln w="19050">
            <a:solidFill>
              <a:srgbClr val="2E74C6"/>
            </a:solidFill>
            <a:prstDash val="solid"/>
          </a:ln>
        </p:spPr>
      </p:sp>
      <p:sp>
        <p:nvSpPr>
          <p:cNvPr id="26" name="Shape 24"/>
          <p:cNvSpPr/>
          <p:nvPr/>
        </p:nvSpPr>
        <p:spPr>
          <a:xfrm>
            <a:off x="2528316" y="4055364"/>
            <a:ext cx="118872" cy="118872"/>
          </a:xfrm>
          <a:prstGeom prst="ellipse">
            <a:avLst/>
          </a:prstGeom>
          <a:solidFill>
            <a:srgbClr val="2E74C6"/>
          </a:solidFill>
          <a:ln w="19050">
            <a:solidFill>
              <a:srgbClr val="2E74C6"/>
            </a:solidFill>
            <a:prstDash val="solid"/>
          </a:ln>
        </p:spPr>
      </p:sp>
      <p:sp>
        <p:nvSpPr>
          <p:cNvPr id="27" name="Shape 25"/>
          <p:cNvSpPr/>
          <p:nvPr/>
        </p:nvSpPr>
        <p:spPr>
          <a:xfrm>
            <a:off x="3223260" y="4165092"/>
            <a:ext cx="118872" cy="118872"/>
          </a:xfrm>
          <a:prstGeom prst="ellipse">
            <a:avLst/>
          </a:prstGeom>
          <a:solidFill>
            <a:srgbClr val="2E74C6"/>
          </a:solidFill>
          <a:ln w="19050">
            <a:solidFill>
              <a:srgbClr val="2E74C6"/>
            </a:solidFill>
            <a:prstDash val="solid"/>
          </a:ln>
        </p:spPr>
      </p:sp>
      <p:sp>
        <p:nvSpPr>
          <p:cNvPr id="28" name="Shape 26"/>
          <p:cNvSpPr/>
          <p:nvPr/>
        </p:nvSpPr>
        <p:spPr>
          <a:xfrm>
            <a:off x="2875788" y="4329684"/>
            <a:ext cx="118872" cy="118872"/>
          </a:xfrm>
          <a:prstGeom prst="ellipse">
            <a:avLst/>
          </a:prstGeom>
          <a:solidFill>
            <a:srgbClr val="2E74C6"/>
          </a:solidFill>
          <a:ln w="19050">
            <a:solidFill>
              <a:srgbClr val="2E74C6"/>
            </a:solidFill>
            <a:prstDash val="solid"/>
          </a:ln>
        </p:spPr>
      </p:sp>
      <p:sp>
        <p:nvSpPr>
          <p:cNvPr id="29" name="Shape 27"/>
          <p:cNvSpPr/>
          <p:nvPr/>
        </p:nvSpPr>
        <p:spPr>
          <a:xfrm>
            <a:off x="2862072" y="3904488"/>
            <a:ext cx="237744" cy="237744"/>
          </a:xfrm>
          <a:prstGeom prst="ellipse">
            <a:avLst/>
          </a:prstGeom>
          <a:solidFill>
            <a:srgbClr val="1E2A5C"/>
          </a:solidFill>
          <a:ln w="19050">
            <a:solidFill>
              <a:srgbClr val="1E2A5C"/>
            </a:solidFill>
            <a:prstDash val="solid"/>
          </a:ln>
        </p:spPr>
      </p:sp>
      <p:sp>
        <p:nvSpPr>
          <p:cNvPr id="30" name="Text 28"/>
          <p:cNvSpPr/>
          <p:nvPr/>
        </p:nvSpPr>
        <p:spPr>
          <a:xfrm>
            <a:off x="2395728" y="5166360"/>
            <a:ext cx="1170432" cy="256032"/>
          </a:xfrm>
          <a:prstGeom prst="rect">
            <a:avLst/>
          </a:prstGeom>
          <a:noFill/>
          <a:ln/>
        </p:spPr>
        <p:txBody>
          <a:bodyPr wrap="square" lIns="0" tIns="0" rIns="0" bIns="0" rtlCol="0" anchor="ctr"/>
          <a:lstStyle/>
          <a:p>
            <a:pPr algn="ctr" indent="0" marL="0">
              <a:buNone/>
            </a:pPr>
            <a:r>
              <a:rPr lang="en-US" sz="1800" b="1" dirty="0">
                <a:solidFill>
                  <a:srgbClr val="2E74C6"/>
                </a:solidFill>
                <a:latin typeface="Pretendard" pitchFamily="34" charset="0"/>
                <a:ea typeface="Pretendard" pitchFamily="34" charset="-122"/>
                <a:cs typeface="Pretendard" pitchFamily="34" charset="-120"/>
              </a:rPr>
              <a:t>군집 2</a:t>
            </a:r>
            <a:endParaRPr lang="en-US" sz="1800" dirty="0"/>
          </a:p>
        </p:txBody>
      </p:sp>
      <p:sp>
        <p:nvSpPr>
          <p:cNvPr id="31" name="Shape 29"/>
          <p:cNvSpPr/>
          <p:nvPr/>
        </p:nvSpPr>
        <p:spPr>
          <a:xfrm>
            <a:off x="3840480" y="3355848"/>
            <a:ext cx="1389888" cy="1664208"/>
          </a:xfrm>
          <a:prstGeom prst="rect">
            <a:avLst/>
          </a:prstGeom>
          <a:solidFill>
            <a:srgbClr val="EEF3FA"/>
          </a:solidFill>
          <a:ln w="12700">
            <a:solidFill>
              <a:srgbClr val="2E74C6"/>
            </a:solidFill>
            <a:prstDash val="solid"/>
          </a:ln>
        </p:spPr>
      </p:sp>
      <p:sp>
        <p:nvSpPr>
          <p:cNvPr id="32" name="Shape 30"/>
          <p:cNvSpPr/>
          <p:nvPr/>
        </p:nvSpPr>
        <p:spPr>
          <a:xfrm>
            <a:off x="4137660" y="3561588"/>
            <a:ext cx="118872" cy="118872"/>
          </a:xfrm>
          <a:prstGeom prst="ellipse">
            <a:avLst/>
          </a:prstGeom>
          <a:solidFill>
            <a:srgbClr val="2E74C6"/>
          </a:solidFill>
          <a:ln w="19050">
            <a:solidFill>
              <a:srgbClr val="2E74C6"/>
            </a:solidFill>
            <a:prstDash val="solid"/>
          </a:ln>
        </p:spPr>
      </p:sp>
      <p:sp>
        <p:nvSpPr>
          <p:cNvPr id="33" name="Shape 31"/>
          <p:cNvSpPr/>
          <p:nvPr/>
        </p:nvSpPr>
        <p:spPr>
          <a:xfrm>
            <a:off x="4750308" y="3598164"/>
            <a:ext cx="118872" cy="118872"/>
          </a:xfrm>
          <a:prstGeom prst="ellipse">
            <a:avLst/>
          </a:prstGeom>
          <a:solidFill>
            <a:srgbClr val="2E74C6"/>
          </a:solidFill>
          <a:ln w="19050">
            <a:solidFill>
              <a:srgbClr val="2E74C6"/>
            </a:solidFill>
            <a:prstDash val="solid"/>
          </a:ln>
        </p:spPr>
      </p:sp>
      <p:sp>
        <p:nvSpPr>
          <p:cNvPr id="34" name="Shape 32"/>
          <p:cNvSpPr/>
          <p:nvPr/>
        </p:nvSpPr>
        <p:spPr>
          <a:xfrm>
            <a:off x="4082796" y="4055364"/>
            <a:ext cx="118872" cy="118872"/>
          </a:xfrm>
          <a:prstGeom prst="ellipse">
            <a:avLst/>
          </a:prstGeom>
          <a:solidFill>
            <a:srgbClr val="2E74C6"/>
          </a:solidFill>
          <a:ln w="19050">
            <a:solidFill>
              <a:srgbClr val="2E74C6"/>
            </a:solidFill>
            <a:prstDash val="solid"/>
          </a:ln>
        </p:spPr>
      </p:sp>
      <p:sp>
        <p:nvSpPr>
          <p:cNvPr id="35" name="Shape 33"/>
          <p:cNvSpPr/>
          <p:nvPr/>
        </p:nvSpPr>
        <p:spPr>
          <a:xfrm>
            <a:off x="4777740" y="4165092"/>
            <a:ext cx="118872" cy="118872"/>
          </a:xfrm>
          <a:prstGeom prst="ellipse">
            <a:avLst/>
          </a:prstGeom>
          <a:solidFill>
            <a:srgbClr val="2E74C6"/>
          </a:solidFill>
          <a:ln w="19050">
            <a:solidFill>
              <a:srgbClr val="2E74C6"/>
            </a:solidFill>
            <a:prstDash val="solid"/>
          </a:ln>
        </p:spPr>
      </p:sp>
      <p:sp>
        <p:nvSpPr>
          <p:cNvPr id="36" name="Shape 34"/>
          <p:cNvSpPr/>
          <p:nvPr/>
        </p:nvSpPr>
        <p:spPr>
          <a:xfrm>
            <a:off x="4430268" y="4329684"/>
            <a:ext cx="118872" cy="118872"/>
          </a:xfrm>
          <a:prstGeom prst="ellipse">
            <a:avLst/>
          </a:prstGeom>
          <a:solidFill>
            <a:srgbClr val="2E74C6"/>
          </a:solidFill>
          <a:ln w="19050">
            <a:solidFill>
              <a:srgbClr val="2E74C6"/>
            </a:solidFill>
            <a:prstDash val="solid"/>
          </a:ln>
        </p:spPr>
      </p:sp>
      <p:sp>
        <p:nvSpPr>
          <p:cNvPr id="37" name="Shape 35"/>
          <p:cNvSpPr/>
          <p:nvPr/>
        </p:nvSpPr>
        <p:spPr>
          <a:xfrm>
            <a:off x="4416552" y="3904488"/>
            <a:ext cx="237744" cy="237744"/>
          </a:xfrm>
          <a:prstGeom prst="ellipse">
            <a:avLst/>
          </a:prstGeom>
          <a:solidFill>
            <a:srgbClr val="1E2A5C"/>
          </a:solidFill>
          <a:ln w="19050">
            <a:solidFill>
              <a:srgbClr val="1E2A5C"/>
            </a:solidFill>
            <a:prstDash val="solid"/>
          </a:ln>
        </p:spPr>
      </p:sp>
      <p:sp>
        <p:nvSpPr>
          <p:cNvPr id="38" name="Text 36"/>
          <p:cNvSpPr/>
          <p:nvPr/>
        </p:nvSpPr>
        <p:spPr>
          <a:xfrm>
            <a:off x="3950208" y="5166360"/>
            <a:ext cx="1170432" cy="256032"/>
          </a:xfrm>
          <a:prstGeom prst="rect">
            <a:avLst/>
          </a:prstGeom>
          <a:noFill/>
          <a:ln/>
        </p:spPr>
        <p:txBody>
          <a:bodyPr wrap="square" lIns="0" tIns="0" rIns="0" bIns="0" rtlCol="0" anchor="ctr"/>
          <a:lstStyle/>
          <a:p>
            <a:pPr algn="ctr" indent="0" marL="0">
              <a:buNone/>
            </a:pPr>
            <a:r>
              <a:rPr lang="en-US" sz="1800" b="1" dirty="0">
                <a:solidFill>
                  <a:srgbClr val="2E74C6"/>
                </a:solidFill>
                <a:latin typeface="Pretendard" pitchFamily="34" charset="0"/>
                <a:ea typeface="Pretendard" pitchFamily="34" charset="-122"/>
                <a:cs typeface="Pretendard" pitchFamily="34" charset="-120"/>
              </a:rPr>
              <a:t>군집 3</a:t>
            </a:r>
            <a:endParaRPr lang="en-US" sz="1800" dirty="0"/>
          </a:p>
        </p:txBody>
      </p:sp>
      <p:sp>
        <p:nvSpPr>
          <p:cNvPr id="39" name="Shape 37"/>
          <p:cNvSpPr/>
          <p:nvPr/>
        </p:nvSpPr>
        <p:spPr>
          <a:xfrm>
            <a:off x="5394960" y="3355848"/>
            <a:ext cx="1389888" cy="1664208"/>
          </a:xfrm>
          <a:prstGeom prst="rect">
            <a:avLst/>
          </a:prstGeom>
          <a:solidFill>
            <a:srgbClr val="FFFFFF"/>
          </a:solidFill>
          <a:ln w="12700">
            <a:solidFill>
              <a:srgbClr val="D9E0EC"/>
            </a:solidFill>
            <a:prstDash val="solid"/>
          </a:ln>
        </p:spPr>
      </p:sp>
      <p:sp>
        <p:nvSpPr>
          <p:cNvPr id="40" name="Shape 38"/>
          <p:cNvSpPr/>
          <p:nvPr/>
        </p:nvSpPr>
        <p:spPr>
          <a:xfrm>
            <a:off x="5692140" y="3561588"/>
            <a:ext cx="118872" cy="118872"/>
          </a:xfrm>
          <a:prstGeom prst="ellipse">
            <a:avLst/>
          </a:prstGeom>
          <a:solidFill>
            <a:srgbClr val="D9E0EC"/>
          </a:solidFill>
          <a:ln w="19050">
            <a:solidFill>
              <a:srgbClr val="D9E0EC"/>
            </a:solidFill>
            <a:prstDash val="solid"/>
          </a:ln>
        </p:spPr>
      </p:sp>
      <p:sp>
        <p:nvSpPr>
          <p:cNvPr id="41" name="Shape 39"/>
          <p:cNvSpPr/>
          <p:nvPr/>
        </p:nvSpPr>
        <p:spPr>
          <a:xfrm>
            <a:off x="6304788" y="3598164"/>
            <a:ext cx="118872" cy="118872"/>
          </a:xfrm>
          <a:prstGeom prst="ellipse">
            <a:avLst/>
          </a:prstGeom>
          <a:solidFill>
            <a:srgbClr val="D9E0EC"/>
          </a:solidFill>
          <a:ln w="19050">
            <a:solidFill>
              <a:srgbClr val="D9E0EC"/>
            </a:solidFill>
            <a:prstDash val="solid"/>
          </a:ln>
        </p:spPr>
      </p:sp>
      <p:sp>
        <p:nvSpPr>
          <p:cNvPr id="42" name="Shape 40"/>
          <p:cNvSpPr/>
          <p:nvPr/>
        </p:nvSpPr>
        <p:spPr>
          <a:xfrm>
            <a:off x="5637276" y="4055364"/>
            <a:ext cx="118872" cy="118872"/>
          </a:xfrm>
          <a:prstGeom prst="ellipse">
            <a:avLst/>
          </a:prstGeom>
          <a:solidFill>
            <a:srgbClr val="D9E0EC"/>
          </a:solidFill>
          <a:ln w="19050">
            <a:solidFill>
              <a:srgbClr val="D9E0EC"/>
            </a:solidFill>
            <a:prstDash val="solid"/>
          </a:ln>
        </p:spPr>
      </p:sp>
      <p:sp>
        <p:nvSpPr>
          <p:cNvPr id="43" name="Shape 41"/>
          <p:cNvSpPr/>
          <p:nvPr/>
        </p:nvSpPr>
        <p:spPr>
          <a:xfrm>
            <a:off x="6332220" y="4165092"/>
            <a:ext cx="118872" cy="118872"/>
          </a:xfrm>
          <a:prstGeom prst="ellipse">
            <a:avLst/>
          </a:prstGeom>
          <a:solidFill>
            <a:srgbClr val="D9E0EC"/>
          </a:solidFill>
          <a:ln w="19050">
            <a:solidFill>
              <a:srgbClr val="D9E0EC"/>
            </a:solidFill>
            <a:prstDash val="solid"/>
          </a:ln>
        </p:spPr>
      </p:sp>
      <p:sp>
        <p:nvSpPr>
          <p:cNvPr id="44" name="Shape 42"/>
          <p:cNvSpPr/>
          <p:nvPr/>
        </p:nvSpPr>
        <p:spPr>
          <a:xfrm>
            <a:off x="5984748" y="4329684"/>
            <a:ext cx="118872" cy="118872"/>
          </a:xfrm>
          <a:prstGeom prst="ellipse">
            <a:avLst/>
          </a:prstGeom>
          <a:solidFill>
            <a:srgbClr val="D9E0EC"/>
          </a:solidFill>
          <a:ln w="19050">
            <a:solidFill>
              <a:srgbClr val="D9E0EC"/>
            </a:solidFill>
            <a:prstDash val="solid"/>
          </a:ln>
        </p:spPr>
      </p:sp>
      <p:sp>
        <p:nvSpPr>
          <p:cNvPr id="45" name="Shape 43"/>
          <p:cNvSpPr/>
          <p:nvPr/>
        </p:nvSpPr>
        <p:spPr>
          <a:xfrm>
            <a:off x="5971032" y="3904488"/>
            <a:ext cx="237744" cy="237744"/>
          </a:xfrm>
          <a:prstGeom prst="ellipse">
            <a:avLst/>
          </a:prstGeom>
          <a:solidFill>
            <a:srgbClr val="4A5364"/>
          </a:solidFill>
          <a:ln w="19050">
            <a:solidFill>
              <a:srgbClr val="4A5364"/>
            </a:solidFill>
            <a:prstDash val="solid"/>
          </a:ln>
        </p:spPr>
      </p:sp>
      <p:sp>
        <p:nvSpPr>
          <p:cNvPr id="46" name="Text 44"/>
          <p:cNvSpPr/>
          <p:nvPr/>
        </p:nvSpPr>
        <p:spPr>
          <a:xfrm>
            <a:off x="5504688" y="5166360"/>
            <a:ext cx="1170432" cy="256032"/>
          </a:xfrm>
          <a:prstGeom prst="rect">
            <a:avLst/>
          </a:prstGeom>
          <a:noFill/>
          <a:ln/>
        </p:spPr>
        <p:txBody>
          <a:bodyPr wrap="square" lIns="0" tIns="0" rIns="0" bIns="0" rtlCol="0" anchor="ctr"/>
          <a:lstStyle/>
          <a:p>
            <a:pPr algn="ctr" indent="0" marL="0">
              <a:buNone/>
            </a:pPr>
            <a:r>
              <a:rPr lang="en-US" sz="1800" dirty="0">
                <a:solidFill>
                  <a:srgbClr val="4A5364"/>
                </a:solidFill>
                <a:latin typeface="Pretendard" pitchFamily="34" charset="0"/>
                <a:ea typeface="Pretendard" pitchFamily="34" charset="-122"/>
                <a:cs typeface="Pretendard" pitchFamily="34" charset="-120"/>
              </a:rPr>
              <a:t>군집 4</a:t>
            </a:r>
            <a:endParaRPr lang="en-US" sz="1800" dirty="0"/>
          </a:p>
        </p:txBody>
      </p:sp>
      <p:sp>
        <p:nvSpPr>
          <p:cNvPr id="47" name="Text 45"/>
          <p:cNvSpPr/>
          <p:nvPr/>
        </p:nvSpPr>
        <p:spPr>
          <a:xfrm>
            <a:off x="502920" y="5541264"/>
            <a:ext cx="6675120" cy="24688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그림: nlist = 4 · nprobe = 2  |  큰 점은 군집 중심점</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452360" y="2724912"/>
          <a:ext cx="6675120" cy="1938528"/>
        </p:xfrm>
        <a:graphic>
          <a:graphicData uri="http://schemas.openxmlformats.org/drawingml/2006/table">
            <a:tbl>
              <a:tblPr/>
              <a:tblGrid>
                <a:gridCol w="2286000"/>
                <a:gridCol w="2240280"/>
                <a:gridCol w="2148840"/>
              </a:tblGrid>
              <a:tr h="438912">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파라미터</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무엇을 조정하나요?</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값을 높이면</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r>
              <a:tr h="749808">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nlist</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전체 군집 수</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더 작은 군집으로 분할</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r>
              <a:tr h="749808">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nprobe</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한 번에 검색할</a:t>
                      </a:r>
                      <a:endParaRPr lang="en-US" sz="1700" dirty="0">
                        <a:latin typeface="Pretendard" charset="0"/>
                        <a:ea typeface="Pretendard" charset="0"/>
                        <a:cs typeface="Pretendard" charset="0"/>
                      </a:endParaRPr>
                    </a:p>
                    <a:p>
                      <a:pPr indent="0" marL="0">
                        <a:buNone/>
                      </a:pPr>
                      <a:r>
                        <a:rPr lang="en-US" sz="1700" dirty="0">
                          <a:solidFill>
                            <a:srgbClr val="2B3242"/>
                          </a:solidFill>
                          <a:latin typeface="Pretendard" pitchFamily="34" charset="0"/>
                          <a:ea typeface="Pretendard" pitchFamily="34" charset="-122"/>
                          <a:cs typeface="Pretendard" pitchFamily="34" charset="-120"/>
                        </a:rPr>
                        <a:t>군집 수</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재현율·검색시간 증가</a:t>
                      </a:r>
                      <a:endParaRPr lang="en-US" sz="1700" dirty="0">
                        <a:latin typeface="Pretendard" charset="0"/>
                        <a:ea typeface="Pretendard" charset="0"/>
                        <a:cs typeface="Pretendard" charset="0"/>
                      </a:endParaRPr>
                    </a:p>
                  </a:txBody>
                  <a:tcPr marL="118872" marR="118872"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r>
            </a:tbl>
          </a:graphicData>
        </a:graphic>
      </p:graphicFrame>
      <p:sp>
        <p:nvSpPr>
          <p:cNvPr id="49" name="Text 46"/>
          <p:cNvSpPr/>
          <p:nvPr/>
        </p:nvSpPr>
        <p:spPr>
          <a:xfrm>
            <a:off x="7452360" y="4974336"/>
            <a:ext cx="6675120" cy="585216"/>
          </a:xfrm>
          <a:prstGeom prst="rect">
            <a:avLst/>
          </a:prstGeom>
          <a:noFill/>
          <a:ln/>
        </p:spPr>
        <p:txBody>
          <a:bodyPr wrap="square" lIns="0" tIns="0" rIns="0" bIns="0" rtlCol="0" anchor="ctr"/>
          <a:lstStyle/>
          <a:p>
            <a:pPr indent="0" marL="0">
              <a:buNone/>
            </a:pPr>
            <a:r>
              <a:rPr lang="en-US" sz="1700" dirty="0">
                <a:solidFill>
                  <a:srgbClr val="4A5364"/>
                </a:solidFill>
                <a:latin typeface="Pretendard" pitchFamily="34" charset="0"/>
                <a:ea typeface="Pretendard" pitchFamily="34" charset="-122"/>
                <a:cs typeface="Pretendard" pitchFamily="34" charset="-120"/>
              </a:rPr>
              <a:t>구축 전에 대표 데이터로 군집을 학습합니다.</a:t>
            </a:r>
            <a:endParaRPr lang="en-US" sz="1700" dirty="0"/>
          </a:p>
          <a:p>
            <a:pPr indent="0" marL="0">
              <a:buNone/>
            </a:pPr>
            <a:r>
              <a:rPr lang="en-US" sz="1700" dirty="0">
                <a:solidFill>
                  <a:srgbClr val="4A5364"/>
                </a:solidFill>
                <a:latin typeface="Pretendard" pitchFamily="34" charset="0"/>
                <a:ea typeface="Pretendard" pitchFamily="34" charset="-122"/>
                <a:cs typeface="Pretendard" pitchFamily="34" charset="-120"/>
              </a:rPr>
              <a:t>검색할 군집 수는 전체 군집 수를 넘지 않습니다.</a:t>
            </a:r>
            <a:endParaRPr lang="en-US" sz="1700" dirty="0"/>
          </a:p>
        </p:txBody>
      </p:sp>
      <p:sp>
        <p:nvSpPr>
          <p:cNvPr id="50" name="Shape 47"/>
          <p:cNvSpPr/>
          <p:nvPr/>
        </p:nvSpPr>
        <p:spPr>
          <a:xfrm>
            <a:off x="502920" y="5998464"/>
            <a:ext cx="13624560" cy="621792"/>
          </a:xfrm>
          <a:prstGeom prst="rect">
            <a:avLst/>
          </a:prstGeom>
          <a:solidFill>
            <a:srgbClr val="EEF3FA"/>
          </a:solidFill>
          <a:ln w="12700">
            <a:solidFill>
              <a:srgbClr val="EEF3FA"/>
            </a:solidFill>
            <a:prstDash val="solid"/>
          </a:ln>
        </p:spPr>
      </p:sp>
      <p:sp>
        <p:nvSpPr>
          <p:cNvPr id="51" name="Text 48"/>
          <p:cNvSpPr/>
          <p:nvPr/>
        </p:nvSpPr>
        <p:spPr>
          <a:xfrm>
            <a:off x="685800" y="6181344"/>
            <a:ext cx="2331720" cy="246888"/>
          </a:xfrm>
          <a:prstGeom prst="rect">
            <a:avLst/>
          </a:prstGeom>
          <a:noFill/>
          <a:ln/>
        </p:spPr>
        <p:txBody>
          <a:bodyPr wrap="square" lIns="0" tIns="0" rIns="0" bIns="0" rtlCol="0" anchor="ctr"/>
          <a:lstStyle/>
          <a:p>
            <a:pPr indent="0" marL="0">
              <a:buNone/>
            </a:pPr>
            <a:r>
              <a:rPr lang="en-US" sz="1800" b="1" dirty="0">
                <a:solidFill>
                  <a:srgbClr val="2E74C6"/>
                </a:solidFill>
                <a:latin typeface="Pretendard" pitchFamily="34" charset="0"/>
                <a:ea typeface="Pretendard" pitchFamily="34" charset="-122"/>
                <a:cs typeface="Pretendard" pitchFamily="34" charset="-120"/>
              </a:rPr>
              <a:t>문서의 시작 예시</a:t>
            </a:r>
            <a:endParaRPr lang="en-US" sz="1800" dirty="0"/>
          </a:p>
        </p:txBody>
      </p:sp>
      <p:sp>
        <p:nvSpPr>
          <p:cNvPr id="52" name="Text 49"/>
          <p:cNvSpPr/>
          <p:nvPr/>
        </p:nvSpPr>
        <p:spPr>
          <a:xfrm>
            <a:off x="3127248" y="6163056"/>
            <a:ext cx="10698480" cy="283464"/>
          </a:xfrm>
          <a:prstGeom prst="rect">
            <a:avLst/>
          </a:prstGeom>
          <a:noFill/>
          <a:ln/>
        </p:spPr>
        <p:txBody>
          <a:bodyPr wrap="square" lIns="0" tIns="0" rIns="0" bIns="0" rtlCol="0" anchor="ctr"/>
          <a:lstStyle/>
          <a:p>
            <a:pPr indent="0" marL="0">
              <a:buNone/>
            </a:pPr>
            <a:r>
              <a:rPr lang="en-US" sz="2200" b="1" dirty="0">
                <a:solidFill>
                  <a:srgbClr val="1E2A5C"/>
                </a:solidFill>
                <a:latin typeface="Pretendard" pitchFamily="34" charset="0"/>
                <a:ea typeface="Pretendard" pitchFamily="34" charset="-122"/>
                <a:cs typeface="Pretendard" pitchFamily="34" charset="-120"/>
              </a:rPr>
              <a:t>벡터 10,000개   →   nlist = 100   →   nprobe = 5 ~ 10</a:t>
            </a:r>
            <a:endParaRPr lang="en-US" sz="2200" dirty="0"/>
          </a:p>
        </p:txBody>
      </p:sp>
      <p:sp>
        <p:nvSpPr>
          <p:cNvPr id="53" name="Text 50"/>
          <p:cNvSpPr/>
          <p:nvPr/>
        </p:nvSpPr>
        <p:spPr>
          <a:xfrm>
            <a:off x="502920" y="6830568"/>
            <a:ext cx="13624560" cy="292608"/>
          </a:xfrm>
          <a:prstGeom prst="rect">
            <a:avLst/>
          </a:prstGeom>
          <a:noFill/>
          <a:ln/>
        </p:spPr>
        <p:txBody>
          <a:bodyPr wrap="square" lIns="0" tIns="0" rIns="0" bIns="0" rtlCol="0" anchor="ctr"/>
          <a:lstStyle/>
          <a:p>
            <a:pPr indent="0" marL="0">
              <a:buNone/>
            </a:pPr>
            <a:r>
              <a:rPr lang="en-US" sz="1900" dirty="0">
                <a:solidFill>
                  <a:srgbClr val="2B3242"/>
                </a:solidFill>
                <a:latin typeface="Pretendard" pitchFamily="34" charset="0"/>
                <a:ea typeface="Pretendard" pitchFamily="34" charset="-122"/>
                <a:cs typeface="Pretendard" pitchFamily="34" charset="-120"/>
              </a:rPr>
              <a:t>top_k는 반환 개수입니다. 같은 질문셋의 Recall@k · p95 검색시간 · 메모리로 값을 정합니다.</a:t>
            </a:r>
            <a:endParaRPr lang="en-US" sz="1900" dirty="0"/>
          </a:p>
        </p:txBody>
      </p:sp>
      <p:sp>
        <p:nvSpPr>
          <p:cNvPr id="54" name="Text 51"/>
          <p:cNvSpPr/>
          <p:nvPr/>
        </p:nvSpPr>
        <p:spPr>
          <a:xfrm>
            <a:off x="502920" y="7306056"/>
            <a:ext cx="13624560" cy="292608"/>
          </a:xfrm>
          <a:prstGeom prst="rect">
            <a:avLst/>
          </a:prstGeom>
          <a:noFill/>
          <a:ln/>
        </p:spPr>
        <p:txBody>
          <a:bodyPr wrap="square" lIns="0" tIns="0" rIns="0" bIns="0" rtlCol="0" anchor="ctr"/>
          <a:lstStyle/>
          <a:p>
            <a:pPr indent="0" marL="0">
              <a:buNone/>
            </a:pPr>
            <a:r>
              <a:rPr lang="en-US" sz="1700" dirty="0">
                <a:solidFill>
                  <a:srgbClr val="4A5364"/>
                </a:solidFill>
                <a:latin typeface="Pretendard" pitchFamily="34" charset="0"/>
                <a:ea typeface="Pretendard" pitchFamily="34" charset="-122"/>
                <a:cs typeface="Pretendard" pitchFamily="34" charset="-120"/>
              </a:rPr>
              <a:t>IVFFlat은 모든 군집을 제한 없이 비교하면 정확 검색이 됩니다. IVFPQ는 압축 오차가 남을 수 있습니다.</a:t>
            </a:r>
            <a:endParaRPr lang="en-US" sz="1700" dirty="0"/>
          </a:p>
        </p:txBody>
      </p:sp>
      <p:sp>
        <p:nvSpPr>
          <p:cNvPr id="55" name="Shape 52"/>
          <p:cNvSpPr/>
          <p:nvPr/>
        </p:nvSpPr>
        <p:spPr>
          <a:xfrm>
            <a:off x="502920" y="7854696"/>
            <a:ext cx="13624560" cy="0"/>
          </a:xfrm>
          <a:prstGeom prst="line">
            <a:avLst/>
          </a:prstGeom>
          <a:noFill/>
          <a:ln w="8890">
            <a:solidFill>
              <a:srgbClr val="E9ECF3"/>
            </a:solidFill>
            <a:prstDash val="solid"/>
          </a:ln>
        </p:spPr>
      </p:sp>
      <p:sp>
        <p:nvSpPr>
          <p:cNvPr id="56" name="Text 53">
            <a:hlinkClick r:id="rId1" tooltip=""/>
          </p:cNvPr>
          <p:cNvSpPr/>
          <p:nvPr/>
        </p:nvSpPr>
        <p:spPr>
          <a:xfrm>
            <a:off x="502920" y="7936992"/>
            <a:ext cx="10972800" cy="182880"/>
          </a:xfrm>
          <a:prstGeom prst="rect">
            <a:avLst/>
          </a:prstGeom>
          <a:noFill/>
          <a:ln/>
        </p:spPr>
        <p:txBody>
          <a:bodyPr wrap="square" lIns="0" tIns="0" rIns="0" bIns="0" rtlCol="0" anchor="ctr"/>
          <a:lstStyle/>
          <a:p>
            <a:pPr indent="0" marL="0">
              <a:buNone/>
            </a:pPr>
            <a:r>
              <a:rPr lang="en-US" sz="1400" u="sng" dirty="0">
                <a:solidFill>
                  <a:srgbClr val="7C8598"/>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참고: RAG 품질 튜닝 §4.2 · Faiss 공식 문서 | 수치는 제품 기본값이 아닙니다.</a:t>
            </a:r>
            <a:endParaRPr lang="en-US" sz="1400" dirty="0"/>
          </a:p>
        </p:txBody>
      </p:sp>
      <p:sp>
        <p:nvSpPr>
          <p:cNvPr id="57" name="Text 54"/>
          <p:cNvSpPr/>
          <p:nvPr/>
        </p:nvSpPr>
        <p:spPr>
          <a:xfrm>
            <a:off x="11430000" y="7936992"/>
            <a:ext cx="2697480" cy="182880"/>
          </a:xfrm>
          <a:prstGeom prst="rect">
            <a:avLst/>
          </a:prstGeom>
          <a:noFill/>
          <a:ln/>
        </p:spPr>
        <p:txBody>
          <a:bodyPr wrap="square" lIns="0" tIns="0" rIns="0" bIns="0" rtlCol="0" anchor="ctr"/>
          <a:lstStyle/>
          <a:p>
            <a:pPr algn="r" indent="0" marL="0">
              <a:buNone/>
            </a:pPr>
            <a:r>
              <a:rPr lang="en-US" sz="1400" dirty="0">
                <a:solidFill>
                  <a:srgbClr val="7C8598"/>
                </a:solidFill>
                <a:latin typeface="Pretendard" pitchFamily="34" charset="0"/>
                <a:ea typeface="Pretendard" pitchFamily="34" charset="-122"/>
                <a:cs typeface="Pretendard" pitchFamily="34" charset="-120"/>
              </a:rPr>
              <a:t>벡터DB  /  2</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벡터DB: HNSW와 IVF</dc:title>
  <dc:subject>벡터DB HNSW와 IVF 원리 및 검색 파라미터</dc:subject>
  <dc:creator>design-agentic-ai</dc:creator>
  <cp:lastModifiedBy>design-agentic-ai</cp:lastModifiedBy>
  <cp:revision>1</cp:revision>
  <dcterms:created xsi:type="dcterms:W3CDTF">2026-10-01T13:14:43Z</dcterms:created>
  <dcterms:modified xsi:type="dcterms:W3CDTF">2026-10-01T13:14:43Z</dcterms:modified>
</cp:coreProperties>
</file>