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키워드 색인은 질문의 단어와 글자가 같은 단어를 가진 청크를 빨리 찾기 위한 준비 작업입니다. 카드명, 금액, 상품 코드처럼 정확한 표현에 강하고, 뜻으로 찾는 벡터 검색을 보완합니다. BM25는 임베딩 모델이 아니라 단어 빈도(TF), 전체 청크에서 그 단어가 얼마나 드문지(IDF), 청크 길이(색인 단어 수 기준)로 순위를 매기는 계산 방식입니다.
1단계: 정제된 청크 하나가 corpus 한 줄이 됩니다. Kiwi에는 본문 text만 넣고, 메타데이터는 본문처럼 색인하지 않습니다. 메타데이터의 카드명은 카드명 사전을 만드는 데에만 씁니다.
2단계: 먼저 우리 정규화 함수가 표기를 통일합니다(NFKC 문자 표준화, 영문 소문자화, 숫자 사이 쉼표 제거). 그다음 Kiwi가 형태소로 나누고, 우리 코드가 내용어 품사(_CONTENT_TAGS)만 남깁니다. 조사·어미·접미사·기호는 품사 필터로 빠지며 별도 불용어 사전은 없습니다. 숫자가 든 표현, 영문과 하이픈 등 코드 구분자가 함께 든 표현, 사전 단어, 모두 내용어로만 된 복합어는 원래 모양 그대로도 한 번 더 넣습니다. 같은 출현을 두 번 세지 않도록 Counter로 개수를 맞춥니다.
예시는 2026-10-01에 활성 세대(gen-20260930T135203Z, 청크 192개, 카드명 64개)의 카드명 사전으로 KoreanTokenizer.tokenize를 실제 실행한 결과입니다. 이 설정의 토크나이저 서명은 활성 manifest의 tokenizer_signature와 일치했습니다. 원문 한 문장에서 12개 단어가 나왔고, "한빛가족돌봄"은 실제 BM25 단어 목록(vocab)에도 들어 있습니다.
카드명 사전: D2 문서(또는 benefit_guide) 메타데이터의 card_id와 card_name 대응을 검사한 뒤, 카드명을 고유명사(NNP), 등록 가중치 0.0으로 Kiwi에 추가합니다. 0.0은 Kiwi 단어 등록 점수이며 BM25 점수와 무관합니다. 사전은 card_names.dict로 저장합니다. 사전이 없으면 "한빛 가족돌봄"이 한빛·가족·돌봄·가족돌봄으로 쪼개지고, 64종 카드가 모두 "한빛"으로 시작하므로 카드를 구분하는 힘이 약해집니다. 대신 한계도 있습니다. 색인된 카드명은 "한빛가족돌봄" 한 단어뿐이라, "한빛" 없이 "가족돌봄"만 쓴 질문은 이 카드명 단어와 일치하지 않습니다. 또 숫자 뒤에 조사가 바로 붙으면 "30000원을"처럼 조사까지 원형 토큰에 남습니다.
3단계: bm25s.BM25(method='lucene', k1=1.5, b=0.75)로 색인합니다. bm25s는 단어별·청크별 점수 기여도를 미리 계산해 희소 행렬로 저장하므로 검색할 때는 더하기만 하면 됩니다. k1은 같은 단어가 반복될 때 점수가 얼마나 더 오르는지(포화 정도), b는 긴 청크의 점수를 얼마나 깎는지를 정합니다. 이 값은 우리 코드의 설정값입니다.
4단계: corpus.jsonl, card_names.dict, bm25 폴더, oov_candidates.json, manifest.json을 형제 임시 폴더에서 모두 만든 뒤 검증하고 최종 위치로 옮깁니다. 검증은 포인터·manifest·corpus의 청크 수와 corpus·카드명 사전 해시가 서로 맞는지 봅니다. Retriever는 같은 카드명 사전으로 토크나이저를 만들고, 사전 해시와 토크나이저 서명이 색인 때와 같을 때만 색인을 읽습니다. 데이터가 바뀌면 BM25는 청크 단위로 고치지 않고 새 세대에 전체를 다시 만들며, 벡터(Chroma)와 BM25를 함께 검증한 뒤 활성 포인터 하나를 바꿔 동시에 전환합니다.
기본으로 꺼진 것: 정적 사용자 사전 파일은 지원하지만 bootstrap.py가 LexicalIndexBuilder()를 인자 없이 만들어 연결되지 않습니다. 미등록어(OOV) 후보 추출도 기본 꺼짐이며, 켜더라도 사람이 검토할 후보만 저장하고 자동 등록하지 않습니다. typo_policy 값은 서명에만 기록되며 색인 때 오타 교정을 하지는 않습니다.
소스 근거:
hybrid-ai-lab/indexer/vector-bm25/app/infrastructure/korean_tokenizer.py (정규화·_CONTENT_TAGS·원형 보존·서명)
hybrid-ai-lab/indexer/vector-bm25/app/infrastructure/lexical_index.py (카드명 사전·bm25s 생성·저장·검증)
hybrid-ai-lab/indexer/vector-bm25/app/infrastructure/index_repository.py (세대 단위 재색인·동시 전환)
hybrid-ai-lab/indexer/vector-bm25/app/bootstrap.py:47 (LexicalIndexBuilder 기본값)
hybrid-ai-lab/retriever/vector-retriever/app/infrastructure/bm25_index.py (검색 측 해시·서명 대조)
공식 참고: https://github.com/xhluca/bm25s , https://github.com/bab2min/kiwipiepy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BM25 키워드 색인</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BM25 인덱싱의 원리와 설계</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627632"/>
            <a:ext cx="13624560" cy="347472"/>
          </a:xfrm>
          <a:prstGeom prst="rect">
            <a:avLst/>
          </a:prstGeom>
          <a:noFill/>
          <a:ln/>
        </p:spPr>
        <p:txBody>
          <a:bodyPr wrap="square" lIns="0" tIns="0" rIns="0" bIns="0" rtlCol="0" anchor="ctr"/>
          <a:lstStyle/>
          <a:p>
            <a:pPr indent="0" marL="0">
              <a:buNone/>
            </a:pPr>
            <a:r>
              <a:rPr lang="en-US" sz="2100" dirty="0">
                <a:solidFill>
                  <a:srgbClr val="4A5364"/>
                </a:solidFill>
                <a:latin typeface="Pretendard" pitchFamily="34" charset="0"/>
                <a:ea typeface="Pretendard" pitchFamily="34" charset="-122"/>
                <a:cs typeface="Pretendard" pitchFamily="34" charset="-120"/>
              </a:rPr>
              <a:t>카드명·금액·코드처럼 글자가 같은 단어로 청크를 찾아, 뜻으로 찾는 벡터 검색을 보완합니다.</a:t>
            </a:r>
            <a:endParaRPr lang="en-US" sz="2100" dirty="0"/>
          </a:p>
        </p:txBody>
      </p:sp>
      <p:sp>
        <p:nvSpPr>
          <p:cNvPr id="7" name="Shape 5"/>
          <p:cNvSpPr/>
          <p:nvPr/>
        </p:nvSpPr>
        <p:spPr>
          <a:xfrm>
            <a:off x="502920" y="2157984"/>
            <a:ext cx="3090672" cy="1024128"/>
          </a:xfrm>
          <a:prstGeom prst="rect">
            <a:avLst/>
          </a:prstGeom>
          <a:solidFill>
            <a:srgbClr val="EEF3FA"/>
          </a:solidFill>
          <a:ln w="12700">
            <a:solidFill>
              <a:srgbClr val="D9E0EC"/>
            </a:solidFill>
            <a:prstDash val="solid"/>
          </a:ln>
        </p:spPr>
      </p:sp>
      <p:sp>
        <p:nvSpPr>
          <p:cNvPr id="8" name="Text 6"/>
          <p:cNvSpPr/>
          <p:nvPr/>
        </p:nvSpPr>
        <p:spPr>
          <a:xfrm>
            <a:off x="658368" y="2276856"/>
            <a:ext cx="2779776" cy="292608"/>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1  청크 본문</a:t>
            </a:r>
            <a:endParaRPr lang="en-US" sz="2200" dirty="0"/>
          </a:p>
        </p:txBody>
      </p:sp>
      <p:sp>
        <p:nvSpPr>
          <p:cNvPr id="9" name="Text 7"/>
          <p:cNvSpPr/>
          <p:nvPr/>
        </p:nvSpPr>
        <p:spPr>
          <a:xfrm>
            <a:off x="658368" y="2633472"/>
            <a:ext cx="2779776" cy="457200"/>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본문(text)만 단어로 바꿈</a:t>
            </a:r>
            <a:endParaRPr lang="en-US" sz="1600" dirty="0"/>
          </a:p>
          <a:p>
            <a:pPr indent="0" marL="0">
              <a:buNone/>
            </a:pPr>
            <a:r>
              <a:rPr lang="en-US" sz="1600" dirty="0">
                <a:solidFill>
                  <a:srgbClr val="4A5364"/>
                </a:solidFill>
                <a:latin typeface="Pretendard" pitchFamily="34" charset="0"/>
                <a:ea typeface="Pretendard" pitchFamily="34" charset="-122"/>
                <a:cs typeface="Pretendard" pitchFamily="34" charset="-120"/>
              </a:rPr>
              <a:t>chunk_id로 원문과 연결</a:t>
            </a:r>
            <a:endParaRPr lang="en-US" sz="1600" dirty="0"/>
          </a:p>
        </p:txBody>
      </p:sp>
      <p:sp>
        <p:nvSpPr>
          <p:cNvPr id="10" name="Shape 8"/>
          <p:cNvSpPr/>
          <p:nvPr/>
        </p:nvSpPr>
        <p:spPr>
          <a:xfrm>
            <a:off x="3694176" y="2670048"/>
            <a:ext cx="210312" cy="0"/>
          </a:xfrm>
          <a:prstGeom prst="line">
            <a:avLst/>
          </a:prstGeom>
          <a:noFill/>
          <a:ln w="25400">
            <a:solidFill>
              <a:srgbClr val="2E74C6"/>
            </a:solidFill>
            <a:prstDash val="solid"/>
            <a:tailEnd type="triangle"/>
          </a:ln>
        </p:spPr>
      </p:sp>
      <p:sp>
        <p:nvSpPr>
          <p:cNvPr id="11" name="Shape 9"/>
          <p:cNvSpPr/>
          <p:nvPr/>
        </p:nvSpPr>
        <p:spPr>
          <a:xfrm>
            <a:off x="4014216" y="2157984"/>
            <a:ext cx="3090672" cy="1024128"/>
          </a:xfrm>
          <a:prstGeom prst="rect">
            <a:avLst/>
          </a:prstGeom>
          <a:solidFill>
            <a:srgbClr val="EEF3FA"/>
          </a:solidFill>
          <a:ln w="12700">
            <a:solidFill>
              <a:srgbClr val="D9E0EC"/>
            </a:solidFill>
            <a:prstDash val="solid"/>
          </a:ln>
        </p:spPr>
      </p:sp>
      <p:sp>
        <p:nvSpPr>
          <p:cNvPr id="12" name="Text 10"/>
          <p:cNvSpPr/>
          <p:nvPr/>
        </p:nvSpPr>
        <p:spPr>
          <a:xfrm>
            <a:off x="4169664" y="2276856"/>
            <a:ext cx="2779776" cy="292608"/>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2  Kiwi 토큰화</a:t>
            </a:r>
            <a:endParaRPr lang="en-US" sz="2200" dirty="0"/>
          </a:p>
        </p:txBody>
      </p:sp>
      <p:sp>
        <p:nvSpPr>
          <p:cNvPr id="13" name="Text 11"/>
          <p:cNvSpPr/>
          <p:nvPr/>
        </p:nvSpPr>
        <p:spPr>
          <a:xfrm>
            <a:off x="4169664" y="2633472"/>
            <a:ext cx="2779776" cy="457200"/>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표기 통일 → 형태소 분석</a:t>
            </a:r>
            <a:endParaRPr lang="en-US" sz="1600" dirty="0"/>
          </a:p>
          <a:p>
            <a:pPr indent="0" marL="0">
              <a:buNone/>
            </a:pPr>
            <a:r>
              <a:rPr lang="en-US" sz="1600" dirty="0">
                <a:solidFill>
                  <a:srgbClr val="4A5364"/>
                </a:solidFill>
                <a:latin typeface="Pretendard" pitchFamily="34" charset="0"/>
                <a:ea typeface="Pretendard" pitchFamily="34" charset="-122"/>
                <a:cs typeface="Pretendard" pitchFamily="34" charset="-120"/>
              </a:rPr>
              <a:t>조사·어미 빼고 원형 보충</a:t>
            </a:r>
            <a:endParaRPr lang="en-US" sz="1600" dirty="0"/>
          </a:p>
        </p:txBody>
      </p:sp>
      <p:sp>
        <p:nvSpPr>
          <p:cNvPr id="14" name="Shape 12"/>
          <p:cNvSpPr/>
          <p:nvPr/>
        </p:nvSpPr>
        <p:spPr>
          <a:xfrm>
            <a:off x="7205472" y="2670048"/>
            <a:ext cx="210312" cy="0"/>
          </a:xfrm>
          <a:prstGeom prst="line">
            <a:avLst/>
          </a:prstGeom>
          <a:noFill/>
          <a:ln w="25400">
            <a:solidFill>
              <a:srgbClr val="2E74C6"/>
            </a:solidFill>
            <a:prstDash val="solid"/>
            <a:tailEnd type="triangle"/>
          </a:ln>
        </p:spPr>
      </p:sp>
      <p:sp>
        <p:nvSpPr>
          <p:cNvPr id="15" name="Shape 13"/>
          <p:cNvSpPr/>
          <p:nvPr/>
        </p:nvSpPr>
        <p:spPr>
          <a:xfrm>
            <a:off x="7525512" y="2157984"/>
            <a:ext cx="3090672" cy="1024128"/>
          </a:xfrm>
          <a:prstGeom prst="rect">
            <a:avLst/>
          </a:prstGeom>
          <a:solidFill>
            <a:srgbClr val="1E2A5C"/>
          </a:solidFill>
          <a:ln w="12700">
            <a:solidFill>
              <a:srgbClr val="1E2A5C"/>
            </a:solidFill>
            <a:prstDash val="solid"/>
          </a:ln>
        </p:spPr>
      </p:sp>
      <p:sp>
        <p:nvSpPr>
          <p:cNvPr id="16" name="Text 14"/>
          <p:cNvSpPr/>
          <p:nvPr/>
        </p:nvSpPr>
        <p:spPr>
          <a:xfrm>
            <a:off x="7680960" y="2276856"/>
            <a:ext cx="2779776" cy="292608"/>
          </a:xfrm>
          <a:prstGeom prst="rect">
            <a:avLst/>
          </a:prstGeom>
          <a:noFill/>
          <a:ln/>
        </p:spPr>
        <p:txBody>
          <a:bodyPr wrap="square" lIns="0" tIns="0" rIns="0" bIns="0" rtlCol="0" anchor="ctr"/>
          <a:lstStyle/>
          <a:p>
            <a:pPr indent="0" marL="0">
              <a:buNone/>
            </a:pPr>
            <a:r>
              <a:rPr lang="en-US" sz="2200" b="1" dirty="0">
                <a:solidFill>
                  <a:srgbClr val="FFFFFF"/>
                </a:solidFill>
                <a:latin typeface="Pretendard" pitchFamily="34" charset="0"/>
                <a:ea typeface="Pretendard" pitchFamily="34" charset="-122"/>
                <a:cs typeface="Pretendard" pitchFamily="34" charset="-120"/>
              </a:rPr>
              <a:t>3  bm25s 점수표</a:t>
            </a:r>
            <a:endParaRPr lang="en-US" sz="2200" dirty="0"/>
          </a:p>
        </p:txBody>
      </p:sp>
      <p:sp>
        <p:nvSpPr>
          <p:cNvPr id="17" name="Text 15"/>
          <p:cNvSpPr/>
          <p:nvPr/>
        </p:nvSpPr>
        <p:spPr>
          <a:xfrm>
            <a:off x="7680960" y="2633472"/>
            <a:ext cx="2779776" cy="457200"/>
          </a:xfrm>
          <a:prstGeom prst="rect">
            <a:avLst/>
          </a:prstGeom>
          <a:noFill/>
          <a:ln/>
        </p:spPr>
        <p:txBody>
          <a:bodyPr wrap="square" lIns="0" tIns="0" rIns="0" bIns="0" rtlCol="0" anchor="ctr"/>
          <a:lstStyle/>
          <a:p>
            <a:pPr indent="0" marL="0">
              <a:buNone/>
            </a:pPr>
            <a:r>
              <a:rPr lang="en-US" sz="1600" dirty="0">
                <a:solidFill>
                  <a:srgbClr val="FFFFFF"/>
                </a:solidFill>
                <a:latin typeface="Pretendard" pitchFamily="34" charset="0"/>
                <a:ea typeface="Pretendard" pitchFamily="34" charset="-122"/>
                <a:cs typeface="Pretendard" pitchFamily="34" charset="-120"/>
              </a:rPr>
              <a:t>빈도·희소성·길이로 점수 계산</a:t>
            </a:r>
            <a:endParaRPr lang="en-US" sz="1600" dirty="0"/>
          </a:p>
          <a:p>
            <a:pPr indent="0" marL="0">
              <a:buNone/>
            </a:pPr>
            <a:r>
              <a:rPr lang="en-US" sz="1600" dirty="0">
                <a:solidFill>
                  <a:srgbClr val="FFFFFF"/>
                </a:solidFill>
                <a:latin typeface="Pretendard" pitchFamily="34" charset="0"/>
                <a:ea typeface="Pretendard" pitchFamily="34" charset="-122"/>
                <a:cs typeface="Pretendard" pitchFamily="34" charset="-120"/>
              </a:rPr>
              <a:t>검색 전에 미리 저장</a:t>
            </a:r>
            <a:endParaRPr lang="en-US" sz="1600" dirty="0"/>
          </a:p>
        </p:txBody>
      </p:sp>
      <p:sp>
        <p:nvSpPr>
          <p:cNvPr id="18" name="Shape 16"/>
          <p:cNvSpPr/>
          <p:nvPr/>
        </p:nvSpPr>
        <p:spPr>
          <a:xfrm>
            <a:off x="10716768" y="2670048"/>
            <a:ext cx="210312" cy="0"/>
          </a:xfrm>
          <a:prstGeom prst="line">
            <a:avLst/>
          </a:prstGeom>
          <a:noFill/>
          <a:ln w="25400">
            <a:solidFill>
              <a:srgbClr val="2E74C6"/>
            </a:solidFill>
            <a:prstDash val="solid"/>
            <a:tailEnd type="triangle"/>
          </a:ln>
        </p:spPr>
      </p:sp>
      <p:sp>
        <p:nvSpPr>
          <p:cNvPr id="19" name="Shape 17"/>
          <p:cNvSpPr/>
          <p:nvPr/>
        </p:nvSpPr>
        <p:spPr>
          <a:xfrm>
            <a:off x="11036808" y="2157984"/>
            <a:ext cx="3090672" cy="1024128"/>
          </a:xfrm>
          <a:prstGeom prst="rect">
            <a:avLst/>
          </a:prstGeom>
          <a:solidFill>
            <a:srgbClr val="EEF3FA"/>
          </a:solidFill>
          <a:ln w="12700">
            <a:solidFill>
              <a:srgbClr val="D9E0EC"/>
            </a:solidFill>
            <a:prstDash val="solid"/>
          </a:ln>
        </p:spPr>
      </p:sp>
      <p:sp>
        <p:nvSpPr>
          <p:cNvPr id="20" name="Text 18"/>
          <p:cNvSpPr/>
          <p:nvPr/>
        </p:nvSpPr>
        <p:spPr>
          <a:xfrm>
            <a:off x="11192256" y="2276856"/>
            <a:ext cx="2779776" cy="292608"/>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4  저장·검증</a:t>
            </a:r>
            <a:endParaRPr lang="en-US" sz="2200" dirty="0"/>
          </a:p>
        </p:txBody>
      </p:sp>
      <p:sp>
        <p:nvSpPr>
          <p:cNvPr id="21" name="Text 19"/>
          <p:cNvSpPr/>
          <p:nvPr/>
        </p:nvSpPr>
        <p:spPr>
          <a:xfrm>
            <a:off x="11192256" y="2633472"/>
            <a:ext cx="2779776" cy="457200"/>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임시 폴더에서 완성한 뒤</a:t>
            </a:r>
            <a:endParaRPr lang="en-US" sz="1600" dirty="0"/>
          </a:p>
          <a:p>
            <a:pPr indent="0" marL="0">
              <a:buNone/>
            </a:pPr>
            <a:r>
              <a:rPr lang="en-US" sz="1600" dirty="0">
                <a:solidFill>
                  <a:srgbClr val="4A5364"/>
                </a:solidFill>
                <a:latin typeface="Pretendard" pitchFamily="34" charset="0"/>
                <a:ea typeface="Pretendard" pitchFamily="34" charset="-122"/>
                <a:cs typeface="Pretendard" pitchFamily="34" charset="-120"/>
              </a:rPr>
              <a:t>청크 수·해시 맞으면 교체</a:t>
            </a:r>
            <a:endParaRPr lang="en-US" sz="1600" dirty="0"/>
          </a:p>
        </p:txBody>
      </p:sp>
      <p:sp>
        <p:nvSpPr>
          <p:cNvPr id="22" name="Text 20"/>
          <p:cNvSpPr/>
          <p:nvPr/>
        </p:nvSpPr>
        <p:spPr>
          <a:xfrm>
            <a:off x="502920" y="3401568"/>
            <a:ext cx="5486400" cy="347472"/>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예시: 한 문장이 색인 단어가 되기까지</a:t>
            </a:r>
            <a:endParaRPr lang="en-US" sz="2200" dirty="0"/>
          </a:p>
        </p:txBody>
      </p:sp>
      <p:sp>
        <p:nvSpPr>
          <p:cNvPr id="23" name="Text 21"/>
          <p:cNvSpPr/>
          <p:nvPr/>
        </p:nvSpPr>
        <p:spPr>
          <a:xfrm>
            <a:off x="6035040" y="3419856"/>
            <a:ext cx="2377440" cy="310896"/>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실제 실행 결과</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3840480"/>
          <a:ext cx="7909560" cy="914400"/>
        </p:xfrm>
        <a:graphic>
          <a:graphicData uri="http://schemas.openxmlformats.org/drawingml/2006/table">
            <a:tbl>
              <a:tblPr/>
              <a:tblGrid>
                <a:gridCol w="1325880"/>
                <a:gridCol w="6583680"/>
              </a:tblGrid>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단계</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결과</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원문</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한빛 가족돌봄 카드로 30,000원 이상 결제하면 KB-PAY 할인을 받습니다.</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tr>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① 표기 통일</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한빛 가족돌봄 카드로 </a:t>
                      </a:r>
                      <a:pPr indent="0" marL="0">
                        <a:buNone/>
                      </a:pPr>
                      <a:r>
                        <a:rPr lang="en-US" sz="1500" b="1" dirty="0">
                          <a:solidFill>
                            <a:srgbClr val="2E74C6"/>
                          </a:solidFill>
                          <a:latin typeface="Pretendard" pitchFamily="34" charset="0"/>
                          <a:ea typeface="Pretendard" pitchFamily="34" charset="-122"/>
                          <a:cs typeface="Pretendard" pitchFamily="34" charset="-120"/>
                        </a:rPr>
                        <a:t>30000원</a:t>
                      </a:r>
                      <a:pPr indent="0" marL="0">
                        <a:buNone/>
                      </a:pPr>
                      <a:r>
                        <a:rPr lang="en-US" sz="1500" dirty="0">
                          <a:solidFill>
                            <a:srgbClr val="3B4557"/>
                          </a:solidFill>
                          <a:latin typeface="Pretendard" pitchFamily="34" charset="0"/>
                          <a:ea typeface="Pretendard" pitchFamily="34" charset="-122"/>
                          <a:cs typeface="Pretendard" pitchFamily="34" charset="-120"/>
                        </a:rPr>
                        <a:t> 이상 결제하면 </a:t>
                      </a:r>
                      <a:pPr indent="0" marL="0">
                        <a:buNone/>
                      </a:pPr>
                      <a:r>
                        <a:rPr lang="en-US" sz="1500" b="1" dirty="0">
                          <a:solidFill>
                            <a:srgbClr val="2E74C6"/>
                          </a:solidFill>
                          <a:latin typeface="Pretendard" pitchFamily="34" charset="0"/>
                          <a:ea typeface="Pretendard" pitchFamily="34" charset="-122"/>
                          <a:cs typeface="Pretendard" pitchFamily="34" charset="-120"/>
                        </a:rPr>
                        <a:t>kb-pay</a:t>
                      </a:r>
                      <a:pPr indent="0" marL="0">
                        <a:buNone/>
                      </a:pPr>
                      <a:r>
                        <a:rPr lang="en-US" sz="1500" dirty="0">
                          <a:solidFill>
                            <a:srgbClr val="3B4557"/>
                          </a:solidFill>
                          <a:latin typeface="Pretendard" pitchFamily="34" charset="0"/>
                          <a:ea typeface="Pretendard" pitchFamily="34" charset="-122"/>
                          <a:cs typeface="Pretendard" pitchFamily="34" charset="-120"/>
                        </a:rPr>
                        <a:t> 할인을 받습니다.</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tr>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② 남긴 단어</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b="1" dirty="0">
                          <a:solidFill>
                            <a:srgbClr val="2E74C6"/>
                          </a:solidFill>
                          <a:latin typeface="Pretendard" pitchFamily="34" charset="0"/>
                          <a:ea typeface="Pretendard" pitchFamily="34" charset="-122"/>
                          <a:cs typeface="Pretendard" pitchFamily="34" charset="-120"/>
                        </a:rPr>
                        <a:t>한빛가족돌봄</a:t>
                      </a:r>
                      <a:pPr indent="0" marL="0">
                        <a:buNone/>
                      </a:pPr>
                      <a:r>
                        <a:rPr lang="en-US" sz="1500" dirty="0">
                          <a:solidFill>
                            <a:srgbClr val="3B4557"/>
                          </a:solidFill>
                          <a:latin typeface="Pretendard" pitchFamily="34" charset="0"/>
                          <a:ea typeface="Pretendard" pitchFamily="34" charset="-122"/>
                          <a:cs typeface="Pretendard" pitchFamily="34" charset="-120"/>
                        </a:rPr>
                        <a:t> · 카드 · 30000 · 원 · 이상 · 결제 · kb · pay · 할인 · 받</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tr>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③ 버린 조각</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dirty="0">
                          <a:solidFill>
                            <a:srgbClr val="7C8598"/>
                          </a:solidFill>
                          <a:latin typeface="Pretendard" pitchFamily="34" charset="0"/>
                          <a:ea typeface="Pretendard" pitchFamily="34" charset="-122"/>
                          <a:cs typeface="Pretendard" pitchFamily="34" charset="-120"/>
                        </a:rPr>
                        <a:t>로 · 하 · 면 · 을 · 습니다 · 하이픈 · 마침표   (조사·어미·접미사·기호)</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tr>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④ 원형 추가</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b="1" dirty="0">
                          <a:solidFill>
                            <a:srgbClr val="2E74C6"/>
                          </a:solidFill>
                          <a:latin typeface="Pretendard" pitchFamily="34" charset="0"/>
                          <a:ea typeface="Pretendard" pitchFamily="34" charset="-122"/>
                          <a:cs typeface="Pretendard" pitchFamily="34" charset="-120"/>
                        </a:rPr>
                        <a:t>30000원 · kb-pay</a:t>
                      </a:r>
                      <a:pPr indent="0" marL="0">
                        <a:buNone/>
                      </a:pPr>
                      <a:r>
                        <a:rPr lang="en-US" sz="1500" dirty="0">
                          <a:solidFill>
                            <a:srgbClr val="3B4557"/>
                          </a:solidFill>
                          <a:latin typeface="Pretendard" pitchFamily="34" charset="0"/>
                          <a:ea typeface="Pretendard" pitchFamily="34" charset="-122"/>
                          <a:cs typeface="Pretendard" pitchFamily="34" charset="-120"/>
                        </a:rPr>
                        <a:t>   (금액·코드를 통째로도 찾도록)</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tr>
              <a:tr h="38404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최종</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②+④ = 12개 단어  →  bm25s가 점수 계산</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tcPr>
                </a:tc>
              </a:tr>
            </a:tbl>
          </a:graphicData>
        </a:graphic>
      </p:graphicFrame>
      <p:sp>
        <p:nvSpPr>
          <p:cNvPr id="25" name="Shape 22"/>
          <p:cNvSpPr/>
          <p:nvPr/>
        </p:nvSpPr>
        <p:spPr>
          <a:xfrm>
            <a:off x="502920" y="6629400"/>
            <a:ext cx="7909560" cy="1097280"/>
          </a:xfrm>
          <a:prstGeom prst="rect">
            <a:avLst/>
          </a:prstGeom>
          <a:solidFill>
            <a:srgbClr val="EEF3FA"/>
          </a:solidFill>
          <a:ln w="12700">
            <a:solidFill>
              <a:srgbClr val="D9E0EC"/>
            </a:solidFill>
            <a:prstDash val="solid"/>
          </a:ln>
        </p:spPr>
      </p:sp>
      <p:sp>
        <p:nvSpPr>
          <p:cNvPr id="26" name="Text 23"/>
          <p:cNvSpPr/>
          <p:nvPr/>
        </p:nvSpPr>
        <p:spPr>
          <a:xfrm>
            <a:off x="658368" y="6702552"/>
            <a:ext cx="7589520" cy="274320"/>
          </a:xfrm>
          <a:prstGeom prst="rect">
            <a:avLst/>
          </a:prstGeom>
          <a:noFill/>
          <a:ln/>
        </p:spPr>
        <p:txBody>
          <a:bodyPr wrap="square" lIns="0" tIns="0" rIns="0" bIns="0" rtlCol="0" anchor="ctr"/>
          <a:lstStyle/>
          <a:p>
            <a:pPr indent="0" marL="0">
              <a:buNone/>
            </a:pPr>
            <a:r>
              <a:rPr lang="en-US" sz="1500" b="1" dirty="0">
                <a:solidFill>
                  <a:srgbClr val="2E74C6"/>
                </a:solidFill>
                <a:latin typeface="Pretendard" pitchFamily="34" charset="0"/>
                <a:ea typeface="Pretendard" pitchFamily="34" charset="-122"/>
                <a:cs typeface="Pretendard" pitchFamily="34" charset="-120"/>
              </a:rPr>
              <a:t>카드명 사전의 효과와 한계</a:t>
            </a:r>
            <a:endParaRPr lang="en-US" sz="1500" dirty="0"/>
          </a:p>
        </p:txBody>
      </p:sp>
      <p:sp>
        <p:nvSpPr>
          <p:cNvPr id="27" name="Text 24"/>
          <p:cNvSpPr/>
          <p:nvPr/>
        </p:nvSpPr>
        <p:spPr>
          <a:xfrm>
            <a:off x="658368" y="6986016"/>
            <a:ext cx="7589520" cy="694944"/>
          </a:xfrm>
          <a:prstGeom prst="rect">
            <a:avLst/>
          </a:prstGeom>
          <a:noFill/>
          <a:ln/>
        </p:spPr>
        <p:txBody>
          <a:bodyPr wrap="square" lIns="0" tIns="0" rIns="0" bIns="0" rtlCol="0" anchor="t"/>
          <a:lstStyle/>
          <a:p>
            <a:pPr indent="0" marL="0">
              <a:lnSpc>
                <a:spcPct val="105000"/>
              </a:lnSpc>
              <a:buNone/>
            </a:pPr>
            <a:r>
              <a:rPr lang="en-US" sz="1400" b="1" dirty="0">
                <a:solidFill>
                  <a:srgbClr val="1E2A5C"/>
                </a:solidFill>
                <a:latin typeface="Pretendard" pitchFamily="34" charset="0"/>
                <a:ea typeface="Pretendard" pitchFamily="34" charset="-122"/>
                <a:cs typeface="Pretendard" pitchFamily="34" charset="-120"/>
              </a:rPr>
              <a:t>있음  </a:t>
            </a:r>
            <a:pPr indent="0" marL="0">
              <a:lnSpc>
                <a:spcPct val="105000"/>
              </a:lnSpc>
              <a:buNone/>
            </a:pPr>
            <a:r>
              <a:rPr lang="en-US" sz="1400" b="1" dirty="0">
                <a:solidFill>
                  <a:srgbClr val="2E74C6"/>
                </a:solidFill>
                <a:latin typeface="Pretendard" pitchFamily="34" charset="0"/>
                <a:ea typeface="Pretendard" pitchFamily="34" charset="-122"/>
                <a:cs typeface="Pretendard" pitchFamily="34" charset="-120"/>
              </a:rPr>
              <a:t>한빛가족돌봄</a:t>
            </a:r>
            <a:pPr indent="0" marL="0">
              <a:lnSpc>
                <a:spcPct val="105000"/>
              </a:lnSpc>
              <a:buNone/>
            </a:pPr>
            <a:r>
              <a:rPr lang="en-US" sz="1400" dirty="0">
                <a:solidFill>
                  <a:srgbClr val="3B4557"/>
                </a:solidFill>
                <a:latin typeface="Pretendard" pitchFamily="34" charset="0"/>
                <a:ea typeface="Pretendard" pitchFamily="34" charset="-122"/>
                <a:cs typeface="Pretendard" pitchFamily="34" charset="-120"/>
              </a:rPr>
              <a:t>  → 카드명 전체가 한 단어로 정확히 일치</a:t>
            </a:r>
            <a:endParaRPr lang="en-US" sz="1400" dirty="0"/>
          </a:p>
          <a:p>
            <a:pPr indent="0" marL="0">
              <a:lnSpc>
                <a:spcPct val="105000"/>
              </a:lnSpc>
              <a:buNone/>
            </a:pPr>
            <a:r>
              <a:rPr lang="en-US" sz="1400" b="1" dirty="0">
                <a:solidFill>
                  <a:srgbClr val="1E2A5C"/>
                </a:solidFill>
                <a:latin typeface="Pretendard" pitchFamily="34" charset="0"/>
                <a:ea typeface="Pretendard" pitchFamily="34" charset="-122"/>
                <a:cs typeface="Pretendard" pitchFamily="34" charset="-120"/>
              </a:rPr>
              <a:t>없음  </a:t>
            </a:r>
            <a:pPr indent="0" marL="0">
              <a:lnSpc>
                <a:spcPct val="105000"/>
              </a:lnSpc>
              <a:buNone/>
            </a:pPr>
            <a:r>
              <a:rPr lang="en-US" sz="1400" dirty="0">
                <a:solidFill>
                  <a:srgbClr val="3B4557"/>
                </a:solidFill>
                <a:latin typeface="Pretendard" pitchFamily="34" charset="0"/>
                <a:ea typeface="Pretendard" pitchFamily="34" charset="-122"/>
                <a:cs typeface="Pretendard" pitchFamily="34" charset="-120"/>
              </a:rPr>
              <a:t>한빛 · 가족 · 돌봄 · 가족돌봄  → 카드 64종이 모두 "한빛"으로 시작해 구분이 약함</a:t>
            </a:r>
            <a:endParaRPr lang="en-US" sz="1400" dirty="0"/>
          </a:p>
          <a:p>
            <a:pPr indent="0" marL="0">
              <a:lnSpc>
                <a:spcPct val="105000"/>
              </a:lnSpc>
              <a:buNone/>
            </a:pPr>
            <a:r>
              <a:rPr lang="en-US" sz="1400" dirty="0">
                <a:solidFill>
                  <a:srgbClr val="7C8598"/>
                </a:solidFill>
                <a:latin typeface="Pretendard" pitchFamily="34" charset="0"/>
                <a:ea typeface="Pretendard" pitchFamily="34" charset="-122"/>
                <a:cs typeface="Pretendard" pitchFamily="34" charset="-120"/>
              </a:rPr>
              <a:t>한계  "한빛" 없이 "가족돌봄"만 쓴 질문은 이 카드명 단어와 일치하지 않음</a:t>
            </a:r>
            <a:endParaRPr lang="en-US" sz="1400" dirty="0"/>
          </a:p>
        </p:txBody>
      </p:sp>
      <p:sp>
        <p:nvSpPr>
          <p:cNvPr id="28" name="Text 25"/>
          <p:cNvSpPr/>
          <p:nvPr/>
        </p:nvSpPr>
        <p:spPr>
          <a:xfrm>
            <a:off x="8686800" y="3401568"/>
            <a:ext cx="5440680" cy="347472"/>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우리 코드의 설정값</a:t>
            </a:r>
            <a:endParaRPr lang="en-US" sz="22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8686800" y="3840480"/>
          <a:ext cx="5440680" cy="914400"/>
        </p:xfrm>
        <a:graphic>
          <a:graphicData uri="http://schemas.openxmlformats.org/drawingml/2006/table">
            <a:tbl>
              <a:tblPr/>
              <a:tblGrid>
                <a:gridCol w="1463040"/>
                <a:gridCol w="3977640"/>
              </a:tblGrid>
              <a:tr h="36576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항목</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현재 값</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36576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색인 단위</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청크 1개 = 문서 1개</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36576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점수 공식</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bm25s · Lucene 방식</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36576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조절값</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k1 = 1.5  ·  b = 0.75</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36576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카드명 사전</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D2 카드명 → 고유명사(NNP)</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36576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검색과 일치</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검색도 같은 규칙 사용(서명 대조)</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36576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갱신 방식</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새 세대로 전체 재색인 후 전환</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36576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기본 꺼짐</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정적 사전 · 미등록어 후보 추출</a:t>
                      </a:r>
                      <a:endParaRPr lang="en-US" sz="1500" dirty="0">
                        <a:latin typeface="Pretendard" charset="0"/>
                        <a:ea typeface="Pretendard" charset="0"/>
                        <a:cs typeface="Pretendard" charset="0"/>
                      </a:endParaRPr>
                    </a:p>
                  </a:txBody>
                  <a:tcPr marL="91440" marR="91440" marT="36576" marB="36576"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bl>
          </a:graphicData>
        </a:graphic>
      </p:graphicFrame>
      <p:sp>
        <p:nvSpPr>
          <p:cNvPr id="30" name="Text 26"/>
          <p:cNvSpPr/>
          <p:nvPr/>
        </p:nvSpPr>
        <p:spPr>
          <a:xfrm>
            <a:off x="8686800" y="6903720"/>
            <a:ext cx="5440680" cy="822960"/>
          </a:xfrm>
          <a:prstGeom prst="rect">
            <a:avLst/>
          </a:prstGeom>
          <a:noFill/>
          <a:ln/>
        </p:spPr>
        <p:txBody>
          <a:bodyPr wrap="square" lIns="0" tIns="0" rIns="0" bIns="0" rtlCol="0" anchor="t"/>
          <a:lstStyle/>
          <a:p>
            <a:pPr indent="0" marL="0">
              <a:buNone/>
            </a:pPr>
            <a:r>
              <a:rPr lang="en-US" sz="1400" dirty="0">
                <a:solidFill>
                  <a:srgbClr val="4A5364"/>
                </a:solidFill>
                <a:latin typeface="Pretendard" pitchFamily="34" charset="0"/>
                <a:ea typeface="Pretendard" pitchFamily="34" charset="-122"/>
                <a:cs typeface="Pretendard" pitchFamily="34" charset="-120"/>
              </a:rPr>
              <a:t>k1: 같은 단어가 반복될 때 점수가 더 오르는 정도</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b: 긴 청크의 점수를 깎는 정도</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NNP 0.0의 0.0은 Kiwi 등록 가중치 (BM25 점수 아님)</a:t>
            </a:r>
            <a:endParaRPr lang="en-US" sz="1400" dirty="0"/>
          </a:p>
        </p:txBody>
      </p:sp>
      <p:sp>
        <p:nvSpPr>
          <p:cNvPr id="31" name="Shape 27"/>
          <p:cNvSpPr/>
          <p:nvPr/>
        </p:nvSpPr>
        <p:spPr>
          <a:xfrm>
            <a:off x="502920" y="7854696"/>
            <a:ext cx="13624560" cy="0"/>
          </a:xfrm>
          <a:prstGeom prst="line">
            <a:avLst/>
          </a:prstGeom>
          <a:noFill/>
          <a:ln w="8890">
            <a:solidFill>
              <a:srgbClr val="E9ECF3"/>
            </a:solidFill>
            <a:prstDash val="solid"/>
          </a:ln>
        </p:spPr>
      </p:sp>
      <p:sp>
        <p:nvSpPr>
          <p:cNvPr id="32" name="Text 28"/>
          <p:cNvSpPr/>
          <p:nvPr/>
        </p:nvSpPr>
        <p:spPr>
          <a:xfrm>
            <a:off x="502920" y="7936992"/>
            <a:ext cx="11247120" cy="182880"/>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코드 근거: korean_tokenizer.py · lexical_index.py · index_repository.py · bm25_index.py</a:t>
            </a:r>
            <a:endParaRPr lang="en-US" sz="1400" dirty="0"/>
          </a:p>
        </p:txBody>
      </p:sp>
      <p:sp>
        <p:nvSpPr>
          <p:cNvPr id="33" name="Text 29"/>
          <p:cNvSpPr/>
          <p:nvPr/>
        </p:nvSpPr>
        <p:spPr>
          <a:xfrm>
            <a:off x="11887200" y="7936992"/>
            <a:ext cx="2240280" cy="18288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BM25  /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BM25 인덱싱의 원리와 설계</dc:title>
  <dc:subject>PptxGenJS Presentation</dc:subject>
  <dc:creator>design-agentic-ai</dc:creator>
  <cp:lastModifiedBy>design-agentic-ai</cp:lastModifiedBy>
  <cp:revision>1</cp:revision>
  <dcterms:created xsi:type="dcterms:W3CDTF">2026-10-01T14:18:29Z</dcterms:created>
  <dcterms:modified xsi:type="dcterms:W3CDTF">2026-10-01T14:18:29Z</dcterms:modified>
</cp:coreProperties>
</file>