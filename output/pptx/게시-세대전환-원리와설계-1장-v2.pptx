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세대(generation)는 한 시점에 함께 써야 하는 Chroma 벡터, BM25 색인, 청크 본문(corpus), 카드명 사전, manifest를 한 폴더(data/generations/{세대명})에 묶은 검색 버전입니다. 게시는 data/active_generation.json, 즉 게시 포인터가 가리키는 세대를 새 세대로 바꾸는 일입니다. G1, G2는 설명용 이름입니다.
① 만드는 중: begin()이 새 세대 폴더와 generation_state.json을 만들고 status를 building으로, 그때의 활성 세대를 base_generation으로 기록합니다. 활성 세대(G1)는 건드리지 않습니다. 본문이 같은 청크는 G1의 벡터를 읽어 재사용하고, 바뀐 청크만 새로 임베딩합니다(indexing_service.py의 계획 단계). 그동안 게시 포인터는 G1을 가리키므로 반쯤 만든 G2는 보이지 않습니다.
② 검증: publish()는 빈 세대와 중복 chunk_id를 거부하고, Chroma에 저장된 ID 집합·본문과 본문 해시·메타데이터·벡터 차원이 게시 대상과 같은지 확인합니다. BM25 쪽은 경로·세대·청크 수·corpus와 카드명 사전 해시를 확인하고, 체크포인트에 기록한 준비 결과(stage)와 실제 파일이 같은지도 비교합니다. 하나라도 틀리면 예외가 나고 포인터는 바뀌지 않습니다.
③ 전환: .publish.lock 잠금을 잡은 짧은 구간에서 현재 활성 세대를 다시 읽습니다. 현재 세대가 base_generation(G1) 또는 이미 같은 G2일 때만 진행합니다. 그 사이 다른 실행이 먼저 다른 세대를 게시했다면 RuntimeError로 거부합니다. 통과하면 G2 상태를 ready로 기록하고 마지막에 active_generation.json을 교체합니다. _replace_json()은 같은 폴더에 임시 파일을 쓰고 fsync한 뒤 os.replace로 바꾸므로, 포인터 파일이 반쯤 쓰인 상태로 읽히는 일을 막습니다. 포인터에는 generation, chroma_path, search_index_root, collection, chunk_count, embedding_dimension, embedding_signature가 함께 들어갑니다.
핵심 코드(요약):
with CrossPlatformFileLock(self.lock_path):
    current = self._active_pointer()
    if current_generation not in {base_generation, generation}: raise RuntimeError(...)
    _replace_json(state_path, {...generation_state, "status": "ready", ...})
    _replace_json(self.active_pointer_path, pointer)
주의: 현재 Retriever는 active_generation.json을 읽지 않습니다. CHROMA_PATH와 SEARCH_INDEX_ROOT를 따로 설정받고, 기본값은 data/chroma와 data/search_indexes입니다. BM25 쪽은 SEARCH_INDEX_ROOT 안의 active_index.json으로 세대 변화를 감지하지만, 세대마다 search_indexes가 따로 있으므로 새 세대를 검색기에 반영하려면 경로 설정을 바꿔야 합니다. 따라서 "게시하면 검색기가 자동으로 동시에 전환된다"고 설명하지 않습니다.
실제 폴더: 2026-10-01 기준 data/generations에는 세대 5개가 있습니다. 20260930T135203Z가 현재 포인터가 가리키는 세대이고(직전 세대 group2-final-003을 기준으로 만듦), 같은 기준으로 시작했다 완성되지 않은 20260930T132618Z와 group2-build-001은 building 상태로 남아 있습니다. publish()는 이전 세대나 미완성 세대를 지우지 않습니다. 게시 실패 시 포인터를 유지하는 것은 "실패한 새 세대를 켜지 않는 것"이며, 게시 후 문제가 생겼을 때 자동으로 이전 세대로 되돌리는 롤백 기능은 없습니다.
사람이 정해야 할 것: 잠금, 구조·해시 검증, 포인터 교체는 코드가 이미 처리합니다. 반면 검색 품질 합격선, 자동 게시와 사람 승인 중 무엇을 쓸지, 문제가 생겼을 때 누가 어떤 신호로 이전 세대로 되돌릴지, 이전·미완성 세대를 몇 개·며칠 남길지는 서비스 목표·위험·비용에 따라 달라지므로 사람이 정해야 합니다.
이 슬라이드는 코드와 현재 폴더 상태를 읽어 설명한 것이며, 이번 작업에서 실제 게시나 되돌리기를 실행하지는 않았습니다.
소스 근거:
hybrid-ai-lab/indexer/vector-bm25/app/infrastructure/index_repository.py (_replace_json, begin, _verify_collection, publish)
hybrid-ai-lab/indexer/vector-bm25/app/application/indexing_service.py (벡터 재사용 계획, publish 호출)
hybrid-ai-lab/indexer/vector-bm25/app/infrastructure/lexical_index.py (verify)
hybrid-ai-lab/retriever/vector-retriever/app/infrastructure/settings.py (CHROMA_PATH·SEARCH_INDEX_ROOT 기본값)
hybrid-ai-lab/retriever/vector-retriever/app/infrastructure/corpus_store.py (active_index.json 읽기)
hybrid-ai-lab/indexer/vector-bm25/data/generations/*/generation_state.json (세대별 상태)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마지막 단계: 게시</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게시의 원리: 완성된 세대로 한 번에 전환</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572768"/>
            <a:ext cx="13624560" cy="658368"/>
          </a:xfrm>
          <a:prstGeom prst="rect">
            <a:avLst/>
          </a:prstGeom>
          <a:noFill/>
          <a:ln/>
        </p:spPr>
        <p:txBody>
          <a:bodyPr wrap="square" lIns="0" tIns="0" rIns="0" bIns="0" rtlCol="0" anchor="t"/>
          <a:lstStyle/>
          <a:p>
            <a:pPr indent="0" marL="0">
              <a:lnSpc>
                <a:spcPct val="110000"/>
              </a:lnSpc>
              <a:buNone/>
            </a:pPr>
            <a:r>
              <a:rPr lang="en-US" sz="1800" b="1" dirty="0">
                <a:solidFill>
                  <a:srgbClr val="1E2A5C"/>
                </a:solidFill>
                <a:latin typeface="Pretendard" pitchFamily="34" charset="0"/>
                <a:ea typeface="Pretendard" pitchFamily="34" charset="-122"/>
                <a:cs typeface="Pretendard" pitchFamily="34" charset="-120"/>
              </a:rPr>
              <a:t>세대  </a:t>
            </a:r>
            <a:pPr indent="0" marL="0">
              <a:lnSpc>
                <a:spcPct val="110000"/>
              </a:lnSpc>
              <a:buNone/>
            </a:pPr>
            <a:r>
              <a:rPr lang="en-US" sz="1800" dirty="0">
                <a:solidFill>
                  <a:srgbClr val="4A5364"/>
                </a:solidFill>
                <a:latin typeface="Pretendard" pitchFamily="34" charset="0"/>
                <a:ea typeface="Pretendard" pitchFamily="34" charset="-122"/>
                <a:cs typeface="Pretendard" pitchFamily="34" charset="-120"/>
              </a:rPr>
              <a:t>같은 시점의 벡터·BM25·본문·사전·manifest를 한 폴더에 묶은 검색 버전</a:t>
            </a:r>
            <a:endParaRPr lang="en-US" sz="1800" dirty="0"/>
          </a:p>
          <a:p>
            <a:pPr indent="0" marL="0">
              <a:lnSpc>
                <a:spcPct val="110000"/>
              </a:lnSpc>
              <a:buNone/>
            </a:pPr>
            <a:r>
              <a:rPr lang="en-US" sz="1800" b="1" dirty="0">
                <a:solidFill>
                  <a:srgbClr val="1E2A5C"/>
                </a:solidFill>
                <a:latin typeface="Pretendard" pitchFamily="34" charset="0"/>
                <a:ea typeface="Pretendard" pitchFamily="34" charset="-122"/>
                <a:cs typeface="Pretendard" pitchFamily="34" charset="-120"/>
              </a:rPr>
              <a:t>게시  </a:t>
            </a:r>
            <a:pPr indent="0" marL="0">
              <a:lnSpc>
                <a:spcPct val="110000"/>
              </a:lnSpc>
              <a:buNone/>
            </a:pPr>
            <a:r>
              <a:rPr lang="en-US" sz="1800" dirty="0">
                <a:solidFill>
                  <a:srgbClr val="4A5364"/>
                </a:solidFill>
                <a:latin typeface="Pretendard" pitchFamily="34" charset="0"/>
                <a:ea typeface="Pretendard" pitchFamily="34" charset="-122"/>
                <a:cs typeface="Pretendard" pitchFamily="34" charset="-120"/>
              </a:rPr>
              <a:t>게시 포인터(active_generation.json)가 가리키는 세대를 새 세대로 바꾸는 일</a:t>
            </a:r>
            <a:endParaRPr lang="en-US" sz="1800" dirty="0"/>
          </a:p>
        </p:txBody>
      </p:sp>
      <p:sp>
        <p:nvSpPr>
          <p:cNvPr id="7" name="Shape 5"/>
          <p:cNvSpPr/>
          <p:nvPr/>
        </p:nvSpPr>
        <p:spPr>
          <a:xfrm>
            <a:off x="502920" y="2359152"/>
            <a:ext cx="4389120" cy="2697480"/>
          </a:xfrm>
          <a:prstGeom prst="rect">
            <a:avLst/>
          </a:prstGeom>
          <a:solidFill>
            <a:srgbClr val="FFFFFF"/>
          </a:solidFill>
          <a:ln w="12700">
            <a:solidFill>
              <a:srgbClr val="D9E0EC"/>
            </a:solidFill>
            <a:prstDash val="solid"/>
          </a:ln>
        </p:spPr>
      </p:sp>
      <p:sp>
        <p:nvSpPr>
          <p:cNvPr id="8" name="Shape 6"/>
          <p:cNvSpPr/>
          <p:nvPr/>
        </p:nvSpPr>
        <p:spPr>
          <a:xfrm>
            <a:off x="649224" y="2487168"/>
            <a:ext cx="329184" cy="329184"/>
          </a:xfrm>
          <a:prstGeom prst="roundRect">
            <a:avLst>
              <a:gd name="adj" fmla="val 16667"/>
            </a:avLst>
          </a:prstGeom>
          <a:solidFill>
            <a:srgbClr val="2E74C6"/>
          </a:solidFill>
          <a:ln w="15240">
            <a:solidFill>
              <a:srgbClr val="2E74C6"/>
            </a:solidFill>
            <a:prstDash val="solid"/>
          </a:ln>
        </p:spPr>
      </p:sp>
      <p:sp>
        <p:nvSpPr>
          <p:cNvPr id="9" name="Text 7"/>
          <p:cNvSpPr/>
          <p:nvPr/>
        </p:nvSpPr>
        <p:spPr>
          <a:xfrm>
            <a:off x="649224" y="248716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0" name="Text 8"/>
          <p:cNvSpPr/>
          <p:nvPr/>
        </p:nvSpPr>
        <p:spPr>
          <a:xfrm>
            <a:off x="1069848" y="2487168"/>
            <a:ext cx="2194560" cy="329184"/>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만드는 중</a:t>
            </a:r>
            <a:endParaRPr lang="en-US" sz="2000" dirty="0"/>
          </a:p>
        </p:txBody>
      </p:sp>
      <p:sp>
        <p:nvSpPr>
          <p:cNvPr id="11" name="Shape 9"/>
          <p:cNvSpPr/>
          <p:nvPr/>
        </p:nvSpPr>
        <p:spPr>
          <a:xfrm>
            <a:off x="713232" y="2907792"/>
            <a:ext cx="1828800" cy="365760"/>
          </a:xfrm>
          <a:prstGeom prst="roundRect">
            <a:avLst>
              <a:gd name="adj" fmla="val 15000"/>
            </a:avLst>
          </a:prstGeom>
          <a:solidFill>
            <a:srgbClr val="404155"/>
          </a:solidFill>
          <a:ln w="15240">
            <a:solidFill>
              <a:srgbClr val="404155"/>
            </a:solidFill>
            <a:prstDash val="solid"/>
          </a:ln>
        </p:spPr>
      </p:sp>
      <p:sp>
        <p:nvSpPr>
          <p:cNvPr id="12" name="Text 10"/>
          <p:cNvSpPr/>
          <p:nvPr/>
        </p:nvSpPr>
        <p:spPr>
          <a:xfrm>
            <a:off x="713232" y="2907792"/>
            <a:ext cx="18288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게시 포인터</a:t>
            </a:r>
            <a:endParaRPr lang="en-US" sz="1500" dirty="0"/>
          </a:p>
        </p:txBody>
      </p:sp>
      <p:sp>
        <p:nvSpPr>
          <p:cNvPr id="13" name="Shape 11"/>
          <p:cNvSpPr/>
          <p:nvPr/>
        </p:nvSpPr>
        <p:spPr>
          <a:xfrm>
            <a:off x="1627632" y="3273552"/>
            <a:ext cx="0" cy="301752"/>
          </a:xfrm>
          <a:prstGeom prst="line">
            <a:avLst/>
          </a:prstGeom>
          <a:noFill/>
          <a:ln w="31750">
            <a:solidFill>
              <a:srgbClr val="2E74C6"/>
            </a:solidFill>
            <a:prstDash val="solid"/>
            <a:tailEnd type="triangle"/>
          </a:ln>
        </p:spPr>
      </p:sp>
      <p:sp>
        <p:nvSpPr>
          <p:cNvPr id="14" name="Shape 12"/>
          <p:cNvSpPr/>
          <p:nvPr/>
        </p:nvSpPr>
        <p:spPr>
          <a:xfrm>
            <a:off x="621792" y="3602736"/>
            <a:ext cx="2011680" cy="896112"/>
          </a:xfrm>
          <a:prstGeom prst="roundRect">
            <a:avLst>
              <a:gd name="adj" fmla="val 6122"/>
            </a:avLst>
          </a:prstGeom>
          <a:solidFill>
            <a:srgbClr val="1E2A5C"/>
          </a:solidFill>
          <a:ln w="15240">
            <a:solidFill>
              <a:srgbClr val="1E2A5C"/>
            </a:solidFill>
            <a:prstDash val="solid"/>
          </a:ln>
        </p:spPr>
      </p:sp>
      <p:sp>
        <p:nvSpPr>
          <p:cNvPr id="15" name="Text 13"/>
          <p:cNvSpPr/>
          <p:nvPr/>
        </p:nvSpPr>
        <p:spPr>
          <a:xfrm>
            <a:off x="749808" y="3675888"/>
            <a:ext cx="1755648" cy="329184"/>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G1  </a:t>
            </a:r>
            <a:pPr indent="0" marL="0">
              <a:buNone/>
            </a:pPr>
            <a:r>
              <a:rPr lang="en-US" sz="1400" dirty="0">
                <a:solidFill>
                  <a:srgbClr val="FFFFFF"/>
                </a:solidFill>
                <a:latin typeface="Pretendard" pitchFamily="34" charset="0"/>
                <a:ea typeface="Pretendard" pitchFamily="34" charset="-122"/>
                <a:cs typeface="Pretendard" pitchFamily="34" charset="-120"/>
              </a:rPr>
              <a:t>사용 중</a:t>
            </a:r>
            <a:endParaRPr lang="en-US" sz="1800" dirty="0"/>
          </a:p>
        </p:txBody>
      </p:sp>
      <p:sp>
        <p:nvSpPr>
          <p:cNvPr id="16" name="Shape 14"/>
          <p:cNvSpPr/>
          <p:nvPr/>
        </p:nvSpPr>
        <p:spPr>
          <a:xfrm>
            <a:off x="749808" y="4059936"/>
            <a:ext cx="822960" cy="329184"/>
          </a:xfrm>
          <a:prstGeom prst="roundRect">
            <a:avLst>
              <a:gd name="adj" fmla="val 16667"/>
            </a:avLst>
          </a:prstGeom>
          <a:solidFill>
            <a:srgbClr val="2E74C6"/>
          </a:solidFill>
          <a:ln w="15240">
            <a:solidFill>
              <a:srgbClr val="1E2A5C"/>
            </a:solidFill>
            <a:prstDash val="solid"/>
          </a:ln>
        </p:spPr>
      </p:sp>
      <p:sp>
        <p:nvSpPr>
          <p:cNvPr id="17" name="Text 15"/>
          <p:cNvSpPr/>
          <p:nvPr/>
        </p:nvSpPr>
        <p:spPr>
          <a:xfrm>
            <a:off x="749808" y="4059936"/>
            <a:ext cx="822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18" name="Shape 16"/>
          <p:cNvSpPr/>
          <p:nvPr/>
        </p:nvSpPr>
        <p:spPr>
          <a:xfrm>
            <a:off x="1645920" y="4059936"/>
            <a:ext cx="822960" cy="329184"/>
          </a:xfrm>
          <a:prstGeom prst="roundRect">
            <a:avLst>
              <a:gd name="adj" fmla="val 16667"/>
            </a:avLst>
          </a:prstGeom>
          <a:solidFill>
            <a:srgbClr val="2E74C6"/>
          </a:solidFill>
          <a:ln w="15240">
            <a:solidFill>
              <a:srgbClr val="1E2A5C"/>
            </a:solidFill>
            <a:prstDash val="solid"/>
          </a:ln>
        </p:spPr>
      </p:sp>
      <p:sp>
        <p:nvSpPr>
          <p:cNvPr id="19" name="Text 17"/>
          <p:cNvSpPr/>
          <p:nvPr/>
        </p:nvSpPr>
        <p:spPr>
          <a:xfrm>
            <a:off x="1645920" y="4059936"/>
            <a:ext cx="822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BM25</a:t>
            </a:r>
            <a:endParaRPr lang="en-US" sz="1400" dirty="0"/>
          </a:p>
        </p:txBody>
      </p:sp>
      <p:sp>
        <p:nvSpPr>
          <p:cNvPr id="20" name="Shape 18"/>
          <p:cNvSpPr/>
          <p:nvPr/>
        </p:nvSpPr>
        <p:spPr>
          <a:xfrm>
            <a:off x="2761488" y="3602736"/>
            <a:ext cx="2011680" cy="896112"/>
          </a:xfrm>
          <a:prstGeom prst="roundRect">
            <a:avLst>
              <a:gd name="adj" fmla="val 6122"/>
            </a:avLst>
          </a:prstGeom>
          <a:solidFill>
            <a:srgbClr val="FFFFFF"/>
          </a:solidFill>
          <a:ln w="15240">
            <a:solidFill>
              <a:srgbClr val="2E74C6"/>
            </a:solidFill>
            <a:prstDash val="dash"/>
          </a:ln>
        </p:spPr>
      </p:sp>
      <p:sp>
        <p:nvSpPr>
          <p:cNvPr id="21" name="Text 19"/>
          <p:cNvSpPr/>
          <p:nvPr/>
        </p:nvSpPr>
        <p:spPr>
          <a:xfrm>
            <a:off x="2889504" y="3675888"/>
            <a:ext cx="1755648" cy="329184"/>
          </a:xfrm>
          <a:prstGeom prst="rect">
            <a:avLst/>
          </a:prstGeom>
          <a:noFill/>
          <a:ln/>
        </p:spPr>
        <p:txBody>
          <a:bodyPr wrap="square" lIns="0" tIns="0" rIns="0" bIns="0" rtlCol="0" anchor="ctr"/>
          <a:lstStyle/>
          <a:p>
            <a:pPr indent="0" marL="0">
              <a:buNone/>
            </a:pPr>
            <a:r>
              <a:rPr lang="en-US" sz="1800" b="1" dirty="0">
                <a:solidFill>
                  <a:srgbClr val="2E74C6"/>
                </a:solidFill>
                <a:latin typeface="Pretendard" pitchFamily="34" charset="0"/>
                <a:ea typeface="Pretendard" pitchFamily="34" charset="-122"/>
                <a:cs typeface="Pretendard" pitchFamily="34" charset="-120"/>
              </a:rPr>
              <a:t>G2  </a:t>
            </a:r>
            <a:pPr indent="0" marL="0">
              <a:buNone/>
            </a:pPr>
            <a:r>
              <a:rPr lang="en-US" sz="1400" dirty="0">
                <a:solidFill>
                  <a:srgbClr val="2E74C6"/>
                </a:solidFill>
                <a:latin typeface="Pretendard" pitchFamily="34" charset="0"/>
                <a:ea typeface="Pretendard" pitchFamily="34" charset="-122"/>
                <a:cs typeface="Pretendard" pitchFamily="34" charset="-120"/>
              </a:rPr>
              <a:t>만드는 중</a:t>
            </a:r>
            <a:endParaRPr lang="en-US" sz="1800" dirty="0"/>
          </a:p>
        </p:txBody>
      </p:sp>
      <p:sp>
        <p:nvSpPr>
          <p:cNvPr id="22" name="Shape 20"/>
          <p:cNvSpPr/>
          <p:nvPr/>
        </p:nvSpPr>
        <p:spPr>
          <a:xfrm>
            <a:off x="2889504" y="4059936"/>
            <a:ext cx="822960" cy="329184"/>
          </a:xfrm>
          <a:prstGeom prst="roundRect">
            <a:avLst>
              <a:gd name="adj" fmla="val 16667"/>
            </a:avLst>
          </a:prstGeom>
          <a:solidFill>
            <a:srgbClr val="FFFFFF"/>
          </a:solidFill>
          <a:ln w="15240">
            <a:solidFill>
              <a:srgbClr val="2E74C6"/>
            </a:solidFill>
            <a:prstDash val="dash"/>
          </a:ln>
        </p:spPr>
      </p:sp>
      <p:sp>
        <p:nvSpPr>
          <p:cNvPr id="23" name="Text 21"/>
          <p:cNvSpPr/>
          <p:nvPr/>
        </p:nvSpPr>
        <p:spPr>
          <a:xfrm>
            <a:off x="2889504" y="4059936"/>
            <a:ext cx="822960" cy="329184"/>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벡터</a:t>
            </a:r>
            <a:endParaRPr lang="en-US" sz="1400" dirty="0"/>
          </a:p>
        </p:txBody>
      </p:sp>
      <p:sp>
        <p:nvSpPr>
          <p:cNvPr id="24" name="Shape 22"/>
          <p:cNvSpPr/>
          <p:nvPr/>
        </p:nvSpPr>
        <p:spPr>
          <a:xfrm>
            <a:off x="3785616" y="4059936"/>
            <a:ext cx="822960" cy="329184"/>
          </a:xfrm>
          <a:prstGeom prst="roundRect">
            <a:avLst>
              <a:gd name="adj" fmla="val 16667"/>
            </a:avLst>
          </a:prstGeom>
          <a:solidFill>
            <a:srgbClr val="FFFFFF"/>
          </a:solidFill>
          <a:ln w="15240">
            <a:solidFill>
              <a:srgbClr val="2E74C6"/>
            </a:solidFill>
            <a:prstDash val="dash"/>
          </a:ln>
        </p:spPr>
      </p:sp>
      <p:sp>
        <p:nvSpPr>
          <p:cNvPr id="25" name="Text 23"/>
          <p:cNvSpPr/>
          <p:nvPr/>
        </p:nvSpPr>
        <p:spPr>
          <a:xfrm>
            <a:off x="3785616" y="4059936"/>
            <a:ext cx="822960" cy="329184"/>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BM25</a:t>
            </a:r>
            <a:endParaRPr lang="en-US" sz="1400" dirty="0"/>
          </a:p>
        </p:txBody>
      </p:sp>
      <p:sp>
        <p:nvSpPr>
          <p:cNvPr id="26" name="Text 24"/>
          <p:cNvSpPr/>
          <p:nvPr/>
        </p:nvSpPr>
        <p:spPr>
          <a:xfrm>
            <a:off x="649224" y="4572000"/>
            <a:ext cx="4096512" cy="457200"/>
          </a:xfrm>
          <a:prstGeom prst="rect">
            <a:avLst/>
          </a:prstGeom>
          <a:noFill/>
          <a:ln/>
        </p:spPr>
        <p:txBody>
          <a:bodyPr wrap="square" lIns="0" tIns="0" rIns="0" bIns="0" rtlCol="0" anchor="t"/>
          <a:lstStyle/>
          <a:p>
            <a:pPr indent="0" marL="0">
              <a:buNone/>
            </a:pPr>
            <a:r>
              <a:rPr lang="en-US" sz="1400" dirty="0">
                <a:solidFill>
                  <a:srgbClr val="3B4557"/>
                </a:solidFill>
                <a:latin typeface="Pretendard" pitchFamily="34" charset="0"/>
                <a:ea typeface="Pretendard" pitchFamily="34" charset="-122"/>
                <a:cs typeface="Pretendard" pitchFamily="34" charset="-120"/>
              </a:rPr>
              <a:t>G2를 다른 폴더에 만듦 (같은 본문은 G1 벡터 재사용)</a:t>
            </a:r>
            <a:endParaRPr lang="en-US" sz="1400" dirty="0"/>
          </a:p>
          <a:p>
            <a:pPr indent="0" marL="0">
              <a:buNone/>
            </a:pPr>
            <a:r>
              <a:rPr lang="en-US" sz="1400" dirty="0">
                <a:solidFill>
                  <a:srgbClr val="3B4557"/>
                </a:solidFill>
                <a:latin typeface="Pretendard" pitchFamily="34" charset="0"/>
                <a:ea typeface="Pretendard" pitchFamily="34" charset="-122"/>
                <a:cs typeface="Pretendard" pitchFamily="34" charset="-120"/>
              </a:rPr>
              <a:t>그동안 검색은 계속 G1</a:t>
            </a:r>
            <a:endParaRPr lang="en-US" sz="1400" dirty="0"/>
          </a:p>
        </p:txBody>
      </p:sp>
      <p:sp>
        <p:nvSpPr>
          <p:cNvPr id="27" name="Shape 25"/>
          <p:cNvSpPr/>
          <p:nvPr/>
        </p:nvSpPr>
        <p:spPr>
          <a:xfrm>
            <a:off x="4919472" y="3707892"/>
            <a:ext cx="173736" cy="0"/>
          </a:xfrm>
          <a:prstGeom prst="line">
            <a:avLst/>
          </a:prstGeom>
          <a:noFill/>
          <a:ln w="25400">
            <a:solidFill>
              <a:srgbClr val="2E74C6"/>
            </a:solidFill>
            <a:prstDash val="solid"/>
            <a:tailEnd type="triangle"/>
          </a:ln>
        </p:spPr>
      </p:sp>
      <p:sp>
        <p:nvSpPr>
          <p:cNvPr id="28" name="Shape 26"/>
          <p:cNvSpPr/>
          <p:nvPr/>
        </p:nvSpPr>
        <p:spPr>
          <a:xfrm>
            <a:off x="5120640" y="2359152"/>
            <a:ext cx="4389120" cy="2697480"/>
          </a:xfrm>
          <a:prstGeom prst="rect">
            <a:avLst/>
          </a:prstGeom>
          <a:solidFill>
            <a:srgbClr val="FFFFFF"/>
          </a:solidFill>
          <a:ln w="12700">
            <a:solidFill>
              <a:srgbClr val="D9E0EC"/>
            </a:solidFill>
            <a:prstDash val="solid"/>
          </a:ln>
        </p:spPr>
      </p:sp>
      <p:sp>
        <p:nvSpPr>
          <p:cNvPr id="29" name="Shape 27"/>
          <p:cNvSpPr/>
          <p:nvPr/>
        </p:nvSpPr>
        <p:spPr>
          <a:xfrm>
            <a:off x="5266944" y="2487168"/>
            <a:ext cx="329184" cy="329184"/>
          </a:xfrm>
          <a:prstGeom prst="roundRect">
            <a:avLst>
              <a:gd name="adj" fmla="val 16667"/>
            </a:avLst>
          </a:prstGeom>
          <a:solidFill>
            <a:srgbClr val="2E74C6"/>
          </a:solidFill>
          <a:ln w="15240">
            <a:solidFill>
              <a:srgbClr val="2E74C6"/>
            </a:solidFill>
            <a:prstDash val="solid"/>
          </a:ln>
        </p:spPr>
      </p:sp>
      <p:sp>
        <p:nvSpPr>
          <p:cNvPr id="30" name="Text 28"/>
          <p:cNvSpPr/>
          <p:nvPr/>
        </p:nvSpPr>
        <p:spPr>
          <a:xfrm>
            <a:off x="5266944" y="248716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31" name="Text 29"/>
          <p:cNvSpPr/>
          <p:nvPr/>
        </p:nvSpPr>
        <p:spPr>
          <a:xfrm>
            <a:off x="5687568" y="2487168"/>
            <a:ext cx="2194560" cy="329184"/>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검증</a:t>
            </a:r>
            <a:endParaRPr lang="en-US" sz="2000" dirty="0"/>
          </a:p>
        </p:txBody>
      </p:sp>
      <p:sp>
        <p:nvSpPr>
          <p:cNvPr id="32" name="Shape 30"/>
          <p:cNvSpPr/>
          <p:nvPr/>
        </p:nvSpPr>
        <p:spPr>
          <a:xfrm>
            <a:off x="5330952" y="2907792"/>
            <a:ext cx="1828800" cy="365760"/>
          </a:xfrm>
          <a:prstGeom prst="roundRect">
            <a:avLst>
              <a:gd name="adj" fmla="val 15000"/>
            </a:avLst>
          </a:prstGeom>
          <a:solidFill>
            <a:srgbClr val="404155"/>
          </a:solidFill>
          <a:ln w="15240">
            <a:solidFill>
              <a:srgbClr val="404155"/>
            </a:solidFill>
            <a:prstDash val="solid"/>
          </a:ln>
        </p:spPr>
      </p:sp>
      <p:sp>
        <p:nvSpPr>
          <p:cNvPr id="33" name="Text 31"/>
          <p:cNvSpPr/>
          <p:nvPr/>
        </p:nvSpPr>
        <p:spPr>
          <a:xfrm>
            <a:off x="5330952" y="2907792"/>
            <a:ext cx="18288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게시 포인터</a:t>
            </a:r>
            <a:endParaRPr lang="en-US" sz="1500" dirty="0"/>
          </a:p>
        </p:txBody>
      </p:sp>
      <p:sp>
        <p:nvSpPr>
          <p:cNvPr id="34" name="Shape 32"/>
          <p:cNvSpPr/>
          <p:nvPr/>
        </p:nvSpPr>
        <p:spPr>
          <a:xfrm>
            <a:off x="6245352" y="3273552"/>
            <a:ext cx="0" cy="301752"/>
          </a:xfrm>
          <a:prstGeom prst="line">
            <a:avLst/>
          </a:prstGeom>
          <a:noFill/>
          <a:ln w="31750">
            <a:solidFill>
              <a:srgbClr val="2E74C6"/>
            </a:solidFill>
            <a:prstDash val="solid"/>
            <a:tailEnd type="triangle"/>
          </a:ln>
        </p:spPr>
      </p:sp>
      <p:sp>
        <p:nvSpPr>
          <p:cNvPr id="35" name="Shape 33"/>
          <p:cNvSpPr/>
          <p:nvPr/>
        </p:nvSpPr>
        <p:spPr>
          <a:xfrm>
            <a:off x="5239512" y="3602736"/>
            <a:ext cx="2011680" cy="896112"/>
          </a:xfrm>
          <a:prstGeom prst="roundRect">
            <a:avLst>
              <a:gd name="adj" fmla="val 6122"/>
            </a:avLst>
          </a:prstGeom>
          <a:solidFill>
            <a:srgbClr val="1E2A5C"/>
          </a:solidFill>
          <a:ln w="15240">
            <a:solidFill>
              <a:srgbClr val="1E2A5C"/>
            </a:solidFill>
            <a:prstDash val="solid"/>
          </a:ln>
        </p:spPr>
      </p:sp>
      <p:sp>
        <p:nvSpPr>
          <p:cNvPr id="36" name="Text 34"/>
          <p:cNvSpPr/>
          <p:nvPr/>
        </p:nvSpPr>
        <p:spPr>
          <a:xfrm>
            <a:off x="5367528" y="3675888"/>
            <a:ext cx="1755648" cy="329184"/>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G1  </a:t>
            </a:r>
            <a:pPr indent="0" marL="0">
              <a:buNone/>
            </a:pPr>
            <a:r>
              <a:rPr lang="en-US" sz="1400" dirty="0">
                <a:solidFill>
                  <a:srgbClr val="FFFFFF"/>
                </a:solidFill>
                <a:latin typeface="Pretendard" pitchFamily="34" charset="0"/>
                <a:ea typeface="Pretendard" pitchFamily="34" charset="-122"/>
                <a:cs typeface="Pretendard" pitchFamily="34" charset="-120"/>
              </a:rPr>
              <a:t>사용 중</a:t>
            </a:r>
            <a:endParaRPr lang="en-US" sz="1800" dirty="0"/>
          </a:p>
        </p:txBody>
      </p:sp>
      <p:sp>
        <p:nvSpPr>
          <p:cNvPr id="37" name="Shape 35"/>
          <p:cNvSpPr/>
          <p:nvPr/>
        </p:nvSpPr>
        <p:spPr>
          <a:xfrm>
            <a:off x="5367528" y="4059936"/>
            <a:ext cx="822960" cy="329184"/>
          </a:xfrm>
          <a:prstGeom prst="roundRect">
            <a:avLst>
              <a:gd name="adj" fmla="val 16667"/>
            </a:avLst>
          </a:prstGeom>
          <a:solidFill>
            <a:srgbClr val="2E74C6"/>
          </a:solidFill>
          <a:ln w="15240">
            <a:solidFill>
              <a:srgbClr val="1E2A5C"/>
            </a:solidFill>
            <a:prstDash val="solid"/>
          </a:ln>
        </p:spPr>
      </p:sp>
      <p:sp>
        <p:nvSpPr>
          <p:cNvPr id="38" name="Text 36"/>
          <p:cNvSpPr/>
          <p:nvPr/>
        </p:nvSpPr>
        <p:spPr>
          <a:xfrm>
            <a:off x="5367528" y="4059936"/>
            <a:ext cx="822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39" name="Shape 37"/>
          <p:cNvSpPr/>
          <p:nvPr/>
        </p:nvSpPr>
        <p:spPr>
          <a:xfrm>
            <a:off x="6263640" y="4059936"/>
            <a:ext cx="822960" cy="329184"/>
          </a:xfrm>
          <a:prstGeom prst="roundRect">
            <a:avLst>
              <a:gd name="adj" fmla="val 16667"/>
            </a:avLst>
          </a:prstGeom>
          <a:solidFill>
            <a:srgbClr val="2E74C6"/>
          </a:solidFill>
          <a:ln w="15240">
            <a:solidFill>
              <a:srgbClr val="1E2A5C"/>
            </a:solidFill>
            <a:prstDash val="solid"/>
          </a:ln>
        </p:spPr>
      </p:sp>
      <p:sp>
        <p:nvSpPr>
          <p:cNvPr id="40" name="Text 38"/>
          <p:cNvSpPr/>
          <p:nvPr/>
        </p:nvSpPr>
        <p:spPr>
          <a:xfrm>
            <a:off x="6263640" y="4059936"/>
            <a:ext cx="822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BM25</a:t>
            </a:r>
            <a:endParaRPr lang="en-US" sz="1400" dirty="0"/>
          </a:p>
        </p:txBody>
      </p:sp>
      <p:sp>
        <p:nvSpPr>
          <p:cNvPr id="41" name="Shape 39"/>
          <p:cNvSpPr/>
          <p:nvPr/>
        </p:nvSpPr>
        <p:spPr>
          <a:xfrm>
            <a:off x="7379208" y="3602736"/>
            <a:ext cx="2011680" cy="896112"/>
          </a:xfrm>
          <a:prstGeom prst="roundRect">
            <a:avLst>
              <a:gd name="adj" fmla="val 6122"/>
            </a:avLst>
          </a:prstGeom>
          <a:solidFill>
            <a:srgbClr val="EEF3FA"/>
          </a:solidFill>
          <a:ln w="15240">
            <a:solidFill>
              <a:srgbClr val="2E74C6"/>
            </a:solidFill>
            <a:prstDash val="solid"/>
          </a:ln>
        </p:spPr>
      </p:sp>
      <p:sp>
        <p:nvSpPr>
          <p:cNvPr id="42" name="Text 40"/>
          <p:cNvSpPr/>
          <p:nvPr/>
        </p:nvSpPr>
        <p:spPr>
          <a:xfrm>
            <a:off x="7507224" y="3675888"/>
            <a:ext cx="1755648" cy="329184"/>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G2  </a:t>
            </a:r>
            <a:pPr indent="0" marL="0">
              <a:buNone/>
            </a:pPr>
            <a:r>
              <a:rPr lang="en-US" sz="1400" dirty="0">
                <a:solidFill>
                  <a:srgbClr val="1E2A5C"/>
                </a:solidFill>
                <a:latin typeface="Pretendard" pitchFamily="34" charset="0"/>
                <a:ea typeface="Pretendard" pitchFamily="34" charset="-122"/>
                <a:cs typeface="Pretendard" pitchFamily="34" charset="-120"/>
              </a:rPr>
              <a:t>검증 중</a:t>
            </a:r>
            <a:endParaRPr lang="en-US" sz="1800" dirty="0"/>
          </a:p>
        </p:txBody>
      </p:sp>
      <p:sp>
        <p:nvSpPr>
          <p:cNvPr id="43" name="Shape 41"/>
          <p:cNvSpPr/>
          <p:nvPr/>
        </p:nvSpPr>
        <p:spPr>
          <a:xfrm>
            <a:off x="7507224" y="4059936"/>
            <a:ext cx="822960" cy="329184"/>
          </a:xfrm>
          <a:prstGeom prst="roundRect">
            <a:avLst>
              <a:gd name="adj" fmla="val 16667"/>
            </a:avLst>
          </a:prstGeom>
          <a:solidFill>
            <a:srgbClr val="FFFFFF"/>
          </a:solidFill>
          <a:ln w="15240">
            <a:solidFill>
              <a:srgbClr val="2E74C6"/>
            </a:solidFill>
            <a:prstDash val="solid"/>
          </a:ln>
        </p:spPr>
      </p:sp>
      <p:sp>
        <p:nvSpPr>
          <p:cNvPr id="44" name="Text 42"/>
          <p:cNvSpPr/>
          <p:nvPr/>
        </p:nvSpPr>
        <p:spPr>
          <a:xfrm>
            <a:off x="7507224" y="4059936"/>
            <a:ext cx="822960" cy="329184"/>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 벡터</a:t>
            </a:r>
            <a:endParaRPr lang="en-US" sz="1400" dirty="0"/>
          </a:p>
        </p:txBody>
      </p:sp>
      <p:sp>
        <p:nvSpPr>
          <p:cNvPr id="45" name="Shape 43"/>
          <p:cNvSpPr/>
          <p:nvPr/>
        </p:nvSpPr>
        <p:spPr>
          <a:xfrm>
            <a:off x="8403336" y="4059936"/>
            <a:ext cx="822960" cy="329184"/>
          </a:xfrm>
          <a:prstGeom prst="roundRect">
            <a:avLst>
              <a:gd name="adj" fmla="val 16667"/>
            </a:avLst>
          </a:prstGeom>
          <a:solidFill>
            <a:srgbClr val="FFFFFF"/>
          </a:solidFill>
          <a:ln w="15240">
            <a:solidFill>
              <a:srgbClr val="2E74C6"/>
            </a:solidFill>
            <a:prstDash val="solid"/>
          </a:ln>
        </p:spPr>
      </p:sp>
      <p:sp>
        <p:nvSpPr>
          <p:cNvPr id="46" name="Text 44"/>
          <p:cNvSpPr/>
          <p:nvPr/>
        </p:nvSpPr>
        <p:spPr>
          <a:xfrm>
            <a:off x="8403336" y="4059936"/>
            <a:ext cx="822960" cy="329184"/>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 BM25</a:t>
            </a:r>
            <a:endParaRPr lang="en-US" sz="1400" dirty="0"/>
          </a:p>
        </p:txBody>
      </p:sp>
      <p:sp>
        <p:nvSpPr>
          <p:cNvPr id="47" name="Text 45"/>
          <p:cNvSpPr/>
          <p:nvPr/>
        </p:nvSpPr>
        <p:spPr>
          <a:xfrm>
            <a:off x="5266944" y="4572000"/>
            <a:ext cx="4096512" cy="457200"/>
          </a:xfrm>
          <a:prstGeom prst="rect">
            <a:avLst/>
          </a:prstGeom>
          <a:noFill/>
          <a:ln/>
        </p:spPr>
        <p:txBody>
          <a:bodyPr wrap="square" lIns="0" tIns="0" rIns="0" bIns="0" rtlCol="0" anchor="t"/>
          <a:lstStyle/>
          <a:p>
            <a:pPr indent="0" marL="0">
              <a:buNone/>
            </a:pPr>
            <a:r>
              <a:rPr lang="en-US" sz="1400" dirty="0">
                <a:solidFill>
                  <a:srgbClr val="3B4557"/>
                </a:solidFill>
                <a:latin typeface="Pretendard" pitchFamily="34" charset="0"/>
                <a:ea typeface="Pretendard" pitchFamily="34" charset="-122"/>
                <a:cs typeface="Pretendard" pitchFamily="34" charset="-120"/>
              </a:rPr>
              <a:t>벡터 ID·본문·차원, BM25 청크 수·해시 확인</a:t>
            </a:r>
            <a:endParaRPr lang="en-US" sz="1400" dirty="0"/>
          </a:p>
          <a:p>
            <a:pPr indent="0" marL="0">
              <a:buNone/>
            </a:pPr>
            <a:r>
              <a:rPr lang="en-US" sz="1400" dirty="0">
                <a:solidFill>
                  <a:srgbClr val="3B4557"/>
                </a:solidFill>
                <a:latin typeface="Pretendard" pitchFamily="34" charset="0"/>
                <a:ea typeface="Pretendard" pitchFamily="34" charset="-122"/>
                <a:cs typeface="Pretendard" pitchFamily="34" charset="-120"/>
              </a:rPr>
              <a:t>하나라도 틀리면 멈춤 → 포인터는 G1 그대로</a:t>
            </a:r>
            <a:endParaRPr lang="en-US" sz="1400" dirty="0"/>
          </a:p>
        </p:txBody>
      </p:sp>
      <p:sp>
        <p:nvSpPr>
          <p:cNvPr id="48" name="Shape 46"/>
          <p:cNvSpPr/>
          <p:nvPr/>
        </p:nvSpPr>
        <p:spPr>
          <a:xfrm>
            <a:off x="9537192" y="3707892"/>
            <a:ext cx="173736" cy="0"/>
          </a:xfrm>
          <a:prstGeom prst="line">
            <a:avLst/>
          </a:prstGeom>
          <a:noFill/>
          <a:ln w="25400">
            <a:solidFill>
              <a:srgbClr val="2E74C6"/>
            </a:solidFill>
            <a:prstDash val="solid"/>
            <a:tailEnd type="triangle"/>
          </a:ln>
        </p:spPr>
      </p:sp>
      <p:sp>
        <p:nvSpPr>
          <p:cNvPr id="49" name="Shape 47"/>
          <p:cNvSpPr/>
          <p:nvPr/>
        </p:nvSpPr>
        <p:spPr>
          <a:xfrm>
            <a:off x="9738360" y="2359152"/>
            <a:ext cx="4389120" cy="2697480"/>
          </a:xfrm>
          <a:prstGeom prst="rect">
            <a:avLst/>
          </a:prstGeom>
          <a:solidFill>
            <a:srgbClr val="EEF3FA"/>
          </a:solidFill>
          <a:ln w="12700">
            <a:solidFill>
              <a:srgbClr val="2E74C6"/>
            </a:solidFill>
            <a:prstDash val="solid"/>
          </a:ln>
        </p:spPr>
      </p:sp>
      <p:sp>
        <p:nvSpPr>
          <p:cNvPr id="50" name="Shape 48"/>
          <p:cNvSpPr/>
          <p:nvPr/>
        </p:nvSpPr>
        <p:spPr>
          <a:xfrm>
            <a:off x="9884664" y="2487168"/>
            <a:ext cx="329184" cy="329184"/>
          </a:xfrm>
          <a:prstGeom prst="roundRect">
            <a:avLst>
              <a:gd name="adj" fmla="val 16667"/>
            </a:avLst>
          </a:prstGeom>
          <a:solidFill>
            <a:srgbClr val="1E2A5C"/>
          </a:solidFill>
          <a:ln w="15240">
            <a:solidFill>
              <a:srgbClr val="1E2A5C"/>
            </a:solidFill>
            <a:prstDash val="solid"/>
          </a:ln>
        </p:spPr>
      </p:sp>
      <p:sp>
        <p:nvSpPr>
          <p:cNvPr id="51" name="Text 49"/>
          <p:cNvSpPr/>
          <p:nvPr/>
        </p:nvSpPr>
        <p:spPr>
          <a:xfrm>
            <a:off x="9884664" y="248716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52" name="Text 50"/>
          <p:cNvSpPr/>
          <p:nvPr/>
        </p:nvSpPr>
        <p:spPr>
          <a:xfrm>
            <a:off x="10305288" y="2487168"/>
            <a:ext cx="2194560" cy="329184"/>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전환</a:t>
            </a:r>
            <a:endParaRPr lang="en-US" sz="2000" dirty="0"/>
          </a:p>
        </p:txBody>
      </p:sp>
      <p:sp>
        <p:nvSpPr>
          <p:cNvPr id="53" name="Shape 51"/>
          <p:cNvSpPr/>
          <p:nvPr/>
        </p:nvSpPr>
        <p:spPr>
          <a:xfrm>
            <a:off x="12088368" y="2907792"/>
            <a:ext cx="1828800" cy="365760"/>
          </a:xfrm>
          <a:prstGeom prst="roundRect">
            <a:avLst>
              <a:gd name="adj" fmla="val 15000"/>
            </a:avLst>
          </a:prstGeom>
          <a:solidFill>
            <a:srgbClr val="404155"/>
          </a:solidFill>
          <a:ln w="15240">
            <a:solidFill>
              <a:srgbClr val="404155"/>
            </a:solidFill>
            <a:prstDash val="solid"/>
          </a:ln>
        </p:spPr>
      </p:sp>
      <p:sp>
        <p:nvSpPr>
          <p:cNvPr id="54" name="Text 52"/>
          <p:cNvSpPr/>
          <p:nvPr/>
        </p:nvSpPr>
        <p:spPr>
          <a:xfrm>
            <a:off x="12088368" y="2907792"/>
            <a:ext cx="18288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게시 포인터</a:t>
            </a:r>
            <a:endParaRPr lang="en-US" sz="1500" dirty="0"/>
          </a:p>
        </p:txBody>
      </p:sp>
      <p:sp>
        <p:nvSpPr>
          <p:cNvPr id="55" name="Shape 53"/>
          <p:cNvSpPr/>
          <p:nvPr/>
        </p:nvSpPr>
        <p:spPr>
          <a:xfrm>
            <a:off x="13002768" y="3273552"/>
            <a:ext cx="0" cy="301752"/>
          </a:xfrm>
          <a:prstGeom prst="line">
            <a:avLst/>
          </a:prstGeom>
          <a:noFill/>
          <a:ln w="31750">
            <a:solidFill>
              <a:srgbClr val="2E74C6"/>
            </a:solidFill>
            <a:prstDash val="solid"/>
            <a:tailEnd type="triangle"/>
          </a:ln>
        </p:spPr>
      </p:sp>
      <p:sp>
        <p:nvSpPr>
          <p:cNvPr id="56" name="Shape 54"/>
          <p:cNvSpPr/>
          <p:nvPr/>
        </p:nvSpPr>
        <p:spPr>
          <a:xfrm>
            <a:off x="9857232" y="3602736"/>
            <a:ext cx="2011680" cy="896112"/>
          </a:xfrm>
          <a:prstGeom prst="roundRect">
            <a:avLst>
              <a:gd name="adj" fmla="val 6122"/>
            </a:avLst>
          </a:prstGeom>
          <a:solidFill>
            <a:srgbClr val="F5F8FC"/>
          </a:solidFill>
          <a:ln w="15240">
            <a:solidFill>
              <a:srgbClr val="D9E0EC"/>
            </a:solidFill>
            <a:prstDash val="solid"/>
          </a:ln>
        </p:spPr>
      </p:sp>
      <p:sp>
        <p:nvSpPr>
          <p:cNvPr id="57" name="Text 55"/>
          <p:cNvSpPr/>
          <p:nvPr/>
        </p:nvSpPr>
        <p:spPr>
          <a:xfrm>
            <a:off x="9985248" y="3675888"/>
            <a:ext cx="1755648" cy="329184"/>
          </a:xfrm>
          <a:prstGeom prst="rect">
            <a:avLst/>
          </a:prstGeom>
          <a:noFill/>
          <a:ln/>
        </p:spPr>
        <p:txBody>
          <a:bodyPr wrap="square" lIns="0" tIns="0" rIns="0" bIns="0" rtlCol="0" anchor="ctr"/>
          <a:lstStyle/>
          <a:p>
            <a:pPr indent="0" marL="0">
              <a:buNone/>
            </a:pPr>
            <a:r>
              <a:rPr lang="en-US" sz="1800" b="1" dirty="0">
                <a:solidFill>
                  <a:srgbClr val="7C8598"/>
                </a:solidFill>
                <a:latin typeface="Pretendard" pitchFamily="34" charset="0"/>
                <a:ea typeface="Pretendard" pitchFamily="34" charset="-122"/>
                <a:cs typeface="Pretendard" pitchFamily="34" charset="-120"/>
              </a:rPr>
              <a:t>G1  </a:t>
            </a:r>
            <a:pPr indent="0" marL="0">
              <a:buNone/>
            </a:pPr>
            <a:r>
              <a:rPr lang="en-US" sz="1400" dirty="0">
                <a:solidFill>
                  <a:srgbClr val="7C8598"/>
                </a:solidFill>
                <a:latin typeface="Pretendard" pitchFamily="34" charset="0"/>
                <a:ea typeface="Pretendard" pitchFamily="34" charset="-122"/>
                <a:cs typeface="Pretendard" pitchFamily="34" charset="-120"/>
              </a:rPr>
              <a:t>보관</a:t>
            </a:r>
            <a:endParaRPr lang="en-US" sz="1800" dirty="0"/>
          </a:p>
        </p:txBody>
      </p:sp>
      <p:sp>
        <p:nvSpPr>
          <p:cNvPr id="58" name="Shape 56"/>
          <p:cNvSpPr/>
          <p:nvPr/>
        </p:nvSpPr>
        <p:spPr>
          <a:xfrm>
            <a:off x="9985248" y="4059936"/>
            <a:ext cx="822960" cy="329184"/>
          </a:xfrm>
          <a:prstGeom prst="roundRect">
            <a:avLst>
              <a:gd name="adj" fmla="val 16667"/>
            </a:avLst>
          </a:prstGeom>
          <a:solidFill>
            <a:srgbClr val="FFFFFF"/>
          </a:solidFill>
          <a:ln w="15240">
            <a:solidFill>
              <a:srgbClr val="D9E0EC"/>
            </a:solidFill>
            <a:prstDash val="solid"/>
          </a:ln>
        </p:spPr>
      </p:sp>
      <p:sp>
        <p:nvSpPr>
          <p:cNvPr id="59" name="Text 57"/>
          <p:cNvSpPr/>
          <p:nvPr/>
        </p:nvSpPr>
        <p:spPr>
          <a:xfrm>
            <a:off x="9985248" y="4059936"/>
            <a:ext cx="822960" cy="329184"/>
          </a:xfrm>
          <a:prstGeom prst="rect">
            <a:avLst/>
          </a:prstGeom>
          <a:noFill/>
          <a:ln/>
        </p:spPr>
        <p:txBody>
          <a:bodyPr wrap="square" lIns="0" tIns="0" rIns="0" bIns="0"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벡터</a:t>
            </a:r>
            <a:endParaRPr lang="en-US" sz="1400" dirty="0"/>
          </a:p>
        </p:txBody>
      </p:sp>
      <p:sp>
        <p:nvSpPr>
          <p:cNvPr id="60" name="Shape 58"/>
          <p:cNvSpPr/>
          <p:nvPr/>
        </p:nvSpPr>
        <p:spPr>
          <a:xfrm>
            <a:off x="10881360" y="4059936"/>
            <a:ext cx="822960" cy="329184"/>
          </a:xfrm>
          <a:prstGeom prst="roundRect">
            <a:avLst>
              <a:gd name="adj" fmla="val 16667"/>
            </a:avLst>
          </a:prstGeom>
          <a:solidFill>
            <a:srgbClr val="FFFFFF"/>
          </a:solidFill>
          <a:ln w="15240">
            <a:solidFill>
              <a:srgbClr val="D9E0EC"/>
            </a:solidFill>
            <a:prstDash val="solid"/>
          </a:ln>
        </p:spPr>
      </p:sp>
      <p:sp>
        <p:nvSpPr>
          <p:cNvPr id="61" name="Text 59"/>
          <p:cNvSpPr/>
          <p:nvPr/>
        </p:nvSpPr>
        <p:spPr>
          <a:xfrm>
            <a:off x="10881360" y="4059936"/>
            <a:ext cx="822960" cy="329184"/>
          </a:xfrm>
          <a:prstGeom prst="rect">
            <a:avLst/>
          </a:prstGeom>
          <a:noFill/>
          <a:ln/>
        </p:spPr>
        <p:txBody>
          <a:bodyPr wrap="square" lIns="0" tIns="0" rIns="0" bIns="0"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BM25</a:t>
            </a:r>
            <a:endParaRPr lang="en-US" sz="1400" dirty="0"/>
          </a:p>
        </p:txBody>
      </p:sp>
      <p:sp>
        <p:nvSpPr>
          <p:cNvPr id="62" name="Shape 60"/>
          <p:cNvSpPr/>
          <p:nvPr/>
        </p:nvSpPr>
        <p:spPr>
          <a:xfrm>
            <a:off x="11996928" y="3602736"/>
            <a:ext cx="2011680" cy="896112"/>
          </a:xfrm>
          <a:prstGeom prst="roundRect">
            <a:avLst>
              <a:gd name="adj" fmla="val 6122"/>
            </a:avLst>
          </a:prstGeom>
          <a:solidFill>
            <a:srgbClr val="1E2A5C"/>
          </a:solidFill>
          <a:ln w="15240">
            <a:solidFill>
              <a:srgbClr val="1E2A5C"/>
            </a:solidFill>
            <a:prstDash val="solid"/>
          </a:ln>
        </p:spPr>
      </p:sp>
      <p:sp>
        <p:nvSpPr>
          <p:cNvPr id="63" name="Text 61"/>
          <p:cNvSpPr/>
          <p:nvPr/>
        </p:nvSpPr>
        <p:spPr>
          <a:xfrm>
            <a:off x="12124944" y="3675888"/>
            <a:ext cx="1755648" cy="329184"/>
          </a:xfrm>
          <a:prstGeom prst="rect">
            <a:avLst/>
          </a:prstGeom>
          <a:noFill/>
          <a:ln/>
        </p:spPr>
        <p:txBody>
          <a:bodyPr wrap="square" lIns="0" tIns="0" rIns="0" bIns="0" rtlCol="0" anchor="ctr"/>
          <a:lstStyle/>
          <a:p>
            <a:pPr indent="0" marL="0">
              <a:buNone/>
            </a:pPr>
            <a:r>
              <a:rPr lang="en-US" sz="1800" b="1" dirty="0">
                <a:solidFill>
                  <a:srgbClr val="FFFFFF"/>
                </a:solidFill>
                <a:latin typeface="Pretendard" pitchFamily="34" charset="0"/>
                <a:ea typeface="Pretendard" pitchFamily="34" charset="-122"/>
                <a:cs typeface="Pretendard" pitchFamily="34" charset="-120"/>
              </a:rPr>
              <a:t>G2  </a:t>
            </a:r>
            <a:pPr indent="0" marL="0">
              <a:buNone/>
            </a:pPr>
            <a:r>
              <a:rPr lang="en-US" sz="1400" dirty="0">
                <a:solidFill>
                  <a:srgbClr val="FFFFFF"/>
                </a:solidFill>
                <a:latin typeface="Pretendard" pitchFamily="34" charset="0"/>
                <a:ea typeface="Pretendard" pitchFamily="34" charset="-122"/>
                <a:cs typeface="Pretendard" pitchFamily="34" charset="-120"/>
              </a:rPr>
              <a:t>사용 중</a:t>
            </a:r>
            <a:endParaRPr lang="en-US" sz="1800" dirty="0"/>
          </a:p>
        </p:txBody>
      </p:sp>
      <p:sp>
        <p:nvSpPr>
          <p:cNvPr id="64" name="Shape 62"/>
          <p:cNvSpPr/>
          <p:nvPr/>
        </p:nvSpPr>
        <p:spPr>
          <a:xfrm>
            <a:off x="12124944" y="4059936"/>
            <a:ext cx="822960" cy="329184"/>
          </a:xfrm>
          <a:prstGeom prst="roundRect">
            <a:avLst>
              <a:gd name="adj" fmla="val 16667"/>
            </a:avLst>
          </a:prstGeom>
          <a:solidFill>
            <a:srgbClr val="2E74C6"/>
          </a:solidFill>
          <a:ln w="15240">
            <a:solidFill>
              <a:srgbClr val="1E2A5C"/>
            </a:solidFill>
            <a:prstDash val="solid"/>
          </a:ln>
        </p:spPr>
      </p:sp>
      <p:sp>
        <p:nvSpPr>
          <p:cNvPr id="65" name="Text 63"/>
          <p:cNvSpPr/>
          <p:nvPr/>
        </p:nvSpPr>
        <p:spPr>
          <a:xfrm>
            <a:off x="12124944" y="4059936"/>
            <a:ext cx="822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벡터</a:t>
            </a:r>
            <a:endParaRPr lang="en-US" sz="1400" dirty="0"/>
          </a:p>
        </p:txBody>
      </p:sp>
      <p:sp>
        <p:nvSpPr>
          <p:cNvPr id="66" name="Shape 64"/>
          <p:cNvSpPr/>
          <p:nvPr/>
        </p:nvSpPr>
        <p:spPr>
          <a:xfrm>
            <a:off x="13021056" y="4059936"/>
            <a:ext cx="822960" cy="329184"/>
          </a:xfrm>
          <a:prstGeom prst="roundRect">
            <a:avLst>
              <a:gd name="adj" fmla="val 16667"/>
            </a:avLst>
          </a:prstGeom>
          <a:solidFill>
            <a:srgbClr val="2E74C6"/>
          </a:solidFill>
          <a:ln w="15240">
            <a:solidFill>
              <a:srgbClr val="1E2A5C"/>
            </a:solidFill>
            <a:prstDash val="solid"/>
          </a:ln>
        </p:spPr>
      </p:sp>
      <p:sp>
        <p:nvSpPr>
          <p:cNvPr id="67" name="Text 65"/>
          <p:cNvSpPr/>
          <p:nvPr/>
        </p:nvSpPr>
        <p:spPr>
          <a:xfrm>
            <a:off x="13021056" y="4059936"/>
            <a:ext cx="822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BM25</a:t>
            </a:r>
            <a:endParaRPr lang="en-US" sz="1400" dirty="0"/>
          </a:p>
        </p:txBody>
      </p:sp>
      <p:sp>
        <p:nvSpPr>
          <p:cNvPr id="68" name="Text 66"/>
          <p:cNvSpPr/>
          <p:nvPr/>
        </p:nvSpPr>
        <p:spPr>
          <a:xfrm>
            <a:off x="9884664" y="4572000"/>
            <a:ext cx="4096512" cy="457200"/>
          </a:xfrm>
          <a:prstGeom prst="rect">
            <a:avLst/>
          </a:prstGeom>
          <a:noFill/>
          <a:ln/>
        </p:spPr>
        <p:txBody>
          <a:bodyPr wrap="square" lIns="0" tIns="0" rIns="0" bIns="0" rtlCol="0" anchor="t"/>
          <a:lstStyle/>
          <a:p>
            <a:pPr indent="0" marL="0">
              <a:buNone/>
            </a:pPr>
            <a:r>
              <a:rPr lang="en-US" sz="1400" dirty="0">
                <a:solidFill>
                  <a:srgbClr val="3B4557"/>
                </a:solidFill>
                <a:latin typeface="Pretendard" pitchFamily="34" charset="0"/>
                <a:ea typeface="Pretendard" pitchFamily="34" charset="-122"/>
                <a:cs typeface="Pretendard" pitchFamily="34" charset="-120"/>
              </a:rPr>
              <a:t>잠금 → 기준 세대(G1) 그대로인지 확인 → ready 기록</a:t>
            </a:r>
            <a:endParaRPr lang="en-US" sz="1400" dirty="0"/>
          </a:p>
          <a:p>
            <a:pPr indent="0" marL="0">
              <a:buNone/>
            </a:pPr>
            <a:r>
              <a:rPr lang="en-US" sz="1400" dirty="0">
                <a:solidFill>
                  <a:srgbClr val="3B4557"/>
                </a:solidFill>
                <a:latin typeface="Pretendard" pitchFamily="34" charset="0"/>
                <a:ea typeface="Pretendard" pitchFamily="34" charset="-122"/>
                <a:cs typeface="Pretendard" pitchFamily="34" charset="-120"/>
              </a:rPr>
              <a:t>포인터 파일 1개만 교체 · G1은 지우지 않음</a:t>
            </a:r>
            <a:endParaRPr lang="en-US" sz="1400" dirty="0"/>
          </a:p>
        </p:txBody>
      </p:sp>
      <p:sp>
        <p:nvSpPr>
          <p:cNvPr id="69" name="Text 67"/>
          <p:cNvSpPr/>
          <p:nvPr/>
        </p:nvSpPr>
        <p:spPr>
          <a:xfrm>
            <a:off x="502920" y="5138928"/>
            <a:ext cx="13624560" cy="292608"/>
          </a:xfrm>
          <a:prstGeom prst="rect">
            <a:avLst/>
          </a:prstGeom>
          <a:noFill/>
          <a:ln/>
        </p:spPr>
        <p:txBody>
          <a:bodyPr wrap="square" lIns="0" tIns="0" rIns="0" bIns="0" rtlCol="0" anchor="ctr"/>
          <a:lstStyle/>
          <a:p>
            <a:pPr indent="0" marL="0">
              <a:buNone/>
            </a:pPr>
            <a:r>
              <a:rPr lang="en-US" sz="1500" b="1" dirty="0">
                <a:solidFill>
                  <a:srgbClr val="1E2A5C"/>
                </a:solidFill>
                <a:latin typeface="Pretendard" pitchFamily="34" charset="0"/>
                <a:ea typeface="Pretendard" pitchFamily="34" charset="-122"/>
                <a:cs typeface="Pretendard" pitchFamily="34" charset="-120"/>
              </a:rPr>
              <a:t>주의  </a:t>
            </a:r>
            <a:pPr indent="0" marL="0">
              <a:buNone/>
            </a:pPr>
            <a:r>
              <a:rPr lang="en-US" sz="1500" dirty="0">
                <a:solidFill>
                  <a:srgbClr val="4A5364"/>
                </a:solidFill>
                <a:latin typeface="Pretendard" pitchFamily="34" charset="0"/>
                <a:ea typeface="Pretendard" pitchFamily="34" charset="-122"/>
                <a:cs typeface="Pretendard" pitchFamily="34" charset="-120"/>
              </a:rPr>
              <a:t>현재 검색기(Retriever)는 이 포인터를 직접 읽지 않고, 설정한 경로(CHROMA_PATH·SEARCH_INDEX_ROOT)를 씁니다.</a:t>
            </a:r>
            <a:endParaRPr lang="en-US" sz="1500" dirty="0"/>
          </a:p>
        </p:txBody>
      </p:sp>
      <p:sp>
        <p:nvSpPr>
          <p:cNvPr id="70" name="Text 68"/>
          <p:cNvSpPr/>
          <p:nvPr/>
        </p:nvSpPr>
        <p:spPr>
          <a:xfrm>
            <a:off x="502920" y="5532120"/>
            <a:ext cx="3657600" cy="329184"/>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실제 세대 폴더</a:t>
            </a:r>
            <a:endParaRPr lang="en-US" sz="2000" dirty="0"/>
          </a:p>
        </p:txBody>
      </p:sp>
      <p:sp>
        <p:nvSpPr>
          <p:cNvPr id="71" name="Text 69"/>
          <p:cNvSpPr/>
          <p:nvPr/>
        </p:nvSpPr>
        <p:spPr>
          <a:xfrm>
            <a:off x="3657600" y="5550408"/>
            <a:ext cx="3794760" cy="292608"/>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data/generations · 2026-10-01 확인</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5925312"/>
          <a:ext cx="6949440" cy="914400"/>
        </p:xfrm>
        <a:graphic>
          <a:graphicData uri="http://schemas.openxmlformats.org/drawingml/2006/table">
            <a:tbl>
              <a:tblPr/>
              <a:tblGrid>
                <a:gridCol w="2148840"/>
                <a:gridCol w="1143000"/>
                <a:gridCol w="3657600"/>
              </a:tblGrid>
              <a:tr h="301752">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세대 폴더</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상태</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의미</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301752">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group2-build-001</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building</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미완성 · 게시 안 됨 · 남아 있음</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01752">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group2-build-002</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ready</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이전 세대 · 남아 있음</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301752">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group2-final-003</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ready</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직전 사용 세대 · 남아 있음</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01752">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20260930T132618Z</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building</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미완성 · 게시 안 됨 · 남아 있음</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301752">
                <a:tc>
                  <a:txBody>
                    <a:bodyPr/>
                    <a:lstStyle/>
                    <a:p>
                      <a:pPr indent="0" marL="0">
                        <a:buNone/>
                      </a:pPr>
                      <a:r>
                        <a:rPr lang="en-US" sz="1400" b="1" dirty="0">
                          <a:solidFill>
                            <a:srgbClr val="2E74C6"/>
                          </a:solidFill>
                          <a:latin typeface="Pretendard" pitchFamily="34" charset="0"/>
                          <a:ea typeface="Pretendard" pitchFamily="34" charset="-122"/>
                          <a:cs typeface="Pretendard" pitchFamily="34" charset="-120"/>
                        </a:rPr>
                        <a:t>20260930T135203Z</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EF3FA"/>
                    </a:solidFill>
                  </a:tcPr>
                </a:tc>
                <a:tc>
                  <a:txBody>
                    <a:bodyPr/>
                    <a:lstStyle/>
                    <a:p>
                      <a:pPr indent="0" marL="0">
                        <a:buNone/>
                      </a:pPr>
                      <a:r>
                        <a:rPr lang="en-US" sz="1400" b="1" dirty="0">
                          <a:solidFill>
                            <a:srgbClr val="2E74C6"/>
                          </a:solidFill>
                          <a:latin typeface="Pretendard" pitchFamily="34" charset="0"/>
                          <a:ea typeface="Pretendard" pitchFamily="34" charset="-122"/>
                          <a:cs typeface="Pretendard" pitchFamily="34" charset="-120"/>
                        </a:rPr>
                        <a:t>ready</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EF3FA"/>
                    </a:solidFill>
                  </a:tcPr>
                </a:tc>
                <a:tc>
                  <a:txBody>
                    <a:bodyPr/>
                    <a:lstStyle/>
                    <a:p>
                      <a:pPr indent="0" marL="0">
                        <a:buNone/>
                      </a:pPr>
                      <a:r>
                        <a:rPr lang="en-US" sz="1400" b="1" dirty="0">
                          <a:solidFill>
                            <a:srgbClr val="2E74C6"/>
                          </a:solidFill>
                          <a:latin typeface="Pretendard" pitchFamily="34" charset="0"/>
                          <a:ea typeface="Pretendard" pitchFamily="34" charset="-122"/>
                          <a:cs typeface="Pretendard" pitchFamily="34" charset="-120"/>
                        </a:rPr>
                        <a:t>지금 게시 포인터가 가리킴</a:t>
                      </a:r>
                      <a:endParaRPr lang="en-US" sz="14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EF3FA"/>
                    </a:solidFill>
                  </a:tcPr>
                </a:tc>
              </a:tr>
            </a:tbl>
          </a:graphicData>
        </a:graphic>
      </p:graphicFrame>
      <p:sp>
        <p:nvSpPr>
          <p:cNvPr id="73" name="Text 70"/>
          <p:cNvSpPr/>
          <p:nvPr/>
        </p:nvSpPr>
        <p:spPr>
          <a:xfrm>
            <a:off x="7726680" y="5532120"/>
            <a:ext cx="3657600" cy="329184"/>
          </a:xfrm>
          <a:prstGeom prst="rect">
            <a:avLst/>
          </a:prstGeom>
          <a:noFill/>
          <a:ln/>
        </p:spPr>
        <p:txBody>
          <a:bodyPr wrap="square" lIns="0" tIns="0" rIns="0" bIns="0" rtlCol="0" anchor="ctr"/>
          <a:lstStyle/>
          <a:p>
            <a:pPr indent="0" marL="0">
              <a:buNone/>
            </a:pPr>
            <a:r>
              <a:rPr lang="en-US" sz="2000" b="1" dirty="0">
                <a:solidFill>
                  <a:srgbClr val="1E2A5C"/>
                </a:solidFill>
                <a:latin typeface="Pretendard" pitchFamily="34" charset="0"/>
                <a:ea typeface="Pretendard" pitchFamily="34" charset="-122"/>
                <a:cs typeface="Pretendard" pitchFamily="34" charset="-120"/>
              </a:rPr>
              <a:t>사람이 정해야 할 것</a:t>
            </a:r>
            <a:endParaRPr lang="en-US" sz="2000" dirty="0"/>
          </a:p>
        </p:txBody>
      </p:sp>
      <p:sp>
        <p:nvSpPr>
          <p:cNvPr id="74" name="Text 71"/>
          <p:cNvSpPr/>
          <p:nvPr/>
        </p:nvSpPr>
        <p:spPr>
          <a:xfrm>
            <a:off x="10881360" y="5550408"/>
            <a:ext cx="3246120" cy="292608"/>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잠금·검증·교체는 코드가 처리</a:t>
            </a:r>
            <a:endParaRPr lang="en-US" sz="14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7726680" y="5925312"/>
          <a:ext cx="6400800" cy="914400"/>
        </p:xfrm>
        <a:graphic>
          <a:graphicData uri="http://schemas.openxmlformats.org/drawingml/2006/table">
            <a:tbl>
              <a:tblPr/>
              <a:tblGrid>
                <a:gridCol w="1600200"/>
                <a:gridCol w="4800600"/>
              </a:tblGrid>
              <a:tr h="36210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정할 것</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사람이 답할 질문</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36210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게시 합격선</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검색 품질이 몇 점 이상이면 게시할까?</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6210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게시 승인</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자동 게시할까, 담당자 확인 후 게시할까?</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36210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되돌리기</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문제가 생기면 누가, 어떤 신호로 이전 세대로?</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36210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보관 기간</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이전·미완성 세대를 몇 개, 며칠 남길까?</a:t>
                      </a:r>
                      <a:endParaRPr lang="en-US" sz="1500" dirty="0">
                        <a:latin typeface="Pretendard" charset="0"/>
                        <a:ea typeface="Pretendard" charset="0"/>
                        <a:cs typeface="Pretendard" charset="0"/>
                      </a:endParaRPr>
                    </a:p>
                  </a:txBody>
                  <a:tcPr marL="91440" marR="91440" marT="18288" marB="1828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bl>
          </a:graphicData>
        </a:graphic>
      </p:graphicFrame>
      <p:sp>
        <p:nvSpPr>
          <p:cNvPr id="76" name="Shape 72"/>
          <p:cNvSpPr/>
          <p:nvPr/>
        </p:nvSpPr>
        <p:spPr>
          <a:xfrm>
            <a:off x="502920" y="7854696"/>
            <a:ext cx="13624560" cy="0"/>
          </a:xfrm>
          <a:prstGeom prst="line">
            <a:avLst/>
          </a:prstGeom>
          <a:noFill/>
          <a:ln w="8890">
            <a:solidFill>
              <a:srgbClr val="E9ECF3"/>
            </a:solidFill>
            <a:prstDash val="solid"/>
          </a:ln>
        </p:spPr>
      </p:sp>
      <p:sp>
        <p:nvSpPr>
          <p:cNvPr id="77" name="Text 73"/>
          <p:cNvSpPr/>
          <p:nvPr/>
        </p:nvSpPr>
        <p:spPr>
          <a:xfrm>
            <a:off x="502920" y="7936992"/>
            <a:ext cx="11247120" cy="18288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코드 근거: index_repository.py · begin() / publish() · indexing_service.py · retriever settings.py</a:t>
            </a:r>
            <a:endParaRPr lang="en-US" sz="1400" dirty="0"/>
          </a:p>
        </p:txBody>
      </p:sp>
      <p:sp>
        <p:nvSpPr>
          <p:cNvPr id="78" name="Text 74"/>
          <p:cNvSpPr/>
          <p:nvPr/>
        </p:nvSpPr>
        <p:spPr>
          <a:xfrm>
            <a:off x="11887200" y="7936992"/>
            <a:ext cx="22402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게시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게시의 원리: 완성된 세대로 한 번에 전환</dc:title>
  <dc:subject>PptxGenJS Presentation</dc:subject>
  <dc:creator>design-agentic-ai</dc:creator>
  <cp:lastModifiedBy>design-agentic-ai</cp:lastModifiedBy>
  <cp:revision>1</cp:revision>
  <dcterms:created xsi:type="dcterms:W3CDTF">2026-10-01T14:55:37Z</dcterms:created>
  <dcterms:modified xsi:type="dcterms:W3CDTF">2026-10-01T14:55:37Z</dcterms:modified>
</cp:coreProperties>
</file>