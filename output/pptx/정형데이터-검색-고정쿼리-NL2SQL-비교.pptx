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notesMasterIdLst>
    <p:notesMasterId r:id="rId3"/>
  </p:notesMasterIdLst>
  <p:sldSz cx="14630400" cy="8229600"/>
  <p:notesSz cx="8229600" cy="146304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notesMaster" Target="notesMasters/notes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02920" y="274320"/>
            <a:ext cx="1097280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정형데이터 검색</a:t>
            </a:r>
            <a:endParaRPr lang="en-US" sz="1500" dirty="0"/>
          </a:p>
        </p:txBody>
      </p:sp>
      <p:sp>
        <p:nvSpPr>
          <p:cNvPr id="3" name="Text 1"/>
          <p:cNvSpPr/>
          <p:nvPr/>
        </p:nvSpPr>
        <p:spPr>
          <a:xfrm>
            <a:off x="502920" y="603504"/>
            <a:ext cx="1362456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4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고정 쿼리 방식과 NL2SQL 방식</a:t>
            </a:r>
            <a:endParaRPr lang="en-US" sz="4400" dirty="0"/>
          </a:p>
        </p:txBody>
      </p:sp>
      <p:sp>
        <p:nvSpPr>
          <p:cNvPr id="4" name="Shape 2"/>
          <p:cNvSpPr/>
          <p:nvPr/>
        </p:nvSpPr>
        <p:spPr>
          <a:xfrm>
            <a:off x="502920" y="1307592"/>
            <a:ext cx="13624560" cy="36576"/>
          </a:xfrm>
          <a:prstGeom prst="rect">
            <a:avLst/>
          </a:prstGeom>
          <a:solidFill>
            <a:srgbClr val="D9E0EC"/>
          </a:solidFill>
          <a:ln w="12700">
            <a:solidFill>
              <a:srgbClr val="D9E0EC">
                <a:alpha val="0"/>
              </a:srgbClr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02920" y="1307592"/>
            <a:ext cx="1920240" cy="36576"/>
          </a:xfrm>
          <a:prstGeom prst="rect">
            <a:avLst/>
          </a:prstGeom>
          <a:solidFill>
            <a:srgbClr val="2E74C6"/>
          </a:solidFill>
          <a:ln w="12700">
            <a:solidFill>
              <a:srgbClr val="2E74C6">
                <a:alpha val="0"/>
              </a:srgbClr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502920" y="1572768"/>
            <a:ext cx="136245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4A5364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공통 조회 목적   지난달 지역별 매출은?</a:t>
            </a:r>
            <a:endParaRPr lang="en-US" sz="2100" dirty="0"/>
          </a:p>
        </p:txBody>
      </p:sp>
      <p:sp>
        <p:nvSpPr>
          <p:cNvPr id="7" name="Shape 5"/>
          <p:cNvSpPr/>
          <p:nvPr/>
        </p:nvSpPr>
        <p:spPr>
          <a:xfrm>
            <a:off x="502920" y="2148840"/>
            <a:ext cx="13624560" cy="1965960"/>
          </a:xfrm>
          <a:prstGeom prst="rect">
            <a:avLst/>
          </a:prstGeom>
          <a:solidFill>
            <a:srgbClr val="EEF3FA"/>
          </a:solidFill>
          <a:ln w="10160">
            <a:solidFill>
              <a:srgbClr val="D9E0EC"/>
            </a:solidFill>
            <a:prstDash val="solid"/>
          </a:ln>
        </p:spPr>
      </p:sp>
      <p:sp>
        <p:nvSpPr>
          <p:cNvPr id="8" name="Shape 6"/>
          <p:cNvSpPr/>
          <p:nvPr/>
        </p:nvSpPr>
        <p:spPr>
          <a:xfrm>
            <a:off x="502920" y="2148840"/>
            <a:ext cx="2258568" cy="1965960"/>
          </a:xfrm>
          <a:prstGeom prst="rect">
            <a:avLst/>
          </a:prstGeom>
          <a:solidFill>
            <a:srgbClr val="1E2A5C"/>
          </a:solidFill>
          <a:ln w="12700">
            <a:solidFill>
              <a:srgbClr val="1E2A5C">
                <a:alpha val="0"/>
              </a:srgbClr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749808" y="2587752"/>
            <a:ext cx="17647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고정 쿼리</a:t>
            </a:r>
            <a:endParaRPr lang="en-US" sz="2500" dirty="0"/>
          </a:p>
        </p:txBody>
      </p:sp>
      <p:sp>
        <p:nvSpPr>
          <p:cNvPr id="10" name="Text 8"/>
          <p:cNvSpPr/>
          <p:nvPr/>
        </p:nvSpPr>
        <p:spPr>
          <a:xfrm>
            <a:off x="749808" y="3118104"/>
            <a:ext cx="1764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질문의 틀을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미리 준비</a:t>
            </a:r>
            <a:endParaRPr lang="en-US" sz="1700" dirty="0"/>
          </a:p>
        </p:txBody>
      </p:sp>
      <p:sp>
        <p:nvSpPr>
          <p:cNvPr id="11" name="Shape 9"/>
          <p:cNvSpPr/>
          <p:nvPr/>
        </p:nvSpPr>
        <p:spPr>
          <a:xfrm>
            <a:off x="3081528" y="2441448"/>
            <a:ext cx="329184" cy="329184"/>
          </a:xfrm>
          <a:prstGeom prst="ellipse">
            <a:avLst/>
          </a:prstGeom>
          <a:solidFill>
            <a:srgbClr val="1E2A5C"/>
          </a:solidFill>
          <a:ln w="12700">
            <a:solidFill>
              <a:srgbClr val="1E2A5C">
                <a:alpha val="0"/>
              </a:srgbClr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3081528" y="24414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13" name="Text 11"/>
          <p:cNvSpPr/>
          <p:nvPr/>
        </p:nvSpPr>
        <p:spPr>
          <a:xfrm>
            <a:off x="3529584" y="2423160"/>
            <a:ext cx="2340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조건 선택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3081528" y="2926080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기간: 지난달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집계: 지역별</a:t>
            </a:r>
            <a:endParaRPr lang="en-US" sz="1900" dirty="0"/>
          </a:p>
        </p:txBody>
      </p:sp>
      <p:sp>
        <p:nvSpPr>
          <p:cNvPr id="15" name="Shape 13"/>
          <p:cNvSpPr/>
          <p:nvPr/>
        </p:nvSpPr>
        <p:spPr>
          <a:xfrm>
            <a:off x="5989320" y="3145536"/>
            <a:ext cx="420624" cy="0"/>
          </a:xfrm>
          <a:prstGeom prst="line">
            <a:avLst/>
          </a:prstGeom>
          <a:noFill/>
          <a:ln w="21590">
            <a:solidFill>
              <a:srgbClr val="1E2A5C"/>
            </a:solidFill>
            <a:prstDash val="solid"/>
            <a:headEnd type="none"/>
            <a:tailEnd type="triangle"/>
          </a:ln>
        </p:spPr>
      </p:sp>
      <p:sp>
        <p:nvSpPr>
          <p:cNvPr id="16" name="Shape 14"/>
          <p:cNvSpPr/>
          <p:nvPr/>
        </p:nvSpPr>
        <p:spPr>
          <a:xfrm>
            <a:off x="6528816" y="2441448"/>
            <a:ext cx="329184" cy="329184"/>
          </a:xfrm>
          <a:prstGeom prst="ellipse">
            <a:avLst/>
          </a:prstGeom>
          <a:solidFill>
            <a:srgbClr val="1E2A5C"/>
          </a:solidFill>
          <a:ln w="12700">
            <a:solidFill>
              <a:srgbClr val="1E2A5C">
                <a:alpha val="0"/>
              </a:srgbClr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6528816" y="24414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18" name="Text 16"/>
          <p:cNvSpPr/>
          <p:nvPr/>
        </p:nvSpPr>
        <p:spPr>
          <a:xfrm>
            <a:off x="6976872" y="2423160"/>
            <a:ext cx="2441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미리 만든 SQL</a:t>
            </a:r>
            <a:endParaRPr lang="en-US" sz="2000" dirty="0"/>
          </a:p>
        </p:txBody>
      </p:sp>
      <p:sp>
        <p:nvSpPr>
          <p:cNvPr id="19" name="Text 17"/>
          <p:cNvSpPr/>
          <p:nvPr/>
        </p:nvSpPr>
        <p:spPr>
          <a:xfrm>
            <a:off x="6528816" y="2926080"/>
            <a:ext cx="2889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선택한 조건값을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조회문에 반영</a:t>
            </a:r>
            <a:endParaRPr lang="en-US" sz="1900" dirty="0"/>
          </a:p>
        </p:txBody>
      </p:sp>
      <p:sp>
        <p:nvSpPr>
          <p:cNvPr id="20" name="Text 18"/>
          <p:cNvSpPr/>
          <p:nvPr/>
        </p:nvSpPr>
        <p:spPr>
          <a:xfrm>
            <a:off x="6528816" y="3648456"/>
            <a:ext cx="28895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SQL의 틀은 유지</a:t>
            </a:r>
            <a:endParaRPr lang="en-US" sz="1500" dirty="0"/>
          </a:p>
        </p:txBody>
      </p:sp>
      <p:sp>
        <p:nvSpPr>
          <p:cNvPr id="21" name="Shape 19"/>
          <p:cNvSpPr/>
          <p:nvPr/>
        </p:nvSpPr>
        <p:spPr>
          <a:xfrm>
            <a:off x="9528048" y="3145536"/>
            <a:ext cx="420624" cy="0"/>
          </a:xfrm>
          <a:prstGeom prst="line">
            <a:avLst/>
          </a:prstGeom>
          <a:noFill/>
          <a:ln w="21590">
            <a:solidFill>
              <a:srgbClr val="1E2A5C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10085832" y="2441448"/>
            <a:ext cx="329184" cy="329184"/>
          </a:xfrm>
          <a:prstGeom prst="ellipse">
            <a:avLst/>
          </a:prstGeom>
          <a:solidFill>
            <a:srgbClr val="1E2A5C"/>
          </a:solidFill>
          <a:ln w="12700">
            <a:solidFill>
              <a:srgbClr val="1E2A5C">
                <a:alpha val="0"/>
              </a:srgbClr>
            </a:solidFill>
            <a:prstDash val="solid"/>
          </a:ln>
        </p:spPr>
      </p:sp>
      <p:sp>
        <p:nvSpPr>
          <p:cNvPr id="23" name="Text 21"/>
          <p:cNvSpPr/>
          <p:nvPr/>
        </p:nvSpPr>
        <p:spPr>
          <a:xfrm>
            <a:off x="10085832" y="2441448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24" name="Text 22"/>
          <p:cNvSpPr/>
          <p:nvPr/>
        </p:nvSpPr>
        <p:spPr>
          <a:xfrm>
            <a:off x="10533888" y="2423160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DB 조회</a:t>
            </a:r>
            <a:endParaRPr lang="en-US" sz="2000" dirty="0"/>
          </a:p>
        </p:txBody>
      </p:sp>
      <p:sp>
        <p:nvSpPr>
          <p:cNvPr id="25" name="Text 23"/>
          <p:cNvSpPr/>
          <p:nvPr/>
        </p:nvSpPr>
        <p:spPr>
          <a:xfrm>
            <a:off x="10085832" y="2926080"/>
            <a:ext cx="3557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SQL을 실행하고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결과를 표시</a:t>
            </a:r>
            <a:endParaRPr lang="en-US" sz="1900" dirty="0"/>
          </a:p>
        </p:txBody>
      </p:sp>
      <p:sp>
        <p:nvSpPr>
          <p:cNvPr id="26" name="Text 24"/>
          <p:cNvSpPr/>
          <p:nvPr/>
        </p:nvSpPr>
        <p:spPr>
          <a:xfrm>
            <a:off x="10085832" y="3648456"/>
            <a:ext cx="35570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새 질문 유형은 쿼리 추가</a:t>
            </a:r>
            <a:endParaRPr lang="en-US" sz="1500" dirty="0"/>
          </a:p>
        </p:txBody>
      </p:sp>
      <p:sp>
        <p:nvSpPr>
          <p:cNvPr id="27" name="Shape 25"/>
          <p:cNvSpPr/>
          <p:nvPr/>
        </p:nvSpPr>
        <p:spPr>
          <a:xfrm>
            <a:off x="502920" y="4416552"/>
            <a:ext cx="13624560" cy="1965960"/>
          </a:xfrm>
          <a:prstGeom prst="rect">
            <a:avLst/>
          </a:prstGeom>
          <a:solidFill>
            <a:srgbClr val="F5F8FC"/>
          </a:solidFill>
          <a:ln w="10160">
            <a:solidFill>
              <a:srgbClr val="D9E0EC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502920" y="4416552"/>
            <a:ext cx="2258568" cy="1965960"/>
          </a:xfrm>
          <a:prstGeom prst="rect">
            <a:avLst/>
          </a:prstGeom>
          <a:solidFill>
            <a:srgbClr val="2E74C6"/>
          </a:solidFill>
          <a:ln w="12700">
            <a:solidFill>
              <a:srgbClr val="2E74C6">
                <a:alpha val="0"/>
              </a:srgbClr>
            </a:solidFill>
            <a:prstDash val="solid"/>
          </a:ln>
        </p:spPr>
      </p:sp>
      <p:sp>
        <p:nvSpPr>
          <p:cNvPr id="29" name="Text 27"/>
          <p:cNvSpPr/>
          <p:nvPr/>
        </p:nvSpPr>
        <p:spPr>
          <a:xfrm>
            <a:off x="749808" y="4855464"/>
            <a:ext cx="176479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NL2SQL</a:t>
            </a:r>
            <a:endParaRPr lang="en-US" sz="2500" dirty="0"/>
          </a:p>
        </p:txBody>
      </p:sp>
      <p:sp>
        <p:nvSpPr>
          <p:cNvPr id="30" name="Text 28"/>
          <p:cNvSpPr/>
          <p:nvPr/>
        </p:nvSpPr>
        <p:spPr>
          <a:xfrm>
            <a:off x="749808" y="5385816"/>
            <a:ext cx="1764792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질문에 맞춰</a:t>
            </a:r>
            <a:endParaRPr lang="en-US" sz="1700" dirty="0"/>
          </a:p>
          <a:p>
            <a:pPr indent="0" marL="0">
              <a:buNone/>
            </a:pPr>
            <a:r>
              <a:rPr lang="en-US" sz="1700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SQL을 생성</a:t>
            </a:r>
            <a:endParaRPr lang="en-US" sz="1700" dirty="0"/>
          </a:p>
        </p:txBody>
      </p:sp>
      <p:sp>
        <p:nvSpPr>
          <p:cNvPr id="31" name="Shape 29"/>
          <p:cNvSpPr/>
          <p:nvPr/>
        </p:nvSpPr>
        <p:spPr>
          <a:xfrm>
            <a:off x="3081528" y="4709160"/>
            <a:ext cx="329184" cy="329184"/>
          </a:xfrm>
          <a:prstGeom prst="ellipse">
            <a:avLst/>
          </a:prstGeom>
          <a:solidFill>
            <a:srgbClr val="2E74C6"/>
          </a:solidFill>
          <a:ln w="12700">
            <a:solidFill>
              <a:srgbClr val="2E74C6">
                <a:alpha val="0"/>
              </a:srgbClr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3081528" y="4709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500" dirty="0"/>
          </a:p>
        </p:txBody>
      </p:sp>
      <p:sp>
        <p:nvSpPr>
          <p:cNvPr id="33" name="Text 31"/>
          <p:cNvSpPr/>
          <p:nvPr/>
        </p:nvSpPr>
        <p:spPr>
          <a:xfrm>
            <a:off x="3529584" y="4690872"/>
            <a:ext cx="2340864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자연어 질문</a:t>
            </a:r>
            <a:endParaRPr lang="en-US" sz="2000" dirty="0"/>
          </a:p>
        </p:txBody>
      </p:sp>
      <p:sp>
        <p:nvSpPr>
          <p:cNvPr id="34" name="Text 32"/>
          <p:cNvSpPr/>
          <p:nvPr/>
        </p:nvSpPr>
        <p:spPr>
          <a:xfrm>
            <a:off x="3081528" y="5193792"/>
            <a:ext cx="278892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“지난달 지역별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매출은?”</a:t>
            </a:r>
            <a:endParaRPr lang="en-US" sz="1900" dirty="0"/>
          </a:p>
        </p:txBody>
      </p:sp>
      <p:sp>
        <p:nvSpPr>
          <p:cNvPr id="35" name="Shape 33"/>
          <p:cNvSpPr/>
          <p:nvPr/>
        </p:nvSpPr>
        <p:spPr>
          <a:xfrm>
            <a:off x="5989320" y="5413248"/>
            <a:ext cx="420624" cy="0"/>
          </a:xfrm>
          <a:prstGeom prst="line">
            <a:avLst/>
          </a:prstGeom>
          <a:noFill/>
          <a:ln w="21590">
            <a:solidFill>
              <a:srgbClr val="2E74C6"/>
            </a:solidFill>
            <a:prstDash val="solid"/>
            <a:headEnd type="none"/>
            <a:tailEnd type="triangle"/>
          </a:ln>
        </p:spPr>
      </p:sp>
      <p:sp>
        <p:nvSpPr>
          <p:cNvPr id="36" name="Shape 34"/>
          <p:cNvSpPr/>
          <p:nvPr/>
        </p:nvSpPr>
        <p:spPr>
          <a:xfrm>
            <a:off x="6528816" y="4709160"/>
            <a:ext cx="329184" cy="329184"/>
          </a:xfrm>
          <a:prstGeom prst="ellipse">
            <a:avLst/>
          </a:prstGeom>
          <a:solidFill>
            <a:srgbClr val="2E74C6"/>
          </a:solidFill>
          <a:ln w="12700">
            <a:solidFill>
              <a:srgbClr val="2E74C6">
                <a:alpha val="0"/>
              </a:srgbClr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6528816" y="4709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2</a:t>
            </a:r>
            <a:endParaRPr lang="en-US" sz="1500" dirty="0"/>
          </a:p>
        </p:txBody>
      </p:sp>
      <p:sp>
        <p:nvSpPr>
          <p:cNvPr id="38" name="Text 36"/>
          <p:cNvSpPr/>
          <p:nvPr/>
        </p:nvSpPr>
        <p:spPr>
          <a:xfrm>
            <a:off x="6976872" y="4690872"/>
            <a:ext cx="244144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SQL 생성</a:t>
            </a:r>
            <a:endParaRPr lang="en-US" sz="2000" dirty="0"/>
          </a:p>
        </p:txBody>
      </p:sp>
      <p:sp>
        <p:nvSpPr>
          <p:cNvPr id="39" name="Text 37"/>
          <p:cNvSpPr/>
          <p:nvPr/>
        </p:nvSpPr>
        <p:spPr>
          <a:xfrm>
            <a:off x="6528816" y="5193792"/>
            <a:ext cx="2889504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질문과 DB 구조를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함께 참고</a:t>
            </a:r>
            <a:endParaRPr lang="en-US" sz="1900" dirty="0"/>
          </a:p>
        </p:txBody>
      </p:sp>
      <p:sp>
        <p:nvSpPr>
          <p:cNvPr id="40" name="Text 38"/>
          <p:cNvSpPr/>
          <p:nvPr/>
        </p:nvSpPr>
        <p:spPr>
          <a:xfrm>
            <a:off x="6528816" y="5916168"/>
            <a:ext cx="2889504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질문마다 SQL 구조 결정</a:t>
            </a:r>
            <a:endParaRPr lang="en-US" sz="1500" dirty="0"/>
          </a:p>
        </p:txBody>
      </p:sp>
      <p:sp>
        <p:nvSpPr>
          <p:cNvPr id="41" name="Shape 39"/>
          <p:cNvSpPr/>
          <p:nvPr/>
        </p:nvSpPr>
        <p:spPr>
          <a:xfrm>
            <a:off x="9528048" y="5413248"/>
            <a:ext cx="420624" cy="0"/>
          </a:xfrm>
          <a:prstGeom prst="line">
            <a:avLst/>
          </a:prstGeom>
          <a:noFill/>
          <a:ln w="21590">
            <a:solidFill>
              <a:srgbClr val="2E74C6"/>
            </a:solidFill>
            <a:prstDash val="solid"/>
            <a:headEnd type="none"/>
            <a:tailEnd type="triangle"/>
          </a:ln>
        </p:spPr>
      </p:sp>
      <p:sp>
        <p:nvSpPr>
          <p:cNvPr id="42" name="Shape 40"/>
          <p:cNvSpPr/>
          <p:nvPr/>
        </p:nvSpPr>
        <p:spPr>
          <a:xfrm>
            <a:off x="10085832" y="4709160"/>
            <a:ext cx="329184" cy="329184"/>
          </a:xfrm>
          <a:prstGeom prst="ellipse">
            <a:avLst/>
          </a:prstGeom>
          <a:solidFill>
            <a:srgbClr val="2E74C6"/>
          </a:solidFill>
          <a:ln w="12700">
            <a:solidFill>
              <a:srgbClr val="2E74C6">
                <a:alpha val="0"/>
              </a:srgbClr>
            </a:solidFill>
            <a:prstDash val="solid"/>
          </a:ln>
        </p:spPr>
      </p:sp>
      <p:sp>
        <p:nvSpPr>
          <p:cNvPr id="43" name="Text 41"/>
          <p:cNvSpPr/>
          <p:nvPr/>
        </p:nvSpPr>
        <p:spPr>
          <a:xfrm>
            <a:off x="10085832" y="4709160"/>
            <a:ext cx="329184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b="1" dirty="0">
                <a:solidFill>
                  <a:srgbClr val="FFFFFF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3</a:t>
            </a:r>
            <a:endParaRPr lang="en-US" sz="1500" dirty="0"/>
          </a:p>
        </p:txBody>
      </p:sp>
      <p:sp>
        <p:nvSpPr>
          <p:cNvPr id="44" name="Text 42"/>
          <p:cNvSpPr/>
          <p:nvPr/>
        </p:nvSpPr>
        <p:spPr>
          <a:xfrm>
            <a:off x="10533888" y="4690872"/>
            <a:ext cx="31089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2E74C6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검증 후 DB 조회</a:t>
            </a:r>
            <a:endParaRPr lang="en-US" sz="2000" dirty="0"/>
          </a:p>
        </p:txBody>
      </p:sp>
      <p:sp>
        <p:nvSpPr>
          <p:cNvPr id="45" name="Text 43"/>
          <p:cNvSpPr/>
          <p:nvPr/>
        </p:nvSpPr>
        <p:spPr>
          <a:xfrm>
            <a:off x="10085832" y="5193792"/>
            <a:ext cx="355701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9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권한·문법 확인 후</a:t>
            </a:r>
            <a:endParaRPr lang="en-US" sz="1900" dirty="0"/>
          </a:p>
          <a:p>
            <a:pPr indent="0" marL="0">
              <a:buNone/>
            </a:pPr>
            <a:r>
              <a:rPr lang="en-US" sz="19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읽기 전용으로 실행</a:t>
            </a:r>
            <a:endParaRPr lang="en-US" sz="1900" dirty="0"/>
          </a:p>
        </p:txBody>
      </p:sp>
      <p:sp>
        <p:nvSpPr>
          <p:cNvPr id="46" name="Text 44"/>
          <p:cNvSpPr/>
          <p:nvPr/>
        </p:nvSpPr>
        <p:spPr>
          <a:xfrm>
            <a:off x="10085832" y="5916168"/>
            <a:ext cx="3557016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조회 범위도 제한</a:t>
            </a:r>
            <a:endParaRPr lang="en-US" sz="1500" dirty="0"/>
          </a:p>
        </p:txBody>
      </p:sp>
      <p:sp>
        <p:nvSpPr>
          <p:cNvPr id="47" name="Shape 45"/>
          <p:cNvSpPr/>
          <p:nvPr/>
        </p:nvSpPr>
        <p:spPr>
          <a:xfrm>
            <a:off x="502920" y="6757416"/>
            <a:ext cx="64008" cy="612648"/>
          </a:xfrm>
          <a:prstGeom prst="rect">
            <a:avLst/>
          </a:prstGeom>
          <a:solidFill>
            <a:srgbClr val="2E74C6"/>
          </a:solidFill>
          <a:ln w="12700">
            <a:solidFill>
              <a:srgbClr val="2E74C6">
                <a:alpha val="0"/>
              </a:srgbClr>
            </a:solidFill>
            <a:prstDash val="solid"/>
          </a:ln>
        </p:spPr>
      </p:sp>
      <p:sp>
        <p:nvSpPr>
          <p:cNvPr id="48" name="Text 46"/>
          <p:cNvSpPr/>
          <p:nvPr/>
        </p:nvSpPr>
        <p:spPr>
          <a:xfrm>
            <a:off x="731520" y="6793992"/>
            <a:ext cx="129844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b="1" dirty="0">
                <a:solidFill>
                  <a:srgbClr val="1E2A5C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핵심 차이</a:t>
            </a:r>
            <a:endParaRPr lang="en-US" sz="2000" dirty="0"/>
          </a:p>
        </p:txBody>
      </p:sp>
      <p:sp>
        <p:nvSpPr>
          <p:cNvPr id="49" name="Text 47"/>
          <p:cNvSpPr/>
          <p:nvPr/>
        </p:nvSpPr>
        <p:spPr>
          <a:xfrm>
            <a:off x="1984248" y="6793992"/>
            <a:ext cx="1197864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100" dirty="0">
                <a:solidFill>
                  <a:srgbClr val="2B3242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고정 쿼리는 조건값이 바뀌고, NL2SQL은 질문에 따라 SQL 구조가 바뀝니다.</a:t>
            </a:r>
            <a:endParaRPr lang="en-US" sz="2100" dirty="0"/>
          </a:p>
        </p:txBody>
      </p:sp>
      <p:sp>
        <p:nvSpPr>
          <p:cNvPr id="50" name="Shape 48"/>
          <p:cNvSpPr/>
          <p:nvPr/>
        </p:nvSpPr>
        <p:spPr>
          <a:xfrm>
            <a:off x="502920" y="7763256"/>
            <a:ext cx="13624560" cy="0"/>
          </a:xfrm>
          <a:prstGeom prst="line">
            <a:avLst/>
          </a:prstGeom>
          <a:noFill/>
          <a:ln w="10160">
            <a:solidFill>
              <a:srgbClr val="D9E0EC"/>
            </a:solidFill>
            <a:prstDash val="solid"/>
          </a:ln>
        </p:spPr>
      </p:sp>
      <p:sp>
        <p:nvSpPr>
          <p:cNvPr id="51" name="Text 49"/>
          <p:cNvSpPr/>
          <p:nvPr/>
        </p:nvSpPr>
        <p:spPr>
          <a:xfrm>
            <a:off x="502920" y="7836408"/>
            <a:ext cx="1143000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질문과 조회 조건은 개념 설명을 위한 가상 예시입니다.</a:t>
            </a:r>
            <a:endParaRPr lang="en-US" sz="1400" dirty="0"/>
          </a:p>
        </p:txBody>
      </p:sp>
      <p:sp>
        <p:nvSpPr>
          <p:cNvPr id="52" name="Text 50"/>
          <p:cNvSpPr/>
          <p:nvPr/>
        </p:nvSpPr>
        <p:spPr>
          <a:xfrm>
            <a:off x="13578840" y="7836408"/>
            <a:ext cx="54864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400" dirty="0">
                <a:solidFill>
                  <a:srgbClr val="7C8598"/>
                </a:solidFill>
                <a:latin typeface="Pretendard" pitchFamily="34" charset="0"/>
                <a:ea typeface="Pretendard" pitchFamily="34" charset="-122"/>
                <a:cs typeface="Pretendard" pitchFamily="34" charset="-120"/>
              </a:rPr>
              <a:t>1</a:t>
            </a:r>
            <a:endParaRPr lang="en-US" sz="14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4" baseType="lpstr">
      <vt:lpstr>Arial</vt:lpstr>
      <vt:lpstr>Calibri</vt:lpstr>
      <vt:lpstr>Office Theme</vt:lpstr>
      <vt:lpstr>Slide 1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고정 쿼리 방식과 NL2SQL 방식</dc:title>
  <dc:subject>정형데이터 검색의 고정 쿼리 방식과 NL2SQL 방식</dc:subject>
  <dc:creator>Codex</dc:creator>
  <cp:lastModifiedBy>Codex</cp:lastModifiedBy>
  <cp:revision>1</cp:revision>
  <dcterms:created xsi:type="dcterms:W3CDTF">2026-09-28T02:06:17Z</dcterms:created>
  <dcterms:modified xsi:type="dcterms:W3CDTF">2026-09-28T02:06:17Z</dcterms:modified>
</cp:coreProperties>
</file>