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67205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임베딩은 본문의 의미를 숫자 목록으로 표현하는 과정입니다. 숫자 하나마다 사람이 정한 단어 뜻이 있는 것은 아닙니다. 비슷한 의미의 본문과 질문을 같은 임베딩 모델로 변환해 유사도를 비교합니다. 오른쪽은 설명용 가상 배치이며 실제 모델 출력을 2차원 투영한 결과가 아닙니다.
우리 코드의 IndexingWorkflow.embed()는 chunks[chunk_id].text만 전달합니다. 메타데이터는 이 입력에 자동으로 포함되지 않습니다. 별도 설계에서 제목 등 메타데이터를 본문에 명시적으로 결합하면 그 텍스트도 임베딩됩니다. 현재 구현에서는 본문·벡터·메타데이터를 Chroma의 documents·embeddings·metadatas 필드로 각각 저장합니다. ID도 함께 저장합니다. 메타데이터는 출처와 검색 필터에 활용합니다.
KURE-v2는 우리 코드에서 768차원 단일 벡터와 L2 정규화를 사용합니다. Local은 실행 위치에 따른 구분이며 같은 공개 모델을 클라우드에 직접 배포하는 것도 가능합니다. Local도 하드웨어·운영 비용이 듭니다. 표는 시장점유율·사용량 순위를 주장하지 않습니다. 각 모델의 품질은 우리 데이터로 평가해야 합니다.
코드 근거: hybrid-ai-lab/indexer/vector-bm25/app/application/indexing_service.py:499; app/infrastructure/index_repository.py:210-215; app/infrastructure/embedder.py; app/infrastructure/settings.py.
공식 모델 출처(2026-10-01 확인):
https://huggingface.co/BAAI/bge-m3
https://huggingface.co/intfloat/multilingual-e5-large
https://developers.openai.com/api/docs/guides/embeddings
https://docs.cohere.com/docs/cohere-embed
https://huggingface.co/nlpai-lab/KURE-v2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3624560" cy="256032"/>
          </a:xfrm>
          <a:prstGeom prst="rect">
            <a:avLst/>
          </a:prstGeom>
          <a:noFill/>
          <a:ln/>
        </p:spPr>
        <p:txBody>
          <a:bodyPr wrap="square" lIns="0" tIns="0" rIns="0" bIns="0" rtlCol="0" anchor="ctr"/>
          <a:lstStyle/>
          <a:p>
            <a:pPr marL="0" indent="0">
              <a:buNone/>
            </a:pPr>
            <a:r>
              <a:rPr lang="en-US" sz="1500" dirty="0">
                <a:solidFill>
                  <a:srgbClr val="7C8598"/>
                </a:solidFill>
                <a:latin typeface="Pretendard" pitchFamily="34" charset="0"/>
                <a:ea typeface="Pretendard" pitchFamily="34" charset="-122"/>
                <a:cs typeface="Pretendard" pitchFamily="34" charset="-120"/>
              </a:rPr>
              <a:t>벡터DB 구성 원리 › 임베딩</a:t>
            </a:r>
            <a:endParaRPr lang="en-US" sz="1500" dirty="0"/>
          </a:p>
        </p:txBody>
      </p:sp>
      <p:sp>
        <p:nvSpPr>
          <p:cNvPr id="3" name="Text 1"/>
          <p:cNvSpPr/>
          <p:nvPr/>
        </p:nvSpPr>
        <p:spPr>
          <a:xfrm>
            <a:off x="502920" y="685800"/>
            <a:ext cx="13624560" cy="621792"/>
          </a:xfrm>
          <a:prstGeom prst="rect">
            <a:avLst/>
          </a:prstGeom>
          <a:noFill/>
          <a:ln/>
        </p:spPr>
        <p:txBody>
          <a:bodyPr wrap="square" lIns="0" tIns="0" rIns="0" bIns="0" rtlCol="0" anchor="ctr"/>
          <a:lstStyle/>
          <a:p>
            <a:pPr marL="0" indent="0">
              <a:buNone/>
            </a:pPr>
            <a:r>
              <a:rPr lang="en-US" sz="4800" b="1" dirty="0">
                <a:solidFill>
                  <a:srgbClr val="1E2A5C"/>
                </a:solidFill>
                <a:latin typeface="Pretendard" pitchFamily="34" charset="0"/>
                <a:ea typeface="Pretendard" pitchFamily="34" charset="-122"/>
                <a:cs typeface="Pretendard" pitchFamily="34" charset="-120"/>
              </a:rPr>
              <a:t>임베딩의 원리와 모델</a:t>
            </a:r>
            <a:endParaRPr lang="en-US" sz="4800" dirty="0"/>
          </a:p>
        </p:txBody>
      </p:sp>
      <p:sp>
        <p:nvSpPr>
          <p:cNvPr id="4" name="Shape 2"/>
          <p:cNvSpPr/>
          <p:nvPr/>
        </p:nvSpPr>
        <p:spPr>
          <a:xfrm>
            <a:off x="502920" y="1417320"/>
            <a:ext cx="13624560" cy="32004"/>
          </a:xfrm>
          <a:prstGeom prst="rect">
            <a:avLst/>
          </a:prstGeom>
          <a:solidFill>
            <a:srgbClr val="D9E0EC"/>
          </a:solidFill>
          <a:ln w="12700">
            <a:solidFill>
              <a:srgbClr val="D9E0EC"/>
            </a:solidFill>
            <a:prstDash val="solid"/>
          </a:ln>
        </p:spPr>
        <p:txBody>
          <a:bodyPr/>
          <a:lstStyle/>
          <a:p>
            <a:endParaRPr lang="ko-KR" altLang="en-US"/>
          </a:p>
        </p:txBody>
      </p:sp>
      <p:sp>
        <p:nvSpPr>
          <p:cNvPr id="5" name="Shape 3"/>
          <p:cNvSpPr/>
          <p:nvPr/>
        </p:nvSpPr>
        <p:spPr>
          <a:xfrm>
            <a:off x="502920" y="1417320"/>
            <a:ext cx="1920240" cy="32004"/>
          </a:xfrm>
          <a:prstGeom prst="rect">
            <a:avLst/>
          </a:prstGeom>
          <a:solidFill>
            <a:srgbClr val="2E74C6"/>
          </a:solidFill>
          <a:ln w="12700">
            <a:solidFill>
              <a:srgbClr val="2E74C6"/>
            </a:solidFill>
            <a:prstDash val="solid"/>
          </a:ln>
        </p:spPr>
        <p:txBody>
          <a:bodyPr/>
          <a:lstStyle/>
          <a:p>
            <a:endParaRPr lang="ko-KR" altLang="en-US"/>
          </a:p>
        </p:txBody>
      </p:sp>
      <p:sp>
        <p:nvSpPr>
          <p:cNvPr id="6" name="Text 4"/>
          <p:cNvSpPr/>
          <p:nvPr/>
        </p:nvSpPr>
        <p:spPr>
          <a:xfrm>
            <a:off x="502920" y="1627632"/>
            <a:ext cx="13624560" cy="347472"/>
          </a:xfrm>
          <a:prstGeom prst="rect">
            <a:avLst/>
          </a:prstGeom>
          <a:noFill/>
          <a:ln/>
        </p:spPr>
        <p:txBody>
          <a:bodyPr wrap="square" lIns="0" tIns="0" rIns="0" bIns="0" rtlCol="0" anchor="ctr"/>
          <a:lstStyle/>
          <a:p>
            <a:pPr marL="0" indent="0">
              <a:buNone/>
            </a:pPr>
            <a:r>
              <a:rPr lang="en-US" sz="2100" dirty="0">
                <a:solidFill>
                  <a:srgbClr val="4A5364"/>
                </a:solidFill>
                <a:latin typeface="Pretendard" pitchFamily="34" charset="0"/>
                <a:ea typeface="Pretendard" pitchFamily="34" charset="-122"/>
                <a:cs typeface="Pretendard" pitchFamily="34" charset="-120"/>
              </a:rPr>
              <a:t>글의 의미를 숫자 벡터로 표현하면, 표현이 달라도 뜻이 비슷한 문서를 찾을 수 있습니다.</a:t>
            </a:r>
            <a:endParaRPr lang="en-US" sz="2100" dirty="0"/>
          </a:p>
        </p:txBody>
      </p:sp>
      <p:sp>
        <p:nvSpPr>
          <p:cNvPr id="7" name="Text 5"/>
          <p:cNvSpPr/>
          <p:nvPr/>
        </p:nvSpPr>
        <p:spPr>
          <a:xfrm>
            <a:off x="502920" y="2121408"/>
            <a:ext cx="8503920" cy="347472"/>
          </a:xfrm>
          <a:prstGeom prst="rect">
            <a:avLst/>
          </a:prstGeom>
          <a:noFill/>
          <a:ln/>
        </p:spPr>
        <p:txBody>
          <a:bodyPr wrap="square" lIns="0" tIns="0" rIns="0" bIns="0" rtlCol="0" anchor="ctr"/>
          <a:lstStyle/>
          <a:p>
            <a:pPr marL="0" indent="0">
              <a:buNone/>
            </a:pPr>
            <a:r>
              <a:rPr lang="en-US" sz="2300" b="1" dirty="0">
                <a:solidFill>
                  <a:srgbClr val="1E2A5C"/>
                </a:solidFill>
                <a:latin typeface="Pretendard" pitchFamily="34" charset="0"/>
                <a:ea typeface="Pretendard" pitchFamily="34" charset="-122"/>
                <a:cs typeface="Pretendard" pitchFamily="34" charset="-120"/>
              </a:rPr>
              <a:t>우리 코드에서는 본문만 임베딩</a:t>
            </a:r>
            <a:endParaRPr lang="en-US" sz="2300" dirty="0"/>
          </a:p>
        </p:txBody>
      </p:sp>
      <p:sp>
        <p:nvSpPr>
          <p:cNvPr id="8" name="Text 6"/>
          <p:cNvSpPr/>
          <p:nvPr/>
        </p:nvSpPr>
        <p:spPr>
          <a:xfrm>
            <a:off x="9738360" y="2121408"/>
            <a:ext cx="4389120" cy="347472"/>
          </a:xfrm>
          <a:prstGeom prst="rect">
            <a:avLst/>
          </a:prstGeom>
          <a:noFill/>
          <a:ln/>
        </p:spPr>
        <p:txBody>
          <a:bodyPr wrap="square" lIns="0" tIns="0" rIns="0" bIns="0" rtlCol="0" anchor="ctr"/>
          <a:lstStyle/>
          <a:p>
            <a:pPr marL="0" indent="0">
              <a:buNone/>
            </a:pPr>
            <a:r>
              <a:rPr lang="en-US" sz="2300" b="1" dirty="0">
                <a:solidFill>
                  <a:srgbClr val="1E2A5C"/>
                </a:solidFill>
                <a:latin typeface="Pretendard" pitchFamily="34" charset="0"/>
                <a:ea typeface="Pretendard" pitchFamily="34" charset="-122"/>
                <a:cs typeface="Pretendard" pitchFamily="34" charset="-120"/>
              </a:rPr>
              <a:t>비슷한 뜻은 가까운 위치에</a:t>
            </a:r>
            <a:endParaRPr lang="en-US" sz="2300" dirty="0"/>
          </a:p>
        </p:txBody>
      </p:sp>
      <p:sp>
        <p:nvSpPr>
          <p:cNvPr id="9" name="Shape 7"/>
          <p:cNvSpPr/>
          <p:nvPr/>
        </p:nvSpPr>
        <p:spPr>
          <a:xfrm>
            <a:off x="502920" y="2715768"/>
            <a:ext cx="2862072" cy="1033272"/>
          </a:xfrm>
          <a:prstGeom prst="rect">
            <a:avLst/>
          </a:prstGeom>
          <a:solidFill>
            <a:srgbClr val="EEF3FA"/>
          </a:solidFill>
          <a:ln w="12700">
            <a:solidFill>
              <a:srgbClr val="D9E0EC"/>
            </a:solidFill>
            <a:prstDash val="solid"/>
          </a:ln>
        </p:spPr>
        <p:txBody>
          <a:bodyPr/>
          <a:lstStyle/>
          <a:p>
            <a:endParaRPr lang="ko-KR" altLang="en-US"/>
          </a:p>
        </p:txBody>
      </p:sp>
      <p:sp>
        <p:nvSpPr>
          <p:cNvPr id="10" name="Text 8"/>
          <p:cNvSpPr/>
          <p:nvPr/>
        </p:nvSpPr>
        <p:spPr>
          <a:xfrm>
            <a:off x="676656" y="2834640"/>
            <a:ext cx="2514600" cy="265176"/>
          </a:xfrm>
          <a:prstGeom prst="rect">
            <a:avLst/>
          </a:prstGeom>
          <a:noFill/>
          <a:ln/>
        </p:spPr>
        <p:txBody>
          <a:bodyPr wrap="square" lIns="0" tIns="0" rIns="0" bIns="0" rtlCol="0" anchor="ctr"/>
          <a:lstStyle/>
          <a:p>
            <a:pPr marL="0" indent="0">
              <a:buNone/>
            </a:pPr>
            <a:r>
              <a:rPr lang="en-US" sz="1800" b="1" dirty="0">
                <a:solidFill>
                  <a:srgbClr val="2E74C6"/>
                </a:solidFill>
                <a:latin typeface="Pretendard" pitchFamily="34" charset="0"/>
                <a:ea typeface="Pretendard" pitchFamily="34" charset="-122"/>
                <a:cs typeface="Pretendard" pitchFamily="34" charset="-120"/>
              </a:rPr>
              <a:t>청크의 본문 (text)</a:t>
            </a:r>
            <a:endParaRPr lang="en-US" sz="1800" dirty="0"/>
          </a:p>
        </p:txBody>
      </p:sp>
      <p:sp>
        <p:nvSpPr>
          <p:cNvPr id="11" name="Text 9"/>
          <p:cNvSpPr/>
          <p:nvPr/>
        </p:nvSpPr>
        <p:spPr>
          <a:xfrm>
            <a:off x="676656" y="3273552"/>
            <a:ext cx="2514600" cy="283464"/>
          </a:xfrm>
          <a:prstGeom prst="rect">
            <a:avLst/>
          </a:prstGeom>
          <a:noFill/>
          <a:ln/>
        </p:spPr>
        <p:txBody>
          <a:bodyPr wrap="square" lIns="0" tIns="0" rIns="0" bIns="0" rtlCol="0" anchor="ctr"/>
          <a:lstStyle/>
          <a:p>
            <a:pPr marL="0" indent="0">
              <a:buNone/>
            </a:pPr>
            <a:r>
              <a:rPr lang="en-US" sz="1800" dirty="0">
                <a:solidFill>
                  <a:srgbClr val="2B3242"/>
                </a:solidFill>
                <a:latin typeface="Pretendard" pitchFamily="34" charset="0"/>
                <a:ea typeface="Pretendard" pitchFamily="34" charset="-122"/>
                <a:cs typeface="Pretendard" pitchFamily="34" charset="-120"/>
              </a:rPr>
              <a:t>“</a:t>
            </a:r>
            <a:r>
              <a:rPr lang="ko-KR" altLang="en-US" sz="1800" dirty="0">
                <a:solidFill>
                  <a:srgbClr val="2B3242"/>
                </a:solidFill>
                <a:latin typeface="Pretendard" pitchFamily="34" charset="0"/>
                <a:ea typeface="Pretendard" pitchFamily="34" charset="-122"/>
                <a:cs typeface="Pretendard" pitchFamily="34" charset="-120"/>
              </a:rPr>
              <a:t>연회비 기준은 </a:t>
            </a:r>
            <a:r>
              <a:rPr lang="en-US" altLang="ko-KR" sz="1800" dirty="0">
                <a:solidFill>
                  <a:srgbClr val="2B3242"/>
                </a:solidFill>
                <a:latin typeface="Pretendard" pitchFamily="34" charset="0"/>
                <a:ea typeface="Pretendard" pitchFamily="34" charset="-122"/>
                <a:cs typeface="Pretendard" pitchFamily="34" charset="-120"/>
              </a:rPr>
              <a:t>…</a:t>
            </a:r>
            <a:r>
              <a:rPr lang="en-US" sz="1800" dirty="0">
                <a:solidFill>
                  <a:srgbClr val="2B3242"/>
                </a:solidFill>
                <a:latin typeface="Pretendard" pitchFamily="34" charset="0"/>
                <a:ea typeface="Pretendard" pitchFamily="34" charset="-122"/>
                <a:cs typeface="Pretendard" pitchFamily="34" charset="-120"/>
              </a:rPr>
              <a:t>”</a:t>
            </a:r>
            <a:endParaRPr lang="en-US" sz="1800" dirty="0"/>
          </a:p>
        </p:txBody>
      </p:sp>
      <p:sp>
        <p:nvSpPr>
          <p:cNvPr id="12" name="Shape 10"/>
          <p:cNvSpPr/>
          <p:nvPr/>
        </p:nvSpPr>
        <p:spPr>
          <a:xfrm>
            <a:off x="502920" y="3950208"/>
            <a:ext cx="2862072" cy="850392"/>
          </a:xfrm>
          <a:prstGeom prst="rect">
            <a:avLst/>
          </a:prstGeom>
          <a:solidFill>
            <a:srgbClr val="F5F8FC"/>
          </a:solidFill>
          <a:ln w="12700">
            <a:solidFill>
              <a:srgbClr val="D9E0EC"/>
            </a:solidFill>
            <a:prstDash val="solid"/>
          </a:ln>
        </p:spPr>
        <p:txBody>
          <a:bodyPr/>
          <a:lstStyle/>
          <a:p>
            <a:endParaRPr lang="ko-KR" altLang="en-US"/>
          </a:p>
        </p:txBody>
      </p:sp>
      <p:sp>
        <p:nvSpPr>
          <p:cNvPr id="13" name="Text 11"/>
          <p:cNvSpPr/>
          <p:nvPr/>
        </p:nvSpPr>
        <p:spPr>
          <a:xfrm>
            <a:off x="676656" y="4050792"/>
            <a:ext cx="2514600" cy="265176"/>
          </a:xfrm>
          <a:prstGeom prst="rect">
            <a:avLst/>
          </a:prstGeom>
          <a:noFill/>
          <a:ln/>
        </p:spPr>
        <p:txBody>
          <a:bodyPr wrap="square" lIns="0" tIns="0" rIns="0" bIns="0" rtlCol="0" anchor="ctr"/>
          <a:lstStyle/>
          <a:p>
            <a:pPr marL="0" indent="0">
              <a:buNone/>
            </a:pPr>
            <a:r>
              <a:rPr lang="en-US" sz="1800" b="1" dirty="0">
                <a:solidFill>
                  <a:srgbClr val="4A5364"/>
                </a:solidFill>
                <a:latin typeface="Pretendard" pitchFamily="34" charset="0"/>
                <a:ea typeface="Pretendard" pitchFamily="34" charset="-122"/>
                <a:cs typeface="Pretendard" pitchFamily="34" charset="-120"/>
              </a:rPr>
              <a:t>메타데이터</a:t>
            </a:r>
            <a:endParaRPr lang="en-US" sz="1800" dirty="0"/>
          </a:p>
        </p:txBody>
      </p:sp>
      <p:sp>
        <p:nvSpPr>
          <p:cNvPr id="14" name="Text 12"/>
          <p:cNvSpPr/>
          <p:nvPr/>
        </p:nvSpPr>
        <p:spPr>
          <a:xfrm>
            <a:off x="676656" y="4443984"/>
            <a:ext cx="2514600" cy="219456"/>
          </a:xfrm>
          <a:prstGeom prst="rect">
            <a:avLst/>
          </a:prstGeom>
          <a:noFill/>
          <a:ln/>
        </p:spPr>
        <p:txBody>
          <a:bodyPr wrap="square" lIns="0" tIns="0" rIns="0" bIns="0" rtlCol="0" anchor="ctr"/>
          <a:lstStyle/>
          <a:p>
            <a:pPr marL="0" indent="0">
              <a:buNone/>
            </a:pPr>
            <a:r>
              <a:rPr lang="en-US" sz="1500" dirty="0">
                <a:solidFill>
                  <a:srgbClr val="4A5364"/>
                </a:solidFill>
                <a:latin typeface="Pretendard" pitchFamily="34" charset="0"/>
                <a:ea typeface="Pretendard" pitchFamily="34" charset="-122"/>
                <a:cs typeface="Pretendard" pitchFamily="34" charset="-120"/>
              </a:rPr>
              <a:t>출처 · 페이지 · 접근 등급</a:t>
            </a:r>
            <a:endParaRPr lang="en-US" sz="1500" dirty="0"/>
          </a:p>
        </p:txBody>
      </p:sp>
      <p:sp>
        <p:nvSpPr>
          <p:cNvPr id="15" name="Shape 13"/>
          <p:cNvSpPr/>
          <p:nvPr/>
        </p:nvSpPr>
        <p:spPr>
          <a:xfrm>
            <a:off x="3456432" y="3227832"/>
            <a:ext cx="502920" cy="0"/>
          </a:xfrm>
          <a:prstGeom prst="line">
            <a:avLst/>
          </a:prstGeom>
          <a:noFill/>
          <a:ln w="25400">
            <a:solidFill>
              <a:srgbClr val="2E74C6"/>
            </a:solidFill>
            <a:prstDash val="solid"/>
            <a:tailEnd type="triangle"/>
          </a:ln>
        </p:spPr>
        <p:txBody>
          <a:bodyPr/>
          <a:lstStyle/>
          <a:p>
            <a:endParaRPr lang="ko-KR" altLang="en-US"/>
          </a:p>
        </p:txBody>
      </p:sp>
      <p:sp>
        <p:nvSpPr>
          <p:cNvPr id="16" name="Shape 14"/>
          <p:cNvSpPr/>
          <p:nvPr/>
        </p:nvSpPr>
        <p:spPr>
          <a:xfrm>
            <a:off x="4050792" y="2770632"/>
            <a:ext cx="1984248" cy="941832"/>
          </a:xfrm>
          <a:prstGeom prst="rect">
            <a:avLst/>
          </a:prstGeom>
          <a:solidFill>
            <a:srgbClr val="1E2A5C"/>
          </a:solidFill>
          <a:ln w="12700">
            <a:solidFill>
              <a:srgbClr val="1E2A5C"/>
            </a:solidFill>
            <a:prstDash val="solid"/>
          </a:ln>
        </p:spPr>
        <p:txBody>
          <a:bodyPr/>
          <a:lstStyle/>
          <a:p>
            <a:endParaRPr lang="ko-KR" altLang="en-US"/>
          </a:p>
        </p:txBody>
      </p:sp>
      <p:sp>
        <p:nvSpPr>
          <p:cNvPr id="17" name="Text 15"/>
          <p:cNvSpPr/>
          <p:nvPr/>
        </p:nvSpPr>
        <p:spPr>
          <a:xfrm>
            <a:off x="4142232" y="2926080"/>
            <a:ext cx="1801368" cy="292608"/>
          </a:xfrm>
          <a:prstGeom prst="rect">
            <a:avLst/>
          </a:prstGeom>
          <a:noFill/>
          <a:ln/>
        </p:spPr>
        <p:txBody>
          <a:bodyPr wrap="square" lIns="0" tIns="0" rIns="0" bIns="0" rtlCol="0" anchor="ctr"/>
          <a:lstStyle/>
          <a:p>
            <a:pPr marL="0" indent="0" algn="ctr">
              <a:buNone/>
            </a:pPr>
            <a:r>
              <a:rPr lang="en-US" sz="2400" b="1" dirty="0">
                <a:solidFill>
                  <a:srgbClr val="FFFFFF"/>
                </a:solidFill>
                <a:latin typeface="Pretendard" pitchFamily="34" charset="0"/>
                <a:ea typeface="Pretendard" pitchFamily="34" charset="-122"/>
                <a:cs typeface="Pretendard" pitchFamily="34" charset="-120"/>
              </a:rPr>
              <a:t>KURE-v2</a:t>
            </a:r>
            <a:endParaRPr lang="en-US" sz="2400" dirty="0"/>
          </a:p>
        </p:txBody>
      </p:sp>
      <p:sp>
        <p:nvSpPr>
          <p:cNvPr id="18" name="Text 16"/>
          <p:cNvSpPr/>
          <p:nvPr/>
        </p:nvSpPr>
        <p:spPr>
          <a:xfrm>
            <a:off x="4142232" y="3364992"/>
            <a:ext cx="1801368" cy="219456"/>
          </a:xfrm>
          <a:prstGeom prst="rect">
            <a:avLst/>
          </a:prstGeom>
          <a:noFill/>
          <a:ln/>
        </p:spPr>
        <p:txBody>
          <a:bodyPr wrap="square" lIns="0" tIns="0" rIns="0" bIns="0" rtlCol="0" anchor="ctr"/>
          <a:lstStyle/>
          <a:p>
            <a:pPr marL="0" indent="0" algn="ctr">
              <a:buNone/>
            </a:pPr>
            <a:r>
              <a:rPr lang="en-US" sz="1600" dirty="0">
                <a:solidFill>
                  <a:srgbClr val="FFFFFF"/>
                </a:solidFill>
                <a:latin typeface="Pretendard" pitchFamily="34" charset="0"/>
                <a:ea typeface="Pretendard" pitchFamily="34" charset="-122"/>
                <a:cs typeface="Pretendard" pitchFamily="34" charset="-120"/>
              </a:rPr>
              <a:t>임베딩 모델</a:t>
            </a:r>
            <a:endParaRPr lang="en-US" sz="1600" dirty="0"/>
          </a:p>
        </p:txBody>
      </p:sp>
      <p:sp>
        <p:nvSpPr>
          <p:cNvPr id="19" name="Shape 17"/>
          <p:cNvSpPr/>
          <p:nvPr/>
        </p:nvSpPr>
        <p:spPr>
          <a:xfrm>
            <a:off x="6126480" y="3227832"/>
            <a:ext cx="484632" cy="0"/>
          </a:xfrm>
          <a:prstGeom prst="line">
            <a:avLst/>
          </a:prstGeom>
          <a:noFill/>
          <a:ln w="25400">
            <a:solidFill>
              <a:srgbClr val="2E74C6"/>
            </a:solidFill>
            <a:prstDash val="solid"/>
            <a:tailEnd type="triangle"/>
          </a:ln>
        </p:spPr>
        <p:txBody>
          <a:bodyPr/>
          <a:lstStyle/>
          <a:p>
            <a:endParaRPr lang="ko-KR" altLang="en-US"/>
          </a:p>
        </p:txBody>
      </p:sp>
      <p:sp>
        <p:nvSpPr>
          <p:cNvPr id="20" name="Shape 18"/>
          <p:cNvSpPr/>
          <p:nvPr/>
        </p:nvSpPr>
        <p:spPr>
          <a:xfrm>
            <a:off x="6702552" y="2770632"/>
            <a:ext cx="2532888" cy="941832"/>
          </a:xfrm>
          <a:prstGeom prst="rect">
            <a:avLst/>
          </a:prstGeom>
          <a:solidFill>
            <a:srgbClr val="EEF3FA"/>
          </a:solidFill>
          <a:ln w="12700">
            <a:solidFill>
              <a:srgbClr val="2E74C6"/>
            </a:solidFill>
            <a:prstDash val="solid"/>
          </a:ln>
        </p:spPr>
        <p:txBody>
          <a:bodyPr/>
          <a:lstStyle/>
          <a:p>
            <a:endParaRPr lang="ko-KR" altLang="en-US"/>
          </a:p>
        </p:txBody>
      </p:sp>
      <p:sp>
        <p:nvSpPr>
          <p:cNvPr id="21" name="Text 19"/>
          <p:cNvSpPr/>
          <p:nvPr/>
        </p:nvSpPr>
        <p:spPr>
          <a:xfrm>
            <a:off x="6848856" y="2935224"/>
            <a:ext cx="2240280" cy="265176"/>
          </a:xfrm>
          <a:prstGeom prst="rect">
            <a:avLst/>
          </a:prstGeom>
          <a:noFill/>
          <a:ln/>
        </p:spPr>
        <p:txBody>
          <a:bodyPr wrap="square" lIns="0" tIns="0" rIns="0" bIns="0" rtlCol="0" anchor="ctr"/>
          <a:lstStyle/>
          <a:p>
            <a:pPr marL="0" indent="0" algn="ctr">
              <a:buNone/>
            </a:pPr>
            <a:r>
              <a:rPr lang="en-US" sz="2100" b="1" dirty="0">
                <a:solidFill>
                  <a:srgbClr val="1E2A5C"/>
                </a:solidFill>
                <a:latin typeface="Pretendard" pitchFamily="34" charset="0"/>
                <a:ea typeface="Pretendard" pitchFamily="34" charset="-122"/>
                <a:cs typeface="Pretendard" pitchFamily="34" charset="-120"/>
              </a:rPr>
              <a:t>[0.12, −0.07, …]</a:t>
            </a:r>
            <a:endParaRPr lang="en-US" sz="2100" dirty="0"/>
          </a:p>
        </p:txBody>
      </p:sp>
      <p:sp>
        <p:nvSpPr>
          <p:cNvPr id="22" name="Text 20"/>
          <p:cNvSpPr/>
          <p:nvPr/>
        </p:nvSpPr>
        <p:spPr>
          <a:xfrm>
            <a:off x="6793992" y="3374136"/>
            <a:ext cx="2350008" cy="219456"/>
          </a:xfrm>
          <a:prstGeom prst="rect">
            <a:avLst/>
          </a:prstGeom>
          <a:noFill/>
          <a:ln/>
        </p:spPr>
        <p:txBody>
          <a:bodyPr wrap="square" lIns="0" tIns="0" rIns="0" bIns="0" rtlCol="0" anchor="ctr"/>
          <a:lstStyle/>
          <a:p>
            <a:pPr marL="0" indent="0" algn="ctr">
              <a:buNone/>
            </a:pPr>
            <a:r>
              <a:rPr lang="en-US" sz="1500" dirty="0">
                <a:solidFill>
                  <a:srgbClr val="4A5364"/>
                </a:solidFill>
                <a:latin typeface="Pretendard" pitchFamily="34" charset="0"/>
                <a:ea typeface="Pretendard" pitchFamily="34" charset="-122"/>
                <a:cs typeface="Pretendard" pitchFamily="34" charset="-120"/>
              </a:rPr>
              <a:t>숫자 768개인 단일 벡터</a:t>
            </a:r>
            <a:endParaRPr lang="en-US" sz="1500" dirty="0"/>
          </a:p>
        </p:txBody>
      </p:sp>
      <p:sp>
        <p:nvSpPr>
          <p:cNvPr id="23" name="Shape 21"/>
          <p:cNvSpPr/>
          <p:nvPr/>
        </p:nvSpPr>
        <p:spPr>
          <a:xfrm>
            <a:off x="7968996" y="3730752"/>
            <a:ext cx="0" cy="210312"/>
          </a:xfrm>
          <a:prstGeom prst="line">
            <a:avLst/>
          </a:prstGeom>
          <a:noFill/>
          <a:ln w="25400">
            <a:solidFill>
              <a:srgbClr val="2E74C6"/>
            </a:solidFill>
            <a:prstDash val="solid"/>
            <a:tailEnd type="triangle"/>
          </a:ln>
        </p:spPr>
        <p:txBody>
          <a:bodyPr/>
          <a:lstStyle/>
          <a:p>
            <a:endParaRPr lang="ko-KR" altLang="en-US"/>
          </a:p>
        </p:txBody>
      </p:sp>
      <p:sp>
        <p:nvSpPr>
          <p:cNvPr id="24" name="Shape 22"/>
          <p:cNvSpPr/>
          <p:nvPr/>
        </p:nvSpPr>
        <p:spPr>
          <a:xfrm>
            <a:off x="6702552" y="4041648"/>
            <a:ext cx="2532888" cy="758952"/>
          </a:xfrm>
          <a:prstGeom prst="rect">
            <a:avLst/>
          </a:prstGeom>
          <a:solidFill>
            <a:srgbClr val="FFFFFF"/>
          </a:solidFill>
          <a:ln w="12700">
            <a:solidFill>
              <a:srgbClr val="1E2A5C"/>
            </a:solidFill>
            <a:prstDash val="solid"/>
          </a:ln>
        </p:spPr>
        <p:txBody>
          <a:bodyPr/>
          <a:lstStyle/>
          <a:p>
            <a:endParaRPr lang="ko-KR" altLang="en-US"/>
          </a:p>
        </p:txBody>
      </p:sp>
      <p:sp>
        <p:nvSpPr>
          <p:cNvPr id="25" name="Text 23"/>
          <p:cNvSpPr/>
          <p:nvPr/>
        </p:nvSpPr>
        <p:spPr>
          <a:xfrm>
            <a:off x="6839712" y="4133088"/>
            <a:ext cx="2258568" cy="246888"/>
          </a:xfrm>
          <a:prstGeom prst="rect">
            <a:avLst/>
          </a:prstGeom>
          <a:noFill/>
          <a:ln/>
        </p:spPr>
        <p:txBody>
          <a:bodyPr wrap="square" lIns="0" tIns="0" rIns="0" bIns="0" rtlCol="0" anchor="ctr"/>
          <a:lstStyle/>
          <a:p>
            <a:pPr marL="0" indent="0" algn="ctr">
              <a:buNone/>
            </a:pPr>
            <a:r>
              <a:rPr lang="en-US" sz="1800" b="1" dirty="0">
                <a:solidFill>
                  <a:srgbClr val="1E2A5C"/>
                </a:solidFill>
                <a:latin typeface="Pretendard" pitchFamily="34" charset="0"/>
                <a:ea typeface="Pretendard" pitchFamily="34" charset="-122"/>
                <a:cs typeface="Pretendard" pitchFamily="34" charset="-120"/>
              </a:rPr>
              <a:t>Chroma에 함께 저장</a:t>
            </a:r>
            <a:endParaRPr lang="en-US" sz="1800" dirty="0"/>
          </a:p>
        </p:txBody>
      </p:sp>
      <p:sp>
        <p:nvSpPr>
          <p:cNvPr id="26" name="Text 24"/>
          <p:cNvSpPr/>
          <p:nvPr/>
        </p:nvSpPr>
        <p:spPr>
          <a:xfrm>
            <a:off x="6793992" y="4498848"/>
            <a:ext cx="2350008" cy="192024"/>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본문 + 벡터 + 메타데이터</a:t>
            </a:r>
            <a:endParaRPr lang="en-US" sz="1400" dirty="0"/>
          </a:p>
        </p:txBody>
      </p:sp>
      <p:sp>
        <p:nvSpPr>
          <p:cNvPr id="27" name="Text 25"/>
          <p:cNvSpPr/>
          <p:nvPr/>
        </p:nvSpPr>
        <p:spPr>
          <a:xfrm>
            <a:off x="3657600" y="3968496"/>
            <a:ext cx="2807208" cy="219456"/>
          </a:xfrm>
          <a:prstGeom prst="rect">
            <a:avLst/>
          </a:prstGeom>
          <a:noFill/>
          <a:ln/>
        </p:spPr>
        <p:txBody>
          <a:bodyPr wrap="square" lIns="0" tIns="0" rIns="0" bIns="0" rtlCol="0" anchor="ctr"/>
          <a:lstStyle/>
          <a:p>
            <a:pPr marL="0" indent="0" algn="ctr">
              <a:buNone/>
            </a:pPr>
            <a:r>
              <a:rPr lang="en-US" sz="1500" dirty="0">
                <a:solidFill>
                  <a:srgbClr val="4A5364"/>
                </a:solidFill>
                <a:latin typeface="Pretendard" pitchFamily="34" charset="0"/>
                <a:ea typeface="Pretendard" pitchFamily="34" charset="-122"/>
                <a:cs typeface="Pretendard" pitchFamily="34" charset="-120"/>
              </a:rPr>
              <a:t>모델을 거치지 않고</a:t>
            </a:r>
            <a:endParaRPr lang="en-US" sz="1500" dirty="0"/>
          </a:p>
        </p:txBody>
      </p:sp>
      <p:sp>
        <p:nvSpPr>
          <p:cNvPr id="28" name="Shape 26"/>
          <p:cNvSpPr/>
          <p:nvPr/>
        </p:nvSpPr>
        <p:spPr>
          <a:xfrm>
            <a:off x="3456432" y="4379976"/>
            <a:ext cx="3145536" cy="0"/>
          </a:xfrm>
          <a:prstGeom prst="line">
            <a:avLst/>
          </a:prstGeom>
          <a:noFill/>
          <a:ln w="20320">
            <a:solidFill>
              <a:srgbClr val="4A5364"/>
            </a:solidFill>
            <a:prstDash val="solid"/>
            <a:tailEnd type="triangle"/>
          </a:ln>
        </p:spPr>
        <p:txBody>
          <a:bodyPr/>
          <a:lstStyle/>
          <a:p>
            <a:endParaRPr lang="ko-KR" altLang="en-US"/>
          </a:p>
        </p:txBody>
      </p:sp>
      <p:sp>
        <p:nvSpPr>
          <p:cNvPr id="29" name="Text 27"/>
          <p:cNvSpPr/>
          <p:nvPr/>
        </p:nvSpPr>
        <p:spPr>
          <a:xfrm>
            <a:off x="3611880" y="4553712"/>
            <a:ext cx="2898648" cy="210312"/>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검색 필터와 출처 표시에 사용</a:t>
            </a:r>
            <a:endParaRPr lang="en-US" sz="1400" dirty="0"/>
          </a:p>
        </p:txBody>
      </p:sp>
      <p:sp>
        <p:nvSpPr>
          <p:cNvPr id="38" name="Text 36"/>
          <p:cNvSpPr/>
          <p:nvPr/>
        </p:nvSpPr>
        <p:spPr>
          <a:xfrm>
            <a:off x="502920" y="4965192"/>
            <a:ext cx="13624560" cy="237744"/>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숫자·위치는 설명용 예시입니다. 실제 유사도를 측정한 그림은 아닙니다.</a:t>
            </a:r>
            <a:endParaRPr lang="en-US" sz="1400" dirty="0"/>
          </a:p>
        </p:txBody>
      </p:sp>
      <p:sp>
        <p:nvSpPr>
          <p:cNvPr id="39" name="Text 37"/>
          <p:cNvSpPr/>
          <p:nvPr/>
        </p:nvSpPr>
        <p:spPr>
          <a:xfrm>
            <a:off x="502920" y="5440680"/>
            <a:ext cx="8229600" cy="329184"/>
          </a:xfrm>
          <a:prstGeom prst="rect">
            <a:avLst/>
          </a:prstGeom>
          <a:noFill/>
          <a:ln/>
        </p:spPr>
        <p:txBody>
          <a:bodyPr wrap="square" lIns="0" tIns="0" rIns="0" bIns="0" rtlCol="0" anchor="ctr"/>
          <a:lstStyle/>
          <a:p>
            <a:pPr marL="0" indent="0">
              <a:buNone/>
            </a:pPr>
            <a:r>
              <a:rPr lang="en-US" sz="2400" b="1" dirty="0">
                <a:solidFill>
                  <a:srgbClr val="1E2A5C"/>
                </a:solidFill>
                <a:latin typeface="Pretendard" pitchFamily="34" charset="0"/>
                <a:ea typeface="Pretendard" pitchFamily="34" charset="-122"/>
                <a:cs typeface="Pretendard" pitchFamily="34" charset="-120"/>
              </a:rPr>
              <a:t>Local과 Cloud의 대표 모델</a:t>
            </a:r>
            <a:endParaRPr lang="en-US" sz="2400" dirty="0"/>
          </a:p>
        </p:txBody>
      </p:sp>
      <p:sp>
        <p:nvSpPr>
          <p:cNvPr id="40" name="Text 38"/>
          <p:cNvSpPr/>
          <p:nvPr/>
        </p:nvSpPr>
        <p:spPr>
          <a:xfrm>
            <a:off x="8869680" y="5495544"/>
            <a:ext cx="5257800" cy="228600"/>
          </a:xfrm>
          <a:prstGeom prst="rect">
            <a:avLst/>
          </a:prstGeom>
          <a:noFill/>
          <a:ln/>
        </p:spPr>
        <p:txBody>
          <a:bodyPr wrap="square" lIns="0" tIns="0" rIns="0" bIns="0" rtlCol="0" anchor="ctr"/>
          <a:lstStyle/>
          <a:p>
            <a:pPr marL="0" indent="0" algn="r">
              <a:buNone/>
            </a:pPr>
            <a:r>
              <a:rPr lang="en-US" sz="1400" dirty="0">
                <a:solidFill>
                  <a:srgbClr val="7C8598"/>
                </a:solidFill>
                <a:latin typeface="Pretendard" pitchFamily="34" charset="0"/>
                <a:ea typeface="Pretendard" pitchFamily="34" charset="-122"/>
                <a:cs typeface="Pretendard" pitchFamily="34" charset="-120"/>
              </a:rPr>
              <a:t>대표 예시이며 사용량 순위는 아닙니다</a:t>
            </a:r>
            <a:endParaRPr lang="en-US" sz="1400" dirty="0"/>
          </a:p>
        </p:txBody>
      </p:sp>
      <p:graphicFrame>
        <p:nvGraphicFramePr>
          <p:cNvPr id="41" name="Table 0"/>
          <p:cNvGraphicFramePr>
            <a:graphicFrameLocks noGrp="1"/>
          </p:cNvGraphicFramePr>
          <p:nvPr>
            <p:extLst>
              <p:ext uri="{D42A27DB-BD31-4B8C-83A1-F6EECF244321}">
                <p14:modId xmlns:p14="http://schemas.microsoft.com/office/powerpoint/2010/main" val="600212701"/>
              </p:ext>
            </p:extLst>
          </p:nvPr>
        </p:nvGraphicFramePr>
        <p:xfrm>
          <a:off x="502920" y="5907024"/>
          <a:ext cx="13624560" cy="1740408"/>
        </p:xfrm>
        <a:graphic>
          <a:graphicData uri="http://schemas.openxmlformats.org/drawingml/2006/table">
            <a:tbl>
              <a:tblPr/>
              <a:tblGrid>
                <a:gridCol w="173736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gridCol w="6172200">
                  <a:extLst>
                    <a:ext uri="{9D8B030D-6E8A-4147-A177-3AD203B41FA5}">
                      <a16:colId xmlns:a16="http://schemas.microsoft.com/office/drawing/2014/main" val="20002"/>
                    </a:ext>
                  </a:extLst>
                </a:gridCol>
              </a:tblGrid>
              <a:tr h="365760">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실행 방식</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대표 모델</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tc>
                  <a:txBody>
                    <a:bodyPr/>
                    <a:lstStyle/>
                    <a:p>
                      <a:pPr marL="0" indent="0">
                        <a:buNone/>
                      </a:pPr>
                      <a:r>
                        <a:rPr lang="en-US" sz="1700" b="1" dirty="0">
                          <a:solidFill>
                            <a:srgbClr val="1E2A5C"/>
                          </a:solidFill>
                          <a:latin typeface="Pretendard" pitchFamily="34" charset="0"/>
                          <a:ea typeface="Pretendard" pitchFamily="34" charset="-122"/>
                          <a:cs typeface="Pretendard" pitchFamily="34" charset="-120"/>
                        </a:rPr>
                        <a:t>사용 방식</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E2EEF9"/>
                    </a:solidFill>
                  </a:tcPr>
                </a:tc>
                <a:extLst>
                  <a:ext uri="{0D108BD9-81ED-4DB2-BD59-A6C34878D82A}">
                    <a16:rowId xmlns:a16="http://schemas.microsoft.com/office/drawing/2014/main" val="10000"/>
                  </a:ext>
                </a:extLst>
              </a:tr>
              <a:tr h="667512">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Local</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BGE-M3 / multilingual-e5-large</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KURE-v2</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내 PC·서버에서 실행합니다.</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모델과 실행 환경을 직접 관리합니다.</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7512">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Cloud API</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OpenAI text-embedding-3-small / -large</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Cohere embed-v4.0</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tc>
                  <a:txBody>
                    <a:bodyPr/>
                    <a:lstStyle/>
                    <a:p>
                      <a:pPr marL="0" indent="0">
                        <a:buNone/>
                      </a:pPr>
                      <a:r>
                        <a:rPr lang="en-US" sz="1700" dirty="0">
                          <a:solidFill>
                            <a:srgbClr val="2B3242"/>
                          </a:solidFill>
                          <a:latin typeface="Pretendard" pitchFamily="34" charset="0"/>
                          <a:ea typeface="Pretendard" pitchFamily="34" charset="-122"/>
                          <a:cs typeface="Pretendard" pitchFamily="34" charset="-120"/>
                        </a:rPr>
                        <a:t>제공사의 API로 본문을 보내 사용합니다.</a:t>
                      </a:r>
                      <a:endParaRPr lang="en-US" sz="1700" dirty="0">
                        <a:latin typeface="Pretendard" charset="0"/>
                        <a:ea typeface="Pretendard" charset="0"/>
                        <a:cs typeface="Pretendard" charset="0"/>
                      </a:endParaRPr>
                    </a:p>
                    <a:p>
                      <a:pPr marL="0" indent="0">
                        <a:buNone/>
                      </a:pPr>
                      <a:r>
                        <a:rPr lang="en-US" sz="1700" dirty="0">
                          <a:solidFill>
                            <a:srgbClr val="2B3242"/>
                          </a:solidFill>
                          <a:latin typeface="Pretendard" pitchFamily="34" charset="0"/>
                          <a:ea typeface="Pretendard" pitchFamily="34" charset="-122"/>
                          <a:cs typeface="Pretendard" pitchFamily="34" charset="-120"/>
                        </a:rPr>
                        <a:t>호출 비용과 데이터 전송 정책을 확인합니다.</a:t>
                      </a:r>
                      <a:endParaRPr lang="en-US" sz="1700" dirty="0">
                        <a:latin typeface="Pretendard" charset="0"/>
                        <a:ea typeface="Pretendard" charset="0"/>
                        <a:cs typeface="Pretendard" charset="0"/>
                      </a:endParaRPr>
                    </a:p>
                  </a:txBody>
                  <a:tcPr marL="146304" marR="146304" marT="73152" marB="73152" anchor="ctr">
                    <a:lnL w="7620" cap="flat" cmpd="sng" algn="ctr">
                      <a:solidFill>
                        <a:srgbClr val="D9E0EC"/>
                      </a:solidFill>
                      <a:prstDash val="solid"/>
                      <a:round/>
                      <a:headEnd type="none" w="med" len="med"/>
                      <a:tailEnd type="none" w="med" len="med"/>
                    </a:lnL>
                    <a:lnR w="7620" cap="flat" cmpd="sng" algn="ctr">
                      <a:solidFill>
                        <a:srgbClr val="D9E0EC"/>
                      </a:solidFill>
                      <a:prstDash val="solid"/>
                      <a:round/>
                      <a:headEnd type="none" w="med" len="med"/>
                      <a:tailEnd type="none" w="med" len="med"/>
                    </a:lnR>
                    <a:lnT w="7620" cap="flat" cmpd="sng" algn="ctr">
                      <a:solidFill>
                        <a:srgbClr val="D9E0EC"/>
                      </a:solidFill>
                      <a:prstDash val="solid"/>
                      <a:round/>
                      <a:headEnd type="none" w="med" len="med"/>
                      <a:tailEnd type="none" w="med" len="med"/>
                    </a:lnT>
                    <a:lnB w="7620" cap="flat" cmpd="sng" algn="ctr">
                      <a:solidFill>
                        <a:srgbClr val="D9E0EC"/>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bl>
          </a:graphicData>
        </a:graphic>
      </p:graphicFrame>
      <p:sp>
        <p:nvSpPr>
          <p:cNvPr id="42" name="Shape 39"/>
          <p:cNvSpPr/>
          <p:nvPr/>
        </p:nvSpPr>
        <p:spPr>
          <a:xfrm>
            <a:off x="502920" y="7854696"/>
            <a:ext cx="13624560" cy="0"/>
          </a:xfrm>
          <a:prstGeom prst="line">
            <a:avLst/>
          </a:prstGeom>
          <a:noFill/>
          <a:ln w="8890">
            <a:solidFill>
              <a:srgbClr val="E9ECF3"/>
            </a:solidFill>
            <a:prstDash val="solid"/>
          </a:ln>
        </p:spPr>
        <p:txBody>
          <a:bodyPr/>
          <a:lstStyle/>
          <a:p>
            <a:endParaRPr lang="ko-KR" altLang="en-US"/>
          </a:p>
        </p:txBody>
      </p:sp>
      <p:sp>
        <p:nvSpPr>
          <p:cNvPr id="43" name="Text 40"/>
          <p:cNvSpPr/>
          <p:nvPr/>
        </p:nvSpPr>
        <p:spPr>
          <a:xfrm>
            <a:off x="502920" y="7936992"/>
            <a:ext cx="7315200" cy="182880"/>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design-agentic-ai</a:t>
            </a:r>
            <a:endParaRPr lang="en-US" sz="1400" dirty="0"/>
          </a:p>
        </p:txBody>
      </p:sp>
      <p:sp>
        <p:nvSpPr>
          <p:cNvPr id="44" name="Text 41"/>
          <p:cNvSpPr/>
          <p:nvPr/>
        </p:nvSpPr>
        <p:spPr>
          <a:xfrm>
            <a:off x="10972800" y="7936992"/>
            <a:ext cx="3154680" cy="182880"/>
          </a:xfrm>
          <a:prstGeom prst="rect">
            <a:avLst/>
          </a:prstGeom>
          <a:noFill/>
          <a:ln/>
        </p:spPr>
        <p:txBody>
          <a:bodyPr wrap="square" lIns="0" tIns="0" rIns="0" bIns="0" rtlCol="0" anchor="ctr"/>
          <a:lstStyle/>
          <a:p>
            <a:pPr marL="0" indent="0" algn="r">
              <a:buNone/>
            </a:pPr>
            <a:r>
              <a:rPr lang="en-US" sz="1400" dirty="0">
                <a:solidFill>
                  <a:srgbClr val="7C8598"/>
                </a:solidFill>
                <a:latin typeface="Pretendard" pitchFamily="34" charset="0"/>
                <a:ea typeface="Pretendard" pitchFamily="34" charset="-122"/>
                <a:cs typeface="Pretendard" pitchFamily="34" charset="-120"/>
              </a:rPr>
              <a:t>임베딩  /  1</a:t>
            </a:r>
            <a:endParaRPr lang="en-US" sz="1400" dirty="0"/>
          </a:p>
        </p:txBody>
      </p:sp>
      <p:pic>
        <p:nvPicPr>
          <p:cNvPr id="46" name="그림 45">
            <a:extLst>
              <a:ext uri="{FF2B5EF4-FFF2-40B4-BE49-F238E27FC236}">
                <a16:creationId xmlns:a16="http://schemas.microsoft.com/office/drawing/2014/main" id="{F8D27F18-7B35-85E7-017A-1271973730F3}"/>
              </a:ext>
            </a:extLst>
          </p:cNvPr>
          <p:cNvPicPr>
            <a:picLocks noChangeAspect="1"/>
          </p:cNvPicPr>
          <p:nvPr/>
        </p:nvPicPr>
        <p:blipFill>
          <a:blip r:embed="rId3"/>
          <a:stretch>
            <a:fillRect/>
          </a:stretch>
        </p:blipFill>
        <p:spPr>
          <a:xfrm>
            <a:off x="10104683" y="2606040"/>
            <a:ext cx="2787793" cy="228611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433</Words>
  <Application>Microsoft Office PowerPoint</Application>
  <PresentationFormat>사용자 지정</PresentationFormat>
  <Paragraphs>37</Paragraphs>
  <Slides>1</Slides>
  <Notes>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Arial</vt:lpstr>
      <vt:lpstr>Pretendard</vt:lpstr>
      <vt:lpstr>Office Theme</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임베딩의 원리와 모델</dc:title>
  <dc:subject>임베딩 원리, 본문과 메타데이터, Local과 Cloud 모델</dc:subject>
  <dc:creator>design-agentic-ai</dc:creator>
  <cp:lastModifiedBy>해경 이</cp:lastModifiedBy>
  <cp:revision>3</cp:revision>
  <dcterms:created xsi:type="dcterms:W3CDTF">2026-10-01T13:05:48Z</dcterms:created>
  <dcterms:modified xsi:type="dcterms:W3CDTF">2026-10-01T13:14:51Z</dcterms:modified>
</cp:coreProperties>
</file>