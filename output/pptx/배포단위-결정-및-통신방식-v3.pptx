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3ebc856e6642fa" /><Relationship Type="http://schemas.openxmlformats.org/officeDocument/2006/relationships/extended-properties" Target="/docProps/app.xml" Id="R1643c403ad96439b" /><Relationship Type="http://schemas.openxmlformats.org/officeDocument/2006/relationships/officeDocument" Target="/ppt/presentation.xml" Id="Rebe1d0a2fc8247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880b9f0d7340a1"/>
  </p:sldMasterIdLst>
  <p:notesMasterIdLst>
    <p:notesMasterId xmlns:r="http://schemas.openxmlformats.org/officeDocument/2006/relationships" r:id="Rb5b6e2c49a294054"/>
  </p:notesMasterIdLst>
  <p:sldIdLst>
    <p:sldId xmlns:r="http://schemas.openxmlformats.org/officeDocument/2006/relationships" id="256" r:id="Re7ce49977cb242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0404829ff43ed" /><Relationship Type="http://schemas.openxmlformats.org/officeDocument/2006/relationships/slideMaster" Target="/ppt/slideMasters/slideMaster1.xml" Id="R7f880b9f0d7340a1" /><Relationship Type="http://schemas.openxmlformats.org/officeDocument/2006/relationships/notesMaster" Target="/ppt/notesMasters/notesMaster1.xml" Id="Rb5b6e2c49a294054" /><Relationship Type="http://schemas.openxmlformats.org/officeDocument/2006/relationships/presProps" Target="/ppt/presProps.xml" Id="Re8893c178bce4bee" /><Relationship Type="http://schemas.openxmlformats.org/officeDocument/2006/relationships/tableStyles" Target="/ppt/tableStyles.xml" Id="Rb98abacda607489b" /><Relationship Type="http://schemas.openxmlformats.org/officeDocument/2006/relationships/slide" Target="/ppt/slides/slide1.xml" Id="Re7ce49977cb242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2c11a0325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721a61b9454cf0" /><Relationship Type="http://schemas.openxmlformats.org/officeDocument/2006/relationships/notesMaster" Target="/ppt/notesMasters/notesMaster1.xml" Id="R0fc6cafcb0e643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판단: 상담 오케스트레이션과 조회·분석은 동기 REST/gRPC로 연결함. 문서 색인은 Message Queue 비동기로 분리함. P-2 장애 시 P-1은 상담사 이관 또는 제한된 제안으로 전환해야 장애 격리 효과가 생김.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2513703d241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fec8807174749" /><Relationship Type="http://schemas.openxmlformats.org/officeDocument/2006/relationships/slideLayout" Target="/ppt/slideLayouts/slideLayout1.xml" Id="Rdbbb955c530949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b955c530949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3c0b067aa4752" /><Relationship Type="http://schemas.openxmlformats.org/officeDocument/2006/relationships/notesSlide" Target="/ppt/notesSlides/notesSlide1.xml" Id="R8fa286a307744d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8FAC7-57E8-4FA0-9C2F-1173FFDD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② 논리 아키텍처 › 프로세스 분리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6447A-4335-44B0-B347-CD38E9FE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31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내부 서비스 배포 단위 결정과 통신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02A2-E94D-4A86-8A42-AE19F5A6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0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E29D2-8303-46C4-A182-945C01F7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9683-A599-408B-9F6A-951CDAD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287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세 개의 배포 단위로 분리하고, 상담 흐름은 동기 통신으로 연결하며 문서 색인은 MQ 비동기로 격리함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FFE5B-DE40-45AB-8644-CDAB03CF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6762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4개 질문 기준 배포 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894B0-5933-497A-B1E8-6D57AD35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28750"/>
            <a:ext cx="44291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배포 단위 간 통신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381000" y="1905000"/>
          <a:ext xmlns:a="http://schemas.openxmlformats.org/drawingml/2006/main" cx="6762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781050"/>
                <a:gridCol w="781050"/>
                <a:gridCol w="781050"/>
                <a:gridCol w="781050"/>
                <a:gridCol w="14954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1E2A5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후보</a:t>
                      </a:r>
                    </a:p>
                  </a:txBody>
                  <a:tcPr marL="47625" marR="47625" marT="38100" marB="38100" anchor="ctr">
                    <a:solidFill>
                      <a:srgbClr val="E2EE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1E2A5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독립 배포</a:t>
                      </a:r>
                    </a:p>
                  </a:txBody>
                  <a:tcPr marL="47625" marR="47625" marT="38100" marB="38100" anchor="ctr">
                    <a:solidFill>
                      <a:srgbClr val="E2EE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1E2A5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독립 확장</a:t>
                      </a:r>
                    </a:p>
                  </a:txBody>
                  <a:tcPr marL="47625" marR="47625" marT="38100" marB="38100" anchor="ctr">
                    <a:solidFill>
                      <a:srgbClr val="E2EE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1E2A5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장애 격리</a:t>
                      </a:r>
                    </a:p>
                  </a:txBody>
                  <a:tcPr marL="47625" marR="47625" marT="38100" marB="38100" anchor="ctr">
                    <a:solidFill>
                      <a:srgbClr val="E2EE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1E2A5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트리거 상이</a:t>
                      </a:r>
                    </a:p>
                  </a:txBody>
                  <a:tcPr marL="47625" marR="47625" marT="38100" marB="38100" anchor="ctr">
                    <a:solidFill>
                      <a:srgbClr val="E2EE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1E2A5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47625" marR="47625" marT="38100" marB="38100" anchor="ctr">
                    <a:solidFill>
                      <a:srgbClr val="E2EEF9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색인 ↔ 상담 요청 처리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 미확정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2E74C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P-3 분리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상담 핵심 ↔ 조회·분석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 미확정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2E74C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P-1·P-2 분리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상담 진행 ↔ 제안 작성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2E74C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P-1로 합침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현황 ↔ 지식 검색 ↔ 이탈 예측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조건부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조건부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>
                          <a:solidFill>
                            <a:srgbClr val="4A53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00" b="1">
                          <a:solidFill>
                            <a:srgbClr val="2E74C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P-2로 합침</a:t>
                      </a:r>
                    </a:p>
                  </a:txBody>
                  <a:tcPr marL="47625" marR="47625" marT="38100" marB="381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C8E88-C3A9-422A-BE10-F8963B22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676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3335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최종 배포 단위</a:t>
            </a:r>
          </a:p>
          <a:p xmlns:a="http://schemas.openxmlformats.org/drawingml/2006/main">
            <a:pPr algn="l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P-1 상담 오케스트레이션  상담 진행 관리·상담 제안 작성</a:t>
            </a:r>
          </a:p>
          <a:p xmlns:a="http://schemas.openxmlformats.org/drawingml/2006/main">
            <a:pPr algn="l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P-2 조회·분석  고객 현황 조회·지식 검색·이탈 위험 예측</a:t>
            </a:r>
          </a:p>
          <a:p xmlns:a="http://schemas.openxmlformats.org/drawingml/2006/main">
            <a:pPr algn="l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P-3 문서 색인 Worker  문서 색인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B1C05-8B5A-404B-AD3D-87FBC9BD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1666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19050">
            <a:solidFill>
              <a:srgbClr val="1E2A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P-1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상담 오케스트레이션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상담 진행 관리
상담 제안 작성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B4AA7-430C-4102-A36D-F2DD3F61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47875"/>
            <a:ext cx="1666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P-2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조회·분석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고객 현황·지식 검색
이탈 위험 예측
인덱스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D0CE9-514B-47F4-B98C-D548B761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1666875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7C859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B3242"/>
                </a:solidFill>
                <a:latin typeface="Noto Sans KR"/>
                <a:ea typeface="Noto Sans KR"/>
                <a:cs typeface="Noto Sans KR"/>
              </a:rPr>
              <a:t>MQ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B3242"/>
                </a:solidFill>
                <a:latin typeface="Noto Sans KR"/>
                <a:ea typeface="Noto Sans KR"/>
                <a:cs typeface="Noto Sans KR"/>
              </a:rPr>
              <a:t>색인 작업 메시지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2B3242"/>
                </a:solidFill>
                <a:latin typeface="Noto Sans KR"/>
                <a:ea typeface="Noto Sans KR"/>
                <a:cs typeface="Noto Sans KR"/>
              </a:rPr>
              <a:t>요청·완료·실패 이벤트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7D055-2D93-4185-BAED-7F9D49CD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666875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19050">
            <a:solidFill>
              <a:srgbClr val="40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P-3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문서 색인 Worker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문서 색인
인덱스 쓰기</a:t>
            </a:r>
          </a:p>
        </p:txBody>
      </p: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39250" y="26908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4C6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405813" y="333375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598"/>
            </a:solidFill>
            <a:prstDash val="dash"/>
            <a:headEnd type="triangle" w="sm" len="sm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39250" y="5238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598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2AB13-6BA2-472F-AFCB-6010B162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81375"/>
            <a:ext cx="21907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P-1 ↔ P-2  동기 REST/gRPC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67C23-9375-4BAB-B0F0-9E693DA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00500"/>
            <a:ext cx="21907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404155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04155"/>
                </a:solidFill>
                <a:latin typeface="Noto Sans KR"/>
                <a:ea typeface="Noto Sans KR"/>
                <a:cs typeface="Noto Sans KR"/>
              </a:rPr>
              <a:t>P-1 ↔ P-3  MQ 비동기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FCAFB-F610-46F0-8F5D-27469E6A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857875"/>
            <a:ext cx="40957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공유 문서·벡터 인덱스: P-3 쓰기 · P-2 읽기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4A8F4-06CB-4A3E-BA31-740164B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86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실선  동기 통신    점선  MQ 비동기 통신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F1D4D-FDF4-423C-8F18-79BC0A37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817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570FC-E31B-48B7-A4B2-E895ACD0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08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Agentic AI Architecture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066FA-5B30-4FE5-B9B1-66CA056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008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1384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2026-09-26T02:43:10.4040000Z</dcterms:created>
  <dcterms:modified xsi:type="dcterms:W3CDTF">2026-09-26T02:43:10.4040000Z</dcterms:modified>
</coreProperties>
</file>