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b9ec59181f4857" /><Relationship Type="http://schemas.openxmlformats.org/officeDocument/2006/relationships/extended-properties" Target="/docProps/app.xml" Id="Rf1c730b8521e4af9" /><Relationship Type="http://schemas.openxmlformats.org/officeDocument/2006/relationships/officeDocument" Target="/ppt/presentation.xml" Id="R69cfb66f92e14a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dad4445e0e40cf"/>
  </p:sldMasterIdLst>
  <p:notesMasterIdLst>
    <p:notesMasterId xmlns:r="http://schemas.openxmlformats.org/officeDocument/2006/relationships" r:id="Ra64b6ab90ff348ee"/>
  </p:notesMasterIdLst>
  <p:sldIdLst>
    <p:sldId xmlns:r="http://schemas.openxmlformats.org/officeDocument/2006/relationships" id="256" r:id="R48e116eac478470d"/>
    <p:sldId xmlns:r="http://schemas.openxmlformats.org/officeDocument/2006/relationships" id="257" r:id="R165e8e0eb51c4151"/>
    <p:sldId xmlns:r="http://schemas.openxmlformats.org/officeDocument/2006/relationships" id="258" r:id="R9ed490bccdf14b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6be7e52746411d" /><Relationship Type="http://schemas.openxmlformats.org/officeDocument/2006/relationships/slideMaster" Target="/ppt/slideMasters/slideMaster1.xml" Id="Re8dad4445e0e40cf" /><Relationship Type="http://schemas.openxmlformats.org/officeDocument/2006/relationships/notesMaster" Target="/ppt/notesMasters/notesMaster1.xml" Id="Ra64b6ab90ff348ee" /><Relationship Type="http://schemas.openxmlformats.org/officeDocument/2006/relationships/presProps" Target="/ppt/presProps.xml" Id="R3a528e3f4904400b" /><Relationship Type="http://schemas.openxmlformats.org/officeDocument/2006/relationships/tableStyles" Target="/ppt/tableStyles.xml" Id="Rc71b58f344eb4d48" /><Relationship Type="http://schemas.openxmlformats.org/officeDocument/2006/relationships/slide" Target="/ppt/slides/slide1.xml" Id="R48e116eac478470d" /><Relationship Type="http://schemas.openxmlformats.org/officeDocument/2006/relationships/slide" Target="/ppt/slides/slide2.xml" Id="R165e8e0eb51c4151" /><Relationship Type="http://schemas.openxmlformats.org/officeDocument/2006/relationships/slide" Target="/ppt/slides/slide3.xml" Id="R9ed490bccdf14b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0c4158c74342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08fecfe5d94b9d" /><Relationship Type="http://schemas.openxmlformats.org/officeDocument/2006/relationships/notesMaster" Target="/ppt/notesMasters/notesMaster1.xml" Id="R6e59c9ad06e34d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fdfcecd5554a8b" /><Relationship Type="http://schemas.openxmlformats.org/officeDocument/2006/relationships/notesMaster" Target="/ppt/notesMasters/notesMaster1.xml" Id="Rb60ec2d256114f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b78b6880094e79" /><Relationship Type="http://schemas.openxmlformats.org/officeDocument/2006/relationships/notesMaster" Target="/ppt/notesMasters/notesMaster1.xml" Id="R771d17cabd1c44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협의한 S-03부터 S-08까지의 Given–When–Then 시나리오를 표로 정리함.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협의한 S-03부터 S-08까지의 Given–When–Then 시나리오를 표로 정리함.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협의한 S-03부터 S-08까지의 Given–When–Then 시나리오를 표로 정리함.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7c2f97fecb42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30d8a3cd1344fb" /><Relationship Type="http://schemas.openxmlformats.org/officeDocument/2006/relationships/slideLayout" Target="/ppt/slideLayouts/slideLayout1.xml" Id="Rd3f714916d8642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f714916d8642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af70f4d794c8a" /><Relationship Type="http://schemas.openxmlformats.org/officeDocument/2006/relationships/notesSlide" Target="/ppt/notesSlides/notesSlide1.xml" Id="R197b23a8926d4f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8850a44f748d7" /><Relationship Type="http://schemas.openxmlformats.org/officeDocument/2006/relationships/notesSlide" Target="/ppt/notesSlides/notesSlide2.xml" Id="Rb6fafa3e07f445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04d70cd8e47bd" /><Relationship Type="http://schemas.openxmlformats.org/officeDocument/2006/relationships/notesSlide" Target="/ppt/notesSlides/notesSlide3.xml" Id="R2cb262fc98d142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rumb-1">
            <a:extLst xmlns:a="http://schemas.openxmlformats.org/drawingml/2006/main">
              <a:ext uri="{FF2B5EF4-FFF2-40B4-BE49-F238E27FC236}">
                <a16:creationId xmlns:a16="http://schemas.microsoft.com/office/drawing/2014/main" id="{B46D4E98-E451-4A49-AA1D-74D5AA7A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7단계 시나리오 구체화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ADC15553-6233-469A-9F0D-13A31C2F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S-03·S-04 시나리오</a:t>
            </a:r>
          </a:p>
        </p:txBody>
      </p:sp>
      <p:sp>
        <p:nvSpPr>
          <p:cNvPr id="3" name="title-rule-1">
            <a:extLst xmlns:a="http://schemas.openxmlformats.org/drawingml/2006/main">
              <a:ext uri="{FF2B5EF4-FFF2-40B4-BE49-F238E27FC236}">
                <a16:creationId xmlns:a16="http://schemas.microsoft.com/office/drawing/2014/main" id="{18083346-8AD9-42AC-AC43-0DC7A8C6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accent-1">
            <a:extLst xmlns:a="http://schemas.openxmlformats.org/drawingml/2006/main">
              <a:ext uri="{FF2B5EF4-FFF2-40B4-BE49-F238E27FC236}">
                <a16:creationId xmlns:a16="http://schemas.microsoft.com/office/drawing/2014/main" id="{5A9A9F50-EC44-4852-B4FF-7BE107E1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ead-1">
            <a:extLst xmlns:a="http://schemas.openxmlformats.org/drawingml/2006/main">
              <a:ext uri="{FF2B5EF4-FFF2-40B4-BE49-F238E27FC236}">
                <a16:creationId xmlns:a16="http://schemas.microsoft.com/office/drawing/2014/main" id="{60891764-D424-4E6E-BB31-72D8796D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고객 현황 확보와 질문 관련 문단 검색의 정상 흐름과 예외 조건을 Given–When–Then으로 구체화함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23850" y="1504950"/>
          <a:ext xmlns:a="http://schemas.openxmlformats.org/drawingml/2006/main" cx="11239500" cy="4838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095500"/>
                <a:gridCol w="2857500"/>
                <a:gridCol w="2190750"/>
                <a:gridCol w="3143250"/>
              </a:tblGrid>
              <a:tr h="45720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슬라이스 ID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시나리오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Given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When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Then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</a:tr>
              <a:tr h="109537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S-03</a:t>
                      </a:r>
                    </a:p>
                  </a:txBody>
                  <a:tcPr marL="76200" marR="76200" marT="57150" marB="57150" anchor="ctr"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현황이 정상적으로 확보됨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E-2가 발생하고 회원 ID와 조회 기준일이 유효하며 고객정보계와 카드이용계가 정상 상태임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C-3 고객 현황 확보를 요청함</a:t>
                      </a:r>
                    </a:p>
                  </a:txBody>
                  <a:tcPr marL="76200" marR="76200" marT="57150" marB="57150" anchor="ctr">
                    <a:solidFill>
                      <a:srgbClr val="F7FAF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카드 ID, 상품 ID, 승인 사용액, 출처, 기준시점이 포함된 E-3가 발생함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S-03</a:t>
                      </a:r>
                    </a:p>
                  </a:txBody>
                  <a:tcPr marL="76200" marR="76200" marT="57150" marB="57150" anchor="ctr"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정보 시스템이 응답하지 않음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조회 경로가 선택되었지만 고객정보계 또는 카드이용계가 제한 시간 안에 응답하지 않음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C-3 고객 현황 확보를 요청함</a:t>
                      </a:r>
                    </a:p>
                  </a:txBody>
                  <a:tcPr marL="76200" marR="76200" marT="57150" marB="57150" anchor="ctr">
                    <a:solidFill>
                      <a:srgbClr val="F7FAF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확보가 보류되고 응답하지 않은 시스템, 실패 원인과 재시도 가능 여부가 기록됨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</a:tr>
              <a:tr h="109537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S-04</a:t>
                      </a:r>
                    </a:p>
                  </a:txBody>
                  <a:tcPr marL="76200" marR="76200" marT="57150" marB="57150" anchor="ctr"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질문과 관련된 문단이 검색됨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검색 경로가 선택되고 질문, 회원 ID, 접근 범위와 벡터 색인이 준비됨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C-4 질문 관련 문단 검색을 요청함</a:t>
                      </a:r>
                    </a:p>
                  </a:txBody>
                  <a:tcPr marL="76200" marR="76200" marT="57150" marB="57150" anchor="ctr">
                    <a:solidFill>
                      <a:srgbClr val="F7FAF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ID, 관련 문단, 유사도, 원문 위치와 버전이 포함된 E-4가 발생함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S-04</a:t>
                      </a:r>
                    </a:p>
                  </a:txBody>
                  <a:tcPr marL="76200" marR="76200" marT="57150" marB="57150" anchor="ctr"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관련도 기준을 충족하는 문단이 없음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벡터 색인은 정상이나 관련도 기준 이상의 문단이 존재하지 않음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C-4 질문 관련 문단 검색을 요청함</a:t>
                      </a:r>
                    </a:p>
                  </a:txBody>
                  <a:tcPr marL="76200" marR="76200" marT="57150" marB="57150" anchor="ctr">
                    <a:solidFill>
                      <a:srgbClr val="F7FAF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빈 검색 결과와 검색 조건, 관련도 기준, 색인 버전이 포함된 E-4가 발생함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BF03F815-4B7B-4CA3-B394-F748A706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8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B5F39AC5-C7CE-44C7-93A7-A8D2301B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9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452C4B2C-5FB8-4735-B31E-4AA360FE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1 / 3</a:t>
            </a:r>
          </a:p>
        </p:txBody>
      </p:sp>
    </p:spTree>
    <p:extLst>
      <p:ext uri="{BB962C8B-B14F-4D97-AF65-F5344CB8AC3E}">
        <p14:creationId xmlns:p14="http://schemas.microsoft.com/office/powerpoint/2010/main" val="16720821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rumb-2">
            <a:extLst xmlns:a="http://schemas.openxmlformats.org/drawingml/2006/main">
              <a:ext uri="{FF2B5EF4-FFF2-40B4-BE49-F238E27FC236}">
                <a16:creationId xmlns:a16="http://schemas.microsoft.com/office/drawing/2014/main" id="{0744D13F-A313-4E52-91C5-DC1A3195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7단계 시나리오 구체화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BB4C455-DC67-4EBB-9FA1-5C251274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S-05·S-06 시나리오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32CE3779-A5CC-4B96-B517-A57100FA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accent-2">
            <a:extLst xmlns:a="http://schemas.openxmlformats.org/drawingml/2006/main">
              <a:ext uri="{FF2B5EF4-FFF2-40B4-BE49-F238E27FC236}">
                <a16:creationId xmlns:a16="http://schemas.microsoft.com/office/drawing/2014/main" id="{8656B226-59DC-4079-96DB-71298B87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ead-2">
            <a:extLst xmlns:a="http://schemas.openxmlformats.org/drawingml/2006/main">
              <a:ext uri="{FF2B5EF4-FFF2-40B4-BE49-F238E27FC236}">
                <a16:creationId xmlns:a16="http://schemas.microsoft.com/office/drawing/2014/main" id="{C28A086F-10E2-4528-9B88-F72A0E7E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보유 카드 관련 근거 조회와 이탈 위험 예측의 정상 흐름과 예외 조건을 Given–When–Then으로 구체화함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23850" y="1504950"/>
          <a:ext xmlns:a="http://schemas.openxmlformats.org/drawingml/2006/main" cx="11239500" cy="4838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095500"/>
                <a:gridCol w="2857500"/>
                <a:gridCol w="2190750"/>
                <a:gridCol w="3143250"/>
              </a:tblGrid>
              <a:tr h="45720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슬라이스 ID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시나리오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Given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When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Then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</a:tr>
              <a:tr h="109537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S-05</a:t>
                      </a:r>
                    </a:p>
                  </a:txBody>
                  <a:tcPr marL="76200" marR="76200" marT="57150" marB="57150" anchor="ctr"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보유 카드와 연결된 근거가 조회됨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회원의 카드 보유 관계가 확인되고 카드와 상품, 문서, 상담 이력의 관계 데이터가 존재함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C-5 보유 카드 관련 근거 조회를 요청함</a:t>
                      </a:r>
                    </a:p>
                  </a:txBody>
                  <a:tcPr marL="76200" marR="76200" marT="57150" marB="57150" anchor="ctr">
                    <a:solidFill>
                      <a:srgbClr val="F7FAF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카드–상품–문서 연결 관계, 관련 문단, 상담 근거와 출처가 포함된 E-5가 발생함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S-05</a:t>
                      </a:r>
                    </a:p>
                  </a:txBody>
                  <a:tcPr marL="76200" marR="76200" marT="57150" marB="57150" anchor="ctr"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보유 카드와 연결된 근거가 없음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회원의 카드 보유 관계는 확인되었지만 연결된 문서 또는 상담 근거가 존재하지 않음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C-5 보유 카드 관련 근거 조회를 요청함</a:t>
                      </a:r>
                    </a:p>
                  </a:txBody>
                  <a:tcPr marL="76200" marR="76200" marT="57150" marB="57150" anchor="ctr">
                    <a:solidFill>
                      <a:srgbClr val="F7FAF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빈 근거 목록과 확인한 관계 경로, 근거가 없는 이유가 포함된 E-5가 발생함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</a:tr>
              <a:tr h="109537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S-06</a:t>
                      </a:r>
                    </a:p>
                  </a:txBody>
                  <a:tcPr marL="76200" marR="76200" marT="57150" marB="57150" anchor="ctr"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위험이 정상적으로 예측됨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ID, 고객 현황, 예측 기간과 필요한 예측 입력 변수가 준비됨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C-6 이탈 위험 예측을 요청함</a:t>
                      </a:r>
                    </a:p>
                  </a:txBody>
                  <a:tcPr marL="76200" marR="76200" marT="57150" marB="57150" anchor="ctr">
                    <a:solidFill>
                      <a:srgbClr val="F7FAF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확률, 위험 등급, 판단 신호, 모델 버전과 입력 데이터 기준시점이 포함된 E-6가 발생함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S-06</a:t>
                      </a:r>
                    </a:p>
                  </a:txBody>
                  <a:tcPr marL="76200" marR="76200" marT="57150" marB="57150" anchor="ctr"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필수 예측 입력 변수가 누락됨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현황은 확보되었지만 예측에 필요한 필수 입력 변수의 일부가 누락됨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C-6 이탈 위험 예측을 요청함</a:t>
                      </a:r>
                    </a:p>
                  </a:txBody>
                  <a:tcPr marL="76200" marR="76200" marT="57150" marB="57150" anchor="ctr">
                    <a:solidFill>
                      <a:srgbClr val="F7FAF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예측이 보류되고 누락된 입력 변수, 보류 사유와 재시도 조건이 기록됨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3D8BF7F3-F122-4D39-BBA8-0F321CCE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8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9C46F0C7-2F55-42CB-9D62-9CFDCAE5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F36138E5-BCB2-4822-A47E-749549D0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2 / 3</a:t>
            </a:r>
          </a:p>
        </p:txBody>
      </p:sp>
    </p:spTree>
    <p:extLst>
      <p:ext uri="{BB962C8B-B14F-4D97-AF65-F5344CB8AC3E}">
        <p14:creationId xmlns:p14="http://schemas.microsoft.com/office/powerpoint/2010/main" val="16518341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rumb-3">
            <a:extLst xmlns:a="http://schemas.openxmlformats.org/drawingml/2006/main">
              <a:ext uri="{FF2B5EF4-FFF2-40B4-BE49-F238E27FC236}">
                <a16:creationId xmlns:a16="http://schemas.microsoft.com/office/drawing/2014/main" id="{5BC5C0BA-EEF5-47C7-869D-C3670A14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7단계 시나리오 구체화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640BCF3-80D3-4AEA-9E31-72A71422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S-07·S-08 시나리오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951123FC-CEAE-4BDE-BBE8-25E1B87A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accent-3">
            <a:extLst xmlns:a="http://schemas.openxmlformats.org/drawingml/2006/main">
              <a:ext uri="{FF2B5EF4-FFF2-40B4-BE49-F238E27FC236}">
                <a16:creationId xmlns:a16="http://schemas.microsoft.com/office/drawing/2014/main" id="{E5A796F1-1BC7-465F-AA89-4A45A38B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ead-3">
            <a:extLst xmlns:a="http://schemas.openxmlformats.org/drawingml/2006/main">
              <a:ext uri="{FF2B5EF4-FFF2-40B4-BE49-F238E27FC236}">
                <a16:creationId xmlns:a16="http://schemas.microsoft.com/office/drawing/2014/main" id="{46A7A280-7BA3-450E-B705-2A538C0C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상담 제안용 정보 구성과 상담 제안 작성의 정상 흐름과 예외 조건을 Given–When–Then으로 구체화함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23850" y="1504950"/>
          <a:ext xmlns:a="http://schemas.openxmlformats.org/drawingml/2006/main" cx="11239500" cy="4838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095500"/>
                <a:gridCol w="2857500"/>
                <a:gridCol w="2190750"/>
                <a:gridCol w="3143250"/>
              </a:tblGrid>
              <a:tr h="45720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슬라이스 ID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시나리오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Given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When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Then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</a:tr>
              <a:tr h="109537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S-07</a:t>
                      </a:r>
                    </a:p>
                  </a:txBody>
                  <a:tcPr marL="76200" marR="76200" marT="57150" marB="57150" anchor="ctr"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제안에 사용할 정보가 구성됨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E-3, E-4, E-5가 완료되고 E-6이 완료되거나 보류 상태로 결정됨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C-7 상담 제안용 정보 구성을 요청함</a:t>
                      </a:r>
                    </a:p>
                  </a:txBody>
                  <a:tcPr marL="76200" marR="76200" marT="57150" marB="57150" anchor="ctr">
                    <a:solidFill>
                      <a:srgbClr val="F7FAF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선택한 고객 현황, 검색 근거, 예측 결과와 선택·제외 이유가 포함된 E-7이 발생함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S-07</a:t>
                      </a:r>
                    </a:p>
                  </a:txBody>
                  <a:tcPr marL="76200" marR="76200" marT="57150" marB="57150" anchor="ctr"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제안에 사용할 근거가 부족함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검색과 예측이 완료되었지만 신뢰할 수 있는 문서·상담 근거가 없거나 필수 정보가 누락됨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C-7 상담 제안용 정보 구성을 요청함</a:t>
                      </a:r>
                    </a:p>
                  </a:txBody>
                  <a:tcPr marL="76200" marR="76200" marT="57150" marB="57150" anchor="ctr">
                    <a:solidFill>
                      <a:srgbClr val="F7FAF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 구성이 보류되고 부족한 정보, 제외한 결과, 보류 이유와 사람의 검토 필요 여부가 기록됨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</a:tr>
              <a:tr h="109537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S-08</a:t>
                      </a:r>
                    </a:p>
                  </a:txBody>
                  <a:tcPr marL="76200" marR="76200" marT="57150" marB="57150" anchor="ctr"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근거가 포함된 상담 제안이 작성됨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E-7이 발생하고 선택된 정보의 출처와 사용 권한이 유효함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C-8 상담 제안 작성을 요청함</a:t>
                      </a:r>
                    </a:p>
                  </a:txBody>
                  <a:tcPr marL="76200" marR="76200" marT="57150" marB="57150" anchor="ctr">
                    <a:solidFill>
                      <a:srgbClr val="F7FAF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제안 ID, 제안 내용, 참조 근거와 주의사항이 포함된 E-8이 발생함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S-08</a:t>
                      </a:r>
                    </a:p>
                  </a:txBody>
                  <a:tcPr marL="76200" marR="76200" marT="57150" marB="57150" anchor="ctr"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제안의 근거 검증을 통과하지 못함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제안은 생성되었지만 내용과 참조 근거가 일치하지 않거나 금지된 표현이 발견됨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C-8 상담 제안 작성을 요청함</a:t>
                      </a:r>
                    </a:p>
                  </a:txBody>
                  <a:tcPr marL="76200" marR="76200" marT="57150" marB="57150" anchor="ctr">
                    <a:solidFill>
                      <a:srgbClr val="F7FAF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제안 작성이 보류되고 검증 실패 항목, 사용하지 않은 생성 결과와 사람의 검토 필요 여부가 기록됨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0444BDD6-9082-4800-9D71-3D489331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8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CD4820C7-E2B2-4505-8613-D29B3481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9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3C8130BC-F0B7-415C-8648-CEF2E187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17669623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2026-09-24T02:43:32.5940000Z</dcterms:created>
  <dcterms:modified xsi:type="dcterms:W3CDTF">2026-09-24T02:43:32.5940000Z</dcterms:modified>
</coreProperties>
</file>