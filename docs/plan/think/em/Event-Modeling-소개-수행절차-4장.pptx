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출처: docs/plan/think/em/이탈위험방지-이벤트모델링-작성가이드.md. 사례는 설계용 가상 데이터. 블로그: https://happycloud-lee.tistory.com/301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E-1~E-10 및 I-1은 설계 예시. 출처: docs/plan/think/em/이탈위험방지-이벤트모델링-작성가이드.md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CHURN-DEMO의 예측 수치는 가상 값. 출처: docs/plan/think/em/이탈위험방지-이벤트모델링-작성가이드.md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스웜레인 이름은 내부 서비스의 1차 후보이며 서비스 경계는 후속 논리 아키텍처 설계에서 조정. 출처: docs/plan/think/em/이탈위험방지-이벤트모델링-작성가이드.md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56032"/>
            <a:ext cx="13972032" cy="1078992"/>
          </a:xfrm>
          <a:prstGeom prst="roundRect">
            <a:avLst>
              <a:gd name="adj" fmla="val 7627"/>
            </a:avLst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57607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문장으로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176272" y="502920"/>
            <a:ext cx="117591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업무에서 일어난 사실을 시간순으로 놓고, 요청과 화면에 필요한 정보를 연결하는 설계 방법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1536192"/>
            <a:ext cx="138805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 카드 해지 상담에서 ‘초안 작성’과 ‘초안 반환’을 서로 다른 사실로 기록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207568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절차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9184" y="2770632"/>
            <a:ext cx="1901952" cy="2962656"/>
          </a:xfrm>
          <a:prstGeom prst="roundRect">
            <a:avLst>
              <a:gd name="adj" fmla="val 4327"/>
            </a:avLst>
          </a:prstGeom>
          <a:solidFill>
            <a:srgbClr val="F7FA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999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후보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2648" y="4306824"/>
            <a:ext cx="1335024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4462272"/>
            <a:ext cx="16824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추적할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사실을 찾음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327148" y="2770632"/>
            <a:ext cx="1901952" cy="2962656"/>
          </a:xfrm>
          <a:prstGeom prst="roundRect">
            <a:avLst>
              <a:gd name="adj" fmla="val 4327"/>
            </a:avLst>
          </a:prstGeom>
          <a:solidFill>
            <a:srgbClr val="F7FA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9524" y="2999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9524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55164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610612" y="4306824"/>
            <a:ext cx="1335024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36876" y="4462272"/>
            <a:ext cx="16824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이벤트와 선행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작업을 순서대로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25112" y="2770632"/>
            <a:ext cx="1901952" cy="2962656"/>
          </a:xfrm>
          <a:prstGeom prst="roundRect">
            <a:avLst>
              <a:gd name="adj" fmla="val 4327"/>
            </a:avLst>
          </a:prstGeom>
          <a:solidFill>
            <a:srgbClr val="F7FA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7488" y="2999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3128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608576" y="4306824"/>
            <a:ext cx="1335024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462272"/>
            <a:ext cx="16824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입력과 표시 항목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구상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23076" y="2770632"/>
            <a:ext cx="1901952" cy="2962656"/>
          </a:xfrm>
          <a:prstGeom prst="roundRect">
            <a:avLst>
              <a:gd name="adj" fmla="val 4327"/>
            </a:avLst>
          </a:prstGeom>
          <a:solidFill>
            <a:srgbClr val="F7FA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5452" y="2999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545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51092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커맨드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606540" y="4306824"/>
            <a:ext cx="1335024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2804" y="4462272"/>
            <a:ext cx="16824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행동·자동화를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요청에 연결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321040" y="2770632"/>
            <a:ext cx="1901952" cy="2962656"/>
          </a:xfrm>
          <a:prstGeom prst="roundRect">
            <a:avLst>
              <a:gd name="adj" fmla="val 4327"/>
            </a:avLst>
          </a:prstGeom>
          <a:solidFill>
            <a:srgbClr val="F7FA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43416" y="2999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3416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449056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모델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8604504" y="4306824"/>
            <a:ext cx="1335024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4462272"/>
            <a:ext cx="16824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값의 출처와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조합 방법 정의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319004" y="2770632"/>
            <a:ext cx="1901952" cy="2962656"/>
          </a:xfrm>
          <a:prstGeom prst="roundRect">
            <a:avLst>
              <a:gd name="adj" fmla="val 4327"/>
            </a:avLst>
          </a:prstGeom>
          <a:solidFill>
            <a:srgbClr val="F7FA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41380" y="2999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04138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44702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스웜레인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0602468" y="4306824"/>
            <a:ext cx="1335024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28732" y="4462272"/>
            <a:ext cx="16824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레이어별 카드를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업무영역으로 묶음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316968" y="2770632"/>
            <a:ext cx="1901952" cy="2962656"/>
          </a:xfrm>
          <a:prstGeom prst="roundRect">
            <a:avLst>
              <a:gd name="adj" fmla="val 4327"/>
            </a:avLst>
          </a:prstGeom>
          <a:solidFill>
            <a:srgbClr val="F7FA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039344" y="29992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039344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2444984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사양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12600432" y="4306824"/>
            <a:ext cx="1335024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426696" y="4462272"/>
            <a:ext cx="168249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성공·재시도·예외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기준을 사례로 기록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329184" y="6089904"/>
            <a:ext cx="6830568" cy="1024128"/>
          </a:xfrm>
          <a:prstGeom prst="roundRect">
            <a:avLst>
              <a:gd name="adj" fmla="val 8036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6190488"/>
            <a:ext cx="6501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전    다른 업무 범위와 별도 배치 작업을 구분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7360920" y="6089904"/>
            <a:ext cx="6940296" cy="1024128"/>
          </a:xfrm>
          <a:prstGeom prst="roundRect">
            <a:avLst>
              <a:gd name="adj" fmla="val 8036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25512" y="6190488"/>
            <a:ext cx="6611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   화면의 값을 원천 이벤트까지 거슬러 확인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402336" y="7351776"/>
            <a:ext cx="1362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입력  내부 서비스 후보 · 외부 시스템 · 외부 사용자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347472" y="7882128"/>
            <a:ext cx="13935456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7936992"/>
            <a:ext cx="8138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위험 방지 · Event Modeling 작성 예시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3304520" y="793699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225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 Modeling  ›  수행 절차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4048" y="576072"/>
            <a:ext cx="1385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1~2단계  이벤트 후보와 시간표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13862304" cy="0"/>
          </a:xfrm>
          <a:prstGeom prst="line">
            <a:avLst/>
          </a:prstGeom>
          <a:noFill/>
          <a:ln w="254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98448"/>
            <a:ext cx="1947672" cy="0"/>
          </a:xfrm>
          <a:prstGeom prst="line">
            <a:avLst/>
          </a:prstGeom>
          <a:noFill/>
          <a:ln w="38100">
            <a:solidFill>
              <a:srgbClr val="2E74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882128"/>
            <a:ext cx="13935456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936992"/>
            <a:ext cx="8138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위험 방지 · Event Modeling 작성 예시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304520" y="793699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1572768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7276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563624"/>
            <a:ext cx="6007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확인할 사실을 모음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75488" y="2066544"/>
            <a:ext cx="6583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업무가 끝난 뒤 설명해야 할 결과를 과거형으로 적음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" y="2642616"/>
            <a:ext cx="6336792" cy="877824"/>
          </a:xfrm>
          <a:prstGeom prst="roundRect">
            <a:avLst>
              <a:gd name="adj" fmla="val 937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98064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E-8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99032" y="2761488"/>
            <a:ext cx="4937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초안이 작성되었음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99032" y="31272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DRAFT-01/v1 저장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" y="3721608"/>
            <a:ext cx="6336792" cy="877824"/>
          </a:xfrm>
          <a:prstGeom prst="roundRect">
            <a:avLst>
              <a:gd name="adj" fmla="val 937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77056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E-9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99032" y="3840480"/>
            <a:ext cx="4937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데이터가 반환되었음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99032" y="42062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ID · 초안 버전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" y="4800600"/>
            <a:ext cx="6336792" cy="877824"/>
          </a:xfrm>
          <a:prstGeom prst="roundRect">
            <a:avLst>
              <a:gd name="adj" fmla="val 937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95604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E-10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99032" y="4919472"/>
            <a:ext cx="4937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확인이 기록되었음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99032" y="52852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상담사 A-07의 확인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" y="6062472"/>
            <a:ext cx="6336792" cy="1005840"/>
          </a:xfrm>
          <a:prstGeom prst="roundRect">
            <a:avLst>
              <a:gd name="adj" fmla="val 818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163056"/>
            <a:ext cx="6007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초안을 캐시에서 다시 반환하면 E-9를 남길 수 있음.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쓰지 않았다면 E-8은 반복하지 않음.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315200" y="1572768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157276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845552" y="1563624"/>
            <a:ext cx="6236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상담의 가능한 기록 순서로 배열</a:t>
            </a:r>
            <a:endParaRPr lang="en-US" sz="2500" dirty="0"/>
          </a:p>
        </p:txBody>
      </p:sp>
      <p:sp>
        <p:nvSpPr>
          <p:cNvPr id="30" name="Shape 28"/>
          <p:cNvSpPr/>
          <p:nvPr/>
        </p:nvSpPr>
        <p:spPr>
          <a:xfrm>
            <a:off x="7315200" y="2112264"/>
            <a:ext cx="6748272" cy="630936"/>
          </a:xfrm>
          <a:prstGeom prst="roundRect">
            <a:avLst>
              <a:gd name="adj" fmla="val 1304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2212848"/>
            <a:ext cx="64190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전 별도 흐름  I-1 문서 색인·관계 자료 준비 완료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315200" y="3054096"/>
            <a:ext cx="1243584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15784" y="3209544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E-1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397496" y="35935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접수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668512" y="3054096"/>
            <a:ext cx="1243584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69096" y="3209544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E-2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750808" y="35935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결정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021824" y="3054096"/>
            <a:ext cx="1243584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22408" y="3209544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E-3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0104120" y="35935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 확보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375136" y="3054096"/>
            <a:ext cx="1243584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75720" y="3209544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E-4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11457432" y="35935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후보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2728448" y="3054096"/>
            <a:ext cx="1243584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829032" y="3209544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E-5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2810744" y="35935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경로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15200" y="4480560"/>
            <a:ext cx="1243584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15784" y="4636008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E-6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7397496" y="50200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예측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668512" y="4480560"/>
            <a:ext cx="1243584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69096" y="4636008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E-7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8750808" y="50200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선정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021824" y="4480560"/>
            <a:ext cx="1243584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22408" y="4636008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E-8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10104120" y="50200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작성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375136" y="4480560"/>
            <a:ext cx="1243584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75720" y="4636008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E-9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11457432" y="50200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반환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2728448" y="4480560"/>
            <a:ext cx="1243584" cy="1207008"/>
          </a:xfrm>
          <a:prstGeom prst="roundRect">
            <a:avLst>
              <a:gd name="adj" fmla="val 6818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829032" y="4636008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E-10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12810744" y="502005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확인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315200" y="6089904"/>
            <a:ext cx="6748272" cy="1005840"/>
          </a:xfrm>
          <a:prstGeom prst="roundRect">
            <a:avLst>
              <a:gd name="adj" fmla="val 818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79792" y="6190488"/>
            <a:ext cx="64190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번호는 기록을 읽는 기준임. 실제 실행의 병렬 시작과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 조건은 자동화·사양에 별도로 명시함.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225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 Modeling  ›  수행 절차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4048" y="576072"/>
            <a:ext cx="1385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3~5단계  화면·요청·결과 연결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13862304" cy="0"/>
          </a:xfrm>
          <a:prstGeom prst="line">
            <a:avLst/>
          </a:prstGeom>
          <a:noFill/>
          <a:ln w="254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98448"/>
            <a:ext cx="1947672" cy="0"/>
          </a:xfrm>
          <a:prstGeom prst="line">
            <a:avLst/>
          </a:prstGeom>
          <a:noFill/>
          <a:ln w="38100">
            <a:solidFill>
              <a:srgbClr val="2E74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882128"/>
            <a:ext cx="13935456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936992"/>
            <a:ext cx="8138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위험 방지 · Event Modeling 작성 예시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304520" y="793699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1527048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2704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517904"/>
            <a:ext cx="131856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 필요한 값을 먼저 정함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484632" y="2075688"/>
            <a:ext cx="4370832" cy="749808"/>
          </a:xfrm>
          <a:prstGeom prst="roundRect">
            <a:avLst>
              <a:gd name="adj" fmla="val 1097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212848"/>
            <a:ext cx="1581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U-1 문의 접수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203704" y="2139696"/>
            <a:ext cx="2487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회원·상담 질문 입력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56632" y="2075688"/>
            <a:ext cx="4370832" cy="749808"/>
          </a:xfrm>
          <a:prstGeom prst="roundRect">
            <a:avLst>
              <a:gd name="adj" fmla="val 1097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02936" y="2212848"/>
            <a:ext cx="1581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U-2 고객 현황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75704" y="2139696"/>
            <a:ext cx="2487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사용액·기준월·출처 표시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28632" y="2075688"/>
            <a:ext cx="4370832" cy="749808"/>
          </a:xfrm>
          <a:prstGeom prst="roundRect">
            <a:avLst>
              <a:gd name="adj" fmla="val 1097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74936" y="2212848"/>
            <a:ext cx="1581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U-3 초안 검토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347704" y="2139696"/>
            <a:ext cx="24871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제안·근거·예측·확인 상태 표시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" y="3099816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9981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090672"/>
            <a:ext cx="131856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작업 요청과 실행 조건에 연결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493776" y="3575304"/>
            <a:ext cx="1353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C-2 실행 경로 결정: 이번 복합 질문은 아래 네 경로를 선택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4632" y="3968496"/>
            <a:ext cx="3264408" cy="1088136"/>
          </a:xfrm>
          <a:prstGeom prst="roundRect">
            <a:avLst>
              <a:gd name="adj" fmla="val 756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123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C-3 정형검색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30936" y="4526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현황·예측 특징  ·  필수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22776" y="3968496"/>
            <a:ext cx="3264408" cy="1088136"/>
          </a:xfrm>
          <a:prstGeom prst="roundRect">
            <a:avLst>
              <a:gd name="adj" fmla="val 756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4123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C-4 벡터 검색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069080" y="4526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문단·H-17  ·  필수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60920" y="3968496"/>
            <a:ext cx="3264408" cy="1088136"/>
          </a:xfrm>
          <a:prstGeom prst="roundRect">
            <a:avLst>
              <a:gd name="adj" fmla="val 756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07224" y="4123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C-5 그래프 검색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507224" y="4526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상품·문서 연결  ·  필수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799064" y="3968496"/>
            <a:ext cx="3264408" cy="1088136"/>
          </a:xfrm>
          <a:prstGeom prst="roundRect">
            <a:avLst>
              <a:gd name="adj" fmla="val 756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45368" y="4123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C-6 예측형 AI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0945368" y="4526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90일 이탈 위험  ·  보조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2920" y="5202936"/>
            <a:ext cx="1364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C-3·C-4는 함께 시작 가능. C-5·C-6은 C-3에서 필요한 ID·특징이 준비되면 시작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475488" y="5696712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569671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005840" y="5687568"/>
            <a:ext cx="131856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결과를 취합해 U-3에 연결</a:t>
            </a:r>
            <a:endParaRPr lang="en-US" sz="2500" dirty="0"/>
          </a:p>
        </p:txBody>
      </p:sp>
      <p:sp>
        <p:nvSpPr>
          <p:cNvPr id="41" name="Shape 39"/>
          <p:cNvSpPr/>
          <p:nvPr/>
        </p:nvSpPr>
        <p:spPr>
          <a:xfrm>
            <a:off x="502920" y="6291072"/>
            <a:ext cx="2606040" cy="832104"/>
          </a:xfrm>
          <a:prstGeom prst="roundRect">
            <a:avLst>
              <a:gd name="adj" fmla="val 989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" y="642823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E-3·E-4·E-5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5216" y="672998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자료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291840" y="6291072"/>
            <a:ext cx="2606040" cy="832104"/>
          </a:xfrm>
          <a:prstGeom prst="roundRect">
            <a:avLst>
              <a:gd name="adj" fmla="val 989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74136" y="642823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374136" y="672998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완료·보류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080760" y="6291072"/>
            <a:ext cx="2606040" cy="832104"/>
          </a:xfrm>
          <a:prstGeom prst="roundRect">
            <a:avLst>
              <a:gd name="adj" fmla="val 98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63056" y="642823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C-7 / R-01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163056" y="672998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선정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869680" y="6291072"/>
            <a:ext cx="2606040" cy="832104"/>
          </a:xfrm>
          <a:prstGeom prst="roundRect">
            <a:avLst>
              <a:gd name="adj" fmla="val 98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51976" y="642823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C-8 / DRAFT-01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951976" y="672998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저장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1658600" y="6291072"/>
            <a:ext cx="2606040" cy="832104"/>
          </a:xfrm>
          <a:prstGeom prst="roundRect">
            <a:avLst>
              <a:gd name="adj" fmla="val 98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740896" y="6428232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V-3 / U-3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740896" y="672998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화면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02920" y="7351776"/>
            <a:ext cx="1362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예측값은 정책 근거와 구분. E-9 데이터 반환과 E-10 상담사 확인도 별도 기록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225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 Modeling  ›  수행 절차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4048" y="576072"/>
            <a:ext cx="13853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6~7단계  책임·사양과 설계 입력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13862304" cy="0"/>
          </a:xfrm>
          <a:prstGeom prst="line">
            <a:avLst/>
          </a:prstGeom>
          <a:noFill/>
          <a:ln w="254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98448"/>
            <a:ext cx="1947672" cy="0"/>
          </a:xfrm>
          <a:prstGeom prst="line">
            <a:avLst/>
          </a:prstGeom>
          <a:noFill/>
          <a:ln w="38100">
            <a:solidFill>
              <a:srgbClr val="2E74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882128"/>
            <a:ext cx="13935456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936992"/>
            <a:ext cx="8138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위험 방지 · Event Modeling 작성 예시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304520" y="7936992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1536192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3619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527048"/>
            <a:ext cx="80284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스웜레인을 업무영역의 행으로 배치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93776" y="1984248"/>
            <a:ext cx="8394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열은 업무 진행 단계, 카드 색은 레이어, 카드 위 표기는 담당자 유형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432304"/>
          <a:ext cx="8449056" cy="914400"/>
        </p:xfrm>
        <a:graphic>
          <a:graphicData uri="http://schemas.openxmlformats.org/drawingml/2006/table">
            <a:tbl>
              <a:tblPr/>
              <a:tblGrid>
                <a:gridCol w="1673352"/>
                <a:gridCol w="2176272"/>
                <a:gridCol w="2286000"/>
                <a:gridCol w="23134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스웜레인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접수·라우팅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조회·예측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취합·반환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문의·결과 제공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C-1 / E-1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U-2 현황 표시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V-3 / E-9 / E-10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정보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경로·권한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C-3 / E-3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출처·기준시점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지식·관계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입력 준비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C-4·C-5 / E-4·E-5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원문·관계 원천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 판단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C-2 / E-2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C-6 / E-6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C-7·C-8 / E-7·E-8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75488" y="5358384"/>
            <a:ext cx="8449056" cy="850392"/>
          </a:xfrm>
          <a:prstGeom prst="roundRect">
            <a:avLst>
              <a:gd name="adj" fmla="val 9677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5458968"/>
            <a:ext cx="81198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열의 작업도 병렬 실행 가능.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시작·대기 조건은 자동화와 사양에 명시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9345168" y="1536192"/>
            <a:ext cx="393192" cy="393192"/>
          </a:xfrm>
          <a:prstGeom prst="roundRect">
            <a:avLst>
              <a:gd name="adj" fmla="val 13953"/>
            </a:avLst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45168" y="153619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875520" y="1527048"/>
            <a:ext cx="4233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조건이 바뀌는 사례로 검증</a:t>
            </a:r>
            <a:endParaRPr lang="en-US" sz="2500" dirty="0"/>
          </a:p>
        </p:txBody>
      </p:sp>
      <p:sp>
        <p:nvSpPr>
          <p:cNvPr id="19" name="Shape 16"/>
          <p:cNvSpPr/>
          <p:nvPr/>
        </p:nvSpPr>
        <p:spPr>
          <a:xfrm>
            <a:off x="9354312" y="3090672"/>
            <a:ext cx="4828032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72600" y="246888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사용액만 질문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548872" y="246888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C-3만 선택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354312" y="3895344"/>
            <a:ext cx="4828032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72600" y="327355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5초 초과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1548872" y="327355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확률 없이 예측 보류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354312" y="4700016"/>
            <a:ext cx="4828032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72600" y="40782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C-5 실패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11548872" y="407822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작성 보류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354312" y="5504688"/>
            <a:ext cx="4828032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72600" y="488289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캐시 초안 반환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11548872" y="488289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E-9만 새로 기록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75488" y="6419088"/>
            <a:ext cx="8366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논리 설계로 넘길 후보</a:t>
            </a:r>
            <a:endParaRPr lang="en-US" sz="2300" dirty="0"/>
          </a:p>
        </p:txBody>
      </p:sp>
      <p:sp>
        <p:nvSpPr>
          <p:cNvPr id="32" name="Shape 29"/>
          <p:cNvSpPr/>
          <p:nvPr/>
        </p:nvSpPr>
        <p:spPr>
          <a:xfrm>
            <a:off x="475488" y="6839712"/>
            <a:ext cx="4407408" cy="676656"/>
          </a:xfrm>
          <a:prstGeom prst="roundRect">
            <a:avLst>
              <a:gd name="adj" fmla="val 1216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" y="693115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서비스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783080" y="68762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관리 · 고객 정보 조회 · 상담 근거 검색 · 상담 지원 · 지식 준비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084064" y="6839712"/>
            <a:ext cx="4407408" cy="676656"/>
          </a:xfrm>
          <a:prstGeom prst="roundRect">
            <a:avLst>
              <a:gd name="adj" fmla="val 1216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21224" y="693115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시스템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91656" y="68762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정보계 · 문서/검색 저장소 · 예측/생성형 AI 서비스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9692640" y="6839712"/>
            <a:ext cx="4407408" cy="676656"/>
          </a:xfrm>
          <a:prstGeom prst="roundRect">
            <a:avLst>
              <a:gd name="adj" fmla="val 1216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829800" y="693115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사용자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000232" y="68762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상담사 A-07 직접 사용자 · 고객 M-204 간접 참여자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Modeling 소개·수행 절차</dc:title>
  <dc:subject>Event Modeling 소개와 이탈위험방지 상담 사례의 7단계 수행 절차</dc:subject>
  <dc:creator>design-agentic-ai</dc:creator>
  <cp:lastModifiedBy>design-agentic-ai</cp:lastModifiedBy>
  <cp:revision>1</cp:revision>
  <dcterms:created xsi:type="dcterms:W3CDTF">2026-09-22T11:04:00Z</dcterms:created>
  <dcterms:modified xsi:type="dcterms:W3CDTF">2026-09-22T11:04:00Z</dcterms:modified>
</cp:coreProperties>
</file>