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66db8005c34ccd" /><Relationship Type="http://schemas.openxmlformats.org/officeDocument/2006/relationships/extended-properties" Target="/docProps/app.xml" Id="R46af21dc606a49bc" /><Relationship Type="http://schemas.openxmlformats.org/officeDocument/2006/relationships/officeDocument" Target="/ppt/presentation.xml" Id="Rc453589f68a942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1bf8a221b74169"/>
  </p:sldMasterIdLst>
  <p:notesMasterIdLst>
    <p:notesMasterId xmlns:r="http://schemas.openxmlformats.org/officeDocument/2006/relationships" r:id="Rd3ef025373ee4114"/>
  </p:notesMasterIdLst>
  <p:sldIdLst>
    <p:sldId xmlns:r="http://schemas.openxmlformats.org/officeDocument/2006/relationships" id="256" r:id="R2713f5f6c0ce4ee4"/>
    <p:sldId xmlns:r="http://schemas.openxmlformats.org/officeDocument/2006/relationships" id="257" r:id="R33ceb4d7394445d8"/>
    <p:sldId xmlns:r="http://schemas.openxmlformats.org/officeDocument/2006/relationships" id="258" r:id="Ra6ddabef15734477"/>
    <p:sldId xmlns:r="http://schemas.openxmlformats.org/officeDocument/2006/relationships" id="259" r:id="Rf7bccf100d3e429a"/>
    <p:sldId xmlns:r="http://schemas.openxmlformats.org/officeDocument/2006/relationships" id="260" r:id="Ra87aaab5a8244274"/>
    <p:sldId xmlns:r="http://schemas.openxmlformats.org/officeDocument/2006/relationships" id="261" r:id="R24e2d7606bf841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cb1bbaa5064568" /><Relationship Type="http://schemas.openxmlformats.org/officeDocument/2006/relationships/slideMaster" Target="/ppt/slideMasters/slideMaster1.xml" Id="R2c1bf8a221b74169" /><Relationship Type="http://schemas.openxmlformats.org/officeDocument/2006/relationships/notesMaster" Target="/ppt/notesMasters/notesMaster1.xml" Id="Rd3ef025373ee4114" /><Relationship Type="http://schemas.openxmlformats.org/officeDocument/2006/relationships/presProps" Target="/ppt/presProps.xml" Id="R4d38ee920c9f442b" /><Relationship Type="http://schemas.openxmlformats.org/officeDocument/2006/relationships/tableStyles" Target="/ppt/tableStyles.xml" Id="Rfad59f918f6f438d" /><Relationship Type="http://schemas.openxmlformats.org/officeDocument/2006/relationships/slide" Target="/ppt/slides/slide1.xml" Id="R2713f5f6c0ce4ee4" /><Relationship Type="http://schemas.openxmlformats.org/officeDocument/2006/relationships/slide" Target="/ppt/slides/slide2.xml" Id="R33ceb4d7394445d8" /><Relationship Type="http://schemas.openxmlformats.org/officeDocument/2006/relationships/slide" Target="/ppt/slides/slide3.xml" Id="Ra6ddabef15734477" /><Relationship Type="http://schemas.openxmlformats.org/officeDocument/2006/relationships/slide" Target="/ppt/slides/slide4.xml" Id="Rf7bccf100d3e429a" /><Relationship Type="http://schemas.openxmlformats.org/officeDocument/2006/relationships/slide" Target="/ppt/slides/slide5.xml" Id="Ra87aaab5a8244274" /><Relationship Type="http://schemas.openxmlformats.org/officeDocument/2006/relationships/slide" Target="/ppt/slides/slide6.xml" Id="R24e2d7606bf841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92ba50cfc041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5c166be7644878" /><Relationship Type="http://schemas.openxmlformats.org/officeDocument/2006/relationships/notesMaster" Target="/ppt/notesMasters/notesMaster1.xml" Id="Rc7301b1b9aa649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0e6b3212a04abe" /><Relationship Type="http://schemas.openxmlformats.org/officeDocument/2006/relationships/notesMaster" Target="/ppt/notesMasters/notesMaster1.xml" Id="R101bb773efda42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38e06736b14bd2" /><Relationship Type="http://schemas.openxmlformats.org/officeDocument/2006/relationships/notesMaster" Target="/ppt/notesMasters/notesMaster1.xml" Id="Rdfd0981b4a8d4b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06077c5f2644ae" /><Relationship Type="http://schemas.openxmlformats.org/officeDocument/2006/relationships/notesMaster" Target="/ppt/notesMasters/notesMaster1.xml" Id="R65932235701b4d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ecaf913dfc470a" /><Relationship Type="http://schemas.openxmlformats.org/officeDocument/2006/relationships/notesMaster" Target="/ppt/notesMasters/notesMaster1.xml" Id="R4e7f9cc53c764f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9d676212844edb" /><Relationship Type="http://schemas.openxmlformats.org/officeDocument/2006/relationships/notesMaster" Target="/ppt/notesMasters/notesMaster1.xml" Id="Rbe612e68c0ad44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작성가이드 4단계. C-2에서 생성형 AI는 질문 해석을 돕고 규칙 기반 코드가 경로와 조건을 확정함.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작성가이드 4단계의 병렬 실행 설명. C-4는 상품이 확정되기 전 관련 문서 후보를 찾음.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작성가이드 4단계. 예측 특징은 기준시점 이전 자료로 구성하며 검색 상위 결과 수를 상담 횟수로 쓰지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작성가이드 5단계. 필수 경로 실패 시 근거 선정과 초안 작성을 진행하지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작성가이드 4 ~ 5단계. 데이터 반환 E-9와 상담사 확인 E-10을 별도 사실로 유지함.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9d055012242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b93fbe4eba43c0" /><Relationship Type="http://schemas.openxmlformats.org/officeDocument/2006/relationships/slideLayout" Target="/ppt/slideLayouts/slideLayout1.xml" Id="R0208e6ab10874a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08e6ab10874a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cd8226cee4563" /><Relationship Type="http://schemas.openxmlformats.org/officeDocument/2006/relationships/notesSlide" Target="/ppt/notesSlides/notesSlide1.xml" Id="Rf5b3753a4d3049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1ad1533a6466c" /><Relationship Type="http://schemas.openxmlformats.org/officeDocument/2006/relationships/notesSlide" Target="/ppt/notesSlides/notesSlide2.xml" Id="R64c49ad88f194a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1915246484569" /><Relationship Type="http://schemas.openxmlformats.org/officeDocument/2006/relationships/notesSlide" Target="/ppt/notesSlides/notesSlide3.xml" Id="R484aafd50dfb46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e7cf45d804ef3" /><Relationship Type="http://schemas.openxmlformats.org/officeDocument/2006/relationships/notesSlide" Target="/ppt/notesSlides/notesSlide4.xml" Id="R4fb0544b4c9142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23622b00a4e60" /><Relationship Type="http://schemas.openxmlformats.org/officeDocument/2006/relationships/notesSlide" Target="/ppt/notesSlides/notesSlide5.xml" Id="R42f34bb8b3ca44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d099a02494516" /><Relationship Type="http://schemas.openxmlformats.org/officeDocument/2006/relationships/notesSlide" Target="/ppt/notesSlides/notesSlide6.xml" Id="R25c385112a5e4b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BD8301-740F-4DF8-81C8-C792818F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51BE2-1E56-4F57-9909-494A2F37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4단계 완료 예시를 읽는 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BF2B0-8AFA-4A33-8714-2A283E83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20838-E023-4EC8-90CA-3C199D5F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D1949-F9F5-4E84-9052-CD6C90FD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3단계에서 찾은 시작 Trigger를 작업 요청 Command와 결과 Event에 연결함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A077F-E01E-4A5F-AED1-7516820A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6BEC7-D001-4F87-8A94-344FA23F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9C727-D918-4681-ABA0-98E56776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1 /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4031B-7FE4-48D2-B8CE-EB232854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81150"/>
            <a:ext cx="13144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9525">
            <a:solidFill>
              <a:srgbClr val="2E7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CD82C-4114-4E26-AFDD-C5B1EB91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1085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화면·자동화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D7255-1EB5-45C1-A861-C0B7F31F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81150"/>
            <a:ext cx="9810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62C36-18D5-4B7C-BF35-7DF8CB03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09900"/>
            <a:ext cx="1314450" cy="13335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9525">
            <a:solidFill>
              <a:srgbClr val="1E2A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9ACEA-E5FD-45B6-BF63-F102C95A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05150"/>
            <a:ext cx="1085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4A64F-D3EB-4491-AB9A-65D3421F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09900"/>
            <a:ext cx="9810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085BB-72D4-4F67-B981-99C8E3C0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629150"/>
            <a:ext cx="13144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9525">
            <a:solidFill>
              <a:srgbClr val="40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55BF0-9CF5-405A-B088-548E78C7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724400"/>
            <a:ext cx="1085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797ED-43FF-4648-92E7-19DFCD09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29150"/>
            <a:ext cx="9810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9E5A1-D3B8-4997-B627-F60C8CBD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85925"/>
            <a:ext cx="6048375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F82E8-7027-469A-80C8-529CB2CC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800225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3DBBF-3C09-4B74-AA2B-7278C5E1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81927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사용자 Trigger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5B2C8-A2E9-4E4E-8C75-59FD9BD5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05025"/>
            <a:ext cx="5705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상담사가 문의 접수 화면에서 상담 시작을 선택하면 문의 접수가 시작됨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A291A-9C5D-4B4D-ADC6-0F485ECE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09825"/>
            <a:ext cx="570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역할과 화면 행동으로 시작점을 표현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59E1F-C0AD-42C9-97DB-9B865A64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14675"/>
            <a:ext cx="6048375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7B41E3-AD40-4DDC-B6EB-82962EDD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28975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5BD99-8666-4205-8F1D-1D908468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480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  Command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210027-49F3-4155-B8B7-5160F56C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33775"/>
            <a:ext cx="5705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문의를 접수하라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38DDFE-E1AE-4D4F-B8F2-40281E6E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38575"/>
            <a:ext cx="570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7352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memberId · question · counselorId</a:t>
            </a:r>
          </a:p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규칙 기반 코드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A5CAA6-0B3C-42DC-9F06-DE39A2E5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33925"/>
            <a:ext cx="6048375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7B9C57-A859-4CA4-9AE0-07107870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48225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9E1AC0-51E0-4A7E-8723-7A3844C4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86727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  Event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6C8028-9959-418A-8D1C-33E63BBE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53025"/>
            <a:ext cx="5705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문의가 접수되었음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D9409F-F540-42A5-A69E-13403973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57825"/>
            <a:ext cx="570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consultationId · receivedAt · permissionState</a:t>
            </a:r>
          </a:p>
        </p:txBody>
      </p:sp>
      <p:cxnSp>
        <p:nvCxnSpPr>
          <p:cNvPr id="82" name=""/>
          <p:cNvCxnSpPr>
            <a:stCxn xmlns:a="http://schemas.openxmlformats.org/drawingml/2006/main" id="18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5005388" y="261937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23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5005388" y="423862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354697-BFF3-42D9-86BE-5EF4C77D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526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3A5538-25D3-4EDD-BDE2-711197A2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9AEC1F-BFCA-492D-95A1-06771D3B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7430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03CFE0-C79A-497A-B73E-7596F7E5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09775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누가 또는 무엇이 어떤 작업을 시작하는지 적음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A821DD-349E-4303-B356-939C1F39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8607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D292ED-981F-489B-8A28-95ACF846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956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7EFB48-7018-4440-BAB7-32F94B7C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76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88EA16-DB6D-4E24-8F62-0907A81E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4325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명령형 제목과 입력, 담당자 유형을 적음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E0B826-5896-4769-B3E6-A5347AD1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195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83DAD6-5194-4A0F-920D-F4A0C99E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290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E61BA1-1D31-472C-97EE-731B3621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100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1A7C1A-FF87-48AD-9C5D-9A1B8DA4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276725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과거형 제목과 결과, 출처·버전을 적음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65B8E4-4947-4D89-937F-ED33566B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48275"/>
            <a:ext cx="302895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2E7D6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350B07-634C-430E-93CA-BACD4033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3816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B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E7D6B"/>
                </a:solidFill>
                <a:latin typeface="Pretendard"/>
                <a:ea typeface="Pretendard"/>
                <a:cs typeface="Pretendard"/>
              </a:rPr>
              <a:t>완료 확인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3B8C14-E974-4B26-AAE2-E968C532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6388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모든 Command에 시작 Trigger가 있고,</a:t>
            </a:r>
          </a:p>
          <a:p xmlns:a="http://schemas.openxmlformats.org/drawingml/2006/main">
            <a:pPr algn="l">
              <a:defRPr sz="120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주요 Event마다 생성 Command가 있음</a:t>
            </a:r>
          </a:p>
        </p:txBody>
      </p:sp>
    </p:spTree>
    <p:extLst>
      <p:ext uri="{BB962C8B-B14F-4D97-AF65-F5344CB8AC3E}">
        <p14:creationId xmlns:p14="http://schemas.microsoft.com/office/powerpoint/2010/main" val="6060985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6DEA33-9CE6-4BE2-8CE3-6A206F88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E7631-80A4-4410-985B-061F6F14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 뒤 실행 경로를 정함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714FE-3399-4ECA-9A21-CD3ECA8E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4FB91-5B43-4FDD-88FA-6ED2975E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7BF58-F410-431D-B394-31549985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사용자 행동으로 문의를 접수하고, 접수 Event가 다음 자동화를 시작함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09903-2504-4685-AE27-4123C328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40788-8151-44E0-B76D-47E0425C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DE59E-848E-40BC-85F2-8048616B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2 /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1F4A6-3A1A-4243-A7B0-FF52F699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81150"/>
            <a:ext cx="13144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9525">
            <a:solidFill>
              <a:srgbClr val="2E7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762E4-8378-4E72-88C8-A32B162E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1085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화면·자동화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6FA09-C469-447D-B51A-EEA60D0E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81150"/>
            <a:ext cx="981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31172-BF0B-4937-8B58-5212ED07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09900"/>
            <a:ext cx="1314450" cy="138112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9525">
            <a:solidFill>
              <a:srgbClr val="1E2A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2C144-6C21-4099-86E2-A680C3B1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05150"/>
            <a:ext cx="10858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642BF-B968-48CB-9DFF-2ED0DE4A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09900"/>
            <a:ext cx="9810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32383-74C0-4F7B-9150-CAFE47E8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62500"/>
            <a:ext cx="1314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9525">
            <a:solidFill>
              <a:srgbClr val="40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AC9FC-1CF9-4C84-989D-505C3D67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57750"/>
            <a:ext cx="1085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9B1E1-84ED-45EA-B381-BE97C4C7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62500"/>
            <a:ext cx="9810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13829-C90F-4747-8AA0-5E57BF6D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04925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9B1E74-807D-4D26-B0D3-2A3843B7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335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접수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41076-8F6C-4E79-9DA3-501943AF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304925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4AE2F-E6E4-4734-8816-5AD36093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335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라우팅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A397A5-3BC6-40A5-B32D-6CA6CBDA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657350"/>
            <a:ext cx="462915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78A65E-DEFA-4635-AC96-D480FE3C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716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4F9BE-B6BE-49C0-BAEA-CCB21827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7907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사용자 Trigger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47065E-C1F8-49E5-92DD-294B1FC3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139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상담사가 U-1에서 상담 시작을 선택하면 문의 접수가 시작됨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B69CFF-5110-45AD-AA59-921CDACC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812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구체적인 상담사 번호 대신 역할을 사용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5F9E1A-5670-4C40-8694-ACA6D9EE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05150"/>
            <a:ext cx="462915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3D8F92-7D79-4FE6-B3FC-29D8C55F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194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A4132D-F2D5-4B1D-A01B-12BA042C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2385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  Command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870D72-7C8A-4600-8A95-11A7C62D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24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문의를 접수하라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01A69A-6EE6-4708-9735-DE054EF2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29050"/>
            <a:ext cx="4286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068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memberId · question · counselorId</a:t>
            </a:r>
          </a:p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규칙 기반 코드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EAE057-E101-4B09-9F6B-22127D06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57750"/>
            <a:ext cx="462915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1FCA71-4936-48CD-B206-A3CF6D89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720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A6F837-5FDE-4981-AAF3-4D9137B0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9911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  Event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00A99C-1D35-4AEF-9E01-B6081BAF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76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문의가 접수되었음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34F7FA-06BB-4A22-BCC1-D954EBF5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816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consultationId · receivedAt · permissionState</a:t>
            </a:r>
          </a:p>
        </p:txBody>
      </p:sp>
      <p:cxnSp>
        <p:nvCxnSpPr>
          <p:cNvPr id="94" name=""/>
          <p:cNvCxnSpPr>
            <a:stCxn xmlns:a="http://schemas.openxmlformats.org/drawingml/2006/main" id="22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238625" y="26289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27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4238625" y="429577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010573-A838-4E2C-8793-5DF51B75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449580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748CCE-2A31-4EAF-B91B-EE8BD1CB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716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17BCE6-14C6-4536-BA7E-AF9BE887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7907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Trigger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B2E808-0B32-498E-8390-460D88B3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764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31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‘문의가 접수되었음’ Event가 발생하면 실행 경로 결정이 시작됨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9DA3D4-23F2-4CDB-86A9-70E10F6E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81250"/>
            <a:ext cx="415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선행 Event를 자동 시작 원인으로 표현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0A9247-E923-49AE-98E6-46776E34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449580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CF49F9-69C1-476B-AFF9-DE945863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194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973FF8-332D-4C14-A30F-162F4A1F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385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C-2  Command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70ECE3-EC2A-4621-BE7C-E4769C91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실행 경로를 결정하라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E37C59-FACE-4C04-8895-65DF4C1B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29050"/>
            <a:ext cx="4152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068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question · permissionState · 상담 제약</a:t>
            </a:r>
          </a:p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생성형 AI 지원 · 규칙 기반 코드 확정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F9A7AE-D68D-44A4-9A94-03ACBABE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49580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2BC01B-361C-4A85-80D0-6E462846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720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7E5D85-9CC6-48CC-82C1-C98CF3E7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9911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E-2  Event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29A59D-3585-4F2E-A116-1D41338B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768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실행 경로가 정해졌음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338902-0B44-4E7B-A80B-6D8747BB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58165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selectedRoutes · requiredFlags · timeout · selectionReason</a:t>
            </a:r>
          </a:p>
        </p:txBody>
      </p:sp>
      <p:cxnSp>
        <p:nvCxnSpPr>
          <p:cNvPr id="111" name=""/>
          <p:cNvCxnSpPr>
            <a:stCxn xmlns:a="http://schemas.openxmlformats.org/drawingml/2006/main" id="39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9105900" y="26289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44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105900" y="429577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cxnSp>
        <p:nvCxnSpPr>
          <p:cNvPr id="113" name=""/>
          <p:cNvCxnSpPr>
            <a:stCxn xmlns:a="http://schemas.openxmlformats.org/drawingml/2006/main" id="32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6553200" y="2143125"/>
            <a:ext cx="304800" cy="3219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E74C6"/>
            </a:solidFill>
            <a:prstDash val="dash"/>
            <a:head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F31B1B7-7A36-4B4B-9023-D5DDCDEF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74C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E74C6"/>
                </a:solidFill>
                <a:latin typeface="Pretendard"/>
                <a:ea typeface="Pretendard"/>
                <a:cs typeface="Pretendard"/>
              </a:rPr>
              <a:t>E-1 발생</a:t>
            </a:r>
          </a:p>
        </p:txBody>
      </p:sp>
    </p:spTree>
    <p:extLst>
      <p:ext uri="{BB962C8B-B14F-4D97-AF65-F5344CB8AC3E}">
        <p14:creationId xmlns:p14="http://schemas.microsoft.com/office/powerpoint/2010/main" val="15953983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85C348-EE51-48FF-AE49-9D2A513F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BB5C4-5011-4ACC-8280-A52B14A2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정형검색과 유사도 검색을 함께 시작함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47EE9-C1DE-4A37-8F52-BC90E0FA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41534-14BE-4552-9B77-F644CAB7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33DE7-9688-4322-AA1C-717D79DA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E-2가 발생하고 각 경로가 선택되면 두 작업은 서로의 결과를 기다리지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6BF12-9D5F-4C1B-9C03-D5D04D22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33197-3659-4472-B9DB-CDC926E5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6EC2A-A22C-4DB3-87C6-A8362024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3 /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02AE9-F177-45C7-9C45-C07064A5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76400"/>
            <a:ext cx="13144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9525">
            <a:solidFill>
              <a:srgbClr val="2E7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56D1D-BE56-498A-827E-9B448478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71650"/>
            <a:ext cx="1085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008A9-6B72-49E8-AE2B-07284AC6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76400"/>
            <a:ext cx="981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CCB0B-9C33-4DDF-8376-B1EE642C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05150"/>
            <a:ext cx="1314450" cy="138112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9525">
            <a:solidFill>
              <a:srgbClr val="1E2A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3D340-3B38-4564-A633-25CD92B1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00400"/>
            <a:ext cx="10858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CA6F0-BFED-4956-AC84-1B97D7EC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05150"/>
            <a:ext cx="9810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8A39A-DF0C-434C-8526-C7A872C1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57750"/>
            <a:ext cx="1314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9525">
            <a:solidFill>
              <a:srgbClr val="40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30366-B1EA-4F85-90AB-87541283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53000"/>
            <a:ext cx="1085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FBCAF-F517-444F-818C-01CDED2A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57750"/>
            <a:ext cx="9810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B31A6-675F-48F4-A904-E8875CD2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62075"/>
            <a:ext cx="3810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28DBF9-FEC1-49E2-A856-315E83A4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90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6B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E7D6B"/>
                </a:solidFill>
                <a:latin typeface="Pretendard"/>
                <a:ea typeface="Pretendard"/>
                <a:cs typeface="Pretendard"/>
              </a:rPr>
              <a:t>E-2 발생 · C-3과 C-4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83728-E521-45D0-AB59-1EDFD13B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752600"/>
            <a:ext cx="462915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4A7D6-3851-4AB5-8921-DE64F859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8669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25863B-0660-4B73-9D24-84C5480D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8859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Trigger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FD612-4E39-462F-BBE3-288E7F44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71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C-3 경로가 선택되면 고객 현황 확보가 시작됨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C3870-3C6D-4FE1-9815-788760A8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필요 입력  memberId · asOfDate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0087EC-B388-4C60-B199-6B4F1B6C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00400"/>
            <a:ext cx="462915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54C677-49A5-45B2-B8C8-C17B1866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147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A7A833-5AB1-4ECD-81D1-46A611EB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3337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C-3  Command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9AEA63-7179-446D-BC1A-1A16BF3F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19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고객 현황을 확보하라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620919-E0B6-4F2C-9F93-713309FA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24300"/>
            <a:ext cx="4286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068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memberId · asOfDate</a:t>
            </a:r>
          </a:p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규칙 기반 코드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93147E-AE02-455E-8C73-B955D64F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53000"/>
            <a:ext cx="462915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604D04-7C65-417E-96A3-75DB82B5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673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765F3A-226B-40AE-B22C-D590B2FE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086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E-3  Event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DEF5CE-9A05-4531-88AE-1FFB5FB5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721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고객 현황이 확보되었음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6E2B60-D4B9-408C-9E78-7D13F7EE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769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106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cardId · productId · amount · predictionFeatures · source · asOfDate</a:t>
            </a:r>
          </a:p>
        </p:txBody>
      </p:sp>
      <p:cxnSp>
        <p:nvCxnSpPr>
          <p:cNvPr id="89" name=""/>
          <p:cNvCxnSpPr>
            <a:stCxn xmlns:a="http://schemas.openxmlformats.org/drawingml/2006/main" id="2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4238625" y="27241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25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4238625" y="439102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9534E6-6E43-4B1A-AD55-B283AA86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2600"/>
            <a:ext cx="449580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427E4B-1C64-4C4E-ACDB-0EF5FB1A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669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FAB711-965E-4A1C-8E15-A24AE354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8859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Trigger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44E9FB-F0AB-4A40-B4C8-CDAE4134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C-4 경로가 선택되면 문서 후보 확보가 시작됨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F8CF6F-740B-47DE-B672-B5631E4A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415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필요 입력  question · memberId · accessScope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CDF19F-03EA-4BBA-8892-C5DCA522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449580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7BA82F-7677-4E82-9FAA-89FB7D2F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147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DCDE3E-F0F6-4493-85F9-D22C26B7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3337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C-4  Command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2DD177-55D9-453B-A024-629BD22B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1950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문서 후보를 확보하라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EA2143-EE30-42F7-93FB-86804CCB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24300"/>
            <a:ext cx="4152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068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question · memberId · accessScope</a:t>
            </a:r>
          </a:p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규칙 기반 코드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072A8D-A576-4DC5-8938-E6020BFE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449580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F634D8-938B-4FC0-92CD-7E4DB785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673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5DA704-5502-43CF-9651-76684D9A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086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E-4  Event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401771-27DF-4B33-A8C2-43972296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7210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문서 후보가 확보되었음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35652A-F099-4B1D-9073-BB9F784C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769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documentId · paragraph · sourceLocation · version</a:t>
            </a:r>
          </a:p>
        </p:txBody>
      </p:sp>
      <p:cxnSp>
        <p:nvCxnSpPr>
          <p:cNvPr id="106" name=""/>
          <p:cNvCxnSpPr>
            <a:stCxn xmlns:a="http://schemas.openxmlformats.org/drawingml/2006/main" id="37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9105900" y="27241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2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9105900" y="439102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11904C-D98E-45E8-9E70-498F1430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194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7D6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7D6B"/>
                </a:solidFill>
                <a:latin typeface="Pretendard"/>
                <a:ea typeface="Pretendard"/>
                <a:cs typeface="Pretendard"/>
              </a:rPr>
              <a:t>함께 시작 가능</a:t>
            </a:r>
          </a:p>
        </p:txBody>
      </p:sp>
    </p:spTree>
    <p:extLst>
      <p:ext uri="{BB962C8B-B14F-4D97-AF65-F5344CB8AC3E}">
        <p14:creationId xmlns:p14="http://schemas.microsoft.com/office/powerpoint/2010/main" val="4986052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E8FD7F-BAD6-4416-8059-544262C2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8E214-B01A-4FBC-AC3C-4D4274B9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고객 현황이 준비되면 관계검색과 예측을 시작함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D9378-7D46-4BCE-A79C-C2E0F1F5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1AEC5-738A-4E72-8B80-3BE8D57B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7C65F-7CFC-4B9E-9C07-AB16EB0F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두 작업 모두 E-3 결과가 필요하지만 서로의 결과에는 의존하지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B0DC1-3FB2-40BA-8801-15A597EF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CE0A4-7387-404E-908C-B7F3E7C2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1E5E0-16A3-45EF-81B5-6408F5CE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4 /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3986F-704F-430F-A500-E033300F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76400"/>
            <a:ext cx="13144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9525">
            <a:solidFill>
              <a:srgbClr val="2E7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5B1B7-BFCD-4A0B-B1DB-4FA3A679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71650"/>
            <a:ext cx="1085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019CE-0A09-456F-8858-F9996928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76400"/>
            <a:ext cx="981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587BB-59D5-4701-804F-E261543C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05150"/>
            <a:ext cx="1314450" cy="138112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9525">
            <a:solidFill>
              <a:srgbClr val="1E2A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42A1B-841A-4FEB-A764-D0CC76EE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00400"/>
            <a:ext cx="10858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3C086-266F-4E79-94BC-D350C178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05150"/>
            <a:ext cx="9810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F5DA1-E1CF-4BE4-AA32-456D15BA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57750"/>
            <a:ext cx="1314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9525">
            <a:solidFill>
              <a:srgbClr val="40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348FB-D9E1-4CCF-B51F-12BD9CDE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53000"/>
            <a:ext cx="1085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6B58E-56A6-47B7-8B19-6527EF8C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57750"/>
            <a:ext cx="9810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7C3CB-DBA1-44D8-9D7B-9F4E305E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362075"/>
            <a:ext cx="567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0410E-85D6-44ED-917E-69B61DD9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39065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6B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E7D6B"/>
                </a:solidFill>
                <a:latin typeface="Pretendard"/>
                <a:ea typeface="Pretendard"/>
                <a:cs typeface="Pretendard"/>
              </a:rPr>
              <a:t>E-3 발생 · cardId/productId와 predictionFeatures 준비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1DB861-1998-403F-9C66-468DE499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752600"/>
            <a:ext cx="462915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B4F27C-A4B3-411F-ADC3-CD7D5685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8669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B0517-06F0-46AF-AC06-53CFA260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8859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Trigger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64802-1EEE-4D6A-860F-C66B10EC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71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63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cardId와 productId가 준비되면 관계 경로 확보가 시작됨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CF9CA-89DE-484C-9ED6-FEE847D1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추가 조건  E-2에서 C-5 경로 선택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AD6FCE-6FF7-4C59-B00A-1EAD2422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00400"/>
            <a:ext cx="462915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EDDF1D-B835-42E2-856C-F9287921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147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CF4B08-B15E-4D5E-81A8-21745E26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3337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C-5  Command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261115-8D3A-4BE0-ACA2-8DFE73BB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19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관계 경로를 확보하라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18680F-1DAD-4701-B35F-B3B6A2AB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24300"/>
            <a:ext cx="4286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068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memberId · cardId · productId</a:t>
            </a:r>
          </a:p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규칙 기반 코드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B407E7-1647-4642-8915-DFC9D3F7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53000"/>
            <a:ext cx="462915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F4A05C-C2BD-4CF5-9320-D9246CC5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673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AC7471-8E32-4F30-A854-5BF597BB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086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E-5  Event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63661B-32E8-4889-8BD8-4707C624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721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관계 경로가 확보되었음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094456-806B-46C7-9F11-D2EFA3FF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769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고객-카드-상품-문서 경로 · 각 연결의 원천</a:t>
            </a:r>
          </a:p>
        </p:txBody>
      </p:sp>
      <p:cxnSp>
        <p:nvCxnSpPr>
          <p:cNvPr id="89" name=""/>
          <p:cNvCxnSpPr>
            <a:stCxn xmlns:a="http://schemas.openxmlformats.org/drawingml/2006/main" id="2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4238625" y="27241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25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4238625" y="439102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EEA647-C5A8-4731-8E16-B2EF8A99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2600"/>
            <a:ext cx="449580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761D11-CF57-43FD-9663-76A53BDE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669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594268-BEC8-484D-ADDC-2DD2D593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8859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Trigger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40CD7B-64A2-4C6E-96A2-0553928A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63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predictionFeatures가 준비되면 이탈 위험 예측이 시작됨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B6948B-6814-47DB-BD11-1FE2EDFD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415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추가 조건  E-2에서 C-6 경로 선택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3A32F7-B540-4CA9-ADCB-47DD4C07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449580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7E8CE4-0904-4435-9717-F89F7F86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147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0CA407-A34E-42F0-995A-B1A9DE5F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3337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C-6  Command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1B9AB3-E9E5-450F-815E-BEF79E05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1950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이탈 위험을 예측하라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5C7B6C-4768-4890-8440-05CF86F7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24300"/>
            <a:ext cx="4152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068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predictionFeatures · horizon · modelVersion</a:t>
            </a:r>
          </a:p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예측형 AI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083F32-D633-451D-BA90-F13C3725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449580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8F9DB0-F916-4A2F-B046-ECF1A841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673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539E73-8B3A-424F-85D4-E291DF13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086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E-6  Event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0C6212-9D48-4EE7-8DFE-C1229FCB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7210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고객 이탈 위험이 예측되었음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E028A8-F5DC-4768-B046-D2450DB6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769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7785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probability · riskLevel · signals · horizon · modelVersion · featureAsOf</a:t>
            </a:r>
          </a:p>
        </p:txBody>
      </p:sp>
      <p:cxnSp>
        <p:nvCxnSpPr>
          <p:cNvPr id="106" name=""/>
          <p:cNvCxnSpPr>
            <a:stCxn xmlns:a="http://schemas.openxmlformats.org/drawingml/2006/main" id="37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9105900" y="27241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2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9105900" y="439102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E8026B-35F7-429F-A613-49855BA3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153150"/>
            <a:ext cx="676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74C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74C6"/>
                </a:solidFill>
                <a:latin typeface="Pretendard"/>
                <a:ea typeface="Pretendard"/>
                <a:cs typeface="Pretendard"/>
              </a:rPr>
              <a:t>C-5와 C-6은 함께 실행 가능 · C-4는 이때 검색 중일 수 있음</a:t>
            </a:r>
          </a:p>
        </p:txBody>
      </p:sp>
    </p:spTree>
    <p:extLst>
      <p:ext uri="{BB962C8B-B14F-4D97-AF65-F5344CB8AC3E}">
        <p14:creationId xmlns:p14="http://schemas.microsoft.com/office/powerpoint/2010/main" val="1177101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96F2FF-8C12-4800-A1AF-743450EB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C015D-DED6-48CF-A0D4-F9B01839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선택한 결과를 취합해 초안을 작성함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1DE35-E36B-4A09-AC95-ED0BD107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E57F1-DBB9-4F23-937D-78AC8A36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7CE8A-2BC4-4372-99D7-E1E6B132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선택한 경로의 완료 상태를 확인한 뒤 근거를 고르고, 선정된 근거로 초안을 작성함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3CB3F-8192-4166-881F-6C214896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343E4-E1F7-4731-8D03-82D93739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762C3-83B7-447D-8CBB-973D338A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5 /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402FB-3237-493D-BB1A-3A8F3AFA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81150"/>
            <a:ext cx="13144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9525">
            <a:solidFill>
              <a:srgbClr val="2E7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6EF00-0681-4D83-A720-DEDB4EC0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1085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F37E3-3849-4FCB-BF82-59D9D1F6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81150"/>
            <a:ext cx="9810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90923-6CBC-4152-BB9B-07E4F856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09900"/>
            <a:ext cx="1314450" cy="1428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9525">
            <a:solidFill>
              <a:srgbClr val="1E2A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E1E2B-7EC9-41EF-86DF-29688B8E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05150"/>
            <a:ext cx="1085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DDA0D-27A6-4D1C-8698-8F72F555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09900"/>
            <a:ext cx="981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3587D-B158-4E47-8FE5-C95E8FF4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62500"/>
            <a:ext cx="13144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9525">
            <a:solidFill>
              <a:srgbClr val="40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054F6-4ACD-4DEC-B6FF-BA73130A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57750"/>
            <a:ext cx="1085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98BFB-695B-4150-A4EE-2F49322F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62500"/>
            <a:ext cx="9810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4D502-778D-4991-A3D9-7816DE24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0492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A1EEFB-D3A6-415F-99CD-7DF7E7E7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33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결과 취합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A731F-CC99-45A0-B60D-6A3044EC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0492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E3084-9FA0-43B5-85D3-4832278C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33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초안 작성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3618F7-A4B4-4FA8-8BD7-AC79A831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657350"/>
            <a:ext cx="46291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CFEEA-9337-4472-B10A-3676307C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716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074979-837F-4137-A2B7-E343A896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7907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Trigger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D1AA38-202B-4E00-BAF2-4F5A982A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023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필수 E-3·E-4·E-5가 완료되고 E-6이 완료 또는 보류되면 근거 선정이 시작됨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DE138E-C514-4946-9499-A16EFA67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812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E-2 실행 계획에서 선택한 경로의 상태만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F5A55B-349F-4FA0-9473-87DBEEF6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05150"/>
            <a:ext cx="46291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8B02EF-C9D7-4FF4-96B9-A63389DC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194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A40800-B79D-4D3B-A691-D04FF5FB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2385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C-7  Command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56070D-9B42-4587-AF7E-8BBE1261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24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근거 묶음을 선정하라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3ADD53-4A04-44C6-BA8D-0A9B6AD8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290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executionPlan · E-3 ~ E-6 결과·상태</a:t>
            </a:r>
          </a:p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규칙 기반 코드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1836EB-161B-4246-A48A-5C15BF36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57750"/>
            <a:ext cx="46291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458925-1D6A-4C45-AF81-DD4D6408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720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4110EA-FC28-4899-98B6-7B3E09F1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9911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E-7  Event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6ABD13-6FB1-41CB-98DE-F9E731ED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76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근거 묶음이 선정되었음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01A300-40AF-4025-ACCC-0A368F78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816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90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R-01 · adoptedEvidence · excludedEvidence · cautions</a:t>
            </a:r>
          </a:p>
        </p:txBody>
      </p:sp>
      <p:cxnSp>
        <p:nvCxnSpPr>
          <p:cNvPr id="94" name=""/>
          <p:cNvCxnSpPr>
            <a:stCxn xmlns:a="http://schemas.openxmlformats.org/drawingml/2006/main" id="22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238625" y="26860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27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4238625" y="43434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E647BE-DBDB-4BAC-87D3-A1CD88F2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44958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DF1C04-D76B-4CBA-8900-0B3BC648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716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07E246-6BA2-4030-8612-A755502A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7907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Trigger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954387-E0C0-4104-85C5-B29AFD05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764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31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‘근거 묶음이 선정되었음’ Event가 발생하면 초안 작성이 시작됨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3ACDC6-7943-4DBA-8436-D4BEFC33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81250"/>
            <a:ext cx="415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근거 선정 보류 시 C-8을 시작하지 않음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7B6722-5450-4160-A7CF-63007072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44958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A23275-3A07-461B-958D-978CEAAE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194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43A6EA-8F43-42EC-A273-4575E578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385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C-8  Command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7D9D1B-CE9A-44C0-9AAD-350D3558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초안을 작성하라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2F5FCF-6AC4-4F51-8EAD-F9D3DAAA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29050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R-01 · 예측 결과/상태 · 고객 제약</a:t>
            </a:r>
          </a:p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생성형 AI · 규칙 기반 검증/저장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6C49BB-A892-44C4-8794-D2BFDEE2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4958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04DC63-E561-49B3-A92D-3A636B23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720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D41F22-3E98-4F64-8ABE-F6C3EB5C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9911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E-8  Event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C7B010-BD90-4F27-8AB2-04504D9F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768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초안이 작성되었음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4A1E54-C8BD-474B-B854-8A2CB0E4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58165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DRAFT-01/v1 · proposal · evidenceRefs · cautions</a:t>
            </a:r>
          </a:p>
        </p:txBody>
      </p:sp>
      <p:cxnSp>
        <p:nvCxnSpPr>
          <p:cNvPr id="111" name=""/>
          <p:cNvCxnSpPr>
            <a:stCxn xmlns:a="http://schemas.openxmlformats.org/drawingml/2006/main" id="39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9105900" y="26860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44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105900" y="43434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cxnSp>
        <p:nvCxnSpPr>
          <p:cNvPr id="113" name=""/>
          <p:cNvCxnSpPr>
            <a:stCxn xmlns:a="http://schemas.openxmlformats.org/drawingml/2006/main" id="32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6553200" y="2171700"/>
            <a:ext cx="304800" cy="3209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E74C6"/>
            </a:solidFill>
            <a:prstDash val="dash"/>
            <a:head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C7B3F1-02E3-4D1D-A323-FC218A5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74C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E74C6"/>
                </a:solidFill>
                <a:latin typeface="Pretendard"/>
                <a:ea typeface="Pretendard"/>
                <a:cs typeface="Pretendard"/>
              </a:rPr>
              <a:t>E-7 발생</a:t>
            </a:r>
          </a:p>
        </p:txBody>
      </p:sp>
    </p:spTree>
    <p:extLst>
      <p:ext uri="{BB962C8B-B14F-4D97-AF65-F5344CB8AC3E}">
        <p14:creationId xmlns:p14="http://schemas.microsoft.com/office/powerpoint/2010/main" val="7514836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C5FEBC3-8022-4A4D-BCD2-30210626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D81A3-403A-49A6-994A-E7CF83D7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초안 반환과 사람의 확인을 구분함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AC0EE-812E-46E1-BD41-A2028EE1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B6F59-731C-4494-AD8E-0E1D123D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14FE9-D4C5-40F2-B72D-AB46BAFB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서버가 데이터를 반환한 사실과 상담사가 내용을 확인한 사실을 각각 기록함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48416-8F13-498C-A403-4348299A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198C2-DA55-4C2B-9703-A02FD1EC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5635F-FC2B-460A-822A-76076071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6 /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2AD7B-9AA4-4743-9658-37CC94B8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81150"/>
            <a:ext cx="13144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9525">
            <a:solidFill>
              <a:srgbClr val="2E7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47762-1498-439F-A5CF-466BC8CD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1085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화면·자동화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29F9D-6BB7-4DCC-8D15-B864F2A3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81150"/>
            <a:ext cx="9810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18437-0ACF-40B4-9A2C-C1902765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09900"/>
            <a:ext cx="1314450" cy="1428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9525">
            <a:solidFill>
              <a:srgbClr val="1E2A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9068F-43AA-4438-B5B7-9A42778E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05150"/>
            <a:ext cx="1085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93267-E717-4894-B504-8E6E3727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09900"/>
            <a:ext cx="981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14022-98F2-487C-91CA-B9F77E41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62500"/>
            <a:ext cx="13144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9525">
            <a:solidFill>
              <a:srgbClr val="40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6F7AB-CFA1-46ED-BAD8-C9CEF04E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57750"/>
            <a:ext cx="1085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DAF00-CFEF-4FAE-85E5-B5C00289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62500"/>
            <a:ext cx="9810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25DF4-401F-48EB-B92D-77801ECD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0492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F9FCD1-1CB3-4152-BEF4-E2DD3BBE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33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데이터 반환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FB0505-5138-4D61-9A43-23ABC57E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0492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004C1-1B68-47BD-A48C-4816FBA9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33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사람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C220E-5E55-418D-B8E2-D1EC2730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657350"/>
            <a:ext cx="46291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99864-2B19-4223-BA12-2F2C19EC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716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43C276-1376-47B4-8DD0-5ED3AF1A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7907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Trigger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2AFB39-4ACD-42BF-809E-FF1158BB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31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E-8이 발생하고 화면 요청 Q-301이 도착하면 초안 반환이 시작됨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F87084-080A-4725-9669-732E9824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812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저장본·캐시·체크포인트 중 실제 sourceType을 남김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A7117F-F106-4ACD-8132-5166BFC5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05150"/>
            <a:ext cx="46291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D82ACB-D74A-468D-A46A-463350F7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194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776CE5-2CB1-44EC-AB80-A933E834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2385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C-9  Command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B54717-5A1A-457C-A823-89C8D5B9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24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초안 데이터를 반환하고 반환 이력을 기록하라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D82CC6-5D7D-41DC-BDB2-B7D2F356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290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requestId · consultationId · draftId · draftVersion</a:t>
            </a:r>
          </a:p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규칙 기반 코드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C2648D-DAF3-430A-97D3-AA51F53E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57750"/>
            <a:ext cx="46291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B22145-C9D4-4CBC-9C97-67E6A808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720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740B4D-6B5B-42A3-9DA5-7763397E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9911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E-9  Event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B24F4A-B619-438A-BBD8-4CE3A0E2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76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데이터가 반환되었음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30813E-6B1F-4EA7-B422-FADC1B52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816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301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requestId · returnedDraftVersion · returnedAt · sourceType</a:t>
            </a:r>
          </a:p>
        </p:txBody>
      </p:sp>
      <p:cxnSp>
        <p:nvCxnSpPr>
          <p:cNvPr id="94" name=""/>
          <p:cNvCxnSpPr>
            <a:stCxn xmlns:a="http://schemas.openxmlformats.org/drawingml/2006/main" id="22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238625" y="26860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27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4238625" y="43434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8E6C40-A5AE-4995-8A8B-4944A114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44958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DEE503-2A1B-4E02-BEDB-30B66776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716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7527DE-334A-4046-8BF0-41DE29B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7907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사용자 Trigger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7E899E-8517-4A84-9045-FE24994F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764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486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상담사가 U-3 초안 검토 화면에서 확인을 선택하면 확인 기록이 시작됨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626361-49FC-4FC4-88D4-E954F74E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81250"/>
            <a:ext cx="415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사용자 역할과 화면 행동으로 시작점을 표현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693099-6F37-46A4-BDB9-4BB723D3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44958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B9DD3A-9C61-45A3-AD10-67A0919B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194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138743-39BE-4489-8192-98AF7DC4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385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C-10  Command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032A01-4B0C-4C15-BAEC-A24681ED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초안 확인 이력을 기록하라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41D169-4E6B-4E92-88C8-CF01FDB8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29050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consultationId · draftId · draftVersion · counselorId</a:t>
            </a:r>
          </a:p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규칙 기반 코드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0C2ADA-A9A2-44E9-9AB9-6EF04F44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4958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548531-089E-421E-8782-59E99E42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720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6E8194-0FF7-40FB-9C5F-19D7D77C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9911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E-10  Event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209814-21C0-4246-80A4-83F02043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768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확인이 기록되었음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F37866-64AF-4F1E-91A8-60504D7D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58165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counselorId · confirmedDraftVersion · confirmedAt</a:t>
            </a:r>
          </a:p>
        </p:txBody>
      </p:sp>
      <p:cxnSp>
        <p:nvCxnSpPr>
          <p:cNvPr id="111" name=""/>
          <p:cNvCxnSpPr>
            <a:stCxn xmlns:a="http://schemas.openxmlformats.org/drawingml/2006/main" id="39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9105900" y="26860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44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105900" y="43434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74C6"/>
            </a:solidFill>
            <a:prstDash val="solid"/>
            <a:head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1B507B-529A-484B-B5AC-A213C605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105525"/>
            <a:ext cx="731520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A9651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98BD0E-A79A-48AB-9586-000FC8A1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1531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09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6514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A96514"/>
                </a:solidFill>
                <a:latin typeface="Pretendard"/>
                <a:ea typeface="Pretendard"/>
                <a:cs typeface="Pretendard"/>
              </a:rPr>
              <a:t>저장된 초안을 다시 반환하면 E-9는 새로 생길 수 있음 · 새로 쓰지 않았다면 E-8은 반복하지 않음 · E-10은 사람의 행동으로만 생성</a:t>
            </a:r>
          </a:p>
        </p:txBody>
      </p:sp>
    </p:spTree>
    <p:extLst>
      <p:ext uri="{BB962C8B-B14F-4D97-AF65-F5344CB8AC3E}">
        <p14:creationId xmlns:p14="http://schemas.microsoft.com/office/powerpoint/2010/main" val="1908283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2026-09-23T03:57:44.0620000Z</dcterms:created>
  <dcterms:modified xsi:type="dcterms:W3CDTF">2026-09-23T03:57:44.0620000Z</dcterms:modified>
</coreProperties>
</file>