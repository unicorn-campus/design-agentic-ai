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697d1c5fde842f3" /><Relationship Type="http://schemas.openxmlformats.org/officeDocument/2006/relationships/extended-properties" Target="/docProps/app.xml" Id="Rdfe405bb8d75400b" /><Relationship Type="http://schemas.openxmlformats.org/officeDocument/2006/relationships/officeDocument" Target="/ppt/presentation.xml" Id="R7c988d2ce74e4a9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25d018098b4e0b"/>
  </p:sldMasterIdLst>
  <p:notesMasterIdLst>
    <p:notesMasterId xmlns:r="http://schemas.openxmlformats.org/officeDocument/2006/relationships" r:id="Ra8a552b3aa7e4f1f"/>
  </p:notesMasterIdLst>
  <p:sldIdLst>
    <p:sldId xmlns:r="http://schemas.openxmlformats.org/officeDocument/2006/relationships" id="256" r:id="R66396242b3514431"/>
    <p:sldId xmlns:r="http://schemas.openxmlformats.org/officeDocument/2006/relationships" id="257" r:id="R0e80aa094fb84065"/>
    <p:sldId xmlns:r="http://schemas.openxmlformats.org/officeDocument/2006/relationships" id="258" r:id="R121c0db9514c4054"/>
    <p:sldId xmlns:r="http://schemas.openxmlformats.org/officeDocument/2006/relationships" id="259" r:id="R0814bdd6624d4ff4"/>
    <p:sldId xmlns:r="http://schemas.openxmlformats.org/officeDocument/2006/relationships" id="260" r:id="R0ce14d1052e348a8"/>
    <p:sldId xmlns:r="http://schemas.openxmlformats.org/officeDocument/2006/relationships" id="261" r:id="R8a0942eaf7cb457e"/>
    <p:sldId xmlns:r="http://schemas.openxmlformats.org/officeDocument/2006/relationships" id="262" r:id="Rffa3953902af4f7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df339663ba749ca" /><Relationship Type="http://schemas.openxmlformats.org/officeDocument/2006/relationships/slideMaster" Target="/ppt/slideMasters/slideMaster1.xml" Id="R6825d018098b4e0b" /><Relationship Type="http://schemas.openxmlformats.org/officeDocument/2006/relationships/notesMaster" Target="/ppt/notesMasters/notesMaster1.xml" Id="Ra8a552b3aa7e4f1f" /><Relationship Type="http://schemas.openxmlformats.org/officeDocument/2006/relationships/presProps" Target="/ppt/presProps.xml" Id="R9abd6f35945f4877" /><Relationship Type="http://schemas.openxmlformats.org/officeDocument/2006/relationships/tableStyles" Target="/ppt/tableStyles.xml" Id="R59fb943497024b1b" /><Relationship Type="http://schemas.openxmlformats.org/officeDocument/2006/relationships/slide" Target="/ppt/slides/slide1.xml" Id="R66396242b3514431" /><Relationship Type="http://schemas.openxmlformats.org/officeDocument/2006/relationships/slide" Target="/ppt/slides/slide2.xml" Id="R0e80aa094fb84065" /><Relationship Type="http://schemas.openxmlformats.org/officeDocument/2006/relationships/slide" Target="/ppt/slides/slide3.xml" Id="R121c0db9514c4054" /><Relationship Type="http://schemas.openxmlformats.org/officeDocument/2006/relationships/slide" Target="/ppt/slides/slide4.xml" Id="R0814bdd6624d4ff4" /><Relationship Type="http://schemas.openxmlformats.org/officeDocument/2006/relationships/slide" Target="/ppt/slides/slide5.xml" Id="R0ce14d1052e348a8" /><Relationship Type="http://schemas.openxmlformats.org/officeDocument/2006/relationships/slide" Target="/ppt/slides/slide6.xml" Id="R8a0942eaf7cb457e" /><Relationship Type="http://schemas.openxmlformats.org/officeDocument/2006/relationships/slide" Target="/ppt/slides/slide7.xml" Id="Rffa3953902af4f7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f35fb7da3d4e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cd6e30a0d04ba3" /><Relationship Type="http://schemas.openxmlformats.org/officeDocument/2006/relationships/notesMaster" Target="/ppt/notesMasters/notesMaster1.xml" Id="R429eab9a23cb4b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f560ab972984634" /><Relationship Type="http://schemas.openxmlformats.org/officeDocument/2006/relationships/notesMaster" Target="/ppt/notesMasters/notesMaster1.xml" Id="R30d852b6c18e46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ba1bc790e124339" /><Relationship Type="http://schemas.openxmlformats.org/officeDocument/2006/relationships/notesMaster" Target="/ppt/notesMasters/notesMaster1.xml" Id="R441c5e745b4e437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4ca74dd0754876" /><Relationship Type="http://schemas.openxmlformats.org/officeDocument/2006/relationships/notesMaster" Target="/ppt/notesMasters/notesMaster1.xml" Id="Rceb7564ed1ab45e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4194cd201b74f0a" /><Relationship Type="http://schemas.openxmlformats.org/officeDocument/2006/relationships/notesMaster" Target="/ppt/notesMasters/notesMaster1.xml" Id="Rf58bd2df1fdf486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0f8ccff21294331" /><Relationship Type="http://schemas.openxmlformats.org/officeDocument/2006/relationships/notesMaster" Target="/ppt/notesMasters/notesMaster1.xml" Id="Rd196446d9d4a40a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681bcd6ef494f3f" /><Relationship Type="http://schemas.openxmlformats.org/officeDocument/2006/relationships/notesMaster" Target="/ppt/notesMasters/notesMaster1.xml" Id="Rfaf8f03c98bc42d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첫 장은 ID와 제목만 표시함.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전체 슬라이스 종합. 가로 위치는 엄밀한 실행 순서가 아니며 병렬 실행과 선행 조건은 세부 표에서 확인함.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docs/plan/think/em/이탈위험방지-이벤트모델링-작성가이드.md. 사례 데이터는 설계용 가상 예시임.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13e5d24acb4ff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9e36c00246f4f25" /><Relationship Type="http://schemas.openxmlformats.org/officeDocument/2006/relationships/slideLayout" Target="/ppt/slideLayouts/slideLayout1.xml" Id="Rf0645ad69404466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0645ad69404466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cb4e9e822d4307" /><Relationship Type="http://schemas.openxmlformats.org/officeDocument/2006/relationships/notesSlide" Target="/ppt/notesSlides/notesSlide1.xml" Id="R60d3a26cfa054b7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b181932ac494d" /><Relationship Type="http://schemas.openxmlformats.org/officeDocument/2006/relationships/notesSlide" Target="/ppt/notesSlides/notesSlide2.xml" Id="R33b47840b2e347b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466523f5bc48da" /><Relationship Type="http://schemas.openxmlformats.org/officeDocument/2006/relationships/notesSlide" Target="/ppt/notesSlides/notesSlide3.xml" Id="Rc1180e23de924ac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54e246dc154f46" /><Relationship Type="http://schemas.openxmlformats.org/officeDocument/2006/relationships/notesSlide" Target="/ppt/notesSlides/notesSlide4.xml" Id="Ra31ff10990c448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74f01a7c764902" /><Relationship Type="http://schemas.openxmlformats.org/officeDocument/2006/relationships/notesSlide" Target="/ppt/notesSlides/notesSlide5.xml" Id="R8becc859d35a4dd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0bc23ce87c465e" /><Relationship Type="http://schemas.openxmlformats.org/officeDocument/2006/relationships/notesSlide" Target="/ppt/notesSlides/notesSlide6.xml" Id="Rf2af16b95bd443b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010a520af4c8c" /><Relationship Type="http://schemas.openxmlformats.org/officeDocument/2006/relationships/notesSlide" Target="/ppt/notesSlides/notesSlide7.xml" Id="Rb6d790b7f22d490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9FACA6D-DA1A-4D36-88C8-F0782FF8C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7AE0B8-849C-4047-AE6A-6ED5626FF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한 개 슬라이스의 기본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8BA14F-E69C-4AD5-8B0F-C09233DD7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1F1A09E-98AD-4A7D-B907-94AB7A23E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8372C39-62B7-4EBA-90DA-F2C4D04BB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첫 장에서는 레이어별 ID와 제목만으로 Trigger → Command → Event 연결을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4A54F3-BF31-45E3-8CAD-474491AA3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E06E76-7AA5-4995-B60E-A5A6A5F2A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3211B-FFE9-4F61-B02C-A383FAFA6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1 /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85B371-1D3A-41A9-93C0-25D09C8F4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62877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9525">
            <a:solidFill>
              <a:srgbClr val="2E74C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CA84FBD-2475-4D8A-A4D8-0C5462C42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4307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화면·자동화</a:t>
            </a:r>
          </a:p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Trigger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EE5CE1-2543-49EF-BDC1-C53E65ED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219450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9525">
            <a:solidFill>
              <a:srgbClr val="1E2A5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3441C-58FD-4918-BECF-5CE55F48B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333750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Command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7780C1-1135-484E-A6F8-D6B42922B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810125"/>
            <a:ext cx="1809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9525">
            <a:solidFill>
              <a:srgbClr val="404155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7E2DC39-BF1C-42A8-ADE9-D79E7D08A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924425"/>
            <a:ext cx="15049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6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Event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C24B9B9-28D7-4DD6-8676-BAD7531CB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162877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9050">
            <a:solidFill>
              <a:srgbClr val="2E74C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B0936C-E639-4CA1-91A4-905D162A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182880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86C8CE-6005-4783-A8F9-6119F96B4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90500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185076-5FB6-449F-8D89-A0F147AA6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186690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7B74DF-6CCC-470B-8E52-41F180C7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19450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E2A5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C0D1B-5818-4623-9C4C-0768AE620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3419475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234B6E-C523-4897-8A7F-7DB245D9F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495675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D09C9C4-5516-4AFC-9C8C-AFCE35146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457575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F60BDD0-0DAF-4DDE-B879-DBB2FAC5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810125"/>
            <a:ext cx="7572375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9050">
            <a:solidFill>
              <a:srgbClr val="40415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21701-ED80-4AAE-9442-8ABDFEF24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81425" y="5010150"/>
            <a:ext cx="1428750" cy="723900"/>
          </a:xfrm>
          <a:prstGeom xmlns:a="http://schemas.openxmlformats.org/drawingml/2006/main" prst="roundRect">
            <a:avLst>
              <a:gd name="adj" fmla="val 18421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0BF0F1D-322D-4B79-972F-6618CE1F2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5086350"/>
            <a:ext cx="1181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FC1AB7B-DDE6-40F5-8FCB-A2C3E799B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5048250"/>
            <a:ext cx="4905375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2325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57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7262813" y="2771775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58" name=""/>
          <p:cNvCxnSpPr>
            <a:stCxn xmlns:a="http://schemas.openxmlformats.org/drawingml/2006/main" id="19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7262813" y="4362450"/>
            <a:ext cx="0" cy="447675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534B4D9-61F8-4EBC-BD6F-85FCA1C0D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6143625"/>
            <a:ext cx="71437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EA2AAF-BFA0-4245-A281-72E4B76F8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6181725"/>
            <a:ext cx="68389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세부 문장과 데이터는 다음 장부터 표의 ‘내용’ 열에서 확인</a:t>
            </a:r>
          </a:p>
        </p:txBody>
      </p:sp>
    </p:spTree>
    <p:extLst>
      <p:ext uri="{BB962C8B-B14F-4D97-AF65-F5344CB8AC3E}">
        <p14:creationId xmlns:p14="http://schemas.microsoft.com/office/powerpoint/2010/main" val="10198737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0CF0C9FC-88D0-4B16-B318-74AA841F5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37336D-CA16-479C-88CD-99A6A9EC4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전체 슬라이스 종합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0F493F-0BAD-4DF6-8F22-BF1224EAB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058B3F-956C-4889-B51B-C5C96400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74DF05-6B98-470C-B674-1AA0E1CFC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전체 10개 슬라이스를 ID와 제목만으로 배치하고 세부 조건은 뒤의 표에서 확인함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1B444D-5D0A-4890-926B-4714E28F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6541C1-F94C-40A8-9B2E-FD772717E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595A321-73F4-4A95-8B1D-A0923AE68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2 / 7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8E1CC3-F8CB-42AE-9F31-1D265D0A7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14382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접수부터 관계 경로 확보까지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7E01E1-42D4-4F41-AAC5-3C44B0A1B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3876675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defRPr>
            </a:pPr>
            <a:r>
              <a:rPr sz="1350" b="1">
                <a:solidFill>
                  <a:srgbClr val="2E74C6"/>
                </a:solidFill>
                <a:latin typeface="Pretendard"/>
                <a:ea typeface="Pretendard"/>
                <a:cs typeface="Pretendard"/>
              </a:rPr>
              <a:t>이탈 예측부터 사람의 확인까지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1BF4AA-510F-4458-8D13-E45B50478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384FB6-079E-468D-BD67-7B2491145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80F81A7-2F2F-4D27-A280-072B999C6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8A82C-F2F6-404F-A31D-1D6B11933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시작 선택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7EB028-A2F5-4453-AB8C-A09BDBEE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FBE757-EB14-4940-A101-13A504733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FD67DD-DEC4-4708-BB55-A499E95A8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6178D7-DA0D-4845-8596-4E3107DC7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7ABEAD-B702-4CAC-9530-E4A42122D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F03C15-090C-40EB-B9E9-60B21CE2F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BBB33E-C429-43F4-8FCD-8B90A634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4BB9CB-2893-465F-8B86-AA07EB1C9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문의 접수</a:t>
            </a:r>
          </a:p>
        </p:txBody>
      </p:sp>
      <p:cxnSp>
        <p:nvCxnSpPr>
          <p:cNvPr id="175" name=""/>
          <p:cNvCxnSpPr>
            <a:stCxn xmlns:a="http://schemas.openxmlformats.org/drawingml/2006/main" id="11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1371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176" name=""/>
          <p:cNvCxnSpPr>
            <a:stCxn xmlns:a="http://schemas.openxmlformats.org/drawingml/2006/main" id="15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1371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6743BDE-5C9D-4BE7-91B1-5F277DD1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2D9219-AF88-403B-91D0-DA5B0FF91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2ABEAF-E011-4E13-B60A-486FDCBB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F65C3B0-3701-47FC-BB01-4025E83B8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경로 결정 시작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48A23C-45CA-493E-9269-DC22EBDC3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9AE2EE-C9E5-4C4E-8A05-34BFF3F88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25944E5-F964-47DB-B736-04152EA44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C1E5EBC-86AF-44DE-9F6C-AC2D3F06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3553FE-0F64-408F-A293-EF9FFFD80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1A6E587-8F75-4B2D-9857-2762100C1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27440AC-8D8F-43AF-8E89-6CB77F72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E-2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23A4BE-5B4E-4F0E-B346-2D3CD7F87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실행 경로 결정</a:t>
            </a:r>
          </a:p>
        </p:txBody>
      </p:sp>
      <p:cxnSp>
        <p:nvCxnSpPr>
          <p:cNvPr id="189" name=""/>
          <p:cNvCxnSpPr>
            <a:stCxn xmlns:a="http://schemas.openxmlformats.org/drawingml/2006/main" id="25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3657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190" name=""/>
          <p:cNvCxnSpPr>
            <a:stCxn xmlns:a="http://schemas.openxmlformats.org/drawingml/2006/main" id="29" idx="2"/>
            <a:endCxn xmlns:a="http://schemas.openxmlformats.org/drawingml/2006/main" id="33" idx="0"/>
          </p:cNvCxnSpPr>
          <p:nvPr/>
        </p:nvCxnSpPr>
        <p:spPr>
          <a:xfrm xmlns:a="http://schemas.openxmlformats.org/drawingml/2006/main">
            <a:off x="3657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21AC39C-0557-4957-8F69-EE544B35D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355F973-1B86-4DAB-ABFA-1484C9A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9DEDC0A-0FEC-4CD4-810E-CAEA36273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513F70-6884-4CDE-81B6-7703C8288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현황 확보 시작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69446B4-94A2-4D76-8E43-6C70220AC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0E383BD-17BF-435B-9616-C03BD7421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75024C8-2E31-405E-85AF-F5801A481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C-3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C986453-E3BE-480B-8387-9E7786490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C91DE7B-98C8-4199-ABCB-4032F6C8B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EF8D335-7961-4B2C-B8AB-49E2EA1B0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41BCB3-4DB0-41D4-86CE-4B5043048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E-3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4C935A-0BB1-442B-8EF5-F92D04415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고객 현황 확보</a:t>
            </a:r>
          </a:p>
        </p:txBody>
      </p:sp>
      <p:cxnSp>
        <p:nvCxnSpPr>
          <p:cNvPr id="203" name=""/>
          <p:cNvCxnSpPr>
            <a:stCxn xmlns:a="http://schemas.openxmlformats.org/drawingml/2006/main" id="39" idx="2"/>
            <a:endCxn xmlns:a="http://schemas.openxmlformats.org/drawingml/2006/main" id="43" idx="0"/>
          </p:cNvCxnSpPr>
          <p:nvPr/>
        </p:nvCxnSpPr>
        <p:spPr>
          <a:xfrm xmlns:a="http://schemas.openxmlformats.org/drawingml/2006/main">
            <a:off x="5943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204" name=""/>
          <p:cNvCxnSpPr>
            <a:stCxn xmlns:a="http://schemas.openxmlformats.org/drawingml/2006/main" id="43" idx="2"/>
            <a:endCxn xmlns:a="http://schemas.openxmlformats.org/drawingml/2006/main" id="47" idx="0"/>
          </p:cNvCxnSpPr>
          <p:nvPr/>
        </p:nvCxnSpPr>
        <p:spPr>
          <a:xfrm xmlns:a="http://schemas.openxmlformats.org/drawingml/2006/main">
            <a:off x="5943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685E89-13A7-4CBB-B224-E63B25518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FE6BCE4-5953-4319-89EC-B01C9C22A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53E333E-45F5-407B-AC0A-01DAB08BE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AT-3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16F7553-E697-4371-817B-6CB41E6D1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시작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24115C5-9E0E-41DC-9FFD-0F8FF90E3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5FD068C-13B8-4017-9C09-5C3597BE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6702F0E9-FA61-4F06-800A-D1BEE5D3F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6D6816E-53EE-4777-9717-4B92C206F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확보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1A86603-BDF3-433D-A4D1-73045160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815AFB0-670A-4F98-8955-67FD296AE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5F5C7F4-44CF-4696-8BA7-98F4D83D4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E-4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26A8A1F-3A75-4154-8695-0EA2237A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문서 후보 확보</a:t>
            </a:r>
          </a:p>
        </p:txBody>
      </p:sp>
      <p:cxnSp>
        <p:nvCxnSpPr>
          <p:cNvPr id="217" name=""/>
          <p:cNvCxnSpPr>
            <a:stCxn xmlns:a="http://schemas.openxmlformats.org/drawingml/2006/main" id="53" idx="2"/>
            <a:endCxn xmlns:a="http://schemas.openxmlformats.org/drawingml/2006/main" id="57" idx="0"/>
          </p:cNvCxnSpPr>
          <p:nvPr/>
        </p:nvCxnSpPr>
        <p:spPr>
          <a:xfrm xmlns:a="http://schemas.openxmlformats.org/drawingml/2006/main">
            <a:off x="8229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218" name=""/>
          <p:cNvCxnSpPr>
            <a:stCxn xmlns:a="http://schemas.openxmlformats.org/drawingml/2006/main" id="57" idx="2"/>
            <a:endCxn xmlns:a="http://schemas.openxmlformats.org/drawingml/2006/main" id="61" idx="0"/>
          </p:cNvCxnSpPr>
          <p:nvPr/>
        </p:nvCxnSpPr>
        <p:spPr>
          <a:xfrm xmlns:a="http://schemas.openxmlformats.org/drawingml/2006/main">
            <a:off x="8229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701E9DDE-4380-43D7-89AA-9EE956CD4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17145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113756C8-0D5A-4BCF-9513-509D10EC7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7716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8629C7-325C-4F63-AA34-3426D3202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18002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8CBEA9-C3A4-4034-9579-7B8DC6BC1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17811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시작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F8E2B0C-817E-4ADF-B298-F06C3B980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431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068D6CEF-276D-4878-9E15-ECD0C5E45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003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2A5233EF-8ED9-4934-9CAE-B78DD8B74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24288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C-5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5BC1179-151C-437E-BEA1-1A2990237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24098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확보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A0F2944-06B8-45D6-BB36-C2C3170DB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9718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F69DAC2-F115-4EA5-9CA7-B6F28B545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0289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E330C1A-40AF-4E10-A422-75CF39E54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30575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E-5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038889E-DB09-4DE9-9DBF-93107A233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0384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관계 경로 확보</a:t>
            </a:r>
          </a:p>
        </p:txBody>
      </p:sp>
      <p:cxnSp>
        <p:nvCxnSpPr>
          <p:cNvPr id="231" name=""/>
          <p:cNvCxnSpPr>
            <a:stCxn xmlns:a="http://schemas.openxmlformats.org/drawingml/2006/main" id="67" idx="2"/>
            <a:endCxn xmlns:a="http://schemas.openxmlformats.org/drawingml/2006/main" id="71" idx="0"/>
          </p:cNvCxnSpPr>
          <p:nvPr/>
        </p:nvCxnSpPr>
        <p:spPr>
          <a:xfrm xmlns:a="http://schemas.openxmlformats.org/drawingml/2006/main">
            <a:off x="10515600" y="22098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232" name=""/>
          <p:cNvCxnSpPr>
            <a:stCxn xmlns:a="http://schemas.openxmlformats.org/drawingml/2006/main" id="71" idx="2"/>
            <a:endCxn xmlns:a="http://schemas.openxmlformats.org/drawingml/2006/main" id="75" idx="0"/>
          </p:cNvCxnSpPr>
          <p:nvPr/>
        </p:nvCxnSpPr>
        <p:spPr>
          <a:xfrm xmlns:a="http://schemas.openxmlformats.org/drawingml/2006/main">
            <a:off x="10515600" y="28384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EEC0A8C8-68E3-4A26-B992-6FC170491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5A77C4-99AD-4496-9835-1E116CE6A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0D20B94-A689-4812-A73F-DF6354467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AT-5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16DE41B-0A07-4401-B20F-8E54D5617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위험 예측 시작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6F8B3B-723A-47EF-A66F-060A6F9BE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62ADA676-6124-467B-823C-55ECC2DBD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41F8B72-CA03-4EDE-8F68-8FC952EC9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C-6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908A89E6-C542-4EA5-B9FF-8D7A62CFF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4CFB7D8-C53C-48DD-91AD-5B7746FE9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E133ED32-F7C6-4B6E-9024-79DFC2A74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CDD969D-839A-4DF4-8689-2DC143CDE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E-6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A40F0F81-B381-4E48-A075-D85FFAD8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이탈 위험 예측</a:t>
            </a:r>
          </a:p>
        </p:txBody>
      </p:sp>
      <p:cxnSp>
        <p:nvCxnSpPr>
          <p:cNvPr id="245" name=""/>
          <p:cNvCxnSpPr>
            <a:stCxn xmlns:a="http://schemas.openxmlformats.org/drawingml/2006/main" id="81" idx="2"/>
            <a:endCxn xmlns:a="http://schemas.openxmlformats.org/drawingml/2006/main" id="85" idx="0"/>
          </p:cNvCxnSpPr>
          <p:nvPr/>
        </p:nvCxnSpPr>
        <p:spPr>
          <a:xfrm xmlns:a="http://schemas.openxmlformats.org/drawingml/2006/main">
            <a:off x="1371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246" name=""/>
          <p:cNvCxnSpPr>
            <a:stCxn xmlns:a="http://schemas.openxmlformats.org/drawingml/2006/main" id="85" idx="2"/>
            <a:endCxn xmlns:a="http://schemas.openxmlformats.org/drawingml/2006/main" id="89" idx="0"/>
          </p:cNvCxnSpPr>
          <p:nvPr/>
        </p:nvCxnSpPr>
        <p:spPr>
          <a:xfrm xmlns:a="http://schemas.openxmlformats.org/drawingml/2006/main">
            <a:off x="1371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203C4F4-0559-4D6F-9174-4B3DFAA87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313F785A-FF9E-4F76-A7AB-42B5F91D4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D7D7F1C-8CF7-4694-9C42-28EBFBACA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AT-6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8AE99D2-3F18-4DF9-B311-4B0721573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선정 시작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14B3759F-5D5A-4304-BB34-2E499BA0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63C65DC-926C-4353-A560-6C94B4397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B093479-3925-408B-BE16-999E1C19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C-7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798C47DB-B919-4FC1-8E91-4BA3C3C66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묶음 선정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B7C5BCF-78B9-48F5-AF48-60A6B10CD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904073F-F376-458C-91B6-6C5FB0658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8BE4520-9357-4890-A364-854F73A8B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E-7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BE300C3-C64C-43D4-9C0E-E2BA79C27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근거 묶음 선정</a:t>
            </a:r>
          </a:p>
        </p:txBody>
      </p:sp>
      <p:cxnSp>
        <p:nvCxnSpPr>
          <p:cNvPr id="259" name=""/>
          <p:cNvCxnSpPr>
            <a:stCxn xmlns:a="http://schemas.openxmlformats.org/drawingml/2006/main" id="95" idx="2"/>
            <a:endCxn xmlns:a="http://schemas.openxmlformats.org/drawingml/2006/main" id="99" idx="0"/>
          </p:cNvCxnSpPr>
          <p:nvPr/>
        </p:nvCxnSpPr>
        <p:spPr>
          <a:xfrm xmlns:a="http://schemas.openxmlformats.org/drawingml/2006/main">
            <a:off x="3657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260" name=""/>
          <p:cNvCxnSpPr>
            <a:stCxn xmlns:a="http://schemas.openxmlformats.org/drawingml/2006/main" id="99" idx="2"/>
            <a:endCxn xmlns:a="http://schemas.openxmlformats.org/drawingml/2006/main" id="103" idx="0"/>
          </p:cNvCxnSpPr>
          <p:nvPr/>
        </p:nvCxnSpPr>
        <p:spPr>
          <a:xfrm xmlns:a="http://schemas.openxmlformats.org/drawingml/2006/main">
            <a:off x="3657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3EBF35DE-402C-4F90-B120-E40A29579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1FEF605-A57C-4B66-B0F7-1764891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891B394A-0B65-4B93-86B6-AE097A3F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AT-7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8EE7BCAB-7FF6-4441-A795-1140CF304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작성 시작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22AB4F6-79EB-436B-B311-390FD57E7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E6B473EF-EF3C-439B-8778-10466FD2C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CD21EDF4-F983-4DD8-BFC5-DC520FAA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C-8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FD69DA9F-396D-4CDC-9383-A4B898E8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초안 작성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B03A0A26-2C20-4870-97A3-4F769BA91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7D7D2EF4-76E5-4DA6-9667-8486B8A76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F0D8CC3-39EA-48A6-9ABE-F48732E10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1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E-8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86FBC9D8-AFAA-4A30-BDC3-60F98799D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상담 초안 작성</a:t>
            </a:r>
          </a:p>
        </p:txBody>
      </p:sp>
      <p:cxnSp>
        <p:nvCxnSpPr>
          <p:cNvPr id="273" name=""/>
          <p:cNvCxnSpPr>
            <a:stCxn xmlns:a="http://schemas.openxmlformats.org/drawingml/2006/main" id="109" idx="2"/>
            <a:endCxn xmlns:a="http://schemas.openxmlformats.org/drawingml/2006/main" id="113" idx="0"/>
          </p:cNvCxnSpPr>
          <p:nvPr/>
        </p:nvCxnSpPr>
        <p:spPr>
          <a:xfrm xmlns:a="http://schemas.openxmlformats.org/drawingml/2006/main">
            <a:off x="5943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274" name=""/>
          <p:cNvCxnSpPr>
            <a:stCxn xmlns:a="http://schemas.openxmlformats.org/drawingml/2006/main" id="113" idx="2"/>
            <a:endCxn xmlns:a="http://schemas.openxmlformats.org/drawingml/2006/main" id="117" idx="0"/>
          </p:cNvCxnSpPr>
          <p:nvPr/>
        </p:nvCxnSpPr>
        <p:spPr>
          <a:xfrm xmlns:a="http://schemas.openxmlformats.org/drawingml/2006/main">
            <a:off x="5943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291CBB3-ED0F-4298-A209-ACC407F9C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E92D5ACB-F8E0-4739-B76B-CB7643C0F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38CF517-5ECD-4B15-99BF-23435BB22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AT-8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F99C183-262F-4DC6-9BA8-B546749C6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반환 시작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AA37E17-5B35-442D-A3B9-03A7B1544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3E2200E-2567-4F52-AE70-568080E95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492F9C8-2CAD-4D62-87E7-5E985DEBC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C-9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18F36E5-A81D-4272-9692-E2FF30A9F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데이터 반환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11BBBD1-2451-47A8-99A7-2F9D8F8D5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71F14163-BBE4-4698-A06F-27A957910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FA7CD19C-E2D3-4C70-86FE-7F680619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7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E-9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B11AD1B7-9DF2-41DB-AA4D-7E1AFC206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데이터 반환</a:t>
            </a:r>
          </a:p>
        </p:txBody>
      </p:sp>
      <p:cxnSp>
        <p:nvCxnSpPr>
          <p:cNvPr id="287" name=""/>
          <p:cNvCxnSpPr>
            <a:stCxn xmlns:a="http://schemas.openxmlformats.org/drawingml/2006/main" id="123" idx="2"/>
            <a:endCxn xmlns:a="http://schemas.openxmlformats.org/drawingml/2006/main" id="127" idx="0"/>
          </p:cNvCxnSpPr>
          <p:nvPr/>
        </p:nvCxnSpPr>
        <p:spPr>
          <a:xfrm xmlns:a="http://schemas.openxmlformats.org/drawingml/2006/main">
            <a:off x="8229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288" name=""/>
          <p:cNvCxnSpPr>
            <a:stCxn xmlns:a="http://schemas.openxmlformats.org/drawingml/2006/main" id="127" idx="2"/>
            <a:endCxn xmlns:a="http://schemas.openxmlformats.org/drawingml/2006/main" id="131" idx="0"/>
          </p:cNvCxnSpPr>
          <p:nvPr/>
        </p:nvCxnSpPr>
        <p:spPr>
          <a:xfrm xmlns:a="http://schemas.openxmlformats.org/drawingml/2006/main">
            <a:off x="8229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F86D0240-F12D-46A4-9BC6-38F4E27A9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1529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EEF3FA"/>
          </a:solidFill>
          <a:ln xmlns:a="http://schemas.openxmlformats.org/drawingml/2006/main" w="14288">
            <a:solidFill>
              <a:srgbClr val="2E74C6"/>
            </a:solidFill>
            <a:prstDash val="solid"/>
          </a:ln>
        </p:spPr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9691E68D-DD8A-4955-B47C-575E43C8F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100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2E74C6"/>
          </a:solidFill>
          <a:ln xmlns:a="http://schemas.openxmlformats.org/drawingml/2006/main" w="0">
            <a:solidFill>
              <a:srgbClr val="2E74C6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0C96D6D6-7621-43AC-A5A5-F187A4379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386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UT-2</a:t>
            </a: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8A0D6240-4D20-4A7B-9DE2-8CF2948B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2195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선택</a:t>
            </a:r>
          </a:p>
        </p:txBody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F0735054-F16F-4144-921C-C464CEDDA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78155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E2A5C"/>
            </a:solidFill>
            <a:prstDash val="solid"/>
          </a:ln>
        </p:spPr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5F48EB32-17C9-457E-ABD9-D195C6CB0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83870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1E2A5C"/>
          </a:solidFill>
          <a:ln xmlns:a="http://schemas.openxmlformats.org/drawingml/2006/main" w="0">
            <a:solidFill>
              <a:srgbClr val="1E2A5C"/>
            </a:solidFill>
            <a:prstDash val="solid"/>
          </a:ln>
        </p:spPr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D0BE9A91-9284-4CCF-A14C-23DBA0A6A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86727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C-10</a:t>
            </a:r>
          </a:p>
        </p:txBody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A79DDB09-717A-4E07-AE8A-B5BA714C9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484822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기록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A99A002F-F2DA-4FED-AEAD-85161B79F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5410200"/>
            <a:ext cx="2095500" cy="495300"/>
          </a:xfrm>
          <a:prstGeom xmlns:a="http://schemas.openxmlformats.org/drawingml/2006/main" prst="roundRect">
            <a:avLst>
              <a:gd name="adj" fmla="val 17308"/>
            </a:avLst>
          </a:prstGeom>
          <a:solidFill xmlns:a="http://schemas.openxmlformats.org/drawingml/2006/main">
            <a:srgbClr val="F5F8FC"/>
          </a:solidFill>
          <a:ln xmlns:a="http://schemas.openxmlformats.org/drawingml/2006/main" w="14288">
            <a:solidFill>
              <a:srgbClr val="404155"/>
            </a:solidFill>
            <a:prstDash val="solid"/>
          </a:ln>
        </p:spPr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FE0D9F32-3FB5-43A9-A097-2C302D082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5467350"/>
            <a:ext cx="542925" cy="381000"/>
          </a:xfrm>
          <a:prstGeom xmlns:a="http://schemas.openxmlformats.org/drawingml/2006/main" prst="roundRect">
            <a:avLst>
              <a:gd name="adj" fmla="val 17500"/>
            </a:avLst>
          </a:prstGeom>
          <a:solidFill xmlns:a="http://schemas.openxmlformats.org/drawingml/2006/main">
            <a:srgbClr val="404155"/>
          </a:solidFill>
          <a:ln xmlns:a="http://schemas.openxmlformats.org/drawingml/2006/main" w="0">
            <a:solidFill>
              <a:srgbClr val="404155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29E9C07C-0CDC-48C8-8BF2-23CC4E862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495925"/>
            <a:ext cx="4857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E-10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CF193677-4BB8-4888-B062-C05585DFF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5476875"/>
            <a:ext cx="13525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B3242"/>
                </a:solidFill>
                <a:latin typeface="Pretendard"/>
                <a:ea typeface="Pretendard"/>
                <a:cs typeface="Pretendard"/>
              </a:rPr>
              <a:t>초안 확인 기록</a:t>
            </a:r>
          </a:p>
        </p:txBody>
      </p:sp>
      <p:cxnSp>
        <p:nvCxnSpPr>
          <p:cNvPr id="301" name=""/>
          <p:cNvCxnSpPr>
            <a:stCxn xmlns:a="http://schemas.openxmlformats.org/drawingml/2006/main" id="137" idx="2"/>
            <a:endCxn xmlns:a="http://schemas.openxmlformats.org/drawingml/2006/main" id="141" idx="0"/>
          </p:cNvCxnSpPr>
          <p:nvPr/>
        </p:nvCxnSpPr>
        <p:spPr>
          <a:xfrm xmlns:a="http://schemas.openxmlformats.org/drawingml/2006/main">
            <a:off x="10515600" y="464820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cxnSp>
        <p:nvCxnSpPr>
          <p:cNvPr id="302" name=""/>
          <p:cNvCxnSpPr>
            <a:stCxn xmlns:a="http://schemas.openxmlformats.org/drawingml/2006/main" id="141" idx="2"/>
            <a:endCxn xmlns:a="http://schemas.openxmlformats.org/drawingml/2006/main" id="145" idx="0"/>
          </p:cNvCxnSpPr>
          <p:nvPr/>
        </p:nvCxnSpPr>
        <p:spPr>
          <a:xfrm xmlns:a="http://schemas.openxmlformats.org/drawingml/2006/main">
            <a:off x="10515600" y="5276850"/>
            <a:ext cx="0" cy="133350"/>
          </a:xfrm>
          <a:prstGeom xmlns:a="http://schemas.openxmlformats.org/drawingml/2006/main" prst="straightConnector1">
            <a:avLst/>
          </a:prstGeom>
          <a:ln xmlns:a="http://schemas.openxmlformats.org/drawingml/2006/main" w="23813">
            <a:solidFill>
              <a:srgbClr val="2E74C6"/>
            </a:solidFill>
            <a:prstDash val="solid"/>
            <a:tailEnd type="triangle" w="sm" len="sm"/>
          </a:ln>
        </p:spPr>
      </p:cxn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008FD533-60ED-426D-A81A-4C7CF6C70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6076950"/>
            <a:ext cx="792480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EAF5F1"/>
          </a:solidFill>
          <a:ln xmlns:a="http://schemas.openxmlformats.org/drawingml/2006/main" w="9525">
            <a:solidFill>
              <a:srgbClr val="2E7D6B"/>
            </a:solidFill>
            <a:prstDash val="solid"/>
          </a:ln>
        </p:spPr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861F319-94B7-43E3-A500-37BA6D714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6115050"/>
            <a:ext cx="7620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defRPr>
            </a:pPr>
            <a:r>
              <a:rPr sz="1200" b="1">
                <a:solidFill>
                  <a:srgbClr val="2E7D6B"/>
                </a:solidFill>
                <a:latin typeface="Pretendard"/>
                <a:ea typeface="Pretendard"/>
                <a:cs typeface="Pretendard"/>
              </a:rPr>
              <a:t>가로 배치는 슬라이스 전체를 훑어보기 위한 구성 · 병렬 실행과 선행 조건은 다음 장부터 표에서 확인</a:t>
            </a:r>
          </a:p>
        </p:txBody>
      </p:sp>
    </p:spTree>
    <p:extLst>
      <p:ext uri="{BB962C8B-B14F-4D97-AF65-F5344CB8AC3E}">
        <p14:creationId xmlns:p14="http://schemas.microsoft.com/office/powerpoint/2010/main" val="110175764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3BE10A-1EB5-47CD-8EC0-F2D8B75A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FD7D9D-CE30-4788-97D1-9502714DC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문의 접수와 실행 경로 결정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0132C4-F5A2-45FC-8545-10AA6CBF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9D98D8-C3BC-4D44-B412-E2CD82770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7A46F3-F944-4B94-AE60-58355F898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사용자 행동으로 문의를 접수하고, 접수 Event가 다음 자동화를 시작함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B895288-331B-4A97-A5C6-9A946FE8F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8275215-9C69-4E00-8598-432E6DF1E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1B2B73-4DE6-4EAA-B7B2-30A846C8C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3 / 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시작 선택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문의 접수 화면에서 상담 시작을 선택하면 문의 접수가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문의를 접수하라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상담 질문,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 접수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문의가 접수되었음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접수 시각, 권한 확인 결과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AT-1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‘문의가 접수되었음’ Event가 발생하면 실행 경로 결정이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경로를 결정하라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권한 확인 결과, 상담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질문 해석 지원, 규칙 기반 코드가 경로 확정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 결정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경로가 정해졌음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선택 경로, 필수 여부, 대기시간, 선택 이유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8870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A1111AB-3B2C-4A89-A753-0E3EDA5D2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CDD000-1B63-4825-9196-D77A3949F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정형검색과 유사도 검색을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6778E-49AC-4370-9FB4-158718192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83C089-30D2-4320-81A1-534AC2519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AEDD0B4-BCAB-4C19-B588-9049D8476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E-2가 발생하고 각 경로가 선택되면 C-3과 C-4는 서로의 결과를 기다리지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3A65B5-785B-4261-A4E5-88B97513E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AB07CE-BBCB-4DD6-85EF-9AC0A01D5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A21B77-083E-4289-847A-F96AAA9FF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4 / 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AT-2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C-3 경로가 선택되면 고객 현황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현황을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조회 기준일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E-3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현황이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카드 ID, 상품 ID, 승인 사용액, 예측 특징, 출처, 기준시점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AT-3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E-2가 발생하고 C-4 경로가 선택되면 문서 후보 확보가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질문, 회원 ID, 접근 범위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E-4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 확보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후보가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문서 ID, 관련 문단, 원문 위치, 버전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3635988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A628FB-2E29-4797-BBAA-226F89D09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8F310B-7131-440E-82CC-E59487F3B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관계검색과 이탈 위험 예측을 함께 시작함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B9BC8B-8B34-4BFF-872D-9F973BB02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C830E9-30BB-4ED9-AF39-F98C2E1F0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91B8A8-0314-4CE5-B18E-B22EF8641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C-5와 C-6은 E-3 결과가 준비된 뒤 시작하며 서로의 결과에는 의존하지 않음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F1590-D119-4DC7-868A-C1739B11A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D9DBDF-0EE2-4061-A937-AD83B051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A198C4-9666-449F-B0EE-3DC449780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5 / 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AT-4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C-5가 선택되고 E-3의 카드·상품 ID가 준비되면 관계 경로 확보가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경로를 확보하라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회원 ID, 카드 ID, 상품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E-5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 확보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관계 경로가 확보되었음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고객-카드-상품-문서 경로, 각 연결의 원천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AT-5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C-6이 선택되고 E-3의 예측 특징이 준비되면 이탈 위험 예측이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위험을 예측하라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 특징, 예측 기간, 모델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예측형 AI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E-6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 예측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고객 이탈 위험이 예측되었음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이탈 확률, 위험 등급, 판단 신호, 예측 기간, 모델 버전, 특징 기준시점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4406195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62D3A70-D9A2-4AAF-BA59-B42A9C32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10A7C47-BEFA-4DF8-B0F7-A077BBB75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선택한 결과를 취합해 초안을 작성함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AF5954-CD50-419D-BB66-FAC093507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65F034C-8368-44CC-AE1F-8E52EF4F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595BCC-F8D8-4B4A-8C4F-EC7ED37D5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선택한 경로의 완료 상태를 확인한 뒤 근거를 선정하고 상담 초안을 작성함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28C3008-6241-4A9D-83FF-AC97DFEF9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B96EC0-1160-4CA2-9E64-CA7DE9116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0B2B58-A66D-4FCD-A8B4-FE51858F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6 / 7</a:t>
            </a:r>
          </a:p>
        </p:txBody>
      </p:sp>
      <p:graphicFrame>
        <p:nvGraphicFramePr>
          <p:cNvPr id="18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8101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AT-6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선정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필수 E-3·E-4·E-5가 완료되고 보조 E-6이 완료 또는 보류되면 근거 선정이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묶음을 선정하라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실행 계획, E-3 ~ E-6 결과와 상태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E-7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선정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묶음이 선정되었음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 ID, 채택 근거, 제외 근거, 주의사항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AT-7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 시작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‘근거 묶음이 선정되었음’ Event가 발생하면 상담 초안 작성이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초안을 작성하라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근거 묶음, 예측 결과 또는 상태, 고객 제약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생성형 AI가 초안 생성, 규칙 기반 코드가 검증·저장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735013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 작성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초안이 작성되었음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ID, 버전, 제안 내용, 근거 참조, 주의사항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10667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BD526FC-FC6C-40EB-B7C3-35DE35B23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1450"/>
            <a:ext cx="7620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88235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27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Event Modeling  ›  4단계 Command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04D7D4-1952-4BB4-815D-E2FC328AA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9575"/>
            <a:ext cx="11239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defRPr>
            </a:pPr>
            <a:r>
              <a:rPr sz="3150" b="1">
                <a:solidFill>
                  <a:srgbClr val="1E2A5C"/>
                </a:solidFill>
                <a:latin typeface="Pretendard"/>
                <a:ea typeface="Pretendard"/>
                <a:cs typeface="Pretendard"/>
              </a:rPr>
              <a:t>초안 반환과 사람의 확인을 구분함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47EDE4-EC4A-4C23-8BAC-E2D128528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1239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565FE5-3A76-4D50-A09A-FF9533189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66800"/>
            <a:ext cx="16192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4C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6A54BE-DCD3-4601-94D8-4FC317162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152525"/>
            <a:ext cx="11239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defRPr>
            </a:pPr>
            <a:r>
              <a:rPr sz="1350" b="0">
                <a:solidFill>
                  <a:srgbClr val="4A5364"/>
                </a:solidFill>
                <a:latin typeface="Pretendard"/>
                <a:ea typeface="Pretendard"/>
                <a:cs typeface="Pretendard"/>
              </a:rPr>
              <a:t>서버가 데이터를 반환한 사실과 상담사가 내용을 확인한 사실을 각각 기록함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40FC75-44A8-4CE9-AC9A-B57C3DF05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6534150"/>
            <a:ext cx="11239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0F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370E81-659C-4D4B-875F-B8FDB674B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" y="6581775"/>
            <a:ext cx="6096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이탈 위험 방지 · Event Modeling 작성 예시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9D6D30-364E-4078-B4DF-7B1436933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6581775"/>
            <a:ext cx="819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77778"/>
          </a:bodyPr>
          <a:lstStyle xmlns:a="http://schemas.openxmlformats.org/drawingml/2006/main"/>
          <a:p xmlns:a="http://schemas.openxmlformats.org/drawingml/2006/main">
            <a:pPr algn="r">
              <a:def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defRPr>
            </a:pPr>
            <a:r>
              <a:rPr sz="1125" b="0">
                <a:solidFill>
                  <a:srgbClr val="7C8598"/>
                </a:solidFill>
                <a:latin typeface="Pretendard"/>
                <a:ea typeface="Pretendard"/>
                <a:cs typeface="Pretendard"/>
              </a:rPr>
              <a:t>7 / 7</a:t>
            </a:r>
          </a:p>
        </p:txBody>
      </p:sp>
      <p:graphicFrame>
        <p:nvGraphicFramePr>
          <p:cNvPr id="20" name=""/>
          <p:cNvGraphicFramePr/>
          <p:nvPr/>
        </p:nvGraphicFramePr>
        <p:xfrm>
          <a:off xmlns:a="http://schemas.openxmlformats.org/drawingml/2006/main" x="323850" y="1543050"/>
          <a:ext xmlns:a="http://schemas.openxmlformats.org/drawingml/2006/main" cx="11239500" cy="4286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19250"/>
                <a:gridCol w="857250"/>
                <a:gridCol w="2095500"/>
                <a:gridCol w="6667500"/>
              </a:tblGrid>
              <a:tr h="400050"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레이어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ID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제목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2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내용</a:t>
                      </a:r>
                    </a:p>
                  </a:txBody>
                  <a:tcPr marL="95250" marR="95250" marT="66675" marB="66675" anchor="ctr">
                    <a:solidFill>
                      <a:srgbClr val="E2EEF9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AT-8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반환 시작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E-8이 발생하고 화면 요청이 도착하면 초안 반환이 시작됨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데이터를 반환하고 반환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상담 ID, 초안 ID, 초안 버전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E-9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 반환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데이터가 반환되었음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 ID, 반환 초안 버전, 반환 시각, 반환 출처</a:t>
                      </a:r>
                    </a:p>
                  </a:txBody>
                  <a:tcPr marL="85725" marR="85725" marT="57150" marB="57150" anchor="ctr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화면·자동화</a:t>
                      </a:r>
                    </a:p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Trigger</a:t>
                      </a:r>
                    </a:p>
                  </a:txBody>
                  <a:tcPr marL="85725" marR="85725" marT="57150" marB="57150" anchor="ctr">
                    <a:solidFill>
                      <a:srgbClr val="2E74C6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2E74C6"/>
                          </a:solidFill>
                          <a:latin typeface="Pretendard"/>
                          <a:ea typeface="Pretendard"/>
                          <a:cs typeface="Pretendard"/>
                        </a:rPr>
                        <a:t>UT-2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선택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시작 문장: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상담사가 초안 검토 화면에서 확인을 선택하면 초안 확인 기록이 시작됨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Command</a:t>
                      </a:r>
                    </a:p>
                  </a:txBody>
                  <a:tcPr marL="85725" marR="85725" marT="57150" marB="57150" anchor="ctr">
                    <a:solidFill>
                      <a:srgbClr val="1E2A5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C-10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요청: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이력을 기록하라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입력: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 ID, 초안 ID, 초안 버전, 상담사 ID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담당자 유형: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규칙 기반 코드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  <a:tr h="647700"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FFFFFF"/>
                          </a:solidFill>
                          <a:latin typeface="Pretendard"/>
                          <a:ea typeface="Pretendard"/>
                          <a:cs typeface="Pretendard"/>
                        </a:rPr>
                        <a:t>Event</a:t>
                      </a:r>
                    </a:p>
                  </a:txBody>
                  <a:tcPr marL="85725" marR="85725" marT="57150" marB="57150" anchor="ctr">
                    <a:solidFill>
                      <a:srgbClr val="404155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ctr"/>
                      <a:r>
                        <a:rPr sz="1350" b="1">
                          <a:solidFill>
                            <a:srgbClr val="404155"/>
                          </a:solidFill>
                          <a:latin typeface="Pretendard"/>
                          <a:ea typeface="Pretendard"/>
                          <a:cs typeface="Pretendard"/>
                        </a:rPr>
                        <a:t>E-10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>
                      <a:normAutofit/>
                    </a:bodyPr>
                    <a:lstStyle/>
                    <a:p>
                      <a:pPr algn="l"/>
                      <a:r>
                        <a:rPr sz="1350" b="1">
                          <a:solidFill>
                            <a:srgbClr val="2B3242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 기록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사실: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초안 확인이 기록되었음</a:t>
                      </a:r>
                    </a:p>
                    <a:p>
                      <a:r>
                        <a:rPr sz="1275" b="1">
                          <a:solidFill>
                            <a:srgbClr val="1E2A5C"/>
                          </a:solidFill>
                          <a:latin typeface="Pretendard"/>
                          <a:ea typeface="Pretendard"/>
                          <a:cs typeface="Pretendard"/>
                        </a:rPr>
                        <a:t>결과: </a:t>
                      </a:r>
                      <a:r>
                        <a:rPr sz="1275">
                          <a:solidFill>
                            <a:srgbClr val="4A5364"/>
                          </a:solidFill>
                          <a:latin typeface="Pretendard"/>
                          <a:ea typeface="Pretendard"/>
                          <a:cs typeface="Pretendard"/>
                        </a:rPr>
                        <a:t>상담사 ID, 확인 초안 버전, 확인 시각</a:t>
                      </a:r>
                    </a:p>
                  </a:txBody>
                  <a:tcPr marL="85725" marR="85725" marT="57150" marB="57150" anchor="ctr">
                    <a:solidFill>
                      <a:srgbClr val="F5F8FC"/>
                    </a:solidFill>
                  </a:tcPr>
                </a:tc>
              </a:tr>
            </a:tbl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BEAB14-BC55-4D94-8E8E-4AF007E7F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6143625"/>
            <a:ext cx="9620250" cy="323850"/>
          </a:xfrm>
          <a:prstGeom xmlns:a="http://schemas.openxmlformats.org/drawingml/2006/main" prst="roundRect">
            <a:avLst>
              <a:gd name="adj" fmla="val 29412"/>
            </a:avLst>
          </a:prstGeom>
          <a:solidFill xmlns:a="http://schemas.openxmlformats.org/drawingml/2006/main">
            <a:srgbClr val="FFF3DF"/>
          </a:solidFill>
          <a:ln xmlns:a="http://schemas.openxmlformats.org/drawingml/2006/main" w="9525">
            <a:solidFill>
              <a:srgbClr val="A9651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5EA448-4CF9-46EB-BBC3-51630608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6181725"/>
            <a:ext cx="933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28575" tIns="19050" rIns="28575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defRPr>
            </a:pPr>
            <a:r>
              <a:rPr sz="1275" b="1">
                <a:solidFill>
                  <a:srgbClr val="A96514"/>
                </a:solidFill>
                <a:latin typeface="Pretendard"/>
                <a:ea typeface="Pretendard"/>
                <a:cs typeface="Pretendard"/>
              </a:rPr>
              <a:t>저장된 초안을 다시 반환하면 E-9는 새로 생길 수 있음 · 새로 작성하지 않았다면 E-8은 반복하지 않음</a:t>
            </a:r>
          </a:p>
        </p:txBody>
      </p:sp>
    </p:spTree>
    <p:extLst>
      <p:ext uri="{BB962C8B-B14F-4D97-AF65-F5344CB8AC3E}">
        <p14:creationId xmlns:p14="http://schemas.microsoft.com/office/powerpoint/2010/main" val="3330570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2026-09-23T05:10:29.6460000Z</dcterms:created>
  <dcterms:modified xsi:type="dcterms:W3CDTF">2026-09-23T05:10:29.6460000Z</dcterms:modified>
</coreProperties>
</file>