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2" r:id="rId15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59" autoAdjust="0"/>
    <p:restoredTop sz="94610"/>
  </p:normalViewPr>
  <p:slideViewPr>
    <p:cSldViewPr snapToGrid="0" snapToObjects="1">
      <p:cViewPr>
        <p:scale>
          <a:sx n="90" d="100"/>
          <a:sy n="90" d="100"/>
        </p:scale>
        <p:origin x="6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45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626096"/>
            <a:ext cx="13624560" cy="18288"/>
          </a:xfrm>
          <a:prstGeom prst="rect">
            <a:avLst/>
          </a:prstGeom>
          <a:solidFill>
            <a:srgbClr val="E9ECF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680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앱 아키텍처 설계 산출물 7종 · design-agentic-ai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C3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C:\Users\hiond\class\design-agentic-ai\textbook\images\s01-cover-constel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6949440" cy="46360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28800"/>
            <a:ext cx="128016" cy="210312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2"/>
          <p:cNvSpPr/>
          <p:nvPr/>
        </p:nvSpPr>
        <p:spPr>
          <a:xfrm>
            <a:off x="1280160" y="1737360"/>
            <a:ext cx="6035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앱 아키텍처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산출물 7종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280160" y="4206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설계서 7장으로 AI 앱의 뼈대를 세우는 법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5431536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통일 — 런치픽(직장인 점심 추천 앱)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583387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C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2026-08-06 · design-agentic-ai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Ⅰ. 들어가기 › 2. 산출물 7종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설계서가</a:t>
            </a: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각각 무엇을 정하나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장이 한 가지 질문에만 답함</a:t>
            </a:r>
            <a:endParaRPr lang="en-US" sz="1600" dirty="0"/>
          </a:p>
        </p:txBody>
      </p:sp>
      <p:pic>
        <p:nvPicPr>
          <p:cNvPr id="7" name="Image 0" descr="C:\Users\hiond\class\design-agentic-ai\textbook\images\s03-seven-c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740664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6976872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30568" y="69768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 = 쓰는 순서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806440" cy="2340864"/>
        </p:xfrm>
        <a:graphic>
          <a:graphicData uri="http://schemas.openxmlformats.org/drawingml/2006/table">
            <a:tbl>
              <a:tblPr/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정하나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① 목표·품질 카드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무엇을 성공이라 부르나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논리 아키텍처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무엇이 어디에 있나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패턴·시퀀스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어떤 순서로 엮나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④ 역할 계약서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혼자 하나 여럿이 하나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⑤ 지식·도구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답을 어느 길로 가져오나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⑥ 가드레일·관측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어디를 막고 뭘 기록하나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⑦ 배포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몇 덩어리로 나눠 올리나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02920" y="443484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12648" y="443484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순서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39496" y="504748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740664" y="491032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번호가 곧 쓰는 순서임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39496" y="538581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740664" y="524865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흐름을 그림 → 그 다음 나눔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9496" y="572414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740664" y="558698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④와 ⑤는 서로를 보며 씀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02920" y="6144767"/>
            <a:ext cx="5806440" cy="1199007"/>
          </a:xfrm>
          <a:prstGeom prst="roundRect">
            <a:avLst>
              <a:gd name="adj" fmla="val 678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02920" y="6283072"/>
            <a:ext cx="54864" cy="85953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85800" y="6236208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짚고 갈 것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85800" y="6473952"/>
            <a:ext cx="5440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마이크로서비스를 설계할 때 논리 아키텍처 → 시퀀스 → API → 클래스·데이터 순으로 가는 것과 같음. 흐름을 먼저 확정해야 그 단계를 누가 맡고 무슨 지식이 필요한지 정해짐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Ⅰ. 들어가기 › 3. 관계도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어느 방향으로 흐르나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굵은 선은 없으면 못 채우는 값임</a:t>
            </a:r>
            <a:endParaRPr lang="en-US" sz="1600" dirty="0"/>
          </a:p>
        </p:txBody>
      </p:sp>
      <p:pic>
        <p:nvPicPr>
          <p:cNvPr id="7" name="Image 0" descr="C:\Users\hiond\class\design-agentic-ai\textbook\images\s04-seven-re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7543800" cy="5029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965960"/>
            <a:ext cx="589788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339328" y="1965960"/>
            <a:ext cx="5678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선의 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66176" y="259689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467344" y="2459736"/>
            <a:ext cx="5660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굵은 선 — 없으면 뒤 칸을 못 채움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66176" y="293522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467344" y="2798064"/>
            <a:ext cx="5660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얇은 선 — 나중에 손봐도 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66176" y="327355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467344" y="3136392"/>
            <a:ext cx="5660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점선 — 뒤에서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되돌아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보완 수정함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0" y="4014216"/>
            <a:ext cx="5897880" cy="14630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8229600" y="4123944"/>
            <a:ext cx="54864" cy="1243584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412480" y="4105656"/>
            <a:ext cx="5532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짚고 갈 것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12480" y="4343400"/>
            <a:ext cx="55321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②(구조)가 ③·⑦에 값을 넘기고, ③(순서)이 ④·⑤에 단계를 넘김. 역방향 점선은 7종을 한 번에 끝내지 않고 두 바퀴 돈다는 뜻임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① 목표·품질속성 카드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성공을 숫자로 못 박기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잴 수 없는 목표는 뒤 문서를 전부 막음</a:t>
            </a:r>
            <a:endParaRPr lang="en-US" sz="1600" dirty="0"/>
          </a:p>
        </p:txBody>
      </p:sp>
      <p:pic>
        <p:nvPicPr>
          <p:cNvPr id="7" name="Image 0" descr="C:\Users\hiond\class\design-agentic-ai\textbook\images\s05-goal-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740664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6976872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30568" y="69768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 3개 · 품질 3개로 줄임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장에서 정하는 것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 기준 딱 3개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 품질 딱 3개(5개 중)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고치기 전 숫자(기준선)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3584448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12648" y="3584448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대충 하면 나는 사고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39496" y="419709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40664" y="405993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 설계서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시간 예산을 감으로 나눔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39496" y="453542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40664" y="439826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가드레일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 설계서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무엇을 잴지 못 정함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9496" y="487375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40664" y="473659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 “왜 이 구조냐”에 못 답함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02920" y="5294376"/>
            <a:ext cx="5806440" cy="14630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502920" y="5404104"/>
            <a:ext cx="54864" cy="1243584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85800" y="5385816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짚고 갈 것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5800" y="5623560"/>
            <a:ext cx="544068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흔한 실수는 기획서 지표를 전부 옮기는 것임.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300" dirty="0"/>
              <a:t>가장 중요한 성공 기준 </a:t>
            </a:r>
            <a:r>
              <a:rPr lang="en-US" altLang="ko-KR" sz="1300" dirty="0"/>
              <a:t>3</a:t>
            </a:r>
            <a:r>
              <a:rPr lang="ko-KR" altLang="en-US" sz="1300" dirty="0"/>
              <a:t>개만 선정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① 목표·품질속성 카드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시스템이 책임질 것만 고르기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지표마다 네 가지를 묻고 3분류로 나눔</a:t>
            </a:r>
            <a:endParaRPr lang="en-US" sz="1600" dirty="0"/>
          </a:p>
        </p:txBody>
      </p:sp>
      <p:pic>
        <p:nvPicPr>
          <p:cNvPr id="7" name="Image 0" descr="C:\Users\hiond\class\design-agentic-ai\textbook\images\s06-metric-decision-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740664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6976872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30568" y="69768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1·3 탈락은 책임 밖 · 2·4는 공동 책임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지표마다 묻는 4가지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실행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기록만으로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있어야 함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시스템이 직접 바꿀 수 있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어야 함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이번 범위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안의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여야 함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359359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0664" y="345643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결과에 영향을 미치는 지표는 제거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추천 결과 중 선택 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922776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2648" y="3922776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</a:t>
            </a: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런치픽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점심메뉴 추천 앱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판정 결과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04279"/>
              </p:ext>
            </p:extLst>
          </p:nvPr>
        </p:nvGraphicFramePr>
        <p:xfrm>
          <a:off x="502920" y="4541520"/>
          <a:ext cx="5806440" cy="2709672"/>
        </p:xfrm>
        <a:graphic>
          <a:graphicData uri="http://schemas.openxmlformats.org/drawingml/2006/table">
            <a:tbl>
              <a:tblPr/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원문 목표값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조회 응답 시간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3초 이내(95%)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책임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알레르기 위반 노출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0건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 책임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추천근거와 확신스코어 제공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400" b="1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시스템 책임</a:t>
                      </a:r>
                      <a:endParaRPr lang="en-US" sz="14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220353"/>
                  </a:ext>
                </a:extLst>
              </a:tr>
              <a:tr h="344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결정 소요 시간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공동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책임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 행동 개입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구독 전환율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공동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책임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사람 행동 개입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9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BEP(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손익분기점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구독자 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6,667명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책임 밖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② 논리 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어디부터가 우리 통제 밖인가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377549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경계선을 못 그으면 가릴 곳을 못 정함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383413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36892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장에서 정하는 것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 밖에 무엇이 있나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시스템 안을 몇 덩어리로 나누나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통제 밖으로 나가는 선(경계)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3593592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0664" y="3456432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진짜로 붙는 것 vs 흉내(Mock)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922776"/>
            <a:ext cx="383413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2648" y="3922776"/>
            <a:ext cx="36892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대충 하면 나는 사고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39496" y="4535424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40664" y="4398264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가릴 곳을 못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설계서와 가드레일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 설계서가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9496" y="4873752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40664" y="4736592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배포설계서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몇 덩어리로 쪼갤지 논쟁만 함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39496" y="5212080"/>
            <a:ext cx="54342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740664" y="5074920"/>
            <a:ext cx="367714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때 없는 API를 부름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02920" y="5867654"/>
            <a:ext cx="3834130" cy="14630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502920" y="5977382"/>
            <a:ext cx="45719" cy="1243584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685800" y="5959094"/>
            <a:ext cx="359261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짚고 갈 것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85800" y="6196838"/>
            <a:ext cx="359261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3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논리아키텍처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설계서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위치와 경계만 정함.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패턴</a:t>
            </a:r>
            <a:r>
              <a:rPr lang="en-US" altLang="ko-KR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 설계서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)·</a:t>
            </a:r>
            <a:r>
              <a:rPr lang="en-US" sz="13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역할계약서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)·가리는 법(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가드레일</a:t>
            </a:r>
            <a:r>
              <a:rPr lang="en-US" altLang="ko-KR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)·</a:t>
            </a:r>
            <a:r>
              <a:rPr lang="en-US" sz="13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배포설계서</a:t>
            </a: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)를 여기서 앞서 쓰면 값이 두 문서에 생김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8816EE5E-596E-E7F3-18CD-C932A78B6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930" y="2157937"/>
            <a:ext cx="4565428" cy="5216144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1CF29B9-2556-9E5E-AD5B-280FDBC6C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358" y="2234899"/>
            <a:ext cx="5318204" cy="4859321"/>
          </a:xfrm>
          <a:prstGeom prst="rect">
            <a:avLst/>
          </a:prstGeom>
        </p:spPr>
      </p:pic>
      <p:sp>
        <p:nvSpPr>
          <p:cNvPr id="40" name="Text 4">
            <a:extLst>
              <a:ext uri="{FF2B5EF4-FFF2-40B4-BE49-F238E27FC236}">
                <a16:creationId xmlns:a16="http://schemas.microsoft.com/office/drawing/2014/main" id="{958DA1BB-618C-F7F2-3C07-231EC64C116F}"/>
              </a:ext>
            </a:extLst>
          </p:cNvPr>
          <p:cNvSpPr/>
          <p:nvPr/>
        </p:nvSpPr>
        <p:spPr>
          <a:xfrm>
            <a:off x="4660900" y="1636776"/>
            <a:ext cx="434975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dirty="0"/>
              <a:t>전체 구성도</a:t>
            </a:r>
            <a:endParaRPr lang="en-US" sz="160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51948FDC-FE17-1B0A-13E1-F5FB445CA518}"/>
              </a:ext>
            </a:extLst>
          </p:cNvPr>
          <p:cNvSpPr/>
          <p:nvPr/>
        </p:nvSpPr>
        <p:spPr>
          <a:xfrm>
            <a:off x="9085358" y="1659890"/>
            <a:ext cx="53182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600" dirty="0"/>
              <a:t>내부 구성도</a:t>
            </a:r>
            <a:endParaRPr lang="en-US" sz="16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C8629CF-856D-6A76-E01A-13E60EB5D393}"/>
              </a:ext>
            </a:extLst>
          </p:cNvPr>
          <p:cNvSpPr/>
          <p:nvPr/>
        </p:nvSpPr>
        <p:spPr>
          <a:xfrm>
            <a:off x="4724400" y="4535424"/>
            <a:ext cx="1079500" cy="481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5541364-F16F-EFBD-C120-2588B734CB79}"/>
              </a:ext>
            </a:extLst>
          </p:cNvPr>
          <p:cNvCxnSpPr>
            <a:cxnSpLocks/>
            <a:stCxn id="43" idx="3"/>
            <a:endCxn id="38" idx="1"/>
          </p:cNvCxnSpPr>
          <p:nvPr/>
        </p:nvCxnSpPr>
        <p:spPr>
          <a:xfrm flipV="1">
            <a:off x="5803900" y="4664560"/>
            <a:ext cx="3281458" cy="111402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② 논리 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</a:t>
            </a:r>
            <a:r>
              <a:rPr lang="ko-KR" alt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내부와 외부의 신뢰 경계 판단 및 인터페이스 데이터 식별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쉬운 판단 기준은 </a:t>
            </a:r>
            <a:r>
              <a:rPr lang="en-US" altLang="ko-KR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만드는 것인가</a:t>
            </a:r>
            <a:r>
              <a:rPr lang="en-US" altLang="ko-KR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?”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</a:t>
            </a: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경계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(TB: Trust Boundary) </a:t>
            </a:r>
            <a:r>
              <a:rPr 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</a:t>
            </a: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‘No’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 내부 서비스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기록을 못 보게 되나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권한 주체가 바뀌나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5319776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2648" y="5319776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외부시스템과 오가는 데이터 식별 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민감정보 배제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39496" y="593242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40664" y="579526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/>
              <a:t>외부 신뢰 경계와 오가는 데이터를 식별하고 민감정보는 배제함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94941"/>
              </p:ext>
            </p:extLst>
          </p:nvPr>
        </p:nvGraphicFramePr>
        <p:xfrm>
          <a:off x="580644" y="6146800"/>
          <a:ext cx="5728716" cy="1463040"/>
        </p:xfrm>
        <a:graphic>
          <a:graphicData uri="http://schemas.openxmlformats.org/drawingml/2006/table">
            <a:tbl>
              <a:tblPr/>
              <a:tblGrid>
                <a:gridCol w="190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9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신뢰경계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넘김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넘기지 않음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TB5. 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카카오 로그인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인증코드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인증토큰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이메일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TB4. 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결제 게이트웨이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주문식별자</a:t>
                      </a:r>
                      <a:r>
                        <a:rPr lang="en-US" altLang="ko-KR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, 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금액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38875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TB3. 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지도</a:t>
                      </a:r>
                      <a:r>
                        <a:rPr lang="en-US" altLang="ko-KR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/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식당</a:t>
                      </a:r>
                      <a:r>
                        <a:rPr lang="en-US" altLang="ko-KR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/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날씨 </a:t>
                      </a:r>
                      <a:r>
                        <a:rPr lang="en-US" altLang="ko-KR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API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현재위치 좌표</a:t>
                      </a:r>
                      <a:r>
                        <a:rPr lang="en-US" altLang="ko-KR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, 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행정구역코드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98648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TB2. LLM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 err="1">
                          <a:latin typeface="Pretendard" charset="0"/>
                          <a:ea typeface="Pretendard" charset="0"/>
                          <a:cs typeface="Pretendard" charset="0"/>
                        </a:rPr>
                        <a:t>취향카테고리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 코드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개인 알레르기 정보</a:t>
                      </a:r>
                      <a:endParaRPr lang="en-US" alt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200671"/>
                  </a:ext>
                </a:extLst>
              </a:tr>
            </a:tbl>
          </a:graphicData>
        </a:graphic>
      </p:graphicFrame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aphicFrame>
        <p:nvGraphicFramePr>
          <p:cNvPr id="33" name="Table 0">
            <a:extLst>
              <a:ext uri="{FF2B5EF4-FFF2-40B4-BE49-F238E27FC236}">
                <a16:creationId xmlns:a16="http://schemas.microsoft.com/office/drawing/2014/main" id="{9BEC5B11-D3B2-4A21-79F2-A5693B7CB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622880"/>
              </p:ext>
            </p:extLst>
          </p:nvPr>
        </p:nvGraphicFramePr>
        <p:xfrm>
          <a:off x="580644" y="3195320"/>
          <a:ext cx="5728716" cy="1755648"/>
        </p:xfrm>
        <a:graphic>
          <a:graphicData uri="http://schemas.openxmlformats.org/drawingml/2006/table">
            <a:tbl>
              <a:tblPr/>
              <a:tblGrid>
                <a:gridCol w="1884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0780">
                  <a:extLst>
                    <a:ext uri="{9D8B030D-6E8A-4147-A177-3AD203B41FA5}">
                      <a16:colId xmlns:a16="http://schemas.microsoft.com/office/drawing/2014/main" val="3886492444"/>
                    </a:ext>
                  </a:extLst>
                </a:gridCol>
                <a:gridCol w="951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경계</a:t>
                      </a:r>
                      <a:endParaRPr lang="en-US" sz="12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로그를 못 보나</a:t>
                      </a:r>
                      <a:r>
                        <a:rPr lang="en-US" altLang="ko-KR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?</a:t>
                      </a:r>
                      <a:endParaRPr lang="en-US" sz="12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권한주체 변경 </a:t>
                      </a:r>
                      <a:r>
                        <a:rPr lang="en-US" altLang="ko-KR" sz="1200" b="1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?</a:t>
                      </a:r>
                      <a:endParaRPr lang="en-US" sz="12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</a:t>
                      </a:r>
                      <a:endParaRPr lang="en-US" sz="1200" b="1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 로그인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외부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 게이트웨이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외부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지도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식당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날씨 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API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외부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LLM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외부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98877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추천</a:t>
                      </a:r>
                      <a:r>
                        <a:rPr lang="en-US" altLang="ko-KR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/</a:t>
                      </a: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이력 서비스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latin typeface="Pretendard" charset="0"/>
                          <a:ea typeface="Pretendard" charset="0"/>
                          <a:cs typeface="Pretendard" charset="0"/>
                        </a:rPr>
                        <a:t>내부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975141"/>
                  </a:ext>
                </a:extLst>
              </a:tr>
            </a:tbl>
          </a:graphicData>
        </a:graphic>
      </p:graphicFrame>
      <p:pic>
        <p:nvPicPr>
          <p:cNvPr id="37" name="그림 36">
            <a:extLst>
              <a:ext uri="{FF2B5EF4-FFF2-40B4-BE49-F238E27FC236}">
                <a16:creationId xmlns:a16="http://schemas.microsoft.com/office/drawing/2014/main" id="{77EF04FB-94DF-8594-C312-AF549E7E9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782" y="2034251"/>
            <a:ext cx="7854404" cy="52626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③ 패턴·시퀀스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순서를 못 박고 실패 자리를 정함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어떤 순서로 움직이고 실패하면 무엇을 하나</a:t>
            </a:r>
            <a:endParaRPr lang="en-US" sz="160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B9FCD6D-19EF-75FD-2403-6A29F1CA7AF2}"/>
              </a:ext>
            </a:extLst>
          </p:cNvPr>
          <p:cNvGrpSpPr/>
          <p:nvPr/>
        </p:nvGrpSpPr>
        <p:grpSpPr>
          <a:xfrm>
            <a:off x="577702" y="3961983"/>
            <a:ext cx="4809461" cy="720000"/>
            <a:chOff x="457200" y="3639025"/>
            <a:chExt cx="5943600" cy="822960"/>
          </a:xfrm>
          <a:solidFill>
            <a:schemeClr val="bg1"/>
          </a:solidFill>
        </p:grpSpPr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76954104-827F-70A0-D108-EE2B95314BB2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4" name="Text 7">
              <a:extLst>
                <a:ext uri="{FF2B5EF4-FFF2-40B4-BE49-F238E27FC236}">
                  <a16:creationId xmlns:a16="http://schemas.microsoft.com/office/drawing/2014/main" id="{906C5DA8-D73B-640B-4F8C-0C41C1E3BD39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세부 설계 수행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F1DA33B-289E-FD81-D643-9AD283C3DE6D}"/>
              </a:ext>
            </a:extLst>
          </p:cNvPr>
          <p:cNvGrpSpPr/>
          <p:nvPr/>
        </p:nvGrpSpPr>
        <p:grpSpPr>
          <a:xfrm>
            <a:off x="577702" y="1972449"/>
            <a:ext cx="4809461" cy="720000"/>
            <a:chOff x="457200" y="4572961"/>
            <a:chExt cx="5943600" cy="822960"/>
          </a:xfrm>
          <a:solidFill>
            <a:schemeClr val="bg1"/>
          </a:solidFill>
        </p:grpSpPr>
        <p:sp>
          <p:nvSpPr>
            <p:cNvPr id="42" name="Shape 8">
              <a:extLst>
                <a:ext uri="{FF2B5EF4-FFF2-40B4-BE49-F238E27FC236}">
                  <a16:creationId xmlns:a16="http://schemas.microsoft.com/office/drawing/2014/main" id="{2538D993-6531-AFE0-E799-F4A1ACEBE46D}"/>
                </a:ext>
              </a:extLst>
            </p:cNvPr>
            <p:cNvSpPr/>
            <p:nvPr/>
          </p:nvSpPr>
          <p:spPr>
            <a:xfrm>
              <a:off x="457200" y="4572961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D0D314-B067-4DBA-437E-88D9AD0BB0B5}"/>
                </a:ext>
              </a:extLst>
            </p:cNvPr>
            <p:cNvSpPr/>
            <p:nvPr/>
          </p:nvSpPr>
          <p:spPr>
            <a:xfrm>
              <a:off x="457200" y="4572961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트리거 나누기</a:t>
              </a:r>
              <a:endPara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동기요청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스케쥴 배치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이벤트의 트리거별로 시퀀스 분리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E6A6B78-0F7B-A743-4F9D-27FA1F45F3C8}"/>
              </a:ext>
            </a:extLst>
          </p:cNvPr>
          <p:cNvGrpSpPr/>
          <p:nvPr/>
        </p:nvGrpSpPr>
        <p:grpSpPr>
          <a:xfrm>
            <a:off x="577702" y="2967216"/>
            <a:ext cx="4809461" cy="720000"/>
            <a:chOff x="457200" y="3639025"/>
            <a:chExt cx="5943600" cy="822960"/>
          </a:xfrm>
          <a:solidFill>
            <a:schemeClr val="bg1"/>
          </a:solidFill>
        </p:grpSpPr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39752D59-9543-D725-05A1-C21B6F337934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4C6D2EC2-198A-5E53-2410-B9B7E15595E7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/>
              <a:r>
                <a:rPr lang="ko-KR" altLang="en-US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시퀀스 패턴 선택</a:t>
              </a:r>
              <a:endPara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고정 워크플로우</a:t>
              </a: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라우터</a:t>
              </a: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6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서브에이젼트</a:t>
              </a:r>
              <a:r>
                <a: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핸드오프</a:t>
              </a:r>
              <a:endParaRPr lang="ko-KR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9F05598-E45B-8A85-21ED-32C597C927FC}"/>
              </a:ext>
            </a:extLst>
          </p:cNvPr>
          <p:cNvCxnSpPr>
            <a:stCxn id="43" idx="2"/>
            <a:endCxn id="46" idx="0"/>
          </p:cNvCxnSpPr>
          <p:nvPr/>
        </p:nvCxnSpPr>
        <p:spPr>
          <a:xfrm>
            <a:off x="2982433" y="2692449"/>
            <a:ext cx="0" cy="27476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EBF3DE8-7AB8-8ECB-794A-EC7E46429F82}"/>
              </a:ext>
            </a:extLst>
          </p:cNvPr>
          <p:cNvCxnSpPr>
            <a:cxnSpLocks/>
            <a:stCxn id="46" idx="2"/>
            <a:endCxn id="34" idx="0"/>
          </p:cNvCxnSpPr>
          <p:nvPr/>
        </p:nvCxnSpPr>
        <p:spPr>
          <a:xfrm>
            <a:off x="2982433" y="3687216"/>
            <a:ext cx="0" cy="27476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hape 25">
            <a:extLst>
              <a:ext uri="{FF2B5EF4-FFF2-40B4-BE49-F238E27FC236}">
                <a16:creationId xmlns:a16="http://schemas.microsoft.com/office/drawing/2014/main" id="{70AD601D-E4BF-0A71-EE30-CAE9F6D7AEA9}"/>
              </a:ext>
            </a:extLst>
          </p:cNvPr>
          <p:cNvSpPr/>
          <p:nvPr/>
        </p:nvSpPr>
        <p:spPr>
          <a:xfrm>
            <a:off x="577702" y="4956750"/>
            <a:ext cx="4809461" cy="2429334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 간 데이터 형식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스키마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 간 공유 데이터 타입과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필드명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스키마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결과 스키마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타임아웃과 재시도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반복 횟수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상한 초과 처리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소진 시 처리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시간 예산 목표치와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최악값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분리 처리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장 참조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부하조건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동시사용자수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요청당 점유시간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자원 상한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재개경계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 중단 시 재개 노드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F8639A52-406D-09D6-18B6-A38C4D5F4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991" y="1983760"/>
            <a:ext cx="8948316" cy="5402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③ 패턴·시퀀스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</a:t>
            </a:r>
            <a:r>
              <a:rPr lang="ko-KR" alt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정상과 비정상 상황의 타임아웃을 분리 검증 </a:t>
            </a:r>
            <a:endParaRPr lang="en-US" sz="3400" b="1" dirty="0">
              <a:solidFill>
                <a:srgbClr val="1E2A5C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정상적인 상황과 비정상 상황일때의 목표 시간 예산은 하나로 하되</a:t>
            </a:r>
            <a:r>
              <a:rPr lang="en-US" altLang="ko-KR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비정상 상황일때의 착지 노드로 빠지는 마감 시간을 별도로 둬서 최악일때도 동작하게 함 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쪼개는 3단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예산을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단계에 나눠 배정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최악값 = 상한 × (1+재시도)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병렬은 큰 값 1건만 넣음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3584448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12648" y="3584448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줄로 나눠 검증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39496" y="419709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40664" y="405993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상황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p95 합계 ≤ 예산 —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큐잉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대기 시간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포함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39496" y="453542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40664" y="439826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 상황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최악값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합계 —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 상황의 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p95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합계를 초과해도 마감시간까지는 허용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9496" y="487375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740664" y="473659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최악 마감시간을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초과하면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갈 곳을 1개 지정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952012"/>
              </p:ext>
            </p:extLst>
          </p:nvPr>
        </p:nvGraphicFramePr>
        <p:xfrm>
          <a:off x="502920" y="5202936"/>
          <a:ext cx="5806440" cy="1170432"/>
        </p:xfrm>
        <a:graphic>
          <a:graphicData uri="http://schemas.openxmlformats.org/drawingml/2006/table">
            <a:tbl>
              <a:tblPr/>
              <a:tblGrid>
                <a:gridCol w="12549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52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p95 합계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1,800ms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통과(예산 3,000ms)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최악값 합계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3,420ms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420ms </a:t>
                      </a:r>
                      <a:r>
                        <a:rPr lang="en-US" sz="1200" dirty="0" err="1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 </a:t>
                      </a:r>
                      <a:r>
                        <a:rPr lang="en-US" altLang="ko-KR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4.5</a:t>
                      </a: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 넘으면 착지 노드로 빠짐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시 착지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캐시 폴백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 안으로 들어옴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502920" y="6592823"/>
            <a:ext cx="5806440" cy="892497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4"/>
          <p:cNvSpPr/>
          <p:nvPr/>
        </p:nvSpPr>
        <p:spPr>
          <a:xfrm>
            <a:off x="502920" y="6737992"/>
            <a:ext cx="54864" cy="603504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685800" y="6684264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짚고 갈 것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5800" y="6922008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`p95`는 100번 중 95번이 그 안에 드는 값임. 폴백은 더 빨라지는 것이 아니라 앞 단계 상한을 소진한 뒤 도는 경로임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F795686-978D-AA0D-7F31-F3C1C0965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956" y="2405048"/>
            <a:ext cx="7337796" cy="48918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④ </a:t>
            </a:r>
            <a:r>
              <a:rPr lang="en-US" sz="1300" dirty="0" err="1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</a:t>
            </a: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계약서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혼자 할 일을 나누지 않기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(LLM 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담당자</a:t>
            </a:r>
            <a:r>
              <a:rPr lang="en-US" altLang="ko-KR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기본이 1개임. 나눌 이유를 못 대면 나누지 않음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에이젼트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이용 업무 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그룹핑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C6F21F8-8BEE-DD0E-4880-ADA17861F4F5}"/>
              </a:ext>
            </a:extLst>
          </p:cNvPr>
          <p:cNvGrpSpPr/>
          <p:nvPr/>
        </p:nvGrpSpPr>
        <p:grpSpPr>
          <a:xfrm>
            <a:off x="502920" y="4321439"/>
            <a:ext cx="5806440" cy="720000"/>
            <a:chOff x="457200" y="3639025"/>
            <a:chExt cx="5943600" cy="822960"/>
          </a:xfrm>
          <a:solidFill>
            <a:schemeClr val="bg1"/>
          </a:solidFill>
        </p:grpSpPr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52B8BB5B-8C47-AC90-67C2-39B5445A2A69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4" name="Text 7">
              <a:extLst>
                <a:ext uri="{FF2B5EF4-FFF2-40B4-BE49-F238E27FC236}">
                  <a16:creationId xmlns:a16="http://schemas.microsoft.com/office/drawing/2014/main" id="{B9422A23-F8C5-CB39-536D-59342440529A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동일 </a:t>
              </a:r>
              <a:r>
                <a:rPr kumimoji="0" lang="ko-KR" altLang="en-US" sz="1400" b="1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에이젼트로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가능한 지 판단 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 LLM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담당자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컨텍스트 오염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동음이의어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규칙 상이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),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병렬화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전문화가 </a:t>
              </a:r>
              <a:b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필요할 때만 분리</a:t>
              </a:r>
              <a:endPara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036C369-D933-81CF-DD04-C6D92B099AF8}"/>
              </a:ext>
            </a:extLst>
          </p:cNvPr>
          <p:cNvGrpSpPr/>
          <p:nvPr/>
        </p:nvGrpSpPr>
        <p:grpSpPr>
          <a:xfrm>
            <a:off x="502920" y="2480760"/>
            <a:ext cx="5806440" cy="720000"/>
            <a:chOff x="457200" y="4572961"/>
            <a:chExt cx="5943600" cy="822960"/>
          </a:xfrm>
          <a:solidFill>
            <a:schemeClr val="bg1"/>
          </a:solidFill>
        </p:grpSpPr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97C1A4C2-B120-638C-250E-64F387014305}"/>
                </a:ext>
              </a:extLst>
            </p:cNvPr>
            <p:cNvSpPr/>
            <p:nvPr/>
          </p:nvSpPr>
          <p:spPr>
            <a:xfrm>
              <a:off x="457200" y="4572961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F77C2BE0-53B6-3223-63A0-D73232C385E6}"/>
                </a:ext>
              </a:extLst>
            </p:cNvPr>
            <p:cNvSpPr/>
            <p:nvPr/>
          </p:nvSpPr>
          <p:spPr>
            <a:xfrm>
              <a:off x="457200" y="4572961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LLM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이용 할 일 식별 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규칙 예외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비정형 데이터 처리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추론 필요한 </a:t>
              </a:r>
              <a:r>
                <a:rPr kumimoji="0" lang="ko-KR" altLang="en-US" sz="14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타스크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식별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33AED72-8DB4-5E96-0C3A-215C187FCD5C}"/>
              </a:ext>
            </a:extLst>
          </p:cNvPr>
          <p:cNvGrpSpPr/>
          <p:nvPr/>
        </p:nvGrpSpPr>
        <p:grpSpPr>
          <a:xfrm>
            <a:off x="502920" y="3401100"/>
            <a:ext cx="5806440" cy="720000"/>
            <a:chOff x="457200" y="3639025"/>
            <a:chExt cx="5943600" cy="822960"/>
          </a:xfrm>
          <a:solidFill>
            <a:schemeClr val="bg1"/>
          </a:solidFill>
        </p:grpSpPr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A0526AFC-441F-32D8-19E8-D12FA515534D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Text 7">
              <a:extLst>
                <a:ext uri="{FF2B5EF4-FFF2-40B4-BE49-F238E27FC236}">
                  <a16:creationId xmlns:a16="http://schemas.microsoft.com/office/drawing/2014/main" id="{EBDD6B7D-6366-66D3-7173-FE21844E4EB8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algn="ctr"/>
              <a:r>
                <a:rPr lang="ko-KR" altLang="en-US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할 일 </a:t>
              </a:r>
              <a:r>
                <a:rPr lang="ko-KR" altLang="en-US" sz="1400" b="1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그룹핑</a:t>
              </a:r>
              <a:endPara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업무 종류가 아니라 같은 자료와 규칙을 </a:t>
              </a:r>
              <a:r>
                <a:rPr lang="ko-KR" altLang="en-US" sz="1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보는지로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묶음</a:t>
              </a:r>
              <a:endParaRPr lang="ko-KR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9F3669A-7615-51EC-1EA0-DB877C089E94}"/>
              </a:ext>
            </a:extLst>
          </p:cNvPr>
          <p:cNvCxnSpPr>
            <a:cxnSpLocks/>
            <a:stCxn id="37" idx="2"/>
            <a:endCxn id="40" idx="0"/>
          </p:cNvCxnSpPr>
          <p:nvPr/>
        </p:nvCxnSpPr>
        <p:spPr>
          <a:xfrm>
            <a:off x="3406140" y="3200760"/>
            <a:ext cx="0" cy="2003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61C2389-264C-98E4-7B01-0E7D1AB2FF14}"/>
              </a:ext>
            </a:extLst>
          </p:cNvPr>
          <p:cNvCxnSpPr>
            <a:cxnSpLocks/>
            <a:stCxn id="40" idx="2"/>
            <a:endCxn id="34" idx="0"/>
          </p:cNvCxnSpPr>
          <p:nvPr/>
        </p:nvCxnSpPr>
        <p:spPr>
          <a:xfrm>
            <a:off x="3406140" y="4121100"/>
            <a:ext cx="0" cy="20033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hape 7">
            <a:extLst>
              <a:ext uri="{FF2B5EF4-FFF2-40B4-BE49-F238E27FC236}">
                <a16:creationId xmlns:a16="http://schemas.microsoft.com/office/drawing/2014/main" id="{E4828B07-CFAD-0824-F3A1-83728645C854}"/>
              </a:ext>
            </a:extLst>
          </p:cNvPr>
          <p:cNvSpPr/>
          <p:nvPr/>
        </p:nvSpPr>
        <p:spPr>
          <a:xfrm>
            <a:off x="502920" y="5329395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E419A3D3-654E-5D89-206E-938F402D9C81}"/>
              </a:ext>
            </a:extLst>
          </p:cNvPr>
          <p:cNvSpPr/>
          <p:nvPr/>
        </p:nvSpPr>
        <p:spPr>
          <a:xfrm>
            <a:off x="612648" y="5329395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결정론적 처리 업무 </a:t>
            </a:r>
            <a:r>
              <a:rPr lang="ko-KR" altLang="en-US" sz="15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그룹핑</a:t>
            </a:r>
            <a:endParaRPr lang="en-US" sz="1500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C503691-A22B-F0C2-71A0-09354A613451}"/>
              </a:ext>
            </a:extLst>
          </p:cNvPr>
          <p:cNvGrpSpPr/>
          <p:nvPr/>
        </p:nvGrpSpPr>
        <p:grpSpPr>
          <a:xfrm>
            <a:off x="502920" y="6763383"/>
            <a:ext cx="5806440" cy="720000"/>
            <a:chOff x="457200" y="3639025"/>
            <a:chExt cx="5943600" cy="822960"/>
          </a:xfrm>
          <a:solidFill>
            <a:schemeClr val="bg1"/>
          </a:solidFill>
        </p:grpSpPr>
        <p:sp>
          <p:nvSpPr>
            <p:cNvPr id="57" name="Shape 6">
              <a:extLst>
                <a:ext uri="{FF2B5EF4-FFF2-40B4-BE49-F238E27FC236}">
                  <a16:creationId xmlns:a16="http://schemas.microsoft.com/office/drawing/2014/main" id="{FB996A7A-6907-E4A5-D1B5-0C7FAA10B25C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8" name="Text 7">
              <a:extLst>
                <a:ext uri="{FF2B5EF4-FFF2-40B4-BE49-F238E27FC236}">
                  <a16:creationId xmlns:a16="http://schemas.microsoft.com/office/drawing/2014/main" id="{6CE7AEC0-D812-C3B8-9C8E-4D844568A967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동일 담당자로 가능한 지 판단 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결정론적 처리 담당자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읽기 </a:t>
              </a:r>
              <a:r>
                <a:rPr lang="ko-KR" altLang="en-US" sz="1400" dirty="0" err="1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타스크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묶음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되돌림 가능한 쓰기 통합 가능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b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되돌림 불가한 쓰기는 반드시 분리</a:t>
              </a:r>
              <a:endParaRPr kumimoji="0" lang="en-US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119CEC8-C51B-90FE-1C65-99BD1E5BEE01}"/>
              </a:ext>
            </a:extLst>
          </p:cNvPr>
          <p:cNvGrpSpPr/>
          <p:nvPr/>
        </p:nvGrpSpPr>
        <p:grpSpPr>
          <a:xfrm>
            <a:off x="502920" y="5843044"/>
            <a:ext cx="5806440" cy="720000"/>
            <a:chOff x="457200" y="3639025"/>
            <a:chExt cx="5943600" cy="822960"/>
          </a:xfrm>
          <a:solidFill>
            <a:schemeClr val="bg1"/>
          </a:solidFill>
        </p:grpSpPr>
        <p:sp>
          <p:nvSpPr>
            <p:cNvPr id="60" name="Shape 6">
              <a:extLst>
                <a:ext uri="{FF2B5EF4-FFF2-40B4-BE49-F238E27FC236}">
                  <a16:creationId xmlns:a16="http://schemas.microsoft.com/office/drawing/2014/main" id="{87D0530D-5AEC-5A2D-34C7-1700829DB21E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oundRect">
              <a:avLst>
                <a:gd name="adj" fmla="val 6667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Text 7">
              <a:extLst>
                <a:ext uri="{FF2B5EF4-FFF2-40B4-BE49-F238E27FC236}">
                  <a16:creationId xmlns:a16="http://schemas.microsoft.com/office/drawing/2014/main" id="{91EB714A-967B-6C42-2CD2-F8B1A8F75C22}"/>
                </a:ext>
              </a:extLst>
            </p:cNvPr>
            <p:cNvSpPr/>
            <p:nvPr/>
          </p:nvSpPr>
          <p:spPr>
            <a:xfrm>
              <a:off x="457200" y="3639025"/>
              <a:ext cx="5943600" cy="822960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txBody>
            <a:bodyPr anchor="ctr"/>
            <a:lstStyle/>
            <a:p>
              <a:pPr lvl="0" algn="ctr" latinLnBrk="1">
                <a:defRPr/>
              </a:pPr>
              <a:r>
                <a:rPr lang="en-US" altLang="ko-KR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LLM </a:t>
              </a:r>
              <a:r>
                <a:rPr lang="ko-KR" altLang="en-US" sz="14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미사용 할 일 식별 </a:t>
              </a:r>
              <a:endPara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lvl="0" algn="ctr" latinLnBrk="1">
                <a:defRPr/>
              </a:pP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위 </a:t>
              </a:r>
              <a:r>
                <a:rPr lang="en-US" altLang="ko-KR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LLM </a:t>
              </a:r>
              <a:r>
                <a:rPr lang="ko-KR" alt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이용 할 일이 아닌 결정론적 처리가 필요한 할 일 </a:t>
              </a:r>
              <a:endPara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F0D0197-0CA4-9189-2D03-A74C3518B772}"/>
              </a:ext>
            </a:extLst>
          </p:cNvPr>
          <p:cNvCxnSpPr>
            <a:cxnSpLocks/>
            <a:stCxn id="61" idx="2"/>
            <a:endCxn id="58" idx="0"/>
          </p:cNvCxnSpPr>
          <p:nvPr/>
        </p:nvCxnSpPr>
        <p:spPr>
          <a:xfrm>
            <a:off x="3406140" y="6563044"/>
            <a:ext cx="0" cy="20033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Shape 7">
            <a:extLst>
              <a:ext uri="{FF2B5EF4-FFF2-40B4-BE49-F238E27FC236}">
                <a16:creationId xmlns:a16="http://schemas.microsoft.com/office/drawing/2014/main" id="{9AA6CDD0-E6AB-49D0-D0FA-40FF2AB0BDCE}"/>
              </a:ext>
            </a:extLst>
          </p:cNvPr>
          <p:cNvSpPr/>
          <p:nvPr/>
        </p:nvSpPr>
        <p:spPr>
          <a:xfrm>
            <a:off x="7984697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6DDFD14D-17F2-F7C2-8944-93596FAFCBEB}"/>
              </a:ext>
            </a:extLst>
          </p:cNvPr>
          <p:cNvSpPr/>
          <p:nvPr/>
        </p:nvSpPr>
        <p:spPr>
          <a:xfrm>
            <a:off x="8094425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계약서 작성</a:t>
            </a:r>
            <a:endParaRPr lang="en-US" sz="1500" dirty="0"/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469F39D0-DEEA-009E-4559-764001AECB11}"/>
              </a:ext>
            </a:extLst>
          </p:cNvPr>
          <p:cNvSpPr/>
          <p:nvPr/>
        </p:nvSpPr>
        <p:spPr>
          <a:xfrm>
            <a:off x="7984697" y="2480760"/>
            <a:ext cx="5806439" cy="5002623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pPr>
              <a:spcBef>
                <a:spcPts val="600"/>
              </a:spcBef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담당자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(LLM +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결정론적 처리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별로 설계 항목 작성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책임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결과물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접근 가능한 정보 항목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지식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 설계 후 업데이트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입력키와 출력 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필수 여부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도구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 이름 작성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읽기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쓰기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되돌림 가능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쓰기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되돌림 불가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되돌림 불가한 쓰기 도구는 반드시 사람 확인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노드명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기입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논리 아키텍처와 지식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도구 설계서 참조하여 작성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 모델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LLM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담당자일 경우 모델명과 선정 사유 입력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성공 기준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True/False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판단할 수 있는 기준 입력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 조건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 일을 종료할 조건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 조건의 판단 주체와 시점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공유상태 후보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다른 담당자와 공유하는 데이터 키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⑤ 지식·도구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질문마다 답을 가져올 길이 다름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무엇을 근거로 답하는지 못 박는 문서임</a:t>
            </a:r>
            <a:endParaRPr lang="en-US" sz="1600" dirty="0"/>
          </a:p>
        </p:txBody>
      </p:sp>
      <p:pic>
        <p:nvPicPr>
          <p:cNvPr id="7" name="Image 0" descr="C:\Users\hiond\class\design-agentic-ai\textbook\images\s13-knowledge-four-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740664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6976872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30568" y="69768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하나가 여러 갈래로 갈림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답이 오는 길 5가지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테이블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목록·개수·합계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NL2SQL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— 뜻이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가까운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문단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Vector RAG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— 선을 따라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홉 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GraphRAG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359359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0664" y="345643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— 낱말을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온톨로지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: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표준용어와 관계 체계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9496" y="3931920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40664" y="3794760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 —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커넥터로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부름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API/MCP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02920" y="4261104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12648" y="4261104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길을 안 고르면 나는 사고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02920" y="47823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502920" y="47823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32104" y="4736592"/>
            <a:ext cx="54772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집계를 문서 검색에 던져 숫자가 흔들림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02920" y="51206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02920" y="5120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32104" y="5074920"/>
            <a:ext cx="54772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이름·전화가 안 가려진 채 밖으로 나감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02920" y="545896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02920" y="54589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32104" y="5413248"/>
            <a:ext cx="54772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저장소를 못 정해 배포 설계가 멈춤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02920" y="5971032"/>
            <a:ext cx="5806440" cy="1252728"/>
          </a:xfrm>
          <a:prstGeom prst="roundRect">
            <a:avLst>
              <a:gd name="adj" fmla="val 5839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502920" y="6080760"/>
            <a:ext cx="54864" cy="1033272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85800" y="606247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짚고 갈 것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" y="6300216"/>
            <a:ext cx="544068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개수·합계는 문서 검색으로는 원리적으로 못 구함. 문단을 아무리 잘 찾아도 세는 일은 안 됨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⑤ 지식·도구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 </a:t>
            </a:r>
            <a:r>
              <a:rPr lang="ko-KR" alt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 검색 방법 판정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뽑기 → 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방법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고르기 → </a:t>
            </a:r>
            <a:r>
              <a:rPr lang="en-US" sz="16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방법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적기 순임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채우는 순서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치는 문장 3개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적기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앱은 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5~10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개로 늘림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 트리로 길 고르기 — 벡터 = 문서 검색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버린 길 1줄 남기기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359359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0664" y="345643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원천이 틀리면 답도 틀림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922776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2648" y="3922776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골든셋(정답지) 만들기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444398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44439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32104" y="4398264"/>
            <a:ext cx="54772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요구사항 1개 = 1문항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02920" y="47823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02920" y="478231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32104" y="4736592"/>
            <a:ext cx="54772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2명이 풀어 갈리면 버림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02920" y="51206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502920" y="5120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32104" y="5074920"/>
            <a:ext cx="54772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런치픽은 24문항 만듦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68233"/>
              </p:ext>
            </p:extLst>
          </p:nvPr>
        </p:nvGraphicFramePr>
        <p:xfrm>
          <a:off x="502920" y="5541264"/>
          <a:ext cx="5806440" cy="1170432"/>
        </p:xfrm>
        <a:graphic>
          <a:graphicData uri="http://schemas.openxmlformats.org/drawingml/2006/table">
            <a:tbl>
              <a:tblPr/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런치픽 질문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고른 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버린 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주변서 뭘 먹을까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테이블</a:t>
                      </a: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조회+먼저 걸러내기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 — 색인 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30일 뭘 먹었나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집계 조회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벡터 — 집계 불가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땅콩은 어느 재료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용어사전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확률 — 위반 0건 불가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C2C2B4CC-D846-8597-1C2B-E6DC3E12B887}"/>
              </a:ext>
            </a:extLst>
          </p:cNvPr>
          <p:cNvSpPr/>
          <p:nvPr/>
        </p:nvSpPr>
        <p:spPr>
          <a:xfrm>
            <a:off x="7315200" y="1965960"/>
            <a:ext cx="6475937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39C50B2A-EF2D-04A7-6983-D02E9FA219C0}"/>
              </a:ext>
            </a:extLst>
          </p:cNvPr>
          <p:cNvSpPr/>
          <p:nvPr/>
        </p:nvSpPr>
        <p:spPr>
          <a:xfrm>
            <a:off x="7450232" y="1965960"/>
            <a:ext cx="623117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altLang="ko-KR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설계서 작성</a:t>
            </a:r>
            <a:endParaRPr lang="en-US" sz="1500" dirty="0"/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132D0519-2407-5C3C-6A28-748FEB880121}"/>
              </a:ext>
            </a:extLst>
          </p:cNvPr>
          <p:cNvSpPr/>
          <p:nvPr/>
        </p:nvSpPr>
        <p:spPr>
          <a:xfrm>
            <a:off x="7315201" y="2480760"/>
            <a:ext cx="6475936" cy="5002623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정형 접근 경로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조회할 테이블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 조건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정형 접근 금지 컬럼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접근 금지 항목과 이유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비정형 접근 경로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벡터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RAG, </a:t>
            </a:r>
            <a:r>
              <a:rPr lang="en-US" altLang="ko-KR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GraphRAG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온톨로지 중 채택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미채택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기입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미채택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방식의 사유 작성</a:t>
            </a:r>
            <a:b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채택 방식의 실제 구성 스펙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 입출력 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커넥터가 주고 받는 값의 이름과 타입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 검증 기준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 정상 동작 기준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민감 필드 변환 시점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민감 정보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마스킹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지점 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보존 및 삭제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검색 결과 데이터의 보존 기간과 삭제 방법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Mock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또는 실물 구분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 대상 시스템 구분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 사용 주체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커넥터 호출 단계 및 담당자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민감 필드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민감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필드의 식별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원천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오류율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원천 데이터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오류율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측정방법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측정일 기입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골든셋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문항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정답지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문항수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질문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정답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근거문서 작성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⑥ 가드레일·관측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⑥ 막을 곳은 세 군데뿐임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가드레일(막는 규칙)은 입구·도구·출구 세 지점에만 걸림</a:t>
            </a:r>
            <a:endParaRPr lang="en-US" sz="1600" dirty="0"/>
          </a:p>
        </p:txBody>
      </p:sp>
      <p:pic>
        <p:nvPicPr>
          <p:cNvPr id="7" name="Image 0" descr="C:\Users\hiond\class\design-agentic-ai\textbook\images\s15-guardrail-three-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740664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22812" y="7018020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432540" y="701802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막는 곳 3 · 기록은 별도임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막는 곳 · 남기는 것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입구 — 밖에서 온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글은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데이터로만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취급 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프롬프트 </a:t>
            </a:r>
            <a:r>
              <a:rPr lang="ko-KR" alt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인젝션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sym typeface="Wingdings" panose="05000000000000000000" pitchFamily="2" charset="2"/>
              </a:rPr>
              <a:t> 방지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— 최소 권한 · 호출 상한 · 승인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출구 — 나가기 전 민감정보 검사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359359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0664" y="345643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 — 요청ID · 지연 · 토큰 · 실패 사유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922776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2648" y="3922776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항목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CEDF2C2D-C297-5842-9831-7EC5450A076D}"/>
              </a:ext>
            </a:extLst>
          </p:cNvPr>
          <p:cNvSpPr/>
          <p:nvPr/>
        </p:nvSpPr>
        <p:spPr>
          <a:xfrm>
            <a:off x="531274" y="4499344"/>
            <a:ext cx="5778086" cy="2957623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상한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건당 금액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호출 단계별 배정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타임아웃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마스킹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필드명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오류 메시지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감사 기록에 모두 적용 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관측 지점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기록을 남길 단계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로깅 항목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품질 측정 대상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측정 대상 및 목표 숫자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출력 측 검사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전송 데이터 검사 방식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위반 시 처리 방법</a:t>
            </a: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차단 규칙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즉시 멈출 조건 및 처리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수행할 행동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알림 대상 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Ⅱ. 산출물별 작성법 › ⑦ 배포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3624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⑦ 몇 덩어리로 나눠 어디에 올리나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362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분리</a:t>
            </a: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· 포트 · 비밀값 · 저장소 4가지를 정함</a:t>
            </a:r>
            <a:endParaRPr lang="en-US" sz="1600" dirty="0"/>
          </a:p>
        </p:txBody>
      </p:sp>
      <p:pic>
        <p:nvPicPr>
          <p:cNvPr id="7" name="Image 0" descr="C:\Users\hiond\class\design-agentic-ai\textbook\images\s17-deploy-units-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740664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20840" y="6976872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30568" y="69768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런타임 5 + 앱 1 · 저장소는 밖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1965960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12648" y="1965960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분리 결정 기준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9496" y="2578608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40664" y="2441448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배포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형태가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다른가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정적 호스팅 분리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9496" y="2916936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40664" y="2779776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늘리는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기준이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다른가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스케일링 필요 여부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39496" y="3255264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40664" y="3118104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권한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등급이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다른가</a:t>
            </a: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권한 등급 분리 필요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 데이터 처리 서비스 분리</a:t>
            </a:r>
            <a:r>
              <a:rPr lang="en-US" altLang="ko-KR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39496" y="3593592"/>
            <a:ext cx="82296" cy="82296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740664" y="3456432"/>
            <a:ext cx="55686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나눠도 응답시간 지키나 — 아니오면 합침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" y="3922776"/>
            <a:ext cx="5806440" cy="384048"/>
          </a:xfrm>
          <a:prstGeom prst="roundRect">
            <a:avLst>
              <a:gd name="adj" fmla="val 1428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12648" y="3922776"/>
            <a:ext cx="5586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항목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624560" y="768096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46368DF8-6B9D-DB2D-1C9C-93ECFBF3662C}"/>
              </a:ext>
            </a:extLst>
          </p:cNvPr>
          <p:cNvSpPr/>
          <p:nvPr/>
        </p:nvSpPr>
        <p:spPr>
          <a:xfrm>
            <a:off x="531274" y="4379976"/>
            <a:ext cx="5778086" cy="3147875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 단위 수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 별 포함 구성 요소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서비스명 기입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 형태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런타임 이미지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앱스토어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정적호스팅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관리형 실행 중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b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관리형 실행은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Cloud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Managed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 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런타임 규모 상항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인스턴스 최대 개수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분할 근거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배포 단위 분리 사유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내부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포트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비밀값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주입 경로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 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비밀값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항목명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주입 방법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환경변수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k8s Secret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저장소 배치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MCP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서버가 준 참조 값 보관 위치</a:t>
            </a: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2034</Words>
  <Application>Microsoft Office PowerPoint</Application>
  <PresentationFormat>사용자 지정</PresentationFormat>
  <Paragraphs>336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58</cp:revision>
  <dcterms:created xsi:type="dcterms:W3CDTF">2026-08-06T11:07:57Z</dcterms:created>
  <dcterms:modified xsi:type="dcterms:W3CDTF">2026-08-06T20:25:04Z</dcterms:modified>
</cp:coreProperties>
</file>