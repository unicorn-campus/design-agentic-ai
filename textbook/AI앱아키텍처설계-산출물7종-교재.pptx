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6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659" autoAdjust="0"/>
    <p:restoredTop sz="94610"/>
  </p:normalViewPr>
  <p:slideViewPr>
    <p:cSldViewPr snapToGrid="0" snapToObjects="1">
      <p:cViewPr>
        <p:scale>
          <a:sx n="90" d="100"/>
          <a:sy n="90" d="100"/>
        </p:scale>
        <p:origin x="6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7454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C2CFE-7A31-3AFF-1716-FE3B09B94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379E95-D726-28C1-A179-1970AE0BD8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84121F-03C8-292E-C0D9-B90E994088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4816BB-602B-1B5A-C6FD-A5F773CC3E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796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7626096"/>
            <a:ext cx="13624560" cy="18288"/>
          </a:xfrm>
          <a:prstGeom prst="rect">
            <a:avLst/>
          </a:prstGeom>
          <a:solidFill>
            <a:srgbClr val="E9ECF3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7680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앱 아키텍처 설계 산출물 7종 · design-agentic-ai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C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C32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C:\Users\hiond\class\design-agentic-ai\textbook\images\s01-cover-constel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188720"/>
            <a:ext cx="6949440" cy="46360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28800"/>
            <a:ext cx="128016" cy="2103120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/>
          <p:nvPr/>
        </p:nvSpPr>
        <p:spPr>
          <a:xfrm>
            <a:off x="1280160" y="1737360"/>
            <a:ext cx="6035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앱 아키텍처</a:t>
            </a:r>
            <a:endParaRPr lang="en-US" sz="4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산출물 7종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1280160" y="420624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FC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 7장으로 AI 앱의 뼈대를 세우는 법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5431536"/>
            <a:ext cx="6035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FA3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통일 — 런치픽(직장인 점심 추천 앱)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80160" y="5833872"/>
            <a:ext cx="6035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FA3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2026-08-06 · design-agentic-ai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Ⅰ. 들어가기 › 1. 왜 설계서인가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설계서를 안 쓰면 어디서 무너지나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만들다 멈추는 자리는 늘 정해져 있음</a:t>
            </a:r>
            <a:endParaRPr lang="en-US" sz="1600" dirty="0"/>
          </a:p>
        </p:txBody>
      </p:sp>
      <p:pic>
        <p:nvPicPr>
          <p:cNvPr id="7" name="Image 0" descr="C:\Users\hiond\class\design-agentic-ai\textbook\images\s02-why-des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설계서가 없으면 세 지점에서 멈춤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 없이 시작하면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성공했는지 판정할 숫자가 없음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어디까지가 우리 통제 밖인지 모름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실패했을 때 돌아갈 곳이 없음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비용이 얼마나 드는지 아무도 모름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 7장이 답하는 것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성공이라 부르나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어디에 있나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39496" y="521208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40664" y="507492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무엇을 책임지나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39496" y="55504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/>
          <p:nvPr/>
        </p:nvSpPr>
        <p:spPr>
          <a:xfrm>
            <a:off x="740664" y="54132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막고 · 기록하고 · 올리는 법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5971032"/>
            <a:ext cx="5806440" cy="1252728"/>
          </a:xfrm>
          <a:prstGeom prst="roundRect">
            <a:avLst>
              <a:gd name="adj" fmla="val 583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502920" y="6080760"/>
            <a:ext cx="54864" cy="1033272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/>
          <p:nvPr/>
        </p:nvSpPr>
        <p:spPr>
          <a:xfrm>
            <a:off x="685800" y="6062472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85800" y="6300216"/>
            <a:ext cx="5440680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멈춤은 실제로 관찰된 것임 — 발표에서 근거를 못 대고, 가릴 곳을 못 정해 구현이 멈추고, 장애가 나면 사람이 손으로 되돌림</a:t>
            </a:r>
            <a:endParaRPr lang="en-US" sz="13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Ⅰ. 들어가기 › 2. 산출물 7종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설계서가</a:t>
            </a: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각각 무엇을 정하나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장이 한 가지 질문에만 답함</a:t>
            </a:r>
            <a:endParaRPr lang="en-US" sz="1600" dirty="0"/>
          </a:p>
        </p:txBody>
      </p:sp>
      <p:pic>
        <p:nvPicPr>
          <p:cNvPr id="7" name="Image 0" descr="C:\Users\hiond\class\design-agentic-ai\textbook\images\s03-seven-c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번호 = 쓰는 순서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65960"/>
          <a:ext cx="5806440" cy="2340864"/>
        </p:xfrm>
        <a:graphic>
          <a:graphicData uri="http://schemas.openxmlformats.org/drawingml/2006/table">
            <a:tbl>
              <a:tblPr/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정하나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목표·품질 카드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성공이라 부르나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논리 아키텍처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무엇이 어디에 있나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패턴·시퀀스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어떤 순서로 엮나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역할 계약서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혼자 하나 여럿이 하나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⑤ 지식·도구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답을 어느 길로 가져오나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⑥ 가드레일·관측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어디를 막고 뭘 기록하나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⑦ 배포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몇 덩어리로 나눠 올리나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02920" y="443484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8"/>
          <p:cNvSpPr/>
          <p:nvPr/>
        </p:nvSpPr>
        <p:spPr>
          <a:xfrm>
            <a:off x="612648" y="443484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순서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39496" y="504748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/>
          <p:nvPr/>
        </p:nvSpPr>
        <p:spPr>
          <a:xfrm>
            <a:off x="740664" y="491032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번호가 곧 쓰는 순서임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39496" y="538581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/>
          <p:nvPr/>
        </p:nvSpPr>
        <p:spPr>
          <a:xfrm>
            <a:off x="740664" y="524865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흐름을 그림 → 그 다음 나눔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39496" y="572414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/>
          <p:nvPr/>
        </p:nvSpPr>
        <p:spPr>
          <a:xfrm>
            <a:off x="740664" y="558698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④와 ⑤는 서로를 보며 씀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02920" y="6144767"/>
            <a:ext cx="5806440" cy="1199007"/>
          </a:xfrm>
          <a:prstGeom prst="roundRect">
            <a:avLst>
              <a:gd name="adj" fmla="val 678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02920" y="6283072"/>
            <a:ext cx="54864" cy="85953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/>
          <p:nvPr/>
        </p:nvSpPr>
        <p:spPr>
          <a:xfrm>
            <a:off x="685800" y="6236208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85800" y="6473952"/>
            <a:ext cx="5440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마이크로서비스를 설계할 때 논리 아키텍처 → 시퀀스 → API → 클래스·데이터 순으로 가는 것과 같음. 흐름을 먼저 확정해야 그 단계를 누가 맡고 무슨 지식이 필요한지 정해짐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Ⅰ. 들어가기 › 3. 관계도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값이 어느 방향으로 흐르나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굵은 선은 없으면 못 채우는 값임</a:t>
            </a:r>
            <a:endParaRPr lang="en-US" sz="1600" dirty="0"/>
          </a:p>
        </p:txBody>
      </p:sp>
      <p:pic>
        <p:nvPicPr>
          <p:cNvPr id="7" name="Image 0" descr="C:\Users\hiond\class\design-agentic-ai\textbook\images\s04-seven-rel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7543800" cy="5029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65960"/>
            <a:ext cx="589788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8339328" y="1965960"/>
            <a:ext cx="56784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선의 뜻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266176" y="25968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8467344" y="2459736"/>
            <a:ext cx="56601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굵은 선 — 없으면 뒤 칸을 못 채움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66176" y="29352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8467344" y="2798064"/>
            <a:ext cx="56601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얇은 선 — 나중에 손봐도 됨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66176" y="32735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8467344" y="3136392"/>
            <a:ext cx="56601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점선 — 뒤에서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앞으로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되돌아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 보완 수정함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0" y="4014216"/>
            <a:ext cx="5897880" cy="146304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8229600" y="4123944"/>
            <a:ext cx="54864" cy="124358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8412480" y="4105656"/>
            <a:ext cx="5532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412480" y="4343400"/>
            <a:ext cx="553212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②(구조)가 ③·⑦에 값을 넘기고, ③(순서)이 ④·⑤에 단계를 넘김. 역방향 점선은 7종을 한 번에 끝내지 않고 두 바퀴 돈다는 뜻임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① 목표·품질속성 카드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성공을 숫자로 못 박기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잴 수 없는 목표는 뒤 문서를 전부 막음</a:t>
            </a:r>
            <a:endParaRPr lang="en-US" sz="1600" dirty="0"/>
          </a:p>
        </p:txBody>
      </p:sp>
      <p:pic>
        <p:nvPicPr>
          <p:cNvPr id="7" name="Image 0" descr="C:\Users\hiond\class\design-agentic-ai\textbook\images\s05-goal-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기준 3개 · 품질 3개로 줄임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장에서 정하는 것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기준 딱 3개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우선 품질 딱 3개(5개 중)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고치기 전 숫자(기준선)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대충 하면 나는 사고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시퀀스 설계서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시간 예산을 감으로 나눔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가드레일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 설계서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무엇을 잴지 못 정함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발표에서 “왜 이 구조냐”에 못 답함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02920" y="5294376"/>
            <a:ext cx="5806440" cy="146304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502920" y="5404104"/>
            <a:ext cx="54864" cy="124358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685800" y="5385816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85800" y="5623560"/>
            <a:ext cx="544068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흔한 실수는 기획서 지표를 전부 옮기는 것임.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300" dirty="0"/>
              <a:t>가장 중요한 성공 기준 </a:t>
            </a:r>
            <a:r>
              <a:rPr lang="en-US" altLang="ko-KR" sz="1300" dirty="0"/>
              <a:t>3</a:t>
            </a:r>
            <a:r>
              <a:rPr lang="ko-KR" altLang="en-US" sz="1300" dirty="0"/>
              <a:t>개만 선정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① 목표·품질속성 카드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시스템이 책임질 것만 고르기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지표마다 네 가지를 묻고 3분류로 나눔</a:t>
            </a:r>
            <a:endParaRPr lang="en-US" sz="1600" dirty="0"/>
          </a:p>
        </p:txBody>
      </p:sp>
      <p:pic>
        <p:nvPicPr>
          <p:cNvPr id="7" name="Image 0" descr="C:\Users\hiond\class\design-agentic-ai\textbook\images\s06-metric-decision-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1·3 탈락은 책임 밖 · 2·4는 공동 책임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지표마다 묻는 4가지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실행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기록만으로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 수 있어야 함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시스템이 직접 바꿀 수 있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어야 함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이번 범위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안의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여야 함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사람의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결과에 영향을 미치는 지표는 제거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추천 결과 중 선택 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</a:t>
            </a:r>
            <a:r>
              <a:rPr lang="en-US" altLang="ko-KR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 </a:t>
            </a:r>
            <a:r>
              <a:rPr lang="en-US" sz="15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런치픽</a:t>
            </a: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점심메뉴 추천 앱</a:t>
            </a:r>
            <a:r>
              <a:rPr lang="en-US" altLang="ko-KR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 </a:t>
            </a: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판정 결과</a:t>
            </a:r>
            <a:endParaRPr lang="en-US" sz="15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2204279"/>
              </p:ext>
            </p:extLst>
          </p:nvPr>
        </p:nvGraphicFramePr>
        <p:xfrm>
          <a:off x="502920" y="4541520"/>
          <a:ext cx="5806440" cy="2709672"/>
        </p:xfrm>
        <a:graphic>
          <a:graphicData uri="http://schemas.openxmlformats.org/drawingml/2006/table">
            <a:tbl>
              <a:tblPr/>
              <a:tblGrid>
                <a:gridCol w="1935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4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 목표값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3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추천 조회 응답 시간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3초 이내(95%)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시스템 책임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3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알레르기 위반 노출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0건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시스템 책임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093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400" b="1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추천근거와 확신스코어 제공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100%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400" b="1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시스템 책임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220353"/>
                  </a:ext>
                </a:extLst>
              </a:tr>
              <a:tr h="344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결정 소요 시간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5분 이내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공동</a:t>
                      </a: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책임</a:t>
                      </a: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 행동 개입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구독 전환율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5%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공동</a:t>
                      </a: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책임</a:t>
                      </a: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 행동 개입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BEP(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손익분기점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)</a:t>
                      </a: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구독자 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6,667명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책임 밖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② 논리 아키텍처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어디부터가 우리 통제 밖인가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377549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경계선을 못 그으면 가릴 곳을 못 정함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383413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368921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장에서 정하는 것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시스템 밖에 무엇이 있나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시스템 안을 몇 덩어리로 나누나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통제 밖으로 나가는 선(경계)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진짜로 붙는 것 vs 흉내(Mock)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383413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368921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대충 하면 나는 사고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가릴 곳을 못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정해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지식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 설계서와 가드레일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 설계서가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막힘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배포설계서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몇 덩어리로 쪼갤지 논쟁만 함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39496" y="5212080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40664" y="5074920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때 없는 API를 부름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02920" y="5867654"/>
            <a:ext cx="3834130" cy="146304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502920" y="5977382"/>
            <a:ext cx="45719" cy="124358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/>
          <p:nvPr/>
        </p:nvSpPr>
        <p:spPr>
          <a:xfrm>
            <a:off x="685800" y="5959094"/>
            <a:ext cx="359261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85800" y="6196838"/>
            <a:ext cx="359261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1300" dirty="0" err="1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논리아키텍처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설계서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는 위치와 경계만 정함.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 err="1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패턴</a:t>
            </a:r>
            <a:r>
              <a:rPr lang="en-US" altLang="ko-KR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시퀀스 설계서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)·</a:t>
            </a:r>
            <a:r>
              <a:rPr lang="en-US" sz="1300" dirty="0" err="1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책임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역할계약서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)·가리는 법(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가드레일</a:t>
            </a:r>
            <a:r>
              <a:rPr lang="en-US" altLang="ko-KR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)·</a:t>
            </a:r>
            <a:r>
              <a:rPr lang="en-US" sz="1300" dirty="0" err="1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배포설계서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)를 여기서 앞서 쓰면 값이 두 문서에 생김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8816EE5E-596E-E7F3-18CD-C932A78B6D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9930" y="2157937"/>
            <a:ext cx="4565428" cy="5216144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A1CF29B9-2556-9E5E-AD5B-280FDBC6CA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5358" y="2234899"/>
            <a:ext cx="5318204" cy="4859321"/>
          </a:xfrm>
          <a:prstGeom prst="rect">
            <a:avLst/>
          </a:prstGeom>
        </p:spPr>
      </p:pic>
      <p:sp>
        <p:nvSpPr>
          <p:cNvPr id="40" name="Text 4">
            <a:extLst>
              <a:ext uri="{FF2B5EF4-FFF2-40B4-BE49-F238E27FC236}">
                <a16:creationId xmlns:a16="http://schemas.microsoft.com/office/drawing/2014/main" id="{958DA1BB-618C-F7F2-3C07-231EC64C116F}"/>
              </a:ext>
            </a:extLst>
          </p:cNvPr>
          <p:cNvSpPr/>
          <p:nvPr/>
        </p:nvSpPr>
        <p:spPr>
          <a:xfrm>
            <a:off x="4660900" y="1636776"/>
            <a:ext cx="434975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600" dirty="0"/>
              <a:t>전체 구성도</a:t>
            </a:r>
            <a:endParaRPr lang="en-US" sz="1600" dirty="0"/>
          </a:p>
        </p:txBody>
      </p:sp>
      <p:sp>
        <p:nvSpPr>
          <p:cNvPr id="42" name="Text 4">
            <a:extLst>
              <a:ext uri="{FF2B5EF4-FFF2-40B4-BE49-F238E27FC236}">
                <a16:creationId xmlns:a16="http://schemas.microsoft.com/office/drawing/2014/main" id="{51948FDC-FE17-1B0A-13E1-F5FB445CA518}"/>
              </a:ext>
            </a:extLst>
          </p:cNvPr>
          <p:cNvSpPr/>
          <p:nvPr/>
        </p:nvSpPr>
        <p:spPr>
          <a:xfrm>
            <a:off x="9085358" y="1659890"/>
            <a:ext cx="53182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600" dirty="0"/>
              <a:t>내부 구성도</a:t>
            </a:r>
            <a:endParaRPr lang="en-US" sz="1600" dirty="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C8629CF-856D-6A76-E01A-13E60EB5D393}"/>
              </a:ext>
            </a:extLst>
          </p:cNvPr>
          <p:cNvSpPr/>
          <p:nvPr/>
        </p:nvSpPr>
        <p:spPr>
          <a:xfrm>
            <a:off x="4724400" y="4535424"/>
            <a:ext cx="1079500" cy="4810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75541364-F16F-EFBD-C120-2588B734CB79}"/>
              </a:ext>
            </a:extLst>
          </p:cNvPr>
          <p:cNvCxnSpPr>
            <a:cxnSpLocks/>
            <a:stCxn id="43" idx="3"/>
            <a:endCxn id="38" idx="1"/>
          </p:cNvCxnSpPr>
          <p:nvPr/>
        </p:nvCxnSpPr>
        <p:spPr>
          <a:xfrm flipV="1">
            <a:off x="5803900" y="4664560"/>
            <a:ext cx="3281458" cy="111402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② 논리 아키텍처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</a:t>
            </a:r>
            <a:r>
              <a:rPr lang="ko-KR" alt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내부와 외부의 신뢰 경계 판단 및 인터페이스 데이터 식별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</a:t>
            </a: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쉬운 판단 기준은 </a:t>
            </a:r>
            <a:r>
              <a:rPr lang="en-US" altLang="ko-KR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</a:t>
            </a:r>
            <a:r>
              <a:rPr lang="ko-KR" alt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만드는 것인가</a:t>
            </a:r>
            <a:r>
              <a:rPr lang="en-US" altLang="ko-KR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?”</a:t>
            </a:r>
            <a:r>
              <a:rPr lang="ko-KR" alt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 </a:t>
            </a:r>
            <a:r>
              <a:rPr lang="en-US" sz="15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경계</a:t>
            </a: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(TB: Trust Boundary) </a:t>
            </a:r>
            <a:r>
              <a:rPr lang="en-US" sz="15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</a:t>
            </a: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</a:t>
            </a:r>
            <a:r>
              <a:rPr lang="en-US" altLang="ko-KR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 </a:t>
            </a:r>
            <a:r>
              <a:rPr lang="en-US" altLang="ko-KR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‘No’</a:t>
            </a: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 내부 서비스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기록을 못 보게 되나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권한 주체가 바뀌나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5319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5319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외부시스템과 오가는 데이터 식별 </a:t>
            </a:r>
            <a:r>
              <a:rPr lang="en-US" altLang="ko-KR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</a:t>
            </a: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민감정보 배제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5932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5795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dirty="0"/>
              <a:t>외부 신뢰 경계와 오가는 데이터를 식별하고 민감정보는 배제함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794941"/>
              </p:ext>
            </p:extLst>
          </p:nvPr>
        </p:nvGraphicFramePr>
        <p:xfrm>
          <a:off x="580644" y="6146800"/>
          <a:ext cx="5728716" cy="1463040"/>
        </p:xfrm>
        <a:graphic>
          <a:graphicData uri="http://schemas.openxmlformats.org/drawingml/2006/table">
            <a:tbl>
              <a:tblPr/>
              <a:tblGrid>
                <a:gridCol w="19095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5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9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대상 신뢰경계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넘김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넘기지 않음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TB5. 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카카오 로그인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인증코드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, </a:t>
                      </a:r>
                      <a:r>
                        <a:rPr lang="ko-KR" altLang="en-US" sz="1200" dirty="0" err="1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인증토큰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, 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이메일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TB4. 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결제 게이트웨이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주문식별자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, 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금액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138875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TB3. 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지도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/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식당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/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날씨 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API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현재위치 좌표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, 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행정구역코드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098648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TB2. LLM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 err="1">
                          <a:latin typeface="Pretendard" charset="0"/>
                          <a:ea typeface="Pretendard" charset="0"/>
                          <a:cs typeface="Pretendard" charset="0"/>
                        </a:rPr>
                        <a:t>취향카테고리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 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개인 알레르기 정보</a:t>
                      </a:r>
                      <a:endParaRPr lang="en-US" alt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1200671"/>
                  </a:ext>
                </a:extLst>
              </a:tr>
            </a:tbl>
          </a:graphicData>
        </a:graphic>
      </p:graphicFrame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graphicFrame>
        <p:nvGraphicFramePr>
          <p:cNvPr id="33" name="Table 0">
            <a:extLst>
              <a:ext uri="{FF2B5EF4-FFF2-40B4-BE49-F238E27FC236}">
                <a16:creationId xmlns:a16="http://schemas.microsoft.com/office/drawing/2014/main" id="{9BEC5B11-D3B2-4A21-79F2-A5693B7CB8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622880"/>
              </p:ext>
            </p:extLst>
          </p:nvPr>
        </p:nvGraphicFramePr>
        <p:xfrm>
          <a:off x="580644" y="3195320"/>
          <a:ext cx="5728716" cy="1755648"/>
        </p:xfrm>
        <a:graphic>
          <a:graphicData uri="http://schemas.openxmlformats.org/drawingml/2006/table">
            <a:tbl>
              <a:tblPr/>
              <a:tblGrid>
                <a:gridCol w="1884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21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0780">
                  <a:extLst>
                    <a:ext uri="{9D8B030D-6E8A-4147-A177-3AD203B41FA5}">
                      <a16:colId xmlns:a16="http://schemas.microsoft.com/office/drawing/2014/main" val="3886492444"/>
                    </a:ext>
                  </a:extLst>
                </a:gridCol>
                <a:gridCol w="9510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경계</a:t>
                      </a:r>
                      <a:endParaRPr lang="en-US" sz="12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로그를 못 보나</a:t>
                      </a:r>
                      <a:r>
                        <a:rPr lang="en-US" altLang="ko-KR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?</a:t>
                      </a:r>
                      <a:endParaRPr lang="en-US" sz="12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b="1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권한주체 변경 </a:t>
                      </a:r>
                      <a:r>
                        <a:rPr lang="en-US" altLang="ko-KR" sz="1200" b="1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?</a:t>
                      </a:r>
                      <a:endParaRPr lang="en-US" sz="12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판정</a:t>
                      </a:r>
                      <a:endParaRPr lang="en-US" sz="12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카카오 로그인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외부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결제 게이트웨이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외부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지도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/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식당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/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날씨 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외부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LLM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외부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98877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추천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/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이력 서비스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내부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975141"/>
                  </a:ext>
                </a:extLst>
              </a:tr>
            </a:tbl>
          </a:graphicData>
        </a:graphic>
      </p:graphicFrame>
      <p:pic>
        <p:nvPicPr>
          <p:cNvPr id="37" name="그림 36">
            <a:extLst>
              <a:ext uri="{FF2B5EF4-FFF2-40B4-BE49-F238E27FC236}">
                <a16:creationId xmlns:a16="http://schemas.microsoft.com/office/drawing/2014/main" id="{77EF04FB-94DF-8594-C312-AF549E7E9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782" y="2034251"/>
            <a:ext cx="7854404" cy="526266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③ 패턴·시퀀스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순서를 못 박고 실패 자리를 정함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어떤 순서로 움직이고 실패하면 무엇을 하나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6A471-AFC0-D01C-7883-78497B163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A0CE2BF-CA83-C4AC-2D2C-FC749C25B9BB}"/>
              </a:ext>
            </a:extLst>
          </p:cNvPr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③ 패턴·시퀀스 설계</a:t>
            </a:r>
            <a:endParaRPr lang="en-US" sz="13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601235B-5029-2707-CBF5-3D8DDC9FF794}"/>
              </a:ext>
            </a:extLst>
          </p:cNvPr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순서를 못 박고 실패 자리를 정함</a:t>
            </a:r>
            <a:endParaRPr lang="en-US" sz="3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35D4D3F-D5A2-EF1D-60C9-72DC82B313F3}"/>
              </a:ext>
            </a:extLst>
          </p:cNvPr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BF77E45-35C8-1306-AFBF-2EF9A104FE48}"/>
              </a:ext>
            </a:extLst>
          </p:cNvPr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09E824C-0749-BAD1-1B44-0C717150E059}"/>
              </a:ext>
            </a:extLst>
          </p:cNvPr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어떤 순서로 움직이고 실패하면 무엇을 하나</a:t>
            </a:r>
            <a:endParaRPr lang="en-US" sz="1600" dirty="0"/>
          </a:p>
        </p:txBody>
      </p:sp>
      <p:pic>
        <p:nvPicPr>
          <p:cNvPr id="7" name="Image 0" descr="C:\Users\hiond\class\design-agentic-ai\textbook\images\s09-sequence-failure-flow.png">
            <a:extLst>
              <a:ext uri="{FF2B5EF4-FFF2-40B4-BE49-F238E27FC236}">
                <a16:creationId xmlns:a16="http://schemas.microsoft.com/office/drawing/2014/main" id="{535127BA-B738-A0B2-FFCD-68F37C31C0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>
            <a:extLst>
              <a:ext uri="{FF2B5EF4-FFF2-40B4-BE49-F238E27FC236}">
                <a16:creationId xmlns:a16="http://schemas.microsoft.com/office/drawing/2014/main" id="{1959B768-4289-D47F-FD0E-FF6807F4FB8A}"/>
              </a:ext>
            </a:extLst>
          </p:cNvPr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B2134FD-E9A0-A5A6-C83C-9035D7CF5B55}"/>
              </a:ext>
            </a:extLst>
          </p:cNvPr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실패는 곱하거나 더해짐</a:t>
            </a:r>
            <a:endParaRPr lang="en-US" sz="12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A7913023-2306-44B0-2D38-88B23694BEF0}"/>
              </a:ext>
            </a:extLst>
          </p:cNvPr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DCECD40-4C1E-8C2E-4B39-210CB8541239}"/>
              </a:ext>
            </a:extLst>
          </p:cNvPr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순서를 엮는다는 뜻</a:t>
            </a:r>
            <a:endParaRPr lang="en-US" sz="15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1C0F264-13DF-0C20-8F75-35B10F3FE428}"/>
              </a:ext>
            </a:extLst>
          </p:cNvPr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1C019D6-58D3-56B5-BF14-903A3EBF248A}"/>
              </a:ext>
            </a:extLst>
          </p:cNvPr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트리거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동기요청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스케쥴 배치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이벤트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별로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따로 그림</a:t>
            </a:r>
            <a:endParaRPr lang="en-US" sz="1300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DEAA78DA-088B-908C-6ACA-F166ED5408A6}"/>
              </a:ext>
            </a:extLst>
          </p:cNvPr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20B9847F-65BA-3FFA-C10D-A62E6B5FF9CB}"/>
              </a:ext>
            </a:extLst>
          </p:cNvPr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기본값은 고정 순서임</a:t>
            </a:r>
            <a:endParaRPr lang="en-US" sz="1300" dirty="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10A3AD9F-4626-BD76-2022-E325EA62F3EC}"/>
              </a:ext>
            </a:extLst>
          </p:cNvPr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DA689047-FE03-3581-76C6-4102E0B5BF1C}"/>
              </a:ext>
            </a:extLst>
          </p:cNvPr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순서가 곧 안전 규칙임</a:t>
            </a:r>
            <a:endParaRPr lang="en-US" sz="130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46D36AD1-1B07-5448-A763-8797B24D2DD2}"/>
              </a:ext>
            </a:extLst>
          </p:cNvPr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ACAEE2EE-F6A3-D332-F193-B9CB1AB089C9}"/>
              </a:ext>
            </a:extLst>
          </p:cNvPr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실패하면 어떻게 하나</a:t>
            </a:r>
            <a:endParaRPr lang="en-US" sz="15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6C6735B9-99E6-EE40-E052-AA96878A429C}"/>
              </a:ext>
            </a:extLst>
          </p:cNvPr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C1AE465-DA17-45A1-2B3A-7343BB9FD03D}"/>
              </a:ext>
            </a:extLst>
          </p:cNvPr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호출 다시 — 시간을 곱함</a:t>
            </a:r>
            <a:endParaRPr lang="en-US" sz="130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4997984E-C593-28FF-1D7F-2A192DF404D0}"/>
              </a:ext>
            </a:extLst>
          </p:cNvPr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AC36D424-8F0D-1F3B-5875-F9F77DF9A595}"/>
              </a:ext>
            </a:extLst>
          </p:cNvPr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길로 감 — 시간을 더함</a:t>
            </a:r>
            <a:endParaRPr lang="en-US" sz="1300" dirty="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8325328A-0C20-D69D-A4F8-3D1978FE860C}"/>
              </a:ext>
            </a:extLst>
          </p:cNvPr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DD09D03B-692E-353B-6741-D932499B3D9A}"/>
              </a:ext>
            </a:extLst>
          </p:cNvPr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 쓰면 갈 곳을 미리 정함</a:t>
            </a:r>
            <a:endParaRPr lang="en-US" sz="1300" dirty="0"/>
          </a:p>
        </p:txBody>
      </p:sp>
      <p:graphicFrame>
        <p:nvGraphicFramePr>
          <p:cNvPr id="26" name="Table 0">
            <a:extLst>
              <a:ext uri="{FF2B5EF4-FFF2-40B4-BE49-F238E27FC236}">
                <a16:creationId xmlns:a16="http://schemas.microsoft.com/office/drawing/2014/main" id="{A44720C1-46A9-9AEF-8797-0B7956112AAF}"/>
              </a:ext>
            </a:extLst>
          </p:cNvPr>
          <p:cNvGraphicFramePr>
            <a:graphicFrameLocks noGrp="1"/>
          </p:cNvGraphicFramePr>
          <p:nvPr/>
        </p:nvGraphicFramePr>
        <p:xfrm>
          <a:off x="502920" y="5202936"/>
          <a:ext cx="5806440" cy="1170432"/>
        </p:xfrm>
        <a:graphic>
          <a:graphicData uri="http://schemas.openxmlformats.org/drawingml/2006/table">
            <a:tbl>
              <a:tblPr/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빠진 것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나는 사고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재시도 상한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호출이 몇 배로 쏟아짐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루프 상한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요청이 안 끝나고 비용만 쌈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필드 주인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동시 두 단계가 값을 덮음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Shape 23">
            <a:extLst>
              <a:ext uri="{FF2B5EF4-FFF2-40B4-BE49-F238E27FC236}">
                <a16:creationId xmlns:a16="http://schemas.microsoft.com/office/drawing/2014/main" id="{33EC42B0-3268-6F38-0D6C-DBCAFD4C8B7C}"/>
              </a:ext>
            </a:extLst>
          </p:cNvPr>
          <p:cNvSpPr/>
          <p:nvPr/>
        </p:nvSpPr>
        <p:spPr>
          <a:xfrm>
            <a:off x="502920" y="6592824"/>
            <a:ext cx="5806440" cy="822960"/>
          </a:xfrm>
          <a:prstGeom prst="roundRect">
            <a:avLst>
              <a:gd name="adj" fmla="val 888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>
            <a:extLst>
              <a:ext uri="{FF2B5EF4-FFF2-40B4-BE49-F238E27FC236}">
                <a16:creationId xmlns:a16="http://schemas.microsoft.com/office/drawing/2014/main" id="{FDE1472E-CD72-B3B0-F863-3B676D29CE4C}"/>
              </a:ext>
            </a:extLst>
          </p:cNvPr>
          <p:cNvSpPr/>
          <p:nvPr/>
        </p:nvSpPr>
        <p:spPr>
          <a:xfrm>
            <a:off x="502920" y="6702552"/>
            <a:ext cx="54864" cy="60350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C88F2021-456A-A042-FAE2-0D7D0B184D9E}"/>
              </a:ext>
            </a:extLst>
          </p:cNvPr>
          <p:cNvSpPr/>
          <p:nvPr/>
        </p:nvSpPr>
        <p:spPr>
          <a:xfrm>
            <a:off x="685800" y="668426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7EB2ADCB-03A7-9089-93C2-48A90D3F0F66}"/>
              </a:ext>
            </a:extLst>
          </p:cNvPr>
          <p:cNvSpPr/>
          <p:nvPr/>
        </p:nvSpPr>
        <p:spPr>
          <a:xfrm>
            <a:off x="685800" y="692200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시점에 ④ 역할은 아직 없음. 참여 주체는 ②의 구성요소에서 가져오고, 여기서 그린 단계 목록을 ④가 나눠 맡음</a:t>
            </a:r>
            <a:endParaRPr lang="en-US" sz="1300" dirty="0"/>
          </a:p>
        </p:txBody>
      </p:sp>
      <p:sp>
        <p:nvSpPr>
          <p:cNvPr id="31" name="Slide Number Placeholder 0">
            <a:extLst>
              <a:ext uri="{FF2B5EF4-FFF2-40B4-BE49-F238E27FC236}">
                <a16:creationId xmlns:a16="http://schemas.microsoft.com/office/drawing/2014/main" id="{8C316A26-E70C-2981-504B-8800B2DEC11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5583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③ 패턴·시퀀스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3초를 쪼개고 최악값도 셈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목표값과 포기 시각을 두 열로 나눠 검증함</a:t>
            </a:r>
            <a:endParaRPr lang="en-US" sz="1600" dirty="0"/>
          </a:p>
        </p:txBody>
      </p:sp>
      <p:pic>
        <p:nvPicPr>
          <p:cNvPr id="7" name="Image 0" descr="C:\Users\hiond\class\design-agentic-ai\textbook\images\s10-timeout-budget-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줄로 나눠 각각 검증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예산 쪼개는 3단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예산을 단계에 나눠 배정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최악값 = 상한 × (1+재시도)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병렬은 큰 값 1건만 넣음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줄로 나눠 검증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p95 합계 ≤ 예산 — 큐잉 포함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최악값 합계 — 초과 허용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초과하면 갈 곳을 1개 지정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02936"/>
          <a:ext cx="5806440" cy="1170432"/>
        </p:xfrm>
        <a:graphic>
          <a:graphicData uri="http://schemas.openxmlformats.org/drawingml/2006/table">
            <a:tbl>
              <a:tblPr/>
              <a:tblGrid>
                <a:gridCol w="1935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p95 합계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1,800ms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통과(예산 3,000ms)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최악값 합계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3,420ms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420ms 초과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초과 시 착지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캐시 폴백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예산 안으로 들어옴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Shape 23"/>
          <p:cNvSpPr/>
          <p:nvPr/>
        </p:nvSpPr>
        <p:spPr>
          <a:xfrm>
            <a:off x="502920" y="6592824"/>
            <a:ext cx="5806440" cy="822960"/>
          </a:xfrm>
          <a:prstGeom prst="roundRect">
            <a:avLst>
              <a:gd name="adj" fmla="val 888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502920" y="6702552"/>
            <a:ext cx="54864" cy="60350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/>
          <p:nvPr/>
        </p:nvSpPr>
        <p:spPr>
          <a:xfrm>
            <a:off x="685800" y="668426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85800" y="692200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`p95`는 100번 중 95번이 그 안에 드는 값임. 폴백은 더 빨라지는 것이 아니라 앞 단계 상한을 소진한 뒤 도는 경로임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④ 에이전트 역할 계약서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혼자 할 일을 나누지 않기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에이전트는 기본이 1개임. 나눌 이유를 못 대면 나누지 않음</a:t>
            </a:r>
            <a:endParaRPr lang="en-US" sz="1600" dirty="0"/>
          </a:p>
        </p:txBody>
      </p:sp>
      <p:pic>
        <p:nvPicPr>
          <p:cNvPr id="7" name="Image 0" descr="C:\Users\hiond\class\design-agentic-ai\textbook\images\s11-single-vs-multi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기본은 단일, 멀티는 예외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기본값은 1개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 일을 3 ~ 7개 한 줄씩 적음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나눌 이유가 없으면 1개로 감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동사로 쪼개면 개수만 늘어남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적으면 나는 사고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경계 없어 감사에 걸림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칸 이름 달라 ③에 못 붙임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멈출 조건 없어 같은 호출 반복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02936"/>
          <a:ext cx="5806440" cy="1170432"/>
        </p:xfrm>
        <a:graphic>
          <a:graphicData uri="http://schemas.openxmlformats.org/drawingml/2006/table">
            <a:tbl>
              <a:tblPr/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나눌 조건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“예”인 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섞임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 3종 이상이 한 번에 들어감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차례로 하면 시간 목표를 넘김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한쪽은 읽기만, 다른 쪽은 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Shape 23"/>
          <p:cNvSpPr/>
          <p:nvPr/>
        </p:nvSpPr>
        <p:spPr>
          <a:xfrm>
            <a:off x="502920" y="6592824"/>
            <a:ext cx="5806440" cy="822960"/>
          </a:xfrm>
          <a:prstGeom prst="roundRect">
            <a:avLst>
              <a:gd name="adj" fmla="val 888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502920" y="6702552"/>
            <a:ext cx="54864" cy="60350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/>
          <p:nvPr/>
        </p:nvSpPr>
        <p:spPr>
          <a:xfrm>
            <a:off x="685800" y="668426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85800" y="692200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③의 단계를 묶어 나눔. 나누는 기준은 업무 종류(동사)가 아니라 읽는 자료와 손대는 권한임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④ 에이전트 역할 계약서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3문에 “예”가 없으면 1개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후보안을 먼저 만들고 3문으로 검사함</a:t>
            </a:r>
            <a:endParaRPr lang="en-US" sz="1600" dirty="0"/>
          </a:p>
        </p:txBody>
      </p:sp>
      <p:pic>
        <p:nvPicPr>
          <p:cNvPr id="7" name="Image 0" descr="C:\Users\hiond\class\design-agentic-ai\textbook\images\s12-single-multi-decision-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런치픽은 권한에서 갈림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 사다리 3단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③의 단계를 묶어 할 일로 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후보안 A(1개)·B(3개)를 만듦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B에만 3문을 던짐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헷갈리는 칸 3개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중단 조건 — 횟수는 ③이 씀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도구 — 내부 저장소는 커넥터 아님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모델 — 안 쓰면 안 쓴다고 적음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02936"/>
          <a:ext cx="5806440" cy="914400"/>
        </p:xfrm>
        <a:graphic>
          <a:graphicData uri="http://schemas.openxmlformats.org/drawingml/2006/table">
            <a:tbl>
              <a:tblPr/>
              <a:tblGrid>
                <a:gridCol w="1935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런치픽 판정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섞임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아니오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1개로 충분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판정 불가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 수 못 셈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3개로 나눔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Shape 23"/>
          <p:cNvSpPr/>
          <p:nvPr/>
        </p:nvSpPr>
        <p:spPr>
          <a:xfrm>
            <a:off x="502920" y="6592824"/>
            <a:ext cx="5806440" cy="822960"/>
          </a:xfrm>
          <a:prstGeom prst="roundRect">
            <a:avLst>
              <a:gd name="adj" fmla="val 888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502920" y="6702552"/>
            <a:ext cx="54864" cy="60350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/>
          <p:nvPr/>
        </p:nvSpPr>
        <p:spPr>
          <a:xfrm>
            <a:off x="685800" y="668426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85800" y="692200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나눈 결과가 3개여도 모델을 쓰는 에이전트는 1개일 수 있음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⑤ 지식·도구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질문마다 답을 가져올 길이 다름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에이전트가 무엇을 근거로 답하는지 못 박는 문서임</a:t>
            </a:r>
            <a:endParaRPr lang="en-US" sz="1600" dirty="0"/>
          </a:p>
        </p:txBody>
      </p:sp>
      <p:pic>
        <p:nvPicPr>
          <p:cNvPr id="7" name="Image 0" descr="C:\Users\hiond\class\design-agentic-ai\textbook\images\s13-knowledge-four-pa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하나가 여러 갈래로 갈림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오는 길 5가지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— 목록·개수·합계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— 뜻이 가까운 문단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 — 선을 따라 여러 홉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— 낱말을 코드로 고정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39496" y="393192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379476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시스템 — 커넥터로 부름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4261104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612648" y="4261104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길을 안 고르면 나는 사고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02920" y="47823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502920" y="478231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32104" y="4736592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집계를 문서 검색에 던져 숫자가 흔들림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02920" y="51206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502920" y="512064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32104" y="5074920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이름·전화가 안 가려진 채 밖으로 나감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54589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8"/>
          <p:cNvSpPr/>
          <p:nvPr/>
        </p:nvSpPr>
        <p:spPr>
          <a:xfrm>
            <a:off x="502920" y="545896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32104" y="5413248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저장소를 못 정해 배포 설계가 멈춤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02920" y="5971032"/>
            <a:ext cx="5806440" cy="1252728"/>
          </a:xfrm>
          <a:prstGeom prst="roundRect">
            <a:avLst>
              <a:gd name="adj" fmla="val 583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502920" y="6080760"/>
            <a:ext cx="54864" cy="1033272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2"/>
          <p:cNvSpPr/>
          <p:nvPr/>
        </p:nvSpPr>
        <p:spPr>
          <a:xfrm>
            <a:off x="685800" y="6062472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85800" y="6300216"/>
            <a:ext cx="5440680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개수·합계는 문서 검색으로는 원리적으로 못 구함. 문단을 아무리 잘 찾아도 세는 일은 안 됨</a:t>
            </a:r>
            <a:endParaRPr lang="en-US" sz="13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⑤ 지식·도구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정답지를 먼저 만들고 고침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뽑기 → 길 고르기 → 버린 길 적기 순임</a:t>
            </a:r>
            <a:endParaRPr lang="en-US" sz="1600" dirty="0"/>
          </a:p>
        </p:txBody>
      </p:sp>
      <p:pic>
        <p:nvPicPr>
          <p:cNvPr id="7" name="Image 0" descr="C:\Users\hiond\class\design-agentic-ai\textbook\images\s14-path-decision-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위에서부터 차례로 물어 내려감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채우는 순서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치는 문장 3개 적기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 트리로 길 고르기 — 벡터 = 문서 검색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길 1줄 남기기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원천이 틀리면 답도 틀림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골든셋(정답지) 만들기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02920" y="4443984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502920" y="444398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32104" y="4398264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요구사항 1개 = 1문항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02920" y="47823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/>
          <p:nvPr/>
        </p:nvSpPr>
        <p:spPr>
          <a:xfrm>
            <a:off x="502920" y="478231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32104" y="4736592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2명이 풀어 갈리면 버림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02920" y="51206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/>
          <p:nvPr/>
        </p:nvSpPr>
        <p:spPr>
          <a:xfrm>
            <a:off x="502920" y="512064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32104" y="5074920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런치픽은 24문항 만듦</a:t>
            </a:r>
            <a:endParaRPr lang="en-US" sz="13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41264"/>
          <a:ext cx="5806440" cy="914400"/>
        </p:xfrm>
        <a:graphic>
          <a:graphicData uri="http://schemas.openxmlformats.org/drawingml/2006/table">
            <a:tbl>
              <a:tblPr/>
              <a:tblGrid>
                <a:gridCol w="1935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런치픽 질문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고른 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버린 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주변서 뭘 먹을까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 조회+먼저 걸러내기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벡터 — 색인 비용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30일 뭘 먹었나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고정 집계 조회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벡터 — 집계 불가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땅콩은 어느 재료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용어사전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확률 — 위반 0건 불가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⑥ 가드레일·관측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막을 곳은 세 군데뿐임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가드레일(막는 규칙)은 입구·도구·출구 세 지점에만 걸림</a:t>
            </a:r>
            <a:endParaRPr lang="en-US" sz="1600" dirty="0"/>
          </a:p>
        </p:txBody>
      </p:sp>
      <p:pic>
        <p:nvPicPr>
          <p:cNvPr id="7" name="Image 0" descr="C:\Users\hiond\class\design-agentic-ai\textbook\images\s15-guardrail-three-poi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막는 곳 3 · 기록은 별도임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막는 곳 · 남기는 것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입구 — 밖에서 온 글은 데이터로만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 — 최소 권한 · 호출 상한 · 승인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출구 — 나가기 전 민감정보 검사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— 요청ID · 지연 · 토큰 · 실패 사유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하면 나는 사고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루프가 한 달 예산을 며칠에 씀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전화번호가 응답 · 로그에 남음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39496" y="521208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40664" y="507492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단계를 못 찾아 못 고침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02920" y="5632704"/>
            <a:ext cx="5806440" cy="146304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502920" y="5742432"/>
            <a:ext cx="54864" cy="124358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/>
          <p:nvPr/>
        </p:nvSpPr>
        <p:spPr>
          <a:xfrm>
            <a:off x="685800" y="572414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85800" y="5961888"/>
            <a:ext cx="544068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입구를 사용자 입력창으로만 읽으면 0건이 됨 — 외부 API 응답과 캐시에 담긴 글도 입구임. `토큰`은 모델이 글을 세는 단위임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⑥ 가드레일·관측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가릴 곳을 표로 세어 둠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직전만 가리면 기록에 원문이 남음</a:t>
            </a:r>
            <a:endParaRPr lang="en-US" sz="1600" dirty="0"/>
          </a:p>
        </p:txBody>
      </p:sp>
      <p:pic>
        <p:nvPicPr>
          <p:cNvPr id="7" name="Image 0" descr="C:\Users\hiond\class\design-agentic-ai\textbook\images\s16-masking-flow-blo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가리는 지점이 4곳임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65960"/>
          <a:ext cx="5806440" cy="914400"/>
        </p:xfrm>
        <a:graphic>
          <a:graphicData uri="http://schemas.openxmlformats.org/drawingml/2006/table">
            <a:tbl>
              <a:tblPr/>
              <a:tblGrid>
                <a:gridCol w="1935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가릴 곳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그냥 두면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런치픽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근거 문장에 섞임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좌표 키 제거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관측 기록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프롬프트 원문 남음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키 · 건수만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오류 로그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접속 문자열 통째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사유 코드만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접근 로그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6개월 살아 있음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주체 · 시각만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02920" y="355701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8"/>
          <p:cNvSpPr/>
          <p:nvPr/>
        </p:nvSpPr>
        <p:spPr>
          <a:xfrm>
            <a:off x="612648" y="355701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상한 세는 법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39496" y="41696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/>
          <p:nvPr/>
        </p:nvSpPr>
        <p:spPr>
          <a:xfrm>
            <a:off x="740664" y="40325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예산 ÷ 월 요청 수 = 1건당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39496" y="45079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/>
          <p:nvPr/>
        </p:nvSpPr>
        <p:spPr>
          <a:xfrm>
            <a:off x="740664" y="43708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재시도 배수 × 루프 배수를 곱함</a:t>
            </a:r>
            <a:endParaRPr lang="en-US" sz="1300" dirty="0"/>
          </a:p>
        </p:txBody>
      </p:sp>
      <p:sp>
        <p:nvSpPr>
          <p:cNvPr id="10" name="Shape 13"/>
          <p:cNvSpPr/>
          <p:nvPr/>
        </p:nvSpPr>
        <p:spPr>
          <a:xfrm>
            <a:off x="539496" y="484632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/>
          <p:nvPr/>
        </p:nvSpPr>
        <p:spPr>
          <a:xfrm>
            <a:off x="740664" y="470916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런치픽 10원/건 · 새로고침 상한 미정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02920" y="5266944"/>
            <a:ext cx="5806440" cy="146304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02920" y="5376672"/>
            <a:ext cx="54864" cy="124358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/>
          <p:nvPr/>
        </p:nvSpPr>
        <p:spPr>
          <a:xfrm>
            <a:off x="685800" y="535838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85800" y="5596128"/>
            <a:ext cx="544068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로그는 보관 의무가 6개월이라 한 번 찍힌 원문이 6개월 살아 있음. 이 자리만 위험의 수명이 다름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⑦ 배포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 몇 덩어리로 나눠 어디에 올리나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단위 · 포트 · 비밀값 · 저장소 4가지를 정함</a:t>
            </a:r>
            <a:endParaRPr lang="en-US" sz="1600" dirty="0"/>
          </a:p>
        </p:txBody>
      </p:sp>
      <p:pic>
        <p:nvPicPr>
          <p:cNvPr id="7" name="Image 0" descr="C:\Users\hiond\class\design-agentic-ai\textbook\images\s17-deploy-units-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런타임 5 + 앱 1 · 저장소는 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나눌까 합칠까 4문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배포 형태가 다른가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늘리는 기준이 다른가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권한 등급이 다른가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나눠도 응답시간 지키나 — 아니오면 합침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하면 나는 사고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당일이 논쟁으로 사라짐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키가 저장소 이력에 영구히 남음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39496" y="521208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40664" y="507492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재시작하면 로그 · 데이터가 사라짐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41264"/>
          <a:ext cx="5806440" cy="914400"/>
        </p:xfrm>
        <a:graphic>
          <a:graphicData uri="http://schemas.openxmlformats.org/drawingml/2006/table">
            <a:tbl>
              <a:tblPr/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되돌리는 방법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직전 판본 이미지로 교체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 돌아옴 · 직전 1세대 보관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9" name="Shape 25"/>
          <p:cNvSpPr/>
          <p:nvPr/>
        </p:nvSpPr>
        <p:spPr>
          <a:xfrm>
            <a:off x="502920" y="6638544"/>
            <a:ext cx="5806440" cy="822960"/>
          </a:xfrm>
          <a:prstGeom prst="roundRect">
            <a:avLst>
              <a:gd name="adj" fmla="val 888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6"/>
          <p:cNvSpPr/>
          <p:nvPr/>
        </p:nvSpPr>
        <p:spPr>
          <a:xfrm>
            <a:off x="502920" y="6748272"/>
            <a:ext cx="54864" cy="60350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7"/>
          <p:cNvSpPr/>
          <p:nvPr/>
        </p:nvSpPr>
        <p:spPr>
          <a:xfrm>
            <a:off x="685800" y="672998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685800" y="69677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기본값은 1덩어리임. 4번째 질문이 거부권을 가짐</a:t>
            </a:r>
            <a:endParaRPr lang="en-US" sz="13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⑦ 배포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 비밀값은 셈부터 시작함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비밀값(키 · 비밀번호)은 생각이 아니라 대상에서 뽑음</a:t>
            </a:r>
            <a:endParaRPr lang="en-US" sz="1600" dirty="0"/>
          </a:p>
        </p:txBody>
      </p:sp>
      <p:pic>
        <p:nvPicPr>
          <p:cNvPr id="7" name="Image 0" descr="C:\Users\hiond\class\design-agentic-ai\textbook\images\s18-secret-safe-vs-vio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왼쪽만 안전 · 오른쪽 3종은 위반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뽑는 순서 3단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· 저장소 · 커넥터에서 뽑음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이미지 · 주입 경로만 적음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값은 적지 않음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런치픽 결과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5개 + 앱 1개 = 6개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 6개 전부 런타임 밖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864608"/>
          <a:ext cx="5806440" cy="914400"/>
        </p:xfrm>
        <a:graphic>
          <a:graphicData uri="http://schemas.openxmlformats.org/drawingml/2006/table">
            <a:tbl>
              <a:tblPr/>
              <a:tblGrid>
                <a:gridCol w="1935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왜 위험한가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대신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이미지에 구움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받은 누구나 꺼냄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뜰 때 주입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파일 평문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 이력에 남음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이름만 적음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로그에 출력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 권한 = 키 권한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값을 가려 기록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502920" y="6254496"/>
            <a:ext cx="5806440" cy="969264"/>
          </a:xfrm>
          <a:prstGeom prst="roundRect">
            <a:avLst>
              <a:gd name="adj" fmla="val 7547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2"/>
          <p:cNvSpPr/>
          <p:nvPr/>
        </p:nvSpPr>
        <p:spPr>
          <a:xfrm>
            <a:off x="502920" y="6364224"/>
            <a:ext cx="54864" cy="749808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3"/>
          <p:cNvSpPr/>
          <p:nvPr/>
        </p:nvSpPr>
        <p:spPr>
          <a:xfrm>
            <a:off x="685800" y="6345936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685800" y="6583680"/>
            <a:ext cx="5440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비밀값 목록을 머리로 만들면 반드시 빠짐. 대상을 훑어 기계적으로 뽑음</a:t>
            </a:r>
            <a:endParaRPr lang="en-US" sz="13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Ⅲ. 마무리 › 1. 실제 적용 결과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팀이 실제로 써 본 결과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7종을 쓰면 마지막에 대조표 1장이 더 남음</a:t>
            </a:r>
            <a:endParaRPr lang="en-US" sz="1600" dirty="0"/>
          </a:p>
        </p:txBody>
      </p:sp>
      <p:pic>
        <p:nvPicPr>
          <p:cNvPr id="7" name="Image 0" descr="C:\Users\hiond\class\design-agentic-ai\textbook\images\s19-what-rema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7종 + 대조표 1장 = 제출물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적용 숫자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 7종 + 교차검증 + 대조표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 간 충돌 9건을 조정함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밖에서 다시 세어 결함 30건 찾음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가이드에 빈칸 86건이 드러남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7종 뒤에 1장 더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00-반영대조표 1장을 마지막에 씀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점검 항목이 어디에 반영됐나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39496" y="521208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40664" y="507492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 밖으로 뺀 것이 어디서 막히나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41264"/>
          <a:ext cx="5806440" cy="914400"/>
        </p:xfrm>
        <a:graphic>
          <a:graphicData uri="http://schemas.openxmlformats.org/drawingml/2006/table">
            <a:tbl>
              <a:tblPr/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설계서 분량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7종 3,526줄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 산출물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4,498줄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조정한 충돌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교차검증 결함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30건(심각 8건)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Shape 25"/>
          <p:cNvSpPr/>
          <p:nvPr/>
        </p:nvSpPr>
        <p:spPr>
          <a:xfrm>
            <a:off x="502920" y="7296912"/>
            <a:ext cx="54864" cy="274320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6"/>
          <p:cNvSpPr/>
          <p:nvPr/>
        </p:nvSpPr>
        <p:spPr>
          <a:xfrm>
            <a:off x="649224" y="7278624"/>
            <a:ext cx="1335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정직한 표기 — 교재 예시로 쓴 런치픽 설계서 7종은 구현·호출·배포·측정을 하지 않은 미검증 설계임</a:t>
            </a:r>
            <a:endParaRPr lang="en-US" sz="12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Ⅲ. 마무리 › 2. 가이드가 못 막은 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점검표를 다 통과해도 남는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다 찼는지만 보면 모순이 통과함</a:t>
            </a:r>
            <a:endParaRPr lang="en-US" sz="1600" dirty="0"/>
          </a:p>
        </p:txBody>
      </p:sp>
      <p:pic>
        <p:nvPicPr>
          <p:cNvPr id="7" name="Image 0" descr="C:\Users\hiond\class\design-agentic-ai\textbook\images\s20-three-cra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다 차도 모순은 남음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못 막은 3가지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 문서의 전제를 안 물려받음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문서의 값을 곱·나눌 사람이 없음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 사이의 모순을 점검표가 통과시킴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이렇게 씀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 전 파라미터 12종을 먼저 채움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나누기·곱하기 담당자를 정해 둠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점검표에 칸끼리 대조하는 줄을 넣음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02936"/>
          <a:ext cx="5806440" cy="914400"/>
        </p:xfrm>
        <a:graphic>
          <a:graphicData uri="http://schemas.openxmlformats.org/drawingml/2006/table">
            <a:tbl>
              <a:tblPr/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무너진 자리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실제로 일어난 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전제 미승계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⑦이 없는 표를 찾다 막힘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계산 담당 공백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심각 결함 8건 중 5건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모순 통과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3판까지 10항목 전부 통과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Shape 23"/>
          <p:cNvSpPr/>
          <p:nvPr/>
        </p:nvSpPr>
        <p:spPr>
          <a:xfrm>
            <a:off x="502920" y="6592824"/>
            <a:ext cx="5806440" cy="822960"/>
          </a:xfrm>
          <a:prstGeom prst="roundRect">
            <a:avLst>
              <a:gd name="adj" fmla="val 888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502920" y="6702552"/>
            <a:ext cx="54864" cy="60350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/>
          <p:nvPr/>
        </p:nvSpPr>
        <p:spPr>
          <a:xfrm>
            <a:off x="685800" y="668426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85800" y="692200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점검표는 칸의 존재와 개수만 봄. 칸끼리 맞는지는 사람이 봐야 함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2329</Words>
  <Application>Microsoft Office PowerPoint</Application>
  <PresentationFormat>사용자 지정</PresentationFormat>
  <Paragraphs>481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해경 이</cp:lastModifiedBy>
  <cp:revision>24</cp:revision>
  <dcterms:created xsi:type="dcterms:W3CDTF">2026-08-06T11:07:57Z</dcterms:created>
  <dcterms:modified xsi:type="dcterms:W3CDTF">2026-08-06T15:08:08Z</dcterms:modified>
</cp:coreProperties>
</file>