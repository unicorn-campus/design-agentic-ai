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524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노드·관계·속성이 그래프의 세 재료이고, 순회·홉·경로는 그 위를 움직이는 말임.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스키마로 틀을 정하고 → 추출로 채우고 → 해소·MERGE로 중복을 막고 → 조각으로 원문과 이음.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출발 노드(인덱스로 찾음) → 사이퍼로 순회(템플릿 또는 Text2Cypher) → 출처와 함께 답에 넘김.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용어 ① 그래프 기본 구조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그래프는 노드(점)와 관계(선)로 이뤄지고, 관계를 따라 이동하며 답을 찾음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567766"/>
              </p:ext>
            </p:extLst>
          </p:nvPr>
        </p:nvGraphicFramePr>
        <p:xfrm>
          <a:off x="509321" y="1737360"/>
          <a:ext cx="13624560" cy="554126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그래프에 저장된 점 하나. 사람·상품 같은 대상이나 문서 조각 하나하나가 노드가 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'홍길동' 고객, '여행 카드' 상품, '조각 12'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엔티티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Entity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문장이나 데이터에 나오는 실제 대상. 그래프에 넣으면 노드가 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노드가 모두 엔티티는 아님: </a:t>
                      </a:r>
                      <a:r>
                        <a:rPr lang="en-US" sz="1400" dirty="0" err="1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조각</a:t>
                      </a: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</a:t>
                      </a:r>
                      <a:r>
                        <a:rPr lang="ko-KR" altLang="en-US" sz="1400" dirty="0" err="1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</a:t>
                      </a:r>
                      <a:r>
                        <a:rPr lang="en-US" altLang="ko-KR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·</a:t>
                      </a:r>
                      <a:r>
                        <a:rPr lang="en-US" sz="1400" dirty="0" err="1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문서·커뮤니티</a:t>
                      </a: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노드</a:t>
                      </a: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그래프를 </a:t>
                      </a:r>
                      <a:r>
                        <a:rPr lang="ko-KR" altLang="en-US" sz="1400" dirty="0" err="1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그룹핑한</a:t>
                      </a:r>
                      <a:r>
                        <a:rPr lang="ko-KR" alt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노드</a:t>
                      </a: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)는 대상이 아니므로 엔티티가 아님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＇</a:t>
                      </a:r>
                      <a:r>
                        <a:rPr lang="en-US" sz="1400" dirty="0" err="1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홍길동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＇·＇</a:t>
                      </a:r>
                      <a:r>
                        <a:rPr lang="en-US" sz="1400" dirty="0" err="1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여행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카드＇는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엔티티 노드, ＇</a:t>
                      </a:r>
                      <a:r>
                        <a:rPr lang="en-US" sz="1400" dirty="0" err="1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조각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12'는 엔티티가 아닌 노드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레이블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Label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노드의 종류를 나타내는 이름표. 한 노드에 0개 이상 붙일 수 있음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문서의 '노드 유형'·'엔티티 유형'과 같은 뜻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홍길동 노드에 :고객 레이블, (:고객:VIP)처럼 두 개도 가능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Relationship (type)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 노드를 잇는 연결과 그 연결의 이름(보유·제공 등)을 함께 이르는 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 시작 노드·끝 노드·방향과 이름 하나를 가짐. 다른 문서의 '관계 유형'도 여기에 포함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(홍길동)-[:보유]-&gt;(여행 카드)의 보유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Property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노드나 관계에 붙는 '이름: 값' 정보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여행 카드 노드 {연회비: 20000, 출시일: 2024-05-01}, 보유 관계 {발급일: 2025-03-01}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Direction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관계가 시작 노드에서 끝 노드로 향하는 쪽. 저장은 한 방향이어도 조회는 거꾸로 가능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카드에서 '보유'를 거꾸로 따라 고객 찾기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Path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노드와 관계가 번갈아 이어진 한 줄의 자취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홍길동 → 여행 카드 → 공항 라운지 혜택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순회 (노드 탐색)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Traversal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출발 노드에서 관계를 따라 이웃 노드로 옮겨 가며 원하는 노드를 찾는 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→ 보유 카드 → 그 카드의 혜택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Hop (k-hop)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관계 하나를 건너는 단위. k홉은 관계를 k번 건넌 거리, 여러 홉 탐색은 멀티홉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4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고객→카드 1홉, 고객→카드→혜택 2홉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용어 ② 인덱싱(그래프 만들기)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문서와 데이터를 노드·관계로 바꿔, 중복 없이 쌓는 단계에서 쓰는 용어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935820"/>
              </p:ext>
            </p:extLst>
          </p:nvPr>
        </p:nvGraphicFramePr>
        <p:xfrm>
          <a:off x="509321" y="1737360"/>
          <a:ext cx="13624560" cy="541324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스키마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Graph schema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둘 수 있는 레이블·관계와 어떤 노드끼리 이을지를 미리 정한 설계도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추출이 범위 밖 레이블·관계를 만들지 않게 막음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※ Neo4j 문서의 '스키마'는 인덱스·제약을 뜻하기도 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(고객)-[:보유]-&gt;(카드)만 허용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엔티티·관계 추출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Entity &amp; relation extraction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문장에서 대상(엔티티)과 그 사이의 관계를 뽑아 노드·레이블·관계·속성으로 바꾸는 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레이블은 보통 스키마에 정해 둔 목록에서 고름. LLM이나 규칙으로 처리함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'A카드는 음식점 결제 시 4% 할인' → 노드 A카드(상품)·할인(혜택, 할인율 4%)·음식점(업종), 관계 제공·대상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엔티티 해소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Entity resolution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이름이 달라도 같은 대상을 가리키는 노드를 찾아 하나로 합치는 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하지 않으면 같은 대상이 여러 노드로 흩어져 관계가 끊김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'삼성전자'와 '삼성전자㈜'를 한 노드로 합침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고유 제약과 MERGE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Uniqueness constraint · MERGE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고유 제약: 정해진 </a:t>
                      </a:r>
                      <a:r>
                        <a:rPr lang="en-US" sz="1500" dirty="0" err="1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속성</a:t>
                      </a: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값(</a:t>
                      </a:r>
                      <a:r>
                        <a:rPr lang="ko-KR" alt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키 값</a:t>
                      </a: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)이 겹치지 </a:t>
                      </a:r>
                      <a:r>
                        <a:rPr lang="en-US" sz="1500" dirty="0" err="1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않게</a:t>
                      </a: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ko-KR" alt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</a:t>
                      </a:r>
                      <a:r>
                        <a:rPr lang="en-US" sz="1500" dirty="0" err="1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DB가</a:t>
                      </a: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막는 규칙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MERGE: 있으면 그대로 쓰고 없으면 만드는 명령. 함께 쓰면 다시 적재해도 중복이 안 생김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MERGE (c:고객 {고객ID: 'C001'})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조각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Chunk (TextUnit)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긴 문서를 검색하기 좋은 크기로 자른 한 토막. MS GraphRAG는 TextUnit이라 부름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조각을 노드로 두고 그 안에 나온 대상과 이어 두면 원문 근거로 되돌아갈 수 있음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(조각 12)-[:언급]-&gt;(여행 카드)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용어 ③ 검색(그래프에서 꺼내기)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출발 노드를 찾고, 질의로 관계를 따라가, 근거와 함께 꺼내는 단계에서 쓰는 용어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6595"/>
              </p:ext>
            </p:extLst>
          </p:nvPr>
        </p:nvGraphicFramePr>
        <p:xfrm>
          <a:off x="509321" y="1737360"/>
          <a:ext cx="13624560" cy="541324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출발 노드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Access point (진입점)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순회를 시작하는 노드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 속 이름과 일치하는 노드, 벡터 검색으로 찾은 노드, 다른 시스템의 조회 결과 등으로 정함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질문의 '여행 카드'로 상품 노드를 찾아 출발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인덱스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Index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속성 값으로 노드를 빨리 찾게 돕는 보조 장치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 일치용 일반 인덱스, 낱말 검색용 전문 인덱스, 뜻 검색용 벡터 인덱스가 있음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이름 인덱스로 '여행 카드'를 전체를 훑지 않고 바로 찾음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사이퍼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Cypher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질의 언어. 노드는 ( ), 관계는 -[ ]-&gt; 처럼 그림 모양으로 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Neo4j 등에서 사용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MATCH (c:고객)-[:보유]-&gt;(k:카드) RETURN k.이름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사이퍼 템플릿과 Text2Cypher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Cypher template · Text2Cypher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질문을 질의문으로 바꾸는 두 방법. 템플릿은 미리 쓴 질의문에 값만 끼워 안전하고 예측 가능함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Text2Cypher는 LLM이 질의문을 직접 써서 유연하지만 실행 전 검증이 필요함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MATCH (u:업종 {이름: $업종}) … 의 $업종에 '식비'를 끼움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 되짚기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Provenance(</a:t>
                      </a:r>
                      <a:r>
                        <a:rPr lang="ko-KR" altLang="en-US" sz="1500" dirty="0" err="1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프라버넌스</a:t>
                      </a:r>
                      <a:r>
                        <a:rPr lang="en-US" altLang="ko-KR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답에 쓴 정보가 어느 노드·관계·원문 조각에서 왔는지 기록하고 보여 주는 것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답을 검증하고 잘못된 근거를 찾을 수 있게 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예: </a:t>
                      </a:r>
                      <a:r>
                        <a:rPr lang="en-US" sz="1500" dirty="0">
                          <a:solidFill>
                            <a:srgbClr val="4A536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'음식점 4% 할인 (근거: 조각 12 → 할인 혜택 노드)'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947</Words>
  <Application>Microsoft Office PowerPoint</Application>
  <PresentationFormat>사용자 지정</PresentationFormat>
  <Paragraphs>114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Pretendard</vt:lpstr>
      <vt:lpstr>Pretendard SemiBold</vt:lpstr>
      <vt:lpstr>Office Theme</vt:lpstr>
      <vt:lpstr>GraphRAG 용어 ① 그래프 기본 구조</vt:lpstr>
      <vt:lpstr>GraphRAG 용어 ② 인덱싱(그래프 만들기)</vt:lpstr>
      <vt:lpstr>GraphRAG 용어 ③ 검색(그래프에서 꺼내기)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4</cp:revision>
  <dcterms:created xsi:type="dcterms:W3CDTF">2026-10-12T07:59:58Z</dcterms:created>
  <dcterms:modified xsi:type="dcterms:W3CDTF">2026-10-12T08:06:48Z</dcterms:modified>
</cp:coreProperties>
</file>