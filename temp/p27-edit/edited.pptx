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3" r:id="rId2"/>
    <p:sldMasterId id="2147483656" r:id="rId3"/>
    <p:sldMasterId id="2147483658" r:id="rId4"/>
  </p:sldMasterIdLst>
  <p:notesMasterIdLst>
    <p:notesMasterId r:id="rId58"/>
  </p:notesMasterIdLst>
  <p:handoutMasterIdLst>
    <p:handoutMasterId r:id="rId59"/>
  </p:handoutMasterIdLst>
  <p:sldIdLst>
    <p:sldId id="256" r:id="rId5"/>
    <p:sldId id="257" r:id="rId6"/>
    <p:sldId id="314" r:id="rId7"/>
    <p:sldId id="364" r:id="rId8"/>
    <p:sldId id="365" r:id="rId9"/>
    <p:sldId id="367" r:id="rId10"/>
    <p:sldId id="366" r:id="rId11"/>
    <p:sldId id="368" r:id="rId12"/>
    <p:sldId id="369" r:id="rId13"/>
    <p:sldId id="258" r:id="rId14"/>
    <p:sldId id="370" r:id="rId15"/>
    <p:sldId id="371" r:id="rId16"/>
    <p:sldId id="372" r:id="rId17"/>
    <p:sldId id="373" r:id="rId18"/>
    <p:sldId id="376" r:id="rId19"/>
    <p:sldId id="377" r:id="rId20"/>
    <p:sldId id="378" r:id="rId21"/>
    <p:sldId id="259" r:id="rId22"/>
    <p:sldId id="260" r:id="rId23"/>
    <p:sldId id="759" r:id="rId24"/>
    <p:sldId id="261" r:id="rId25"/>
    <p:sldId id="262" r:id="rId26"/>
    <p:sldId id="263" r:id="rId27"/>
    <p:sldId id="264" r:id="rId28"/>
    <p:sldId id="265" r:id="rId29"/>
    <p:sldId id="266" r:id="rId30"/>
    <p:sldId id="267" r:id="rId31"/>
    <p:sldId id="379" r:id="rId32"/>
    <p:sldId id="380" r:id="rId33"/>
    <p:sldId id="743" r:id="rId34"/>
    <p:sldId id="744" r:id="rId35"/>
    <p:sldId id="745" r:id="rId36"/>
    <p:sldId id="754" r:id="rId37"/>
    <p:sldId id="746" r:id="rId38"/>
    <p:sldId id="747" r:id="rId39"/>
    <p:sldId id="748" r:id="rId40"/>
    <p:sldId id="749" r:id="rId41"/>
    <p:sldId id="750" r:id="rId42"/>
    <p:sldId id="751" r:id="rId43"/>
    <p:sldId id="752" r:id="rId44"/>
    <p:sldId id="753" r:id="rId45"/>
    <p:sldId id="755" r:id="rId46"/>
    <p:sldId id="756" r:id="rId47"/>
    <p:sldId id="757" r:id="rId48"/>
    <p:sldId id="760" r:id="rId71"/>
    <p:sldId id="740" r:id="rId49"/>
    <p:sldId id="726" r:id="rId50"/>
    <p:sldId id="735" r:id="rId51"/>
    <p:sldId id="736" r:id="rId52"/>
    <p:sldId id="737" r:id="rId53"/>
    <p:sldId id="738" r:id="rId54"/>
    <p:sldId id="739" r:id="rId55"/>
    <p:sldId id="741" r:id="rId56"/>
    <p:sldId id="313" r:id="rId57"/>
  </p:sldIdLst>
  <p:sldSz cx="14630400" cy="8229600"/>
  <p:notesSz cx="6858000" cy="9144000"/>
  <p:embeddedFontLst>
    <p:embeddedFont>
      <p:font typeface="Chilgok Gwon Anja" panose="02020603020101020101" pitchFamily="18" charset="-127"/>
      <p:regular r:id="rId60"/>
    </p:embeddedFont>
    <p:embeddedFont>
      <p:font typeface="Pretendard" panose="02000503000000020004" pitchFamily="50" charset="-127"/>
      <p:regular r:id="rId61"/>
      <p:bold r:id="rId62"/>
    </p:embeddedFont>
    <p:embeddedFont>
      <p:font typeface="Pretendard Medium" panose="02000603000000020004" pitchFamily="50" charset="-127"/>
      <p:regular r:id="rId63"/>
    </p:embeddedFont>
    <p:embeddedFont>
      <p:font typeface="Pretendard SemiBold" panose="02000703000000020004" pitchFamily="50" charset="-127"/>
      <p:bold r:id="rId64"/>
    </p:embeddedFont>
    <p:embeddedFont>
      <p:font typeface="맑은 고딕" panose="020B0503020000020004" pitchFamily="50" charset="-127"/>
      <p:regular r:id="rId65"/>
      <p:bold r:id="rId6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3FF2FC35-9BBC-42FF-9607-B1D85A875367}">
          <p14:sldIdLst>
            <p14:sldId id="256"/>
          </p14:sldIdLst>
        </p14:section>
        <p14:section name="W05" id="{509678FC-A16B-4F62-9D53-D1B6070C35F6}">
          <p14:sldIdLst>
            <p14:sldId id="257"/>
            <p14:sldId id="314"/>
            <p14:sldId id="364"/>
            <p14:sldId id="365"/>
            <p14:sldId id="367"/>
            <p14:sldId id="366"/>
            <p14:sldId id="368"/>
            <p14:sldId id="369"/>
            <p14:sldId id="258"/>
            <p14:sldId id="370"/>
            <p14:sldId id="371"/>
            <p14:sldId id="372"/>
            <p14:sldId id="373"/>
            <p14:sldId id="376"/>
            <p14:sldId id="377"/>
            <p14:sldId id="378"/>
            <p14:sldId id="259"/>
            <p14:sldId id="260"/>
            <p14:sldId id="759"/>
            <p14:sldId id="261"/>
            <p14:sldId id="262"/>
            <p14:sldId id="263"/>
            <p14:sldId id="264"/>
            <p14:sldId id="265"/>
            <p14:sldId id="266"/>
            <p14:sldId id="267"/>
            <p14:sldId id="379"/>
            <p14:sldId id="380"/>
            <p14:sldId id="743"/>
            <p14:sldId id="744"/>
            <p14:sldId id="745"/>
            <p14:sldId id="754"/>
            <p14:sldId id="746"/>
            <p14:sldId id="747"/>
            <p14:sldId id="748"/>
            <p14:sldId id="749"/>
            <p14:sldId id="750"/>
            <p14:sldId id="751"/>
            <p14:sldId id="752"/>
            <p14:sldId id="753"/>
            <p14:sldId id="755"/>
            <p14:sldId id="756"/>
            <p14:sldId id="757"/>
            <p14:sldId id="740"/>
            <p14:sldId id="726"/>
            <p14:sldId id="735"/>
            <p14:sldId id="736"/>
            <p14:sldId id="737"/>
            <p14:sldId id="738"/>
            <p14:sldId id="739"/>
            <p14:sldId id="741"/>
          </p14:sldIdLst>
        </p14:section>
        <p14:section name="W06" id="{A583B148-2602-4045-838E-FBD9292EFDB2}">
          <p14:sldIdLst/>
        </p14:section>
        <p14:section name="W07" id="{1952629C-9675-4893-BEA5-A8CF8BB44A69}">
          <p14:sldIdLst>
            <p14:sldId id="3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1" autoAdjust="0"/>
    <p:restoredTop sz="96230" autoAdjust="0"/>
  </p:normalViewPr>
  <p:slideViewPr>
    <p:cSldViewPr snapToGrid="0" snapToObjects="1">
      <p:cViewPr varScale="1">
        <p:scale>
          <a:sx n="86" d="100"/>
          <a:sy n="86" d="100"/>
        </p:scale>
        <p:origin x="700" y="64"/>
      </p:cViewPr>
      <p:guideLst/>
    </p:cSldViewPr>
  </p:slideViewPr>
  <p:notesTextViewPr>
    <p:cViewPr>
      <p:scale>
        <a:sx n="1" d="1"/>
        <a:sy n="1" d="1"/>
      </p:scale>
      <p:origin x="0" y="0"/>
    </p:cViewPr>
  </p:notesTextViewPr>
  <p:notesViewPr>
    <p:cSldViewPr snapToGrid="0" snapToObjects="1">
      <p:cViewPr varScale="1">
        <p:scale>
          <a:sx n="81" d="100"/>
          <a:sy n="81" d="100"/>
        </p:scale>
        <p:origin x="3260"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 Id="rId64" Type="http://schemas.openxmlformats.org/officeDocument/2006/relationships/font" Target="fonts/font5.fntdata"/><Relationship Id="rId65" Type="http://schemas.openxmlformats.org/officeDocument/2006/relationships/font" Target="fonts/font6.fntdata"/><Relationship Id="rId66" Type="http://schemas.openxmlformats.org/officeDocument/2006/relationships/font" Target="fonts/font7.fnt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1"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E5DCA01C-C363-F8CC-9DBF-19B43BA1C0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65FCCA52-EBF6-F782-F6CC-DDCBD80759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115D1F-4C77-430F-B6B0-FAEE16B92D3B}" type="datetimeFigureOut">
              <a:rPr lang="ko-KR" altLang="en-US" smtClean="0"/>
              <a:t>2026-10-23</a:t>
            </a:fld>
            <a:endParaRPr lang="ko-KR" altLang="en-US"/>
          </a:p>
        </p:txBody>
      </p:sp>
      <p:sp>
        <p:nvSpPr>
          <p:cNvPr id="4" name="바닥글 개체 틀 3">
            <a:extLst>
              <a:ext uri="{FF2B5EF4-FFF2-40B4-BE49-F238E27FC236}">
                <a16:creationId xmlns:a16="http://schemas.microsoft.com/office/drawing/2014/main" id="{154501FB-CA35-512A-7A5E-D3D4EFE26C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F0E8CD52-B23D-F4F4-6118-E3874537EB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E0482B-E4C4-421F-AAE5-350C1761BC82}" type="slidenum">
              <a:rPr lang="ko-KR" altLang="en-US" smtClean="0"/>
              <a:t>‹#›</a:t>
            </a:fld>
            <a:endParaRPr lang="ko-KR" altLang="en-US"/>
          </a:p>
        </p:txBody>
      </p:sp>
    </p:spTree>
    <p:extLst>
      <p:ext uri="{BB962C8B-B14F-4D97-AF65-F5344CB8AC3E}">
        <p14:creationId xmlns:p14="http://schemas.microsoft.com/office/powerpoint/2010/main" val="36184602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3967-20FF-8DF8-FDCC-7E0C1787D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D805B-4F3D-6F5B-32A7-54B8FA3B9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BE81C5-AB16-6D97-5FCF-55CCD57F9639}"/>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E920B688-BFF8-9CBE-7528-CB5AEEBCB454}"/>
              </a:ext>
            </a:extLst>
          </p:cNvPr>
          <p:cNvSpPr>
            <a:spLocks noGrp="1"/>
          </p:cNvSpPr>
          <p:nvPr>
            <p:ph type="sldNum" idx="5"/>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3014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523F2-9140-1306-9687-3AAC43DB8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36070-309C-E23B-AAF6-CDF130131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5F59AB-006D-58A4-311F-BFEF6A1CDB7C}"/>
              </a:ext>
            </a:extLst>
          </p:cNvPr>
          <p:cNvSpPr>
            <a:spLocks noGrp="1"/>
          </p:cNvSpPr>
          <p:nvPr>
            <p:ph type="body" idx="1"/>
          </p:nvPr>
        </p:nvSpPr>
        <p:spPr/>
        <p:txBody>
          <a:bodyPr lIns="66833" tIns="33417" rIns="66833" bIns="33417"/>
          <a:lstStyle/>
          <a:p>
            <a:endParaRPr lang="en-US" dirty="0">
              <a:latin typeface="Chilgok Gwon Anja" panose="02020603020101020101" pitchFamily="18" charset="-127"/>
            </a:endParaRPr>
          </a:p>
        </p:txBody>
      </p:sp>
      <p:sp>
        <p:nvSpPr>
          <p:cNvPr id="4" name="Slide Number Placeholder 3">
            <a:extLst>
              <a:ext uri="{FF2B5EF4-FFF2-40B4-BE49-F238E27FC236}">
                <a16:creationId xmlns:a16="http://schemas.microsoft.com/office/drawing/2014/main" id="{7DAAD309-7124-7628-8B00-8689C5C5F655}"/>
              </a:ext>
            </a:extLst>
          </p:cNvPr>
          <p:cNvSpPr>
            <a:spLocks noGrp="1"/>
          </p:cNvSpPr>
          <p:nvPr>
            <p:ph type="sldNum" sz="quarter" idx="10"/>
          </p:nvPr>
        </p:nvSpPr>
        <p:spPr/>
        <p:txBody>
          <a:bodyPr lIns="66833" tIns="33417" rIns="66833" bIns="33417"/>
          <a:lstStyle/>
          <a:p>
            <a:pPr defTabSz="668335">
              <a:defRPr/>
            </a:pPr>
            <a:fld id="{F7021451-1387-4CA6-816F-3879F97B5CBC}" type="slidenum">
              <a:rPr lang="en-US" sz="1300">
                <a:solidFill>
                  <a:prstClr val="black"/>
                </a:solidFill>
                <a:latin typeface="Chilgok Gwon Anja" panose="02020603020101020101" pitchFamily="18" charset="-127"/>
              </a:rPr>
              <a:pPr defTabSz="668335">
                <a:defRPr/>
              </a:pPr>
              <a:t>4</a:t>
            </a:fld>
            <a:endParaRPr lang="en-US" sz="1300">
              <a:solidFill>
                <a:prstClr val="black"/>
              </a:solidFill>
              <a:latin typeface="Chilgok Gwon Anja" panose="02020603020101020101" pitchFamily="18" charset="-127"/>
            </a:endParaRPr>
          </a:p>
        </p:txBody>
      </p:sp>
    </p:spTree>
    <p:extLst>
      <p:ext uri="{BB962C8B-B14F-4D97-AF65-F5344CB8AC3E}">
        <p14:creationId xmlns:p14="http://schemas.microsoft.com/office/powerpoint/2010/main" val="152630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일반론의 비유(소크라테스 → 플라톤 → 아리스토텔레스 사제 관계를 따라 '할아버지 스승'을 찾음)가 우리 시스템에서는 '회원 → 가진 카드 → 그 카드의 혜택'을 따라가는 질문임. 문서 검색은 질문과 비슷한 문단을 찾을 뿐, 그 문단이 '이 회원'과 어떻게 연결되는지는 모름. 한 조항(약관·혜택 1건)이나 한 숫자(승인액)로 끝나는 질문은 지금의 문서·SQL 검색이 더 빠르고 싸므로 그래프 검색은 아래 3가지 질문 유형에만 붙임.</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ID만 넣으면 노드 하나를 지날 때마다 정형 DB를 다시 불러야 해서 여러 단계 탐색이 느려짐. 그래서 노드 탐색에 쓰는 속성(업종명)과 탐색된 노드의 제목(상품명·혜택명)은 그래프에 복제함. 전부 넣으면 값이 두 곳에 생겨 맞춰 두기(동기화) 부담과 민감정보 노출 범위가 커짐. 그래서 자주 바뀌고 크고 민감한 값은 뺌. 업종 비중은 매달 바뀌는 집계값이라 그래프에 넣지 않고 SQL로 계산해 출발 노드만 정함. 회원-업종 관계는 '소비 패턴이 비슷한 회원 찾기'처럼 회원끼리 비교하는 질문을 쓸 때만 월 1회 배치로 만듦. 업종과 잇는 대상은 발급 카드가 아니라 상품(64종)이며, 사이에 혜택 노드를 둠.</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소비 비중은 매달 바뀌는 집계값이라 그래프에 넣지 않음. 600명 × 8업종 관계(4,694개)를 매달 다시 맞출 필요가 없어짐. 노드 탐색: 그래프 안에서는 '업종명=식비'로 출발 노드를 찾고, '대상'·'제공' 관계만 거꾸로 따라감. 관계는 '혜택 -대상→ 업종', '상품 -제공→ 혜택' 방향으로 저장되지만, 그래프DB는 거꾸로 따라가도 비용이 같음. 비중은 2025-08 ~ 2026-08 승인 거래 기준임. 쇼핑·주유 쪽 혜택은 출발 노드가 아니라 들르지 않음.탐색된 노드의 제목: 도착한 상품·혜택 노드에는 ID(D2-C005, D2-C005-B01)와 함께 사람이 읽는 제목(상품명·혜택명)이 있어 그대로 답에 씀. Neo4j 도구에서는 이를 표시 이름(caption)이라고 부름. 회원-업종 관계는 '소비 패턴이 비슷한 회원 찾기'처럼 회원끼리 비교하는 질문을 쓸 때만 월 1회 배치로 만듦. '대상' 관계는 혜택 문서에서 뽑아야 하며, 이 장의 관계는 설명용 예시임.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노드·관계·속성이 그래프의 세 재료이고, 순회·홉·경로는 그 위를 움직이는 말임.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스키마로 틀을 정하고 → 추출로 채우고 → 해소·MERGE로 중복을 막고 → 조각으로 원문과 이음.</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출발 노드(인덱스로 찾음) → 사이퍼로 순회(템플릿 또는 Text2Cypher) → 출처와 함께 답에 넘김.</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그래프DB 인덱싱은 벡터DB 인덱싱과 앞뒤가 똑같음. 앞의 로드·정제·청킹, 뒤의 임베딩·적재는 그대로임. 다른 점은 청킹과 임베딩 사이에 끼어드는 네 단계임. LLM이 청크마다 글을 읽고 사람·회사 같은 노드(엔티티)와 '근무한다' 같은 관계를 한 번의 호출로 함께 뽑음. 같은 노드가 여러 청크에서 나오면 이름·종류가 같은 것을 코드로 하나로 합치고, 청크마다 따로 붙은 설명은 LLM이 한 줄로 요약함. 지식 그래프 구축은 합친 노드·관계를 그래프로 엮는 일이라 코드가 함. 사전요약은 Leiden 같은 알고리즘이 노드를 주제별로 묶고, 묶음마다 LLM이 요약을 씀. '전체 경향' 질문을 위한 선택 단계임. 임베딩은 그래프DB에서도 LLM이 아니라 벡터DB와 같은 임베딩 모델이 맡음. 즉 LLM은 추출과 요약(병합 설명·커뮤니티 요약)에만 씀. '삼성'과 '삼성전자'처럼 이름이 다른 같은 대상을 합치는 일(엔티티 해소)은 기본 병합으로는 안 되며 따로 붙이는 작업임. 임베딩 대상은 청크와 노드 설명(사전요약을 했으면 커뮤니티 요약도)이고, 관계 연결 자체는 임베딩하지 않고 그래프 그대로 둠. 마지막 적재에서 KG와 벡터를 함께 그래프DB에 저장함 (Neo4j는 벡터를 노드 속성으로 두고 벡터 인덱스를 검). 검색할 때는 벡터로 비슷한 노드·청크를 먼저 찾고 KG의 관계를 따라 넓혀 감. 정제 단계에서 이름·연락처 같은 개인정보를 가명으로 바꿔 두어야 LLM 추출과 그래프 노드에 실명이 남지 않음.</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Local은 '한 점에서 출발해 이웃으로 넓히기', Global은 '미리 만든 요약들을 나눠 읽고 합치기'임. Hybrid라는 이름은 LightRAG의 모드 이름이고, MS GraphRAG에서 같은 역할은 DRIFT가 맡음. DRIFT는 동시에 돌리지 않고 '요약으로 큰 답 → 후속 질문 → Local 반복' 순서로 진행함. Global의 기본 동작은 한 계층의 리포트를 전부 나눠 읽는 것이라 비용이 큼. 관련 리포트만 고르는 동적 선택은 비용을 줄이는 옵션임. Cypher 집계는 '몇 개' · '가장 많은' 같은 숫자형 거시 질문에 강함. MS GraphRAG는 2026-08부터 유지보수 모드(새 기능 없음, 버그 · 보안 수정만)이지만 검색 방식 개념의 원형이라 소개함.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프레임워크 모두 엔티티 · 관계를 LLM으로 뽑아 그래프를 만들고, 벡터로 진입점을 찾는 점은 같음. 차이 ① 저장: Neo4j는 DB 하나에 다 담고, MS는 파일 + 벡터 DB, LightRAG는 기본 파일(운영은 외부 DB). 차이 ② 전체 질문: Neo4j는 Cypher로 조건 · 집계, MS는 미리 만든 커뮤니티 요약, LightRAG는 상위 키워드로 관계 검색. 차이 ③ 갱신: MS는 커뮤니티를 다시 계산해야 해 전체 재인덱싱이 안전하고, LightRAG는 문서 단위 추가 · 삭제가 쉬움.</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DD55-6D56-5251-55D1-CB1EE1CF5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AB3AD-7D81-BEA2-00F8-2C50658E3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9BF90-7487-3239-BB10-28B5A1194BC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AEC17A1B-22BD-6B0C-7A29-F299846128C3}"/>
              </a:ext>
            </a:extLst>
          </p:cNvPr>
          <p:cNvSpPr>
            <a:spLocks noGrp="1"/>
          </p:cNvSpPr>
          <p:nvPr>
            <p:ph type="sldNum" idx="5"/>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8081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 도출은 인덱싱 파이프라인의 단계가 아니라 설계 단계의 일임. 사람이 후보를 줄이고 이름을 정해 확정하므로 매 실행 자동으로 돌리지 않음. 확정한 GraphSchema를 파일로 두고 버전을 관리하며, 인덱싱은 그 파일을 읽어 ④ 추출의 프롬프트 안내와 가지치기에 씀. 스키마가 바뀌면 새 세대로 다시 인덱싱함. 인덱싱 줄의 KG 저장과 병합은 다른 단계임: Native는 저장기(Neo4jWriter)가 먼저 쓰고 병합기(resolver)가 DB 안에서 같은 이름 노드를 합침(SimpleKGPipeline 연결 순서 writer → resolver). 임베딩은 합쳐진 노드 설명을 벡터로 바꾸는 단계라 병합 다음에 둠. 청크 벡터는 기존 벡터DB 인덱싱의 벡터를 KG 저장 때 함께 넣어 다시 만들지 않음. 같은 카드가 어떤 청크에선 Brand, 어떤 청크에선 CardProduct로 뽑히면 병합 단계에서도 못 합침(라벨이 달라서). 실측: 로컬 gemma-4 12B로 스키마 없이 청크 2개를 추출했더니 라벨이 11종 나왔고, 카드는 Brand와 CardProduct, 요금은 Fee와 AnnualFee로 갈렸음. Native neo4j-graphrag는 스키마를 안 주면 SimpleKGPipeline이 매번 입력 글에서 스키마를 자동으로 뽑아 쓰므로(사람 검토 없음) 실행마다 달라질 수 있음 — 그래서 설계 단계에서 고정함.</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①~⑤가 뼈대임: 노드 타입, 노드 속성, 관계, 관계 속성, 그리고 어느 노드에서 어느 노드로 그 관계가 갈 수 있는지를 정하는 연결 패턴. ⑥ 제약은 고유키와 필수 속성이며 UNIQUENESS, EXISTENCE, KEY 세 종류가 있음. KEY는 필수이면서 고유함. ⑦ 허용 범위는 목록 밖의 타입, 패턴, 속성을 지울지 통과시킬지이며, 목록을 주면 기본은 지움. 실행 확인(neo4j-graphrag 1.22.0): 이 코드로 만든 스키마로 가지치기를 돌리니 name이 없는 Card 노드가 MISSING_REQUIRED_PROPERTY로 지워졌음. 타입과 속성마다 description을 적으면 추출 프롬프트에 들어가 LLM이 고르는 기준이 됨. 속성의 type(STRING, INTEGER 등)은 적을 수 있지만 지금 버전의 가지치기는 값 형식을 검사하지 않으므로 금액과 날짜는 저장 전에 따로 변환함. 최대 홉 수, 결과 상한, 상충 관계 쌍은 검색과 검수에 쓰는 규칙이라 추출용 스키마에는 넣지 않음.</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공식 관계형 → 그래프 변환 규칙과 같음: 테이블은 라벨, 행은 노드, 열은 속성, FK는 관계로 바꾸고 FK 열은 지움, 조인 테이블은 관계로 바꾸고 그 열은 관계 속성. 관계는 양 끝이 둘뿐이라 셋 이상을 묶으면 중간 노드로 풂. 판정 결과는 4가지이고 오른쪽 예시가 같은 번호임. ① 조회 대상이면 노드 타입: 이체는 FK가 2개지만 이체 자체를 찾으므로 노드. ② FK가 2개이고 업무 열이 없으면 관계로 흡수: 사용자역할 테이블은 사용자와 역할을 잇기만 하므로 노드를 만들지 않음. ③ FK 2개 + 업무 속성이면 관계 속성: 주문상품의 수량과 단가는 '포함' 관계의 속성. 상품별 판매 집계처럼 그 속성을 조회하거나 집계하면 노드로 둠. ④ FK 3개 이상이면 중간 노드: 수강신청은 학생, 과목, 학기를 함께 묶어 관계 하나로 못 담음. 조회 대상 질문을 먼저 하는 이유는 ① 이체 예: FK 개수만 보면 관계로 흡수되어 이체 자체를 찾을 수 없게 됨. 정형에서 나온 타입은 LLM 추출이 필요 없어 비용이 들지 않으므로 정형을 먼저 훑는 것이 이득임.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변환 규칙은 대부분 기계적으로 적용할 수 있어서, 규칙을 프롬프트에 적어 바이브 코딩 도구에 맡김. 규칙 ②③④와 검증, 그림, 저장은 AI가 하고, 업무 판단이 필요한 규칙 ①과 이름, 최종 승인은 사람이 함. DB 카탈로그는 DB가 원래 갖고 있는 구조 설명 테이블이라 따로 만들 필요가 없음(PostgreSQL은 pg_catalog). FK 개수는 열이 아니라 제약 수로 셈: card의 product_id와 brand는 열 2개지만 FK 제약 1개임. 라벨은 Neo4j 이름 규칙에 따라 영문(Card, HAS_CARD)으로 두고, 한글 이름은 description에 넣어 그림과 LLM 안내에 씀. 한글 라벨도 동작은 하지만(실행 확인), 영문 속성 이름과 섞이지 않게 하려고 영문으로 정함. 8단계에서 수정을 요청하면 5단계부터 다시 하며, 5회가 넘으면 남은 쟁점을 정리해 멈춤. 최종 파일은 GraphSchema.save()로 저장한 뒤 from_file()로 다시 읽어 개수가 같은지 확인하고, 승인 기록을 함께 남김.</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 종류와 상관없이 쓰는 절차임. ① 역량 질문은 이 스키마로 만든 그래프가 답해야 할 질문 목록이며, Ontology 101에서 범위를 정하고 나중에 충분한지 시험하는 기준으로 씀. 답이 될 타입 이름은 적지 않고 질문으로만 씀. ② neo4j-graphrag의 SchemaFromTextExtractor는 글을 받아 스키마 후보를 내고, examples 자리에 역량 질문을 넣음. 표본은 비율이 아니라 건수로 정함(드문 타입을 95% 확률로 보려면 등장률 10%면 29건). 앞서 나온 이름을 다시 쓰라는 안내를 넣으면 이름은 모이지만 새 개념이 막혀서 이 단계에서는 넣지 않음. ③ 사람이 합치기, 빼기, 보태기로 뼈대를 정함. 드문 이름을 빈도로 거르면 핵심 개념이 버려지므로 질문 기준으로 살림. 타입 설명(description)이 추출 품질을 크게 좌우하므로 무엇이 아닌지까지 좁게 씀. LLM이 제안하는 제약은 자주 충돌하므로 사람이 정함. ④ LLMEntityRelationExtractor에 뼈대를 schema로 주고 GraphPruning으로 정리한 뒤, 정답표나 역량 질문의 답이 채워지는지 셈. 잘못 뽑기가 많으면 설명을 고쳐 다시 함. ⑤ GraphSchema.save()로 파일을 고정하고 인덱싱은 그 파일만 읽음. 화면으로 하려면 Neo4j LLM Graph Builder의 Get Schema From Text가 ②에 해당함.</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검색과 답변 품질을 재는 평가셋입니다. 문항마다 정답과 정답 출처가 있습니다. 출처는 정답이 적힌 원문 위치이고, 그 위치의 원문 조각이 색인 본문에 글자 그대로 있는지 다섯 가지 검사로 확인한 뒤에만 저장합니다. 이번에 25문항 모두 통과했습니다. 검색 품질은 검색 결과에 이 출처가 들어 있는지로, 답변 품질은 답이 정답과 맞고 출처에 근거하는지로 잽니다.
약관 문항의 출처는 조항, 카드 혜택 문항의 출처는 혜택 블록, 상담 문항의 출처는 상담 ID입니다. 답 없음 다섯 문항은 출처 대신 답이 없음을 확인한 기준이 있고, 「확인 필요」로 끝나야 정답입니다.
새로 더한 거시 질문 세 문항은 출처가 여러 곳입니다. 고객군별 불만은 상담 6건, 받아들여진 제안의 공통점은 상담 5건, 불만 주제와 약관 조항은 약관 6개 조항에 근거합니다. 커뮤니티 요약 없이 지금 구조가 이 질문들을 얼마나 놓치는지 먼저 재고, 많이 놓치면 커뮤니티 요약 단계를 붙일지 정합니다.
표의 정답은 요점만 줄인 것이고, 실제 채점은 원문 정답 문장으로 합니다. 출처가 여럿인 문항은 표에 「외 1」처럼 줄여 적었습니다.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역량 질문은 문서만 보고 지어내지 않고 사용자가 실제로 묻는 질문에서 출발함. 상담 이력의 출처는 D3 안내문의 검색 평가 질문과 RAGAS 평가셋 문항임. 회원 번호 같은 값을 빈칸으로 바꾸면 같은 틀의 질문이 하나로 묶이고, 묶음마다 역량 질문을 1개 이상 씀. 제안과 응답처럼 한 유형에 두 질문이 필요하면 나눠 씀. 질문에는 Complaint 같은 답이 될 이름을 쓰지 않음. 이 예의 초안은 LLM(클로니)이 사용자 질문을 보고 작성했고 사람이 검토함. 약관과 혜택도 같은 방법으로 5개씩 정했음.</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문서를 성격이 비슷한 묶음으로 나눠 묶음마다 표본을 뽑음. 상담은 고객 세그먼트 6개, 혜택은 청크 성격 4개로 나눴음. 1건씩 넣는 이유는 새 이름이 몇 개 늘었는지 세어 멈출 때를 정하려는 것임. 가운데는 실제 1건(C-20260701-016)에 대한 추출기 출력임. Proposal과 Condition은 역량 질문(2, 4)에 답할 이름이고, Customer의 email과 birthdate 속성은 가명처리 대상이라 ③에서 버릴 후보임. 30건을 모으면 이름이 53개로 흩어지고 질문 1 ~ 4에 답할 이름은 2 ~ 5건씩만 나오고, 질문 5(이전 상담 연결)는 FOLLOWS 등 여러 이름으로 15건에서 나옴. 같은 30건에 앞 결과 이름을 넘기면 10개로 모이지만 역량 질문 5개 중 불만 원인과 이전 상담 연결 2개만 나왔음.</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② 결과(이름 53개와 나온 건수)와 역량 질문 5개를 LLM에 주고 초안을 추천받았음(이 예에서는 클로니가 추천). 추천에는 항목마다 근거가 된 질문 번호를 붙임. 병합은 같은 뜻의 이름을 하나로 합치는 것, 제거는 질문에 안 쓰이거나 다른 원천(RDB)에 있거나 가명처리 대상인 것을 빼는 것, 추가는 후보에 없거나 거의 없던 개념을 넣는 것임. 고객 응답(수용, 거절)은 후보에 1건뿐이었지만 질문 3에 필요해 추가함. 사람은 데이터 사정으로 판단함: 응답을 노드로 둘지 속성으로 둘지, 제약은 Community 판에서 되는 UNIQUENESS만. 오른쪽 아래 설명은 ④ 시험을 거쳐 좁힌 최종 판이며, 처음부터 해당과 비해당을 함께 쓰는 것이 좋음.</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LLMEntityRelationExtractor에 스키마 초안을 schema로 주고 GraphPruning으로 초안 밖 노드를 지운 뒤 정답표와 비교함. 왼쪽은 불만이 있는 상담 1건으로, 불만 원인, 재검토 조건, 이전 상담 연결은 맞았지만 제안은 상담사가 한 다른 안내(자동납부 재등록 절차 비교)를 골라 응답도 수용으로 적었음. 정답은 할인을 늘리는 제안과 보류임. 오른쪽은 불만이 없는 주소 변경 문의로, 답이 없어야 하는 문서임. v1 설명에서는 '이사'를 불만으로, 절차 안내를 제안으로 뽑았고, 설명을 좁힌 v2에서는 둘 다 사라지고 제안 1개와 이유가 정답과 같아졌음. 왼쪽 네 줄은 역량 질문 5개를 모두 대조한 것임(제안과 응답이 질문 2와 3). 실무에서는 ②와 겹치지 않는 표본에 기대 답을 붙여 시험함. 이 예시를 ②에서 본 30건과 안 본 18건으로 나눠 보면 대부분 지표가 비슷했고, 불만 오탐만 안 본 문서에서 3 / 9(본 문서 1 / 15)로 높았음.</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v1은 처음 쓴 설명, v2는 시험 결과를 보고 좁힌 설명임. 불만 오탐은 불만이 없는 상담 24건 중 Complaint를 만든 수, 제안 노드 수는 48건에서 만든 Proposal 합계, 응답 일치는 뽑은 응답이 정답 하나뿐인 기록 수임. 설명 몇 줄을 바꾸자 오탐과 작은 안내를 제안으로 뽑는 일이 크게 줄었음. 남은 문제는 응답 엄격 일치 37 / 48과 불만 오탐 4건이며, 오탐 4건은 '종이 영수증이 없어 불편'처럼 고객이 실제로 불편을 말한 경우라 정답 기준을 다시 볼 대상임. 지표 다섯 줄은 역량 질문 1 ~ 5와 하나씩 짝지어짐.</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상담 스키마 초안 v2로 저장과 다시 읽기를 해 보았음(사람의 최종 승인 전이라 프로젝트에는 저장하지 않고 작업 폴더에서 시연). 다시 읽은 스키마는 저장 전과 같았고, Neo4j 서버 없이 됨. additional_* 세 값이 False라 인덱싱 때 목록 밖 노드 타입과 관계는 가지치기가 지움. 스키마나 원천이 바뀌면 새 세대로 다시 인덱싱하며, 상담 원문을 v3로 고쳤을 때 새 세대를 만들어 상담 48청크만 새로 임베딩하고 나머지 170청크는 재사용했음. 혜택과 약관은 ②까지 했음. 혜택은 질문을 넣자 제외 대상(Exclusion)이 핵심이 되어 후보가 거의 초안이 되고, 약관은 이름이 흩어져 조항 구조 초안을 사람이 먼저 그리는 쪽이 맞아 보임.</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정형 테이블은 규칙만으로 대부분 판정할 수 있어 사람이 세 번 답했지만, 문서는 테이블 구조가 없어 LLM이 후보와 초안을 내고 사람이 역량 질문 기준으로 확정해야 함. 그래서 승인 단계가 1, 2, 3, 5, 7, 8 여섯 곳임. 1단계에서 AI는 청크 위치 파일(예: 인덱서의 활성 세대 기록)을 받아 실제 청크 파일을 찾고, 본문 칸과 문서 종류를 제안하고, 개인정보 꼴이 남았는지 셈. 3단계에서 청크 하나에 조항이 여러 개 들었으면 표본으로 뽑힌 청크만 제목 줄로 나눔. 원본이 많아도 다시 청킹하지 않으며, 인덱싱도 추출 직전에 같은 규칙으로 나눔. 4단계는 역량 질문만 examples로 넘겨 후보를 넓게 뽑고, 5단계에서 AI가 병합, 제거, 추가를 질문 번호와 함께 추천하면 사람이 제약까지 확정함. 7단계 기대 답은 정답표가 있으면 그것을 씀. 8단계는 후보에 쓰지 않은 표본으로 시험해 질문마다 지표를 보고, 미달이면 설명(description)을 고쳐 5단계부터 다시 함. 자동 승인으로 돌려 본 실행에서 혜택과 상담은 통과해 파일을 만들었고, 약관은 조항 단위로 바꾼 뒤에도 기대 답 검토가 먼저 필요해 멈춤.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검색에 쓰는 것은 벡터 색인(의미 검색), 키워드 색인(BM25), 지식 그래프 세 가지이고, 네 안은 이 셋을 어느 저장소에 두느냐로 나뉨. 일반적인 비교이며, 우리 프로젝트의 지금 구성(Chroma, Kiwi와 bm25s로 만든 BM25 파일, Neo4j)은 1-a의 한 예임. 한국어 실무에서는 1-b처럼 한국어 형태소 분석기가 있는 검색 엔진(Elasticsearch 또는 OpenSearch의 공식 nori 플러그인, 사용자 사전 지원)에 벡터와 키워드를 함께 두고 그래프 DB를 따로 두는 구성이 흔함. Neo4j 전문 검색에는 한국어 분석기가 없어, 3번은 형태소 분석기로 미리 나눈 낱말을 넣거나 Java 분석기 플러그인을 직접 만들어야 함. 미리 나눠 넣은 우리 실측에서 키워드 상위 10 겹침이 0.952였고, Neo4j는 BM25의 k1 값을 바꿀 수 없었음. neo4j-graphrag의 하이브리드 검색기는 필터를 받지 않아 회원별 검색 같은 조건은 직접 Cypher로 짜야 함. 증분 색인: Lucene 계열 키워드 색인(Elasticsearch, OpenSearch, Neo4j 전문 검색)은 문서를 넣고 고치고 지우는 대로 따로 갱신되므로 어느 안이든 전체를 다시 만들 필요가 없음. 그래서 차이는 '바뀐 문서 하나를 몇 곳에 써야 하고, 그 곳들이 서로 어긋나지 않게 맞춰야 하느냐'임. 다만 bm25s처럼 추가와 삭제 기능이 없는 정적 라이브러리로 키워드 색인을 만들면 바뀔 때마다 전체를 다시 만들어야 하며, 지금 우리 구성이 이 경우임. Neo4j Community 판에는 온라인 백업과 클러스터가 없고 Enterprise 판에는 있음. 바뀐 청크만 LLM으로 다시 추출하고 엔티티를 병합하는 그래프 쪽 일은 네 안 모두 같음.</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1-b에서 바뀌는 곳은 ③ 청킹 뒤의 검색 갈래뿐임. 지금은 Chroma에 벡터를, bm25s로 BM25 파일을 따로 만들지만, 1-b는 검색 엔진 한 문서에 본문, 벡터, 메타데이터를 함께 넣고 문서 단위로 넣고 고치고 지움. 키워드 분석은 nori와 사용자 사전으로 옮기거나, Kiwi로 미리 나눈 낱말을 공백 분석기로 넣는 두 길이 있음. nori로 옮기면 Kiwi와 결과가 같지 않아 순위 비교 시험이 필요함. KG 갈래는 그대로임. 청크 하나에 제목 단위가 여럿 든 문서는 추출 직전에 청크를 추출 단위(예: 규정은 조항, 매뉴얼은 절)로 나누고, 제목 단위가 하나뿐인 문서는 청크를 그대로 씀. 추출 단위는 추출할 때만 쓰고 그래프에 남기지 않음. 검색용 청크와 1대1인 청크 노드와 추출 노드를 Neo4jWriter 한 묶음으로 저장함. 세대는 새 인덱스를 만든 뒤 검색 엔진 별칭과 Neo4j 세대를 같은 순간에 바꿔야 하며, 한쪽만 바뀌면 검색 결과의 chunk_id가 그래프에 없게 됨. 노드 설명 임베딩을 Neo4j에 둘지 검색 엔진에 둘지는 따로 정할 일임. 라이선스: Elasticsearch는 2021년부터 SSPL과 Elastic License 2.0이었고 2024년 8월 말 AGPL v3를 선택지로 더해 다시 오픈소스로 인정됨. OpenSearch는 Elasticsearch 7.10.2에서 갈라진 Apache 2.0 프로젝트이며 2024년 9월부터 리눅스 재단 산하 OpenSearch Software Foundation이 관리함. 회사 서비스에 넣을 때는 사내 법무 또는 오픈소스 담당의 확인을 받음.</a:t>
            </a:r>
          </a:p>
          <a:p>
            <a:r>
              <a:t>커뮤니티 요약은 선택 단계입니다. 서로 촘촘히 이어진 엔티티 묶음, 즉 커뮤니티를 찾아 묶음마다 요약 보고서를 만듭니다. 문서 전체를 훑어야 답할 수 있는 거시적 질문에 씁니다. 거시 질문으로 지금 구조가 얼마나 놓치는지 먼저 재고, 많이 놓칠 때 켭니다.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인덱싱은 오케스트레이터, KG 구축, 검색엔진 인덱싱 세 워크플로우로 나눕니다. 서브 워크플로우 두 개는 준비, 반영, 정리를 따로 부를 수 있게 만들고, 언제 무엇을 부를지는 오케스트레이터가 모드에 따라 정합니다. 서브 워크플로우는 활성 세대 파일을 바꾸지 않습니다.</a:t>
            </a:r>
          </a:p>
          <a:p>
            <a:r>
              <a:t>준비는 아무 데도 쓰지 않고 계산만 해서 결과를 보관합니다. 반영은 Neo4j나 검색엔진에 씁니다. 정리는 KG에서 옛 청크와 근거를 잃은 엔티티를 지웁니다.</a:t>
            </a:r>
          </a:p>
          <a:p>
            <a:r>
              <a:t>전체 재색인은 둘 다 새 세대에 쓰므로 게시 전까지 아무에게도 보이지 않습니다. 그래서 두 서브 워크플로우를 처음부터 끝까지 병렬로 돌리고, chunk_id 목록을 검증한 뒤 활성 세대 파일을 바꿉니다.</a:t>
            </a:r>
          </a:p>
          <a:p>
            <a:r>
              <a:t>증분 색인은 지금 쓰는 세대에 바로 쓰므로 쓰는 순간 보입니다. 그래서 준비만 병렬로 하고, 반영은 KG에 새 청크 넣기, 검색엔진 문서 교체, KG 옛 청크 지우기 순서로 합니다. 그래프는 먼저 넣고 나중에 지워서, 바뀌는 동안에도 검색이 찾은 chunk_id가 그래프에 있게 합니다.</a:t>
            </a:r>
          </a:p>
          <a:p>
            <a:r>
              <a:t>준비 결과를 보관하므로 반영에서 실패해도 오래 걸리는 계산을 다시 하지 않습니다. 되돌리기와 옛 세대 정리는 이 흐름과 따로 처리합니다. 세 워크플로우 모두 순서가 정해진 처리라 에이전트가 필요 없고, LLM은 K2 추출의 도구로만 씁니다.</a:t>
            </a:r>
          </a:p>
          <a:p>
            <a:r>
              <a:t>K8 커뮤니티 요약은 정리 단계의 마지막, K7 다음에 둡니다. 증분 색인에서는 K7이 옛 청크와 고아 엔티티를 지운 뒤에야 그래프가 완성되기 때문입니다. 커뮤니티 구성원이 이전과 같으면 보고서를 다시 쓰지 않고 재사용합니다. 거시 질문이 필요할 때만 켜는 선택 단계라 점선으로 그렸고, 켜면 ④ 검증에서 모든 커뮤니티에 보고서가 있는지도 확인합니다.</a:t>
            </a:r>
          </a:p>
          <a:p>
            <a:r>
              <a:t>전체 재색인에서는 K7 청크 정리를 부르지 않습니다. 새 세대에 처음부터 쓰므로 지울 옛 청크가 없기 때문입니다. K7은 증분 색인에서만 부릅니다.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오케스트레이터의 첫 단계는 이번 실행의 세대 ID를 정하는 일입니다. 세대 ID는 실행 이름과 그 해시로 만들어서, 실행이 중간에 멈춰도 같은 이름으로 다시 돌리면 같은 세대로 이어서 만듭니다. 이 세대 ID가 검색엔진 인덱스 이름과 Neo4j 세대 값의 공통 열쇠가 됩니다. 본격적으로 일하기 전에 원천 파일의 지문을 모아 활성 세대 기록과 비교합니다. 원천, 처리 정책, 문서 프로필, 토큰화, 임베딩 설정이 모두 같으면 할 일이 없으므로 여기서 끝냅니다.
두 번째 단계는 원문을 청크 파일 하나로 만드는 일입니다. 원문을 읽으면서 회원 정보를 가명 키로 바꾸고, 정제하고, 문서별 규칙으로 청크를 나눕니다. 원문은 메모리에서만 다루고 개인정보 처리가 끝난 청크만 저장합니다. 바뀌지 않은 문서는 이전 세대의 처리된 청크를 그대로 씁니다. 청크 ID는 문서 키와 본문 해시로 만들어서 본문이 같으면 ID도 같습니다. 이 파일 하나를 두 서브 워크플로우가 함께 읽기 때문에 KG와 검색엔진 인덱스의 chunk_id가 어긋나지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추출 단위는 LLM에 한 번에 넣는 글 조각입니다. 검색용 청크는 800토큰 크기라 약관 청크 하나에 조항이 아홉 개씩 들어 있습니다. 이걸 통째로 넣으면 모델에 따라 조항 안의 조건이나 기한을 놓칩니다. gpt-oss-120b는 청크째로는 조항과 문서 노드만 뽑았고, Opus 5.5는 청크째로도 조건, 기한, 처리를 뽑았지만 같은 청크에서 조건 노드가 청크째 1개, 조항 단위 4개였습니다. 실무 관행도 같은 방향입니다. GraphRAG 논문은 600토큰 청크에서 2400토큰보다 엔티티를 약 2배 뽑았다고 보고했고, Microsoft GraphRAG와 LightRAG는 놓친 것을 한 번 더 묻는 추출을 기본으로 둡니다. 엔티티가 나온 청크 ID를 여러 개 기록하는 것도 LightRAG와 Neo4j의 방식입니다.
나누는 방법은 단순합니다. 조항 제목 줄을 찾되 바로 다음 줄이 ①로 시작할 때만 조항의 시작으로 봅니다. 그래야 제목만 이어지는 차례가 단위가 되지 않습니다. 다음 제목 전까지를 한 단위로 자르고, 청크가 겹쳐서 같은 조항이 두 번 나오면 하나만 남기되 나온 청크 ID를 모두 기억합니다. 추출 단위는 추출할 때만 쓰는 임시 조각이라 그래프에 노드로 남기지 않습니다. 그래프의 청크 노드는 검색용 청크와 하나씩 맞고, 조항에서 뽑힌 엔티티는 그 조항이 나온 청크마다 FROM_CHUNK로 이어집니다. 그래서 검색 결과의 chunk_id로 청크 노드를 바로 찾습니다.
혜택 안내와 상담 기록은 청크가 이미 카드 하나, 상담 한 건이라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바깥 틀이 KG입니다. Neo4j에 하나로 저장됩니다. 그 안을 논리적으로 두 층으로 나눠 볼 수 있습니다. 위층은 엔티티 그래프입니다. LLM이 조항 단위로 읽고 뽑은 엔티티와 관계입니다. 원은 엔티티이고, 약관 문서, 조항, 조건, 기한, 처리가 모두 엔티티입니다. 이름표가 붙은 선이 관계입니다. 문서가 조항을 가지는 HAS_CLAUSE, 조항이 조건, 기한, 처리를 정하는 SETS_REQUIREMENT, SETS_DEADLINE, DEFINES_HANDLING이 있습니다.</a:t>
            </a:r>
          </a:p>
          <a:p>
            <a:r>
              <a:t>아래층은 Lexical Graph입니다. 검색엔진의 청크를 코드가 그대로 옮긴 청크 노드입니다. LLM이 뽑은 것이 아니고, chunk_id가 검색엔진과 같습니다. 원문 본문도 함께 들어 있어 답의 근거를 보여 줄 때 씁니다. v0는 Document 노드와 NEXT_CHUNK는 만들지 않고 청크 노드만 둡니다.</a:t>
            </a:r>
          </a:p>
          <a:p>
            <a:r>
              <a:t>두 층은 따로 저장되지 않고 같은 그래프 안에서 FROM_CHUNK로 이어집니다. 엔티티마다 자기 조항이 나온 청크로 이어집니다. 제15조는 왼쪽 청크에만, 제17조는 오른쪽 청크에만 있습니다. 제16조와 제16조의2는 두 청크가 겹치는 구간에 있어 두 청크 모두에 이어집니다. 약관 문서 노드도 두 청크 모두에 이어집니다. 그림이 복잡해지지 않게 점선 묶음마다 선을 모아 그렸습니다. 점선 묶음은 설명용 표시이고, 추출 단위는 그래프에 남지 않습니다.</a:t>
            </a:r>
          </a:p>
          <a:p>
            <a:r>
              <a:t>색과 모양 읽는 법입니다. 같은 색의 원은 모두 엔티티 노드이고, 같은 색의 실선은 엔티티 사이 관계입니다. 관계 종류는 선 위 이름표로 구분합니다. 남색 사각형은 청크 노드로, 글에서 뽑은 개체가 아니라 엔티티가 아닙니다. 남색 점선이 FROM_CHUNK 관계이고, 엔티티 그래프의 모든 엔티티가 이 관계로 청크 노드에 이어집니다.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규칙은 세 가지 값입니다. 조항 제목 꼴의 정규식, 본문 시작 표시 ①, 버릴 줄(장 제목)입니다. _split_by_heading은 제목 줄 가운데 다음 줄이 ①로 시작하는 줄만 시작점으로 삼고, 다음 시작점 전까지를 한 단위로 자릅니다. 단위 ID는 문서 ID와 조항 번호로 만들어서, 같은 조항이 겹침 구간 때문에 두 청크에 나오면 같은 ID가 됩니다.
k1_split_units는 같은 ID를 만나면 글이 더 긴 쪽을 남기고 두 청크의 ID를 chunk_ids에 모읍니다. 이 목록은 K4에서 뽑힌 엔티티를 어느 청크 노드에 이을지 정하는 데만 쓰고, 추출 단위 자체는 그래프에 남기지 않습니다. 약관 청크 10개에서 단위 51개가 나왔고, 그중 13개는 두 청크에 걸쳐 있었습니다.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K2는 추출 단위 하나를 LLM에 넣어 노드와 관계를 받는 단계입니다. LLM에는 네 가지가 들어갑니다. 그 문서 유형의 graph_schema.json, 메타데이터 머리줄, 추출 단위 본문, 그리고 라이브러리의 기본 추출 지시입니다. 머리줄은 상담 번호나 날짜처럼 본문에 잘 드러나지 않는 키 속성을 채우려고 붙입니다.
예시 상담에서 LLM은 상담사가 권한 두 방법을 제안 노드로, 고객이 말한 다시 문의할 조건을 재검토 조건 노드로 뽑고, 본문에 적힌 앞 상담 번호로 이전 상담과 이었습니다. 다만 같은 원문을 한 번 더 넣었더니 재검토 조건이 제안의 이유 속성으로 들어갔습니다. LLM은 부를 때마다 결과가 조금씩 다릅니다. 그래서 본문과 스키마가 그대로인 단위는 다시 묻지 않고 앞 결과를 씁니다.
뽑힌 그래프는 같은 함수 안에서 바로 K3 가지치기를 거쳐 스키마에 없는 것을 지웁니다. 검색용 청크와 잇는 일은 K4에서 청크 노드와 FROM_CHUNK 관계가 맡습니다.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추출기는 한 번만 만듭니다. 검색용 청크 노드는 만들지 않고, 오류가 나면 예외로 올리게 설정합니다. 단위마다 머리줄을 붙인 글을 TextChunk 하나로 감싸 넣습니다.
형식 오류는 같은 입력으로 두 번까지 다시 묻고, 그래도 안 되면 오류를 돌려줘 실패 목록에 남깁니다. K2와 K3는 따로 도는 단계가 아니라 한 함수 안에서 함께 수행됩니다. 추출이 끝나면 같은 자리에서 바로 가지치기를 하고, 결과를 kg_prepared.json에 보관합니다. 다음 실행에서는 본문 해시와 스키마 지문이 같으면 이 보관 결과를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K4는 K2와 K3에서 파일로 보관해 둔 추출 결과를 Neo4j에 쓰는 단계입니다. 쓰기 전에 세 가지를 덧붙입니다. 첫째, 검색용 청크마다 라벨이 Chunk인 청크 노드를 하나 만듭니다. 청크 노드의 chunk_id는 검색엔진의 chunk_id와 같습니다. 추출 단위는 추출할 때만 쓰고 노드로 남기지 않습니다. 둘째, 모든 노드에 세대와 실행 표시를 붙입니다. 셋째, 뽑힌 엔티티마다 그 단위가 나온 청크 노드로 FROM_CHUNK 관계를 만듭니다. 조항이 두 청크에 걸치면 관계도 두 개입니다.
그래서 검색엔진이 청크 하나를 찾으면, 같은 chunk_id의 청크 노드를 바로 찾고, FROM_CHUNK를 거꾸로 따라가 그 청크에서 나온 엔티티를 모두 얻습니다.
K4는 쓰기만 합니다. 여러 단위에서 같은 약관 문서 노드가 나와도 그대로 여러 개 쓰고, 합치는 일은 다음 단계 K5가 합니다.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코드는 먼저 검색용 청크마다 청크 노드를 하나씩 만듭니다. 그다음 단위를 하나씩 돌며 노드와 관계를 목록에 모읍니다. 추출 실패로 그래프가 없는 단위는 건너뜁니다. 엔티티마다 세대와 실행 표시를 붙인 뒤, 그 단위가 나온 청크 노드로 FROM_CHUNK 관계를 더합니다. LLM이 뽑은 관계도 그대로 더합니다. 다 모으면 Neo4jWriter를 한 번 불러 씁니다.
오른쪽 가운데 질의가 검색 때 그래프로 넘어가는 길입니다. 검색엔진이 돌려준 chunk_id로 청크 노드를 바로 찾습니다. 예시 상담의 chunk_id로 조회하면 상담 노드 2개, 제안 2개, 불만 1개, 재검토 조건 1개가 나옵니다. v0 표본 전체 재색인에서는 추출 단위 24개에서 엔티티 110개가 나왔고, 청크 노드 10개와 함께 노드 120개, 관계 212개를 한 번에 썼습니다.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병합 기준은 인덱싱이 새로 정하는 것이 아니라 스키마 설계에서 이미 정해져 넘어옵니다. 약관 스키마에는 약관 문서 노드의 버전이 고유 속성이라는 제약이 하나 있습니다. 인덱싱은 이 제약을 읽어 두었다가, K4에서 노드를 쓸 때 노드마다 라벨을 제약의 라벨과 비교합니다. 약관 제16조 단위에서 뽑힌 노드 네 개 가운데 라벨이 같은 것은 약관 문서 노드 하나뿐이라, 그 노드의 버전 값만 합칠 값으로 모입니다. 조항 노드는 라벨이 달라 건너뜁니다.
K5는 모인 값마다 같은 세대에서 값이 같은 노드를 찾아 합칩니다. 제약은 LLM에게도 보이지만, LLM은 단위마다 따로 불려서 중복을 피할 수 없습니다. Neo4j에도 제약을 걸지 않습니다. 걸어 두면 같은 값의 두 번째 노드를 쓰는 순간 실패하기 때문입니다. 그래서 제약은 막는 데가 아니라 나중에 합치는 기준으로만 씁니다.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원리가 실제로 어떻게 나타나는지 봅니다. K4는 쓰기만 하기 때문에, 약관 조항 16개에서 각각 뽑힌 약관 문서 노드 16개가 그대로 들어가 있습니다. K5는 버전 값이 같은 이 노드들을 하나로 합칩니다. 혜택 안내는 상품 ID, 상담 기록은 상담 번호가 같은 노드를 합칩니다. 고유 속성이 없는 조항이나 제안 노드는 합치지 않습니다.
합칠 때 관계도 남는 노드로 옮깁니다. 그래서 합쳐진 약관 문서 노드는 조항 16개와 이어지고, 근거 청크 노드 2개와 이어집니다. 같은 청크로 가는 관계는 하나로 합쳐집니다. 상담 예시에서는 다른 상담이 앞 상담을 가리키며 만든 번호만 있는 노드와, 그 상담 본문에서 뽑힌 노드가 하나로 합쳐져 이전 상담과 다음 상담이 실제로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합칠 값은 K4가 노드를 쓰면서 미리 모읍니다. 스키마의 고유 속성 제약을 보고, 이번에 쓴 노드 가운데 그 라벨이면서 값이 있는 것만 모읍니다. k5_merge는 그 값마다 같은 세대에서 값이 같은 노드를 찾고, 두 개 이상이면 APOC의 mergeNodes로 합칩니다.
v0 표본 전체 재색인에서는 세 묶음이 합쳐져 엔티티가 110개에서 91개로 줄었습니다. 증분 색인에서는 새로 쓴 엔티티 31개 가운데 5개가 이미 있던 노드와 합쳐졌습니다.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K6을 설명하기 전에 왜 필요한지부터 보겠습니다. 그래프 탐색은 시작 엔티티를 정해야 시작할 수 있고, 시작 엔티티를 찾는 방식은 두 가지입니다.
첫째는 검색엔진 경유 검색입니다. 질문으로 검색엔진을 먼저 검색해 검색결과 청크를 얻고, 그 청크와 chunk_id가 같은 청크 노드를 찾은 뒤, 그 청크 노드에 FROM_CHUNK로 이어진 엔티티를 시작 엔티티로 씁니다. 검색엔진 결과에 기대므로 K6이 없어도 됩니다.
둘째는 엔티티 직접 검색입니다. 검색엔진을 거치지 않고, 질문과 뜻이 가까운 엔티티를 엔티티 설명 벡터로 바로 찾아 시작 엔티티로 씁니다. 검색엔진과 따로, 동시에 돌릴 수 있습니다. 이 벡터를 만드는 단계가 K6입니다. 그래서 검색엔진 경유 검색만 쓴다면 K6은 필요 없습니다.
같은 질문 20개로 비교해 보니 두 방식은 놓치는 질문이 달랐습니다. 할부 철회 기한을 구어체로 물으면 검색엔진이 말투가 비슷한 상담 청크를 1위로 올려 검색엔진 경유 검색이 놓쳤지만, 엔티티 직접 검색은 철회 기한 엔티티를 1위로 찾았습니다. 반대로 오랫동안 카드를 안 쓰면 어떻게 되는지 물으면 엔티티 직접 검색은 5위 안에 정답이 없었고, 검색엔진 경유 검색은 청크 2개 안에서 찾았습니다.
두 방식을 함께 쓰고 결과를 합치면 20개 중 18개에 닿아 가장 많았습니다. 다만 표본이 작은 실험이라 전체 데이터에서는 숫자가 달라질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K6은 K5까지 마친 엔티티에 뜻을 담은 벡터를 붙이는 단계입니다. 엔티티에는 문장이 따로 없기 때문에, 라벨과 속성을 「라벨: 속성=값」 꼴의 설명 글로 이어 붙여 만듭니다. 세대나 실행 표시 같은 관리용 속성은 뜻과 상관이 없어서 뺍니다. 이 글을 검색엔진과 같은 KURE-v2 모델로 임베딩해 엔티티에 저장하고, 엔티티 전체에 벡터 인덱스를 만듭니다.
이렇게 해 두면 질문 하나로 뜻이 가까운 엔티티를 바로 찾을 수 있습니다. 「할부 수수료는 언제 알려 주나요?」로 찾으면 할부 조항의 충족 조건 엔티티가 가장 먼저 나옵니다. 찾은 엔티티를 시작 엔티티로 삼아 관계를 따라가면 그래프 탐색이 시작됩니다. 이것이 엔티티 직접 검색입니다.
청크 노드는 임베딩하지 않습니다. 청크의 벡터는 검색엔진이 이미 갖고 있기 때문입니다. 그리고 임베딩은 합치기가 끝난 뒤에 하므로, 합쳐질 노드를 여러 번 임베딩하지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코드는 세 단계입니다. 먼저 임베딩이 없는 엔티티의 라벨과 속성을 읽고, 관리용 속성을 뺀 설명 글을 만듭니다. 다음으로 글 전체를 한 번에 임베딩해 엔티티마다 embedding 속성으로 저장합니다. 마지막으로 벡터 인덱스를 만드는데, 이미 있으면 그대로 둡니다.
v0 표본 전체 재색인에서는 91개를 임베딩했습니다. 증분 색인 때는 임베딩이 없는 새 엔티티만 임베딩합니다. 청크 노드는 엔티티가 아니라서 임베딩하지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엔진 방식에서는 따로 된 벡터DB가 없습니다. 검색 엔진 인덱스 하나에 벡터 필드와 키워드 필드가 함께 있어서, 청크 한 건을 넣으면 벡터 색인과 키워드 역색인이 같은 순간에 갱신됩니다. 다만 벡터를 만드는 임베딩과 낱말을 만드는 키워드 분석은 그 전에 파이썬에서 따로 합니다.
벡터DB 인덱싱은 벡터를 Chroma에, 점수표를 파일에 따로 만든 뒤 활성 세대 파일 하나로 함께 바꿉니다. 어느 쪽이든 벡터 검색과 키워드 검색은 늘 같은 세대를 봅니다.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EF05-D942-30E2-A276-9B97E288F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34EBA-4397-FFBE-BF2A-8194C9510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FA29D-4526-CEA2-89F5-814BC8D520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C39FC2-B80A-E4FE-8BB7-23B7936E834B}"/>
              </a:ext>
            </a:extLst>
          </p:cNvPr>
          <p:cNvSpPr>
            <a:spLocks noGrp="1"/>
          </p:cNvSpPr>
          <p:nvPr>
            <p:ph type="sldNum" sz="quarter" idx="10"/>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1"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432201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DE4FF-DCA7-A198-769F-1B911C921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D991D-A90C-7629-6FD0-DCE615627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FAF0F-5301-5868-538E-85E8DCD96E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19DDE3-664E-E4C1-54C2-716ADBEF3BD9}"/>
              </a:ext>
            </a:extLst>
          </p:cNvPr>
          <p:cNvSpPr>
            <a:spLocks noGrp="1"/>
          </p:cNvSpPr>
          <p:nvPr>
            <p:ph type="sldNum" sz="quarter" idx="10"/>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1"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379865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키워드 분석 단계는 한국어 문장을 BM25가 셀 수 있는 낱말로 바꾸는 일입니다. 1-b에서는 이 일을 검색 엔진에 맡기지 않고 파이썬에서 Kiwi로 미리 자릅니다. 자른 낱말을 공백으로 이어 text_tokens 필드에 넣으면, 검색 엔진은 공백으로만 잘라 역색인을 만듭니다. 예를 들어 '한빛 가족돌봄 카드로 30,000원 이상 결제하면 KB-PAY 할인을 받습니다.'는 '한빛가족돌봄 카드 30000 원 이상 결제 kb pay 할인 받 30000원 kb-pay'로 들어갑니다.
검색할 때는 질문을 같은 토크나이저로 잘라 넣고, BM25 점수는 그때 검색 엔진이 계산합니다. 1-a와 가장 큰 차이는 점수표를 미리 만들어 두지 않는다는 점입니다. 그래서 문서 하나만 지우고 다시 넣는 증분 색인이 가능해집니다.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카드명 사전은 '한빛 가족돌봄'을 한 단어로 묶어 줍니다. 그런데 사전만 넣으면 문서에는 한빛가족돌봄 한 단어만 남고, '가족돌봄'이라고만 묻는 질문은 가족, 돌봄, 가족돌봄으로 잘려 카드명과 하나도 겹치지 않습니다. 사전이 없을 때보다 오히려 나빠지는 셈입니다. 별칭 사전은 줄여 부른 이름을 정식 카드명 단어로 바꿔 줘서 이 틈을 메웁니다.
별칭은 규칙으로 자동으로 만들되, 장보기처럼 일반 명사와 같은 별칭은 빼야 합니다. 그대로 두면 '장보기 할인'이라는 일반 질문이 특정 카드명으로 바뀌어 버립니다.</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엔진에 쓸 때는 청크 하나를 엔진 문서 하나로 넣습니다. 문제는 문서를 고쳤을 때입니다. 청크 ID에는 본문 해시가 들어 있어서 본문이 바뀌면 ID도 바뀝니다. 그래서 청크 ID로 덮어쓰기만 하면 옛 ID의 청크와 빠진 청크가 지울 주인 없이 남습니다. 이렇게 남은 고아 청크는 이미 고친 옛 내용을 검색 결과에 섞어 냅니다.
그래서 문서 키로 그 문서의 청크를 먼저 모두 지우고 새 청크를 넣습니다. 문서 키는 청크 ID의 앞 칸이라 본문이 바뀌어도 변하지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코드는 네 덩어리입니다. 먼저 들어온 청크를 문서 키로 묶습니다. 다음으로 문서마다 delete_by_query로 그 문서의 옛 청크를 모두 지웁니다. refresh를 켜 두어야 지운 결과가 바로 반영됩니다. 그다음 bulk로 새 청크를 한꺼번에 넣는데, 이때 _id를 청크 ID로 고정해 두면 같은 입력을 두 번 넣어도 건수가 늘지 않습니다. 마지막으로 refresh를 불러 다음 검색부터 보이게 합니다.
시험에서는 고친 문서를 다시 쓸 때 옛 청크 9개를 지우고 10개를 넣었고, 남은 고아 청크는 없었습니다. 지금 쓰는 인덱스에 바로 쓰면 지우기와 넣기 사이에 그 문서가 잠깐 보이지 않으므로, 전체 재색인은 새 세대에 쓰고 별칭을 바꿉니다.
별칭은 1-a의 활성 세대 파일(active_generation.json)과 같은 역할입니다. 둘 다 검색이 보는 이름표이고, 새 세대를 다 만든 뒤 이름표만 바꿉니다. 차이는 반영 방식입니다. 1-a는 리트리버가 파일을 읽고 새 세대를 메모리에 다시 올려야 하고, 1-b는 이름표가 검색 엔진 안에 있어 바꾸는 즉시 모든 검색에 적용됩니다.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검색은 실제 인덱스 이름을 모르고 card_chunks라는 별칭에만 질의합니다. 전체 재색인 때는 새 세대 인덱스를 따로 다 채우고, refresh 뒤 건수가 기대와 같은지 확인합니다. 건수가 다르면 덜 만들어진 세대이므로 전환하지 않습니다.
확인이 끝나면 별칭을 새 세대로 옮기는데, 이때 옛 세대에서 빼는 일과 새 세대에 붙이는 일을 update_aliases 한 요청에 함께 넣습니다. 두 번에 나눠 부르면 그 사이에 별칭이 아무것도 가리키지 않아 검색 결과가 비는 순간이 생깁니다.
옛 세대 인덱스는 지우지 않고 남겨 두므로, 문제가 생기면 같은 함수에 옛 인덱스를 넘겨 바로 되돌릴 수 있습니다. 그래프 쪽 Neo4j 세대도 같은 순간에 맞춰 바꿔야 검색 결과의 chunk_id가 그래프에서 끊기지 않습니다. 예제는 검색 엔진 쪽만 구현했습니다.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latin typeface="Chilgok Gwon Anja"/>
              <a:ea typeface="Chilgok Gwon Anja"/>
              <a:cs typeface="Chilgok Gwon Anja"/>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K7은 증분 색인에서만 부르는 정리 단계입니다. 문서가 바뀌면 K4가 그 문서의 청크 노드를 새로 만들어 넣습니다. 그래서 그래프에는 이번에 넣은 새 청크 노드와 지난 실행에서 넣은 옛 청크 노드가 함께 남아 있습니다. K7은 바뀌었거나 사라진 문서의 청크 노드 가운데 이번 실행이 만들지 않은 것, 즉 run_id가 다른 것만 지웁니다. 증분 색인은 바뀐 청크가 아니라 바뀐 문서를 단위로 다시 넣습니다. 그래서 내용이 그대로인 청크까지 그 문서의 청크는 모두 새로 들어가고, K7 전까지는 같은 chunk_id의 청크 노드가 잠시 두 벌이 됩니다. 이번 K4가 넣은 새 청크 노드를 지우지 않도록 run_id로 가릅니다.</a:t>
            </a:r>
          </a:p>
          <a:p>
            <a:r>
              <a:t>청크 노드를 지우면 그 청크에만 이어져 있던 엔티티는 근거를 잃습니다. FROM_CHUNK가 하나도 남지 않은 엔티티를 고아 엔티티라고 부르고, 두 번째 질의로 지웁니다. 겹친 조항처럼 다른 청크에도 이어진 엔티티는 근거가 남아 있어 지우지 않습니다.</a:t>
            </a:r>
          </a:p>
          <a:p>
            <a:r>
              <a:t>K7은 검색엔진 문서 교체, 즉 S3 다음에 합니다. 그래프에는 먼저 넣고 나중에 지우기 때문에, 바뀌는 동안에도 검색엔진이 돌려준 chunk_id의 청크 노드가 그래프에 늘 있습니다. 순서를 거꾸로 하면 검색엔진은 아직 옛 chunk_id를 돌려주는데 그래프에는 그 청크 노드가 없는 순간이 생깁니다.</a:t>
            </a:r>
          </a:p>
          <a:p>
            <a:r>
              <a:t>v0 표본 증분 색인에서는 상담 1건의 본문을 고치고 혜택 청크 1개를 뺐습니다. K7은 옛 청크 노드 5개와 고아 엔티티 33개를 지웠고, 그 뒤 검증에서 검색엔진 청크 9개와 청크 노드 9개가 맞았습니다. 전체 재색인은 새 세대에 처음부터 쓰므로 지울 옛 청크가 없어 K7을 부르지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레슨명">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C53F5F21-2B28-AE43-9DA2-A7B0FC6B0A24}"/>
              </a:ext>
            </a:extLst>
          </p:cNvPr>
          <p:cNvSpPr>
            <a:spLocks noGrp="1"/>
          </p:cNvSpPr>
          <p:nvPr>
            <p:ph type="body" idx="11" hasCustomPrompt="1"/>
          </p:nvPr>
        </p:nvSpPr>
        <p:spPr>
          <a:xfrm>
            <a:off x="1611630" y="3782402"/>
            <a:ext cx="11407140" cy="664797"/>
          </a:xfrm>
          <a:prstGeom prst="rect">
            <a:avLst/>
          </a:prstGeom>
        </p:spPr>
        <p:txBody>
          <a:bodyPr lIns="0" tIns="0" rIns="0" bIns="0" anchor="ctr">
            <a:spAutoFit/>
          </a:bodyPr>
          <a:lstStyle>
            <a:lvl1pPr marL="0" indent="0">
              <a:buNone/>
              <a:defRPr sz="4320" b="1" i="0">
                <a:solidFill>
                  <a:srgbClr val="00BBFF"/>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레슨 명</a:t>
            </a:r>
            <a:endParaRPr sz="4320" b="1" i="0" u="none" kern="1200" cap="none" spc="0" baseline="0">
              <a:ln>
                <a:noFill/>
              </a:ln>
              <a:solidFill>
                <a:prstClr val="black"/>
              </a:solidFill>
              <a:latin typeface="Pretendard SemiBold"/>
              <a:ea typeface="Pretendard SemiBold"/>
              <a:cs typeface="Pretendard SemiBold"/>
            </a:endParaRPr>
          </a:p>
        </p:txBody>
      </p:sp>
      <p:sp>
        <p:nvSpPr>
          <p:cNvPr id="3" name="텍스트 개체 틀 2">
            <a:extLst>
              <a:ext uri="{FF2B5EF4-FFF2-40B4-BE49-F238E27FC236}">
                <a16:creationId xmlns:a16="http://schemas.microsoft.com/office/drawing/2014/main" id="{6B1DDAFE-F754-ED4C-B038-38E623E81867}"/>
              </a:ext>
            </a:extLst>
          </p:cNvPr>
          <p:cNvSpPr>
            <a:spLocks noGrp="1"/>
          </p:cNvSpPr>
          <p:nvPr>
            <p:ph type="body" idx="12" hasCustomPrompt="1"/>
          </p:nvPr>
        </p:nvSpPr>
        <p:spPr>
          <a:xfrm>
            <a:off x="445772" y="444907"/>
            <a:ext cx="4406264"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강의명</a:t>
            </a:r>
          </a:p>
        </p:txBody>
      </p:sp>
      <p:sp>
        <p:nvSpPr>
          <p:cNvPr id="10" name="텍스트 개체 틀 2">
            <a:extLst>
              <a:ext uri="{FF2B5EF4-FFF2-40B4-BE49-F238E27FC236}">
                <a16:creationId xmlns:a16="http://schemas.microsoft.com/office/drawing/2014/main" id="{B2EE320A-D5D4-304E-92E5-242A401C379F}"/>
              </a:ext>
            </a:extLst>
          </p:cNvPr>
          <p:cNvSpPr>
            <a:spLocks noGrp="1"/>
          </p:cNvSpPr>
          <p:nvPr>
            <p:ph type="body" idx="13" hasCustomPrompt="1"/>
          </p:nvPr>
        </p:nvSpPr>
        <p:spPr>
          <a:xfrm>
            <a:off x="5113022" y="444907"/>
            <a:ext cx="9071608"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SECTION 명</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A95BA6E2-9490-4840-A13F-92DB906B9C4B}"/>
              </a:ext>
            </a:extLst>
          </p:cNvPr>
          <p:cNvSpPr>
            <a:spLocks noGrp="1"/>
          </p:cNvSpPr>
          <p:nvPr>
            <p:ph type="sldNum" idx="4"/>
          </p:nvPr>
        </p:nvSpPr>
        <p:spPr>
          <a:xfrm>
            <a:off x="6045200" y="7775887"/>
            <a:ext cx="2540000" cy="251795"/>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a:ea typeface="Pretendard"/>
                <a:cs typeface="Pretendard"/>
              </a:defRPr>
            </a:lvl1pPr>
          </a:lstStyle>
          <a:p>
            <a:fld id="{6D069905-AE10-E849-B625-D412908E376F}" type="slidenum">
              <a:t>‹#›</a:t>
            </a:fld>
            <a:endParaRPr>
              <a:latin typeface="Pretendard"/>
              <a:ea typeface="Pretendard"/>
              <a:cs typeface="Pretendar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내용_단쪽">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1F567C2C-E8FD-074C-9A88-0B27279F61F3}"/>
              </a:ext>
            </a:extLst>
          </p:cNvPr>
          <p:cNvSpPr>
            <a:spLocks noGrp="1"/>
          </p:cNvSpPr>
          <p:nvPr>
            <p:ph type="title" hasCustomPrompt="1"/>
          </p:nvPr>
        </p:nvSpPr>
        <p:spPr>
          <a:xfrm>
            <a:off x="509567" y="99294"/>
            <a:ext cx="13738860" cy="828899"/>
          </a:xfrm>
          <a:prstGeom prst="rect">
            <a:avLst/>
          </a:prstGeom>
        </p:spPr>
        <p:txBody>
          <a:bodyPr wrap="square" lIns="0" tIns="180000" rIns="0" bIns="180000">
            <a:spAutoFit/>
          </a:bodyPr>
          <a:lstStyle>
            <a:lvl1pPr>
              <a:buNone/>
              <a:defRPr sz="3200" b="1" i="0" baseline="0">
                <a:latin typeface="Pretendard"/>
                <a:ea typeface="Pretendard"/>
                <a:cs typeface="Pretendard"/>
              </a:defRPr>
            </a:lvl1pPr>
          </a:lstStyle>
          <a:p>
            <a:r>
              <a:rPr dirty="0" err="1"/>
              <a:t>파트별</a:t>
            </a:r>
            <a:r>
              <a:rPr dirty="0"/>
              <a:t> </a:t>
            </a:r>
            <a:r>
              <a:rPr dirty="0" err="1"/>
              <a:t>소제목</a:t>
            </a:r>
            <a:endParaRPr dirty="0"/>
          </a:p>
        </p:txBody>
      </p:sp>
      <p:sp>
        <p:nvSpPr>
          <p:cNvPr id="2" name="슬라이드 번호 개체 틀 5">
            <a:extLst>
              <a:ext uri="{FF2B5EF4-FFF2-40B4-BE49-F238E27FC236}">
                <a16:creationId xmlns:a16="http://schemas.microsoft.com/office/drawing/2014/main" id="{3DDA118C-05D5-6480-770D-EAA836890B0F}"/>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
        <p:nvSpPr>
          <p:cNvPr id="3" name="Shape 2">
            <a:extLst>
              <a:ext uri="{FF2B5EF4-FFF2-40B4-BE49-F238E27FC236}">
                <a16:creationId xmlns:a16="http://schemas.microsoft.com/office/drawing/2014/main" id="{407103BA-706F-CD5E-5D8C-CDBB2EFB70F6}"/>
              </a:ext>
            </a:extLst>
          </p:cNvPr>
          <p:cNvSpPr>
            <a:spLocks noGrp="1"/>
          </p:cNvSpPr>
          <p:nvPr/>
        </p:nvSpPr>
        <p:spPr>
          <a:xfrm>
            <a:off x="508406" y="868680"/>
            <a:ext cx="13613587" cy="0"/>
          </a:xfrm>
          <a:prstGeom prst="line">
            <a:avLst/>
          </a:prstGeom>
          <a:noFill/>
          <a:ln w="19050">
            <a:solidFill>
              <a:srgbClr val="E2E8F0"/>
            </a:solidFill>
            <a:prstDash val="solid"/>
          </a:ln>
        </p:spPr>
        <p:txBody>
          <a:bodyPr/>
          <a:lstStyle/>
          <a:p>
            <a:endParaRPr>
              <a:latin typeface="Pretendard"/>
              <a:ea typeface="Pretendard"/>
              <a:cs typeface="Pretendar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775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명_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04010" y="3657770"/>
            <a:ext cx="11414760" cy="810204"/>
          </a:xfrm>
          <a:prstGeom prst="rect">
            <a:avLst/>
          </a:prstGeom>
        </p:spPr>
        <p:txBody>
          <a:bodyPr lIns="0" tIns="144000" rIns="0" bIns="0">
            <a:spAutoFit/>
          </a:bodyPr>
          <a:lstStyle>
            <a:lvl1pPr marL="0" indent="0">
              <a:buNone/>
              <a:defRPr sz="4320" b="1"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SECTION명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30" y="3288438"/>
            <a:ext cx="11414760" cy="369332"/>
          </a:xfrm>
          <a:prstGeom prst="rect">
            <a:avLst/>
          </a:prstGeom>
        </p:spPr>
        <p:txBody>
          <a:bodyPr wrap="square" lIns="0" tIns="0" rIns="0" bIns="0">
            <a:spAutoFit/>
          </a:bodyPr>
          <a:lstStyle>
            <a:lvl1pPr marL="0" indent="0">
              <a:buNone/>
              <a:defRPr sz="2400" b="0"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강의명</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4322BDAA-AE1F-425D-83AC-D8E534CCB60C}"/>
              </a:ext>
            </a:extLst>
          </p:cNvPr>
          <p:cNvSpPr>
            <a:spLocks noGrp="1"/>
          </p:cNvSpPr>
          <p:nvPr>
            <p:ph type="sldNum" idx="4"/>
          </p:nvPr>
        </p:nvSpPr>
        <p:spPr>
          <a:xfrm>
            <a:off x="6045200" y="7787640"/>
            <a:ext cx="2540000" cy="228288"/>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Medium"/>
                <a:ea typeface="Pretendard Medium"/>
                <a:cs typeface="Pretendard Medium"/>
              </a:defRPr>
            </a:lvl1pPr>
          </a:lstStyle>
          <a:p>
            <a:fld id="{6D069905-AE10-E849-B625-D412908E376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3.xml"/><Relationship Id="rId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791BBE-66E3-4442-970C-F4A0E0147611}"/>
              </a:ext>
            </a:extLst>
          </p:cNvPr>
          <p:cNvSpPr>
            <a:spLocks noGrp="1"/>
          </p:cNvSpPr>
          <p:nvPr/>
        </p:nvSpPr>
        <p:spPr>
          <a:xfrm>
            <a:off x="445771" y="7787686"/>
            <a:ext cx="1531573" cy="247139"/>
          </a:xfrm>
          <a:prstGeom prst="rect">
            <a:avLst/>
          </a:prstGeom>
        </p:spPr>
        <p:txBody>
          <a:bodyPr vert="horz" lIns="0" tIns="43200" rIns="0" bIns="0" anchor="ctr">
            <a:spAutoFit/>
          </a:bodyPr>
          <a:lstStyle>
            <a:lvl1pPr marR="0" indent="0">
              <a:lnSpc>
                <a:spcPct val="120000"/>
              </a:lnSpc>
              <a:spcBef>
                <a:spcPts val="0"/>
              </a:spcBef>
              <a:spcAft>
                <a:spcPts val="0"/>
              </a:spcAft>
              <a:buClrTx/>
              <a:buSzTx/>
              <a:buFontTx/>
              <a:buNone/>
              <a:defRPr sz="1000" b="0" i="0">
                <a:ln w="5080">
                  <a:noFill/>
                </a:ln>
                <a:solidFill>
                  <a:srgbClr val="E7E6E6">
                    <a:lumMod val="75000"/>
                  </a:srgbClr>
                </a:solidFill>
                <a:latin typeface="Pretendard"/>
                <a:ea typeface="Pretendard"/>
                <a:cs typeface="Pretendard"/>
              </a:defRPr>
            </a:lvl1pPr>
          </a:lstStyle>
          <a:p>
            <a:pPr lvl="0">
              <a:buNone/>
            </a:pPr>
            <a:r>
              <a:rPr sz="1200" b="0" i="0">
                <a:latin typeface="Pretendard"/>
                <a:ea typeface="Pretendard"/>
                <a:cs typeface="Pretendard"/>
              </a:rPr>
              <a:t>무단전재 및 배포 금지</a:t>
            </a:r>
          </a:p>
        </p:txBody>
      </p:sp>
      <p:sp>
        <p:nvSpPr>
          <p:cNvPr id="2" name="슬라이드 번호 개체 틀 5">
            <a:extLst>
              <a:ext uri="{FF2B5EF4-FFF2-40B4-BE49-F238E27FC236}">
                <a16:creationId xmlns:a16="http://schemas.microsoft.com/office/drawing/2014/main" id="{05222549-9B6D-AE4D-BB3C-20284003EA23}"/>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Tree>
  </p:cSld>
  <p:clrMap bg1="lt1" tx1="dk1" bg2="lt2" tx2="dk2" accent1="accent1" accent2="accent2" accent3="accent3" accent4="accent4" accent5="accent5" accent6="accent6" hlink="hlink" folHlink="folHlink"/>
  <p:sldLayoutIdLst>
    <p:sldLayoutId id="2147483654" r:id="rId1"/>
    <p:sldLayoutId id="2147483661"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69" userDrawn="1">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그림 3"/>
          <p:cNvPicPr>
            <a:picLocks noChangeAspect="1"/>
          </p:cNvPicPr>
          <p:nvPr/>
        </p:nvPicPr>
        <p:blipFill>
          <a:blip r:embed="rId3"/>
          <a:stretch>
            <a:fillRect/>
          </a:stretch>
        </p:blipFill>
        <p:spPr>
          <a:xfrm>
            <a:off x="0" y="0"/>
            <a:ext cx="14630400" cy="8229600"/>
          </a:xfrm>
          <a:prstGeom prst="rect">
            <a:avLst/>
          </a:prstGeom>
        </p:spPr>
      </p:pic>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85000"/>
                  </a:schemeClr>
                </a:solidFill>
                <a:latin typeface="Pretendard"/>
                <a:ea typeface="Pretendard"/>
                <a:cs typeface="Pretendard"/>
              </a:rPr>
              <a:t>유니콘 주식회사</a:t>
            </a:r>
          </a:p>
          <a:p>
            <a:pPr algn="l">
              <a:lnSpc>
                <a:spcPct val="120000"/>
              </a:lnSpc>
              <a:buNone/>
            </a:pPr>
            <a:r>
              <a:rPr sz="1260">
                <a:ln w="5080">
                  <a:noFill/>
                </a:ln>
                <a:solidFill>
                  <a:schemeClr val="bg1">
                    <a:lumMod val="85000"/>
                  </a:schemeClr>
                </a:solidFill>
                <a:latin typeface="Pretendard"/>
                <a:ea typeface="Pretendard"/>
                <a:cs typeface="Pretendard"/>
              </a:rPr>
              <a:t>Copyright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99F470B4-9F94-4342-A82F-FD10569135EF}"/>
              </a:ext>
            </a:extLst>
          </p:cNvPr>
          <p:cNvSpPr>
            <a:spLocks noGrp="1"/>
          </p:cNvSpPr>
          <p:nvPr/>
        </p:nvSpPr>
        <p:spPr>
          <a:xfrm>
            <a:off x="0" y="0"/>
            <a:ext cx="14630400" cy="8229600"/>
          </a:xfrm>
          <a:prstGeom prst="rect">
            <a:avLst/>
          </a:prstGeom>
          <a:solidFill>
            <a:srgbClr val="00BB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160"/>
          </a:p>
        </p:txBody>
      </p:sp>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95000"/>
                  </a:schemeClr>
                </a:solidFill>
                <a:latin typeface="Pretendard"/>
                <a:ea typeface="Pretendard"/>
                <a:cs typeface="Pretendard"/>
              </a:rPr>
              <a:t>유니콘 주식회사</a:t>
            </a:r>
          </a:p>
          <a:p>
            <a:pPr algn="l">
              <a:lnSpc>
                <a:spcPct val="120000"/>
              </a:lnSpc>
              <a:buNone/>
            </a:pPr>
            <a:r>
              <a:rPr sz="1260">
                <a:ln w="5080">
                  <a:noFill/>
                </a:ln>
                <a:solidFill>
                  <a:schemeClr val="bg1">
                    <a:lumMod val="95000"/>
                  </a:schemeClr>
                </a:solidFill>
                <a:latin typeface="Pretendard"/>
                <a:ea typeface="Pretendard"/>
                <a:cs typeface="Pretendard"/>
              </a:rPr>
              <a:t>Copyright ⓒ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neo4j.com/docs/neo4j-graphrag-python/current/user_guide_kg_builder.html" TargetMode="External"/><Relationship Id="rId4" Type="http://schemas.openxmlformats.org/officeDocument/2006/relationships/hyperlink" Target="https://neo4j.com/labs/genai-ecosystem/llm-graph-builder-features/" TargetMode="External"/><Relationship Id="rId5" Type="http://schemas.openxmlformats.org/officeDocument/2006/relationships/hyperlink" Target="https://protege.stanford.edu/publications/ontology_development/ontology101-noy-mcguinness.html" TargetMode="External"/><Relationship Id="rId6" Type="http://schemas.openxmlformats.org/officeDocument/2006/relationships/hyperlink" Target="https://journals.plos.org/plosone/article?id=10.1371/journal.pone.023207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464AA2DC-4F49-A8BE-997C-85889A420445}"/>
              </a:ext>
            </a:extLst>
          </p:cNvPr>
          <p:cNvSpPr>
            <a:spLocks noGrp="1"/>
          </p:cNvSpPr>
          <p:nvPr>
            <p:ph type="body" idx="11"/>
          </p:nvPr>
        </p:nvSpPr>
        <p:spPr/>
        <p:txBody>
          <a:bodyPr/>
          <a:lstStyle/>
          <a:p>
            <a:pPr>
              <a:spcBef>
                <a:spcPct val="0"/>
              </a:spcBef>
              <a:spcAft>
                <a:spcPts val="600"/>
              </a:spcAft>
              <a:buNone/>
            </a:pPr>
            <a:r>
              <a:rPr sz="4400">
                <a:solidFill>
                  <a:schemeClr val="tx2"/>
                </a:solidFill>
                <a:latin typeface="Pretendard"/>
                <a:ea typeface="Pretendard"/>
                <a:cs typeface="Pretendard"/>
              </a:rPr>
              <a:t>하이브리드 AI</a:t>
            </a:r>
          </a:p>
        </p:txBody>
      </p:sp>
      <p:sp>
        <p:nvSpPr>
          <p:cNvPr id="3" name="텍스트 개체 틀 2">
            <a:extLst>
              <a:ext uri="{FF2B5EF4-FFF2-40B4-BE49-F238E27FC236}">
                <a16:creationId xmlns:a16="http://schemas.microsoft.com/office/drawing/2014/main" id="{02329C88-E591-743C-2574-E964D0BECE78}"/>
              </a:ext>
            </a:extLst>
          </p:cNvPr>
          <p:cNvSpPr>
            <a:spLocks noGrp="1"/>
          </p:cNvSpPr>
          <p:nvPr>
            <p:ph type="body" idx="12"/>
          </p:nvPr>
        </p:nvSpPr>
        <p:spPr/>
        <p:txBody>
          <a:bodyPr/>
          <a:lstStyle/>
          <a:p>
            <a:r>
              <a:rPr>
                <a:latin typeface="Pretendard"/>
                <a:ea typeface="Pretendard"/>
                <a:cs typeface="Pretendard"/>
              </a:rPr>
              <a:t>이해경</a:t>
            </a:r>
          </a:p>
        </p:txBody>
      </p:sp>
      <p:sp>
        <p:nvSpPr>
          <p:cNvPr id="5" name="슬라이드 번호 개체 틀 4">
            <a:extLst>
              <a:ext uri="{FF2B5EF4-FFF2-40B4-BE49-F238E27FC236}">
                <a16:creationId xmlns:a16="http://schemas.microsoft.com/office/drawing/2014/main" id="{65CE93DE-2CF1-BF92-9461-43536283E35E}"/>
              </a:ext>
            </a:extLst>
          </p:cNvPr>
          <p:cNvSpPr>
            <a:spLocks noGrp="1"/>
          </p:cNvSpPr>
          <p:nvPr>
            <p:ph type="sldNum" idx="4"/>
          </p:nvPr>
        </p:nvSpPr>
        <p:spPr/>
        <p:txBody>
          <a:bodyPr/>
          <a:lstStyle/>
          <a:p>
            <a:fld id="{6D069905-AE10-E849-B625-D412908E376F}" type="slidenum">
              <a:rPr/>
              <a:t>1</a:t>
            </a:fld>
            <a:endParaRPr/>
          </a:p>
        </p:txBody>
      </p:sp>
    </p:spTree>
    <p:extLst>
      <p:ext uri="{BB962C8B-B14F-4D97-AF65-F5344CB8AC3E}">
        <p14:creationId xmlns:p14="http://schemas.microsoft.com/office/powerpoint/2010/main" val="60577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0FE21C8-ED30-4AA4-B152-A0F1CFBD0DB6}"/>
              </a:ext>
            </a:extLst>
          </p:cNvPr>
          <p:cNvSpPr>
            <a:spLocks noGrp="1"/>
          </p:cNvSpPr>
          <p:nvPr/>
        </p:nvSpPr>
        <p:spPr>
          <a:xfrm>
            <a:off x="0" y="0"/>
            <a:ext cx="73152" cy="8229600"/>
          </a:xfrm>
          <a:prstGeom prst="rect">
            <a:avLst/>
          </a:prstGeom>
          <a:solidFill>
            <a:srgbClr val="059669"/>
          </a:solidFill>
          <a:ln w="12700">
            <a:solidFill>
              <a:srgbClr val="059669"/>
            </a:solidFill>
            <a:prstDash val="solid"/>
          </a:ln>
        </p:spPr>
        <p:txBody>
          <a:bodyPr/>
          <a:lstStyle/>
          <a:p>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3" name="Shape 1">
            <a:extLst>
              <a:ext uri="{FF2B5EF4-FFF2-40B4-BE49-F238E27FC236}">
                <a16:creationId xmlns:a16="http://schemas.microsoft.com/office/drawing/2014/main" id="{A1353121-BE1A-464B-8D36-581CD023390C}"/>
              </a:ext>
            </a:extLst>
          </p:cNvPr>
          <p:cNvSpPr>
            <a:spLocks noGrp="1"/>
          </p:cNvSpPr>
          <p:nvPr/>
        </p:nvSpPr>
        <p:spPr>
          <a:xfrm>
            <a:off x="512064" y="432093"/>
            <a:ext cx="1053389" cy="409651"/>
          </a:xfrm>
          <a:prstGeom prst="roundRect">
            <a:avLst>
              <a:gd name="adj" fmla="val 17857"/>
            </a:avLst>
          </a:prstGeom>
          <a:solidFill>
            <a:srgbClr val="0D9488"/>
          </a:solidFill>
          <a:ln w="12700">
            <a:solidFill>
              <a:srgbClr val="0D9488"/>
            </a:solidFill>
            <a:prstDash val="solid"/>
          </a:ln>
        </p:spPr>
        <p:txBody>
          <a:bodyPr/>
          <a:lstStyle/>
          <a:p>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4" name="Text 2">
            <a:extLst>
              <a:ext uri="{FF2B5EF4-FFF2-40B4-BE49-F238E27FC236}">
                <a16:creationId xmlns:a16="http://schemas.microsoft.com/office/drawing/2014/main" id="{07E7D621-647F-4256-AB0D-3632F5D86654}"/>
              </a:ext>
            </a:extLst>
          </p:cNvPr>
          <p:cNvSpPr>
            <a:spLocks noGrp="1"/>
          </p:cNvSpPr>
          <p:nvPr/>
        </p:nvSpPr>
        <p:spPr>
          <a:xfrm>
            <a:off x="512064" y="432093"/>
            <a:ext cx="1053389" cy="409651"/>
          </a:xfrm>
          <a:prstGeom prst="rect">
            <a:avLst/>
          </a:prstGeom>
          <a:noFill/>
        </p:spPr>
        <p:txBody>
          <a:bodyPr wrap="square" lIns="0" tIns="0" rIns="0" bIns="0" anchor="ctr"/>
          <a:lstStyle/>
          <a:p>
            <a:pPr marL="0" marR="0" lvl="0" indent="0" algn="ctr" defTabSz="914400">
              <a:lnSpc>
                <a:spcPct val="100000"/>
              </a:lnSpc>
              <a:spcBef>
                <a:spcPts val="0"/>
              </a:spcBef>
              <a:spcAft>
                <a:spcPts val="0"/>
              </a:spcAft>
              <a:buClrTx/>
              <a:buSzTx/>
              <a:buFontTx/>
              <a:buNone/>
            </a:pPr>
            <a:r>
              <a:rPr sz="1920" b="1" i="0" u="none" cap="none" spc="0">
                <a:ln>
                  <a:noFill/>
                </a:ln>
                <a:solidFill>
                  <a:srgbClr val="FFFFFF"/>
                </a:solidFill>
                <a:latin typeface="Pretendard"/>
                <a:ea typeface="Pretendard"/>
                <a:cs typeface="Pretendard"/>
              </a:rPr>
              <a:t>목차</a:t>
            </a:r>
            <a:endParaRPr sz="1920" b="0" i="0" u="none" kern="1200" cap="none" spc="0" baseline="0">
              <a:ln>
                <a:noFill/>
              </a:ln>
              <a:solidFill>
                <a:prstClr val="black"/>
              </a:solidFill>
              <a:latin typeface="Pretendard"/>
              <a:ea typeface="Pretendard"/>
              <a:cs typeface="Pretendard"/>
            </a:endParaRPr>
          </a:p>
        </p:txBody>
      </p:sp>
      <p:sp>
        <p:nvSpPr>
          <p:cNvPr id="5" name="Text 3">
            <a:extLst>
              <a:ext uri="{FF2B5EF4-FFF2-40B4-BE49-F238E27FC236}">
                <a16:creationId xmlns:a16="http://schemas.microsoft.com/office/drawing/2014/main" id="{1FF04A50-71F2-4315-A774-300607666E96}"/>
              </a:ext>
            </a:extLst>
          </p:cNvPr>
          <p:cNvSpPr>
            <a:spLocks noGrp="1"/>
          </p:cNvSpPr>
          <p:nvPr/>
        </p:nvSpPr>
        <p:spPr>
          <a:xfrm>
            <a:off x="1726387" y="248717"/>
            <a:ext cx="11704320" cy="790042"/>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ko-KR" altLang="en-US" sz="4000" kern="1200" baseline="0" dirty="0">
                <a:solidFill>
                  <a:prstClr val="black"/>
                </a:solidFill>
                <a:latin typeface="Pretendard"/>
                <a:ea typeface="Pretendard"/>
                <a:cs typeface="Pretendard"/>
              </a:rPr>
              <a:t>하이브리드 </a:t>
            </a:r>
            <a:r>
              <a:rPr lang="en-US" altLang="ko-KR" sz="4000" kern="1200" baseline="0" dirty="0">
                <a:solidFill>
                  <a:prstClr val="black"/>
                </a:solidFill>
                <a:latin typeface="Pretendard"/>
                <a:ea typeface="Pretendard"/>
                <a:cs typeface="Pretendard"/>
              </a:rPr>
              <a:t>AI</a:t>
            </a:r>
            <a:endParaRPr sz="4000" b="0" i="0" u="none" kern="1200" cap="none" spc="0" baseline="0" dirty="0">
              <a:ln>
                <a:noFill/>
              </a:ln>
              <a:solidFill>
                <a:prstClr val="black"/>
              </a:solidFill>
              <a:latin typeface="Pretendard"/>
              <a:ea typeface="Pretendard"/>
              <a:cs typeface="Pretendard"/>
            </a:endParaRPr>
          </a:p>
        </p:txBody>
      </p:sp>
      <p:sp>
        <p:nvSpPr>
          <p:cNvPr id="6" name="Shape 4">
            <a:extLst>
              <a:ext uri="{FF2B5EF4-FFF2-40B4-BE49-F238E27FC236}">
                <a16:creationId xmlns:a16="http://schemas.microsoft.com/office/drawing/2014/main" id="{93861300-6944-4703-A964-390739B2E4D6}"/>
              </a:ext>
            </a:extLst>
          </p:cNvPr>
          <p:cNvSpPr>
            <a:spLocks noGrp="1"/>
          </p:cNvSpPr>
          <p:nvPr/>
        </p:nvSpPr>
        <p:spPr>
          <a:xfrm>
            <a:off x="512064" y="1243584"/>
            <a:ext cx="13606272" cy="0"/>
          </a:xfrm>
          <a:prstGeom prst="line">
            <a:avLst/>
          </a:prstGeom>
          <a:noFill/>
          <a:ln w="19050">
            <a:solidFill>
              <a:srgbClr val="E2E8F0"/>
            </a:solidFill>
            <a:prstDash val="solid"/>
          </a:ln>
        </p:spPr>
        <p:txBody>
          <a:bodyPr/>
          <a:lstStyle/>
          <a:p>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7" name="Shape 5">
            <a:extLst>
              <a:ext uri="{FF2B5EF4-FFF2-40B4-BE49-F238E27FC236}">
                <a16:creationId xmlns:a16="http://schemas.microsoft.com/office/drawing/2014/main" id="{0567D871-3334-40AE-8A33-464F91B97D00}"/>
              </a:ext>
            </a:extLst>
          </p:cNvPr>
          <p:cNvSpPr>
            <a:spLocks noGrp="1"/>
          </p:cNvSpPr>
          <p:nvPr/>
        </p:nvSpPr>
        <p:spPr>
          <a:xfrm>
            <a:off x="5666428" y="1419149"/>
            <a:ext cx="0" cy="6217920"/>
          </a:xfrm>
          <a:prstGeom prst="line">
            <a:avLst/>
          </a:prstGeom>
          <a:noFill/>
          <a:ln w="12700">
            <a:solidFill>
              <a:srgbClr val="E2E8F0"/>
            </a:solidFill>
            <a:prstDash val="solid"/>
          </a:ln>
        </p:spPr>
        <p:txBody>
          <a:bodyPr/>
          <a:lstStyle/>
          <a:p>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8" name="Shape 6">
            <a:extLst>
              <a:ext uri="{FF2B5EF4-FFF2-40B4-BE49-F238E27FC236}">
                <a16:creationId xmlns:a16="http://schemas.microsoft.com/office/drawing/2014/main" id="{852DD2F2-9BF8-4A63-A10E-4FBCB7DCBCE9}"/>
              </a:ext>
            </a:extLst>
          </p:cNvPr>
          <p:cNvSpPr>
            <a:spLocks noGrp="1"/>
          </p:cNvSpPr>
          <p:nvPr/>
        </p:nvSpPr>
        <p:spPr>
          <a:xfrm>
            <a:off x="512064" y="1419149"/>
            <a:ext cx="73152" cy="438912"/>
          </a:xfrm>
          <a:prstGeom prst="rect">
            <a:avLst/>
          </a:prstGeom>
          <a:solidFill>
            <a:srgbClr val="059669"/>
          </a:solidFill>
          <a:ln w="12700">
            <a:solidFill>
              <a:srgbClr val="059669"/>
            </a:solidFill>
            <a:prstDash val="solid"/>
          </a:ln>
        </p:spPr>
        <p:txBody>
          <a:bodyPr/>
          <a:lstStyle/>
          <a:p>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9" name="Text 7">
            <a:extLst>
              <a:ext uri="{FF2B5EF4-FFF2-40B4-BE49-F238E27FC236}">
                <a16:creationId xmlns:a16="http://schemas.microsoft.com/office/drawing/2014/main" id="{7015F9DF-BF64-47C4-A730-735ABA9985B5}"/>
              </a:ext>
            </a:extLst>
          </p:cNvPr>
          <p:cNvSpPr>
            <a:spLocks noGrp="1"/>
          </p:cNvSpPr>
          <p:nvPr/>
        </p:nvSpPr>
        <p:spPr>
          <a:xfrm>
            <a:off x="687629" y="1419149"/>
            <a:ext cx="2926080" cy="438912"/>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en-US" altLang="ko-KR" sz="2240" b="1" i="0" u="none" cap="none" spc="0" dirty="0">
                <a:ln>
                  <a:noFill/>
                </a:ln>
                <a:solidFill>
                  <a:srgbClr val="2C2926"/>
                </a:solidFill>
                <a:latin typeface="Pretendard"/>
                <a:ea typeface="Pretendard"/>
                <a:cs typeface="Pretendard"/>
              </a:rPr>
              <a:t>5</a:t>
            </a:r>
            <a:r>
              <a:rPr lang="ko-KR" altLang="en-US" sz="2240" b="1" i="0" u="none" cap="none" spc="0" dirty="0">
                <a:ln>
                  <a:noFill/>
                </a:ln>
                <a:solidFill>
                  <a:srgbClr val="2C2926"/>
                </a:solidFill>
                <a:latin typeface="Pretendard"/>
                <a:ea typeface="Pretendard"/>
                <a:cs typeface="Pretendard"/>
              </a:rPr>
              <a:t>주차 커리큘럼</a:t>
            </a:r>
            <a:endParaRPr sz="2240" b="0" i="0" u="none" kern="1200" cap="none" spc="0" baseline="0" dirty="0">
              <a:ln>
                <a:noFill/>
              </a:ln>
              <a:solidFill>
                <a:prstClr val="black"/>
              </a:solidFill>
              <a:latin typeface="Pretendard"/>
              <a:ea typeface="Pretendard"/>
              <a:cs typeface="Pretendard"/>
            </a:endParaRPr>
          </a:p>
        </p:txBody>
      </p:sp>
      <p:sp>
        <p:nvSpPr>
          <p:cNvPr id="18" name="Shape 16">
            <a:extLst>
              <a:ext uri="{FF2B5EF4-FFF2-40B4-BE49-F238E27FC236}">
                <a16:creationId xmlns:a16="http://schemas.microsoft.com/office/drawing/2014/main" id="{71C5816B-7B3D-49B4-967A-CE5D1AF4F793}"/>
              </a:ext>
            </a:extLst>
          </p:cNvPr>
          <p:cNvSpPr>
            <a:spLocks noGrp="1"/>
          </p:cNvSpPr>
          <p:nvPr/>
        </p:nvSpPr>
        <p:spPr>
          <a:xfrm>
            <a:off x="5930251" y="1419149"/>
            <a:ext cx="73152" cy="438912"/>
          </a:xfrm>
          <a:prstGeom prst="rect">
            <a:avLst/>
          </a:prstGeom>
          <a:solidFill>
            <a:srgbClr val="0D9488"/>
          </a:solidFill>
          <a:ln w="12700">
            <a:solidFill>
              <a:srgbClr val="0D9488"/>
            </a:solidFill>
            <a:prstDash val="solid"/>
          </a:ln>
        </p:spPr>
        <p:txBody>
          <a:bodyPr/>
          <a:lstStyle/>
          <a:p>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19" name="Text 17">
            <a:extLst>
              <a:ext uri="{FF2B5EF4-FFF2-40B4-BE49-F238E27FC236}">
                <a16:creationId xmlns:a16="http://schemas.microsoft.com/office/drawing/2014/main" id="{054F230C-01E6-45E1-9A27-5E57050C0CC1}"/>
              </a:ext>
            </a:extLst>
          </p:cNvPr>
          <p:cNvSpPr>
            <a:spLocks noGrp="1"/>
          </p:cNvSpPr>
          <p:nvPr/>
        </p:nvSpPr>
        <p:spPr>
          <a:xfrm>
            <a:off x="6105816" y="1419149"/>
            <a:ext cx="2926080" cy="438912"/>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ko-KR" altLang="en-US" sz="2240" b="1" dirty="0">
                <a:solidFill>
                  <a:srgbClr val="2C2926"/>
                </a:solidFill>
                <a:latin typeface="Pretendard"/>
                <a:ea typeface="Pretendard"/>
                <a:cs typeface="Pretendard"/>
              </a:rPr>
              <a:t>전체 </a:t>
            </a:r>
            <a:r>
              <a:rPr sz="2240" b="1" i="0" u="none" cap="none" spc="0" dirty="0" err="1">
                <a:ln>
                  <a:noFill/>
                </a:ln>
                <a:solidFill>
                  <a:srgbClr val="2C2926"/>
                </a:solidFill>
                <a:latin typeface="Pretendard"/>
                <a:ea typeface="Pretendard"/>
                <a:cs typeface="Pretendard"/>
              </a:rPr>
              <a:t>커리큘럼</a:t>
            </a:r>
            <a:endParaRPr sz="2240" b="0" i="0" u="none" kern="1200" cap="none" spc="0" baseline="0" dirty="0">
              <a:ln>
                <a:noFill/>
              </a:ln>
              <a:solidFill>
                <a:prstClr val="black"/>
              </a:solidFill>
              <a:latin typeface="Pretendard"/>
              <a:ea typeface="Pretendard"/>
              <a:cs typeface="Pretendard"/>
            </a:endParaRPr>
          </a:p>
        </p:txBody>
      </p:sp>
      <p:grpSp>
        <p:nvGrpSpPr>
          <p:cNvPr id="40" name="그룹 39">
            <a:extLst>
              <a:ext uri="{FF2B5EF4-FFF2-40B4-BE49-F238E27FC236}">
                <a16:creationId xmlns:a16="http://schemas.microsoft.com/office/drawing/2014/main" id="{0D90DBA3-9756-D440-31AF-A7AE876BFD8B}"/>
              </a:ext>
            </a:extLst>
          </p:cNvPr>
          <p:cNvGrpSpPr/>
          <p:nvPr/>
        </p:nvGrpSpPr>
        <p:grpSpPr>
          <a:xfrm>
            <a:off x="512065" y="2253606"/>
            <a:ext cx="4684043" cy="720000"/>
            <a:chOff x="6993331" y="2048256"/>
            <a:chExt cx="7125005" cy="720000"/>
          </a:xfrm>
        </p:grpSpPr>
        <p:sp>
          <p:nvSpPr>
            <p:cNvPr id="20" name="Shape 18">
              <a:extLst>
                <a:ext uri="{FF2B5EF4-FFF2-40B4-BE49-F238E27FC236}">
                  <a16:creationId xmlns:a16="http://schemas.microsoft.com/office/drawing/2014/main" id="{70457092-F2B3-453B-9C82-6BC8244AC767}"/>
                </a:ext>
              </a:extLst>
            </p:cNvPr>
            <p:cNvSpPr>
              <a:spLocks/>
            </p:cNvSpPr>
            <p:nvPr/>
          </p:nvSpPr>
          <p:spPr>
            <a:xfrm>
              <a:off x="6993331" y="2048256"/>
              <a:ext cx="7125005" cy="720000"/>
            </a:xfrm>
            <a:prstGeom prst="roundRect">
              <a:avLst>
                <a:gd name="adj" fmla="val 12000"/>
              </a:avLst>
            </a:prstGeom>
            <a:solidFill>
              <a:srgbClr val="FFFFFF"/>
            </a:solidFill>
            <a:ln w="12700">
              <a:solidFill>
                <a:srgbClr val="DDDDE0"/>
              </a:solidFill>
              <a:prstDash val="solid"/>
            </a:ln>
            <a:effectLst>
              <a:outerShdw blurRad="63500" dist="12700" dir="8100000" algn="bl" rotWithShape="0">
                <a:srgbClr val="000000">
                  <a:alpha val="8000"/>
                </a:srgbClr>
              </a:outerShdw>
            </a:effectLst>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1" name="Shape 19">
              <a:extLst>
                <a:ext uri="{FF2B5EF4-FFF2-40B4-BE49-F238E27FC236}">
                  <a16:creationId xmlns:a16="http://schemas.microsoft.com/office/drawing/2014/main" id="{9D3F6CA5-54FF-4942-99BC-6BBB3C5FA18A}"/>
                </a:ext>
              </a:extLst>
            </p:cNvPr>
            <p:cNvSpPr>
              <a:spLocks/>
            </p:cNvSpPr>
            <p:nvPr/>
          </p:nvSpPr>
          <p:spPr>
            <a:xfrm>
              <a:off x="7198157" y="2192256"/>
              <a:ext cx="585216" cy="432000"/>
            </a:xfrm>
            <a:prstGeom prst="roundRect">
              <a:avLst>
                <a:gd name="adj" fmla="val 16667"/>
              </a:avLst>
            </a:prstGeom>
            <a:solidFill>
              <a:srgbClr val="4472C4"/>
            </a:solid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2" name="Text 20">
              <a:extLst>
                <a:ext uri="{FF2B5EF4-FFF2-40B4-BE49-F238E27FC236}">
                  <a16:creationId xmlns:a16="http://schemas.microsoft.com/office/drawing/2014/main" id="{FC94E040-A76B-4E6E-B519-CBACFB8F2C0E}"/>
                </a:ext>
              </a:extLst>
            </p:cNvPr>
            <p:cNvSpPr>
              <a:spLocks/>
            </p:cNvSpPr>
            <p:nvPr/>
          </p:nvSpPr>
          <p:spPr>
            <a:xfrm>
              <a:off x="7198157" y="2192256"/>
              <a:ext cx="585216" cy="432000"/>
            </a:xfrm>
            <a:prstGeom prst="rect">
              <a:avLst/>
            </a:prstGeom>
            <a:noFill/>
          </p:spPr>
          <p:txBody>
            <a:bodyPr wrap="square" lIns="0" tIns="0" rIns="0" bIns="0" anchor="ctr"/>
            <a:lstStyle/>
            <a:p>
              <a:pPr marL="0" marR="0" lvl="0" indent="0" algn="ctr" defTabSz="914400">
                <a:lnSpc>
                  <a:spcPct val="100000"/>
                </a:lnSpc>
                <a:spcBef>
                  <a:spcPts val="0"/>
                </a:spcBef>
                <a:spcAft>
                  <a:spcPts val="0"/>
                </a:spcAft>
                <a:buClrTx/>
                <a:buSzTx/>
                <a:buFontTx/>
                <a:buNone/>
              </a:pPr>
              <a:r>
                <a:rPr sz="1600" b="1" i="0" u="none" cap="none" spc="0" dirty="0">
                  <a:ln>
                    <a:noFill/>
                  </a:ln>
                  <a:solidFill>
                    <a:srgbClr val="FFFFFF"/>
                  </a:solidFill>
                  <a:latin typeface="Pretendard"/>
                  <a:ea typeface="Pretendard"/>
                  <a:cs typeface="Pretendard"/>
                </a:rPr>
                <a:t>1</a:t>
              </a:r>
              <a:endParaRPr sz="1600" b="0" i="0" u="none" kern="1200" cap="none" spc="0" baseline="0" dirty="0">
                <a:ln>
                  <a:noFill/>
                </a:ln>
                <a:solidFill>
                  <a:prstClr val="black"/>
                </a:solidFill>
                <a:latin typeface="Pretendard"/>
                <a:ea typeface="Pretendard"/>
                <a:cs typeface="Pretendard"/>
              </a:endParaRPr>
            </a:p>
          </p:txBody>
        </p:sp>
        <p:sp>
          <p:nvSpPr>
            <p:cNvPr id="23" name="Shape 21">
              <a:extLst>
                <a:ext uri="{FF2B5EF4-FFF2-40B4-BE49-F238E27FC236}">
                  <a16:creationId xmlns:a16="http://schemas.microsoft.com/office/drawing/2014/main" id="{FF76F069-943A-4BA8-9C40-55419059EE4E}"/>
                </a:ext>
              </a:extLst>
            </p:cNvPr>
            <p:cNvSpPr>
              <a:spLocks/>
            </p:cNvSpPr>
            <p:nvPr/>
          </p:nvSpPr>
          <p:spPr>
            <a:xfrm>
              <a:off x="7958938" y="2408256"/>
              <a:ext cx="0" cy="0"/>
            </a:xfrm>
            <a:prstGeom prst="line">
              <a:avLst/>
            </a:prstGeom>
            <a:no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4" name="Text 22">
              <a:extLst>
                <a:ext uri="{FF2B5EF4-FFF2-40B4-BE49-F238E27FC236}">
                  <a16:creationId xmlns:a16="http://schemas.microsoft.com/office/drawing/2014/main" id="{9F312E5C-8973-42D7-A94F-48E6A3D4DBB8}"/>
                </a:ext>
              </a:extLst>
            </p:cNvPr>
            <p:cNvSpPr>
              <a:spLocks/>
            </p:cNvSpPr>
            <p:nvPr/>
          </p:nvSpPr>
          <p:spPr>
            <a:xfrm>
              <a:off x="7958938" y="2077056"/>
              <a:ext cx="5925312" cy="662399"/>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en-US" altLang="ko-KR" dirty="0" err="1">
                  <a:solidFill>
                    <a:prstClr val="black"/>
                  </a:solidFill>
                  <a:latin typeface="Pretendard"/>
                  <a:ea typeface="Pretendard"/>
                  <a:cs typeface="Pretendard"/>
                </a:rPr>
                <a:t>GraphRAG</a:t>
              </a:r>
              <a:r>
                <a:rPr lang="ko-KR" altLang="en-US" dirty="0">
                  <a:solidFill>
                    <a:prstClr val="black"/>
                  </a:solidFill>
                  <a:latin typeface="Pretendard"/>
                  <a:ea typeface="Pretendard"/>
                  <a:cs typeface="Pretendard"/>
                </a:rPr>
                <a:t> </a:t>
              </a:r>
              <a:r>
                <a:rPr lang="ko-KR" altLang="en-US" sz="1800" b="0" i="0" u="none" kern="1200" cap="none" spc="0" baseline="0" dirty="0">
                  <a:ln>
                    <a:noFill/>
                  </a:ln>
                  <a:solidFill>
                    <a:prstClr val="black"/>
                  </a:solidFill>
                  <a:latin typeface="Pretendard"/>
                  <a:ea typeface="Pretendard"/>
                  <a:cs typeface="Pretendard"/>
                </a:rPr>
                <a:t>개요</a:t>
              </a:r>
              <a:endParaRPr sz="1800" b="0" i="0" u="none" kern="1200" cap="none" spc="0" baseline="0" dirty="0">
                <a:ln>
                  <a:noFill/>
                </a:ln>
                <a:solidFill>
                  <a:prstClr val="black"/>
                </a:solidFill>
                <a:latin typeface="Pretendard"/>
                <a:ea typeface="Pretendard"/>
                <a:cs typeface="Pretendard"/>
              </a:endParaRPr>
            </a:p>
          </p:txBody>
        </p:sp>
      </p:grpSp>
      <p:grpSp>
        <p:nvGrpSpPr>
          <p:cNvPr id="46" name="그룹 45">
            <a:extLst>
              <a:ext uri="{FF2B5EF4-FFF2-40B4-BE49-F238E27FC236}">
                <a16:creationId xmlns:a16="http://schemas.microsoft.com/office/drawing/2014/main" id="{262E30E9-D16D-9405-CA54-A57FB6327636}"/>
              </a:ext>
            </a:extLst>
          </p:cNvPr>
          <p:cNvGrpSpPr/>
          <p:nvPr/>
        </p:nvGrpSpPr>
        <p:grpSpPr>
          <a:xfrm>
            <a:off x="512065" y="3317337"/>
            <a:ext cx="4684043" cy="720000"/>
            <a:chOff x="6993331" y="2048256"/>
            <a:chExt cx="7125005" cy="720000"/>
          </a:xfrm>
        </p:grpSpPr>
        <p:sp>
          <p:nvSpPr>
            <p:cNvPr id="52" name="Shape 18">
              <a:extLst>
                <a:ext uri="{FF2B5EF4-FFF2-40B4-BE49-F238E27FC236}">
                  <a16:creationId xmlns:a16="http://schemas.microsoft.com/office/drawing/2014/main" id="{7B85B501-6FFA-BF83-891F-B7DAA829E48E}"/>
                </a:ext>
              </a:extLst>
            </p:cNvPr>
            <p:cNvSpPr>
              <a:spLocks/>
            </p:cNvSpPr>
            <p:nvPr/>
          </p:nvSpPr>
          <p:spPr>
            <a:xfrm>
              <a:off x="6993331" y="2048256"/>
              <a:ext cx="7125005" cy="720000"/>
            </a:xfrm>
            <a:prstGeom prst="roundRect">
              <a:avLst>
                <a:gd name="adj" fmla="val 12000"/>
              </a:avLst>
            </a:prstGeom>
            <a:solidFill>
              <a:srgbClr val="FFFFFF"/>
            </a:solidFill>
            <a:ln w="12700">
              <a:solidFill>
                <a:srgbClr val="DDDDE0"/>
              </a:solidFill>
              <a:prstDash val="solid"/>
            </a:ln>
            <a:effectLst>
              <a:outerShdw blurRad="63500" dist="12700" dir="8100000" algn="bl" rotWithShape="0">
                <a:srgbClr val="000000">
                  <a:alpha val="8000"/>
                </a:srgbClr>
              </a:outerShdw>
            </a:effectLst>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53" name="Shape 19">
              <a:extLst>
                <a:ext uri="{FF2B5EF4-FFF2-40B4-BE49-F238E27FC236}">
                  <a16:creationId xmlns:a16="http://schemas.microsoft.com/office/drawing/2014/main" id="{2852AA8F-5898-E017-1A9C-0DA0D36095F8}"/>
                </a:ext>
              </a:extLst>
            </p:cNvPr>
            <p:cNvSpPr>
              <a:spLocks/>
            </p:cNvSpPr>
            <p:nvPr/>
          </p:nvSpPr>
          <p:spPr>
            <a:xfrm>
              <a:off x="7198157" y="2192256"/>
              <a:ext cx="585216" cy="432000"/>
            </a:xfrm>
            <a:prstGeom prst="roundRect">
              <a:avLst>
                <a:gd name="adj" fmla="val 16667"/>
              </a:avLst>
            </a:prstGeom>
            <a:solidFill>
              <a:srgbClr val="4472C4"/>
            </a:solid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54" name="Text 20">
              <a:extLst>
                <a:ext uri="{FF2B5EF4-FFF2-40B4-BE49-F238E27FC236}">
                  <a16:creationId xmlns:a16="http://schemas.microsoft.com/office/drawing/2014/main" id="{03E7F2C3-FEB7-F541-28C9-CD04E6399505}"/>
                </a:ext>
              </a:extLst>
            </p:cNvPr>
            <p:cNvSpPr>
              <a:spLocks/>
            </p:cNvSpPr>
            <p:nvPr/>
          </p:nvSpPr>
          <p:spPr>
            <a:xfrm>
              <a:off x="7198157" y="2192256"/>
              <a:ext cx="585216" cy="432000"/>
            </a:xfrm>
            <a:prstGeom prst="rect">
              <a:avLst/>
            </a:prstGeom>
            <a:noFill/>
          </p:spPr>
          <p:txBody>
            <a:bodyPr wrap="square" lIns="0" tIns="0" rIns="0" bIns="0" anchor="ctr"/>
            <a:lstStyle/>
            <a:p>
              <a:pPr marL="0" marR="0" lvl="0" indent="0" algn="ctr" defTabSz="914400">
                <a:lnSpc>
                  <a:spcPct val="100000"/>
                </a:lnSpc>
                <a:spcBef>
                  <a:spcPts val="0"/>
                </a:spcBef>
                <a:spcAft>
                  <a:spcPts val="0"/>
                </a:spcAft>
                <a:buClrTx/>
                <a:buSzTx/>
                <a:buFontTx/>
                <a:buNone/>
              </a:pPr>
              <a:r>
                <a:rPr lang="en-US" sz="1600" b="1" i="0" u="none" cap="none" spc="0" dirty="0">
                  <a:ln>
                    <a:noFill/>
                  </a:ln>
                  <a:solidFill>
                    <a:srgbClr val="FFFFFF"/>
                  </a:solidFill>
                  <a:latin typeface="Pretendard"/>
                  <a:ea typeface="Pretendard"/>
                  <a:cs typeface="Pretendard"/>
                </a:rPr>
                <a:t>2</a:t>
              </a:r>
              <a:endParaRPr sz="1600" b="0" i="0" u="none" kern="1200" cap="none" spc="0" baseline="0" dirty="0">
                <a:ln>
                  <a:noFill/>
                </a:ln>
                <a:solidFill>
                  <a:prstClr val="black"/>
                </a:solidFill>
                <a:latin typeface="Pretendard"/>
                <a:ea typeface="Pretendard"/>
                <a:cs typeface="Pretendard"/>
              </a:endParaRPr>
            </a:p>
          </p:txBody>
        </p:sp>
        <p:sp>
          <p:nvSpPr>
            <p:cNvPr id="55" name="Shape 21">
              <a:extLst>
                <a:ext uri="{FF2B5EF4-FFF2-40B4-BE49-F238E27FC236}">
                  <a16:creationId xmlns:a16="http://schemas.microsoft.com/office/drawing/2014/main" id="{EAC70FDB-9388-77CE-638B-E35864973FD1}"/>
                </a:ext>
              </a:extLst>
            </p:cNvPr>
            <p:cNvSpPr>
              <a:spLocks/>
            </p:cNvSpPr>
            <p:nvPr/>
          </p:nvSpPr>
          <p:spPr>
            <a:xfrm>
              <a:off x="7958938" y="2408256"/>
              <a:ext cx="0" cy="0"/>
            </a:xfrm>
            <a:prstGeom prst="line">
              <a:avLst/>
            </a:prstGeom>
            <a:no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56" name="Text 22">
              <a:extLst>
                <a:ext uri="{FF2B5EF4-FFF2-40B4-BE49-F238E27FC236}">
                  <a16:creationId xmlns:a16="http://schemas.microsoft.com/office/drawing/2014/main" id="{D4B2E919-B291-6313-9BE5-90442B1E289C}"/>
                </a:ext>
              </a:extLst>
            </p:cNvPr>
            <p:cNvSpPr>
              <a:spLocks/>
            </p:cNvSpPr>
            <p:nvPr/>
          </p:nvSpPr>
          <p:spPr>
            <a:xfrm>
              <a:off x="7958938" y="2077056"/>
              <a:ext cx="5925312" cy="662399"/>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ko-KR" altLang="en-US" sz="1800" b="0" i="0" u="none" kern="1200" cap="none" spc="0" baseline="0" dirty="0">
                  <a:ln>
                    <a:noFill/>
                  </a:ln>
                  <a:solidFill>
                    <a:prstClr val="black"/>
                  </a:solidFill>
                  <a:latin typeface="Pretendard"/>
                  <a:ea typeface="Pretendard"/>
                  <a:cs typeface="Pretendard"/>
                </a:rPr>
                <a:t>그래프</a:t>
              </a:r>
              <a:r>
                <a:rPr lang="en-US" altLang="ko-KR" sz="1800" b="0" i="0" u="none" kern="1200" cap="none" spc="0" baseline="0" dirty="0">
                  <a:ln>
                    <a:noFill/>
                  </a:ln>
                  <a:solidFill>
                    <a:prstClr val="black"/>
                  </a:solidFill>
                  <a:latin typeface="Pretendard"/>
                  <a:ea typeface="Pretendard"/>
                  <a:cs typeface="Pretendard"/>
                </a:rPr>
                <a:t>DB </a:t>
              </a:r>
              <a:r>
                <a:rPr lang="ko-KR" altLang="en-US" sz="1800" b="0" i="0" u="none" kern="1200" cap="none" spc="0" baseline="0" dirty="0">
                  <a:ln>
                    <a:noFill/>
                  </a:ln>
                  <a:solidFill>
                    <a:prstClr val="black"/>
                  </a:solidFill>
                  <a:latin typeface="Pretendard"/>
                  <a:ea typeface="Pretendard"/>
                  <a:cs typeface="Pretendard"/>
                </a:rPr>
                <a:t>인덱싱 </a:t>
              </a:r>
              <a:r>
                <a:rPr lang="ko-KR" altLang="en-US" dirty="0">
                  <a:solidFill>
                    <a:prstClr val="black"/>
                  </a:solidFill>
                  <a:latin typeface="Pretendard"/>
                  <a:ea typeface="Pretendard"/>
                  <a:cs typeface="Pretendard"/>
                </a:rPr>
                <a:t>이해</a:t>
              </a:r>
              <a:endParaRPr sz="1800" b="0" i="0" u="none" kern="1200" cap="none" spc="0" baseline="0" dirty="0">
                <a:ln>
                  <a:noFill/>
                </a:ln>
                <a:solidFill>
                  <a:prstClr val="black"/>
                </a:solidFill>
                <a:latin typeface="Pretendard"/>
                <a:ea typeface="Pretendard"/>
                <a:cs typeface="Pretendard"/>
              </a:endParaRPr>
            </a:p>
          </p:txBody>
        </p:sp>
      </p:grpSp>
      <p:grpSp>
        <p:nvGrpSpPr>
          <p:cNvPr id="81" name="그룹 80">
            <a:extLst>
              <a:ext uri="{FF2B5EF4-FFF2-40B4-BE49-F238E27FC236}">
                <a16:creationId xmlns:a16="http://schemas.microsoft.com/office/drawing/2014/main" id="{741F4E14-2409-7001-8F5B-BE8A4364852C}"/>
              </a:ext>
            </a:extLst>
          </p:cNvPr>
          <p:cNvGrpSpPr/>
          <p:nvPr/>
        </p:nvGrpSpPr>
        <p:grpSpPr>
          <a:xfrm>
            <a:off x="512065" y="4381068"/>
            <a:ext cx="4684043" cy="720000"/>
            <a:chOff x="6993331" y="2048256"/>
            <a:chExt cx="7125005" cy="720000"/>
          </a:xfrm>
        </p:grpSpPr>
        <p:sp>
          <p:nvSpPr>
            <p:cNvPr id="82" name="Shape 18">
              <a:extLst>
                <a:ext uri="{FF2B5EF4-FFF2-40B4-BE49-F238E27FC236}">
                  <a16:creationId xmlns:a16="http://schemas.microsoft.com/office/drawing/2014/main" id="{3F490660-AA89-7E38-F353-CF8CAA7B8235}"/>
                </a:ext>
              </a:extLst>
            </p:cNvPr>
            <p:cNvSpPr>
              <a:spLocks/>
            </p:cNvSpPr>
            <p:nvPr/>
          </p:nvSpPr>
          <p:spPr>
            <a:xfrm>
              <a:off x="6993331" y="2048256"/>
              <a:ext cx="7125005" cy="720000"/>
            </a:xfrm>
            <a:prstGeom prst="roundRect">
              <a:avLst>
                <a:gd name="adj" fmla="val 12000"/>
              </a:avLst>
            </a:prstGeom>
            <a:solidFill>
              <a:srgbClr val="FFFFFF"/>
            </a:solidFill>
            <a:ln w="12700">
              <a:solidFill>
                <a:srgbClr val="DDDDE0"/>
              </a:solidFill>
              <a:prstDash val="solid"/>
            </a:ln>
            <a:effectLst>
              <a:outerShdw blurRad="63500" dist="12700" dir="8100000" algn="bl" rotWithShape="0">
                <a:srgbClr val="000000">
                  <a:alpha val="8000"/>
                </a:srgbClr>
              </a:outerShdw>
            </a:effectLst>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83" name="Shape 19">
              <a:extLst>
                <a:ext uri="{FF2B5EF4-FFF2-40B4-BE49-F238E27FC236}">
                  <a16:creationId xmlns:a16="http://schemas.microsoft.com/office/drawing/2014/main" id="{1A8C2263-9682-F2BE-7C01-197B8576BB7D}"/>
                </a:ext>
              </a:extLst>
            </p:cNvPr>
            <p:cNvSpPr>
              <a:spLocks/>
            </p:cNvSpPr>
            <p:nvPr/>
          </p:nvSpPr>
          <p:spPr>
            <a:xfrm>
              <a:off x="7198157" y="2192256"/>
              <a:ext cx="585216" cy="432000"/>
            </a:xfrm>
            <a:prstGeom prst="roundRect">
              <a:avLst>
                <a:gd name="adj" fmla="val 16667"/>
              </a:avLst>
            </a:prstGeom>
            <a:solidFill>
              <a:srgbClr val="4472C4"/>
            </a:solid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84" name="Text 20">
              <a:extLst>
                <a:ext uri="{FF2B5EF4-FFF2-40B4-BE49-F238E27FC236}">
                  <a16:creationId xmlns:a16="http://schemas.microsoft.com/office/drawing/2014/main" id="{B3F7E5BE-2CB5-387D-E711-667856DFF0B5}"/>
                </a:ext>
              </a:extLst>
            </p:cNvPr>
            <p:cNvSpPr>
              <a:spLocks/>
            </p:cNvSpPr>
            <p:nvPr/>
          </p:nvSpPr>
          <p:spPr>
            <a:xfrm>
              <a:off x="7198157" y="2192256"/>
              <a:ext cx="585216" cy="432000"/>
            </a:xfrm>
            <a:prstGeom prst="rect">
              <a:avLst/>
            </a:prstGeom>
            <a:noFill/>
          </p:spPr>
          <p:txBody>
            <a:bodyPr wrap="square" lIns="0" tIns="0" rIns="0" bIns="0" anchor="ctr"/>
            <a:lstStyle/>
            <a:p>
              <a:pPr marL="0" marR="0" lvl="0" indent="0" algn="ctr" defTabSz="914400">
                <a:lnSpc>
                  <a:spcPct val="100000"/>
                </a:lnSpc>
                <a:spcBef>
                  <a:spcPts val="0"/>
                </a:spcBef>
                <a:spcAft>
                  <a:spcPts val="0"/>
                </a:spcAft>
                <a:buClrTx/>
                <a:buSzTx/>
                <a:buFontTx/>
                <a:buNone/>
              </a:pPr>
              <a:r>
                <a:rPr lang="en-US" sz="1600" b="1" i="0" u="none" cap="none" spc="0" dirty="0">
                  <a:ln>
                    <a:noFill/>
                  </a:ln>
                  <a:solidFill>
                    <a:srgbClr val="FFFFFF"/>
                  </a:solidFill>
                  <a:latin typeface="Pretendard"/>
                  <a:ea typeface="Pretendard"/>
                  <a:cs typeface="Pretendard"/>
                </a:rPr>
                <a:t>3</a:t>
              </a:r>
              <a:endParaRPr sz="1600" b="0" i="0" u="none" kern="1200" cap="none" spc="0" baseline="0" dirty="0">
                <a:ln>
                  <a:noFill/>
                </a:ln>
                <a:solidFill>
                  <a:prstClr val="black"/>
                </a:solidFill>
                <a:latin typeface="Pretendard"/>
                <a:ea typeface="Pretendard"/>
                <a:cs typeface="Pretendard"/>
              </a:endParaRPr>
            </a:p>
          </p:txBody>
        </p:sp>
        <p:sp>
          <p:nvSpPr>
            <p:cNvPr id="85" name="Shape 21">
              <a:extLst>
                <a:ext uri="{FF2B5EF4-FFF2-40B4-BE49-F238E27FC236}">
                  <a16:creationId xmlns:a16="http://schemas.microsoft.com/office/drawing/2014/main" id="{461C8927-F431-7B03-73BE-BF18E569E9FB}"/>
                </a:ext>
              </a:extLst>
            </p:cNvPr>
            <p:cNvSpPr>
              <a:spLocks/>
            </p:cNvSpPr>
            <p:nvPr/>
          </p:nvSpPr>
          <p:spPr>
            <a:xfrm>
              <a:off x="7958938" y="2408256"/>
              <a:ext cx="0" cy="0"/>
            </a:xfrm>
            <a:prstGeom prst="line">
              <a:avLst/>
            </a:prstGeom>
            <a:no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86" name="Text 22">
              <a:extLst>
                <a:ext uri="{FF2B5EF4-FFF2-40B4-BE49-F238E27FC236}">
                  <a16:creationId xmlns:a16="http://schemas.microsoft.com/office/drawing/2014/main" id="{892D1C4F-41DD-378D-5B63-EE570D5F6123}"/>
                </a:ext>
              </a:extLst>
            </p:cNvPr>
            <p:cNvSpPr>
              <a:spLocks/>
            </p:cNvSpPr>
            <p:nvPr/>
          </p:nvSpPr>
          <p:spPr>
            <a:xfrm>
              <a:off x="7958938" y="2077056"/>
              <a:ext cx="5925312" cy="662399"/>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ko-KR" altLang="en-US" sz="1800" b="0" i="0" u="none" kern="1200" cap="none" spc="0" baseline="0" dirty="0">
                  <a:ln>
                    <a:noFill/>
                  </a:ln>
                  <a:solidFill>
                    <a:prstClr val="black"/>
                  </a:solidFill>
                  <a:latin typeface="Pretendard"/>
                  <a:ea typeface="Pretendard"/>
                  <a:cs typeface="Pretendard"/>
                </a:rPr>
                <a:t>그래프</a:t>
              </a:r>
              <a:r>
                <a:rPr lang="en-US" altLang="ko-KR" sz="1800" b="0" i="0" u="none" kern="1200" cap="none" spc="0" baseline="0" dirty="0">
                  <a:ln>
                    <a:noFill/>
                  </a:ln>
                  <a:solidFill>
                    <a:prstClr val="black"/>
                  </a:solidFill>
                  <a:latin typeface="Pretendard"/>
                  <a:ea typeface="Pretendard"/>
                  <a:cs typeface="Pretendard"/>
                </a:rPr>
                <a:t>DB </a:t>
              </a:r>
              <a:r>
                <a:rPr lang="ko-KR" altLang="en-US" sz="1800" b="0" i="0" u="none" kern="1200" cap="none" spc="0" baseline="0" dirty="0">
                  <a:ln>
                    <a:noFill/>
                  </a:ln>
                  <a:solidFill>
                    <a:prstClr val="black"/>
                  </a:solidFill>
                  <a:latin typeface="Pretendard"/>
                  <a:ea typeface="Pretendard"/>
                  <a:cs typeface="Pretendard"/>
                </a:rPr>
                <a:t>인덱싱 설계 및 개발</a:t>
              </a:r>
              <a:endParaRPr sz="1800" b="0" i="0" u="none" kern="1200" cap="none" spc="0" baseline="0" dirty="0">
                <a:ln>
                  <a:noFill/>
                </a:ln>
                <a:solidFill>
                  <a:prstClr val="black"/>
                </a:solidFill>
                <a:latin typeface="Pretendard"/>
                <a:ea typeface="Pretendard"/>
                <a:cs typeface="Pretendard"/>
              </a:endParaRPr>
            </a:p>
          </p:txBody>
        </p:sp>
      </p:grpSp>
      <p:grpSp>
        <p:nvGrpSpPr>
          <p:cNvPr id="89" name="그룹 88">
            <a:extLst>
              <a:ext uri="{FF2B5EF4-FFF2-40B4-BE49-F238E27FC236}">
                <a16:creationId xmlns:a16="http://schemas.microsoft.com/office/drawing/2014/main" id="{0E935C0F-2ABF-F32E-25E4-9FA44E39F948}"/>
              </a:ext>
            </a:extLst>
          </p:cNvPr>
          <p:cNvGrpSpPr/>
          <p:nvPr/>
        </p:nvGrpSpPr>
        <p:grpSpPr>
          <a:xfrm>
            <a:off x="512065" y="5444800"/>
            <a:ext cx="4684043" cy="720000"/>
            <a:chOff x="6993331" y="2048256"/>
            <a:chExt cx="7125005" cy="720000"/>
          </a:xfrm>
        </p:grpSpPr>
        <p:sp>
          <p:nvSpPr>
            <p:cNvPr id="90" name="Shape 18">
              <a:extLst>
                <a:ext uri="{FF2B5EF4-FFF2-40B4-BE49-F238E27FC236}">
                  <a16:creationId xmlns:a16="http://schemas.microsoft.com/office/drawing/2014/main" id="{B6F62587-87A1-4A7B-FD01-EE51B989B9B0}"/>
                </a:ext>
              </a:extLst>
            </p:cNvPr>
            <p:cNvSpPr>
              <a:spLocks/>
            </p:cNvSpPr>
            <p:nvPr/>
          </p:nvSpPr>
          <p:spPr>
            <a:xfrm>
              <a:off x="6993331" y="2048256"/>
              <a:ext cx="7125005" cy="720000"/>
            </a:xfrm>
            <a:prstGeom prst="roundRect">
              <a:avLst>
                <a:gd name="adj" fmla="val 12000"/>
              </a:avLst>
            </a:prstGeom>
            <a:solidFill>
              <a:srgbClr val="FFFFFF"/>
            </a:solidFill>
            <a:ln w="12700">
              <a:solidFill>
                <a:srgbClr val="DDDDE0"/>
              </a:solidFill>
              <a:prstDash val="solid"/>
            </a:ln>
            <a:effectLst>
              <a:outerShdw blurRad="63500" dist="12700" dir="8100000" algn="bl" rotWithShape="0">
                <a:srgbClr val="000000">
                  <a:alpha val="8000"/>
                </a:srgbClr>
              </a:outerShdw>
            </a:effectLst>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91" name="Shape 19">
              <a:extLst>
                <a:ext uri="{FF2B5EF4-FFF2-40B4-BE49-F238E27FC236}">
                  <a16:creationId xmlns:a16="http://schemas.microsoft.com/office/drawing/2014/main" id="{08A21808-59EB-A4EC-AA84-647A26D0A2E0}"/>
                </a:ext>
              </a:extLst>
            </p:cNvPr>
            <p:cNvSpPr>
              <a:spLocks/>
            </p:cNvSpPr>
            <p:nvPr/>
          </p:nvSpPr>
          <p:spPr>
            <a:xfrm>
              <a:off x="7198157" y="2192256"/>
              <a:ext cx="585216" cy="432000"/>
            </a:xfrm>
            <a:prstGeom prst="roundRect">
              <a:avLst>
                <a:gd name="adj" fmla="val 16667"/>
              </a:avLst>
            </a:prstGeom>
            <a:solidFill>
              <a:srgbClr val="4472C4"/>
            </a:solid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92" name="Text 20">
              <a:extLst>
                <a:ext uri="{FF2B5EF4-FFF2-40B4-BE49-F238E27FC236}">
                  <a16:creationId xmlns:a16="http://schemas.microsoft.com/office/drawing/2014/main" id="{F48F8552-08A3-A6B2-D7A2-E1EFE55BC03A}"/>
                </a:ext>
              </a:extLst>
            </p:cNvPr>
            <p:cNvSpPr>
              <a:spLocks/>
            </p:cNvSpPr>
            <p:nvPr/>
          </p:nvSpPr>
          <p:spPr>
            <a:xfrm>
              <a:off x="7198157" y="2192256"/>
              <a:ext cx="585216" cy="432000"/>
            </a:xfrm>
            <a:prstGeom prst="rect">
              <a:avLst/>
            </a:prstGeom>
            <a:noFill/>
          </p:spPr>
          <p:txBody>
            <a:bodyPr wrap="square" lIns="0" tIns="0" rIns="0" bIns="0" anchor="ctr"/>
            <a:lstStyle/>
            <a:p>
              <a:pPr marL="0" marR="0" lvl="0" indent="0" algn="ctr" defTabSz="914400">
                <a:lnSpc>
                  <a:spcPct val="100000"/>
                </a:lnSpc>
                <a:spcBef>
                  <a:spcPts val="0"/>
                </a:spcBef>
                <a:spcAft>
                  <a:spcPts val="0"/>
                </a:spcAft>
                <a:buClrTx/>
                <a:buSzTx/>
                <a:buFontTx/>
                <a:buNone/>
              </a:pPr>
              <a:r>
                <a:rPr lang="en-US" sz="1600" b="1" i="0" u="none" cap="none" spc="0" dirty="0">
                  <a:ln>
                    <a:noFill/>
                  </a:ln>
                  <a:solidFill>
                    <a:srgbClr val="FFFFFF"/>
                  </a:solidFill>
                  <a:latin typeface="Pretendard"/>
                  <a:ea typeface="Pretendard"/>
                  <a:cs typeface="Pretendard"/>
                </a:rPr>
                <a:t>4</a:t>
              </a:r>
              <a:endParaRPr sz="1600" b="0" i="0" u="none" kern="1200" cap="none" spc="0" baseline="0" dirty="0">
                <a:ln>
                  <a:noFill/>
                </a:ln>
                <a:solidFill>
                  <a:prstClr val="black"/>
                </a:solidFill>
                <a:latin typeface="Pretendard"/>
                <a:ea typeface="Pretendard"/>
                <a:cs typeface="Pretendard"/>
              </a:endParaRPr>
            </a:p>
          </p:txBody>
        </p:sp>
        <p:sp>
          <p:nvSpPr>
            <p:cNvPr id="93" name="Shape 21">
              <a:extLst>
                <a:ext uri="{FF2B5EF4-FFF2-40B4-BE49-F238E27FC236}">
                  <a16:creationId xmlns:a16="http://schemas.microsoft.com/office/drawing/2014/main" id="{CA1EA50C-DEE1-436C-4F81-AA45454B3945}"/>
                </a:ext>
              </a:extLst>
            </p:cNvPr>
            <p:cNvSpPr>
              <a:spLocks/>
            </p:cNvSpPr>
            <p:nvPr/>
          </p:nvSpPr>
          <p:spPr>
            <a:xfrm>
              <a:off x="7958938" y="2408256"/>
              <a:ext cx="0" cy="0"/>
            </a:xfrm>
            <a:prstGeom prst="line">
              <a:avLst/>
            </a:prstGeom>
            <a:no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94" name="Text 22">
              <a:extLst>
                <a:ext uri="{FF2B5EF4-FFF2-40B4-BE49-F238E27FC236}">
                  <a16:creationId xmlns:a16="http://schemas.microsoft.com/office/drawing/2014/main" id="{945AF06E-56F6-DA44-48A8-73D7D7BFFEFB}"/>
                </a:ext>
              </a:extLst>
            </p:cNvPr>
            <p:cNvSpPr>
              <a:spLocks/>
            </p:cNvSpPr>
            <p:nvPr/>
          </p:nvSpPr>
          <p:spPr>
            <a:xfrm>
              <a:off x="7958938" y="2077056"/>
              <a:ext cx="5925312" cy="662399"/>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en-US" altLang="ko-KR" dirty="0">
                  <a:solidFill>
                    <a:prstClr val="black"/>
                  </a:solidFill>
                  <a:latin typeface="Pretendard"/>
                  <a:ea typeface="Pretendard"/>
                  <a:cs typeface="Pretendard"/>
                </a:rPr>
                <a:t>2</a:t>
              </a:r>
              <a:endParaRPr sz="1800" b="0" i="0" u="none" kern="1200" cap="none" spc="0" baseline="0" dirty="0">
                <a:ln>
                  <a:noFill/>
                </a:ln>
                <a:solidFill>
                  <a:prstClr val="black"/>
                </a:solidFill>
                <a:latin typeface="Pretendard"/>
                <a:ea typeface="Pretendard"/>
                <a:cs typeface="Pretendard"/>
              </a:endParaRPr>
            </a:p>
          </p:txBody>
        </p:sp>
      </p:grpSp>
      <p:grpSp>
        <p:nvGrpSpPr>
          <p:cNvPr id="10" name="그룹 9">
            <a:extLst>
              <a:ext uri="{FF2B5EF4-FFF2-40B4-BE49-F238E27FC236}">
                <a16:creationId xmlns:a16="http://schemas.microsoft.com/office/drawing/2014/main" id="{4A769CF7-9F24-5B95-D233-BCF3351505FF}"/>
              </a:ext>
            </a:extLst>
          </p:cNvPr>
          <p:cNvGrpSpPr/>
          <p:nvPr/>
        </p:nvGrpSpPr>
        <p:grpSpPr>
          <a:xfrm>
            <a:off x="510575" y="6508532"/>
            <a:ext cx="4684043" cy="720000"/>
            <a:chOff x="6993331" y="2048256"/>
            <a:chExt cx="7125005" cy="720000"/>
          </a:xfrm>
        </p:grpSpPr>
        <p:sp>
          <p:nvSpPr>
            <p:cNvPr id="11" name="Shape 18">
              <a:extLst>
                <a:ext uri="{FF2B5EF4-FFF2-40B4-BE49-F238E27FC236}">
                  <a16:creationId xmlns:a16="http://schemas.microsoft.com/office/drawing/2014/main" id="{F302B58D-0F0D-005E-BD38-DDF97E5AA293}"/>
                </a:ext>
              </a:extLst>
            </p:cNvPr>
            <p:cNvSpPr>
              <a:spLocks/>
            </p:cNvSpPr>
            <p:nvPr/>
          </p:nvSpPr>
          <p:spPr>
            <a:xfrm>
              <a:off x="6993331" y="2048256"/>
              <a:ext cx="7125005" cy="720000"/>
            </a:xfrm>
            <a:prstGeom prst="roundRect">
              <a:avLst>
                <a:gd name="adj" fmla="val 12000"/>
              </a:avLst>
            </a:prstGeom>
            <a:solidFill>
              <a:srgbClr val="FFFFFF"/>
            </a:solidFill>
            <a:ln w="12700">
              <a:solidFill>
                <a:srgbClr val="DDDDE0"/>
              </a:solidFill>
              <a:prstDash val="solid"/>
            </a:ln>
            <a:effectLst>
              <a:outerShdw blurRad="63500" dist="12700" dir="8100000" algn="bl" rotWithShape="0">
                <a:srgbClr val="000000">
                  <a:alpha val="8000"/>
                </a:srgbClr>
              </a:outerShdw>
            </a:effectLst>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12" name="Shape 19">
              <a:extLst>
                <a:ext uri="{FF2B5EF4-FFF2-40B4-BE49-F238E27FC236}">
                  <a16:creationId xmlns:a16="http://schemas.microsoft.com/office/drawing/2014/main" id="{03CF6DF0-CD7F-00AF-9578-AFD97E04FEDF}"/>
                </a:ext>
              </a:extLst>
            </p:cNvPr>
            <p:cNvSpPr>
              <a:spLocks/>
            </p:cNvSpPr>
            <p:nvPr/>
          </p:nvSpPr>
          <p:spPr>
            <a:xfrm>
              <a:off x="7198157" y="2192256"/>
              <a:ext cx="585216" cy="432000"/>
            </a:xfrm>
            <a:prstGeom prst="roundRect">
              <a:avLst>
                <a:gd name="adj" fmla="val 16667"/>
              </a:avLst>
            </a:prstGeom>
            <a:solidFill>
              <a:srgbClr val="4472C4"/>
            </a:solid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13" name="Text 20">
              <a:extLst>
                <a:ext uri="{FF2B5EF4-FFF2-40B4-BE49-F238E27FC236}">
                  <a16:creationId xmlns:a16="http://schemas.microsoft.com/office/drawing/2014/main" id="{3BA7F590-FED4-E6FB-C534-5D668FC3ACD2}"/>
                </a:ext>
              </a:extLst>
            </p:cNvPr>
            <p:cNvSpPr>
              <a:spLocks/>
            </p:cNvSpPr>
            <p:nvPr/>
          </p:nvSpPr>
          <p:spPr>
            <a:xfrm>
              <a:off x="7198157" y="2192256"/>
              <a:ext cx="585216" cy="432000"/>
            </a:xfrm>
            <a:prstGeom prst="rect">
              <a:avLst/>
            </a:prstGeom>
            <a:noFill/>
          </p:spPr>
          <p:txBody>
            <a:bodyPr wrap="square" lIns="0" tIns="0" rIns="0" bIns="0" anchor="ctr"/>
            <a:lstStyle/>
            <a:p>
              <a:pPr marL="0" marR="0" lvl="0" indent="0" algn="ctr" defTabSz="914400">
                <a:lnSpc>
                  <a:spcPct val="100000"/>
                </a:lnSpc>
                <a:spcBef>
                  <a:spcPts val="0"/>
                </a:spcBef>
                <a:spcAft>
                  <a:spcPts val="0"/>
                </a:spcAft>
                <a:buClrTx/>
                <a:buSzTx/>
                <a:buFontTx/>
                <a:buNone/>
              </a:pPr>
              <a:r>
                <a:rPr lang="en-US" sz="1600" b="1" kern="1200" baseline="0" dirty="0">
                  <a:solidFill>
                    <a:srgbClr val="FFFFFF"/>
                  </a:solidFill>
                  <a:latin typeface="Pretendard"/>
                  <a:ea typeface="Pretendard"/>
                  <a:cs typeface="Pretendard"/>
                </a:rPr>
                <a:t>5</a:t>
              </a:r>
              <a:endParaRPr sz="1600" b="0" i="0" u="none" kern="1200" cap="none" spc="0" baseline="0" dirty="0">
                <a:ln>
                  <a:noFill/>
                </a:ln>
                <a:solidFill>
                  <a:prstClr val="black"/>
                </a:solidFill>
                <a:latin typeface="Pretendard"/>
                <a:ea typeface="Pretendard"/>
                <a:cs typeface="Pretendard"/>
              </a:endParaRPr>
            </a:p>
          </p:txBody>
        </p:sp>
        <p:sp>
          <p:nvSpPr>
            <p:cNvPr id="14" name="Shape 21">
              <a:extLst>
                <a:ext uri="{FF2B5EF4-FFF2-40B4-BE49-F238E27FC236}">
                  <a16:creationId xmlns:a16="http://schemas.microsoft.com/office/drawing/2014/main" id="{E7599FC3-33B7-B8B4-6B92-1761E9C55009}"/>
                </a:ext>
              </a:extLst>
            </p:cNvPr>
            <p:cNvSpPr>
              <a:spLocks/>
            </p:cNvSpPr>
            <p:nvPr/>
          </p:nvSpPr>
          <p:spPr>
            <a:xfrm>
              <a:off x="7958938" y="2408256"/>
              <a:ext cx="0" cy="0"/>
            </a:xfrm>
            <a:prstGeom prst="line">
              <a:avLst/>
            </a:prstGeom>
            <a:noFill/>
            <a:ln w="12700">
              <a:solidFill>
                <a:srgbClr val="4472C4"/>
              </a:solidFill>
              <a:prstDash val="solid"/>
            </a:ln>
          </p:spPr>
          <p:txBody>
            <a:bodyPr/>
            <a:lstStyle/>
            <a:p>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15" name="Text 22">
              <a:extLst>
                <a:ext uri="{FF2B5EF4-FFF2-40B4-BE49-F238E27FC236}">
                  <a16:creationId xmlns:a16="http://schemas.microsoft.com/office/drawing/2014/main" id="{1BB0A405-2C76-7604-542E-01799D685DC6}"/>
                </a:ext>
              </a:extLst>
            </p:cNvPr>
            <p:cNvSpPr>
              <a:spLocks/>
            </p:cNvSpPr>
            <p:nvPr/>
          </p:nvSpPr>
          <p:spPr>
            <a:xfrm>
              <a:off x="7958938" y="2077056"/>
              <a:ext cx="5925312" cy="662399"/>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en-US" altLang="ko-KR" dirty="0">
                  <a:solidFill>
                    <a:prstClr val="black"/>
                  </a:solidFill>
                  <a:latin typeface="Pretendard"/>
                  <a:ea typeface="Pretendard"/>
                  <a:cs typeface="Pretendard"/>
                </a:rPr>
                <a:t>3</a:t>
              </a:r>
              <a:endParaRPr sz="1800" b="0" i="0" u="none" kern="1200" cap="none" spc="0" baseline="0" dirty="0">
                <a:ln>
                  <a:noFill/>
                </a:ln>
                <a:solidFill>
                  <a:prstClr val="black"/>
                </a:solidFill>
                <a:latin typeface="Pretendard"/>
                <a:ea typeface="Pretendard"/>
                <a:cs typeface="Pretendard"/>
              </a:endParaRPr>
            </a:p>
          </p:txBody>
        </p:sp>
      </p:grpSp>
      <p:grpSp>
        <p:nvGrpSpPr>
          <p:cNvPr id="34" name="그룹 33">
            <a:extLst>
              <a:ext uri="{FF2B5EF4-FFF2-40B4-BE49-F238E27FC236}">
                <a16:creationId xmlns:a16="http://schemas.microsoft.com/office/drawing/2014/main" id="{43DBFB7E-380A-2EE4-43B2-F103BCB9E61E}"/>
              </a:ext>
            </a:extLst>
          </p:cNvPr>
          <p:cNvGrpSpPr/>
          <p:nvPr/>
        </p:nvGrpSpPr>
        <p:grpSpPr>
          <a:xfrm>
            <a:off x="5914162" y="2282406"/>
            <a:ext cx="8189545" cy="5349022"/>
            <a:chOff x="5914162" y="2282406"/>
            <a:chExt cx="8189545" cy="5349022"/>
          </a:xfrm>
        </p:grpSpPr>
        <p:sp>
          <p:nvSpPr>
            <p:cNvPr id="35" name="직사각형 34">
              <a:extLst>
                <a:ext uri="{FF2B5EF4-FFF2-40B4-BE49-F238E27FC236}">
                  <a16:creationId xmlns:a16="http://schemas.microsoft.com/office/drawing/2014/main" id="{8B59AD1C-FA60-222A-C679-852D0516B1C0}"/>
                </a:ext>
              </a:extLst>
            </p:cNvPr>
            <p:cNvSpPr/>
            <p:nvPr/>
          </p:nvSpPr>
          <p:spPr>
            <a:xfrm>
              <a:off x="5915622" y="2282406"/>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W01.</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기본 개념 이해</a:t>
              </a: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이탈 위험 고객 </a:t>
              </a:r>
              <a:endPar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문제 정의와 설계</a:t>
              </a:r>
              <a:endPar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직사각형 35">
              <a:extLst>
                <a:ext uri="{FF2B5EF4-FFF2-40B4-BE49-F238E27FC236}">
                  <a16:creationId xmlns:a16="http://schemas.microsoft.com/office/drawing/2014/main" id="{8761C77D-867C-1D4B-5BCA-6F88E3F6A159}"/>
                </a:ext>
              </a:extLst>
            </p:cNvPr>
            <p:cNvSpPr/>
            <p:nvPr/>
          </p:nvSpPr>
          <p:spPr>
            <a:xfrm>
              <a:off x="8749665" y="2282406"/>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W02.</a:t>
              </a:r>
            </a:p>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요구사항 정의</a:t>
              </a: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와</a:t>
              </a:r>
              <a:endPar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정형 데이터 검색</a:t>
              </a:r>
              <a:endParaRPr kumimoji="0" lang="ko-KR" altLang="en-US" sz="20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직사각형 36">
              <a:extLst>
                <a:ext uri="{FF2B5EF4-FFF2-40B4-BE49-F238E27FC236}">
                  <a16:creationId xmlns:a16="http://schemas.microsoft.com/office/drawing/2014/main" id="{59D58D56-7901-BE4A-7B49-3C602BAF03AC}"/>
                </a:ext>
              </a:extLst>
            </p:cNvPr>
            <p:cNvSpPr/>
            <p:nvPr/>
          </p:nvSpPr>
          <p:spPr>
            <a:xfrm>
              <a:off x="11583707" y="2282406"/>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W03.</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err="1">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LangChain</a:t>
              </a: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 </a:t>
              </a: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이해와</a:t>
              </a:r>
              <a:endPar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비정형 문서 인덱싱</a:t>
              </a:r>
              <a:endParaRPr kumimoji="0" lang="ko-KR" altLang="en-US" sz="20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직사각형 37">
              <a:extLst>
                <a:ext uri="{FF2B5EF4-FFF2-40B4-BE49-F238E27FC236}">
                  <a16:creationId xmlns:a16="http://schemas.microsoft.com/office/drawing/2014/main" id="{E286895B-0CB0-8BD1-6B99-E423E6CF0148}"/>
                </a:ext>
              </a:extLst>
            </p:cNvPr>
            <p:cNvSpPr/>
            <p:nvPr/>
          </p:nvSpPr>
          <p:spPr>
            <a:xfrm>
              <a:off x="5915622" y="3832135"/>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W04.</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비정형 문서 검색 및</a:t>
              </a:r>
              <a:b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b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품질 평가 및 튜닝</a:t>
              </a:r>
              <a:endParaRPr kumimoji="0" lang="ko-KR" altLang="en-US" sz="20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직사각형 38">
              <a:extLst>
                <a:ext uri="{FF2B5EF4-FFF2-40B4-BE49-F238E27FC236}">
                  <a16:creationId xmlns:a16="http://schemas.microsoft.com/office/drawing/2014/main" id="{A03ABACA-56E4-65CB-12C3-E11A5711E7D5}"/>
                </a:ext>
              </a:extLst>
            </p:cNvPr>
            <p:cNvSpPr/>
            <p:nvPr/>
          </p:nvSpPr>
          <p:spPr>
            <a:xfrm>
              <a:off x="8749665" y="3832135"/>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W05.</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그래프</a:t>
              </a: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DB </a:t>
              </a: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인덱싱</a:t>
              </a: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 </a:t>
              </a:r>
              <a:endParaRPr kumimoji="0" lang="ko-KR" altLang="en-US" sz="20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직사각형 40">
              <a:extLst>
                <a:ext uri="{FF2B5EF4-FFF2-40B4-BE49-F238E27FC236}">
                  <a16:creationId xmlns:a16="http://schemas.microsoft.com/office/drawing/2014/main" id="{04E671C9-4CCD-71DE-0F79-353E20B462DB}"/>
                </a:ext>
              </a:extLst>
            </p:cNvPr>
            <p:cNvSpPr/>
            <p:nvPr/>
          </p:nvSpPr>
          <p:spPr>
            <a:xfrm>
              <a:off x="11583707" y="3832135"/>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W06.</a:t>
              </a:r>
            </a:p>
            <a:p>
              <a:pPr lvl="0" algn="ctr">
                <a:defRPr/>
              </a:pP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그래프</a:t>
              </a:r>
              <a:r>
                <a:rPr lang="en-US" altLang="ko-KR"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DB </a:t>
              </a: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검색</a:t>
              </a:r>
              <a:endParaRPr lang="ko-KR" altLang="en-US" sz="20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직사각형 41">
              <a:extLst>
                <a:ext uri="{FF2B5EF4-FFF2-40B4-BE49-F238E27FC236}">
                  <a16:creationId xmlns:a16="http://schemas.microsoft.com/office/drawing/2014/main" id="{1B1D9FC3-0416-D413-B308-572D8D5F0F5E}"/>
                </a:ext>
              </a:extLst>
            </p:cNvPr>
            <p:cNvSpPr/>
            <p:nvPr/>
          </p:nvSpPr>
          <p:spPr>
            <a:xfrm>
              <a:off x="5915622" y="5381863"/>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W07.</a:t>
              </a:r>
            </a:p>
            <a:p>
              <a:pPr lvl="0" algn="ctr">
                <a:defRPr/>
              </a:pP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예측형 </a:t>
              </a:r>
              <a:r>
                <a:rPr lang="en-US" altLang="ko-KR"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AI</a:t>
              </a: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와 </a:t>
              </a:r>
              <a:r>
                <a:rPr lang="en-US" altLang="ko-KR"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MCP </a:t>
              </a: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연동 </a:t>
              </a:r>
              <a:endParaRPr lang="ko-KR" altLang="en-US" sz="20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직사각형 42">
              <a:extLst>
                <a:ext uri="{FF2B5EF4-FFF2-40B4-BE49-F238E27FC236}">
                  <a16:creationId xmlns:a16="http://schemas.microsoft.com/office/drawing/2014/main" id="{FA58B00D-F3AC-3721-4478-30B097B705A6}"/>
                </a:ext>
              </a:extLst>
            </p:cNvPr>
            <p:cNvSpPr/>
            <p:nvPr/>
          </p:nvSpPr>
          <p:spPr>
            <a:xfrm>
              <a:off x="8749665" y="5381863"/>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W08.</a:t>
              </a:r>
            </a:p>
            <a:p>
              <a:pPr lvl="0" algn="ctr">
                <a:defRPr/>
              </a:pP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온톨로지와 하이브리드 검색</a:t>
              </a: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 </a:t>
              </a:r>
              <a:endParaRPr kumimoji="0" lang="ko-KR" altLang="en-US" sz="20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p:txBody>
        </p:sp>
        <p:sp>
          <p:nvSpPr>
            <p:cNvPr id="44" name="직사각형 43">
              <a:extLst>
                <a:ext uri="{FF2B5EF4-FFF2-40B4-BE49-F238E27FC236}">
                  <a16:creationId xmlns:a16="http://schemas.microsoft.com/office/drawing/2014/main" id="{02EF188C-1C35-6455-7F3A-092D5A0DDCE5}"/>
                </a:ext>
              </a:extLst>
            </p:cNvPr>
            <p:cNvSpPr/>
            <p:nvPr/>
          </p:nvSpPr>
          <p:spPr>
            <a:xfrm>
              <a:off x="11583707" y="5381863"/>
              <a:ext cx="2520000" cy="119152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W09.</a:t>
              </a:r>
            </a:p>
            <a:p>
              <a:pPr algn="ctr">
                <a:defRPr/>
              </a:pP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라우팅</a:t>
              </a:r>
              <a:r>
                <a:rPr lang="en-US" altLang="ko-KR"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검색 통합</a:t>
              </a:r>
              <a:r>
                <a:rPr lang="en-US" altLang="ko-KR"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rPr>
                <a:t>응답생성 </a:t>
              </a:r>
              <a:endParaRPr lang="ko-KR" altLang="en-US" sz="2000" b="1" dirty="0">
                <a:solidFill>
                  <a:prstClr val="black"/>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직사각형 44">
              <a:extLst>
                <a:ext uri="{FF2B5EF4-FFF2-40B4-BE49-F238E27FC236}">
                  <a16:creationId xmlns:a16="http://schemas.microsoft.com/office/drawing/2014/main" id="{831FAA89-60B6-550C-B982-466C90018408}"/>
                </a:ext>
              </a:extLst>
            </p:cNvPr>
            <p:cNvSpPr/>
            <p:nvPr/>
          </p:nvSpPr>
          <p:spPr>
            <a:xfrm>
              <a:off x="5914162" y="6877758"/>
              <a:ext cx="8189545" cy="75367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W10.</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err="1">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하네스</a:t>
              </a:r>
              <a:r>
                <a:rPr kumimoji="0" lang="ko-KR" altLang="en-US" sz="16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rPr>
                <a:t> 엔지니어링</a:t>
              </a:r>
              <a:endParaRPr kumimoji="0" lang="ko-KR" altLang="en-US" sz="2000" b="1" i="0" u="none" strike="noStrike" kern="1200" cap="none" spc="0" normalizeH="0" baseline="0" noProof="0" dirty="0">
                <a:ln>
                  <a:noFill/>
                </a:ln>
                <a:solidFill>
                  <a:prstClr val="black"/>
                </a:solidFill>
                <a:effectLst/>
                <a:uLnTx/>
                <a:uFillTx/>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17" name="Text 7">
            <a:extLst>
              <a:ext uri="{FF2B5EF4-FFF2-40B4-BE49-F238E27FC236}">
                <a16:creationId xmlns:a16="http://schemas.microsoft.com/office/drawing/2014/main" id="{304B756D-2CEF-8562-C12F-3A9F988D8756}"/>
              </a:ext>
            </a:extLst>
          </p:cNvPr>
          <p:cNvSpPr>
            <a:spLocks noGrp="1"/>
          </p:cNvSpPr>
          <p:nvPr/>
        </p:nvSpPr>
        <p:spPr>
          <a:xfrm>
            <a:off x="8036282" y="1411866"/>
            <a:ext cx="6082053" cy="438912"/>
          </a:xfrm>
          <a:prstGeom prst="rect">
            <a:avLst/>
          </a:prstGeom>
          <a:noFill/>
        </p:spPr>
        <p:txBody>
          <a:bodyPr wrap="square" lIns="0" tIns="0" rIns="0" bIns="0" anchor="ctr"/>
          <a:lstStyle/>
          <a:p>
            <a:pPr marL="0" marR="0" lvl="0" indent="0" algn="l" defTabSz="914400">
              <a:lnSpc>
                <a:spcPct val="100000"/>
              </a:lnSpc>
              <a:spcBef>
                <a:spcPts val="0"/>
              </a:spcBef>
              <a:spcAft>
                <a:spcPts val="0"/>
              </a:spcAft>
              <a:buClrTx/>
              <a:buSzTx/>
              <a:buFontTx/>
              <a:buNone/>
            </a:pPr>
            <a:r>
              <a:rPr lang="en-US" sz="2240" b="1" kern="1200" baseline="0" dirty="0">
                <a:solidFill>
                  <a:srgbClr val="FF0000"/>
                </a:solidFill>
                <a:latin typeface="Pretendard"/>
                <a:ea typeface="Pretendard"/>
                <a:cs typeface="Pretendard"/>
              </a:rPr>
              <a:t>MVP:</a:t>
            </a:r>
            <a:r>
              <a:rPr lang="ko-KR" altLang="en-US" sz="2240" b="1" kern="1200" baseline="0" dirty="0">
                <a:solidFill>
                  <a:srgbClr val="FF0000"/>
                </a:solidFill>
                <a:latin typeface="Pretendard"/>
                <a:ea typeface="Pretendard"/>
                <a:cs typeface="Pretendard"/>
              </a:rPr>
              <a:t> 이탈 위험 고객 대응 상담 시스템</a:t>
            </a:r>
            <a:endParaRPr sz="2240" b="0" i="0" u="none" kern="1200" cap="none" spc="0" baseline="0" dirty="0">
              <a:ln>
                <a:noFill/>
              </a:ln>
              <a:solidFill>
                <a:srgbClr val="FF0000"/>
              </a:solidFill>
              <a:latin typeface="Pretendard"/>
              <a:ea typeface="Pretendard"/>
              <a:cs typeface="Pretendard"/>
            </a:endParaRPr>
          </a:p>
        </p:txBody>
      </p:sp>
    </p:spTree>
    <p:extLst>
      <p:ext uri="{BB962C8B-B14F-4D97-AF65-F5344CB8AC3E}">
        <p14:creationId xmlns:p14="http://schemas.microsoft.com/office/powerpoint/2010/main" val="1481533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0440B-7281-D9E2-0321-D8DC3758D9A8}"/>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4BB4F6DB-E9F5-F95A-853A-88408575133F}"/>
              </a:ext>
            </a:extLst>
          </p:cNvPr>
          <p:cNvSpPr>
            <a:spLocks noGrp="1"/>
          </p:cNvSpPr>
          <p:nvPr>
            <p:ph type="body" idx="11"/>
          </p:nvPr>
        </p:nvSpPr>
        <p:spPr>
          <a:xfrm>
            <a:off x="1604010" y="3657770"/>
            <a:ext cx="11414760" cy="772805"/>
          </a:xfrm>
        </p:spPr>
        <p:txBody>
          <a:bodyPr/>
          <a:lstStyle/>
          <a:p>
            <a:r>
              <a:rPr lang="en-US" altLang="ko-KR" dirty="0" err="1"/>
              <a:t>GraphRAG</a:t>
            </a:r>
            <a:r>
              <a:rPr lang="en-US" altLang="ko-KR" dirty="0"/>
              <a:t> </a:t>
            </a:r>
            <a:r>
              <a:rPr lang="ko-KR" altLang="en-US" dirty="0"/>
              <a:t>개요</a:t>
            </a:r>
            <a:endParaRPr dirty="0"/>
          </a:p>
        </p:txBody>
      </p:sp>
      <p:sp>
        <p:nvSpPr>
          <p:cNvPr id="3" name="텍스트 개체 틀 2">
            <a:extLst>
              <a:ext uri="{FF2B5EF4-FFF2-40B4-BE49-F238E27FC236}">
                <a16:creationId xmlns:a16="http://schemas.microsoft.com/office/drawing/2014/main" id="{AE904CBA-7385-3AC6-DD43-F61C66FB3D9B}"/>
              </a:ext>
            </a:extLst>
          </p:cNvPr>
          <p:cNvSpPr>
            <a:spLocks noGrp="1"/>
          </p:cNvSpPr>
          <p:nvPr>
            <p:ph type="body" idx="12"/>
          </p:nvPr>
        </p:nvSpPr>
        <p:spPr>
          <a:xfrm>
            <a:off x="1611630" y="3288439"/>
            <a:ext cx="11414760" cy="332399"/>
          </a:xfrm>
        </p:spPr>
        <p:txBody>
          <a:bodyPr/>
          <a:lstStyle/>
          <a:p>
            <a:pPr>
              <a:spcBef>
                <a:spcPct val="0"/>
              </a:spcBef>
              <a:spcAft>
                <a:spcPts val="600"/>
              </a:spcAft>
              <a:buNone/>
            </a:pPr>
            <a:r>
              <a:rPr>
                <a:solidFill>
                  <a:schemeClr val="tx2"/>
                </a:solidFill>
                <a:latin typeface="Pretendard"/>
                <a:ea typeface="Pretendard"/>
                <a:cs typeface="Pretendard"/>
              </a:rPr>
              <a:t>하이브리드 AI</a:t>
            </a:r>
          </a:p>
        </p:txBody>
      </p:sp>
    </p:spTree>
    <p:extLst>
      <p:ext uri="{BB962C8B-B14F-4D97-AF65-F5344CB8AC3E}">
        <p14:creationId xmlns:p14="http://schemas.microsoft.com/office/powerpoint/2010/main" val="132739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D776A-F582-69E7-988C-C999A6C3012E}"/>
            </a:ext>
          </a:extLst>
        </p:cNvPr>
        <p:cNvGrpSpPr/>
        <p:nvPr/>
      </p:nvGrpSpPr>
      <p:grpSpPr>
        <a:xfrm>
          <a:off x="0" y="0"/>
          <a:ext cx="0" cy="0"/>
          <a:chOff x="0" y="0"/>
          <a:chExt cx="0" cy="0"/>
        </a:xfrm>
      </p:grpSpPr>
      <p:sp>
        <p:nvSpPr>
          <p:cNvPr id="7" name="제목 6">
            <a:extLst>
              <a:ext uri="{FF2B5EF4-FFF2-40B4-BE49-F238E27FC236}">
                <a16:creationId xmlns:a16="http://schemas.microsoft.com/office/drawing/2014/main" id="{CC6EBECE-5588-105A-9594-1D3C0687F522}"/>
              </a:ext>
            </a:extLst>
          </p:cNvPr>
          <p:cNvSpPr>
            <a:spLocks noGrp="1"/>
          </p:cNvSpPr>
          <p:nvPr>
            <p:ph type="title"/>
          </p:nvPr>
        </p:nvSpPr>
        <p:spPr/>
        <p:txBody>
          <a:bodyPr/>
          <a:lstStyle/>
          <a:p>
            <a:r>
              <a:rPr lang="en-US" altLang="ko-KR" dirty="0" err="1">
                <a:latin typeface="Pretendard" panose="02000503000000020004" pitchFamily="50" charset="-127"/>
                <a:ea typeface="Pretendard" panose="02000503000000020004" pitchFamily="50" charset="-127"/>
                <a:cs typeface="Pretendard" panose="02000503000000020004" pitchFamily="50" charset="-127"/>
              </a:rPr>
              <a:t>GraphRAG</a:t>
            </a:r>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r>
              <a:rPr lang="ko-KR" altLang="en-US" dirty="0">
                <a:latin typeface="Pretendard" panose="02000503000000020004" pitchFamily="50" charset="-127"/>
                <a:ea typeface="Pretendard" panose="02000503000000020004" pitchFamily="50" charset="-127"/>
                <a:cs typeface="Pretendard" panose="02000503000000020004" pitchFamily="50" charset="-127"/>
              </a:rPr>
              <a:t>필요성</a:t>
            </a:r>
          </a:p>
        </p:txBody>
      </p:sp>
      <p:sp>
        <p:nvSpPr>
          <p:cNvPr id="4" name="슬라이드 번호 개체 틀 3">
            <a:extLst>
              <a:ext uri="{FF2B5EF4-FFF2-40B4-BE49-F238E27FC236}">
                <a16:creationId xmlns:a16="http://schemas.microsoft.com/office/drawing/2014/main" id="{C8D46EA5-906B-AA8C-01F0-5999C28050CF}"/>
              </a:ext>
            </a:extLst>
          </p:cNvPr>
          <p:cNvSpPr>
            <a:spLocks noGrp="1"/>
          </p:cNvSpPr>
          <p:nvPr>
            <p:ph type="sldNum" sz="quarter" idx="4"/>
          </p:nvPr>
        </p:nvSpPr>
        <p:spPr/>
        <p:txBody>
          <a:bodyPr/>
          <a:lstStyle/>
          <a:p>
            <a:fld id="{5D069905-AE10-E849-B625-D412908E376F}" type="slidenum">
              <a:rPr kumimoji="1" lang="ko-Kore-KR" altLang="en-US" smtClean="0">
                <a:latin typeface="Pretendard" panose="02000503000000020004" pitchFamily="50" charset="-127"/>
                <a:ea typeface="Pretendard" panose="02000503000000020004" pitchFamily="50" charset="-127"/>
                <a:cs typeface="Pretendard" panose="02000503000000020004" pitchFamily="50" charset="-127"/>
              </a:rPr>
              <a:pPr/>
              <a:t>4</a:t>
            </a:fld>
            <a:endParaRPr kumimoji="1" lang="ko-Kore-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 name="Shape 0">
            <a:extLst>
              <a:ext uri="{FF2B5EF4-FFF2-40B4-BE49-F238E27FC236}">
                <a16:creationId xmlns:a16="http://schemas.microsoft.com/office/drawing/2014/main" id="{7CDFD70A-DD00-6494-8B3D-CAE0BB155390}"/>
              </a:ext>
            </a:extLst>
          </p:cNvPr>
          <p:cNvSpPr/>
          <p:nvPr/>
        </p:nvSpPr>
        <p:spPr>
          <a:xfrm>
            <a:off x="592036" y="1290187"/>
            <a:ext cx="886227" cy="262490"/>
          </a:xfrm>
          <a:prstGeom prst="roundRect">
            <a:avLst>
              <a:gd name="adj" fmla="val 15625"/>
            </a:avLst>
          </a:prstGeom>
          <a:solidFill>
            <a:srgbClr val="0D9488"/>
          </a:solidFill>
          <a:ln/>
        </p:spPr>
        <p:txBody>
          <a:bodyPr/>
          <a:lstStyle/>
          <a:p>
            <a:endParaRPr lang="ko-KR" altLang="en-US" sz="2000">
              <a:latin typeface="Pretendard" panose="02000503000000020004" pitchFamily="50" charset="-127"/>
              <a:ea typeface="Pretendard" panose="02000503000000020004" pitchFamily="50" charset="-127"/>
              <a:cs typeface="Pretendard" panose="02000503000000020004" pitchFamily="50" charset="-127"/>
            </a:endParaRPr>
          </a:p>
        </p:txBody>
      </p:sp>
      <p:sp>
        <p:nvSpPr>
          <p:cNvPr id="3" name="Text 1">
            <a:extLst>
              <a:ext uri="{FF2B5EF4-FFF2-40B4-BE49-F238E27FC236}">
                <a16:creationId xmlns:a16="http://schemas.microsoft.com/office/drawing/2014/main" id="{6B879504-5A60-8FEB-788C-A56F6862AD9F}"/>
              </a:ext>
            </a:extLst>
          </p:cNvPr>
          <p:cNvSpPr/>
          <p:nvPr/>
        </p:nvSpPr>
        <p:spPr>
          <a:xfrm>
            <a:off x="592036" y="1290187"/>
            <a:ext cx="886227" cy="262490"/>
          </a:xfrm>
          <a:prstGeom prst="rect">
            <a:avLst/>
          </a:prstGeom>
          <a:noFill/>
          <a:ln/>
        </p:spPr>
        <p:txBody>
          <a:bodyPr wrap="square" lIns="0" tIns="0" rIns="0" bIns="0" rtlCol="0" anchor="ctr"/>
          <a:lstStyle/>
          <a:p>
            <a:pPr algn="ctr"/>
            <a:r>
              <a:rPr lang="en-US" sz="14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WHY</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a:extLst>
              <a:ext uri="{FF2B5EF4-FFF2-40B4-BE49-F238E27FC236}">
                <a16:creationId xmlns:a16="http://schemas.microsoft.com/office/drawing/2014/main" id="{1BB498C9-41FA-8E67-27AC-FD0C413A7BCE}"/>
              </a:ext>
            </a:extLst>
          </p:cNvPr>
          <p:cNvSpPr/>
          <p:nvPr/>
        </p:nvSpPr>
        <p:spPr>
          <a:xfrm>
            <a:off x="1754409" y="1236868"/>
            <a:ext cx="11713618" cy="369127"/>
          </a:xfrm>
          <a:prstGeom prst="rect">
            <a:avLst/>
          </a:prstGeom>
          <a:noFill/>
          <a:ln/>
        </p:spPr>
        <p:txBody>
          <a:bodyPr wrap="square" lIns="0" tIns="0" rIns="0" bIns="0" rtlCol="0" anchor="ctr"/>
          <a:lstStyle/>
          <a:p>
            <a:r>
              <a:rPr 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질문-문서 간 </a:t>
            </a:r>
            <a:r>
              <a:rPr lang="en-US" sz="1600" b="1"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유사도에만 의존하는 벡터RAG</a:t>
            </a:r>
            <a:r>
              <a:rPr 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의 한계를 넘어 </a:t>
            </a:r>
            <a:r>
              <a:rPr lang="en-US" sz="1600" b="1"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정보 간 관계를 기반</a:t>
            </a:r>
            <a:r>
              <a:rPr 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으로 </a:t>
            </a:r>
            <a:r>
              <a:rPr lang="en-US" sz="1600" b="1"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멀티홉 추론과 거시적 통찰</a:t>
            </a:r>
            <a:r>
              <a:rPr 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을 가능하게 함</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29" name="그룹 28">
            <a:extLst>
              <a:ext uri="{FF2B5EF4-FFF2-40B4-BE49-F238E27FC236}">
                <a16:creationId xmlns:a16="http://schemas.microsoft.com/office/drawing/2014/main" id="{4B00E8CE-A9F7-79BE-78E1-C245CE92A45A}"/>
              </a:ext>
            </a:extLst>
          </p:cNvPr>
          <p:cNvGrpSpPr/>
          <p:nvPr/>
        </p:nvGrpSpPr>
        <p:grpSpPr>
          <a:xfrm>
            <a:off x="884795" y="2189462"/>
            <a:ext cx="5400000" cy="2522199"/>
            <a:chOff x="592036" y="2274526"/>
            <a:chExt cx="4652694" cy="2522199"/>
          </a:xfrm>
        </p:grpSpPr>
        <p:sp>
          <p:nvSpPr>
            <p:cNvPr id="6" name="Shape 4">
              <a:extLst>
                <a:ext uri="{FF2B5EF4-FFF2-40B4-BE49-F238E27FC236}">
                  <a16:creationId xmlns:a16="http://schemas.microsoft.com/office/drawing/2014/main" id="{004AAF41-75BF-6D5D-E6EE-66A7E3676195}"/>
                </a:ext>
              </a:extLst>
            </p:cNvPr>
            <p:cNvSpPr/>
            <p:nvPr/>
          </p:nvSpPr>
          <p:spPr>
            <a:xfrm>
              <a:off x="592036" y="2274526"/>
              <a:ext cx="4652694" cy="2522199"/>
            </a:xfrm>
            <a:prstGeom prst="rect">
              <a:avLst/>
            </a:prstGeom>
            <a:solidFill>
              <a:srgbClr val="F1F5F9"/>
            </a:solidFill>
            <a:ln/>
            <a:effectLst>
              <a:outerShdw blurRad="76200" dist="25400" dir="8100000" algn="bl" rotWithShape="0">
                <a:srgbClr val="000000">
                  <a:alpha val="8000"/>
                </a:srgbClr>
              </a:outerShdw>
            </a:effectLst>
          </p:spPr>
          <p:txBody>
            <a:bodyPr/>
            <a:lstStyle/>
            <a:p>
              <a:endParaRPr lang="ko-KR" altLang="en-US" sz="200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a:extLst>
                <a:ext uri="{FF2B5EF4-FFF2-40B4-BE49-F238E27FC236}">
                  <a16:creationId xmlns:a16="http://schemas.microsoft.com/office/drawing/2014/main" id="{6FB3D58F-B39A-843C-0764-5F6A48882D4D}"/>
                </a:ext>
              </a:extLst>
            </p:cNvPr>
            <p:cNvSpPr/>
            <p:nvPr/>
          </p:nvSpPr>
          <p:spPr>
            <a:xfrm>
              <a:off x="592036" y="2274526"/>
              <a:ext cx="66467" cy="2522199"/>
            </a:xfrm>
            <a:prstGeom prst="rect">
              <a:avLst/>
            </a:prstGeom>
            <a:solidFill>
              <a:srgbClr val="94A3B8"/>
            </a:solidFill>
            <a:ln/>
          </p:spPr>
          <p:txBody>
            <a:bodyPr/>
            <a:lstStyle/>
            <a:p>
              <a:endParaRPr lang="ko-KR" altLang="en-US" sz="200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a:extLst>
                <a:ext uri="{FF2B5EF4-FFF2-40B4-BE49-F238E27FC236}">
                  <a16:creationId xmlns:a16="http://schemas.microsoft.com/office/drawing/2014/main" id="{D1B54176-69BB-137F-C701-A8B244C30B39}"/>
                </a:ext>
              </a:extLst>
            </p:cNvPr>
            <p:cNvSpPr/>
            <p:nvPr/>
          </p:nvSpPr>
          <p:spPr>
            <a:xfrm>
              <a:off x="924371" y="2397568"/>
              <a:ext cx="3877245" cy="328113"/>
            </a:xfrm>
            <a:prstGeom prst="rect">
              <a:avLst/>
            </a:prstGeom>
            <a:noFill/>
            <a:ln/>
          </p:spPr>
          <p:txBody>
            <a:bodyPr wrap="square" lIns="0" tIns="0" rIns="0" bIns="0" rtlCol="0" anchor="ctr"/>
            <a:lstStyle/>
            <a:p>
              <a:r>
                <a:rPr lang="en-US" sz="2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Vector RAG</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7">
              <a:extLst>
                <a:ext uri="{FF2B5EF4-FFF2-40B4-BE49-F238E27FC236}">
                  <a16:creationId xmlns:a16="http://schemas.microsoft.com/office/drawing/2014/main" id="{0C2C067E-2345-1BD7-8172-2EAC83C479E7}"/>
                </a:ext>
              </a:extLst>
            </p:cNvPr>
            <p:cNvSpPr/>
            <p:nvPr/>
          </p:nvSpPr>
          <p:spPr>
            <a:xfrm>
              <a:off x="924371" y="2725681"/>
              <a:ext cx="3877245" cy="246085"/>
            </a:xfrm>
            <a:prstGeom prst="rect">
              <a:avLst/>
            </a:prstGeom>
            <a:noFill/>
            <a:ln/>
          </p:spPr>
          <p:txBody>
            <a:bodyPr wrap="square" lIns="0" tIns="0" rIns="0" bIns="0" rtlCol="0" anchor="ctr"/>
            <a:lstStyle/>
            <a:p>
              <a:r>
                <a:rPr lang="en-US" sz="16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유사도 기반 검색</a:t>
              </a:r>
            </a:p>
          </p:txBody>
        </p:sp>
        <p:sp>
          <p:nvSpPr>
            <p:cNvPr id="11" name="Text 8">
              <a:extLst>
                <a:ext uri="{FF2B5EF4-FFF2-40B4-BE49-F238E27FC236}">
                  <a16:creationId xmlns:a16="http://schemas.microsoft.com/office/drawing/2014/main" id="{2226A47E-D088-64DE-DCB0-C65177B77BBC}"/>
                </a:ext>
              </a:extLst>
            </p:cNvPr>
            <p:cNvSpPr/>
            <p:nvPr/>
          </p:nvSpPr>
          <p:spPr>
            <a:xfrm>
              <a:off x="1145928" y="3176836"/>
              <a:ext cx="3655688"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질문을 임베딩으로 변환</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a:extLst>
                <a:ext uri="{FF2B5EF4-FFF2-40B4-BE49-F238E27FC236}">
                  <a16:creationId xmlns:a16="http://schemas.microsoft.com/office/drawing/2014/main" id="{2D3FA964-7209-AB3E-A216-A5DB05CFEDCD}"/>
                </a:ext>
              </a:extLst>
            </p:cNvPr>
            <p:cNvSpPr/>
            <p:nvPr/>
          </p:nvSpPr>
          <p:spPr>
            <a:xfrm>
              <a:off x="1145928" y="3504948"/>
              <a:ext cx="3655688"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벡터 공간에서 유사 청크 검색</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0">
              <a:extLst>
                <a:ext uri="{FF2B5EF4-FFF2-40B4-BE49-F238E27FC236}">
                  <a16:creationId xmlns:a16="http://schemas.microsoft.com/office/drawing/2014/main" id="{07537C71-48B3-DA4D-4813-D6ABC7506946}"/>
                </a:ext>
              </a:extLst>
            </p:cNvPr>
            <p:cNvSpPr/>
            <p:nvPr/>
          </p:nvSpPr>
          <p:spPr>
            <a:xfrm>
              <a:off x="1145928" y="3833061"/>
              <a:ext cx="3655688"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가장 가까운 </a:t>
              </a:r>
              <a:r>
                <a:rPr lang="en-US"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문서</a:t>
              </a: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청크</a:t>
              </a: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반환</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1">
              <a:extLst>
                <a:ext uri="{FF2B5EF4-FFF2-40B4-BE49-F238E27FC236}">
                  <a16:creationId xmlns:a16="http://schemas.microsoft.com/office/drawing/2014/main" id="{9C0CBEB9-6866-33DB-4E51-822E02E09D19}"/>
                </a:ext>
              </a:extLst>
            </p:cNvPr>
            <p:cNvSpPr/>
            <p:nvPr/>
          </p:nvSpPr>
          <p:spPr>
            <a:xfrm>
              <a:off x="1145928" y="4161174"/>
              <a:ext cx="3655688"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단순 유사도 검색의 한계</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30" name="그룹 29">
            <a:extLst>
              <a:ext uri="{FF2B5EF4-FFF2-40B4-BE49-F238E27FC236}">
                <a16:creationId xmlns:a16="http://schemas.microsoft.com/office/drawing/2014/main" id="{5366D5CF-84C6-0BEB-2D83-AA9E8CE71D94}"/>
              </a:ext>
            </a:extLst>
          </p:cNvPr>
          <p:cNvGrpSpPr/>
          <p:nvPr/>
        </p:nvGrpSpPr>
        <p:grpSpPr>
          <a:xfrm>
            <a:off x="7936771" y="2189462"/>
            <a:ext cx="5400000" cy="2522199"/>
            <a:chOff x="5909401" y="2274526"/>
            <a:chExt cx="4652694" cy="2522199"/>
          </a:xfrm>
        </p:grpSpPr>
        <p:sp>
          <p:nvSpPr>
            <p:cNvPr id="17" name="Shape 14">
              <a:extLst>
                <a:ext uri="{FF2B5EF4-FFF2-40B4-BE49-F238E27FC236}">
                  <a16:creationId xmlns:a16="http://schemas.microsoft.com/office/drawing/2014/main" id="{EDEDA091-EF03-88C8-9648-5C91A0002BDA}"/>
                </a:ext>
              </a:extLst>
            </p:cNvPr>
            <p:cNvSpPr/>
            <p:nvPr/>
          </p:nvSpPr>
          <p:spPr>
            <a:xfrm>
              <a:off x="5909401" y="2274526"/>
              <a:ext cx="4652694" cy="2522199"/>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ko-KR" altLang="en-US" sz="200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Shape 15">
              <a:extLst>
                <a:ext uri="{FF2B5EF4-FFF2-40B4-BE49-F238E27FC236}">
                  <a16:creationId xmlns:a16="http://schemas.microsoft.com/office/drawing/2014/main" id="{8301980F-4EB0-BD7A-6AB9-FF91E8D1FB65}"/>
                </a:ext>
              </a:extLst>
            </p:cNvPr>
            <p:cNvSpPr/>
            <p:nvPr/>
          </p:nvSpPr>
          <p:spPr>
            <a:xfrm>
              <a:off x="5909401" y="2274526"/>
              <a:ext cx="66467" cy="2522199"/>
            </a:xfrm>
            <a:prstGeom prst="rect">
              <a:avLst/>
            </a:prstGeom>
            <a:solidFill>
              <a:srgbClr val="0D9488"/>
            </a:solidFill>
            <a:ln/>
          </p:spPr>
          <p:txBody>
            <a:bodyPr/>
            <a:lstStyle/>
            <a:p>
              <a:endParaRPr lang="ko-KR" altLang="en-US" sz="200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 16">
              <a:extLst>
                <a:ext uri="{FF2B5EF4-FFF2-40B4-BE49-F238E27FC236}">
                  <a16:creationId xmlns:a16="http://schemas.microsoft.com/office/drawing/2014/main" id="{42D017D1-094F-10CE-7AB4-F2716E515ACA}"/>
                </a:ext>
              </a:extLst>
            </p:cNvPr>
            <p:cNvSpPr/>
            <p:nvPr/>
          </p:nvSpPr>
          <p:spPr>
            <a:xfrm>
              <a:off x="6241736" y="2397568"/>
              <a:ext cx="3877245" cy="328113"/>
            </a:xfrm>
            <a:prstGeom prst="rect">
              <a:avLst/>
            </a:prstGeom>
            <a:noFill/>
            <a:ln/>
          </p:spPr>
          <p:txBody>
            <a:bodyPr wrap="square" lIns="0" tIns="0" rIns="0" bIns="0" rtlCol="0" anchor="ctr"/>
            <a:lstStyle/>
            <a:p>
              <a:r>
                <a:rPr lang="en-US" sz="2400" dirty="0">
                  <a:solidFill>
                    <a:srgbClr val="1E293B"/>
                  </a:solidFill>
                  <a:latin typeface="Pretendard" panose="02000503000000020004" pitchFamily="50" charset="-127"/>
                  <a:ea typeface="Pretendard" panose="02000503000000020004" pitchFamily="50" charset="-127"/>
                  <a:cs typeface="Pretendard" panose="02000503000000020004" pitchFamily="50" charset="-127"/>
                </a:rPr>
                <a:t>Graph RAG</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7">
              <a:extLst>
                <a:ext uri="{FF2B5EF4-FFF2-40B4-BE49-F238E27FC236}">
                  <a16:creationId xmlns:a16="http://schemas.microsoft.com/office/drawing/2014/main" id="{E02E86A0-9DC4-A078-986D-A283B2CEE5BC}"/>
                </a:ext>
              </a:extLst>
            </p:cNvPr>
            <p:cNvSpPr/>
            <p:nvPr/>
          </p:nvSpPr>
          <p:spPr>
            <a:xfrm>
              <a:off x="6241736" y="2725681"/>
              <a:ext cx="3877245" cy="246085"/>
            </a:xfrm>
            <a:prstGeom prst="rect">
              <a:avLst/>
            </a:prstGeom>
            <a:noFill/>
            <a:ln/>
          </p:spPr>
          <p:txBody>
            <a:bodyPr wrap="square" lIns="0" tIns="0" rIns="0" bIns="0" rtlCol="0" anchor="ctr"/>
            <a:lstStyle/>
            <a:p>
              <a:r>
                <a:rPr lang="en-US" sz="1600" b="1" dirty="0" err="1">
                  <a:solidFill>
                    <a:srgbClr val="FF0000"/>
                  </a:solidFill>
                  <a:latin typeface="Pretendard" panose="02000503000000020004" pitchFamily="50" charset="-127"/>
                  <a:ea typeface="Pretendard" panose="02000503000000020004" pitchFamily="50" charset="-127"/>
                  <a:cs typeface="Pretendard" panose="02000503000000020004" pitchFamily="50" charset="-127"/>
                </a:rPr>
                <a:t>관계</a:t>
              </a:r>
              <a:r>
                <a:rPr lang="en-US" sz="16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 기반 검색</a:t>
              </a:r>
            </a:p>
          </p:txBody>
        </p:sp>
        <p:sp>
          <p:nvSpPr>
            <p:cNvPr id="21" name="Text 18">
              <a:extLst>
                <a:ext uri="{FF2B5EF4-FFF2-40B4-BE49-F238E27FC236}">
                  <a16:creationId xmlns:a16="http://schemas.microsoft.com/office/drawing/2014/main" id="{B929A3D2-9589-9DB3-B708-D50FE13B13F4}"/>
                </a:ext>
              </a:extLst>
            </p:cNvPr>
            <p:cNvSpPr/>
            <p:nvPr/>
          </p:nvSpPr>
          <p:spPr>
            <a:xfrm>
              <a:off x="6463293" y="3176836"/>
              <a:ext cx="3976225"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질문에서 </a:t>
              </a:r>
              <a:r>
                <a:rPr lang="en-US"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엔티티·키워드</a:t>
              </a: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r>
                <a:rPr lang="en-US"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식별</a:t>
              </a:r>
              <a:r>
                <a:rPr lang="ko-KR" alt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하고 </a:t>
              </a:r>
              <a:r>
                <a:rPr lang="en-US" altLang="ko-KR"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관계</a:t>
              </a:r>
              <a:r>
                <a:rPr lang="en-US" altLang="ko-KR"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탐색</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a:extLst>
                <a:ext uri="{FF2B5EF4-FFF2-40B4-BE49-F238E27FC236}">
                  <a16:creationId xmlns:a16="http://schemas.microsoft.com/office/drawing/2014/main" id="{A92EC48B-8DD1-8E98-601E-4A34C8E6B64D}"/>
                </a:ext>
              </a:extLst>
            </p:cNvPr>
            <p:cNvSpPr/>
            <p:nvPr/>
          </p:nvSpPr>
          <p:spPr>
            <a:xfrm>
              <a:off x="6463293" y="3504948"/>
              <a:ext cx="3976225"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KG</a:t>
              </a:r>
              <a:r>
                <a:rPr lang="ko-KR" alt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에서</a:t>
              </a: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엔티티와 </a:t>
              </a:r>
              <a:r>
                <a:rPr lang="en-US"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관계</a:t>
              </a: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r>
                <a:rPr lang="en-US" sz="14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탐색</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20">
              <a:extLst>
                <a:ext uri="{FF2B5EF4-FFF2-40B4-BE49-F238E27FC236}">
                  <a16:creationId xmlns:a16="http://schemas.microsoft.com/office/drawing/2014/main" id="{C86397D8-5175-A96A-8E9C-17C386CD43FB}"/>
                </a:ext>
              </a:extLst>
            </p:cNvPr>
            <p:cNvSpPr/>
            <p:nvPr/>
          </p:nvSpPr>
          <p:spPr>
            <a:xfrm>
              <a:off x="6463293" y="3833061"/>
              <a:ext cx="3655688"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연결된 엔티티와 관계를 함께 반환</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1">
              <a:extLst>
                <a:ext uri="{FF2B5EF4-FFF2-40B4-BE49-F238E27FC236}">
                  <a16:creationId xmlns:a16="http://schemas.microsoft.com/office/drawing/2014/main" id="{8786DAE4-8EF2-99DD-803F-FC6FB492CAC4}"/>
                </a:ext>
              </a:extLst>
            </p:cNvPr>
            <p:cNvSpPr/>
            <p:nvPr/>
          </p:nvSpPr>
          <p:spPr>
            <a:xfrm>
              <a:off x="6463293" y="4161174"/>
              <a:ext cx="3655688" cy="287099"/>
            </a:xfrm>
            <a:prstGeom prst="rect">
              <a:avLst/>
            </a:prstGeom>
            <a:noFill/>
            <a:ln/>
          </p:spPr>
          <p:txBody>
            <a:bodyPr wrap="square" lIns="0" tIns="0" rIns="0" bIns="0" rtlCol="0" anchor="ctr"/>
            <a:lstStyle/>
            <a:p>
              <a:pPr marL="357188" indent="-357188">
                <a:buSzPct val="100000"/>
                <a:buChar char="•"/>
              </a:pPr>
              <a:r>
                <a:rPr lang="en-US" sz="14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멀티홉 추론 및 거시적 통찰 가능</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grpSp>
      <p:pic>
        <p:nvPicPr>
          <p:cNvPr id="27" name="Image 0" descr="preencoded.png">
            <a:extLst>
              <a:ext uri="{FF2B5EF4-FFF2-40B4-BE49-F238E27FC236}">
                <a16:creationId xmlns:a16="http://schemas.microsoft.com/office/drawing/2014/main" id="{BBCAACB9-20FA-7D61-6894-BD6D2C925C90}"/>
              </a:ext>
            </a:extLst>
          </p:cNvPr>
          <p:cNvPicPr>
            <a:picLocks noChangeAspect="1"/>
          </p:cNvPicPr>
          <p:nvPr/>
        </p:nvPicPr>
        <p:blipFill>
          <a:blip r:embed="rId3"/>
          <a:stretch>
            <a:fillRect/>
          </a:stretch>
        </p:blipFill>
        <p:spPr>
          <a:xfrm>
            <a:off x="6850509" y="4506089"/>
            <a:ext cx="553892" cy="410141"/>
          </a:xfrm>
          <a:prstGeom prst="rect">
            <a:avLst/>
          </a:prstGeom>
        </p:spPr>
      </p:pic>
      <p:pic>
        <p:nvPicPr>
          <p:cNvPr id="31" name="그림 30">
            <a:extLst>
              <a:ext uri="{FF2B5EF4-FFF2-40B4-BE49-F238E27FC236}">
                <a16:creationId xmlns:a16="http://schemas.microsoft.com/office/drawing/2014/main" id="{4415512F-EE65-2A23-2CEC-0EDA75CA4236}"/>
              </a:ext>
            </a:extLst>
          </p:cNvPr>
          <p:cNvPicPr>
            <a:picLocks noChangeAspect="1"/>
          </p:cNvPicPr>
          <p:nvPr/>
        </p:nvPicPr>
        <p:blipFill>
          <a:blip r:embed="rId4"/>
          <a:stretch>
            <a:fillRect/>
          </a:stretch>
        </p:blipFill>
        <p:spPr>
          <a:xfrm>
            <a:off x="884795" y="4834705"/>
            <a:ext cx="5400000" cy="2915911"/>
          </a:xfrm>
          <a:prstGeom prst="rect">
            <a:avLst/>
          </a:prstGeom>
        </p:spPr>
      </p:pic>
      <p:pic>
        <p:nvPicPr>
          <p:cNvPr id="32" name="그림 31">
            <a:extLst>
              <a:ext uri="{FF2B5EF4-FFF2-40B4-BE49-F238E27FC236}">
                <a16:creationId xmlns:a16="http://schemas.microsoft.com/office/drawing/2014/main" id="{72145660-44FB-B678-CDCD-E436326F2057}"/>
              </a:ext>
            </a:extLst>
          </p:cNvPr>
          <p:cNvPicPr>
            <a:picLocks noChangeAspect="1"/>
          </p:cNvPicPr>
          <p:nvPr/>
        </p:nvPicPr>
        <p:blipFill>
          <a:blip r:embed="rId5"/>
          <a:stretch>
            <a:fillRect/>
          </a:stretch>
        </p:blipFill>
        <p:spPr>
          <a:xfrm>
            <a:off x="7859188" y="4834704"/>
            <a:ext cx="5570490" cy="2915911"/>
          </a:xfrm>
          <a:prstGeom prst="rect">
            <a:avLst/>
          </a:prstGeom>
        </p:spPr>
      </p:pic>
      <p:sp>
        <p:nvSpPr>
          <p:cNvPr id="15" name="Text 3">
            <a:extLst>
              <a:ext uri="{FF2B5EF4-FFF2-40B4-BE49-F238E27FC236}">
                <a16:creationId xmlns:a16="http://schemas.microsoft.com/office/drawing/2014/main" id="{722E886B-85C5-32A7-FD64-BF96DE51E80C}"/>
              </a:ext>
            </a:extLst>
          </p:cNvPr>
          <p:cNvSpPr/>
          <p:nvPr/>
        </p:nvSpPr>
        <p:spPr>
          <a:xfrm>
            <a:off x="592035" y="1686506"/>
            <a:ext cx="13326331" cy="369127"/>
          </a:xfrm>
          <a:prstGeom prst="rect">
            <a:avLst/>
          </a:prstGeom>
          <a:noFill/>
          <a:ln/>
        </p:spPr>
        <p:txBody>
          <a:bodyPr wrap="square" lIns="0" tIns="0" rIns="0" bIns="0" rtlCol="0" anchor="ctr"/>
          <a:lstStyle/>
          <a:p>
            <a:r>
              <a:rPr lang="ko-KR" alt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소크라테스</a:t>
            </a:r>
            <a:r>
              <a:rPr lang="en-US" altLang="ko-KR"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플라톤</a:t>
            </a:r>
            <a:r>
              <a:rPr lang="en-US" altLang="ko-KR"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아리스토텔레스의 사제 관계에서 아리스토텔레스의 할아버지 스승을 </a:t>
            </a:r>
            <a:r>
              <a:rPr lang="ko-KR" altLang="en-US" sz="16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찾는게</a:t>
            </a:r>
            <a:r>
              <a:rPr lang="ko-KR" alt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err="1">
                <a:solidFill>
                  <a:srgbClr val="475569"/>
                </a:solidFill>
                <a:latin typeface="Pretendard" panose="02000503000000020004" pitchFamily="50" charset="-127"/>
                <a:ea typeface="Pretendard" panose="02000503000000020004" pitchFamily="50" charset="-127"/>
                <a:cs typeface="Pretendard" panose="02000503000000020004" pitchFamily="50" charset="-127"/>
              </a:rPr>
              <a:t>멀티홉</a:t>
            </a:r>
            <a:r>
              <a:rPr lang="ko-KR" alt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추론</a:t>
            </a:r>
            <a:r>
              <a:rPr lang="en-US" altLang="ko-KR"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세 철학자의 사상 비교가 거시적 통찰의 예임</a:t>
            </a:r>
            <a:r>
              <a:rPr lang="en-US" altLang="ko-KR" sz="1600" dirty="0">
                <a:solidFill>
                  <a:srgbClr val="475569"/>
                </a:solidFill>
                <a:latin typeface="Pretendard" panose="02000503000000020004" pitchFamily="50" charset="-127"/>
                <a:ea typeface="Pretendard" panose="02000503000000020004" pitchFamily="50" charset="-127"/>
                <a:cs typeface="Pretendard" panose="02000503000000020004" pitchFamily="50" charset="-127"/>
              </a:rPr>
              <a:t> </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33" name="그룹 32">
            <a:extLst>
              <a:ext uri="{FF2B5EF4-FFF2-40B4-BE49-F238E27FC236}">
                <a16:creationId xmlns:a16="http://schemas.microsoft.com/office/drawing/2014/main" id="{E3A1CC03-913D-B3A6-00FE-A35A3F620B06}"/>
              </a:ext>
            </a:extLst>
          </p:cNvPr>
          <p:cNvGrpSpPr/>
          <p:nvPr/>
        </p:nvGrpSpPr>
        <p:grpSpPr>
          <a:xfrm>
            <a:off x="6446463" y="5109198"/>
            <a:ext cx="1318793" cy="2502839"/>
            <a:chOff x="6446463" y="2208822"/>
            <a:chExt cx="1318793" cy="2502839"/>
          </a:xfrm>
        </p:grpSpPr>
        <p:sp>
          <p:nvSpPr>
            <p:cNvPr id="16" name="Shape 25">
              <a:extLst>
                <a:ext uri="{FF2B5EF4-FFF2-40B4-BE49-F238E27FC236}">
                  <a16:creationId xmlns:a16="http://schemas.microsoft.com/office/drawing/2014/main" id="{88D4E8D9-EAC1-6F44-7BC2-4C230BDBDB43}"/>
                </a:ext>
              </a:extLst>
            </p:cNvPr>
            <p:cNvSpPr/>
            <p:nvPr/>
          </p:nvSpPr>
          <p:spPr>
            <a:xfrm>
              <a:off x="6446463" y="2736055"/>
              <a:ext cx="1318793" cy="1975606"/>
            </a:xfrm>
            <a:prstGeom prst="rect">
              <a:avLst/>
            </a:prstGeom>
            <a:solidFill>
              <a:schemeClr val="bg1"/>
            </a:solidFill>
            <a:ln>
              <a:solidFill>
                <a:schemeClr val="bg1">
                  <a:lumMod val="50000"/>
                </a:schemeClr>
              </a:solidFill>
            </a:ln>
            <a:effectLst>
              <a:outerShdw blurRad="50800" dist="12700" dir="8100000" algn="bl" rotWithShape="0">
                <a:srgbClr val="000000">
                  <a:alpha val="8000"/>
                </a:srgbClr>
              </a:outerShdw>
            </a:effectLst>
          </p:spPr>
          <p:txBody>
            <a:bodyPr anchor="ctr"/>
            <a:lstStyle/>
            <a:p>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비정형 데이터</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pPr algn="ct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p>
            <a:p>
              <a:r>
                <a:rPr lang="ko-KR" altLang="en-US" sz="1400" dirty="0">
                  <a:latin typeface="Pretendard" panose="02000503000000020004" pitchFamily="50" charset="-127"/>
                  <a:ea typeface="Pretendard" panose="02000503000000020004" pitchFamily="50" charset="-127"/>
                  <a:cs typeface="Pretendard" panose="02000503000000020004" pitchFamily="50" charset="-127"/>
                </a:rPr>
                <a:t>관계기반 거시적 통찰 필요</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pPr algn="ct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p>
            <a:p>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비용 보다 </a:t>
              </a:r>
              <a:br>
                <a:rPr lang="en-US" altLang="ko-KR" sz="1400" dirty="0">
                  <a:latin typeface="Pretendard" panose="02000503000000020004" pitchFamily="50" charset="-127"/>
                  <a:ea typeface="Pretendard" panose="02000503000000020004" pitchFamily="50" charset="-127"/>
                  <a:cs typeface="Pretendard" panose="02000503000000020004" pitchFamily="50" charset="-127"/>
                </a:rPr>
              </a:b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품질이 더 중요 </a:t>
              </a:r>
            </a:p>
          </p:txBody>
        </p:sp>
        <p:sp>
          <p:nvSpPr>
            <p:cNvPr id="28" name="Shape 19">
              <a:extLst>
                <a:ext uri="{FF2B5EF4-FFF2-40B4-BE49-F238E27FC236}">
                  <a16:creationId xmlns:a16="http://schemas.microsoft.com/office/drawing/2014/main" id="{31201B1C-21C5-391E-A584-ED69E8618200}"/>
                </a:ext>
              </a:extLst>
            </p:cNvPr>
            <p:cNvSpPr/>
            <p:nvPr/>
          </p:nvSpPr>
          <p:spPr>
            <a:xfrm>
              <a:off x="6446463" y="2208822"/>
              <a:ext cx="1318793" cy="526694"/>
            </a:xfrm>
            <a:prstGeom prst="rect">
              <a:avLst/>
            </a:prstGeom>
            <a:solidFill>
              <a:srgbClr val="2563EB"/>
            </a:solidFill>
            <a:ln/>
          </p:spPr>
          <p:txBody>
            <a:bodyPr/>
            <a:lstStyle/>
            <a:p>
              <a:r>
                <a:rPr lang="ko-KR" altLang="en-US" sz="2400" dirty="0">
                  <a:solidFill>
                    <a:schemeClr val="bg1"/>
                  </a:solidFill>
                  <a:latin typeface="Pretendard" panose="02000503000000020004" pitchFamily="50" charset="-127"/>
                  <a:ea typeface="Pretendard" panose="02000503000000020004" pitchFamily="50" charset="-127"/>
                  <a:cs typeface="Pretendard" panose="02000503000000020004" pitchFamily="50" charset="-127"/>
                </a:rPr>
                <a:t>선택기준</a:t>
              </a:r>
            </a:p>
          </p:txBody>
        </p:sp>
      </p:grpSp>
      <p:sp>
        <p:nvSpPr>
          <p:cNvPr id="34" name="Shape 46">
            <a:extLst>
              <a:ext uri="{FF2B5EF4-FFF2-40B4-BE49-F238E27FC236}">
                <a16:creationId xmlns:a16="http://schemas.microsoft.com/office/drawing/2014/main" id="{6828D10C-5986-0952-6678-C1BD064405C4}"/>
              </a:ext>
            </a:extLst>
          </p:cNvPr>
          <p:cNvSpPr/>
          <p:nvPr/>
        </p:nvSpPr>
        <p:spPr>
          <a:xfrm>
            <a:off x="8013914" y="6265068"/>
            <a:ext cx="2351667" cy="1315127"/>
          </a:xfrm>
          <a:prstGeom prst="rect">
            <a:avLst/>
          </a:prstGeom>
          <a:solidFill>
            <a:srgbClr val="E2E8F0">
              <a:alpha val="50000"/>
            </a:srgbClr>
          </a:solidFill>
          <a:ln/>
        </p:spPr>
        <p:txBody>
          <a:bodyPr/>
          <a:lstStyle/>
          <a:p>
            <a:pPr marL="171450" indent="-171450">
              <a:buFont typeface="Arial" panose="020B0604020202020204" pitchFamily="34" charset="0"/>
              <a:buChar char="•"/>
            </a:pP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팔란티어는</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“KG</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LLM" </a:t>
            </a:r>
            <a:br>
              <a:rPr lang="en-US" altLang="ko-KR" sz="1200" dirty="0">
                <a:latin typeface="Pretendard" panose="02000503000000020004" pitchFamily="50" charset="-127"/>
                <a:ea typeface="Pretendard" panose="02000503000000020004" pitchFamily="50" charset="-127"/>
                <a:cs typeface="Pretendard" panose="02000503000000020004" pitchFamily="50" charset="-127"/>
              </a:rPr>
            </a:b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구조로</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GraphRAG</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개념을 </a:t>
            </a:r>
            <a:br>
              <a:rPr lang="en-US" altLang="ko-KR" sz="1200" dirty="0">
                <a:latin typeface="Pretendard" panose="02000503000000020004" pitchFamily="50" charset="-127"/>
                <a:ea typeface="Pretendard" panose="02000503000000020004" pitchFamily="50" charset="-127"/>
                <a:cs typeface="Pretendard" panose="02000503000000020004" pitchFamily="50" charset="-127"/>
              </a:rPr>
            </a:b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선구적으로 적용한 제품임</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171450" indent="-171450">
              <a:buFont typeface="Arial" panose="020B0604020202020204" pitchFamily="34" charset="0"/>
              <a:buChar char="•"/>
            </a:pP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Google</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은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Google Workspace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전체를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KG</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로 구축하여 서비스</a:t>
            </a:r>
            <a:endParaRPr lang="en-US" altLang="ko-KR" sz="1050" dirty="0">
              <a:latin typeface="Pretendard" panose="02000503000000020004" pitchFamily="50" charset="-127"/>
              <a:ea typeface="Pretendard" panose="02000503000000020004" pitchFamily="50" charset="-127"/>
              <a:cs typeface="Pretendard" panose="02000503000000020004" pitchFamily="50" charset="-127"/>
            </a:endParaRPr>
          </a:p>
          <a:p>
            <a:pPr marL="171450" indent="-171450">
              <a:buFont typeface="Arial" panose="020B0604020202020204" pitchFamily="34" charset="0"/>
              <a:buChar char="•"/>
            </a:pP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Claude</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는 사용자 정보를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KG</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로 구축하여 저장함</a:t>
            </a:r>
            <a:endParaRPr lang="en-US" altLang="ko-KR" sz="105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2455134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우리 시스템에 그래프 검색이 필요한 이유</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회원·카드·거래·혜택·상담이 얽힌 우리 데이터는 '이어서 답할 질문'에 그래프 검색이 필요함</a:t>
            </a:r>
            <a:endParaRPr lang="en-US" sz="1800" dirty="0"/>
          </a:p>
        </p:txBody>
      </p:sp>
      <p:sp>
        <p:nvSpPr>
          <p:cNvPr id="5" name="Shape 2"/>
          <p:cNvSpPr/>
          <p:nvPr/>
        </p:nvSpPr>
        <p:spPr>
          <a:xfrm>
            <a:off x="509321" y="1737360"/>
            <a:ext cx="4160520" cy="384048"/>
          </a:xfrm>
          <a:prstGeom prst="roundRect">
            <a:avLst>
              <a:gd name="adj" fmla="val 14286"/>
            </a:avLst>
          </a:prstGeom>
          <a:solidFill>
            <a:srgbClr val="1E2A5C"/>
          </a:solidFill>
          <a:ln/>
        </p:spPr>
        <p:txBody>
          <a:bodyPr/>
          <a:lstStyle/>
          <a:p>
            <a:endParaRPr lang="ko-KR" altLang="en-US"/>
          </a:p>
        </p:txBody>
      </p:sp>
      <p:sp>
        <p:nvSpPr>
          <p:cNvPr id="6" name="Text 3"/>
          <p:cNvSpPr txBox="1"/>
          <p:nvPr/>
        </p:nvSpPr>
        <p:spPr>
          <a:xfrm>
            <a:off x="509321" y="1737360"/>
            <a:ext cx="416052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지금 검색으로 되는 질문</a:t>
            </a:r>
            <a:endParaRPr lang="en-US" sz="1700" dirty="0"/>
          </a:p>
        </p:txBody>
      </p:sp>
      <p:sp>
        <p:nvSpPr>
          <p:cNvPr id="7" name="Shape 4"/>
          <p:cNvSpPr/>
          <p:nvPr/>
        </p:nvSpPr>
        <p:spPr>
          <a:xfrm>
            <a:off x="509321" y="2240280"/>
            <a:ext cx="4160520" cy="694944"/>
          </a:xfrm>
          <a:prstGeom prst="roundRect">
            <a:avLst>
              <a:gd name="adj" fmla="val 10526"/>
            </a:avLst>
          </a:prstGeom>
          <a:solidFill>
            <a:srgbClr val="FFFFFF"/>
          </a:solidFill>
          <a:ln w="12700">
            <a:solidFill>
              <a:srgbClr val="D9E0EC"/>
            </a:solidFill>
            <a:prstDash val="solid"/>
          </a:ln>
        </p:spPr>
        <p:txBody>
          <a:bodyPr/>
          <a:lstStyle/>
          <a:p>
            <a:endParaRPr lang="ko-KR" altLang="en-US"/>
          </a:p>
        </p:txBody>
      </p:sp>
      <p:sp>
        <p:nvSpPr>
          <p:cNvPr id="8" name="Text 5"/>
          <p:cNvSpPr txBox="1"/>
          <p:nvPr/>
        </p:nvSpPr>
        <p:spPr>
          <a:xfrm>
            <a:off x="600761" y="2240280"/>
            <a:ext cx="3246120" cy="694944"/>
          </a:xfrm>
          <a:prstGeom prst="rect">
            <a:avLst/>
          </a:prstGeom>
          <a:noFill/>
          <a:ln/>
        </p:spPr>
        <p:txBody>
          <a:bodyPr wrap="square" lIns="50800" tIns="50800" rIns="50800" bIns="50800"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문서 검색</a:t>
            </a:r>
            <a:r>
              <a:rPr lang="en-US" sz="1400" dirty="0">
                <a:solidFill>
                  <a:srgbClr val="4A5364"/>
                </a:solidFill>
                <a:latin typeface="Pretendard" pitchFamily="34" charset="0"/>
                <a:ea typeface="Pretendard" pitchFamily="34" charset="-122"/>
                <a:cs typeface="Pretendard" pitchFamily="34" charset="-120"/>
              </a:rPr>
              <a:t>  비슷한 문단 5개 찾기</a:t>
            </a:r>
            <a:endParaRPr lang="en-US" sz="1600" dirty="0"/>
          </a:p>
          <a:p>
            <a:pPr marL="0" indent="0">
              <a:buNone/>
            </a:pPr>
            <a:r>
              <a:rPr lang="en-US" sz="1400" dirty="0">
                <a:solidFill>
                  <a:srgbClr val="2B3242"/>
                </a:solidFill>
                <a:latin typeface="Pretendard" pitchFamily="34" charset="0"/>
                <a:ea typeface="Pretendard" pitchFamily="34" charset="-122"/>
                <a:cs typeface="Pretendard" pitchFamily="34" charset="-120"/>
              </a:rPr>
              <a:t>"한빛 모아생활 카드 적립률은?"</a:t>
            </a:r>
            <a:endParaRPr lang="en-US" sz="1600" dirty="0"/>
          </a:p>
        </p:txBody>
      </p:sp>
      <p:sp>
        <p:nvSpPr>
          <p:cNvPr id="9" name="Shape 6"/>
          <p:cNvSpPr/>
          <p:nvPr/>
        </p:nvSpPr>
        <p:spPr>
          <a:xfrm>
            <a:off x="3920033" y="2423160"/>
            <a:ext cx="640080"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0" name="Text 7"/>
          <p:cNvSpPr txBox="1"/>
          <p:nvPr/>
        </p:nvSpPr>
        <p:spPr>
          <a:xfrm>
            <a:off x="3920033" y="2423160"/>
            <a:ext cx="640080" cy="329184"/>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됨</a:t>
            </a:r>
            <a:endParaRPr lang="en-US" sz="1400" dirty="0"/>
          </a:p>
        </p:txBody>
      </p:sp>
      <p:sp>
        <p:nvSpPr>
          <p:cNvPr id="11" name="Shape 8"/>
          <p:cNvSpPr/>
          <p:nvPr/>
        </p:nvSpPr>
        <p:spPr>
          <a:xfrm>
            <a:off x="509321" y="3026664"/>
            <a:ext cx="4160520" cy="694944"/>
          </a:xfrm>
          <a:prstGeom prst="roundRect">
            <a:avLst>
              <a:gd name="adj" fmla="val 10526"/>
            </a:avLst>
          </a:prstGeom>
          <a:solidFill>
            <a:srgbClr val="FFFFFF"/>
          </a:solidFill>
          <a:ln w="12700">
            <a:solidFill>
              <a:srgbClr val="D9E0EC"/>
            </a:solidFill>
            <a:prstDash val="solid"/>
          </a:ln>
        </p:spPr>
        <p:txBody>
          <a:bodyPr/>
          <a:lstStyle/>
          <a:p>
            <a:endParaRPr lang="ko-KR" altLang="en-US"/>
          </a:p>
        </p:txBody>
      </p:sp>
      <p:sp>
        <p:nvSpPr>
          <p:cNvPr id="12" name="Text 9"/>
          <p:cNvSpPr txBox="1"/>
          <p:nvPr/>
        </p:nvSpPr>
        <p:spPr>
          <a:xfrm>
            <a:off x="600761" y="3026664"/>
            <a:ext cx="3246120" cy="694944"/>
          </a:xfrm>
          <a:prstGeom prst="rect">
            <a:avLst/>
          </a:prstGeom>
          <a:noFill/>
          <a:ln/>
        </p:spPr>
        <p:txBody>
          <a:bodyPr wrap="square" lIns="50800" tIns="50800" rIns="50800" bIns="50800"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SQL 검색</a:t>
            </a:r>
            <a:r>
              <a:rPr lang="en-US" sz="1400" dirty="0">
                <a:solidFill>
                  <a:srgbClr val="4A5364"/>
                </a:solidFill>
                <a:latin typeface="Pretendard" pitchFamily="34" charset="0"/>
                <a:ea typeface="Pretendard" pitchFamily="34" charset="-122"/>
                <a:cs typeface="Pretendard" pitchFamily="34" charset="-120"/>
              </a:rPr>
              <a:t>  표에서 숫자 세기</a:t>
            </a:r>
            <a:endParaRPr lang="en-US" sz="1600" dirty="0"/>
          </a:p>
          <a:p>
            <a:pPr marL="0" indent="0">
              <a:buNone/>
            </a:pPr>
            <a:r>
              <a:rPr lang="en-US" sz="1400" dirty="0">
                <a:solidFill>
                  <a:srgbClr val="2B3242"/>
                </a:solidFill>
                <a:latin typeface="Pretendard" pitchFamily="34" charset="0"/>
                <a:ea typeface="Pretendard" pitchFamily="34" charset="-122"/>
                <a:cs typeface="Pretendard" pitchFamily="34" charset="-120"/>
              </a:rPr>
              <a:t>"M-1042 회원의 8월 승인액은?"</a:t>
            </a:r>
            <a:endParaRPr lang="en-US" sz="1600" dirty="0"/>
          </a:p>
        </p:txBody>
      </p:sp>
      <p:sp>
        <p:nvSpPr>
          <p:cNvPr id="13" name="Shape 10"/>
          <p:cNvSpPr/>
          <p:nvPr/>
        </p:nvSpPr>
        <p:spPr>
          <a:xfrm>
            <a:off x="3920033" y="3209544"/>
            <a:ext cx="640080"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4" name="Text 11"/>
          <p:cNvSpPr txBox="1"/>
          <p:nvPr/>
        </p:nvSpPr>
        <p:spPr>
          <a:xfrm>
            <a:off x="3920033" y="3209544"/>
            <a:ext cx="640080" cy="329184"/>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됨</a:t>
            </a:r>
            <a:endParaRPr lang="en-US" sz="1400" dirty="0"/>
          </a:p>
        </p:txBody>
      </p:sp>
      <p:sp>
        <p:nvSpPr>
          <p:cNvPr id="15" name="Shape 12"/>
          <p:cNvSpPr/>
          <p:nvPr/>
        </p:nvSpPr>
        <p:spPr>
          <a:xfrm>
            <a:off x="509321" y="3813048"/>
            <a:ext cx="4160520" cy="530352"/>
          </a:xfrm>
          <a:prstGeom prst="roundRect">
            <a:avLst>
              <a:gd name="adj" fmla="val 13793"/>
            </a:avLst>
          </a:prstGeom>
          <a:solidFill>
            <a:srgbClr val="404155"/>
          </a:solidFill>
          <a:ln/>
        </p:spPr>
        <p:txBody>
          <a:bodyPr/>
          <a:lstStyle/>
          <a:p>
            <a:endParaRPr lang="ko-KR" altLang="en-US"/>
          </a:p>
        </p:txBody>
      </p:sp>
      <p:sp>
        <p:nvSpPr>
          <p:cNvPr id="16" name="Text 13"/>
          <p:cNvSpPr txBox="1"/>
          <p:nvPr/>
        </p:nvSpPr>
        <p:spPr>
          <a:xfrm>
            <a:off x="600761" y="3813048"/>
            <a:ext cx="3246120" cy="530352"/>
          </a:xfrm>
          <a:prstGeom prst="rect">
            <a:avLst/>
          </a:prstGeom>
          <a:noFill/>
          <a:ln/>
        </p:spPr>
        <p:txBody>
          <a:bodyPr wrap="square" lIns="50800" tIns="50800" rIns="50800" bIns="50800" rtlCol="0" anchor="ctr"/>
          <a:lstStyle/>
          <a:p>
            <a:pPr marL="0" indent="0">
              <a:buNone/>
            </a:pPr>
            <a:r>
              <a:rPr lang="en-US" sz="1600" b="1" dirty="0">
                <a:solidFill>
                  <a:srgbClr val="FFFFFF"/>
                </a:solidFill>
                <a:latin typeface="Pretendard" pitchFamily="34" charset="0"/>
                <a:ea typeface="Pretendard" pitchFamily="34" charset="-122"/>
                <a:cs typeface="Pretendard" pitchFamily="34" charset="-120"/>
              </a:rPr>
              <a:t>빈틈</a:t>
            </a:r>
            <a:r>
              <a:rPr lang="en-US" sz="1400" dirty="0">
                <a:solidFill>
                  <a:srgbClr val="FFFFFF"/>
                </a:solidFill>
                <a:latin typeface="Pretendard" pitchFamily="34" charset="0"/>
                <a:ea typeface="Pretendard" pitchFamily="34" charset="-122"/>
                <a:cs typeface="Pretendard" pitchFamily="34" charset="-120"/>
              </a:rPr>
              <a:t>  DB 사실과 문서를 잇는 질문</a:t>
            </a:r>
            <a:endParaRPr lang="en-US" sz="1600" dirty="0"/>
          </a:p>
        </p:txBody>
      </p:sp>
      <p:sp>
        <p:nvSpPr>
          <p:cNvPr id="17" name="Shape 14"/>
          <p:cNvSpPr/>
          <p:nvPr/>
        </p:nvSpPr>
        <p:spPr>
          <a:xfrm>
            <a:off x="3920033" y="3913632"/>
            <a:ext cx="640080" cy="329184"/>
          </a:xfrm>
          <a:prstGeom prst="roundRect">
            <a:avLst>
              <a:gd name="adj" fmla="val 45000"/>
            </a:avLst>
          </a:prstGeom>
          <a:solidFill>
            <a:srgbClr val="FFFFFF"/>
          </a:solidFill>
          <a:ln/>
        </p:spPr>
        <p:txBody>
          <a:bodyPr/>
          <a:lstStyle/>
          <a:p>
            <a:endParaRPr lang="ko-KR" altLang="en-US"/>
          </a:p>
        </p:txBody>
      </p:sp>
      <p:sp>
        <p:nvSpPr>
          <p:cNvPr id="18" name="Text 15"/>
          <p:cNvSpPr txBox="1"/>
          <p:nvPr/>
        </p:nvSpPr>
        <p:spPr>
          <a:xfrm>
            <a:off x="3920033" y="3913632"/>
            <a:ext cx="640080" cy="329184"/>
          </a:xfrm>
          <a:prstGeom prst="rect">
            <a:avLst/>
          </a:prstGeom>
          <a:noFill/>
          <a:ln/>
        </p:spPr>
        <p:txBody>
          <a:bodyPr wrap="square" lIns="1016" tIns="1016" rIns="1016" bIns="1016" rtlCol="0" anchor="ctr"/>
          <a:lstStyle/>
          <a:p>
            <a:pPr marL="0" indent="0" algn="ctr">
              <a:buNone/>
            </a:pPr>
            <a:r>
              <a:rPr lang="en-US" sz="1400" b="1" dirty="0">
                <a:solidFill>
                  <a:srgbClr val="404155"/>
                </a:solidFill>
                <a:latin typeface="Pretendard" pitchFamily="34" charset="0"/>
                <a:ea typeface="Pretendard" pitchFamily="34" charset="-122"/>
                <a:cs typeface="Pretendard" pitchFamily="34" charset="-120"/>
              </a:rPr>
              <a:t>안 됨</a:t>
            </a:r>
            <a:endParaRPr lang="en-US" sz="1400" dirty="0"/>
          </a:p>
        </p:txBody>
      </p:sp>
      <p:sp>
        <p:nvSpPr>
          <p:cNvPr id="19" name="Shape 16"/>
          <p:cNvSpPr/>
          <p:nvPr/>
        </p:nvSpPr>
        <p:spPr>
          <a:xfrm>
            <a:off x="4852721" y="1737360"/>
            <a:ext cx="9281160" cy="384048"/>
          </a:xfrm>
          <a:prstGeom prst="roundRect">
            <a:avLst>
              <a:gd name="adj" fmla="val 14286"/>
            </a:avLst>
          </a:prstGeom>
          <a:solidFill>
            <a:srgbClr val="2E74C6"/>
          </a:solidFill>
          <a:ln/>
        </p:spPr>
        <p:txBody>
          <a:bodyPr/>
          <a:lstStyle/>
          <a:p>
            <a:endParaRPr lang="ko-KR" altLang="en-US"/>
          </a:p>
        </p:txBody>
      </p:sp>
      <p:sp>
        <p:nvSpPr>
          <p:cNvPr id="20" name="Text 17"/>
          <p:cNvSpPr txBox="1"/>
          <p:nvPr/>
        </p:nvSpPr>
        <p:spPr>
          <a:xfrm>
            <a:off x="4852721" y="1737360"/>
            <a:ext cx="928116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우리 데이터를 이으면 하나의 관계망(지식 그래프)이 됨</a:t>
            </a:r>
            <a:endParaRPr lang="en-US" sz="1700" dirty="0"/>
          </a:p>
        </p:txBody>
      </p:sp>
      <p:sp>
        <p:nvSpPr>
          <p:cNvPr id="21" name="Shape 18"/>
          <p:cNvSpPr/>
          <p:nvPr/>
        </p:nvSpPr>
        <p:spPr>
          <a:xfrm>
            <a:off x="4852721" y="2240280"/>
            <a:ext cx="9281160" cy="2103120"/>
          </a:xfrm>
          <a:prstGeom prst="roundRect">
            <a:avLst>
              <a:gd name="adj" fmla="val 3478"/>
            </a:avLst>
          </a:prstGeom>
          <a:solidFill>
            <a:srgbClr val="F5F8FC"/>
          </a:solidFill>
          <a:ln w="12700">
            <a:solidFill>
              <a:srgbClr val="D9E0EC"/>
            </a:solidFill>
            <a:prstDash val="solid"/>
          </a:ln>
        </p:spPr>
        <p:txBody>
          <a:bodyPr/>
          <a:lstStyle/>
          <a:p>
            <a:endParaRPr lang="ko-KR" altLang="en-US"/>
          </a:p>
        </p:txBody>
      </p:sp>
      <p:sp>
        <p:nvSpPr>
          <p:cNvPr id="22" name="Shape 19"/>
          <p:cNvSpPr/>
          <p:nvPr/>
        </p:nvSpPr>
        <p:spPr>
          <a:xfrm>
            <a:off x="5127041" y="2395728"/>
            <a:ext cx="1417320" cy="457200"/>
          </a:xfrm>
          <a:prstGeom prst="roundRect">
            <a:avLst>
              <a:gd name="adj" fmla="val 24000"/>
            </a:avLst>
          </a:prstGeom>
          <a:solidFill>
            <a:srgbClr val="1E2A5C"/>
          </a:solidFill>
          <a:ln/>
        </p:spPr>
        <p:txBody>
          <a:bodyPr/>
          <a:lstStyle/>
          <a:p>
            <a:endParaRPr lang="ko-KR" altLang="en-US"/>
          </a:p>
        </p:txBody>
      </p:sp>
      <p:sp>
        <p:nvSpPr>
          <p:cNvPr id="23" name="Text 20"/>
          <p:cNvSpPr txBox="1"/>
          <p:nvPr/>
        </p:nvSpPr>
        <p:spPr>
          <a:xfrm>
            <a:off x="5127041" y="2395728"/>
            <a:ext cx="1417320" cy="4572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회원</a:t>
            </a:r>
            <a:endParaRPr lang="en-US" sz="1600" dirty="0"/>
          </a:p>
        </p:txBody>
      </p:sp>
      <p:sp>
        <p:nvSpPr>
          <p:cNvPr id="24" name="Shape 21"/>
          <p:cNvSpPr/>
          <p:nvPr/>
        </p:nvSpPr>
        <p:spPr>
          <a:xfrm>
            <a:off x="7458761" y="2395728"/>
            <a:ext cx="1417320" cy="457200"/>
          </a:xfrm>
          <a:prstGeom prst="roundRect">
            <a:avLst>
              <a:gd name="adj" fmla="val 24000"/>
            </a:avLst>
          </a:prstGeom>
          <a:solidFill>
            <a:srgbClr val="1E2A5C"/>
          </a:solidFill>
          <a:ln/>
        </p:spPr>
        <p:txBody>
          <a:bodyPr/>
          <a:lstStyle/>
          <a:p>
            <a:endParaRPr lang="ko-KR" altLang="en-US"/>
          </a:p>
        </p:txBody>
      </p:sp>
      <p:sp>
        <p:nvSpPr>
          <p:cNvPr id="25" name="Text 22"/>
          <p:cNvSpPr txBox="1"/>
          <p:nvPr/>
        </p:nvSpPr>
        <p:spPr>
          <a:xfrm>
            <a:off x="7458761" y="2395728"/>
            <a:ext cx="1417320" cy="4572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카드</a:t>
            </a:r>
            <a:endParaRPr lang="en-US" sz="1600" dirty="0"/>
          </a:p>
        </p:txBody>
      </p:sp>
      <p:sp>
        <p:nvSpPr>
          <p:cNvPr id="26" name="Shape 23"/>
          <p:cNvSpPr/>
          <p:nvPr/>
        </p:nvSpPr>
        <p:spPr>
          <a:xfrm>
            <a:off x="9790481" y="2395728"/>
            <a:ext cx="1417320" cy="457200"/>
          </a:xfrm>
          <a:prstGeom prst="roundRect">
            <a:avLst>
              <a:gd name="adj" fmla="val 24000"/>
            </a:avLst>
          </a:prstGeom>
          <a:solidFill>
            <a:srgbClr val="1E2A5C"/>
          </a:solidFill>
          <a:ln/>
        </p:spPr>
        <p:txBody>
          <a:bodyPr/>
          <a:lstStyle/>
          <a:p>
            <a:endParaRPr lang="ko-KR" altLang="en-US"/>
          </a:p>
        </p:txBody>
      </p:sp>
      <p:sp>
        <p:nvSpPr>
          <p:cNvPr id="27" name="Text 24"/>
          <p:cNvSpPr txBox="1"/>
          <p:nvPr/>
        </p:nvSpPr>
        <p:spPr>
          <a:xfrm>
            <a:off x="9790481" y="2395728"/>
            <a:ext cx="1417320" cy="4572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거래</a:t>
            </a:r>
            <a:endParaRPr lang="en-US" sz="1600" dirty="0"/>
          </a:p>
        </p:txBody>
      </p:sp>
      <p:sp>
        <p:nvSpPr>
          <p:cNvPr id="28" name="Shape 25"/>
          <p:cNvSpPr/>
          <p:nvPr/>
        </p:nvSpPr>
        <p:spPr>
          <a:xfrm>
            <a:off x="12122201" y="2395728"/>
            <a:ext cx="1417320" cy="457200"/>
          </a:xfrm>
          <a:prstGeom prst="roundRect">
            <a:avLst>
              <a:gd name="adj" fmla="val 24000"/>
            </a:avLst>
          </a:prstGeom>
          <a:solidFill>
            <a:srgbClr val="1E2A5C"/>
          </a:solidFill>
          <a:ln/>
        </p:spPr>
        <p:txBody>
          <a:bodyPr/>
          <a:lstStyle/>
          <a:p>
            <a:endParaRPr lang="ko-KR" altLang="en-US"/>
          </a:p>
        </p:txBody>
      </p:sp>
      <p:sp>
        <p:nvSpPr>
          <p:cNvPr id="29" name="Text 26"/>
          <p:cNvSpPr txBox="1"/>
          <p:nvPr/>
        </p:nvSpPr>
        <p:spPr>
          <a:xfrm>
            <a:off x="12122201" y="2395728"/>
            <a:ext cx="1417320" cy="4572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업종</a:t>
            </a:r>
            <a:endParaRPr lang="en-US" sz="1600" dirty="0"/>
          </a:p>
        </p:txBody>
      </p:sp>
      <p:sp>
        <p:nvSpPr>
          <p:cNvPr id="30" name="Shape 27"/>
          <p:cNvSpPr/>
          <p:nvPr/>
        </p:nvSpPr>
        <p:spPr>
          <a:xfrm>
            <a:off x="5127041" y="3474720"/>
            <a:ext cx="1417320" cy="457200"/>
          </a:xfrm>
          <a:prstGeom prst="roundRect">
            <a:avLst>
              <a:gd name="adj" fmla="val 24000"/>
            </a:avLst>
          </a:prstGeom>
          <a:solidFill>
            <a:srgbClr val="404155"/>
          </a:solidFill>
          <a:ln/>
        </p:spPr>
        <p:txBody>
          <a:bodyPr/>
          <a:lstStyle/>
          <a:p>
            <a:endParaRPr lang="ko-KR" altLang="en-US"/>
          </a:p>
        </p:txBody>
      </p:sp>
      <p:sp>
        <p:nvSpPr>
          <p:cNvPr id="31" name="Text 28"/>
          <p:cNvSpPr txBox="1"/>
          <p:nvPr/>
        </p:nvSpPr>
        <p:spPr>
          <a:xfrm>
            <a:off x="5127041" y="3474720"/>
            <a:ext cx="1417320" cy="4572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상담</a:t>
            </a:r>
            <a:endParaRPr lang="en-US" sz="1600" dirty="0"/>
          </a:p>
        </p:txBody>
      </p:sp>
      <p:sp>
        <p:nvSpPr>
          <p:cNvPr id="32" name="Shape 29"/>
          <p:cNvSpPr/>
          <p:nvPr/>
        </p:nvSpPr>
        <p:spPr>
          <a:xfrm>
            <a:off x="7458761" y="3474720"/>
            <a:ext cx="1417320" cy="457200"/>
          </a:xfrm>
          <a:prstGeom prst="roundRect">
            <a:avLst>
              <a:gd name="adj" fmla="val 24000"/>
            </a:avLst>
          </a:prstGeom>
          <a:solidFill>
            <a:srgbClr val="404155"/>
          </a:solidFill>
          <a:ln/>
        </p:spPr>
        <p:txBody>
          <a:bodyPr/>
          <a:lstStyle/>
          <a:p>
            <a:endParaRPr lang="ko-KR" altLang="en-US"/>
          </a:p>
        </p:txBody>
      </p:sp>
      <p:sp>
        <p:nvSpPr>
          <p:cNvPr id="33" name="Text 30"/>
          <p:cNvSpPr txBox="1"/>
          <p:nvPr/>
        </p:nvSpPr>
        <p:spPr>
          <a:xfrm>
            <a:off x="7458761" y="3474720"/>
            <a:ext cx="1417320" cy="4572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불만 주제</a:t>
            </a:r>
            <a:endParaRPr lang="en-US" sz="1600" dirty="0"/>
          </a:p>
        </p:txBody>
      </p:sp>
      <p:sp>
        <p:nvSpPr>
          <p:cNvPr id="34" name="Shape 31"/>
          <p:cNvSpPr/>
          <p:nvPr/>
        </p:nvSpPr>
        <p:spPr>
          <a:xfrm>
            <a:off x="10933481" y="3474720"/>
            <a:ext cx="1417320" cy="457200"/>
          </a:xfrm>
          <a:prstGeom prst="roundRect">
            <a:avLst>
              <a:gd name="adj" fmla="val 24000"/>
            </a:avLst>
          </a:prstGeom>
          <a:solidFill>
            <a:srgbClr val="2E74C6"/>
          </a:solidFill>
          <a:ln/>
        </p:spPr>
        <p:txBody>
          <a:bodyPr/>
          <a:lstStyle/>
          <a:p>
            <a:endParaRPr lang="ko-KR" altLang="en-US"/>
          </a:p>
        </p:txBody>
      </p:sp>
      <p:sp>
        <p:nvSpPr>
          <p:cNvPr id="35" name="Text 32"/>
          <p:cNvSpPr txBox="1"/>
          <p:nvPr/>
        </p:nvSpPr>
        <p:spPr>
          <a:xfrm>
            <a:off x="10933481" y="3474720"/>
            <a:ext cx="1417320" cy="4572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상품·혜택</a:t>
            </a:r>
            <a:endParaRPr lang="en-US" sz="1600" dirty="0"/>
          </a:p>
        </p:txBody>
      </p:sp>
      <p:sp>
        <p:nvSpPr>
          <p:cNvPr id="36" name="Shape 33"/>
          <p:cNvSpPr/>
          <p:nvPr/>
        </p:nvSpPr>
        <p:spPr>
          <a:xfrm>
            <a:off x="6544361" y="2624328"/>
            <a:ext cx="914400" cy="0"/>
          </a:xfrm>
          <a:prstGeom prst="line">
            <a:avLst/>
          </a:prstGeom>
          <a:noFill/>
          <a:ln w="22225">
            <a:solidFill>
              <a:srgbClr val="4A5364"/>
            </a:solidFill>
            <a:prstDash val="solid"/>
            <a:tailEnd type="triangle"/>
          </a:ln>
        </p:spPr>
        <p:txBody>
          <a:bodyPr/>
          <a:lstStyle/>
          <a:p>
            <a:endParaRPr lang="ko-KR" altLang="en-US"/>
          </a:p>
        </p:txBody>
      </p:sp>
      <p:sp>
        <p:nvSpPr>
          <p:cNvPr id="37" name="Shape 34"/>
          <p:cNvSpPr/>
          <p:nvPr/>
        </p:nvSpPr>
        <p:spPr>
          <a:xfrm>
            <a:off x="8876081" y="2624328"/>
            <a:ext cx="914400" cy="0"/>
          </a:xfrm>
          <a:prstGeom prst="line">
            <a:avLst/>
          </a:prstGeom>
          <a:noFill/>
          <a:ln w="22225">
            <a:solidFill>
              <a:srgbClr val="4A5364"/>
            </a:solidFill>
            <a:prstDash val="solid"/>
            <a:tailEnd type="triangle"/>
          </a:ln>
        </p:spPr>
        <p:txBody>
          <a:bodyPr/>
          <a:lstStyle/>
          <a:p>
            <a:endParaRPr lang="ko-KR" altLang="en-US"/>
          </a:p>
        </p:txBody>
      </p:sp>
      <p:sp>
        <p:nvSpPr>
          <p:cNvPr id="38" name="Shape 35"/>
          <p:cNvSpPr/>
          <p:nvPr/>
        </p:nvSpPr>
        <p:spPr>
          <a:xfrm>
            <a:off x="11207801" y="2624328"/>
            <a:ext cx="914400" cy="0"/>
          </a:xfrm>
          <a:prstGeom prst="line">
            <a:avLst/>
          </a:prstGeom>
          <a:noFill/>
          <a:ln w="22225">
            <a:solidFill>
              <a:srgbClr val="4A5364"/>
            </a:solidFill>
            <a:prstDash val="solid"/>
            <a:tailEnd type="triangle"/>
          </a:ln>
        </p:spPr>
        <p:txBody>
          <a:bodyPr/>
          <a:lstStyle/>
          <a:p>
            <a:endParaRPr lang="ko-KR" altLang="en-US"/>
          </a:p>
        </p:txBody>
      </p:sp>
      <p:sp>
        <p:nvSpPr>
          <p:cNvPr id="39" name="Shape 36"/>
          <p:cNvSpPr/>
          <p:nvPr/>
        </p:nvSpPr>
        <p:spPr>
          <a:xfrm>
            <a:off x="5835701" y="2852928"/>
            <a:ext cx="0" cy="621792"/>
          </a:xfrm>
          <a:prstGeom prst="line">
            <a:avLst/>
          </a:prstGeom>
          <a:noFill/>
          <a:ln w="22225">
            <a:solidFill>
              <a:srgbClr val="4A5364"/>
            </a:solidFill>
            <a:prstDash val="solid"/>
            <a:tailEnd type="triangle"/>
          </a:ln>
        </p:spPr>
        <p:txBody>
          <a:bodyPr/>
          <a:lstStyle/>
          <a:p>
            <a:endParaRPr lang="ko-KR" altLang="en-US"/>
          </a:p>
        </p:txBody>
      </p:sp>
      <p:sp>
        <p:nvSpPr>
          <p:cNvPr id="40" name="Shape 37"/>
          <p:cNvSpPr/>
          <p:nvPr/>
        </p:nvSpPr>
        <p:spPr>
          <a:xfrm>
            <a:off x="6544361" y="3703320"/>
            <a:ext cx="914400" cy="0"/>
          </a:xfrm>
          <a:prstGeom prst="line">
            <a:avLst/>
          </a:prstGeom>
          <a:noFill/>
          <a:ln w="22225">
            <a:solidFill>
              <a:srgbClr val="4A5364"/>
            </a:solidFill>
            <a:prstDash val="solid"/>
            <a:tailEnd type="triangle"/>
          </a:ln>
        </p:spPr>
        <p:txBody>
          <a:bodyPr/>
          <a:lstStyle/>
          <a:p>
            <a:endParaRPr lang="ko-KR" altLang="en-US"/>
          </a:p>
        </p:txBody>
      </p:sp>
      <p:sp>
        <p:nvSpPr>
          <p:cNvPr id="41" name="Shape 38"/>
          <p:cNvSpPr/>
          <p:nvPr/>
        </p:nvSpPr>
        <p:spPr>
          <a:xfrm>
            <a:off x="8876081" y="3703320"/>
            <a:ext cx="2057400" cy="0"/>
          </a:xfrm>
          <a:prstGeom prst="line">
            <a:avLst/>
          </a:prstGeom>
          <a:noFill/>
          <a:ln w="22225">
            <a:solidFill>
              <a:srgbClr val="4A5364"/>
            </a:solidFill>
            <a:prstDash val="solid"/>
            <a:tailEnd type="triangle"/>
          </a:ln>
        </p:spPr>
        <p:txBody>
          <a:bodyPr/>
          <a:lstStyle/>
          <a:p>
            <a:endParaRPr lang="ko-KR" altLang="en-US"/>
          </a:p>
        </p:txBody>
      </p:sp>
      <p:sp>
        <p:nvSpPr>
          <p:cNvPr id="42" name="Shape 39"/>
          <p:cNvSpPr/>
          <p:nvPr/>
        </p:nvSpPr>
        <p:spPr>
          <a:xfrm>
            <a:off x="8693201" y="2852928"/>
            <a:ext cx="2560320" cy="621792"/>
          </a:xfrm>
          <a:prstGeom prst="line">
            <a:avLst/>
          </a:prstGeom>
          <a:noFill/>
          <a:ln w="22225">
            <a:solidFill>
              <a:srgbClr val="4A5364"/>
            </a:solidFill>
            <a:prstDash val="solid"/>
            <a:tailEnd type="triangle"/>
          </a:ln>
        </p:spPr>
        <p:txBody>
          <a:bodyPr/>
          <a:lstStyle/>
          <a:p>
            <a:endParaRPr lang="ko-KR" altLang="en-US"/>
          </a:p>
        </p:txBody>
      </p:sp>
      <p:sp>
        <p:nvSpPr>
          <p:cNvPr id="43" name="Shape 40"/>
          <p:cNvSpPr/>
          <p:nvPr/>
        </p:nvSpPr>
        <p:spPr>
          <a:xfrm flipV="1">
            <a:off x="12030761" y="2852928"/>
            <a:ext cx="800100" cy="621792"/>
          </a:xfrm>
          <a:prstGeom prst="line">
            <a:avLst/>
          </a:prstGeom>
          <a:noFill/>
          <a:ln w="22225">
            <a:solidFill>
              <a:srgbClr val="4A5364"/>
            </a:solidFill>
            <a:prstDash val="solid"/>
            <a:tailEnd type="triangle"/>
          </a:ln>
        </p:spPr>
        <p:txBody>
          <a:bodyPr/>
          <a:lstStyle/>
          <a:p>
            <a:endParaRPr lang="ko-KR" altLang="en-US"/>
          </a:p>
        </p:txBody>
      </p:sp>
      <p:sp>
        <p:nvSpPr>
          <p:cNvPr id="44" name="Shape 41"/>
          <p:cNvSpPr/>
          <p:nvPr/>
        </p:nvSpPr>
        <p:spPr>
          <a:xfrm>
            <a:off x="6635801" y="2487168"/>
            <a:ext cx="731520" cy="274320"/>
          </a:xfrm>
          <a:prstGeom prst="roundRect">
            <a:avLst>
              <a:gd name="adj" fmla="val 16667"/>
            </a:avLst>
          </a:prstGeom>
          <a:solidFill>
            <a:srgbClr val="FFFFFF"/>
          </a:solidFill>
          <a:ln/>
        </p:spPr>
        <p:txBody>
          <a:bodyPr/>
          <a:lstStyle/>
          <a:p>
            <a:endParaRPr lang="ko-KR" altLang="en-US"/>
          </a:p>
        </p:txBody>
      </p:sp>
      <p:sp>
        <p:nvSpPr>
          <p:cNvPr id="45" name="Text 42"/>
          <p:cNvSpPr txBox="1"/>
          <p:nvPr/>
        </p:nvSpPr>
        <p:spPr>
          <a:xfrm>
            <a:off x="6635801" y="2487168"/>
            <a:ext cx="73152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보유</a:t>
            </a:r>
            <a:endParaRPr lang="en-US" sz="1400" dirty="0"/>
          </a:p>
        </p:txBody>
      </p:sp>
      <p:sp>
        <p:nvSpPr>
          <p:cNvPr id="46" name="Shape 43"/>
          <p:cNvSpPr/>
          <p:nvPr/>
        </p:nvSpPr>
        <p:spPr>
          <a:xfrm>
            <a:off x="8967521" y="2487168"/>
            <a:ext cx="731520" cy="274320"/>
          </a:xfrm>
          <a:prstGeom prst="roundRect">
            <a:avLst>
              <a:gd name="adj" fmla="val 16667"/>
            </a:avLst>
          </a:prstGeom>
          <a:solidFill>
            <a:srgbClr val="FFFFFF"/>
          </a:solidFill>
          <a:ln/>
        </p:spPr>
        <p:txBody>
          <a:bodyPr/>
          <a:lstStyle/>
          <a:p>
            <a:endParaRPr lang="ko-KR" altLang="en-US"/>
          </a:p>
        </p:txBody>
      </p:sp>
      <p:sp>
        <p:nvSpPr>
          <p:cNvPr id="47" name="Text 44"/>
          <p:cNvSpPr txBox="1"/>
          <p:nvPr/>
        </p:nvSpPr>
        <p:spPr>
          <a:xfrm>
            <a:off x="8967521" y="2487168"/>
            <a:ext cx="73152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이용</a:t>
            </a:r>
            <a:endParaRPr lang="en-US" sz="1400" dirty="0"/>
          </a:p>
        </p:txBody>
      </p:sp>
      <p:sp>
        <p:nvSpPr>
          <p:cNvPr id="48" name="Shape 45"/>
          <p:cNvSpPr/>
          <p:nvPr/>
        </p:nvSpPr>
        <p:spPr>
          <a:xfrm>
            <a:off x="11299241" y="2487168"/>
            <a:ext cx="731520" cy="274320"/>
          </a:xfrm>
          <a:prstGeom prst="roundRect">
            <a:avLst>
              <a:gd name="adj" fmla="val 16667"/>
            </a:avLst>
          </a:prstGeom>
          <a:solidFill>
            <a:srgbClr val="FFFFFF"/>
          </a:solidFill>
          <a:ln/>
        </p:spPr>
        <p:txBody>
          <a:bodyPr/>
          <a:lstStyle/>
          <a:p>
            <a:endParaRPr lang="ko-KR" altLang="en-US"/>
          </a:p>
        </p:txBody>
      </p:sp>
      <p:sp>
        <p:nvSpPr>
          <p:cNvPr id="49" name="Text 46"/>
          <p:cNvSpPr txBox="1"/>
          <p:nvPr/>
        </p:nvSpPr>
        <p:spPr>
          <a:xfrm>
            <a:off x="11299241" y="2487168"/>
            <a:ext cx="73152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분류</a:t>
            </a:r>
            <a:endParaRPr lang="en-US" sz="1400" dirty="0"/>
          </a:p>
        </p:txBody>
      </p:sp>
      <p:sp>
        <p:nvSpPr>
          <p:cNvPr id="50" name="Shape 47"/>
          <p:cNvSpPr/>
          <p:nvPr/>
        </p:nvSpPr>
        <p:spPr>
          <a:xfrm>
            <a:off x="5378501" y="3026664"/>
            <a:ext cx="914400" cy="274320"/>
          </a:xfrm>
          <a:prstGeom prst="roundRect">
            <a:avLst>
              <a:gd name="adj" fmla="val 16667"/>
            </a:avLst>
          </a:prstGeom>
          <a:solidFill>
            <a:srgbClr val="FFFFFF"/>
          </a:solidFill>
          <a:ln/>
        </p:spPr>
        <p:txBody>
          <a:bodyPr/>
          <a:lstStyle/>
          <a:p>
            <a:endParaRPr lang="ko-KR" altLang="en-US"/>
          </a:p>
        </p:txBody>
      </p:sp>
      <p:sp>
        <p:nvSpPr>
          <p:cNvPr id="51" name="Text 48"/>
          <p:cNvSpPr txBox="1"/>
          <p:nvPr/>
        </p:nvSpPr>
        <p:spPr>
          <a:xfrm>
            <a:off x="5378501" y="3026664"/>
            <a:ext cx="91440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상담 기록</a:t>
            </a:r>
            <a:endParaRPr lang="en-US" sz="1400" dirty="0"/>
          </a:p>
        </p:txBody>
      </p:sp>
      <p:sp>
        <p:nvSpPr>
          <p:cNvPr id="52" name="Shape 49"/>
          <p:cNvSpPr/>
          <p:nvPr/>
        </p:nvSpPr>
        <p:spPr>
          <a:xfrm>
            <a:off x="6635801" y="3566160"/>
            <a:ext cx="731520" cy="274320"/>
          </a:xfrm>
          <a:prstGeom prst="roundRect">
            <a:avLst>
              <a:gd name="adj" fmla="val 16667"/>
            </a:avLst>
          </a:prstGeom>
          <a:solidFill>
            <a:srgbClr val="FFFFFF"/>
          </a:solidFill>
          <a:ln/>
        </p:spPr>
        <p:txBody>
          <a:bodyPr/>
          <a:lstStyle/>
          <a:p>
            <a:endParaRPr lang="ko-KR" altLang="en-US"/>
          </a:p>
        </p:txBody>
      </p:sp>
      <p:sp>
        <p:nvSpPr>
          <p:cNvPr id="53" name="Text 50"/>
          <p:cNvSpPr txBox="1"/>
          <p:nvPr/>
        </p:nvSpPr>
        <p:spPr>
          <a:xfrm>
            <a:off x="6635801" y="3566160"/>
            <a:ext cx="73152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언급</a:t>
            </a:r>
            <a:endParaRPr lang="en-US" sz="1400" dirty="0"/>
          </a:p>
        </p:txBody>
      </p:sp>
      <p:sp>
        <p:nvSpPr>
          <p:cNvPr id="54" name="Shape 51"/>
          <p:cNvSpPr/>
          <p:nvPr/>
        </p:nvSpPr>
        <p:spPr>
          <a:xfrm>
            <a:off x="9447581" y="3566160"/>
            <a:ext cx="914400" cy="274320"/>
          </a:xfrm>
          <a:prstGeom prst="roundRect">
            <a:avLst>
              <a:gd name="adj" fmla="val 16667"/>
            </a:avLst>
          </a:prstGeom>
          <a:solidFill>
            <a:srgbClr val="FFFFFF"/>
          </a:solidFill>
          <a:ln/>
        </p:spPr>
        <p:txBody>
          <a:bodyPr/>
          <a:lstStyle/>
          <a:p>
            <a:endParaRPr lang="ko-KR" altLang="en-US"/>
          </a:p>
        </p:txBody>
      </p:sp>
      <p:sp>
        <p:nvSpPr>
          <p:cNvPr id="55" name="Text 52"/>
          <p:cNvSpPr txBox="1"/>
          <p:nvPr/>
        </p:nvSpPr>
        <p:spPr>
          <a:xfrm>
            <a:off x="9447581" y="3566160"/>
            <a:ext cx="91440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관련 혜택</a:t>
            </a:r>
            <a:endParaRPr lang="en-US" sz="1400" dirty="0"/>
          </a:p>
        </p:txBody>
      </p:sp>
      <p:sp>
        <p:nvSpPr>
          <p:cNvPr id="56" name="Shape 53"/>
          <p:cNvSpPr/>
          <p:nvPr/>
        </p:nvSpPr>
        <p:spPr>
          <a:xfrm>
            <a:off x="9607601" y="3026664"/>
            <a:ext cx="731520" cy="274320"/>
          </a:xfrm>
          <a:prstGeom prst="roundRect">
            <a:avLst>
              <a:gd name="adj" fmla="val 16667"/>
            </a:avLst>
          </a:prstGeom>
          <a:solidFill>
            <a:srgbClr val="FFFFFF"/>
          </a:solidFill>
          <a:ln/>
        </p:spPr>
        <p:txBody>
          <a:bodyPr/>
          <a:lstStyle/>
          <a:p>
            <a:endParaRPr lang="ko-KR" altLang="en-US"/>
          </a:p>
        </p:txBody>
      </p:sp>
      <p:sp>
        <p:nvSpPr>
          <p:cNvPr id="57" name="Text 54"/>
          <p:cNvSpPr txBox="1"/>
          <p:nvPr/>
        </p:nvSpPr>
        <p:spPr>
          <a:xfrm>
            <a:off x="9607601" y="3026664"/>
            <a:ext cx="73152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상품</a:t>
            </a:r>
            <a:endParaRPr lang="en-US" sz="1400" dirty="0"/>
          </a:p>
        </p:txBody>
      </p:sp>
      <p:sp>
        <p:nvSpPr>
          <p:cNvPr id="58" name="Shape 55"/>
          <p:cNvSpPr/>
          <p:nvPr/>
        </p:nvSpPr>
        <p:spPr>
          <a:xfrm>
            <a:off x="11973611" y="3026664"/>
            <a:ext cx="914400" cy="274320"/>
          </a:xfrm>
          <a:prstGeom prst="roundRect">
            <a:avLst>
              <a:gd name="adj" fmla="val 16667"/>
            </a:avLst>
          </a:prstGeom>
          <a:solidFill>
            <a:srgbClr val="FFFFFF"/>
          </a:solidFill>
          <a:ln/>
        </p:spPr>
        <p:txBody>
          <a:bodyPr/>
          <a:lstStyle/>
          <a:p>
            <a:endParaRPr lang="ko-KR" altLang="en-US"/>
          </a:p>
        </p:txBody>
      </p:sp>
      <p:sp>
        <p:nvSpPr>
          <p:cNvPr id="59" name="Text 56"/>
          <p:cNvSpPr txBox="1"/>
          <p:nvPr/>
        </p:nvSpPr>
        <p:spPr>
          <a:xfrm>
            <a:off x="11973611" y="3026664"/>
            <a:ext cx="914400" cy="27432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혜택 대상</a:t>
            </a:r>
            <a:endParaRPr lang="en-US" sz="1400" dirty="0"/>
          </a:p>
        </p:txBody>
      </p:sp>
      <p:sp>
        <p:nvSpPr>
          <p:cNvPr id="60" name="Shape 57"/>
          <p:cNvSpPr/>
          <p:nvPr/>
        </p:nvSpPr>
        <p:spPr>
          <a:xfrm>
            <a:off x="8738921" y="4041648"/>
            <a:ext cx="219456" cy="219456"/>
          </a:xfrm>
          <a:prstGeom prst="roundRect">
            <a:avLst>
              <a:gd name="adj" fmla="val 16667"/>
            </a:avLst>
          </a:prstGeom>
          <a:solidFill>
            <a:srgbClr val="1E2A5C"/>
          </a:solidFill>
          <a:ln/>
        </p:spPr>
        <p:txBody>
          <a:bodyPr/>
          <a:lstStyle/>
          <a:p>
            <a:endParaRPr lang="ko-KR" altLang="en-US"/>
          </a:p>
        </p:txBody>
      </p:sp>
      <p:sp>
        <p:nvSpPr>
          <p:cNvPr id="61" name="Text 58"/>
          <p:cNvSpPr txBox="1"/>
          <p:nvPr/>
        </p:nvSpPr>
        <p:spPr>
          <a:xfrm>
            <a:off x="9013241" y="4005072"/>
            <a:ext cx="1463040" cy="292608"/>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정형 DB</a:t>
            </a:r>
            <a:endParaRPr lang="en-US" sz="1400" dirty="0"/>
          </a:p>
        </p:txBody>
      </p:sp>
      <p:sp>
        <p:nvSpPr>
          <p:cNvPr id="62" name="Shape 59"/>
          <p:cNvSpPr/>
          <p:nvPr/>
        </p:nvSpPr>
        <p:spPr>
          <a:xfrm>
            <a:off x="10522001" y="4041648"/>
            <a:ext cx="219456" cy="219456"/>
          </a:xfrm>
          <a:prstGeom prst="roundRect">
            <a:avLst>
              <a:gd name="adj" fmla="val 16667"/>
            </a:avLst>
          </a:prstGeom>
          <a:solidFill>
            <a:srgbClr val="2E74C6"/>
          </a:solidFill>
          <a:ln/>
        </p:spPr>
        <p:txBody>
          <a:bodyPr/>
          <a:lstStyle/>
          <a:p>
            <a:endParaRPr lang="ko-KR" altLang="en-US"/>
          </a:p>
        </p:txBody>
      </p:sp>
      <p:sp>
        <p:nvSpPr>
          <p:cNvPr id="63" name="Text 60"/>
          <p:cNvSpPr txBox="1"/>
          <p:nvPr/>
        </p:nvSpPr>
        <p:spPr>
          <a:xfrm>
            <a:off x="10796321" y="4005072"/>
            <a:ext cx="1463040" cy="292608"/>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카드 혜택 문서</a:t>
            </a:r>
            <a:endParaRPr lang="en-US" sz="1400" dirty="0"/>
          </a:p>
        </p:txBody>
      </p:sp>
      <p:sp>
        <p:nvSpPr>
          <p:cNvPr id="64" name="Shape 61"/>
          <p:cNvSpPr/>
          <p:nvPr/>
        </p:nvSpPr>
        <p:spPr>
          <a:xfrm>
            <a:off x="12305081" y="4041648"/>
            <a:ext cx="219456" cy="219456"/>
          </a:xfrm>
          <a:prstGeom prst="roundRect">
            <a:avLst>
              <a:gd name="adj" fmla="val 16667"/>
            </a:avLst>
          </a:prstGeom>
          <a:solidFill>
            <a:srgbClr val="404155"/>
          </a:solidFill>
          <a:ln/>
        </p:spPr>
        <p:txBody>
          <a:bodyPr/>
          <a:lstStyle/>
          <a:p>
            <a:endParaRPr lang="ko-KR" altLang="en-US"/>
          </a:p>
        </p:txBody>
      </p:sp>
      <p:sp>
        <p:nvSpPr>
          <p:cNvPr id="65" name="Text 62"/>
          <p:cNvSpPr txBox="1"/>
          <p:nvPr/>
        </p:nvSpPr>
        <p:spPr>
          <a:xfrm>
            <a:off x="12579401" y="4005072"/>
            <a:ext cx="1463040" cy="292608"/>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상담 이력</a:t>
            </a:r>
            <a:endParaRPr lang="en-US" sz="1400" dirty="0"/>
          </a:p>
        </p:txBody>
      </p:sp>
      <p:sp>
        <p:nvSpPr>
          <p:cNvPr id="66" name="Shape 63"/>
          <p:cNvSpPr/>
          <p:nvPr/>
        </p:nvSpPr>
        <p:spPr>
          <a:xfrm>
            <a:off x="509321" y="4462272"/>
            <a:ext cx="4419600" cy="2377440"/>
          </a:xfrm>
          <a:prstGeom prst="roundRect">
            <a:avLst>
              <a:gd name="adj" fmla="val 3077"/>
            </a:avLst>
          </a:prstGeom>
          <a:solidFill>
            <a:srgbClr val="FFFFFF"/>
          </a:solidFill>
          <a:ln w="12700">
            <a:solidFill>
              <a:srgbClr val="D9E0EC"/>
            </a:solidFill>
            <a:prstDash val="solid"/>
          </a:ln>
        </p:spPr>
        <p:txBody>
          <a:bodyPr/>
          <a:lstStyle/>
          <a:p>
            <a:endParaRPr lang="ko-KR" altLang="en-US"/>
          </a:p>
        </p:txBody>
      </p:sp>
      <p:sp>
        <p:nvSpPr>
          <p:cNvPr id="67" name="Shape 64"/>
          <p:cNvSpPr/>
          <p:nvPr/>
        </p:nvSpPr>
        <p:spPr>
          <a:xfrm>
            <a:off x="646481" y="4599432"/>
            <a:ext cx="384048" cy="384048"/>
          </a:xfrm>
          <a:prstGeom prst="roundRect">
            <a:avLst>
              <a:gd name="adj" fmla="val 11905"/>
            </a:avLst>
          </a:prstGeom>
          <a:solidFill>
            <a:srgbClr val="2E74C6"/>
          </a:solidFill>
          <a:ln/>
        </p:spPr>
        <p:txBody>
          <a:bodyPr/>
          <a:lstStyle/>
          <a:p>
            <a:endParaRPr lang="ko-KR" altLang="en-US"/>
          </a:p>
        </p:txBody>
      </p:sp>
      <p:sp>
        <p:nvSpPr>
          <p:cNvPr id="68" name="Text 65"/>
          <p:cNvSpPr txBox="1"/>
          <p:nvPr/>
        </p:nvSpPr>
        <p:spPr>
          <a:xfrm>
            <a:off x="646481" y="4599432"/>
            <a:ext cx="384048" cy="384048"/>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69" name="Text 66"/>
          <p:cNvSpPr txBox="1"/>
          <p:nvPr/>
        </p:nvSpPr>
        <p:spPr>
          <a:xfrm>
            <a:off x="1103681" y="4572000"/>
            <a:ext cx="3733800" cy="438912"/>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여러 단계 건너 찾기 (멀티홉)</a:t>
            </a:r>
            <a:endParaRPr lang="en-US" sz="1600" dirty="0"/>
          </a:p>
        </p:txBody>
      </p:sp>
      <p:sp>
        <p:nvSpPr>
          <p:cNvPr id="70" name="Shape 67"/>
          <p:cNvSpPr/>
          <p:nvPr/>
        </p:nvSpPr>
        <p:spPr>
          <a:xfrm>
            <a:off x="646481" y="5102352"/>
            <a:ext cx="4145280" cy="768096"/>
          </a:xfrm>
          <a:prstGeom prst="roundRect">
            <a:avLst>
              <a:gd name="adj" fmla="val 7143"/>
            </a:avLst>
          </a:prstGeom>
          <a:solidFill>
            <a:srgbClr val="EEF3FA"/>
          </a:solidFill>
          <a:ln/>
        </p:spPr>
        <p:txBody>
          <a:bodyPr/>
          <a:lstStyle/>
          <a:p>
            <a:endParaRPr lang="ko-KR" altLang="en-US"/>
          </a:p>
        </p:txBody>
      </p:sp>
      <p:sp>
        <p:nvSpPr>
          <p:cNvPr id="71" name="Text 68"/>
          <p:cNvSpPr txBox="1"/>
          <p:nvPr/>
        </p:nvSpPr>
        <p:spPr>
          <a:xfrm>
            <a:off x="646481" y="5102352"/>
            <a:ext cx="4145280" cy="768096"/>
          </a:xfrm>
          <a:prstGeom prst="rect">
            <a:avLst/>
          </a:prstGeom>
          <a:noFill/>
          <a:ln/>
        </p:spPr>
        <p:txBody>
          <a:bodyPr wrap="square" lIns="1016" tIns="1016" rIns="1016" bIns="1016"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"M-5001 회원이 가진 카드 4장 중 혜택이 겹치는 카드는?"</a:t>
            </a:r>
            <a:endParaRPr lang="en-US" sz="1500" dirty="0"/>
          </a:p>
        </p:txBody>
      </p:sp>
      <p:sp>
        <p:nvSpPr>
          <p:cNvPr id="72" name="Shape 69"/>
          <p:cNvSpPr/>
          <p:nvPr/>
        </p:nvSpPr>
        <p:spPr>
          <a:xfrm>
            <a:off x="646481" y="5980176"/>
            <a:ext cx="56692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73" name="Text 70"/>
          <p:cNvSpPr txBox="1"/>
          <p:nvPr/>
        </p:nvSpPr>
        <p:spPr>
          <a:xfrm>
            <a:off x="646481" y="5980176"/>
            <a:ext cx="56692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경로</a:t>
            </a:r>
            <a:endParaRPr lang="en-US" sz="1400" dirty="0"/>
          </a:p>
        </p:txBody>
      </p:sp>
      <p:sp>
        <p:nvSpPr>
          <p:cNvPr id="74" name="Text 71"/>
          <p:cNvSpPr txBox="1"/>
          <p:nvPr/>
        </p:nvSpPr>
        <p:spPr>
          <a:xfrm>
            <a:off x="1286561" y="5961888"/>
            <a:ext cx="3550920" cy="347472"/>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회원 → 카드 → 상품·혜택</a:t>
            </a:r>
            <a:endParaRPr lang="en-US" sz="1400" dirty="0"/>
          </a:p>
        </p:txBody>
      </p:sp>
      <p:sp>
        <p:nvSpPr>
          <p:cNvPr id="75" name="Text 72"/>
          <p:cNvSpPr txBox="1"/>
          <p:nvPr/>
        </p:nvSpPr>
        <p:spPr>
          <a:xfrm>
            <a:off x="646481" y="6345936"/>
            <a:ext cx="4145280" cy="457200"/>
          </a:xfrm>
          <a:prstGeom prst="rect">
            <a:avLst/>
          </a:prstGeom>
          <a:noFill/>
          <a:ln/>
        </p:spPr>
        <p:txBody>
          <a:bodyPr wrap="square" lIns="762" tIns="762" rIns="762" bIns="762"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가진 카드는 DB에, 혜택은 문서에 따로 있음</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 문서 검색은 이 회원의 카드를 모름</a:t>
            </a:r>
            <a:endParaRPr lang="en-US" sz="1400" dirty="0"/>
          </a:p>
        </p:txBody>
      </p:sp>
      <p:sp>
        <p:nvSpPr>
          <p:cNvPr id="76" name="Shape 73"/>
          <p:cNvSpPr/>
          <p:nvPr/>
        </p:nvSpPr>
        <p:spPr>
          <a:xfrm>
            <a:off x="5111801" y="4462272"/>
            <a:ext cx="4419600" cy="2377440"/>
          </a:xfrm>
          <a:prstGeom prst="roundRect">
            <a:avLst>
              <a:gd name="adj" fmla="val 3077"/>
            </a:avLst>
          </a:prstGeom>
          <a:solidFill>
            <a:srgbClr val="FFFFFF"/>
          </a:solidFill>
          <a:ln w="12700">
            <a:solidFill>
              <a:srgbClr val="D9E0EC"/>
            </a:solidFill>
            <a:prstDash val="solid"/>
          </a:ln>
        </p:spPr>
        <p:txBody>
          <a:bodyPr/>
          <a:lstStyle/>
          <a:p>
            <a:endParaRPr lang="ko-KR" altLang="en-US"/>
          </a:p>
        </p:txBody>
      </p:sp>
      <p:sp>
        <p:nvSpPr>
          <p:cNvPr id="77" name="Shape 74"/>
          <p:cNvSpPr/>
          <p:nvPr/>
        </p:nvSpPr>
        <p:spPr>
          <a:xfrm>
            <a:off x="5248961" y="4599432"/>
            <a:ext cx="384048" cy="384048"/>
          </a:xfrm>
          <a:prstGeom prst="roundRect">
            <a:avLst>
              <a:gd name="adj" fmla="val 11905"/>
            </a:avLst>
          </a:prstGeom>
          <a:solidFill>
            <a:srgbClr val="2E74C6"/>
          </a:solidFill>
          <a:ln/>
        </p:spPr>
        <p:txBody>
          <a:bodyPr/>
          <a:lstStyle/>
          <a:p>
            <a:endParaRPr lang="ko-KR" altLang="en-US"/>
          </a:p>
        </p:txBody>
      </p:sp>
      <p:sp>
        <p:nvSpPr>
          <p:cNvPr id="78" name="Text 75"/>
          <p:cNvSpPr txBox="1"/>
          <p:nvPr/>
        </p:nvSpPr>
        <p:spPr>
          <a:xfrm>
            <a:off x="5248961" y="4599432"/>
            <a:ext cx="384048" cy="384048"/>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79" name="Text 76"/>
          <p:cNvSpPr txBox="1"/>
          <p:nvPr/>
        </p:nvSpPr>
        <p:spPr>
          <a:xfrm>
            <a:off x="5706161" y="4572000"/>
            <a:ext cx="3733800" cy="438912"/>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불만과 이용 습관을 이어 </a:t>
            </a:r>
            <a:r>
              <a:rPr lang="en-US" sz="1600" b="1" dirty="0" err="1">
                <a:solidFill>
                  <a:srgbClr val="1E2A5C"/>
                </a:solidFill>
                <a:latin typeface="Pretendard" pitchFamily="34" charset="0"/>
                <a:ea typeface="Pretendard" pitchFamily="34" charset="-122"/>
                <a:cs typeface="Pretendard" pitchFamily="34" charset="-120"/>
              </a:rPr>
              <a:t>대안</a:t>
            </a:r>
            <a:r>
              <a:rPr lang="en-US" sz="1600" b="1" dirty="0">
                <a:solidFill>
                  <a:srgbClr val="1E2A5C"/>
                </a:solidFill>
                <a:latin typeface="Pretendard" pitchFamily="34" charset="0"/>
                <a:ea typeface="Pretendard" pitchFamily="34" charset="-122"/>
                <a:cs typeface="Pretendard" pitchFamily="34" charset="-120"/>
              </a:rPr>
              <a:t> </a:t>
            </a:r>
            <a:r>
              <a:rPr lang="en-US" sz="1600" b="1" dirty="0" err="1">
                <a:solidFill>
                  <a:srgbClr val="1E2A5C"/>
                </a:solidFill>
                <a:latin typeface="Pretendard" pitchFamily="34" charset="0"/>
                <a:ea typeface="Pretendard" pitchFamily="34" charset="-122"/>
                <a:cs typeface="Pretendard" pitchFamily="34" charset="-120"/>
              </a:rPr>
              <a:t>찾기</a:t>
            </a:r>
            <a:r>
              <a:rPr lang="en-US" sz="1600" b="1" dirty="0">
                <a:solidFill>
                  <a:srgbClr val="1E2A5C"/>
                </a:solidFill>
                <a:latin typeface="Pretendard" pitchFamily="34" charset="0"/>
                <a:ea typeface="Pretendard" pitchFamily="34" charset="-122"/>
                <a:cs typeface="Pretendard" pitchFamily="34" charset="-120"/>
              </a:rPr>
              <a:t>(</a:t>
            </a:r>
            <a:r>
              <a:rPr lang="ko-KR" altLang="en-US" sz="1600" b="1" dirty="0" err="1">
                <a:solidFill>
                  <a:srgbClr val="1E2A5C"/>
                </a:solidFill>
                <a:latin typeface="Pretendard" pitchFamily="34" charset="0"/>
                <a:ea typeface="Pretendard" pitchFamily="34" charset="-122"/>
                <a:cs typeface="Pretendard" pitchFamily="34" charset="-120"/>
              </a:rPr>
              <a:t>멀티홉</a:t>
            </a:r>
            <a:r>
              <a:rPr lang="en-US" altLang="ko-KR" sz="1600" b="1" dirty="0">
                <a:solidFill>
                  <a:srgbClr val="1E2A5C"/>
                </a:solidFill>
                <a:latin typeface="Pretendard" pitchFamily="34" charset="0"/>
                <a:ea typeface="Pretendard" pitchFamily="34" charset="-122"/>
                <a:cs typeface="Pretendard" pitchFamily="34" charset="-120"/>
              </a:rPr>
              <a:t>)</a:t>
            </a:r>
            <a:endParaRPr lang="en-US" sz="1600" dirty="0"/>
          </a:p>
        </p:txBody>
      </p:sp>
      <p:sp>
        <p:nvSpPr>
          <p:cNvPr id="80" name="Shape 77"/>
          <p:cNvSpPr/>
          <p:nvPr/>
        </p:nvSpPr>
        <p:spPr>
          <a:xfrm>
            <a:off x="5248961" y="5102352"/>
            <a:ext cx="4145280" cy="768096"/>
          </a:xfrm>
          <a:prstGeom prst="roundRect">
            <a:avLst>
              <a:gd name="adj" fmla="val 7143"/>
            </a:avLst>
          </a:prstGeom>
          <a:solidFill>
            <a:srgbClr val="EEF3FA"/>
          </a:solidFill>
          <a:ln/>
        </p:spPr>
        <p:txBody>
          <a:bodyPr/>
          <a:lstStyle/>
          <a:p>
            <a:endParaRPr lang="ko-KR" altLang="en-US"/>
          </a:p>
        </p:txBody>
      </p:sp>
      <p:sp>
        <p:nvSpPr>
          <p:cNvPr id="81" name="Text 78"/>
          <p:cNvSpPr txBox="1"/>
          <p:nvPr/>
        </p:nvSpPr>
        <p:spPr>
          <a:xfrm>
            <a:off x="5248961" y="5102352"/>
            <a:ext cx="4145280" cy="768096"/>
          </a:xfrm>
          <a:prstGeom prst="rect">
            <a:avLst/>
          </a:prstGeom>
          <a:noFill/>
          <a:ln/>
        </p:spPr>
        <p:txBody>
          <a:bodyPr wrap="square" lIns="1016" tIns="1016" rIns="1016" bIns="1016"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a:t>
            </a:r>
            <a:r>
              <a:rPr lang="en-US" sz="1500" b="1" dirty="0" err="1">
                <a:solidFill>
                  <a:srgbClr val="2B3242"/>
                </a:solidFill>
                <a:latin typeface="Pretendard" pitchFamily="34" charset="0"/>
                <a:ea typeface="Pretendard" pitchFamily="34" charset="-122"/>
                <a:cs typeface="Pretendard" pitchFamily="34" charset="-120"/>
              </a:rPr>
              <a:t>혜택</a:t>
            </a:r>
            <a:r>
              <a:rPr lang="ko-KR" altLang="en-US" sz="1500" b="1" dirty="0">
                <a:solidFill>
                  <a:srgbClr val="2B3242"/>
                </a:solidFill>
                <a:latin typeface="Pretendard" pitchFamily="34" charset="0"/>
                <a:ea typeface="Pretendard" pitchFamily="34" charset="-122"/>
                <a:cs typeface="Pretendard" pitchFamily="34" charset="-120"/>
              </a:rPr>
              <a:t>이 소비 패턴과 안 맞는다고</a:t>
            </a:r>
            <a:r>
              <a:rPr lang="en-US" sz="1500" b="1" dirty="0">
                <a:solidFill>
                  <a:srgbClr val="2B3242"/>
                </a:solidFill>
                <a:latin typeface="Pretendard" pitchFamily="34" charset="0"/>
                <a:ea typeface="Pretendard" pitchFamily="34" charset="-122"/>
                <a:cs typeface="Pretendard" pitchFamily="34" charset="-120"/>
              </a:rPr>
              <a:t> 말한 M-6001 회원이 많이 쓰는 업종에 혜택을 주는 카드는?"</a:t>
            </a:r>
            <a:endParaRPr lang="en-US" sz="1500" dirty="0"/>
          </a:p>
        </p:txBody>
      </p:sp>
      <p:sp>
        <p:nvSpPr>
          <p:cNvPr id="82" name="Shape 79"/>
          <p:cNvSpPr/>
          <p:nvPr/>
        </p:nvSpPr>
        <p:spPr>
          <a:xfrm>
            <a:off x="5248961" y="5980176"/>
            <a:ext cx="56692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83" name="Text 80"/>
          <p:cNvSpPr txBox="1"/>
          <p:nvPr/>
        </p:nvSpPr>
        <p:spPr>
          <a:xfrm>
            <a:off x="5248961" y="5980176"/>
            <a:ext cx="56692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경로</a:t>
            </a:r>
            <a:endParaRPr lang="en-US" sz="1400" dirty="0"/>
          </a:p>
        </p:txBody>
      </p:sp>
      <p:sp>
        <p:nvSpPr>
          <p:cNvPr id="84" name="Text 81"/>
          <p:cNvSpPr txBox="1"/>
          <p:nvPr/>
        </p:nvSpPr>
        <p:spPr>
          <a:xfrm>
            <a:off x="5889041" y="5961888"/>
            <a:ext cx="3550920" cy="347472"/>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상담→회원→카드→거래→업종←혜택</a:t>
            </a:r>
            <a:endParaRPr lang="en-US" sz="1400" dirty="0"/>
          </a:p>
        </p:txBody>
      </p:sp>
      <p:sp>
        <p:nvSpPr>
          <p:cNvPr id="85" name="Text 82"/>
          <p:cNvSpPr txBox="1"/>
          <p:nvPr/>
        </p:nvSpPr>
        <p:spPr>
          <a:xfrm>
            <a:off x="5248961" y="6345936"/>
            <a:ext cx="4145280" cy="457200"/>
          </a:xfrm>
          <a:prstGeom prst="rect">
            <a:avLst/>
          </a:prstGeom>
          <a:noFill/>
          <a:ln/>
        </p:spPr>
        <p:txBody>
          <a:bodyPr wrap="square" lIns="762" tIns="762" rIns="762" bIns="762"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상담·거래·혜택 세 원천을 5단계로 이어야 함</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 한 번의 검색으로 못 찾음</a:t>
            </a:r>
            <a:endParaRPr lang="en-US" sz="1400" dirty="0"/>
          </a:p>
        </p:txBody>
      </p:sp>
      <p:sp>
        <p:nvSpPr>
          <p:cNvPr id="86" name="Shape 83"/>
          <p:cNvSpPr/>
          <p:nvPr/>
        </p:nvSpPr>
        <p:spPr>
          <a:xfrm>
            <a:off x="9714281" y="4462272"/>
            <a:ext cx="4419600" cy="2377440"/>
          </a:xfrm>
          <a:prstGeom prst="roundRect">
            <a:avLst>
              <a:gd name="adj" fmla="val 3077"/>
            </a:avLst>
          </a:prstGeom>
          <a:solidFill>
            <a:srgbClr val="FFFFFF"/>
          </a:solidFill>
          <a:ln w="12700">
            <a:solidFill>
              <a:srgbClr val="D9E0EC"/>
            </a:solidFill>
            <a:prstDash val="solid"/>
          </a:ln>
        </p:spPr>
        <p:txBody>
          <a:bodyPr/>
          <a:lstStyle/>
          <a:p>
            <a:endParaRPr lang="ko-KR" altLang="en-US"/>
          </a:p>
        </p:txBody>
      </p:sp>
      <p:sp>
        <p:nvSpPr>
          <p:cNvPr id="87" name="Shape 84"/>
          <p:cNvSpPr/>
          <p:nvPr/>
        </p:nvSpPr>
        <p:spPr>
          <a:xfrm>
            <a:off x="9851441" y="4599432"/>
            <a:ext cx="384048" cy="384048"/>
          </a:xfrm>
          <a:prstGeom prst="roundRect">
            <a:avLst>
              <a:gd name="adj" fmla="val 11905"/>
            </a:avLst>
          </a:prstGeom>
          <a:solidFill>
            <a:srgbClr val="2E74C6"/>
          </a:solidFill>
          <a:ln/>
        </p:spPr>
        <p:txBody>
          <a:bodyPr/>
          <a:lstStyle/>
          <a:p>
            <a:endParaRPr lang="ko-KR" altLang="en-US"/>
          </a:p>
        </p:txBody>
      </p:sp>
      <p:sp>
        <p:nvSpPr>
          <p:cNvPr id="88" name="Text 85"/>
          <p:cNvSpPr txBox="1"/>
          <p:nvPr/>
        </p:nvSpPr>
        <p:spPr>
          <a:xfrm>
            <a:off x="9851441" y="4599432"/>
            <a:ext cx="384048" cy="384048"/>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89" name="Text 86"/>
          <p:cNvSpPr txBox="1"/>
          <p:nvPr/>
        </p:nvSpPr>
        <p:spPr>
          <a:xfrm>
            <a:off x="10308641" y="4572000"/>
            <a:ext cx="3733800" cy="438912"/>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전체 경향 보기 (거시적 통찰)</a:t>
            </a:r>
            <a:endParaRPr lang="en-US" sz="1600" dirty="0"/>
          </a:p>
        </p:txBody>
      </p:sp>
      <p:sp>
        <p:nvSpPr>
          <p:cNvPr id="90" name="Shape 87"/>
          <p:cNvSpPr/>
          <p:nvPr/>
        </p:nvSpPr>
        <p:spPr>
          <a:xfrm>
            <a:off x="9851441" y="5102352"/>
            <a:ext cx="4145280" cy="768096"/>
          </a:xfrm>
          <a:prstGeom prst="roundRect">
            <a:avLst>
              <a:gd name="adj" fmla="val 7143"/>
            </a:avLst>
          </a:prstGeom>
          <a:solidFill>
            <a:srgbClr val="EEF3FA"/>
          </a:solidFill>
          <a:ln/>
        </p:spPr>
        <p:txBody>
          <a:bodyPr/>
          <a:lstStyle/>
          <a:p>
            <a:endParaRPr lang="ko-KR" altLang="en-US"/>
          </a:p>
        </p:txBody>
      </p:sp>
      <p:sp>
        <p:nvSpPr>
          <p:cNvPr id="91" name="Text 88"/>
          <p:cNvSpPr txBox="1"/>
          <p:nvPr/>
        </p:nvSpPr>
        <p:spPr>
          <a:xfrm>
            <a:off x="9851441" y="5102352"/>
            <a:ext cx="4145280" cy="768096"/>
          </a:xfrm>
          <a:prstGeom prst="rect">
            <a:avLst/>
          </a:prstGeom>
          <a:noFill/>
          <a:ln/>
        </p:spPr>
        <p:txBody>
          <a:bodyPr wrap="square" lIns="1016" tIns="1016" rIns="1016" bIns="1016"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"연회비·혜택 불만으로 해지를 문의한 회원들의 공통 원인과 거절한 제안은?"</a:t>
            </a:r>
            <a:endParaRPr lang="en-US" sz="1500" dirty="0"/>
          </a:p>
        </p:txBody>
      </p:sp>
      <p:sp>
        <p:nvSpPr>
          <p:cNvPr id="92" name="Shape 89"/>
          <p:cNvSpPr/>
          <p:nvPr/>
        </p:nvSpPr>
        <p:spPr>
          <a:xfrm>
            <a:off x="9851441" y="5980176"/>
            <a:ext cx="56692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93" name="Text 90"/>
          <p:cNvSpPr txBox="1"/>
          <p:nvPr/>
        </p:nvSpPr>
        <p:spPr>
          <a:xfrm>
            <a:off x="9851441" y="5980176"/>
            <a:ext cx="56692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경로</a:t>
            </a:r>
            <a:endParaRPr lang="en-US" sz="1400" dirty="0"/>
          </a:p>
        </p:txBody>
      </p:sp>
      <p:sp>
        <p:nvSpPr>
          <p:cNvPr id="94" name="Text 91"/>
          <p:cNvSpPr txBox="1"/>
          <p:nvPr/>
        </p:nvSpPr>
        <p:spPr>
          <a:xfrm>
            <a:off x="10491521" y="5961888"/>
            <a:ext cx="3550920" cy="347472"/>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여러 회원 → 상담 → 불만 주제별 요약</a:t>
            </a:r>
            <a:endParaRPr lang="en-US" sz="1400" dirty="0"/>
          </a:p>
        </p:txBody>
      </p:sp>
      <p:sp>
        <p:nvSpPr>
          <p:cNvPr id="95" name="Text 92"/>
          <p:cNvSpPr txBox="1"/>
          <p:nvPr/>
        </p:nvSpPr>
        <p:spPr>
          <a:xfrm>
            <a:off x="9851441" y="6345936"/>
            <a:ext cx="4145280" cy="457200"/>
          </a:xfrm>
          <a:prstGeom prst="rect">
            <a:avLst/>
          </a:prstGeom>
          <a:noFill/>
          <a:ln/>
        </p:spPr>
        <p:txBody>
          <a:bodyPr wrap="square" lIns="762" tIns="762" rIns="762" bIns="762"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문서 검색은 비슷한 문단 5개만 봄</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 회원 전체의 경향은 못 봄</a:t>
            </a:r>
            <a:endParaRPr lang="en-US" sz="1400" dirty="0"/>
          </a:p>
        </p:txBody>
      </p:sp>
      <p:sp>
        <p:nvSpPr>
          <p:cNvPr id="96" name="Shape 93"/>
          <p:cNvSpPr/>
          <p:nvPr/>
        </p:nvSpPr>
        <p:spPr>
          <a:xfrm>
            <a:off x="509321" y="6931152"/>
            <a:ext cx="1280160" cy="338328"/>
          </a:xfrm>
          <a:prstGeom prst="roundRect">
            <a:avLst>
              <a:gd name="adj" fmla="val 13514"/>
            </a:avLst>
          </a:prstGeom>
          <a:solidFill>
            <a:srgbClr val="404155"/>
          </a:solidFill>
          <a:ln/>
        </p:spPr>
        <p:txBody>
          <a:bodyPr/>
          <a:lstStyle/>
          <a:p>
            <a:endParaRPr lang="ko-KR" altLang="en-US"/>
          </a:p>
        </p:txBody>
      </p:sp>
      <p:sp>
        <p:nvSpPr>
          <p:cNvPr id="97" name="Text 94"/>
          <p:cNvSpPr txBox="1"/>
          <p:nvPr/>
        </p:nvSpPr>
        <p:spPr>
          <a:xfrm>
            <a:off x="509321" y="6931152"/>
            <a:ext cx="1280160" cy="3383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선택 기준</a:t>
            </a:r>
            <a:endParaRPr lang="en-US" sz="1500" dirty="0"/>
          </a:p>
        </p:txBody>
      </p:sp>
      <p:sp>
        <p:nvSpPr>
          <p:cNvPr id="98" name="Text 95"/>
          <p:cNvSpPr txBox="1"/>
          <p:nvPr/>
        </p:nvSpPr>
        <p:spPr>
          <a:xfrm>
            <a:off x="1926641" y="6931152"/>
            <a:ext cx="12207240" cy="338328"/>
          </a:xfrm>
          <a:prstGeom prst="rect">
            <a:avLst/>
          </a:prstGeom>
          <a:noFill/>
          <a:ln/>
        </p:spPr>
        <p:txBody>
          <a:bodyPr wrap="square" lIns="0" tIns="0" rIns="0" bIns="0" rtlCol="0" anchor="ctr"/>
          <a:lstStyle/>
          <a:p>
            <a:pPr marL="0" indent="0">
              <a:buNone/>
            </a:pPr>
            <a:r>
              <a:rPr lang="en-US" sz="1500" dirty="0">
                <a:solidFill>
                  <a:srgbClr val="2B3242"/>
                </a:solidFill>
                <a:latin typeface="Pretendard" pitchFamily="34" charset="0"/>
                <a:ea typeface="Pretendard" pitchFamily="34" charset="-122"/>
                <a:cs typeface="Pretendard" pitchFamily="34" charset="-120"/>
              </a:rPr>
              <a:t>2단계 이상 연결 · </a:t>
            </a:r>
            <a:r>
              <a:rPr lang="ko-KR" altLang="en-US" sz="1500" dirty="0">
                <a:solidFill>
                  <a:srgbClr val="2B3242"/>
                </a:solidFill>
                <a:latin typeface="Pretendard" pitchFamily="34" charset="0"/>
                <a:ea typeface="Pretendard" pitchFamily="34" charset="-122"/>
                <a:cs typeface="Pretendard" pitchFamily="34" charset="-120"/>
              </a:rPr>
              <a:t>테이블과</a:t>
            </a:r>
            <a:r>
              <a:rPr lang="en-US" sz="1500" dirty="0">
                <a:solidFill>
                  <a:srgbClr val="2B3242"/>
                </a:solidFill>
                <a:latin typeface="Pretendard" pitchFamily="34" charset="0"/>
                <a:ea typeface="Pretendard" pitchFamily="34" charset="-122"/>
                <a:cs typeface="Pretendard" pitchFamily="34" charset="-120"/>
              </a:rPr>
              <a:t> 문서 결합 · 회원 전체 경향이면 </a:t>
            </a:r>
            <a:r>
              <a:rPr lang="en-US" sz="1500" b="1" dirty="0">
                <a:solidFill>
                  <a:srgbClr val="2E74C6"/>
                </a:solidFill>
                <a:latin typeface="Pretendard" pitchFamily="34" charset="0"/>
                <a:ea typeface="Pretendard" pitchFamily="34" charset="-122"/>
                <a:cs typeface="Pretendard" pitchFamily="34" charset="-120"/>
              </a:rPr>
              <a:t>그래프 검색</a:t>
            </a:r>
            <a:r>
              <a:rPr lang="en-US" sz="1500" dirty="0">
                <a:solidFill>
                  <a:srgbClr val="2B3242"/>
                </a:solidFill>
                <a:latin typeface="Pretendard" pitchFamily="34" charset="0"/>
                <a:ea typeface="Pretendard" pitchFamily="34" charset="-122"/>
                <a:cs typeface="Pretendard" pitchFamily="34" charset="-120"/>
              </a:rPr>
              <a:t>   /   한 조항·한 숫자면 </a:t>
            </a:r>
            <a:r>
              <a:rPr lang="en-US" sz="1500" b="1" dirty="0">
                <a:solidFill>
                  <a:srgbClr val="1E2A5C"/>
                </a:solidFill>
                <a:latin typeface="Pretendard" pitchFamily="34" charset="0"/>
                <a:ea typeface="Pretendard" pitchFamily="34" charset="-122"/>
                <a:cs typeface="Pretendard" pitchFamily="34" charset="-120"/>
              </a:rPr>
              <a:t>지금 검색으로 충분</a:t>
            </a:r>
            <a:endParaRPr lang="en-US" sz="15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ko-KR" altLang="en-US" sz="3200" b="1" dirty="0">
                <a:solidFill>
                  <a:srgbClr val="2C2926"/>
                </a:solidFill>
                <a:latin typeface="Pretendard" pitchFamily="34" charset="0"/>
                <a:ea typeface="Pretendard" pitchFamily="34" charset="-122"/>
                <a:cs typeface="Pretendard" pitchFamily="34" charset="-120"/>
              </a:rPr>
              <a:t>지식 </a:t>
            </a:r>
            <a:r>
              <a:rPr lang="en-US" sz="3200" b="1" dirty="0" err="1">
                <a:solidFill>
                  <a:srgbClr val="2C2926"/>
                </a:solidFill>
                <a:latin typeface="Pretendard" pitchFamily="34" charset="0"/>
                <a:ea typeface="Pretendard" pitchFamily="34" charset="-122"/>
                <a:cs typeface="Pretendard" pitchFamily="34" charset="-120"/>
              </a:rPr>
              <a:t>그래프</a:t>
            </a:r>
            <a:r>
              <a:rPr lang="en-US" sz="3200" b="1" dirty="0">
                <a:solidFill>
                  <a:srgbClr val="2C2926"/>
                </a:solidFill>
                <a:latin typeface="Pretendard" pitchFamily="34" charset="0"/>
                <a:ea typeface="Pretendard" pitchFamily="34" charset="-122"/>
                <a:cs typeface="Pretendard" pitchFamily="34" charset="-120"/>
              </a:rPr>
              <a:t>(KG:Knowledge Graph)</a:t>
            </a:r>
            <a:r>
              <a:rPr lang="en-US" sz="3200" b="1" dirty="0" err="1">
                <a:solidFill>
                  <a:srgbClr val="2C2926"/>
                </a:solidFill>
                <a:latin typeface="Pretendard" pitchFamily="34" charset="0"/>
                <a:ea typeface="Pretendard" pitchFamily="34" charset="-122"/>
                <a:cs typeface="Pretendard" pitchFamily="34" charset="-120"/>
              </a:rPr>
              <a:t>에는</a:t>
            </a:r>
            <a:r>
              <a:rPr lang="en-US" sz="3200" b="1" dirty="0">
                <a:solidFill>
                  <a:srgbClr val="2C2926"/>
                </a:solidFill>
                <a:latin typeface="Pretendard" pitchFamily="34" charset="0"/>
                <a:ea typeface="Pretendard" pitchFamily="34" charset="-122"/>
                <a:cs typeface="Pretendard" pitchFamily="34" charset="-120"/>
              </a:rPr>
              <a:t> ID와 최소 속성만 넣음</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그래프는 노드 탐색과 제목만 맡고, 비중·금액·원문은 원래 저장소에서 ID로 가져옴</a:t>
            </a:r>
            <a:endParaRPr lang="en-US" sz="1800" dirty="0"/>
          </a:p>
        </p:txBody>
      </p:sp>
      <p:sp>
        <p:nvSpPr>
          <p:cNvPr id="5" name="Shape 2"/>
          <p:cNvSpPr/>
          <p:nvPr/>
        </p:nvSpPr>
        <p:spPr>
          <a:xfrm>
            <a:off x="509321" y="1737360"/>
            <a:ext cx="4206240" cy="384048"/>
          </a:xfrm>
          <a:prstGeom prst="roundRect">
            <a:avLst>
              <a:gd name="adj" fmla="val 14286"/>
            </a:avLst>
          </a:prstGeom>
          <a:solidFill>
            <a:srgbClr val="1E2A5C"/>
          </a:solidFill>
          <a:ln/>
        </p:spPr>
        <p:txBody>
          <a:bodyPr/>
          <a:lstStyle/>
          <a:p>
            <a:endParaRPr lang="ko-KR" altLang="en-US"/>
          </a:p>
        </p:txBody>
      </p:sp>
      <p:sp>
        <p:nvSpPr>
          <p:cNvPr id="6" name="Text 3"/>
          <p:cNvSpPr txBox="1"/>
          <p:nvPr/>
        </p:nvSpPr>
        <p:spPr>
          <a:xfrm>
            <a:off x="509321" y="1737360"/>
            <a:ext cx="420624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최소 속성이란?</a:t>
            </a:r>
            <a:endParaRPr lang="en-US" sz="1700" dirty="0"/>
          </a:p>
        </p:txBody>
      </p:sp>
      <p:sp>
        <p:nvSpPr>
          <p:cNvPr id="7" name="Shape 4"/>
          <p:cNvSpPr/>
          <p:nvPr/>
        </p:nvSpPr>
        <p:spPr>
          <a:xfrm>
            <a:off x="509321" y="2212848"/>
            <a:ext cx="4206240" cy="868680"/>
          </a:xfrm>
          <a:prstGeom prst="roundRect">
            <a:avLst>
              <a:gd name="adj" fmla="val 8421"/>
            </a:avLst>
          </a:prstGeom>
          <a:solidFill>
            <a:srgbClr val="EEF3FA"/>
          </a:solidFill>
          <a:ln/>
        </p:spPr>
        <p:txBody>
          <a:bodyPr/>
          <a:lstStyle/>
          <a:p>
            <a:endParaRPr lang="ko-KR" altLang="en-US"/>
          </a:p>
        </p:txBody>
      </p:sp>
      <p:sp>
        <p:nvSpPr>
          <p:cNvPr id="8" name="Text 5"/>
          <p:cNvSpPr txBox="1"/>
          <p:nvPr/>
        </p:nvSpPr>
        <p:spPr>
          <a:xfrm>
            <a:off x="619049" y="2212848"/>
            <a:ext cx="3986784" cy="868680"/>
          </a:xfrm>
          <a:prstGeom prst="rect">
            <a:avLst/>
          </a:prstGeom>
          <a:noFill/>
          <a:ln/>
        </p:spPr>
        <p:txBody>
          <a:bodyPr wrap="square" lIns="25400" tIns="25400" rIns="25400" bIns="25400" rtlCol="0" anchor="ctr"/>
          <a:lstStyle/>
          <a:p>
            <a:pPr marL="0" indent="0">
              <a:buNone/>
            </a:pPr>
            <a:r>
              <a:rPr lang="en-US" sz="1500" dirty="0">
                <a:solidFill>
                  <a:srgbClr val="2B3242"/>
                </a:solidFill>
                <a:latin typeface="Pretendard" pitchFamily="34" charset="0"/>
                <a:ea typeface="Pretendard" pitchFamily="34" charset="-122"/>
                <a:cs typeface="Pretendard" pitchFamily="34" charset="-120"/>
              </a:rPr>
              <a:t>그래프 안에서 </a:t>
            </a:r>
            <a:r>
              <a:rPr lang="en-US" sz="1500" b="1" dirty="0">
                <a:solidFill>
                  <a:srgbClr val="1E2A5C"/>
                </a:solidFill>
                <a:latin typeface="Pretendard" pitchFamily="34" charset="0"/>
                <a:ea typeface="Pretendard" pitchFamily="34" charset="-122"/>
                <a:cs typeface="Pretendard" pitchFamily="34" charset="-120"/>
              </a:rPr>
              <a:t>① 노드 탐색</a:t>
            </a:r>
            <a:r>
              <a:rPr lang="en-US" sz="1500" dirty="0">
                <a:solidFill>
                  <a:srgbClr val="2B3242"/>
                </a:solidFill>
                <a:latin typeface="Pretendard" pitchFamily="34" charset="0"/>
                <a:ea typeface="Pretendard" pitchFamily="34" charset="-122"/>
                <a:cs typeface="Pretendard" pitchFamily="34" charset="-120"/>
              </a:rPr>
              <a:t>과</a:t>
            </a:r>
            <a:endParaRPr lang="en-US" sz="1500" dirty="0"/>
          </a:p>
          <a:p>
            <a:pPr marL="0" indent="0">
              <a:buNone/>
            </a:pPr>
            <a:r>
              <a:rPr lang="en-US" sz="1500" b="1" dirty="0">
                <a:solidFill>
                  <a:srgbClr val="1E2A5C"/>
                </a:solidFill>
                <a:latin typeface="Pretendard" pitchFamily="34" charset="0"/>
                <a:ea typeface="Pretendard" pitchFamily="34" charset="-122"/>
                <a:cs typeface="Pretendard" pitchFamily="34" charset="-120"/>
              </a:rPr>
              <a:t>② 탐색된 노드의 제목</a:t>
            </a:r>
            <a:r>
              <a:rPr lang="en-US" sz="1500" dirty="0">
                <a:solidFill>
                  <a:srgbClr val="2B3242"/>
                </a:solidFill>
                <a:latin typeface="Pretendard" pitchFamily="34" charset="0"/>
                <a:ea typeface="Pretendard" pitchFamily="34" charset="-122"/>
                <a:cs typeface="Pretendard" pitchFamily="34" charset="-120"/>
              </a:rPr>
              <a:t>에</a:t>
            </a:r>
            <a:endParaRPr lang="en-US" sz="1500" dirty="0"/>
          </a:p>
          <a:p>
            <a:pPr marL="0" indent="0">
              <a:buNone/>
            </a:pPr>
            <a:r>
              <a:rPr lang="en-US" sz="1500" dirty="0">
                <a:solidFill>
                  <a:srgbClr val="2B3242"/>
                </a:solidFill>
                <a:latin typeface="Pretendard" pitchFamily="34" charset="0"/>
                <a:ea typeface="Pretendard" pitchFamily="34" charset="-122"/>
                <a:cs typeface="Pretendard" pitchFamily="34" charset="-120"/>
              </a:rPr>
              <a:t>꼭 필요한 정보만 넣은 것</a:t>
            </a:r>
            <a:endParaRPr lang="en-US" sz="1500" dirty="0"/>
          </a:p>
        </p:txBody>
      </p:sp>
      <p:sp>
        <p:nvSpPr>
          <p:cNvPr id="9" name="Shape 6"/>
          <p:cNvSpPr/>
          <p:nvPr/>
        </p:nvSpPr>
        <p:spPr>
          <a:xfrm>
            <a:off x="509321" y="3172968"/>
            <a:ext cx="4206240" cy="960120"/>
          </a:xfrm>
          <a:prstGeom prst="roundRect">
            <a:avLst>
              <a:gd name="adj" fmla="val 7619"/>
            </a:avLst>
          </a:prstGeom>
          <a:solidFill>
            <a:srgbClr val="FFFFFF"/>
          </a:solidFill>
          <a:ln w="12700">
            <a:solidFill>
              <a:srgbClr val="D9E0EC"/>
            </a:solidFill>
            <a:prstDash val="solid"/>
          </a:ln>
        </p:spPr>
        <p:txBody>
          <a:bodyPr/>
          <a:lstStyle/>
          <a:p>
            <a:endParaRPr lang="ko-KR" altLang="en-US"/>
          </a:p>
        </p:txBody>
      </p:sp>
      <p:sp>
        <p:nvSpPr>
          <p:cNvPr id="10" name="Text 7"/>
          <p:cNvSpPr txBox="1"/>
          <p:nvPr/>
        </p:nvSpPr>
        <p:spPr>
          <a:xfrm>
            <a:off x="619049" y="3172968"/>
            <a:ext cx="3986784" cy="960120"/>
          </a:xfrm>
          <a:prstGeom prst="rect">
            <a:avLst/>
          </a:prstGeom>
          <a:noFill/>
          <a:ln/>
        </p:spPr>
        <p:txBody>
          <a:bodyPr wrap="square" lIns="25400" tIns="25400" rIns="25400" bIns="2540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비유: 지하철 노선도</a:t>
            </a:r>
            <a:endParaRPr lang="en-US" sz="1500" dirty="0"/>
          </a:p>
          <a:p>
            <a:pPr marL="0" indent="0">
              <a:buNone/>
            </a:pPr>
            <a:r>
              <a:rPr lang="en-US" sz="1400" dirty="0">
                <a:solidFill>
                  <a:srgbClr val="2B3242"/>
                </a:solidFill>
                <a:latin typeface="Pretendard" pitchFamily="34" charset="0"/>
                <a:ea typeface="Pretendard" pitchFamily="34" charset="-122"/>
                <a:cs typeface="Pretendard" pitchFamily="34" charset="-120"/>
              </a:rPr>
              <a:t>역 이름·노선·환승만 있어도 길은 찾음</a:t>
            </a:r>
            <a:endParaRPr lang="en-US" sz="1500" dirty="0"/>
          </a:p>
          <a:p>
            <a:pPr marL="0" indent="0">
              <a:buNone/>
            </a:pPr>
            <a:r>
              <a:rPr lang="en-US" sz="1400" dirty="0">
                <a:solidFill>
                  <a:srgbClr val="4A5364"/>
                </a:solidFill>
                <a:latin typeface="Pretendard" pitchFamily="34" charset="0"/>
                <a:ea typeface="Pretendard" pitchFamily="34" charset="-122"/>
                <a:cs typeface="Pretendard" pitchFamily="34" charset="-120"/>
              </a:rPr>
              <a:t>시간표·역 안 상가는 역에 가서 봄</a:t>
            </a:r>
            <a:endParaRPr lang="en-US" sz="1500" dirty="0"/>
          </a:p>
        </p:txBody>
      </p:sp>
      <p:sp>
        <p:nvSpPr>
          <p:cNvPr id="11" name="Shape 8"/>
          <p:cNvSpPr/>
          <p:nvPr/>
        </p:nvSpPr>
        <p:spPr>
          <a:xfrm>
            <a:off x="509321" y="4270248"/>
            <a:ext cx="4206240" cy="365760"/>
          </a:xfrm>
          <a:prstGeom prst="roundRect">
            <a:avLst>
              <a:gd name="adj" fmla="val 12500"/>
            </a:avLst>
          </a:prstGeom>
          <a:solidFill>
            <a:srgbClr val="404155"/>
          </a:solidFill>
          <a:ln/>
        </p:spPr>
        <p:txBody>
          <a:bodyPr/>
          <a:lstStyle/>
          <a:p>
            <a:endParaRPr lang="ko-KR" altLang="en-US"/>
          </a:p>
        </p:txBody>
      </p:sp>
      <p:sp>
        <p:nvSpPr>
          <p:cNvPr id="12" name="Text 9"/>
          <p:cNvSpPr txBox="1"/>
          <p:nvPr/>
        </p:nvSpPr>
        <p:spPr>
          <a:xfrm>
            <a:off x="509321" y="4270248"/>
            <a:ext cx="4206240"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넣을지 정하는 질문 3가지</a:t>
            </a:r>
            <a:endParaRPr lang="en-US" sz="1500" dirty="0"/>
          </a:p>
        </p:txBody>
      </p:sp>
      <p:sp>
        <p:nvSpPr>
          <p:cNvPr id="13" name="Shape 10"/>
          <p:cNvSpPr/>
          <p:nvPr/>
        </p:nvSpPr>
        <p:spPr>
          <a:xfrm>
            <a:off x="509321" y="4727448"/>
            <a:ext cx="4206240" cy="786384"/>
          </a:xfrm>
          <a:prstGeom prst="roundRect">
            <a:avLst>
              <a:gd name="adj" fmla="val 9302"/>
            </a:avLst>
          </a:prstGeom>
          <a:solidFill>
            <a:srgbClr val="FFFFFF"/>
          </a:solidFill>
          <a:ln w="12700">
            <a:solidFill>
              <a:srgbClr val="D9E0EC"/>
            </a:solidFill>
            <a:prstDash val="solid"/>
          </a:ln>
        </p:spPr>
        <p:txBody>
          <a:bodyPr/>
          <a:lstStyle/>
          <a:p>
            <a:endParaRPr lang="ko-KR" altLang="en-US"/>
          </a:p>
        </p:txBody>
      </p:sp>
      <p:sp>
        <p:nvSpPr>
          <p:cNvPr id="14" name="Shape 11"/>
          <p:cNvSpPr/>
          <p:nvPr/>
        </p:nvSpPr>
        <p:spPr>
          <a:xfrm>
            <a:off x="619049" y="4855464"/>
            <a:ext cx="329184" cy="329184"/>
          </a:xfrm>
          <a:prstGeom prst="roundRect">
            <a:avLst>
              <a:gd name="adj" fmla="val 13889"/>
            </a:avLst>
          </a:prstGeom>
          <a:solidFill>
            <a:srgbClr val="2E74C6"/>
          </a:solidFill>
          <a:ln/>
        </p:spPr>
        <p:txBody>
          <a:bodyPr/>
          <a:lstStyle/>
          <a:p>
            <a:endParaRPr lang="ko-KR" altLang="en-US"/>
          </a:p>
        </p:txBody>
      </p:sp>
      <p:sp>
        <p:nvSpPr>
          <p:cNvPr id="15" name="Text 12"/>
          <p:cNvSpPr txBox="1"/>
          <p:nvPr/>
        </p:nvSpPr>
        <p:spPr>
          <a:xfrm>
            <a:off x="619049" y="4855464"/>
            <a:ext cx="329184" cy="329184"/>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16" name="Text 13"/>
          <p:cNvSpPr txBox="1"/>
          <p:nvPr/>
        </p:nvSpPr>
        <p:spPr>
          <a:xfrm>
            <a:off x="1012241" y="4727448"/>
            <a:ext cx="2606040" cy="786384"/>
          </a:xfrm>
          <a:prstGeom prst="rect">
            <a:avLst/>
          </a:prstGeom>
          <a:noFill/>
          <a:ln/>
        </p:spPr>
        <p:txBody>
          <a:bodyPr wrap="square" lIns="25400" tIns="25400" rIns="25400" bIns="2540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노드 탐색에 쓰나?</a:t>
            </a:r>
            <a:endParaRPr lang="en-US" sz="1500" dirty="0"/>
          </a:p>
          <a:p>
            <a:pPr marL="0" indent="0">
              <a:buNone/>
            </a:pPr>
            <a:r>
              <a:rPr lang="en-US" sz="1400" dirty="0">
                <a:solidFill>
                  <a:srgbClr val="4A5364"/>
                </a:solidFill>
                <a:latin typeface="Pretendard" pitchFamily="34" charset="0"/>
                <a:ea typeface="Pretendard" pitchFamily="34" charset="-122"/>
                <a:cs typeface="Pretendard" pitchFamily="34" charset="-120"/>
              </a:rPr>
              <a:t>예) 업종명=식비, 관계(대상·제공)</a:t>
            </a:r>
            <a:endParaRPr lang="en-US" sz="1500" dirty="0"/>
          </a:p>
        </p:txBody>
      </p:sp>
      <p:sp>
        <p:nvSpPr>
          <p:cNvPr id="17" name="Shape 14"/>
          <p:cNvSpPr/>
          <p:nvPr/>
        </p:nvSpPr>
        <p:spPr>
          <a:xfrm>
            <a:off x="3645713" y="4946904"/>
            <a:ext cx="960120" cy="347472"/>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8" name="Text 15"/>
          <p:cNvSpPr txBox="1"/>
          <p:nvPr/>
        </p:nvSpPr>
        <p:spPr>
          <a:xfrm>
            <a:off x="3645713" y="4946904"/>
            <a:ext cx="960120" cy="347472"/>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넣음</a:t>
            </a:r>
            <a:endParaRPr lang="en-US" sz="1400" dirty="0"/>
          </a:p>
        </p:txBody>
      </p:sp>
      <p:sp>
        <p:nvSpPr>
          <p:cNvPr id="19" name="Shape 16"/>
          <p:cNvSpPr/>
          <p:nvPr/>
        </p:nvSpPr>
        <p:spPr>
          <a:xfrm>
            <a:off x="509321" y="5586984"/>
            <a:ext cx="4206240" cy="786384"/>
          </a:xfrm>
          <a:prstGeom prst="roundRect">
            <a:avLst>
              <a:gd name="adj" fmla="val 9302"/>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19049" y="5715000"/>
            <a:ext cx="329184" cy="329184"/>
          </a:xfrm>
          <a:prstGeom prst="roundRect">
            <a:avLst>
              <a:gd name="adj" fmla="val 13889"/>
            </a:avLst>
          </a:prstGeom>
          <a:solidFill>
            <a:srgbClr val="2E74C6"/>
          </a:solidFill>
          <a:ln/>
        </p:spPr>
        <p:txBody>
          <a:bodyPr/>
          <a:lstStyle/>
          <a:p>
            <a:endParaRPr lang="ko-KR" altLang="en-US"/>
          </a:p>
        </p:txBody>
      </p:sp>
      <p:sp>
        <p:nvSpPr>
          <p:cNvPr id="21" name="Text 18"/>
          <p:cNvSpPr txBox="1"/>
          <p:nvPr/>
        </p:nvSpPr>
        <p:spPr>
          <a:xfrm>
            <a:off x="619049" y="5715000"/>
            <a:ext cx="329184" cy="329184"/>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22" name="Text 19"/>
          <p:cNvSpPr txBox="1"/>
          <p:nvPr/>
        </p:nvSpPr>
        <p:spPr>
          <a:xfrm>
            <a:off x="1012241" y="5586984"/>
            <a:ext cx="2606040" cy="786384"/>
          </a:xfrm>
          <a:prstGeom prst="rect">
            <a:avLst/>
          </a:prstGeom>
          <a:noFill/>
          <a:ln/>
        </p:spPr>
        <p:txBody>
          <a:bodyPr wrap="square" lIns="25400" tIns="25400" rIns="25400" bIns="2540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탐색된 노드의 제목인가?</a:t>
            </a:r>
            <a:endParaRPr lang="en-US" sz="1500" dirty="0"/>
          </a:p>
          <a:p>
            <a:pPr marL="0" indent="0">
              <a:buNone/>
            </a:pPr>
            <a:r>
              <a:rPr lang="en-US" sz="1400" dirty="0">
                <a:solidFill>
                  <a:srgbClr val="4A5364"/>
                </a:solidFill>
                <a:latin typeface="Pretendard" pitchFamily="34" charset="0"/>
                <a:ea typeface="Pretendard" pitchFamily="34" charset="-122"/>
                <a:cs typeface="Pretendard" pitchFamily="34" charset="-120"/>
              </a:rPr>
              <a:t>예) 상품명, 혜택명</a:t>
            </a:r>
            <a:endParaRPr lang="en-US" sz="1500" dirty="0"/>
          </a:p>
        </p:txBody>
      </p:sp>
      <p:sp>
        <p:nvSpPr>
          <p:cNvPr id="23" name="Shape 20"/>
          <p:cNvSpPr/>
          <p:nvPr/>
        </p:nvSpPr>
        <p:spPr>
          <a:xfrm>
            <a:off x="3645713" y="5806440"/>
            <a:ext cx="960120" cy="347472"/>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24" name="Text 21"/>
          <p:cNvSpPr txBox="1"/>
          <p:nvPr/>
        </p:nvSpPr>
        <p:spPr>
          <a:xfrm>
            <a:off x="3645713" y="5806440"/>
            <a:ext cx="960120" cy="347472"/>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넣음</a:t>
            </a:r>
            <a:endParaRPr lang="en-US" sz="1400" dirty="0"/>
          </a:p>
        </p:txBody>
      </p:sp>
      <p:sp>
        <p:nvSpPr>
          <p:cNvPr id="25" name="Shape 22"/>
          <p:cNvSpPr/>
          <p:nvPr/>
        </p:nvSpPr>
        <p:spPr>
          <a:xfrm>
            <a:off x="509321" y="6446520"/>
            <a:ext cx="4206240" cy="786384"/>
          </a:xfrm>
          <a:prstGeom prst="roundRect">
            <a:avLst>
              <a:gd name="adj" fmla="val 9302"/>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619049" y="6574536"/>
            <a:ext cx="329184" cy="329184"/>
          </a:xfrm>
          <a:prstGeom prst="roundRect">
            <a:avLst>
              <a:gd name="adj" fmla="val 13889"/>
            </a:avLst>
          </a:prstGeom>
          <a:solidFill>
            <a:srgbClr val="2E74C6"/>
          </a:solidFill>
          <a:ln/>
        </p:spPr>
        <p:txBody>
          <a:bodyPr/>
          <a:lstStyle/>
          <a:p>
            <a:endParaRPr lang="ko-KR" altLang="en-US"/>
          </a:p>
        </p:txBody>
      </p:sp>
      <p:sp>
        <p:nvSpPr>
          <p:cNvPr id="27" name="Text 24"/>
          <p:cNvSpPr txBox="1"/>
          <p:nvPr/>
        </p:nvSpPr>
        <p:spPr>
          <a:xfrm>
            <a:off x="619049" y="6574536"/>
            <a:ext cx="329184" cy="329184"/>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28" name="Text 25"/>
          <p:cNvSpPr txBox="1"/>
          <p:nvPr/>
        </p:nvSpPr>
        <p:spPr>
          <a:xfrm>
            <a:off x="1012241" y="6446520"/>
            <a:ext cx="2606040" cy="786384"/>
          </a:xfrm>
          <a:prstGeom prst="rect">
            <a:avLst/>
          </a:prstGeom>
          <a:noFill/>
          <a:ln/>
        </p:spPr>
        <p:txBody>
          <a:bodyPr wrap="square" lIns="25400" tIns="25400" rIns="25400" bIns="2540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자주 바뀌거나 크거나 민감한가?</a:t>
            </a:r>
            <a:endParaRPr lang="en-US" sz="1500" dirty="0"/>
          </a:p>
          <a:p>
            <a:pPr marL="0" indent="0">
              <a:buNone/>
            </a:pPr>
            <a:r>
              <a:rPr lang="en-US" sz="1400" dirty="0">
                <a:solidFill>
                  <a:srgbClr val="4A5364"/>
                </a:solidFill>
                <a:latin typeface="Pretendard" pitchFamily="34" charset="0"/>
                <a:ea typeface="Pretendard" pitchFamily="34" charset="-122"/>
                <a:cs typeface="Pretendard" pitchFamily="34" charset="-120"/>
              </a:rPr>
              <a:t>예) 업종 비중, 카드 상태, 상담 원문</a:t>
            </a:r>
            <a:endParaRPr lang="en-US" sz="1500" dirty="0"/>
          </a:p>
        </p:txBody>
      </p:sp>
      <p:sp>
        <p:nvSpPr>
          <p:cNvPr id="29" name="Shape 26"/>
          <p:cNvSpPr/>
          <p:nvPr/>
        </p:nvSpPr>
        <p:spPr>
          <a:xfrm>
            <a:off x="3645713" y="6665976"/>
            <a:ext cx="960120" cy="347472"/>
          </a:xfrm>
          <a:prstGeom prst="roundRect">
            <a:avLst>
              <a:gd name="adj" fmla="val 45000"/>
            </a:avLst>
          </a:prstGeom>
          <a:solidFill>
            <a:srgbClr val="404155"/>
          </a:solidFill>
          <a:ln/>
        </p:spPr>
        <p:txBody>
          <a:bodyPr/>
          <a:lstStyle/>
          <a:p>
            <a:endParaRPr lang="ko-KR" altLang="en-US"/>
          </a:p>
        </p:txBody>
      </p:sp>
      <p:sp>
        <p:nvSpPr>
          <p:cNvPr id="30" name="Text 27"/>
          <p:cNvSpPr txBox="1"/>
          <p:nvPr/>
        </p:nvSpPr>
        <p:spPr>
          <a:xfrm>
            <a:off x="3645713" y="6665976"/>
            <a:ext cx="960120"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빼고 ID만</a:t>
            </a:r>
            <a:endParaRPr lang="en-US" sz="1400" dirty="0"/>
          </a:p>
        </p:txBody>
      </p:sp>
      <p:sp>
        <p:nvSpPr>
          <p:cNvPr id="31" name="Shape 28"/>
          <p:cNvSpPr/>
          <p:nvPr/>
        </p:nvSpPr>
        <p:spPr>
          <a:xfrm>
            <a:off x="4898441" y="1737360"/>
            <a:ext cx="9235440" cy="384048"/>
          </a:xfrm>
          <a:prstGeom prst="roundRect">
            <a:avLst>
              <a:gd name="adj" fmla="val 14286"/>
            </a:avLst>
          </a:prstGeom>
          <a:solidFill>
            <a:srgbClr val="2E74C6"/>
          </a:solidFill>
          <a:ln/>
        </p:spPr>
        <p:txBody>
          <a:bodyPr/>
          <a:lstStyle/>
          <a:p>
            <a:endParaRPr lang="ko-KR" altLang="en-US"/>
          </a:p>
        </p:txBody>
      </p:sp>
      <p:sp>
        <p:nvSpPr>
          <p:cNvPr id="32" name="Text 29"/>
          <p:cNvSpPr txBox="1"/>
          <p:nvPr/>
        </p:nvSpPr>
        <p:spPr>
          <a:xfrm>
            <a:off x="4898441" y="1737360"/>
            <a:ext cx="923544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우리 시스템 예시: 무엇을 그래프에 넣나</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276725500"/>
              </p:ext>
            </p:extLst>
          </p:nvPr>
        </p:nvGraphicFramePr>
        <p:xfrm>
          <a:off x="4898441" y="2212848"/>
          <a:ext cx="9235440" cy="2633472"/>
        </p:xfrm>
        <a:graphic>
          <a:graphicData uri="http://schemas.openxmlformats.org/drawingml/2006/table">
            <a:tbl>
              <a:tblPr/>
              <a:tblGrid>
                <a:gridCol w="1511068">
                  <a:extLst>
                    <a:ext uri="{9D8B030D-6E8A-4147-A177-3AD203B41FA5}">
                      <a16:colId xmlns:a16="http://schemas.microsoft.com/office/drawing/2014/main" val="20000"/>
                    </a:ext>
                  </a:extLst>
                </a:gridCol>
                <a:gridCol w="3883892">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29184">
                <a:tc>
                  <a:txBody>
                    <a:bodyPr/>
                    <a:lstStyle/>
                    <a:p>
                      <a:pPr marL="0" indent="0" algn="ctr">
                        <a:buNone/>
                      </a:pPr>
                      <a:r>
                        <a:rPr lang="en-US" sz="1400" b="1" dirty="0" err="1">
                          <a:solidFill>
                            <a:srgbClr val="1E2A5C"/>
                          </a:solidFill>
                          <a:latin typeface="Pretendard" pitchFamily="34" charset="0"/>
                          <a:ea typeface="Pretendard" pitchFamily="34" charset="-122"/>
                          <a:cs typeface="Pretendard" pitchFamily="34" charset="-120"/>
                        </a:rPr>
                        <a:t>노드</a:t>
                      </a:r>
                      <a:r>
                        <a:rPr lang="ko-KR" altLang="en-US" sz="1400" b="1" dirty="0">
                          <a:solidFill>
                            <a:srgbClr val="1E2A5C"/>
                          </a:solidFill>
                          <a:latin typeface="Pretendard" pitchFamily="34" charset="0"/>
                          <a:ea typeface="Pretendard" pitchFamily="34" charset="-122"/>
                          <a:cs typeface="Pretendard" pitchFamily="34" charset="-120"/>
                        </a:rPr>
                        <a:t>유형</a:t>
                      </a:r>
                      <a:r>
                        <a:rPr lang="en-US" altLang="ko-KR" sz="1400" b="1" dirty="0">
                          <a:solidFill>
                            <a:srgbClr val="1E2A5C"/>
                          </a:solidFill>
                          <a:latin typeface="Pretendard" pitchFamily="34" charset="0"/>
                          <a:ea typeface="Pretendard" pitchFamily="34" charset="-122"/>
                          <a:cs typeface="Pretendard" pitchFamily="34" charset="-120"/>
                        </a:rPr>
                        <a:t>(</a:t>
                      </a:r>
                      <a:r>
                        <a:rPr lang="ko-KR" altLang="en-US" sz="1400" b="1" dirty="0">
                          <a:solidFill>
                            <a:srgbClr val="1E2A5C"/>
                          </a:solidFill>
                          <a:latin typeface="Pretendard" pitchFamily="34" charset="0"/>
                          <a:ea typeface="Pretendard" pitchFamily="34" charset="-122"/>
                          <a:cs typeface="Pretendard" pitchFamily="34" charset="-120"/>
                        </a:rPr>
                        <a:t>레이블</a:t>
                      </a:r>
                      <a:r>
                        <a:rPr lang="en-US" altLang="ko-KR" sz="1400" b="1" dirty="0">
                          <a:solidFill>
                            <a:srgbClr val="1E2A5C"/>
                          </a:solidFill>
                          <a:latin typeface="Pretendard" pitchFamily="34" charset="0"/>
                          <a:ea typeface="Pretendard" pitchFamily="34" charset="-122"/>
                          <a:cs typeface="Pretendard" pitchFamily="34" charset="-120"/>
                        </a:rPr>
                        <a:t>)</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그래프에 넣는 것 (ID + 최소 속성)</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원래 자리에 두는 것</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회원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회원 가명 ID, 고객군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가입일·연령대·연체 (정형 DB)</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카드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카드 ID</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카드 상태·발급일 (정형 DB)</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상품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상품 ID, 상품명</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연회비 (정형 DB)</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혜택</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혜택 ID, 혜택명</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혜택률·한도·조건 문구 (벡터 DB)</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업종</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업종명 (식비·주유 등 8개)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없음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거래</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b="1" dirty="0">
                          <a:solidFill>
                            <a:srgbClr val="7C8598"/>
                          </a:solidFill>
                          <a:latin typeface="Pretendard" pitchFamily="34" charset="0"/>
                          <a:ea typeface="Pretendard" pitchFamily="34" charset="-122"/>
                          <a:cs typeface="Pretendard" pitchFamily="34" charset="-120"/>
                        </a:rPr>
                        <a:t>넣지 않음 — 업종 비중은 SQL로 계산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거래 건별 금액 (정형 DB)</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상담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상담 ID, 상담일, 불만 주제, 조각 ID</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발언 원문 (벡터 DB)</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4" name="Shape 30"/>
          <p:cNvSpPr/>
          <p:nvPr/>
        </p:nvSpPr>
        <p:spPr>
          <a:xfrm>
            <a:off x="4898441" y="4992624"/>
            <a:ext cx="1097280"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35" name="Text 31"/>
          <p:cNvSpPr txBox="1"/>
          <p:nvPr/>
        </p:nvSpPr>
        <p:spPr>
          <a:xfrm>
            <a:off x="4898441" y="4992624"/>
            <a:ext cx="1097280"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예시 질문</a:t>
            </a:r>
            <a:endParaRPr lang="en-US" sz="1400" dirty="0"/>
          </a:p>
        </p:txBody>
      </p:sp>
      <p:sp>
        <p:nvSpPr>
          <p:cNvPr id="36" name="Text 32"/>
          <p:cNvSpPr txBox="1"/>
          <p:nvPr/>
        </p:nvSpPr>
        <p:spPr>
          <a:xfrm>
            <a:off x="6105449" y="4974336"/>
            <a:ext cx="8028432" cy="365760"/>
          </a:xfrm>
          <a:prstGeom prst="rect">
            <a:avLst/>
          </a:prstGeom>
          <a:noFill/>
          <a:ln/>
        </p:spPr>
        <p:txBody>
          <a:bodyPr wrap="square" lIns="762" tIns="762" rIns="762" bIns="762" rtlCol="0" anchor="ctr"/>
          <a:lstStyle/>
          <a:p>
            <a:pPr marL="0" indent="0" algn="l">
              <a:buNone/>
            </a:pPr>
            <a:r>
              <a:rPr lang="en-US" sz="1600" b="1" dirty="0">
                <a:solidFill>
                  <a:srgbClr val="2B3242"/>
                </a:solidFill>
                <a:latin typeface="Pretendard" pitchFamily="34" charset="0"/>
                <a:ea typeface="Pretendard" pitchFamily="34" charset="-122"/>
                <a:cs typeface="Pretendard" pitchFamily="34" charset="-120"/>
              </a:rPr>
              <a:t>"M-6001 회원이 많이 쓰는 업종에 혜택을 주는 카드는?"</a:t>
            </a:r>
            <a:endParaRPr lang="en-US" sz="1600" dirty="0"/>
          </a:p>
        </p:txBody>
      </p:sp>
      <p:sp>
        <p:nvSpPr>
          <p:cNvPr id="37" name="Shape 33"/>
          <p:cNvSpPr/>
          <p:nvPr/>
        </p:nvSpPr>
        <p:spPr>
          <a:xfrm>
            <a:off x="4898441" y="5413248"/>
            <a:ext cx="2103120" cy="1298448"/>
          </a:xfrm>
          <a:prstGeom prst="roundRect">
            <a:avLst>
              <a:gd name="adj" fmla="val 5634"/>
            </a:avLst>
          </a:prstGeom>
          <a:solidFill>
            <a:srgbClr val="FFFFFF"/>
          </a:solidFill>
          <a:ln w="12700">
            <a:solidFill>
              <a:srgbClr val="D9E0EC"/>
            </a:solidFill>
            <a:prstDash val="solid"/>
          </a:ln>
        </p:spPr>
        <p:txBody>
          <a:bodyPr/>
          <a:lstStyle/>
          <a:p>
            <a:endParaRPr lang="ko-KR" altLang="en-US"/>
          </a:p>
        </p:txBody>
      </p:sp>
      <p:sp>
        <p:nvSpPr>
          <p:cNvPr id="38" name="Shape 34"/>
          <p:cNvSpPr/>
          <p:nvPr/>
        </p:nvSpPr>
        <p:spPr>
          <a:xfrm>
            <a:off x="4898441" y="5413248"/>
            <a:ext cx="2103120" cy="365760"/>
          </a:xfrm>
          <a:prstGeom prst="roundRect">
            <a:avLst>
              <a:gd name="adj" fmla="val 20000"/>
            </a:avLst>
          </a:prstGeom>
          <a:solidFill>
            <a:srgbClr val="1E2A5C"/>
          </a:solidFill>
          <a:ln/>
        </p:spPr>
        <p:txBody>
          <a:bodyPr/>
          <a:lstStyle/>
          <a:p>
            <a:endParaRPr lang="ko-KR" altLang="en-US"/>
          </a:p>
        </p:txBody>
      </p:sp>
      <p:sp>
        <p:nvSpPr>
          <p:cNvPr id="39" name="Text 35"/>
          <p:cNvSpPr txBox="1"/>
          <p:nvPr/>
        </p:nvSpPr>
        <p:spPr>
          <a:xfrm>
            <a:off x="4898441" y="5413248"/>
            <a:ext cx="2103120"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정형 DB</a:t>
            </a:r>
            <a:endParaRPr lang="en-US" sz="1500" dirty="0"/>
          </a:p>
        </p:txBody>
      </p:sp>
      <p:sp>
        <p:nvSpPr>
          <p:cNvPr id="40" name="Text 36"/>
          <p:cNvSpPr txBox="1"/>
          <p:nvPr/>
        </p:nvSpPr>
        <p:spPr>
          <a:xfrm>
            <a:off x="4971593" y="5815584"/>
            <a:ext cx="1956816" cy="512064"/>
          </a:xfrm>
          <a:prstGeom prst="rect">
            <a:avLst/>
          </a:prstGeom>
          <a:noFill/>
          <a:ln/>
        </p:spPr>
        <p:txBody>
          <a:bodyPr wrap="square" lIns="25400" tIns="25400" rIns="25400" bIns="25400" rtlCol="0" anchor="t"/>
          <a:lstStyle/>
          <a:p>
            <a:pPr marL="0" indent="0">
              <a:buNone/>
            </a:pPr>
            <a:r>
              <a:rPr lang="en-US" sz="1400" b="1" dirty="0">
                <a:solidFill>
                  <a:srgbClr val="1E2A5C"/>
                </a:solidFill>
                <a:latin typeface="Pretendard" pitchFamily="34" charset="0"/>
                <a:ea typeface="Pretendard" pitchFamily="34" charset="-122"/>
                <a:cs typeface="Pretendard" pitchFamily="34" charset="-120"/>
              </a:rPr>
              <a:t>출발 노드 정하기</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업종 비중 계산</a:t>
            </a:r>
            <a:endParaRPr lang="en-US" sz="1400" dirty="0"/>
          </a:p>
        </p:txBody>
      </p:sp>
      <p:sp>
        <p:nvSpPr>
          <p:cNvPr id="41" name="Text 37"/>
          <p:cNvSpPr txBox="1"/>
          <p:nvPr/>
        </p:nvSpPr>
        <p:spPr>
          <a:xfrm>
            <a:off x="4971593" y="6345936"/>
            <a:ext cx="1956816" cy="310896"/>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넘김: 식비</a:t>
            </a:r>
            <a:endParaRPr lang="en-US" sz="1400" dirty="0"/>
          </a:p>
        </p:txBody>
      </p:sp>
      <p:sp>
        <p:nvSpPr>
          <p:cNvPr id="42" name="Shape 38"/>
          <p:cNvSpPr/>
          <p:nvPr/>
        </p:nvSpPr>
        <p:spPr>
          <a:xfrm>
            <a:off x="7038137" y="6062472"/>
            <a:ext cx="201168" cy="0"/>
          </a:xfrm>
          <a:prstGeom prst="line">
            <a:avLst/>
          </a:prstGeom>
          <a:noFill/>
          <a:ln w="25400">
            <a:solidFill>
              <a:srgbClr val="4A5364"/>
            </a:solidFill>
            <a:prstDash val="solid"/>
            <a:tailEnd type="triangle"/>
          </a:ln>
        </p:spPr>
        <p:txBody>
          <a:bodyPr/>
          <a:lstStyle/>
          <a:p>
            <a:endParaRPr lang="ko-KR" altLang="en-US"/>
          </a:p>
        </p:txBody>
      </p:sp>
      <p:sp>
        <p:nvSpPr>
          <p:cNvPr id="43" name="Shape 39"/>
          <p:cNvSpPr/>
          <p:nvPr/>
        </p:nvSpPr>
        <p:spPr>
          <a:xfrm>
            <a:off x="7275881" y="5413248"/>
            <a:ext cx="2103120" cy="1298448"/>
          </a:xfrm>
          <a:prstGeom prst="roundRect">
            <a:avLst>
              <a:gd name="adj" fmla="val 5634"/>
            </a:avLst>
          </a:prstGeom>
          <a:solidFill>
            <a:srgbClr val="FFFFFF"/>
          </a:solidFill>
          <a:ln w="12700">
            <a:solidFill>
              <a:srgbClr val="D9E0EC"/>
            </a:solidFill>
            <a:prstDash val="solid"/>
          </a:ln>
        </p:spPr>
        <p:txBody>
          <a:bodyPr/>
          <a:lstStyle/>
          <a:p>
            <a:endParaRPr lang="ko-KR" altLang="en-US"/>
          </a:p>
        </p:txBody>
      </p:sp>
      <p:sp>
        <p:nvSpPr>
          <p:cNvPr id="44" name="Shape 40"/>
          <p:cNvSpPr/>
          <p:nvPr/>
        </p:nvSpPr>
        <p:spPr>
          <a:xfrm>
            <a:off x="7275881" y="5413248"/>
            <a:ext cx="2103120" cy="365760"/>
          </a:xfrm>
          <a:prstGeom prst="roundRect">
            <a:avLst>
              <a:gd name="adj" fmla="val 20000"/>
            </a:avLst>
          </a:prstGeom>
          <a:solidFill>
            <a:srgbClr val="2E74C6"/>
          </a:solidFill>
          <a:ln/>
        </p:spPr>
        <p:txBody>
          <a:bodyPr/>
          <a:lstStyle/>
          <a:p>
            <a:endParaRPr lang="ko-KR" altLang="en-US"/>
          </a:p>
        </p:txBody>
      </p:sp>
      <p:sp>
        <p:nvSpPr>
          <p:cNvPr id="45" name="Text 41"/>
          <p:cNvSpPr txBox="1"/>
          <p:nvPr/>
        </p:nvSpPr>
        <p:spPr>
          <a:xfrm>
            <a:off x="7275881" y="5413248"/>
            <a:ext cx="2103120"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 그래프</a:t>
            </a:r>
            <a:endParaRPr lang="en-US" sz="1500" dirty="0"/>
          </a:p>
        </p:txBody>
      </p:sp>
      <p:sp>
        <p:nvSpPr>
          <p:cNvPr id="46" name="Text 42"/>
          <p:cNvSpPr txBox="1"/>
          <p:nvPr/>
        </p:nvSpPr>
        <p:spPr>
          <a:xfrm>
            <a:off x="7349033" y="5815584"/>
            <a:ext cx="1956816" cy="512064"/>
          </a:xfrm>
          <a:prstGeom prst="rect">
            <a:avLst/>
          </a:prstGeom>
          <a:noFill/>
          <a:ln/>
        </p:spPr>
        <p:txBody>
          <a:bodyPr wrap="square" lIns="25400" tIns="25400" rIns="25400" bIns="25400" rtlCol="0" anchor="t"/>
          <a:lstStyle/>
          <a:p>
            <a:pPr marL="0" indent="0">
              <a:buNone/>
            </a:pPr>
            <a:r>
              <a:rPr lang="en-US" sz="1400" b="1" dirty="0">
                <a:solidFill>
                  <a:srgbClr val="1E2A5C"/>
                </a:solidFill>
                <a:latin typeface="Pretendard" pitchFamily="34" charset="0"/>
                <a:ea typeface="Pretendard" pitchFamily="34" charset="-122"/>
                <a:cs typeface="Pretendard" pitchFamily="34" charset="-120"/>
              </a:rPr>
              <a:t>노드 탐색</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식비 → 혜택 → 상품</a:t>
            </a:r>
            <a:endParaRPr lang="en-US" sz="1400" dirty="0"/>
          </a:p>
        </p:txBody>
      </p:sp>
      <p:sp>
        <p:nvSpPr>
          <p:cNvPr id="47" name="Text 43"/>
          <p:cNvSpPr txBox="1"/>
          <p:nvPr/>
        </p:nvSpPr>
        <p:spPr>
          <a:xfrm>
            <a:off x="7349033" y="6345936"/>
            <a:ext cx="1956816" cy="310896"/>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넘김: ID·제목</a:t>
            </a:r>
            <a:endParaRPr lang="en-US" sz="1400" dirty="0"/>
          </a:p>
        </p:txBody>
      </p:sp>
      <p:sp>
        <p:nvSpPr>
          <p:cNvPr id="48" name="Shape 44"/>
          <p:cNvSpPr/>
          <p:nvPr/>
        </p:nvSpPr>
        <p:spPr>
          <a:xfrm>
            <a:off x="9415577" y="6062472"/>
            <a:ext cx="201168" cy="0"/>
          </a:xfrm>
          <a:prstGeom prst="line">
            <a:avLst/>
          </a:prstGeom>
          <a:noFill/>
          <a:ln w="25400">
            <a:solidFill>
              <a:srgbClr val="4A5364"/>
            </a:solidFill>
            <a:prstDash val="solid"/>
            <a:tailEnd type="triangle"/>
          </a:ln>
        </p:spPr>
        <p:txBody>
          <a:bodyPr/>
          <a:lstStyle/>
          <a:p>
            <a:endParaRPr lang="ko-KR" altLang="en-US"/>
          </a:p>
        </p:txBody>
      </p:sp>
      <p:sp>
        <p:nvSpPr>
          <p:cNvPr id="49" name="Shape 45"/>
          <p:cNvSpPr/>
          <p:nvPr/>
        </p:nvSpPr>
        <p:spPr>
          <a:xfrm>
            <a:off x="9653321" y="5413248"/>
            <a:ext cx="2103120" cy="1298448"/>
          </a:xfrm>
          <a:prstGeom prst="roundRect">
            <a:avLst>
              <a:gd name="adj" fmla="val 5634"/>
            </a:avLst>
          </a:prstGeom>
          <a:solidFill>
            <a:srgbClr val="FFFFFF"/>
          </a:solidFill>
          <a:ln w="12700">
            <a:solidFill>
              <a:srgbClr val="D9E0EC"/>
            </a:solidFill>
            <a:prstDash val="solid"/>
          </a:ln>
        </p:spPr>
        <p:txBody>
          <a:bodyPr/>
          <a:lstStyle/>
          <a:p>
            <a:endParaRPr lang="ko-KR" altLang="en-US"/>
          </a:p>
        </p:txBody>
      </p:sp>
      <p:sp>
        <p:nvSpPr>
          <p:cNvPr id="50" name="Shape 46"/>
          <p:cNvSpPr/>
          <p:nvPr/>
        </p:nvSpPr>
        <p:spPr>
          <a:xfrm>
            <a:off x="9653321" y="5413248"/>
            <a:ext cx="2103120" cy="365760"/>
          </a:xfrm>
          <a:prstGeom prst="roundRect">
            <a:avLst>
              <a:gd name="adj" fmla="val 20000"/>
            </a:avLst>
          </a:prstGeom>
          <a:solidFill>
            <a:srgbClr val="1E2A5C"/>
          </a:solidFill>
          <a:ln/>
        </p:spPr>
        <p:txBody>
          <a:bodyPr/>
          <a:lstStyle/>
          <a:p>
            <a:endParaRPr lang="ko-KR" altLang="en-US"/>
          </a:p>
        </p:txBody>
      </p:sp>
      <p:sp>
        <p:nvSpPr>
          <p:cNvPr id="51" name="Text 47"/>
          <p:cNvSpPr txBox="1"/>
          <p:nvPr/>
        </p:nvSpPr>
        <p:spPr>
          <a:xfrm>
            <a:off x="9653321" y="5413248"/>
            <a:ext cx="2103120"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정형 DB</a:t>
            </a:r>
            <a:endParaRPr lang="en-US" sz="1500" dirty="0"/>
          </a:p>
        </p:txBody>
      </p:sp>
      <p:sp>
        <p:nvSpPr>
          <p:cNvPr id="52" name="Text 48"/>
          <p:cNvSpPr txBox="1"/>
          <p:nvPr/>
        </p:nvSpPr>
        <p:spPr>
          <a:xfrm>
            <a:off x="9726473" y="5815584"/>
            <a:ext cx="1956816" cy="512064"/>
          </a:xfrm>
          <a:prstGeom prst="rect">
            <a:avLst/>
          </a:prstGeom>
          <a:noFill/>
          <a:ln/>
        </p:spPr>
        <p:txBody>
          <a:bodyPr wrap="square" lIns="25400" tIns="25400" rIns="25400" bIns="25400" rtlCol="0" anchor="t"/>
          <a:lstStyle/>
          <a:p>
            <a:pPr marL="0" indent="0">
              <a:buNone/>
            </a:pPr>
            <a:r>
              <a:rPr lang="en-US" sz="1400" b="1" dirty="0">
                <a:solidFill>
                  <a:srgbClr val="1E2A5C"/>
                </a:solidFill>
                <a:latin typeface="Pretendard" pitchFamily="34" charset="0"/>
                <a:ea typeface="Pretendard" pitchFamily="34" charset="-122"/>
                <a:cs typeface="Pretendard" pitchFamily="34" charset="-120"/>
              </a:rPr>
              <a:t>정확한 값</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상품 ID로 연회비 조회</a:t>
            </a:r>
            <a:endParaRPr lang="en-US" sz="1400" dirty="0"/>
          </a:p>
        </p:txBody>
      </p:sp>
      <p:sp>
        <p:nvSpPr>
          <p:cNvPr id="53" name="Text 49"/>
          <p:cNvSpPr txBox="1"/>
          <p:nvPr/>
        </p:nvSpPr>
        <p:spPr>
          <a:xfrm>
            <a:off x="9726473" y="6345936"/>
            <a:ext cx="1956816" cy="310896"/>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넘김: 연회비</a:t>
            </a:r>
            <a:endParaRPr lang="en-US" sz="1400" dirty="0"/>
          </a:p>
        </p:txBody>
      </p:sp>
      <p:sp>
        <p:nvSpPr>
          <p:cNvPr id="54" name="Shape 50"/>
          <p:cNvSpPr/>
          <p:nvPr/>
        </p:nvSpPr>
        <p:spPr>
          <a:xfrm>
            <a:off x="11793017" y="6062472"/>
            <a:ext cx="201168" cy="0"/>
          </a:xfrm>
          <a:prstGeom prst="line">
            <a:avLst/>
          </a:prstGeom>
          <a:noFill/>
          <a:ln w="25400">
            <a:solidFill>
              <a:srgbClr val="4A5364"/>
            </a:solidFill>
            <a:prstDash val="solid"/>
            <a:tailEnd type="triangle"/>
          </a:ln>
        </p:spPr>
        <p:txBody>
          <a:bodyPr/>
          <a:lstStyle/>
          <a:p>
            <a:endParaRPr lang="ko-KR" altLang="en-US"/>
          </a:p>
        </p:txBody>
      </p:sp>
      <p:sp>
        <p:nvSpPr>
          <p:cNvPr id="55" name="Shape 51"/>
          <p:cNvSpPr/>
          <p:nvPr/>
        </p:nvSpPr>
        <p:spPr>
          <a:xfrm>
            <a:off x="12030761" y="5413248"/>
            <a:ext cx="2103120" cy="1298448"/>
          </a:xfrm>
          <a:prstGeom prst="roundRect">
            <a:avLst>
              <a:gd name="adj" fmla="val 5634"/>
            </a:avLst>
          </a:prstGeom>
          <a:solidFill>
            <a:srgbClr val="FFFFFF"/>
          </a:solidFill>
          <a:ln w="12700">
            <a:solidFill>
              <a:srgbClr val="D9E0EC"/>
            </a:solidFill>
            <a:prstDash val="solid"/>
          </a:ln>
        </p:spPr>
        <p:txBody>
          <a:bodyPr/>
          <a:lstStyle/>
          <a:p>
            <a:endParaRPr lang="ko-KR" altLang="en-US"/>
          </a:p>
        </p:txBody>
      </p:sp>
      <p:sp>
        <p:nvSpPr>
          <p:cNvPr id="56" name="Shape 52"/>
          <p:cNvSpPr/>
          <p:nvPr/>
        </p:nvSpPr>
        <p:spPr>
          <a:xfrm>
            <a:off x="12030761" y="5413248"/>
            <a:ext cx="2103120" cy="365760"/>
          </a:xfrm>
          <a:prstGeom prst="roundRect">
            <a:avLst>
              <a:gd name="adj" fmla="val 20000"/>
            </a:avLst>
          </a:prstGeom>
          <a:solidFill>
            <a:srgbClr val="404155"/>
          </a:solidFill>
          <a:ln/>
        </p:spPr>
        <p:txBody>
          <a:bodyPr/>
          <a:lstStyle/>
          <a:p>
            <a:endParaRPr lang="ko-KR" altLang="en-US"/>
          </a:p>
        </p:txBody>
      </p:sp>
      <p:sp>
        <p:nvSpPr>
          <p:cNvPr id="57" name="Text 53"/>
          <p:cNvSpPr txBox="1"/>
          <p:nvPr/>
        </p:nvSpPr>
        <p:spPr>
          <a:xfrm>
            <a:off x="12030761" y="5413248"/>
            <a:ext cx="2103120"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④ 벡터 DB</a:t>
            </a:r>
            <a:endParaRPr lang="en-US" sz="1500" dirty="0"/>
          </a:p>
        </p:txBody>
      </p:sp>
      <p:sp>
        <p:nvSpPr>
          <p:cNvPr id="58" name="Text 54"/>
          <p:cNvSpPr txBox="1"/>
          <p:nvPr/>
        </p:nvSpPr>
        <p:spPr>
          <a:xfrm>
            <a:off x="12103913" y="5815584"/>
            <a:ext cx="1956816" cy="512064"/>
          </a:xfrm>
          <a:prstGeom prst="rect">
            <a:avLst/>
          </a:prstGeom>
          <a:noFill/>
          <a:ln/>
        </p:spPr>
        <p:txBody>
          <a:bodyPr wrap="square" lIns="25400" tIns="25400" rIns="25400" bIns="25400" rtlCol="0" anchor="t"/>
          <a:lstStyle/>
          <a:p>
            <a:pPr marL="0" indent="0">
              <a:buNone/>
            </a:pPr>
            <a:r>
              <a:rPr lang="en-US" sz="1400" b="1" dirty="0">
                <a:solidFill>
                  <a:srgbClr val="1E2A5C"/>
                </a:solidFill>
                <a:latin typeface="Pretendard" pitchFamily="34" charset="0"/>
                <a:ea typeface="Pretendard" pitchFamily="34" charset="-122"/>
                <a:cs typeface="Pretendard" pitchFamily="34" charset="-120"/>
              </a:rPr>
              <a:t>근거 문단</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혜택 ID로 문단 찾기</a:t>
            </a:r>
            <a:endParaRPr lang="en-US" sz="1400" dirty="0"/>
          </a:p>
        </p:txBody>
      </p:sp>
      <p:sp>
        <p:nvSpPr>
          <p:cNvPr id="59" name="Text 55"/>
          <p:cNvSpPr txBox="1"/>
          <p:nvPr/>
        </p:nvSpPr>
        <p:spPr>
          <a:xfrm>
            <a:off x="12103913" y="6345936"/>
            <a:ext cx="1956816" cy="310896"/>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넘김: 혜택 문단</a:t>
            </a:r>
            <a:endParaRPr lang="en-US" sz="1400" dirty="0"/>
          </a:p>
        </p:txBody>
      </p:sp>
      <p:sp>
        <p:nvSpPr>
          <p:cNvPr id="60" name="Shape 56"/>
          <p:cNvSpPr/>
          <p:nvPr/>
        </p:nvSpPr>
        <p:spPr>
          <a:xfrm>
            <a:off x="4898441" y="6830568"/>
            <a:ext cx="64008" cy="411480"/>
          </a:xfrm>
          <a:prstGeom prst="rect">
            <a:avLst/>
          </a:prstGeom>
          <a:solidFill>
            <a:srgbClr val="2E74C6"/>
          </a:solidFill>
          <a:ln/>
        </p:spPr>
        <p:txBody>
          <a:bodyPr/>
          <a:lstStyle/>
          <a:p>
            <a:endParaRPr lang="ko-KR" altLang="en-US"/>
          </a:p>
        </p:txBody>
      </p:sp>
      <p:sp>
        <p:nvSpPr>
          <p:cNvPr id="61" name="Text 57"/>
          <p:cNvSpPr txBox="1"/>
          <p:nvPr/>
        </p:nvSpPr>
        <p:spPr>
          <a:xfrm>
            <a:off x="5063033" y="6830568"/>
            <a:ext cx="9070848" cy="411480"/>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ID 하나로 세 저장소를 이음 → 값은 원래 자리에 한 번만 두고, 그래프는 노드 탐색과 제목만 맡음</a:t>
            </a:r>
            <a:endParaRPr lang="en-US" sz="1600" dirty="0"/>
          </a:p>
        </p:txBody>
      </p:sp>
      <p:sp>
        <p:nvSpPr>
          <p:cNvPr id="33"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KG 예시로 보는 '노드 탐색'과 '탐색된 노드의 제목'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자주 바뀌는 비중은 SQL로 계산해 출발 노드만 정하고, 그래프에서는 노드를 탐색하고 제목을 읽음</a:t>
            </a:r>
            <a:endParaRPr lang="en-US" sz="1800" dirty="0"/>
          </a:p>
        </p:txBody>
      </p:sp>
      <p:sp>
        <p:nvSpPr>
          <p:cNvPr id="5" name="Shape 2"/>
          <p:cNvSpPr/>
          <p:nvPr/>
        </p:nvSpPr>
        <p:spPr>
          <a:xfrm>
            <a:off x="509321" y="1737360"/>
            <a:ext cx="9189720" cy="384048"/>
          </a:xfrm>
          <a:prstGeom prst="roundRect">
            <a:avLst>
              <a:gd name="adj" fmla="val 14286"/>
            </a:avLst>
          </a:prstGeom>
          <a:solidFill>
            <a:srgbClr val="2E74C6"/>
          </a:solidFill>
          <a:ln/>
        </p:spPr>
        <p:txBody>
          <a:bodyPr/>
          <a:lstStyle/>
          <a:p>
            <a:endParaRPr lang="ko-KR" altLang="en-US"/>
          </a:p>
        </p:txBody>
      </p:sp>
      <p:sp>
        <p:nvSpPr>
          <p:cNvPr id="6" name="Text 3"/>
          <p:cNvSpPr txBox="1"/>
          <p:nvPr/>
        </p:nvSpPr>
        <p:spPr>
          <a:xfrm>
            <a:off x="509321" y="1737360"/>
            <a:ext cx="918972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KG 예시: 질문 하나를 SQL + 그래프로 풀기</a:t>
            </a:r>
            <a:endParaRPr lang="en-US" sz="1700" dirty="0"/>
          </a:p>
        </p:txBody>
      </p:sp>
      <p:sp>
        <p:nvSpPr>
          <p:cNvPr id="7" name="Shape 4"/>
          <p:cNvSpPr/>
          <p:nvPr/>
        </p:nvSpPr>
        <p:spPr>
          <a:xfrm>
            <a:off x="509321" y="2231136"/>
            <a:ext cx="731520"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8" name="Text 5"/>
          <p:cNvSpPr txBox="1"/>
          <p:nvPr/>
        </p:nvSpPr>
        <p:spPr>
          <a:xfrm>
            <a:off x="509321" y="2231136"/>
            <a:ext cx="731520"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p>
        </p:txBody>
      </p:sp>
      <p:sp>
        <p:nvSpPr>
          <p:cNvPr id="9" name="Text 6"/>
          <p:cNvSpPr txBox="1"/>
          <p:nvPr/>
        </p:nvSpPr>
        <p:spPr>
          <a:xfrm>
            <a:off x="1350569" y="2212848"/>
            <a:ext cx="8348472" cy="365760"/>
          </a:xfrm>
          <a:prstGeom prst="rect">
            <a:avLst/>
          </a:prstGeom>
          <a:noFill/>
          <a:ln/>
        </p:spPr>
        <p:txBody>
          <a:bodyPr wrap="square" lIns="762" tIns="762" rIns="762" bIns="762" rtlCol="0" anchor="ctr"/>
          <a:lstStyle/>
          <a:p>
            <a:pPr marL="0" indent="0" algn="l">
              <a:buNone/>
            </a:pPr>
            <a:r>
              <a:rPr lang="en-US" sz="1700" b="1" dirty="0">
                <a:solidFill>
                  <a:srgbClr val="2B3242"/>
                </a:solidFill>
                <a:latin typeface="Pretendard" pitchFamily="34" charset="0"/>
                <a:ea typeface="Pretendard" pitchFamily="34" charset="-122"/>
                <a:cs typeface="Pretendard" pitchFamily="34" charset="-120"/>
              </a:rPr>
              <a:t>"M-6001 회원이 많이 쓰는 업종에 혜택을 주는 카드는?"</a:t>
            </a:r>
            <a:endParaRPr lang="en-US" sz="1700" dirty="0"/>
          </a:p>
        </p:txBody>
      </p:sp>
      <p:sp>
        <p:nvSpPr>
          <p:cNvPr id="10" name="Shape 7"/>
          <p:cNvSpPr/>
          <p:nvPr/>
        </p:nvSpPr>
        <p:spPr>
          <a:xfrm>
            <a:off x="685800" y="2724912"/>
            <a:ext cx="347472" cy="347472"/>
          </a:xfrm>
          <a:prstGeom prst="roundRect">
            <a:avLst>
              <a:gd name="adj" fmla="val 13158"/>
            </a:avLst>
          </a:prstGeom>
          <a:solidFill>
            <a:srgbClr val="1E2A5C"/>
          </a:solidFill>
          <a:ln/>
        </p:spPr>
        <p:txBody>
          <a:bodyPr/>
          <a:lstStyle/>
          <a:p>
            <a:endParaRPr lang="ko-KR" altLang="en-US"/>
          </a:p>
        </p:txBody>
      </p:sp>
      <p:sp>
        <p:nvSpPr>
          <p:cNvPr id="11" name="Text 8"/>
          <p:cNvSpPr txBox="1"/>
          <p:nvPr/>
        </p:nvSpPr>
        <p:spPr>
          <a:xfrm>
            <a:off x="685800" y="272491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12" name="Text 9"/>
          <p:cNvSpPr txBox="1"/>
          <p:nvPr/>
        </p:nvSpPr>
        <p:spPr>
          <a:xfrm>
            <a:off x="1097280" y="2706624"/>
            <a:ext cx="2377440" cy="384048"/>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출발 노드 정하기</a:t>
            </a:r>
            <a:endParaRPr lang="en-US" sz="1500" dirty="0"/>
          </a:p>
        </p:txBody>
      </p:sp>
      <p:sp>
        <p:nvSpPr>
          <p:cNvPr id="13" name="Shape 10"/>
          <p:cNvSpPr/>
          <p:nvPr/>
        </p:nvSpPr>
        <p:spPr>
          <a:xfrm>
            <a:off x="3337560" y="2724912"/>
            <a:ext cx="347472" cy="347472"/>
          </a:xfrm>
          <a:prstGeom prst="roundRect">
            <a:avLst>
              <a:gd name="adj" fmla="val 13158"/>
            </a:avLst>
          </a:prstGeom>
          <a:solidFill>
            <a:srgbClr val="2E74C6"/>
          </a:solidFill>
          <a:ln/>
        </p:spPr>
        <p:txBody>
          <a:bodyPr/>
          <a:lstStyle/>
          <a:p>
            <a:endParaRPr lang="ko-KR" altLang="en-US"/>
          </a:p>
        </p:txBody>
      </p:sp>
      <p:sp>
        <p:nvSpPr>
          <p:cNvPr id="14" name="Text 11"/>
          <p:cNvSpPr txBox="1"/>
          <p:nvPr/>
        </p:nvSpPr>
        <p:spPr>
          <a:xfrm>
            <a:off x="3337560" y="272491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15" name="Text 12"/>
          <p:cNvSpPr txBox="1"/>
          <p:nvPr/>
        </p:nvSpPr>
        <p:spPr>
          <a:xfrm>
            <a:off x="3749040" y="2706624"/>
            <a:ext cx="2377440" cy="384048"/>
          </a:xfrm>
          <a:prstGeom prst="rect">
            <a:avLst/>
          </a:prstGeom>
          <a:noFill/>
          <a:ln/>
        </p:spPr>
        <p:txBody>
          <a:bodyPr wrap="square" lIns="762" tIns="762" rIns="762" bIns="762"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노드 탐색</a:t>
            </a:r>
            <a:endParaRPr lang="en-US" sz="1500" dirty="0"/>
          </a:p>
        </p:txBody>
      </p:sp>
      <p:sp>
        <p:nvSpPr>
          <p:cNvPr id="16" name="Shape 13"/>
          <p:cNvSpPr/>
          <p:nvPr/>
        </p:nvSpPr>
        <p:spPr>
          <a:xfrm>
            <a:off x="6949440" y="2724912"/>
            <a:ext cx="347472" cy="347472"/>
          </a:xfrm>
          <a:prstGeom prst="roundRect">
            <a:avLst>
              <a:gd name="adj" fmla="val 13158"/>
            </a:avLst>
          </a:prstGeom>
          <a:solidFill>
            <a:srgbClr val="2E74C6"/>
          </a:solidFill>
          <a:ln/>
        </p:spPr>
        <p:txBody>
          <a:bodyPr/>
          <a:lstStyle/>
          <a:p>
            <a:endParaRPr lang="ko-KR" altLang="en-US"/>
          </a:p>
        </p:txBody>
      </p:sp>
      <p:sp>
        <p:nvSpPr>
          <p:cNvPr id="17" name="Text 14"/>
          <p:cNvSpPr txBox="1"/>
          <p:nvPr/>
        </p:nvSpPr>
        <p:spPr>
          <a:xfrm>
            <a:off x="6949440" y="272491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18" name="Text 15"/>
          <p:cNvSpPr txBox="1"/>
          <p:nvPr/>
        </p:nvSpPr>
        <p:spPr>
          <a:xfrm>
            <a:off x="7360920" y="2706624"/>
            <a:ext cx="2377440" cy="384048"/>
          </a:xfrm>
          <a:prstGeom prst="rect">
            <a:avLst/>
          </a:prstGeom>
          <a:noFill/>
          <a:ln/>
        </p:spPr>
        <p:txBody>
          <a:bodyPr wrap="square" lIns="762" tIns="762" rIns="762" bIns="762"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탐색된 노드의 제목</a:t>
            </a:r>
            <a:endParaRPr lang="en-US" sz="1500" dirty="0"/>
          </a:p>
        </p:txBody>
      </p:sp>
      <p:sp>
        <p:nvSpPr>
          <p:cNvPr id="19" name="Shape 16"/>
          <p:cNvSpPr/>
          <p:nvPr/>
        </p:nvSpPr>
        <p:spPr>
          <a:xfrm>
            <a:off x="685800" y="3200400"/>
            <a:ext cx="2148840" cy="3703320"/>
          </a:xfrm>
          <a:prstGeom prst="roundRect">
            <a:avLst>
              <a:gd name="adj" fmla="val 3404"/>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85800" y="3200400"/>
            <a:ext cx="2148840" cy="384048"/>
          </a:xfrm>
          <a:prstGeom prst="roundRect">
            <a:avLst>
              <a:gd name="adj" fmla="val 19048"/>
            </a:avLst>
          </a:prstGeom>
          <a:solidFill>
            <a:srgbClr val="1E2A5C"/>
          </a:solidFill>
          <a:ln/>
        </p:spPr>
        <p:txBody>
          <a:bodyPr/>
          <a:lstStyle/>
          <a:p>
            <a:endParaRPr lang="ko-KR" altLang="en-US"/>
          </a:p>
        </p:txBody>
      </p:sp>
      <p:sp>
        <p:nvSpPr>
          <p:cNvPr id="21" name="Text 18"/>
          <p:cNvSpPr txBox="1"/>
          <p:nvPr/>
        </p:nvSpPr>
        <p:spPr>
          <a:xfrm>
            <a:off x="685800" y="3200400"/>
            <a:ext cx="214884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정형 DB (SQL)</a:t>
            </a:r>
            <a:endParaRPr lang="en-US" sz="1500" dirty="0"/>
          </a:p>
        </p:txBody>
      </p:sp>
      <p:sp>
        <p:nvSpPr>
          <p:cNvPr id="22" name="Text 19"/>
          <p:cNvSpPr txBox="1"/>
          <p:nvPr/>
        </p:nvSpPr>
        <p:spPr>
          <a:xfrm>
            <a:off x="758952" y="3639312"/>
            <a:ext cx="2002536" cy="329184"/>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M-6001 업종별 소비 비중</a:t>
            </a:r>
            <a:endParaRPr lang="en-US" sz="1400" dirty="0"/>
          </a:p>
        </p:txBody>
      </p:sp>
      <p:graphicFrame>
        <p:nvGraphicFramePr>
          <p:cNvPr id="4" name="Table 0"/>
          <p:cNvGraphicFramePr>
            <a:graphicFrameLocks noGrp="1"/>
          </p:cNvGraphicFramePr>
          <p:nvPr/>
        </p:nvGraphicFramePr>
        <p:xfrm>
          <a:off x="795528" y="4023360"/>
          <a:ext cx="1929384" cy="1975104"/>
        </p:xfrm>
        <a:graphic>
          <a:graphicData uri="http://schemas.openxmlformats.org/drawingml/2006/table">
            <a:tbl>
              <a:tblPr/>
              <a:tblGrid>
                <a:gridCol w="1005840">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tblGrid>
              <a:tr h="329184">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업종</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비중</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329184">
                <a:tc>
                  <a:txBody>
                    <a:bodyPr/>
                    <a:lstStyle/>
                    <a:p>
                      <a:pPr marL="0" indent="0">
                        <a:buNone/>
                      </a:pPr>
                      <a:r>
                        <a:rPr lang="en-US" sz="1400" b="1" dirty="0">
                          <a:solidFill>
                            <a:srgbClr val="2E74C6"/>
                          </a:solidFill>
                          <a:latin typeface="Pretendard" pitchFamily="34" charset="0"/>
                          <a:ea typeface="Pretendard" pitchFamily="34" charset="-122"/>
                          <a:cs typeface="Pretendard" pitchFamily="34" charset="-120"/>
                        </a:rPr>
                        <a:t>식비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63.7%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쇼핑</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lgn="r">
                        <a:buNone/>
                      </a:pPr>
                      <a:r>
                        <a:rPr lang="en-US" sz="1400" dirty="0">
                          <a:solidFill>
                            <a:srgbClr val="3B4557"/>
                          </a:solidFill>
                          <a:latin typeface="Pretendard" pitchFamily="34" charset="0"/>
                          <a:ea typeface="Pretendard" pitchFamily="34" charset="-122"/>
                          <a:cs typeface="Pretendard" pitchFamily="34" charset="-120"/>
                        </a:rPr>
                        <a:t>20.8%</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생활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r">
                        <a:buNone/>
                      </a:pPr>
                      <a:r>
                        <a:rPr lang="en-US" sz="1400" dirty="0">
                          <a:solidFill>
                            <a:srgbClr val="3B4557"/>
                          </a:solidFill>
                          <a:latin typeface="Pretendard" pitchFamily="34" charset="0"/>
                          <a:ea typeface="Pretendard" pitchFamily="34" charset="-122"/>
                          <a:cs typeface="Pretendard" pitchFamily="34" charset="-120"/>
                        </a:rPr>
                        <a:t>10.6%</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400" b="1" dirty="0">
                          <a:solidFill>
                            <a:srgbClr val="3B4557"/>
                          </a:solidFill>
                          <a:latin typeface="Pretendard" pitchFamily="34" charset="0"/>
                          <a:ea typeface="Pretendard" pitchFamily="34" charset="-122"/>
                          <a:cs typeface="Pretendard" pitchFamily="34" charset="-120"/>
                        </a:rPr>
                        <a:t>주유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lgn="r">
                        <a:buNone/>
                      </a:pPr>
                      <a:r>
                        <a:rPr lang="en-US" sz="1400" dirty="0">
                          <a:solidFill>
                            <a:srgbClr val="3B4557"/>
                          </a:solidFill>
                          <a:latin typeface="Pretendard" pitchFamily="34" charset="0"/>
                          <a:ea typeface="Pretendard" pitchFamily="34" charset="-122"/>
                          <a:cs typeface="Pretendard" pitchFamily="34" charset="-120"/>
                        </a:rPr>
                        <a:t>1.1%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329184">
                <a:tc>
                  <a:txBody>
                    <a:bodyPr/>
                    <a:lstStyle/>
                    <a:p>
                      <a:pPr marL="0" indent="0">
                        <a:buNone/>
                      </a:pPr>
                      <a:r>
                        <a:rPr lang="en-US" sz="1400" dirty="0">
                          <a:solidFill>
                            <a:srgbClr val="7C8598"/>
                          </a:solidFill>
                          <a:latin typeface="Pretendard" pitchFamily="34" charset="0"/>
                          <a:ea typeface="Pretendard" pitchFamily="34" charset="-122"/>
                          <a:cs typeface="Pretendard" pitchFamily="34" charset="-120"/>
                        </a:rPr>
                        <a:t>그 외 4개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r">
                        <a:buNone/>
                      </a:pPr>
                      <a:r>
                        <a:rPr lang="en-US" sz="1400" dirty="0">
                          <a:solidFill>
                            <a:srgbClr val="7C8598"/>
                          </a:solidFill>
                          <a:latin typeface="Pretendard" pitchFamily="34" charset="0"/>
                          <a:ea typeface="Pretendard" pitchFamily="34" charset="-122"/>
                          <a:cs typeface="Pretendard" pitchFamily="34" charset="-120"/>
                        </a:rPr>
                        <a:t>3.9%</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4" name="Shape 20"/>
          <p:cNvSpPr/>
          <p:nvPr/>
        </p:nvSpPr>
        <p:spPr>
          <a:xfrm>
            <a:off x="795528" y="6300216"/>
            <a:ext cx="1929384" cy="457200"/>
          </a:xfrm>
          <a:prstGeom prst="roundRect">
            <a:avLst>
              <a:gd name="adj" fmla="val 12000"/>
            </a:avLst>
          </a:prstGeom>
          <a:solidFill>
            <a:srgbClr val="EEF3FA"/>
          </a:solidFill>
          <a:ln/>
        </p:spPr>
        <p:txBody>
          <a:bodyPr/>
          <a:lstStyle/>
          <a:p>
            <a:endParaRPr lang="ko-KR" altLang="en-US"/>
          </a:p>
        </p:txBody>
      </p:sp>
      <p:sp>
        <p:nvSpPr>
          <p:cNvPr id="25" name="Text 21"/>
          <p:cNvSpPr txBox="1"/>
          <p:nvPr/>
        </p:nvSpPr>
        <p:spPr>
          <a:xfrm>
            <a:off x="795528" y="6300216"/>
            <a:ext cx="1929384" cy="457200"/>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1위 업종 = 식비</a:t>
            </a:r>
            <a:endParaRPr lang="en-US" sz="1600" dirty="0"/>
          </a:p>
        </p:txBody>
      </p:sp>
      <p:sp>
        <p:nvSpPr>
          <p:cNvPr id="26" name="Shape 22"/>
          <p:cNvSpPr/>
          <p:nvPr/>
        </p:nvSpPr>
        <p:spPr>
          <a:xfrm>
            <a:off x="3154680" y="3200400"/>
            <a:ext cx="6452921" cy="3703320"/>
          </a:xfrm>
          <a:prstGeom prst="roundRect">
            <a:avLst>
              <a:gd name="adj" fmla="val 1975"/>
            </a:avLst>
          </a:prstGeom>
          <a:solidFill>
            <a:srgbClr val="F5F8FC"/>
          </a:solidFill>
          <a:ln w="12700">
            <a:solidFill>
              <a:srgbClr val="D9E0EC"/>
            </a:solidFill>
            <a:prstDash val="solid"/>
          </a:ln>
        </p:spPr>
        <p:txBody>
          <a:bodyPr/>
          <a:lstStyle/>
          <a:p>
            <a:endParaRPr lang="ko-KR" altLang="en-US"/>
          </a:p>
        </p:txBody>
      </p:sp>
      <p:sp>
        <p:nvSpPr>
          <p:cNvPr id="27" name="Shape 23"/>
          <p:cNvSpPr/>
          <p:nvPr/>
        </p:nvSpPr>
        <p:spPr>
          <a:xfrm>
            <a:off x="3154680" y="3200400"/>
            <a:ext cx="6452921" cy="384048"/>
          </a:xfrm>
          <a:prstGeom prst="roundRect">
            <a:avLst>
              <a:gd name="adj" fmla="val 19048"/>
            </a:avLst>
          </a:prstGeom>
          <a:solidFill>
            <a:srgbClr val="2E74C6"/>
          </a:solidFill>
          <a:ln/>
        </p:spPr>
        <p:txBody>
          <a:bodyPr/>
          <a:lstStyle/>
          <a:p>
            <a:endParaRPr lang="ko-KR" altLang="en-US"/>
          </a:p>
        </p:txBody>
      </p:sp>
      <p:sp>
        <p:nvSpPr>
          <p:cNvPr id="28" name="Text 24"/>
          <p:cNvSpPr txBox="1"/>
          <p:nvPr/>
        </p:nvSpPr>
        <p:spPr>
          <a:xfrm>
            <a:off x="3154680" y="3200400"/>
            <a:ext cx="6452921"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그래프 (Neo4j)</a:t>
            </a:r>
            <a:endParaRPr lang="en-US" sz="1500" dirty="0"/>
          </a:p>
        </p:txBody>
      </p:sp>
      <p:sp>
        <p:nvSpPr>
          <p:cNvPr id="29" name="Shape 25"/>
          <p:cNvSpPr/>
          <p:nvPr/>
        </p:nvSpPr>
        <p:spPr>
          <a:xfrm flipV="1">
            <a:off x="4389120" y="4197096"/>
            <a:ext cx="411480" cy="603504"/>
          </a:xfrm>
          <a:prstGeom prst="line">
            <a:avLst/>
          </a:prstGeom>
          <a:noFill/>
          <a:ln w="25400">
            <a:solidFill>
              <a:srgbClr val="2E74C6"/>
            </a:solidFill>
            <a:prstDash val="solid"/>
            <a:tailEnd type="triangle"/>
          </a:ln>
        </p:spPr>
        <p:txBody>
          <a:bodyPr/>
          <a:lstStyle/>
          <a:p>
            <a:endParaRPr lang="ko-KR" altLang="en-US"/>
          </a:p>
        </p:txBody>
      </p:sp>
      <p:sp>
        <p:nvSpPr>
          <p:cNvPr id="30" name="Shape 26"/>
          <p:cNvSpPr/>
          <p:nvPr/>
        </p:nvSpPr>
        <p:spPr>
          <a:xfrm>
            <a:off x="6583680" y="4197096"/>
            <a:ext cx="365760" cy="0"/>
          </a:xfrm>
          <a:prstGeom prst="line">
            <a:avLst/>
          </a:prstGeom>
          <a:noFill/>
          <a:ln w="25400">
            <a:solidFill>
              <a:srgbClr val="2E74C6"/>
            </a:solidFill>
            <a:prstDash val="solid"/>
            <a:tailEnd type="triangle"/>
          </a:ln>
        </p:spPr>
        <p:txBody>
          <a:bodyPr/>
          <a:lstStyle/>
          <a:p>
            <a:endParaRPr lang="ko-KR" altLang="en-US"/>
          </a:p>
        </p:txBody>
      </p:sp>
      <p:sp>
        <p:nvSpPr>
          <p:cNvPr id="31" name="Shape 27"/>
          <p:cNvSpPr/>
          <p:nvPr/>
        </p:nvSpPr>
        <p:spPr>
          <a:xfrm>
            <a:off x="4389120" y="4800600"/>
            <a:ext cx="411480" cy="0"/>
          </a:xfrm>
          <a:prstGeom prst="line">
            <a:avLst/>
          </a:prstGeom>
          <a:noFill/>
          <a:ln w="25400">
            <a:solidFill>
              <a:srgbClr val="2E74C6"/>
            </a:solidFill>
            <a:prstDash val="solid"/>
            <a:tailEnd type="triangle"/>
          </a:ln>
        </p:spPr>
        <p:txBody>
          <a:bodyPr/>
          <a:lstStyle/>
          <a:p>
            <a:endParaRPr lang="ko-KR" altLang="en-US"/>
          </a:p>
        </p:txBody>
      </p:sp>
      <p:sp>
        <p:nvSpPr>
          <p:cNvPr id="32" name="Shape 28"/>
          <p:cNvSpPr/>
          <p:nvPr/>
        </p:nvSpPr>
        <p:spPr>
          <a:xfrm>
            <a:off x="6583680" y="4800600"/>
            <a:ext cx="365760" cy="0"/>
          </a:xfrm>
          <a:prstGeom prst="line">
            <a:avLst/>
          </a:prstGeom>
          <a:noFill/>
          <a:ln w="25400">
            <a:solidFill>
              <a:srgbClr val="2E74C6"/>
            </a:solidFill>
            <a:prstDash val="solid"/>
            <a:tailEnd type="triangle"/>
          </a:ln>
        </p:spPr>
        <p:txBody>
          <a:bodyPr/>
          <a:lstStyle/>
          <a:p>
            <a:endParaRPr lang="ko-KR" altLang="en-US"/>
          </a:p>
        </p:txBody>
      </p:sp>
      <p:sp>
        <p:nvSpPr>
          <p:cNvPr id="33" name="Shape 29"/>
          <p:cNvSpPr/>
          <p:nvPr/>
        </p:nvSpPr>
        <p:spPr>
          <a:xfrm>
            <a:off x="4389120" y="4800600"/>
            <a:ext cx="411480" cy="603504"/>
          </a:xfrm>
          <a:prstGeom prst="line">
            <a:avLst/>
          </a:prstGeom>
          <a:noFill/>
          <a:ln w="25400">
            <a:solidFill>
              <a:srgbClr val="2E74C6"/>
            </a:solidFill>
            <a:prstDash val="solid"/>
            <a:tailEnd type="triangle"/>
          </a:ln>
        </p:spPr>
        <p:txBody>
          <a:bodyPr/>
          <a:lstStyle/>
          <a:p>
            <a:endParaRPr lang="ko-KR" altLang="en-US"/>
          </a:p>
        </p:txBody>
      </p:sp>
      <p:sp>
        <p:nvSpPr>
          <p:cNvPr id="34" name="Shape 30"/>
          <p:cNvSpPr/>
          <p:nvPr/>
        </p:nvSpPr>
        <p:spPr>
          <a:xfrm>
            <a:off x="6583680" y="5404104"/>
            <a:ext cx="365760" cy="0"/>
          </a:xfrm>
          <a:prstGeom prst="line">
            <a:avLst/>
          </a:prstGeom>
          <a:noFill/>
          <a:ln w="25400">
            <a:solidFill>
              <a:srgbClr val="2E74C6"/>
            </a:solidFill>
            <a:prstDash val="solid"/>
            <a:tailEnd type="triangle"/>
          </a:ln>
        </p:spPr>
        <p:txBody>
          <a:bodyPr/>
          <a:lstStyle/>
          <a:p>
            <a:endParaRPr lang="ko-KR" altLang="en-US"/>
          </a:p>
        </p:txBody>
      </p:sp>
      <p:sp>
        <p:nvSpPr>
          <p:cNvPr id="35" name="Shape 31"/>
          <p:cNvSpPr/>
          <p:nvPr/>
        </p:nvSpPr>
        <p:spPr>
          <a:xfrm>
            <a:off x="4389120" y="6062472"/>
            <a:ext cx="411480" cy="0"/>
          </a:xfrm>
          <a:prstGeom prst="line">
            <a:avLst/>
          </a:prstGeom>
          <a:noFill/>
          <a:ln w="15875">
            <a:solidFill>
              <a:srgbClr val="7C8598"/>
            </a:solidFill>
            <a:prstDash val="dash"/>
            <a:tailEnd type="triangle"/>
          </a:ln>
        </p:spPr>
        <p:txBody>
          <a:bodyPr/>
          <a:lstStyle/>
          <a:p>
            <a:endParaRPr lang="ko-KR" altLang="en-US"/>
          </a:p>
        </p:txBody>
      </p:sp>
      <p:sp>
        <p:nvSpPr>
          <p:cNvPr id="36" name="Shape 32"/>
          <p:cNvSpPr/>
          <p:nvPr/>
        </p:nvSpPr>
        <p:spPr>
          <a:xfrm>
            <a:off x="6583680" y="6062472"/>
            <a:ext cx="365760" cy="0"/>
          </a:xfrm>
          <a:prstGeom prst="line">
            <a:avLst/>
          </a:prstGeom>
          <a:noFill/>
          <a:ln w="15875">
            <a:solidFill>
              <a:srgbClr val="7C8598"/>
            </a:solidFill>
            <a:prstDash val="dash"/>
            <a:tailEnd type="triangle"/>
          </a:ln>
        </p:spPr>
        <p:txBody>
          <a:bodyPr/>
          <a:lstStyle/>
          <a:p>
            <a:endParaRPr lang="ko-KR" altLang="en-US"/>
          </a:p>
        </p:txBody>
      </p:sp>
      <p:sp>
        <p:nvSpPr>
          <p:cNvPr id="37" name="Shape 33"/>
          <p:cNvSpPr/>
          <p:nvPr/>
        </p:nvSpPr>
        <p:spPr>
          <a:xfrm>
            <a:off x="4389120" y="6611112"/>
            <a:ext cx="411480" cy="0"/>
          </a:xfrm>
          <a:prstGeom prst="line">
            <a:avLst/>
          </a:prstGeom>
          <a:noFill/>
          <a:ln w="15875">
            <a:solidFill>
              <a:srgbClr val="7C8598"/>
            </a:solidFill>
            <a:prstDash val="dash"/>
            <a:tailEnd type="triangle"/>
          </a:ln>
        </p:spPr>
        <p:txBody>
          <a:bodyPr/>
          <a:lstStyle/>
          <a:p>
            <a:endParaRPr lang="ko-KR" altLang="en-US"/>
          </a:p>
        </p:txBody>
      </p:sp>
      <p:sp>
        <p:nvSpPr>
          <p:cNvPr id="38" name="Shape 34"/>
          <p:cNvSpPr/>
          <p:nvPr/>
        </p:nvSpPr>
        <p:spPr>
          <a:xfrm>
            <a:off x="6583680" y="6611112"/>
            <a:ext cx="365760" cy="0"/>
          </a:xfrm>
          <a:prstGeom prst="line">
            <a:avLst/>
          </a:prstGeom>
          <a:noFill/>
          <a:ln w="15875">
            <a:solidFill>
              <a:srgbClr val="7C8598"/>
            </a:solidFill>
            <a:prstDash val="dash"/>
            <a:tailEnd type="triangle"/>
          </a:ln>
        </p:spPr>
        <p:txBody>
          <a:bodyPr/>
          <a:lstStyle/>
          <a:p>
            <a:endParaRPr lang="ko-KR" altLang="en-US"/>
          </a:p>
        </p:txBody>
      </p:sp>
      <p:sp>
        <p:nvSpPr>
          <p:cNvPr id="39" name="Shape 35"/>
          <p:cNvSpPr/>
          <p:nvPr/>
        </p:nvSpPr>
        <p:spPr>
          <a:xfrm>
            <a:off x="3337560" y="4553712"/>
            <a:ext cx="1051560" cy="493776"/>
          </a:xfrm>
          <a:prstGeom prst="roundRect">
            <a:avLst>
              <a:gd name="adj" fmla="val 18519"/>
            </a:avLst>
          </a:prstGeom>
          <a:solidFill>
            <a:srgbClr val="2E74C6"/>
          </a:solidFill>
          <a:ln/>
        </p:spPr>
        <p:txBody>
          <a:bodyPr/>
          <a:lstStyle/>
          <a:p>
            <a:endParaRPr lang="ko-KR" altLang="en-US"/>
          </a:p>
        </p:txBody>
      </p:sp>
      <p:sp>
        <p:nvSpPr>
          <p:cNvPr id="40" name="Text 36"/>
          <p:cNvSpPr txBox="1"/>
          <p:nvPr/>
        </p:nvSpPr>
        <p:spPr>
          <a:xfrm>
            <a:off x="3337560" y="4553712"/>
            <a:ext cx="1051560" cy="493776"/>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식비</a:t>
            </a:r>
            <a:endParaRPr lang="en-US" sz="1700" dirty="0"/>
          </a:p>
        </p:txBody>
      </p:sp>
      <p:sp>
        <p:nvSpPr>
          <p:cNvPr id="41" name="Shape 37"/>
          <p:cNvSpPr/>
          <p:nvPr/>
        </p:nvSpPr>
        <p:spPr>
          <a:xfrm>
            <a:off x="3337560" y="5815584"/>
            <a:ext cx="1051560" cy="493776"/>
          </a:xfrm>
          <a:prstGeom prst="roundRect">
            <a:avLst>
              <a:gd name="adj" fmla="val 18519"/>
            </a:avLst>
          </a:prstGeom>
          <a:solidFill>
            <a:srgbClr val="EEF0F4"/>
          </a:solidFill>
          <a:ln w="12700">
            <a:solidFill>
              <a:srgbClr val="D9E0EC"/>
            </a:solidFill>
            <a:prstDash val="solid"/>
          </a:ln>
        </p:spPr>
        <p:txBody>
          <a:bodyPr/>
          <a:lstStyle/>
          <a:p>
            <a:endParaRPr lang="ko-KR" altLang="en-US"/>
          </a:p>
        </p:txBody>
      </p:sp>
      <p:sp>
        <p:nvSpPr>
          <p:cNvPr id="42" name="Text 38"/>
          <p:cNvSpPr txBox="1"/>
          <p:nvPr/>
        </p:nvSpPr>
        <p:spPr>
          <a:xfrm>
            <a:off x="3337560" y="5815584"/>
            <a:ext cx="1051560" cy="493776"/>
          </a:xfrm>
          <a:prstGeom prst="rect">
            <a:avLst/>
          </a:prstGeom>
          <a:noFill/>
          <a:ln/>
        </p:spPr>
        <p:txBody>
          <a:bodyPr wrap="square" lIns="1016" tIns="1016" rIns="1016" bIns="1016" rtlCol="0" anchor="ctr"/>
          <a:lstStyle/>
          <a:p>
            <a:pPr marL="0" indent="0" algn="ctr">
              <a:buNone/>
            </a:pPr>
            <a:r>
              <a:rPr lang="en-US" sz="1700" b="1" dirty="0">
                <a:solidFill>
                  <a:srgbClr val="7C8598"/>
                </a:solidFill>
                <a:latin typeface="Pretendard" pitchFamily="34" charset="0"/>
                <a:ea typeface="Pretendard" pitchFamily="34" charset="-122"/>
                <a:cs typeface="Pretendard" pitchFamily="34" charset="-120"/>
              </a:rPr>
              <a:t>쇼핑</a:t>
            </a:r>
            <a:endParaRPr lang="en-US" sz="1700" dirty="0"/>
          </a:p>
        </p:txBody>
      </p:sp>
      <p:sp>
        <p:nvSpPr>
          <p:cNvPr id="43" name="Shape 39"/>
          <p:cNvSpPr/>
          <p:nvPr/>
        </p:nvSpPr>
        <p:spPr>
          <a:xfrm>
            <a:off x="3337560" y="6364224"/>
            <a:ext cx="1051560" cy="493776"/>
          </a:xfrm>
          <a:prstGeom prst="roundRect">
            <a:avLst>
              <a:gd name="adj" fmla="val 18519"/>
            </a:avLst>
          </a:prstGeom>
          <a:solidFill>
            <a:srgbClr val="EEF0F4"/>
          </a:solidFill>
          <a:ln w="12700">
            <a:solidFill>
              <a:srgbClr val="D9E0EC"/>
            </a:solidFill>
            <a:prstDash val="solid"/>
          </a:ln>
        </p:spPr>
        <p:txBody>
          <a:bodyPr/>
          <a:lstStyle/>
          <a:p>
            <a:endParaRPr lang="ko-KR" altLang="en-US"/>
          </a:p>
        </p:txBody>
      </p:sp>
      <p:sp>
        <p:nvSpPr>
          <p:cNvPr id="44" name="Text 40"/>
          <p:cNvSpPr txBox="1"/>
          <p:nvPr/>
        </p:nvSpPr>
        <p:spPr>
          <a:xfrm>
            <a:off x="3337560" y="6364224"/>
            <a:ext cx="1051560" cy="493776"/>
          </a:xfrm>
          <a:prstGeom prst="rect">
            <a:avLst/>
          </a:prstGeom>
          <a:noFill/>
          <a:ln/>
        </p:spPr>
        <p:txBody>
          <a:bodyPr wrap="square" lIns="1016" tIns="1016" rIns="1016" bIns="1016" rtlCol="0" anchor="ctr"/>
          <a:lstStyle/>
          <a:p>
            <a:pPr marL="0" indent="0" algn="ctr">
              <a:buNone/>
            </a:pPr>
            <a:r>
              <a:rPr lang="en-US" sz="1700" b="1" dirty="0">
                <a:solidFill>
                  <a:srgbClr val="7C8598"/>
                </a:solidFill>
                <a:latin typeface="Pretendard" pitchFamily="34" charset="0"/>
                <a:ea typeface="Pretendard" pitchFamily="34" charset="-122"/>
                <a:cs typeface="Pretendard" pitchFamily="34" charset="-120"/>
              </a:rPr>
              <a:t>주유</a:t>
            </a:r>
            <a:endParaRPr lang="en-US" sz="1700" dirty="0"/>
          </a:p>
        </p:txBody>
      </p:sp>
      <p:sp>
        <p:nvSpPr>
          <p:cNvPr id="45" name="Shape 41"/>
          <p:cNvSpPr/>
          <p:nvPr/>
        </p:nvSpPr>
        <p:spPr>
          <a:xfrm>
            <a:off x="4800600" y="3950208"/>
            <a:ext cx="1783080" cy="493776"/>
          </a:xfrm>
          <a:prstGeom prst="roundRect">
            <a:avLst>
              <a:gd name="adj" fmla="val 18519"/>
            </a:avLst>
          </a:prstGeom>
          <a:solidFill>
            <a:srgbClr val="FFFFFF"/>
          </a:solidFill>
          <a:ln w="25400">
            <a:solidFill>
              <a:srgbClr val="2E74C6"/>
            </a:solidFill>
            <a:prstDash val="solid"/>
          </a:ln>
        </p:spPr>
        <p:txBody>
          <a:bodyPr/>
          <a:lstStyle/>
          <a:p>
            <a:endParaRPr lang="ko-KR" altLang="en-US"/>
          </a:p>
        </p:txBody>
      </p:sp>
      <p:sp>
        <p:nvSpPr>
          <p:cNvPr id="46" name="Text 42"/>
          <p:cNvSpPr txBox="1"/>
          <p:nvPr/>
        </p:nvSpPr>
        <p:spPr>
          <a:xfrm>
            <a:off x="4800600" y="3950208"/>
            <a:ext cx="1783080" cy="49377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시간대 할인</a:t>
            </a:r>
            <a:endParaRPr lang="en-US" sz="1400" dirty="0"/>
          </a:p>
        </p:txBody>
      </p:sp>
      <p:sp>
        <p:nvSpPr>
          <p:cNvPr id="47" name="Shape 43"/>
          <p:cNvSpPr/>
          <p:nvPr/>
        </p:nvSpPr>
        <p:spPr>
          <a:xfrm>
            <a:off x="6949440" y="3950208"/>
            <a:ext cx="914400" cy="493776"/>
          </a:xfrm>
          <a:prstGeom prst="roundRect">
            <a:avLst>
              <a:gd name="adj" fmla="val 14815"/>
            </a:avLst>
          </a:prstGeom>
          <a:solidFill>
            <a:srgbClr val="FFFFFF"/>
          </a:solidFill>
          <a:ln w="25400">
            <a:solidFill>
              <a:srgbClr val="2E74C6"/>
            </a:solidFill>
            <a:prstDash val="solid"/>
          </a:ln>
        </p:spPr>
        <p:txBody>
          <a:bodyPr/>
          <a:lstStyle/>
          <a:p>
            <a:endParaRPr lang="ko-KR" altLang="en-US"/>
          </a:p>
        </p:txBody>
      </p:sp>
      <p:sp>
        <p:nvSpPr>
          <p:cNvPr id="48" name="Text 44"/>
          <p:cNvSpPr txBox="1"/>
          <p:nvPr/>
        </p:nvSpPr>
        <p:spPr>
          <a:xfrm>
            <a:off x="6949440" y="3950208"/>
            <a:ext cx="914400" cy="49377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D2-C005</a:t>
            </a:r>
            <a:endParaRPr lang="en-US" sz="1400" dirty="0"/>
          </a:p>
        </p:txBody>
      </p:sp>
      <p:sp>
        <p:nvSpPr>
          <p:cNvPr id="49" name="Shape 45"/>
          <p:cNvSpPr/>
          <p:nvPr/>
        </p:nvSpPr>
        <p:spPr>
          <a:xfrm>
            <a:off x="7863840" y="4197096"/>
            <a:ext cx="109728" cy="0"/>
          </a:xfrm>
          <a:prstGeom prst="line">
            <a:avLst/>
          </a:prstGeom>
          <a:noFill/>
          <a:ln w="25400">
            <a:solidFill>
              <a:srgbClr val="2E74C6"/>
            </a:solidFill>
            <a:prstDash val="solid"/>
          </a:ln>
        </p:spPr>
        <p:txBody>
          <a:bodyPr/>
          <a:lstStyle/>
          <a:p>
            <a:endParaRPr lang="ko-KR" altLang="en-US"/>
          </a:p>
        </p:txBody>
      </p:sp>
      <p:sp>
        <p:nvSpPr>
          <p:cNvPr id="50" name="Shape 46"/>
          <p:cNvSpPr/>
          <p:nvPr/>
        </p:nvSpPr>
        <p:spPr>
          <a:xfrm>
            <a:off x="7973568" y="3950208"/>
            <a:ext cx="1554480" cy="493776"/>
          </a:xfrm>
          <a:prstGeom prst="roundRect">
            <a:avLst>
              <a:gd name="adj" fmla="val 45000"/>
            </a:avLst>
          </a:prstGeom>
          <a:solidFill>
            <a:srgbClr val="2E74C6"/>
          </a:solidFill>
          <a:ln/>
        </p:spPr>
        <p:txBody>
          <a:bodyPr/>
          <a:lstStyle/>
          <a:p>
            <a:endParaRPr lang="ko-KR" altLang="en-US"/>
          </a:p>
        </p:txBody>
      </p:sp>
      <p:sp>
        <p:nvSpPr>
          <p:cNvPr id="51" name="Text 47"/>
          <p:cNvSpPr txBox="1"/>
          <p:nvPr/>
        </p:nvSpPr>
        <p:spPr>
          <a:xfrm>
            <a:off x="7973568" y="3950208"/>
            <a:ext cx="1554480" cy="49377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한빛 하루절약</a:t>
            </a:r>
            <a:endParaRPr lang="en-US" sz="1400" dirty="0"/>
          </a:p>
        </p:txBody>
      </p:sp>
      <p:sp>
        <p:nvSpPr>
          <p:cNvPr id="52" name="Shape 48"/>
          <p:cNvSpPr/>
          <p:nvPr/>
        </p:nvSpPr>
        <p:spPr>
          <a:xfrm>
            <a:off x="4800600" y="4553712"/>
            <a:ext cx="1783080" cy="493776"/>
          </a:xfrm>
          <a:prstGeom prst="roundRect">
            <a:avLst>
              <a:gd name="adj" fmla="val 18519"/>
            </a:avLst>
          </a:prstGeom>
          <a:solidFill>
            <a:srgbClr val="FFFFFF"/>
          </a:solidFill>
          <a:ln w="25400">
            <a:solidFill>
              <a:srgbClr val="2E74C6"/>
            </a:solidFill>
            <a:prstDash val="solid"/>
          </a:ln>
        </p:spPr>
        <p:txBody>
          <a:bodyPr/>
          <a:lstStyle/>
          <a:p>
            <a:endParaRPr lang="ko-KR" altLang="en-US"/>
          </a:p>
        </p:txBody>
      </p:sp>
      <p:sp>
        <p:nvSpPr>
          <p:cNvPr id="53" name="Text 49"/>
          <p:cNvSpPr txBox="1"/>
          <p:nvPr/>
        </p:nvSpPr>
        <p:spPr>
          <a:xfrm>
            <a:off x="4800600" y="4553712"/>
            <a:ext cx="1783080" cy="49377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배달앱 할인</a:t>
            </a:r>
            <a:endParaRPr lang="en-US" sz="1400" dirty="0"/>
          </a:p>
        </p:txBody>
      </p:sp>
      <p:sp>
        <p:nvSpPr>
          <p:cNvPr id="54" name="Shape 50"/>
          <p:cNvSpPr/>
          <p:nvPr/>
        </p:nvSpPr>
        <p:spPr>
          <a:xfrm>
            <a:off x="6949440" y="4553712"/>
            <a:ext cx="914400" cy="493776"/>
          </a:xfrm>
          <a:prstGeom prst="roundRect">
            <a:avLst>
              <a:gd name="adj" fmla="val 14815"/>
            </a:avLst>
          </a:prstGeom>
          <a:solidFill>
            <a:srgbClr val="FFFFFF"/>
          </a:solidFill>
          <a:ln w="25400">
            <a:solidFill>
              <a:srgbClr val="2E74C6"/>
            </a:solidFill>
            <a:prstDash val="solid"/>
          </a:ln>
        </p:spPr>
        <p:txBody>
          <a:bodyPr/>
          <a:lstStyle/>
          <a:p>
            <a:endParaRPr lang="ko-KR" altLang="en-US"/>
          </a:p>
        </p:txBody>
      </p:sp>
      <p:sp>
        <p:nvSpPr>
          <p:cNvPr id="55" name="Text 51"/>
          <p:cNvSpPr txBox="1"/>
          <p:nvPr/>
        </p:nvSpPr>
        <p:spPr>
          <a:xfrm>
            <a:off x="6949440" y="4553712"/>
            <a:ext cx="914400" cy="49377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D2-C033</a:t>
            </a:r>
            <a:endParaRPr lang="en-US" sz="1400" dirty="0"/>
          </a:p>
        </p:txBody>
      </p:sp>
      <p:sp>
        <p:nvSpPr>
          <p:cNvPr id="56" name="Shape 52"/>
          <p:cNvSpPr/>
          <p:nvPr/>
        </p:nvSpPr>
        <p:spPr>
          <a:xfrm>
            <a:off x="7863840" y="4800600"/>
            <a:ext cx="109728" cy="0"/>
          </a:xfrm>
          <a:prstGeom prst="line">
            <a:avLst/>
          </a:prstGeom>
          <a:noFill/>
          <a:ln w="25400">
            <a:solidFill>
              <a:srgbClr val="2E74C6"/>
            </a:solidFill>
            <a:prstDash val="solid"/>
          </a:ln>
        </p:spPr>
        <p:txBody>
          <a:bodyPr/>
          <a:lstStyle/>
          <a:p>
            <a:endParaRPr lang="ko-KR" altLang="en-US"/>
          </a:p>
        </p:txBody>
      </p:sp>
      <p:sp>
        <p:nvSpPr>
          <p:cNvPr id="57" name="Shape 53"/>
          <p:cNvSpPr/>
          <p:nvPr/>
        </p:nvSpPr>
        <p:spPr>
          <a:xfrm>
            <a:off x="7973568" y="4553712"/>
            <a:ext cx="1554480" cy="493776"/>
          </a:xfrm>
          <a:prstGeom prst="roundRect">
            <a:avLst>
              <a:gd name="adj" fmla="val 45000"/>
            </a:avLst>
          </a:prstGeom>
          <a:solidFill>
            <a:srgbClr val="2E74C6"/>
          </a:solidFill>
          <a:ln/>
        </p:spPr>
        <p:txBody>
          <a:bodyPr/>
          <a:lstStyle/>
          <a:p>
            <a:endParaRPr lang="ko-KR" altLang="en-US"/>
          </a:p>
        </p:txBody>
      </p:sp>
      <p:sp>
        <p:nvSpPr>
          <p:cNvPr id="58" name="Text 54"/>
          <p:cNvSpPr txBox="1"/>
          <p:nvPr/>
        </p:nvSpPr>
        <p:spPr>
          <a:xfrm>
            <a:off x="7973568" y="4553712"/>
            <a:ext cx="1554480" cy="49377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한빛 한끼친구</a:t>
            </a:r>
            <a:endParaRPr lang="en-US" sz="1400" dirty="0"/>
          </a:p>
        </p:txBody>
      </p:sp>
      <p:sp>
        <p:nvSpPr>
          <p:cNvPr id="59" name="Shape 55"/>
          <p:cNvSpPr/>
          <p:nvPr/>
        </p:nvSpPr>
        <p:spPr>
          <a:xfrm>
            <a:off x="4800600" y="5157216"/>
            <a:ext cx="1783080" cy="493776"/>
          </a:xfrm>
          <a:prstGeom prst="roundRect">
            <a:avLst>
              <a:gd name="adj" fmla="val 18519"/>
            </a:avLst>
          </a:prstGeom>
          <a:solidFill>
            <a:srgbClr val="FFFFFF"/>
          </a:solidFill>
          <a:ln w="25400">
            <a:solidFill>
              <a:srgbClr val="2E74C6"/>
            </a:solidFill>
            <a:prstDash val="solid"/>
          </a:ln>
        </p:spPr>
        <p:txBody>
          <a:bodyPr/>
          <a:lstStyle/>
          <a:p>
            <a:endParaRPr lang="ko-KR" altLang="en-US"/>
          </a:p>
        </p:txBody>
      </p:sp>
      <p:sp>
        <p:nvSpPr>
          <p:cNvPr id="60" name="Text 56"/>
          <p:cNvSpPr txBox="1"/>
          <p:nvPr/>
        </p:nvSpPr>
        <p:spPr>
          <a:xfrm>
            <a:off x="4800600" y="5157216"/>
            <a:ext cx="1783080" cy="49377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주말 외식 적립</a:t>
            </a:r>
            <a:endParaRPr lang="en-US" sz="1400" dirty="0"/>
          </a:p>
        </p:txBody>
      </p:sp>
      <p:sp>
        <p:nvSpPr>
          <p:cNvPr id="61" name="Shape 57"/>
          <p:cNvSpPr/>
          <p:nvPr/>
        </p:nvSpPr>
        <p:spPr>
          <a:xfrm>
            <a:off x="6949440" y="5157216"/>
            <a:ext cx="914400" cy="493776"/>
          </a:xfrm>
          <a:prstGeom prst="roundRect">
            <a:avLst>
              <a:gd name="adj" fmla="val 14815"/>
            </a:avLst>
          </a:prstGeom>
          <a:solidFill>
            <a:srgbClr val="FFFFFF"/>
          </a:solidFill>
          <a:ln w="25400">
            <a:solidFill>
              <a:srgbClr val="2E74C6"/>
            </a:solidFill>
            <a:prstDash val="solid"/>
          </a:ln>
        </p:spPr>
        <p:txBody>
          <a:bodyPr/>
          <a:lstStyle/>
          <a:p>
            <a:endParaRPr lang="ko-KR" altLang="en-US"/>
          </a:p>
        </p:txBody>
      </p:sp>
      <p:sp>
        <p:nvSpPr>
          <p:cNvPr id="62" name="Text 58"/>
          <p:cNvSpPr txBox="1"/>
          <p:nvPr/>
        </p:nvSpPr>
        <p:spPr>
          <a:xfrm>
            <a:off x="6949440" y="5157216"/>
            <a:ext cx="914400" cy="49377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D2-C035</a:t>
            </a:r>
            <a:endParaRPr lang="en-US" sz="1400" dirty="0"/>
          </a:p>
        </p:txBody>
      </p:sp>
      <p:sp>
        <p:nvSpPr>
          <p:cNvPr id="63" name="Shape 59"/>
          <p:cNvSpPr/>
          <p:nvPr/>
        </p:nvSpPr>
        <p:spPr>
          <a:xfrm>
            <a:off x="7863840" y="5404104"/>
            <a:ext cx="109728" cy="0"/>
          </a:xfrm>
          <a:prstGeom prst="line">
            <a:avLst/>
          </a:prstGeom>
          <a:noFill/>
          <a:ln w="25400">
            <a:solidFill>
              <a:srgbClr val="2E74C6"/>
            </a:solidFill>
            <a:prstDash val="solid"/>
          </a:ln>
        </p:spPr>
        <p:txBody>
          <a:bodyPr/>
          <a:lstStyle/>
          <a:p>
            <a:endParaRPr lang="ko-KR" altLang="en-US"/>
          </a:p>
        </p:txBody>
      </p:sp>
      <p:sp>
        <p:nvSpPr>
          <p:cNvPr id="64" name="Shape 60"/>
          <p:cNvSpPr/>
          <p:nvPr/>
        </p:nvSpPr>
        <p:spPr>
          <a:xfrm>
            <a:off x="7973568" y="5157216"/>
            <a:ext cx="1554480" cy="493776"/>
          </a:xfrm>
          <a:prstGeom prst="roundRect">
            <a:avLst>
              <a:gd name="adj" fmla="val 45000"/>
            </a:avLst>
          </a:prstGeom>
          <a:solidFill>
            <a:srgbClr val="2E74C6"/>
          </a:solidFill>
          <a:ln/>
        </p:spPr>
        <p:txBody>
          <a:bodyPr/>
          <a:lstStyle/>
          <a:p>
            <a:endParaRPr lang="ko-KR" altLang="en-US"/>
          </a:p>
        </p:txBody>
      </p:sp>
      <p:sp>
        <p:nvSpPr>
          <p:cNvPr id="65" name="Text 61"/>
          <p:cNvSpPr txBox="1"/>
          <p:nvPr/>
        </p:nvSpPr>
        <p:spPr>
          <a:xfrm>
            <a:off x="7973568" y="5157216"/>
            <a:ext cx="1554480" cy="49377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한빛 일상포인트</a:t>
            </a:r>
            <a:endParaRPr lang="en-US" sz="1400" dirty="0"/>
          </a:p>
        </p:txBody>
      </p:sp>
      <p:sp>
        <p:nvSpPr>
          <p:cNvPr id="66" name="Shape 62"/>
          <p:cNvSpPr/>
          <p:nvPr/>
        </p:nvSpPr>
        <p:spPr>
          <a:xfrm>
            <a:off x="4800600" y="5815584"/>
            <a:ext cx="1783080" cy="493776"/>
          </a:xfrm>
          <a:prstGeom prst="roundRect">
            <a:avLst>
              <a:gd name="adj" fmla="val 18519"/>
            </a:avLst>
          </a:prstGeom>
          <a:solidFill>
            <a:srgbClr val="FFFFFF"/>
          </a:solidFill>
          <a:ln w="12700">
            <a:solidFill>
              <a:srgbClr val="D9E0EC"/>
            </a:solidFill>
            <a:prstDash val="solid"/>
          </a:ln>
        </p:spPr>
        <p:txBody>
          <a:bodyPr/>
          <a:lstStyle/>
          <a:p>
            <a:endParaRPr lang="ko-KR" altLang="en-US"/>
          </a:p>
        </p:txBody>
      </p:sp>
      <p:sp>
        <p:nvSpPr>
          <p:cNvPr id="67" name="Text 63"/>
          <p:cNvSpPr txBox="1"/>
          <p:nvPr/>
        </p:nvSpPr>
        <p:spPr>
          <a:xfrm>
            <a:off x="4800600" y="5815584"/>
            <a:ext cx="1783080" cy="493776"/>
          </a:xfrm>
          <a:prstGeom prst="rect">
            <a:avLst/>
          </a:prstGeom>
          <a:noFill/>
          <a:ln/>
        </p:spPr>
        <p:txBody>
          <a:bodyPr wrap="square" lIns="1016" tIns="1016" rIns="1016" bIns="1016"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생활쇼핑 할인</a:t>
            </a:r>
            <a:endParaRPr lang="en-US" sz="1400" dirty="0"/>
          </a:p>
        </p:txBody>
      </p:sp>
      <p:sp>
        <p:nvSpPr>
          <p:cNvPr id="68" name="Shape 64"/>
          <p:cNvSpPr/>
          <p:nvPr/>
        </p:nvSpPr>
        <p:spPr>
          <a:xfrm>
            <a:off x="6949440" y="5815584"/>
            <a:ext cx="914400" cy="493776"/>
          </a:xfrm>
          <a:prstGeom prst="roundRect">
            <a:avLst>
              <a:gd name="adj" fmla="val 14815"/>
            </a:avLst>
          </a:prstGeom>
          <a:solidFill>
            <a:srgbClr val="FFFFFF"/>
          </a:solidFill>
          <a:ln w="12700">
            <a:solidFill>
              <a:srgbClr val="D9E0EC"/>
            </a:solidFill>
            <a:prstDash val="solid"/>
          </a:ln>
        </p:spPr>
        <p:txBody>
          <a:bodyPr/>
          <a:lstStyle/>
          <a:p>
            <a:endParaRPr lang="ko-KR" altLang="en-US"/>
          </a:p>
        </p:txBody>
      </p:sp>
      <p:sp>
        <p:nvSpPr>
          <p:cNvPr id="69" name="Text 65"/>
          <p:cNvSpPr txBox="1"/>
          <p:nvPr/>
        </p:nvSpPr>
        <p:spPr>
          <a:xfrm>
            <a:off x="6949440" y="5815584"/>
            <a:ext cx="914400" cy="493776"/>
          </a:xfrm>
          <a:prstGeom prst="rect">
            <a:avLst/>
          </a:prstGeom>
          <a:noFill/>
          <a:ln/>
        </p:spPr>
        <p:txBody>
          <a:bodyPr wrap="square" lIns="1016" tIns="1016" rIns="1016" bIns="1016" rtlCol="0" anchor="ctr"/>
          <a:lstStyle/>
          <a:p>
            <a:pPr marL="0" indent="0" algn="ctr">
              <a:buNone/>
            </a:pPr>
            <a:r>
              <a:rPr lang="en-US" sz="1400" b="1" dirty="0">
                <a:solidFill>
                  <a:srgbClr val="7C8598"/>
                </a:solidFill>
                <a:latin typeface="Pretendard" pitchFamily="34" charset="0"/>
                <a:ea typeface="Pretendard" pitchFamily="34" charset="-122"/>
                <a:cs typeface="Pretendard" pitchFamily="34" charset="-120"/>
              </a:rPr>
              <a:t>D2-C058</a:t>
            </a:r>
            <a:endParaRPr lang="en-US" sz="1400" dirty="0"/>
          </a:p>
        </p:txBody>
      </p:sp>
      <p:sp>
        <p:nvSpPr>
          <p:cNvPr id="70" name="Shape 66"/>
          <p:cNvSpPr/>
          <p:nvPr/>
        </p:nvSpPr>
        <p:spPr>
          <a:xfrm>
            <a:off x="7863840" y="6062472"/>
            <a:ext cx="109728" cy="0"/>
          </a:xfrm>
          <a:prstGeom prst="line">
            <a:avLst/>
          </a:prstGeom>
          <a:noFill/>
          <a:ln w="12700">
            <a:solidFill>
              <a:srgbClr val="D9E0EC"/>
            </a:solidFill>
            <a:prstDash val="solid"/>
          </a:ln>
        </p:spPr>
        <p:txBody>
          <a:bodyPr/>
          <a:lstStyle/>
          <a:p>
            <a:endParaRPr lang="ko-KR" altLang="en-US"/>
          </a:p>
        </p:txBody>
      </p:sp>
      <p:sp>
        <p:nvSpPr>
          <p:cNvPr id="71" name="Shape 67"/>
          <p:cNvSpPr/>
          <p:nvPr/>
        </p:nvSpPr>
        <p:spPr>
          <a:xfrm>
            <a:off x="7973568" y="5815584"/>
            <a:ext cx="1554480" cy="493776"/>
          </a:xfrm>
          <a:prstGeom prst="roundRect">
            <a:avLst>
              <a:gd name="adj" fmla="val 45000"/>
            </a:avLst>
          </a:prstGeom>
          <a:solidFill>
            <a:srgbClr val="EEF0F4"/>
          </a:solidFill>
          <a:ln/>
        </p:spPr>
        <p:txBody>
          <a:bodyPr/>
          <a:lstStyle/>
          <a:p>
            <a:endParaRPr lang="ko-KR" altLang="en-US"/>
          </a:p>
        </p:txBody>
      </p:sp>
      <p:sp>
        <p:nvSpPr>
          <p:cNvPr id="72" name="Text 68"/>
          <p:cNvSpPr txBox="1"/>
          <p:nvPr/>
        </p:nvSpPr>
        <p:spPr>
          <a:xfrm>
            <a:off x="7973568" y="5815584"/>
            <a:ext cx="1554480" cy="493776"/>
          </a:xfrm>
          <a:prstGeom prst="rect">
            <a:avLst/>
          </a:prstGeom>
          <a:noFill/>
          <a:ln/>
        </p:spPr>
        <p:txBody>
          <a:bodyPr wrap="square" lIns="1016" tIns="1016" rIns="1016" bIns="1016"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한빛 반려동행</a:t>
            </a:r>
            <a:endParaRPr lang="en-US" sz="1400" dirty="0"/>
          </a:p>
        </p:txBody>
      </p:sp>
      <p:sp>
        <p:nvSpPr>
          <p:cNvPr id="73" name="Shape 69"/>
          <p:cNvSpPr/>
          <p:nvPr/>
        </p:nvSpPr>
        <p:spPr>
          <a:xfrm>
            <a:off x="4800600" y="6364224"/>
            <a:ext cx="1783080" cy="493776"/>
          </a:xfrm>
          <a:prstGeom prst="roundRect">
            <a:avLst>
              <a:gd name="adj" fmla="val 18519"/>
            </a:avLst>
          </a:prstGeom>
          <a:solidFill>
            <a:srgbClr val="FFFFFF"/>
          </a:solidFill>
          <a:ln w="12700">
            <a:solidFill>
              <a:srgbClr val="D9E0EC"/>
            </a:solidFill>
            <a:prstDash val="solid"/>
          </a:ln>
        </p:spPr>
        <p:txBody>
          <a:bodyPr/>
          <a:lstStyle/>
          <a:p>
            <a:endParaRPr lang="ko-KR" altLang="en-US"/>
          </a:p>
        </p:txBody>
      </p:sp>
      <p:sp>
        <p:nvSpPr>
          <p:cNvPr id="74" name="Text 70"/>
          <p:cNvSpPr txBox="1"/>
          <p:nvPr/>
        </p:nvSpPr>
        <p:spPr>
          <a:xfrm>
            <a:off x="4800600" y="6364224"/>
            <a:ext cx="1783080" cy="493776"/>
          </a:xfrm>
          <a:prstGeom prst="rect">
            <a:avLst/>
          </a:prstGeom>
          <a:noFill/>
          <a:ln/>
        </p:spPr>
        <p:txBody>
          <a:bodyPr wrap="square" lIns="1016" tIns="1016" rIns="1016" bIns="1016"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선택 주유소 할인</a:t>
            </a:r>
            <a:endParaRPr lang="en-US" sz="1400" dirty="0"/>
          </a:p>
        </p:txBody>
      </p:sp>
      <p:sp>
        <p:nvSpPr>
          <p:cNvPr id="75" name="Shape 71"/>
          <p:cNvSpPr/>
          <p:nvPr/>
        </p:nvSpPr>
        <p:spPr>
          <a:xfrm>
            <a:off x="6949440" y="6364224"/>
            <a:ext cx="914400" cy="493776"/>
          </a:xfrm>
          <a:prstGeom prst="roundRect">
            <a:avLst>
              <a:gd name="adj" fmla="val 14815"/>
            </a:avLst>
          </a:prstGeom>
          <a:solidFill>
            <a:srgbClr val="FFFFFF"/>
          </a:solidFill>
          <a:ln w="12700">
            <a:solidFill>
              <a:srgbClr val="D9E0EC"/>
            </a:solidFill>
            <a:prstDash val="solid"/>
          </a:ln>
        </p:spPr>
        <p:txBody>
          <a:bodyPr/>
          <a:lstStyle/>
          <a:p>
            <a:endParaRPr lang="ko-KR" altLang="en-US"/>
          </a:p>
        </p:txBody>
      </p:sp>
      <p:sp>
        <p:nvSpPr>
          <p:cNvPr id="76" name="Text 72"/>
          <p:cNvSpPr txBox="1"/>
          <p:nvPr/>
        </p:nvSpPr>
        <p:spPr>
          <a:xfrm>
            <a:off x="6949440" y="6364224"/>
            <a:ext cx="914400" cy="493776"/>
          </a:xfrm>
          <a:prstGeom prst="rect">
            <a:avLst/>
          </a:prstGeom>
          <a:noFill/>
          <a:ln/>
        </p:spPr>
        <p:txBody>
          <a:bodyPr wrap="square" lIns="1016" tIns="1016" rIns="1016" bIns="1016" rtlCol="0" anchor="ctr"/>
          <a:lstStyle/>
          <a:p>
            <a:pPr marL="0" indent="0" algn="ctr">
              <a:buNone/>
            </a:pPr>
            <a:r>
              <a:rPr lang="en-US" sz="1400" b="1" dirty="0">
                <a:solidFill>
                  <a:srgbClr val="7C8598"/>
                </a:solidFill>
                <a:latin typeface="Pretendard" pitchFamily="34" charset="0"/>
                <a:ea typeface="Pretendard" pitchFamily="34" charset="-122"/>
                <a:cs typeface="Pretendard" pitchFamily="34" charset="-120"/>
              </a:rPr>
              <a:t>D2-C007</a:t>
            </a:r>
            <a:endParaRPr lang="en-US" sz="1400" dirty="0"/>
          </a:p>
        </p:txBody>
      </p:sp>
      <p:sp>
        <p:nvSpPr>
          <p:cNvPr id="77" name="Shape 73"/>
          <p:cNvSpPr/>
          <p:nvPr/>
        </p:nvSpPr>
        <p:spPr>
          <a:xfrm>
            <a:off x="7863840" y="6611112"/>
            <a:ext cx="109728" cy="0"/>
          </a:xfrm>
          <a:prstGeom prst="line">
            <a:avLst/>
          </a:prstGeom>
          <a:noFill/>
          <a:ln w="12700">
            <a:solidFill>
              <a:srgbClr val="D9E0EC"/>
            </a:solidFill>
            <a:prstDash val="solid"/>
          </a:ln>
        </p:spPr>
        <p:txBody>
          <a:bodyPr/>
          <a:lstStyle/>
          <a:p>
            <a:endParaRPr lang="ko-KR" altLang="en-US"/>
          </a:p>
        </p:txBody>
      </p:sp>
      <p:sp>
        <p:nvSpPr>
          <p:cNvPr id="78" name="Shape 74"/>
          <p:cNvSpPr/>
          <p:nvPr/>
        </p:nvSpPr>
        <p:spPr>
          <a:xfrm>
            <a:off x="7973568" y="6364224"/>
            <a:ext cx="1554480" cy="493776"/>
          </a:xfrm>
          <a:prstGeom prst="roundRect">
            <a:avLst>
              <a:gd name="adj" fmla="val 45000"/>
            </a:avLst>
          </a:prstGeom>
          <a:solidFill>
            <a:srgbClr val="EEF0F4"/>
          </a:solidFill>
          <a:ln/>
        </p:spPr>
        <p:txBody>
          <a:bodyPr/>
          <a:lstStyle/>
          <a:p>
            <a:endParaRPr lang="ko-KR" altLang="en-US"/>
          </a:p>
        </p:txBody>
      </p:sp>
      <p:sp>
        <p:nvSpPr>
          <p:cNvPr id="79" name="Text 75"/>
          <p:cNvSpPr txBox="1"/>
          <p:nvPr/>
        </p:nvSpPr>
        <p:spPr>
          <a:xfrm>
            <a:off x="7973568" y="6364224"/>
            <a:ext cx="1554480" cy="493776"/>
          </a:xfrm>
          <a:prstGeom prst="rect">
            <a:avLst/>
          </a:prstGeom>
          <a:noFill/>
          <a:ln/>
        </p:spPr>
        <p:txBody>
          <a:bodyPr wrap="square" lIns="1016" tIns="1016" rIns="1016" bIns="1016"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한빛 주유동행</a:t>
            </a:r>
            <a:endParaRPr lang="en-US" sz="1400" dirty="0"/>
          </a:p>
        </p:txBody>
      </p:sp>
      <p:sp>
        <p:nvSpPr>
          <p:cNvPr id="80" name="Shape 76"/>
          <p:cNvSpPr/>
          <p:nvPr/>
        </p:nvSpPr>
        <p:spPr>
          <a:xfrm>
            <a:off x="4137660" y="3621024"/>
            <a:ext cx="914400" cy="292608"/>
          </a:xfrm>
          <a:prstGeom prst="roundRect">
            <a:avLst>
              <a:gd name="adj" fmla="val 15625"/>
            </a:avLst>
          </a:prstGeom>
          <a:solidFill>
            <a:srgbClr val="FFFFFF"/>
          </a:solidFill>
          <a:ln/>
        </p:spPr>
        <p:txBody>
          <a:bodyPr/>
          <a:lstStyle/>
          <a:p>
            <a:endParaRPr lang="ko-KR" altLang="en-US"/>
          </a:p>
        </p:txBody>
      </p:sp>
      <p:sp>
        <p:nvSpPr>
          <p:cNvPr id="81" name="Text 77"/>
          <p:cNvSpPr txBox="1"/>
          <p:nvPr/>
        </p:nvSpPr>
        <p:spPr>
          <a:xfrm>
            <a:off x="4137660" y="3621024"/>
            <a:ext cx="914400" cy="292608"/>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해당 혜택</a:t>
            </a:r>
            <a:endParaRPr lang="en-US" sz="1400" dirty="0"/>
          </a:p>
        </p:txBody>
      </p:sp>
      <p:sp>
        <p:nvSpPr>
          <p:cNvPr id="82" name="Shape 78"/>
          <p:cNvSpPr/>
          <p:nvPr/>
        </p:nvSpPr>
        <p:spPr>
          <a:xfrm>
            <a:off x="6309360" y="3621024"/>
            <a:ext cx="914400" cy="292608"/>
          </a:xfrm>
          <a:prstGeom prst="roundRect">
            <a:avLst>
              <a:gd name="adj" fmla="val 15625"/>
            </a:avLst>
          </a:prstGeom>
          <a:solidFill>
            <a:srgbClr val="FFFFFF"/>
          </a:solidFill>
          <a:ln/>
        </p:spPr>
        <p:txBody>
          <a:bodyPr/>
          <a:lstStyle/>
          <a:p>
            <a:endParaRPr lang="ko-KR" altLang="en-US"/>
          </a:p>
        </p:txBody>
      </p:sp>
      <p:sp>
        <p:nvSpPr>
          <p:cNvPr id="83" name="Text 79"/>
          <p:cNvSpPr txBox="1"/>
          <p:nvPr/>
        </p:nvSpPr>
        <p:spPr>
          <a:xfrm>
            <a:off x="6309360" y="3621024"/>
            <a:ext cx="914400" cy="292608"/>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제공 상품</a:t>
            </a:r>
            <a:endParaRPr lang="en-US" sz="1400" dirty="0"/>
          </a:p>
        </p:txBody>
      </p:sp>
      <p:sp>
        <p:nvSpPr>
          <p:cNvPr id="84" name="Text 80"/>
          <p:cNvSpPr txBox="1"/>
          <p:nvPr/>
        </p:nvSpPr>
        <p:spPr>
          <a:xfrm>
            <a:off x="3337560" y="3611880"/>
            <a:ext cx="1051560" cy="310896"/>
          </a:xfrm>
          <a:prstGeom prst="rect">
            <a:avLst/>
          </a:prstGeom>
          <a:noFill/>
          <a:ln/>
        </p:spPr>
        <p:txBody>
          <a:bodyPr wrap="square" lIns="762" tIns="762" rIns="762" bIns="762"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업종</a:t>
            </a:r>
            <a:endParaRPr lang="en-US" sz="1400" dirty="0"/>
          </a:p>
        </p:txBody>
      </p:sp>
      <p:sp>
        <p:nvSpPr>
          <p:cNvPr id="85" name="Text 81"/>
          <p:cNvSpPr txBox="1"/>
          <p:nvPr/>
        </p:nvSpPr>
        <p:spPr>
          <a:xfrm>
            <a:off x="4800600" y="3611880"/>
            <a:ext cx="1783080" cy="310896"/>
          </a:xfrm>
          <a:prstGeom prst="rect">
            <a:avLst/>
          </a:prstGeom>
          <a:noFill/>
          <a:ln/>
        </p:spPr>
        <p:txBody>
          <a:bodyPr wrap="square" lIns="762" tIns="762" rIns="762" bIns="762"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혜택</a:t>
            </a:r>
            <a:endParaRPr lang="en-US" sz="1400" dirty="0"/>
          </a:p>
        </p:txBody>
      </p:sp>
      <p:sp>
        <p:nvSpPr>
          <p:cNvPr id="86" name="Text 82"/>
          <p:cNvSpPr txBox="1"/>
          <p:nvPr/>
        </p:nvSpPr>
        <p:spPr>
          <a:xfrm>
            <a:off x="6949440" y="3611880"/>
            <a:ext cx="2578608" cy="310896"/>
          </a:xfrm>
          <a:prstGeom prst="rect">
            <a:avLst/>
          </a:prstGeom>
          <a:noFill/>
          <a:ln/>
        </p:spPr>
        <p:txBody>
          <a:bodyPr wrap="square" lIns="762" tIns="762" rIns="762" bIns="762"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상품 (ID · 제목)</a:t>
            </a:r>
            <a:endParaRPr lang="en-US" sz="1400" dirty="0"/>
          </a:p>
        </p:txBody>
      </p:sp>
      <p:sp>
        <p:nvSpPr>
          <p:cNvPr id="87" name="Shape 83"/>
          <p:cNvSpPr/>
          <p:nvPr/>
        </p:nvSpPr>
        <p:spPr>
          <a:xfrm>
            <a:off x="2834640" y="4800600"/>
            <a:ext cx="502920" cy="0"/>
          </a:xfrm>
          <a:prstGeom prst="line">
            <a:avLst/>
          </a:prstGeom>
          <a:noFill/>
          <a:ln w="31750">
            <a:solidFill>
              <a:srgbClr val="1E2A5C"/>
            </a:solidFill>
            <a:prstDash val="solid"/>
            <a:tailEnd type="triangle"/>
          </a:ln>
        </p:spPr>
        <p:txBody>
          <a:bodyPr/>
          <a:lstStyle/>
          <a:p>
            <a:endParaRPr lang="ko-KR" altLang="en-US"/>
          </a:p>
        </p:txBody>
      </p:sp>
      <p:sp>
        <p:nvSpPr>
          <p:cNvPr id="88" name="Text 84"/>
          <p:cNvSpPr txBox="1"/>
          <p:nvPr/>
        </p:nvSpPr>
        <p:spPr>
          <a:xfrm>
            <a:off x="685800" y="6949440"/>
            <a:ext cx="8915400" cy="310896"/>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 화살표 = 찾아가는 방향. 저장은 '혜택 →대상→ </a:t>
            </a:r>
            <a:r>
              <a:rPr lang="en-US" sz="1400" dirty="0" err="1">
                <a:solidFill>
                  <a:srgbClr val="7C8598"/>
                </a:solidFill>
                <a:latin typeface="Pretendard" pitchFamily="34" charset="0"/>
                <a:ea typeface="Pretendard" pitchFamily="34" charset="-122"/>
                <a:cs typeface="Pretendard" pitchFamily="34" charset="-120"/>
              </a:rPr>
              <a:t>업종</a:t>
            </a:r>
            <a:r>
              <a:rPr lang="en-US" sz="1400" dirty="0">
                <a:solidFill>
                  <a:srgbClr val="7C8598"/>
                </a:solidFill>
                <a:latin typeface="Pretendard" pitchFamily="34" charset="0"/>
                <a:ea typeface="Pretendard" pitchFamily="34" charset="-122"/>
                <a:cs typeface="Pretendard" pitchFamily="34" charset="-120"/>
              </a:rPr>
              <a:t>’ </a:t>
            </a:r>
            <a:r>
              <a:rPr lang="ko-KR" altLang="en-US" sz="1400" dirty="0">
                <a:solidFill>
                  <a:srgbClr val="7C8598"/>
                </a:solidFill>
                <a:latin typeface="Pretendard" pitchFamily="34" charset="0"/>
                <a:ea typeface="Pretendard" pitchFamily="34" charset="-122"/>
                <a:cs typeface="Pretendard" pitchFamily="34" charset="-120"/>
              </a:rPr>
              <a:t>과</a:t>
            </a:r>
            <a:r>
              <a:rPr lang="en-US" sz="1400" dirty="0">
                <a:solidFill>
                  <a:srgbClr val="7C8598"/>
                </a:solidFill>
                <a:latin typeface="Pretendard" pitchFamily="34" charset="0"/>
                <a:ea typeface="Pretendard" pitchFamily="34" charset="-122"/>
                <a:cs typeface="Pretendard" pitchFamily="34" charset="-120"/>
              </a:rPr>
              <a:t> '상품 →제공→ 혜택'이며 거꾸로 따라감</a:t>
            </a:r>
            <a:endParaRPr lang="en-US" sz="1400" dirty="0"/>
          </a:p>
        </p:txBody>
      </p:sp>
      <p:sp>
        <p:nvSpPr>
          <p:cNvPr id="89" name="Shape 85"/>
          <p:cNvSpPr/>
          <p:nvPr/>
        </p:nvSpPr>
        <p:spPr>
          <a:xfrm>
            <a:off x="9881921" y="1737360"/>
            <a:ext cx="4251960" cy="384048"/>
          </a:xfrm>
          <a:prstGeom prst="roundRect">
            <a:avLst>
              <a:gd name="adj" fmla="val 14286"/>
            </a:avLst>
          </a:prstGeom>
          <a:solidFill>
            <a:srgbClr val="1E2A5C"/>
          </a:solidFill>
          <a:ln/>
        </p:spPr>
        <p:txBody>
          <a:bodyPr/>
          <a:lstStyle/>
          <a:p>
            <a:endParaRPr lang="ko-KR" altLang="en-US"/>
          </a:p>
        </p:txBody>
      </p:sp>
      <p:sp>
        <p:nvSpPr>
          <p:cNvPr id="90" name="Text 86"/>
          <p:cNvSpPr txBox="1"/>
          <p:nvPr/>
        </p:nvSpPr>
        <p:spPr>
          <a:xfrm>
            <a:off x="9881921" y="1737360"/>
            <a:ext cx="425196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세 단계가 뜻하는 것</a:t>
            </a:r>
            <a:endParaRPr lang="en-US" sz="1700" dirty="0"/>
          </a:p>
        </p:txBody>
      </p:sp>
      <p:sp>
        <p:nvSpPr>
          <p:cNvPr id="91" name="Shape 87"/>
          <p:cNvSpPr/>
          <p:nvPr/>
        </p:nvSpPr>
        <p:spPr>
          <a:xfrm>
            <a:off x="9881921" y="2212848"/>
            <a:ext cx="4251960" cy="1325880"/>
          </a:xfrm>
          <a:prstGeom prst="roundRect">
            <a:avLst>
              <a:gd name="adj" fmla="val 5517"/>
            </a:avLst>
          </a:prstGeom>
          <a:solidFill>
            <a:srgbClr val="FFFFFF"/>
          </a:solidFill>
          <a:ln w="12700">
            <a:solidFill>
              <a:srgbClr val="D9E0EC"/>
            </a:solidFill>
            <a:prstDash val="solid"/>
          </a:ln>
        </p:spPr>
        <p:txBody>
          <a:bodyPr/>
          <a:lstStyle/>
          <a:p>
            <a:endParaRPr lang="ko-KR" altLang="en-US"/>
          </a:p>
        </p:txBody>
      </p:sp>
      <p:sp>
        <p:nvSpPr>
          <p:cNvPr id="92" name="Shape 88"/>
          <p:cNvSpPr/>
          <p:nvPr/>
        </p:nvSpPr>
        <p:spPr>
          <a:xfrm>
            <a:off x="10019081" y="2331720"/>
            <a:ext cx="365760" cy="365760"/>
          </a:xfrm>
          <a:prstGeom prst="roundRect">
            <a:avLst>
              <a:gd name="adj" fmla="val 12500"/>
            </a:avLst>
          </a:prstGeom>
          <a:solidFill>
            <a:srgbClr val="2E74C6"/>
          </a:solidFill>
          <a:ln/>
        </p:spPr>
        <p:txBody>
          <a:bodyPr/>
          <a:lstStyle/>
          <a:p>
            <a:endParaRPr lang="ko-KR" altLang="en-US"/>
          </a:p>
        </p:txBody>
      </p:sp>
      <p:sp>
        <p:nvSpPr>
          <p:cNvPr id="93" name="Text 89"/>
          <p:cNvSpPr txBox="1"/>
          <p:nvPr/>
        </p:nvSpPr>
        <p:spPr>
          <a:xfrm>
            <a:off x="10019081" y="2331720"/>
            <a:ext cx="365760" cy="36576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94" name="Text 90"/>
          <p:cNvSpPr txBox="1"/>
          <p:nvPr/>
        </p:nvSpPr>
        <p:spPr>
          <a:xfrm>
            <a:off x="10476281" y="2304288"/>
            <a:ext cx="3566160" cy="420624"/>
          </a:xfrm>
          <a:prstGeom prst="rect">
            <a:avLst/>
          </a:prstGeom>
          <a:noFill/>
          <a:ln/>
        </p:spPr>
        <p:txBody>
          <a:bodyPr wrap="square" lIns="762" tIns="762" rIns="762" bIns="762" rtlCol="0" anchor="ctr"/>
          <a:lstStyle/>
          <a:p>
            <a:pPr marL="0" indent="0" algn="l">
              <a:buNone/>
            </a:pPr>
            <a:r>
              <a:rPr lang="en-US" sz="1700" b="1" dirty="0">
                <a:solidFill>
                  <a:srgbClr val="1E2A5C"/>
                </a:solidFill>
                <a:latin typeface="Pretendard" pitchFamily="34" charset="0"/>
                <a:ea typeface="Pretendard" pitchFamily="34" charset="-122"/>
                <a:cs typeface="Pretendard" pitchFamily="34" charset="-120"/>
              </a:rPr>
              <a:t>출발 노드 정하기 · SQL</a:t>
            </a:r>
            <a:endParaRPr lang="en-US" sz="1700" dirty="0"/>
          </a:p>
        </p:txBody>
      </p:sp>
      <p:sp>
        <p:nvSpPr>
          <p:cNvPr id="95" name="Text 91"/>
          <p:cNvSpPr txBox="1"/>
          <p:nvPr/>
        </p:nvSpPr>
        <p:spPr>
          <a:xfrm>
            <a:off x="10019081" y="2761488"/>
            <a:ext cx="3977640" cy="722376"/>
          </a:xfrm>
          <a:prstGeom prst="rect">
            <a:avLst/>
          </a:prstGeom>
          <a:noFill/>
          <a:ln/>
        </p:spPr>
        <p:txBody>
          <a:bodyPr wrap="square" lIns="25400" tIns="25400" rIns="25400" bIns="25400" rtlCol="0" anchor="t"/>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매달 바뀌는 소비 비중은 SQL로 계산</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결과  </a:t>
            </a:r>
            <a:r>
              <a:rPr lang="en-US" sz="1400" dirty="0">
                <a:solidFill>
                  <a:srgbClr val="2B3242"/>
                </a:solidFill>
                <a:latin typeface="Pretendard" pitchFamily="34" charset="0"/>
                <a:ea typeface="Pretendard" pitchFamily="34" charset="-122"/>
                <a:cs typeface="Pretendard" pitchFamily="34" charset="-120"/>
              </a:rPr>
              <a:t>식비</a:t>
            </a:r>
            <a:endParaRPr lang="en-US" sz="1400" dirty="0"/>
          </a:p>
        </p:txBody>
      </p:sp>
      <p:sp>
        <p:nvSpPr>
          <p:cNvPr id="96" name="Shape 92"/>
          <p:cNvSpPr/>
          <p:nvPr/>
        </p:nvSpPr>
        <p:spPr>
          <a:xfrm>
            <a:off x="9881921" y="3630168"/>
            <a:ext cx="4251960" cy="1325880"/>
          </a:xfrm>
          <a:prstGeom prst="roundRect">
            <a:avLst>
              <a:gd name="adj" fmla="val 5517"/>
            </a:avLst>
          </a:prstGeom>
          <a:solidFill>
            <a:srgbClr val="FFFFFF"/>
          </a:solidFill>
          <a:ln w="12700">
            <a:solidFill>
              <a:srgbClr val="D9E0EC"/>
            </a:solidFill>
            <a:prstDash val="solid"/>
          </a:ln>
        </p:spPr>
        <p:txBody>
          <a:bodyPr/>
          <a:lstStyle/>
          <a:p>
            <a:endParaRPr lang="ko-KR" altLang="en-US"/>
          </a:p>
        </p:txBody>
      </p:sp>
      <p:sp>
        <p:nvSpPr>
          <p:cNvPr id="97" name="Shape 93"/>
          <p:cNvSpPr/>
          <p:nvPr/>
        </p:nvSpPr>
        <p:spPr>
          <a:xfrm>
            <a:off x="10019081" y="3749040"/>
            <a:ext cx="365760" cy="365760"/>
          </a:xfrm>
          <a:prstGeom prst="roundRect">
            <a:avLst>
              <a:gd name="adj" fmla="val 12500"/>
            </a:avLst>
          </a:prstGeom>
          <a:solidFill>
            <a:srgbClr val="2E74C6"/>
          </a:solidFill>
          <a:ln/>
        </p:spPr>
        <p:txBody>
          <a:bodyPr/>
          <a:lstStyle/>
          <a:p>
            <a:endParaRPr lang="ko-KR" altLang="en-US"/>
          </a:p>
        </p:txBody>
      </p:sp>
      <p:sp>
        <p:nvSpPr>
          <p:cNvPr id="98" name="Text 94"/>
          <p:cNvSpPr txBox="1"/>
          <p:nvPr/>
        </p:nvSpPr>
        <p:spPr>
          <a:xfrm>
            <a:off x="10019081" y="3749040"/>
            <a:ext cx="365760" cy="36576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99" name="Text 95"/>
          <p:cNvSpPr txBox="1"/>
          <p:nvPr/>
        </p:nvSpPr>
        <p:spPr>
          <a:xfrm>
            <a:off x="10476281" y="3721608"/>
            <a:ext cx="3566160" cy="420624"/>
          </a:xfrm>
          <a:prstGeom prst="rect">
            <a:avLst/>
          </a:prstGeom>
          <a:noFill/>
          <a:ln/>
        </p:spPr>
        <p:txBody>
          <a:bodyPr wrap="square" lIns="762" tIns="762" rIns="762" bIns="762" rtlCol="0" anchor="ctr"/>
          <a:lstStyle/>
          <a:p>
            <a:pPr marL="0" indent="0" algn="l">
              <a:buNone/>
            </a:pPr>
            <a:r>
              <a:rPr lang="en-US" sz="1700" b="1" dirty="0">
                <a:solidFill>
                  <a:srgbClr val="1E2A5C"/>
                </a:solidFill>
                <a:latin typeface="Pretendard" pitchFamily="34" charset="0"/>
                <a:ea typeface="Pretendard" pitchFamily="34" charset="-122"/>
                <a:cs typeface="Pretendard" pitchFamily="34" charset="-120"/>
              </a:rPr>
              <a:t>노드 탐색 · 그래프</a:t>
            </a:r>
            <a:endParaRPr lang="en-US" sz="1700" dirty="0"/>
          </a:p>
        </p:txBody>
      </p:sp>
      <p:sp>
        <p:nvSpPr>
          <p:cNvPr id="100" name="Text 96"/>
          <p:cNvSpPr txBox="1"/>
          <p:nvPr/>
        </p:nvSpPr>
        <p:spPr>
          <a:xfrm>
            <a:off x="10019081" y="4178808"/>
            <a:ext cx="3977640" cy="722376"/>
          </a:xfrm>
          <a:prstGeom prst="rect">
            <a:avLst/>
          </a:prstGeom>
          <a:noFill/>
          <a:ln/>
        </p:spPr>
        <p:txBody>
          <a:bodyPr wrap="square" lIns="25400" tIns="25400" rIns="25400" bIns="25400" rtlCol="0" anchor="t"/>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업종명으로 출발 노드를 찾고, 관계로 갈 길을 거름</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쓰는 것  </a:t>
            </a:r>
            <a:r>
              <a:rPr lang="en-US" sz="1400" dirty="0">
                <a:solidFill>
                  <a:srgbClr val="2B3242"/>
                </a:solidFill>
                <a:latin typeface="Pretendard" pitchFamily="34" charset="0"/>
                <a:ea typeface="Pretendard" pitchFamily="34" charset="-122"/>
                <a:cs typeface="Pretendard" pitchFamily="34" charset="-120"/>
              </a:rPr>
              <a:t>업종명, 관계(대상·제공)</a:t>
            </a:r>
            <a:endParaRPr lang="en-US" sz="1400" dirty="0"/>
          </a:p>
        </p:txBody>
      </p:sp>
      <p:sp>
        <p:nvSpPr>
          <p:cNvPr id="101" name="Shape 97"/>
          <p:cNvSpPr/>
          <p:nvPr/>
        </p:nvSpPr>
        <p:spPr>
          <a:xfrm>
            <a:off x="9881921" y="5047488"/>
            <a:ext cx="4251960" cy="1325880"/>
          </a:xfrm>
          <a:prstGeom prst="roundRect">
            <a:avLst>
              <a:gd name="adj" fmla="val 5517"/>
            </a:avLst>
          </a:prstGeom>
          <a:solidFill>
            <a:srgbClr val="FFFFFF"/>
          </a:solidFill>
          <a:ln w="12700">
            <a:solidFill>
              <a:srgbClr val="D9E0EC"/>
            </a:solidFill>
            <a:prstDash val="solid"/>
          </a:ln>
        </p:spPr>
        <p:txBody>
          <a:bodyPr/>
          <a:lstStyle/>
          <a:p>
            <a:endParaRPr lang="ko-KR" altLang="en-US"/>
          </a:p>
        </p:txBody>
      </p:sp>
      <p:sp>
        <p:nvSpPr>
          <p:cNvPr id="102" name="Shape 98"/>
          <p:cNvSpPr/>
          <p:nvPr/>
        </p:nvSpPr>
        <p:spPr>
          <a:xfrm>
            <a:off x="10019081" y="5166360"/>
            <a:ext cx="365760" cy="365760"/>
          </a:xfrm>
          <a:prstGeom prst="roundRect">
            <a:avLst>
              <a:gd name="adj" fmla="val 12500"/>
            </a:avLst>
          </a:prstGeom>
          <a:solidFill>
            <a:srgbClr val="2E74C6"/>
          </a:solidFill>
          <a:ln/>
        </p:spPr>
        <p:txBody>
          <a:bodyPr/>
          <a:lstStyle/>
          <a:p>
            <a:endParaRPr lang="ko-KR" altLang="en-US"/>
          </a:p>
        </p:txBody>
      </p:sp>
      <p:sp>
        <p:nvSpPr>
          <p:cNvPr id="103" name="Text 99"/>
          <p:cNvSpPr txBox="1"/>
          <p:nvPr/>
        </p:nvSpPr>
        <p:spPr>
          <a:xfrm>
            <a:off x="10019081" y="5166360"/>
            <a:ext cx="365760" cy="36576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04" name="Text 100"/>
          <p:cNvSpPr txBox="1"/>
          <p:nvPr/>
        </p:nvSpPr>
        <p:spPr>
          <a:xfrm>
            <a:off x="10476281" y="5138928"/>
            <a:ext cx="3566160" cy="420624"/>
          </a:xfrm>
          <a:prstGeom prst="rect">
            <a:avLst/>
          </a:prstGeom>
          <a:noFill/>
          <a:ln/>
        </p:spPr>
        <p:txBody>
          <a:bodyPr wrap="square" lIns="762" tIns="762" rIns="762" bIns="762" rtlCol="0" anchor="ctr"/>
          <a:lstStyle/>
          <a:p>
            <a:pPr marL="0" indent="0" algn="l">
              <a:buNone/>
            </a:pPr>
            <a:r>
              <a:rPr lang="en-US" sz="1700" b="1" dirty="0">
                <a:solidFill>
                  <a:srgbClr val="1E2A5C"/>
                </a:solidFill>
                <a:latin typeface="Pretendard" pitchFamily="34" charset="0"/>
                <a:ea typeface="Pretendard" pitchFamily="34" charset="-122"/>
                <a:cs typeface="Pretendard" pitchFamily="34" charset="-120"/>
              </a:rPr>
              <a:t>탐색된 노드의 제목 · 그래프</a:t>
            </a:r>
            <a:endParaRPr lang="en-US" sz="1700" dirty="0"/>
          </a:p>
        </p:txBody>
      </p:sp>
      <p:sp>
        <p:nvSpPr>
          <p:cNvPr id="105" name="Text 101"/>
          <p:cNvSpPr txBox="1"/>
          <p:nvPr/>
        </p:nvSpPr>
        <p:spPr>
          <a:xfrm>
            <a:off x="10019081" y="5596128"/>
            <a:ext cx="3977640" cy="722376"/>
          </a:xfrm>
          <a:prstGeom prst="rect">
            <a:avLst/>
          </a:prstGeom>
          <a:noFill/>
          <a:ln/>
        </p:spPr>
        <p:txBody>
          <a:bodyPr wrap="square" lIns="25400" tIns="25400" rIns="25400" bIns="25400" rtlCol="0" anchor="t"/>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도착한 노드의 ID 대신 사람이 읽는 제목을 씀</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쓰는 것  </a:t>
            </a:r>
            <a:r>
              <a:rPr lang="en-US" sz="1400" dirty="0">
                <a:solidFill>
                  <a:srgbClr val="2B3242"/>
                </a:solidFill>
                <a:latin typeface="Pretendard" pitchFamily="34" charset="0"/>
                <a:ea typeface="Pretendard" pitchFamily="34" charset="-122"/>
                <a:cs typeface="Pretendard" pitchFamily="34" charset="-120"/>
              </a:rPr>
              <a:t>상품명, 혜택명</a:t>
            </a:r>
            <a:endParaRPr lang="en-US" sz="1400" dirty="0"/>
          </a:p>
        </p:txBody>
      </p:sp>
      <p:sp>
        <p:nvSpPr>
          <p:cNvPr id="106" name="Shape 102"/>
          <p:cNvSpPr/>
          <p:nvPr/>
        </p:nvSpPr>
        <p:spPr>
          <a:xfrm>
            <a:off x="9881921" y="6464808"/>
            <a:ext cx="4251960" cy="804672"/>
          </a:xfrm>
          <a:prstGeom prst="roundRect">
            <a:avLst>
              <a:gd name="adj" fmla="val 9091"/>
            </a:avLst>
          </a:prstGeom>
          <a:solidFill>
            <a:srgbClr val="EEF3FA"/>
          </a:solidFill>
          <a:ln/>
        </p:spPr>
        <p:txBody>
          <a:bodyPr/>
          <a:lstStyle/>
          <a:p>
            <a:endParaRPr lang="ko-KR" altLang="en-US"/>
          </a:p>
        </p:txBody>
      </p:sp>
      <p:sp>
        <p:nvSpPr>
          <p:cNvPr id="107" name="Text 103"/>
          <p:cNvSpPr txBox="1"/>
          <p:nvPr/>
        </p:nvSpPr>
        <p:spPr>
          <a:xfrm>
            <a:off x="10019081" y="6464808"/>
            <a:ext cx="3977640" cy="804672"/>
          </a:xfrm>
          <a:prstGeom prst="rect">
            <a:avLst/>
          </a:prstGeom>
          <a:noFill/>
          <a:ln/>
        </p:spPr>
        <p:txBody>
          <a:bodyPr wrap="square" lIns="25400" tIns="25400" rIns="25400" bIns="25400" rtlCol="0" anchor="ctr"/>
          <a:lstStyle/>
          <a:p>
            <a:pPr marL="0" indent="0">
              <a:spcAft>
                <a:spcPts val="200"/>
              </a:spcAft>
              <a:buNone/>
            </a:pPr>
            <a:r>
              <a:rPr lang="en-US" sz="1500" b="1" dirty="0">
                <a:solidFill>
                  <a:srgbClr val="2E74C6"/>
                </a:solidFill>
                <a:latin typeface="Pretendard" pitchFamily="34" charset="0"/>
                <a:ea typeface="Pretendard" pitchFamily="34" charset="-122"/>
                <a:cs typeface="Pretendard" pitchFamily="34" charset="-120"/>
              </a:rPr>
              <a:t>답  </a:t>
            </a:r>
            <a:r>
              <a:rPr lang="en-US" sz="1500" b="1" dirty="0">
                <a:solidFill>
                  <a:srgbClr val="1E2A5C"/>
                </a:solidFill>
                <a:latin typeface="Pretendard" pitchFamily="34" charset="0"/>
                <a:ea typeface="Pretendard" pitchFamily="34" charset="-122"/>
                <a:cs typeface="Pretendard" pitchFamily="34" charset="-120"/>
              </a:rPr>
              <a:t>하루절약 · 한끼친구 · 일상포인트</a:t>
            </a:r>
            <a:endParaRPr lang="en-US" sz="1500" dirty="0"/>
          </a:p>
          <a:p>
            <a:pPr marL="0" indent="0">
              <a:spcAft>
                <a:spcPts val="200"/>
              </a:spcAft>
              <a:buNone/>
            </a:pPr>
            <a:r>
              <a:rPr lang="en-US" sz="1400" dirty="0">
                <a:solidFill>
                  <a:srgbClr val="4A5364"/>
                </a:solidFill>
                <a:latin typeface="Pretendard" pitchFamily="34" charset="0"/>
                <a:ea typeface="Pretendard" pitchFamily="34" charset="-122"/>
                <a:cs typeface="Pretendard" pitchFamily="34" charset="-120"/>
              </a:rPr>
              <a:t>연회비·혜택률은 상품 ID로 따로 가져옴</a:t>
            </a:r>
            <a:endParaRPr lang="en-US" sz="1500" dirty="0"/>
          </a:p>
        </p:txBody>
      </p:sp>
      <p:sp>
        <p:nvSpPr>
          <p:cNvPr id="23"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GraphRAG 용어 ① 그래프 기본 구조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그래프는 노드(점)와 관계(선)로 이뤄지고, 관계를 따라 이동하며 답을 찾음</a:t>
            </a:r>
            <a:endParaRPr lang="en-US" sz="1800" dirty="0"/>
          </a:p>
        </p:txBody>
      </p:sp>
      <p:graphicFrame>
        <p:nvGraphicFramePr>
          <p:cNvPr id="4" name="Table 0"/>
          <p:cNvGraphicFramePr>
            <a:graphicFrameLocks noGrp="1"/>
          </p:cNvGraphicFramePr>
          <p:nvPr/>
        </p:nvGraphicFramePr>
        <p:xfrm>
          <a:off x="509321" y="1737360"/>
          <a:ext cx="13624560" cy="5541264"/>
        </p:xfrm>
        <a:graphic>
          <a:graphicData uri="http://schemas.openxmlformats.org/drawingml/2006/table">
            <a:tbl>
              <a:tblPr/>
              <a:tblGrid>
                <a:gridCol w="2286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896112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용어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영문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설명</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51206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노드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Node</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그래프에 저장된 점 하나. 사람·상품 같은 대상이나 문서 조각 하나하나가 노드가 됨</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'홍길동' 고객, '여행 카드' 상품, '조각 12'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494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엔티티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Entity</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문장이나 데이터에 나오는 실제 대상. 그래프에 넣으면 노드가 됨</a:t>
                      </a:r>
                      <a:endParaRPr lang="en-US" sz="1400" dirty="0">
                        <a:latin typeface="Pretendard" charset="0"/>
                        <a:ea typeface="Pretendard" charset="0"/>
                        <a:cs typeface="Pretendard" charset="0"/>
                      </a:endParaRPr>
                    </a:p>
                    <a:p>
                      <a:pPr marL="0" indent="0">
                        <a:buNone/>
                      </a:pPr>
                      <a:r>
                        <a:rPr lang="en-US" sz="1400" dirty="0">
                          <a:solidFill>
                            <a:srgbClr val="3B4557"/>
                          </a:solidFill>
                          <a:latin typeface="Pretendard" pitchFamily="34" charset="0"/>
                          <a:ea typeface="Pretendard" pitchFamily="34" charset="-122"/>
                          <a:cs typeface="Pretendard" pitchFamily="34" charset="-120"/>
                        </a:rPr>
                        <a:t>노드가 모두 엔티티는 아님: </a:t>
                      </a:r>
                      <a:r>
                        <a:rPr lang="en-US" sz="1400" dirty="0" err="1">
                          <a:solidFill>
                            <a:srgbClr val="3B4557"/>
                          </a:solidFill>
                          <a:latin typeface="Pretendard" pitchFamily="34" charset="0"/>
                          <a:ea typeface="Pretendard" pitchFamily="34" charset="-122"/>
                          <a:cs typeface="Pretendard" pitchFamily="34" charset="-120"/>
                        </a:rPr>
                        <a:t>조각</a:t>
                      </a:r>
                      <a:r>
                        <a:rPr lang="en-US" sz="1400" dirty="0">
                          <a:solidFill>
                            <a:srgbClr val="3B4557"/>
                          </a:solidFill>
                          <a:latin typeface="Pretendard" pitchFamily="34" charset="0"/>
                          <a:ea typeface="Pretendard" pitchFamily="34" charset="-122"/>
                          <a:cs typeface="Pretendard" pitchFamily="34" charset="-120"/>
                        </a:rPr>
                        <a:t>(</a:t>
                      </a:r>
                      <a:r>
                        <a:rPr lang="ko-KR" altLang="en-US" sz="1400" dirty="0" err="1">
                          <a:solidFill>
                            <a:srgbClr val="3B4557"/>
                          </a:solidFill>
                          <a:latin typeface="Pretendard" pitchFamily="34" charset="0"/>
                          <a:ea typeface="Pretendard" pitchFamily="34" charset="-122"/>
                          <a:cs typeface="Pretendard" pitchFamily="34" charset="-120"/>
                        </a:rPr>
                        <a:t>청크</a:t>
                      </a:r>
                      <a:r>
                        <a:rPr lang="en-US" altLang="ko-KR" sz="1400" dirty="0">
                          <a:solidFill>
                            <a:srgbClr val="3B4557"/>
                          </a:solidFill>
                          <a:latin typeface="Pretendard" pitchFamily="34" charset="0"/>
                          <a:ea typeface="Pretendard" pitchFamily="34" charset="-122"/>
                          <a:cs typeface="Pretendard" pitchFamily="34" charset="-120"/>
                        </a:rPr>
                        <a:t>)</a:t>
                      </a:r>
                      <a:r>
                        <a:rPr lang="en-US" sz="1400" dirty="0">
                          <a:solidFill>
                            <a:srgbClr val="3B4557"/>
                          </a:solidFill>
                          <a:latin typeface="Pretendard" pitchFamily="34" charset="0"/>
                          <a:ea typeface="Pretendard" pitchFamily="34" charset="-122"/>
                          <a:cs typeface="Pretendard" pitchFamily="34" charset="-120"/>
                        </a:rPr>
                        <a:t>·</a:t>
                      </a:r>
                      <a:r>
                        <a:rPr lang="en-US" sz="1400" dirty="0" err="1">
                          <a:solidFill>
                            <a:srgbClr val="3B4557"/>
                          </a:solidFill>
                          <a:latin typeface="Pretendard" pitchFamily="34" charset="0"/>
                          <a:ea typeface="Pretendard" pitchFamily="34" charset="-122"/>
                          <a:cs typeface="Pretendard" pitchFamily="34" charset="-120"/>
                        </a:rPr>
                        <a:t>문서·커뮤니티</a:t>
                      </a:r>
                      <a:r>
                        <a:rPr lang="en-US" sz="1400" dirty="0">
                          <a:solidFill>
                            <a:srgbClr val="3B4557"/>
                          </a:solidFill>
                          <a:latin typeface="Pretendard" pitchFamily="34" charset="0"/>
                          <a:ea typeface="Pretendard" pitchFamily="34" charset="-122"/>
                          <a:cs typeface="Pretendard" pitchFamily="34" charset="-120"/>
                        </a:rPr>
                        <a:t> </a:t>
                      </a:r>
                      <a:r>
                        <a:rPr lang="en-US" sz="1400" dirty="0" err="1">
                          <a:solidFill>
                            <a:srgbClr val="3B4557"/>
                          </a:solidFill>
                          <a:latin typeface="Pretendard" pitchFamily="34" charset="0"/>
                          <a:ea typeface="Pretendard" pitchFamily="34" charset="-122"/>
                          <a:cs typeface="Pretendard" pitchFamily="34" charset="-120"/>
                        </a:rPr>
                        <a:t>노드</a:t>
                      </a:r>
                      <a:r>
                        <a:rPr lang="en-US" sz="1400" dirty="0">
                          <a:solidFill>
                            <a:srgbClr val="3B4557"/>
                          </a:solidFill>
                          <a:latin typeface="Pretendard" pitchFamily="34" charset="0"/>
                          <a:ea typeface="Pretendard" pitchFamily="34" charset="-122"/>
                          <a:cs typeface="Pretendard" pitchFamily="34" charset="-120"/>
                        </a:rPr>
                        <a:t>(</a:t>
                      </a:r>
                      <a:r>
                        <a:rPr lang="ko-KR" altLang="en-US" sz="1400" dirty="0">
                          <a:solidFill>
                            <a:srgbClr val="3B4557"/>
                          </a:solidFill>
                          <a:latin typeface="Pretendard" pitchFamily="34" charset="0"/>
                          <a:ea typeface="Pretendard" pitchFamily="34" charset="-122"/>
                          <a:cs typeface="Pretendard" pitchFamily="34" charset="-120"/>
                        </a:rPr>
                        <a:t>그래프를 </a:t>
                      </a:r>
                      <a:r>
                        <a:rPr lang="ko-KR" altLang="en-US" sz="1400" dirty="0" err="1">
                          <a:solidFill>
                            <a:srgbClr val="3B4557"/>
                          </a:solidFill>
                          <a:latin typeface="Pretendard" pitchFamily="34" charset="0"/>
                          <a:ea typeface="Pretendard" pitchFamily="34" charset="-122"/>
                          <a:cs typeface="Pretendard" pitchFamily="34" charset="-120"/>
                        </a:rPr>
                        <a:t>그룹핑한</a:t>
                      </a:r>
                      <a:r>
                        <a:rPr lang="ko-KR" altLang="en-US" sz="1400" dirty="0">
                          <a:solidFill>
                            <a:srgbClr val="3B4557"/>
                          </a:solidFill>
                          <a:latin typeface="Pretendard" pitchFamily="34" charset="0"/>
                          <a:ea typeface="Pretendard" pitchFamily="34" charset="-122"/>
                          <a:cs typeface="Pretendard" pitchFamily="34" charset="-120"/>
                        </a:rPr>
                        <a:t> 노드</a:t>
                      </a:r>
                      <a:r>
                        <a:rPr lang="en-US" sz="1400" dirty="0">
                          <a:solidFill>
                            <a:srgbClr val="3B4557"/>
                          </a:solidFill>
                          <a:latin typeface="Pretendard" pitchFamily="34" charset="0"/>
                          <a:ea typeface="Pretendard" pitchFamily="34" charset="-122"/>
                          <a:cs typeface="Pretendard" pitchFamily="34" charset="-120"/>
                        </a:rPr>
                        <a:t>)는 대상이 아니므로 엔티티가 아님</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a:t>
                      </a:r>
                      <a:r>
                        <a:rPr lang="en-US" sz="1400" dirty="0" err="1">
                          <a:solidFill>
                            <a:srgbClr val="4A5364"/>
                          </a:solidFill>
                          <a:latin typeface="Pretendard" pitchFamily="34" charset="0"/>
                          <a:ea typeface="Pretendard" pitchFamily="34" charset="-122"/>
                          <a:cs typeface="Pretendard" pitchFamily="34" charset="-120"/>
                        </a:rPr>
                        <a:t>홍길동</a:t>
                      </a:r>
                      <a:r>
                        <a:rPr lang="en-US" sz="1400" dirty="0">
                          <a:solidFill>
                            <a:srgbClr val="4A5364"/>
                          </a:solidFill>
                          <a:latin typeface="Pretendard" pitchFamily="34" charset="0"/>
                          <a:ea typeface="Pretendard" pitchFamily="34" charset="-122"/>
                          <a:cs typeface="Pretendard" pitchFamily="34" charset="-120"/>
                        </a:rPr>
                        <a:t>＇·＇</a:t>
                      </a:r>
                      <a:r>
                        <a:rPr lang="en-US" sz="1400" dirty="0" err="1">
                          <a:solidFill>
                            <a:srgbClr val="4A5364"/>
                          </a:solidFill>
                          <a:latin typeface="Pretendard" pitchFamily="34" charset="0"/>
                          <a:ea typeface="Pretendard" pitchFamily="34" charset="-122"/>
                          <a:cs typeface="Pretendard" pitchFamily="34" charset="-120"/>
                        </a:rPr>
                        <a:t>여행</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카드＇는</a:t>
                      </a:r>
                      <a:r>
                        <a:rPr lang="en-US" sz="1400" dirty="0">
                          <a:solidFill>
                            <a:srgbClr val="4A5364"/>
                          </a:solidFill>
                          <a:latin typeface="Pretendard" pitchFamily="34" charset="0"/>
                          <a:ea typeface="Pretendard" pitchFamily="34" charset="-122"/>
                          <a:cs typeface="Pretendard" pitchFamily="34" charset="-120"/>
                        </a:rPr>
                        <a:t> 엔티티 노드, ＇</a:t>
                      </a:r>
                      <a:r>
                        <a:rPr lang="en-US" sz="1400" dirty="0" err="1">
                          <a:solidFill>
                            <a:srgbClr val="4A5364"/>
                          </a:solidFill>
                          <a:latin typeface="Pretendard" pitchFamily="34" charset="0"/>
                          <a:ea typeface="Pretendard" pitchFamily="34" charset="-122"/>
                          <a:cs typeface="Pretendard" pitchFamily="34" charset="-120"/>
                        </a:rPr>
                        <a:t>조각</a:t>
                      </a:r>
                      <a:r>
                        <a:rPr lang="en-US" sz="1400" dirty="0">
                          <a:solidFill>
                            <a:srgbClr val="4A5364"/>
                          </a:solidFill>
                          <a:latin typeface="Pretendard" pitchFamily="34" charset="0"/>
                          <a:ea typeface="Pretendard" pitchFamily="34" charset="-122"/>
                          <a:cs typeface="Pretendard" pitchFamily="34" charset="-120"/>
                        </a:rPr>
                        <a:t> 12'는 엔티티가 아닌 노드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69494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레이블</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Label</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노드의 종류를 나타내는 이름표. 한 노드에 0개 이상 붙일 수 있음</a:t>
                      </a:r>
                      <a:endParaRPr lang="en-US" sz="1400" dirty="0">
                        <a:latin typeface="Pretendard" charset="0"/>
                        <a:ea typeface="Pretendard" charset="0"/>
                        <a:cs typeface="Pretendard" charset="0"/>
                      </a:endParaRPr>
                    </a:p>
                    <a:p>
                      <a:pPr marL="0" indent="0">
                        <a:buNone/>
                      </a:pPr>
                      <a:r>
                        <a:rPr lang="en-US" sz="1400" dirty="0">
                          <a:solidFill>
                            <a:srgbClr val="3B4557"/>
                          </a:solidFill>
                          <a:latin typeface="Pretendard" pitchFamily="34" charset="0"/>
                          <a:ea typeface="Pretendard" pitchFamily="34" charset="-122"/>
                          <a:cs typeface="Pretendard" pitchFamily="34" charset="-120"/>
                        </a:rPr>
                        <a:t>다른 문서의 '노드 유형'·'엔티티 유형'과 같은 뜻</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홍길동 노드에 :고객 레이블, (:고객:VIP)처럼 두 개도 가능</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494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관계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Relationship (type)</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두 노드를 잇는 연결과 그 연결의 이름(보유·제공 등)을 함께 이르는 말</a:t>
                      </a:r>
                      <a:endParaRPr lang="en-US" sz="1400" dirty="0">
                        <a:latin typeface="Pretendard" charset="0"/>
                        <a:ea typeface="Pretendard" charset="0"/>
                        <a:cs typeface="Pretendard" charset="0"/>
                      </a:endParaRPr>
                    </a:p>
                    <a:p>
                      <a:pPr marL="0" indent="0">
                        <a:buNone/>
                      </a:pPr>
                      <a:r>
                        <a:rPr lang="en-US" sz="1400" dirty="0">
                          <a:solidFill>
                            <a:srgbClr val="3B4557"/>
                          </a:solidFill>
                          <a:latin typeface="Pretendard" pitchFamily="34" charset="0"/>
                          <a:ea typeface="Pretendard" pitchFamily="34" charset="-122"/>
                          <a:cs typeface="Pretendard" pitchFamily="34" charset="-120"/>
                        </a:rPr>
                        <a:t>항상 시작 노드·끝 노드·방향과 이름 하나를 가짐. 다른 문서의 '관계 유형'도 여기에 포함</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(홍길동)-[:보유]-&gt;(여행 카드)의 보유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51206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속성</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Property</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노드나 관계에 붙는 '이름: 값' 정보</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여행 카드 노드 {연회비: 20000, 출시일: 2024-05-01}, 보유 관계 {발급일: 2025-03-01}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방향</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Direction</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관계가 시작 노드에서 끝 노드로 향하는 쪽. 저장은 한 방향이어도 조회는 거꾸로 가능</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카드에서 '보유'를 거꾸로 따라 고객 찾기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r h="51206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경로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Path</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노드와 관계가 번갈아 이어진 한 줄의 자취</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홍길동 → 여행 카드 → 공항 라운지 혜택</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206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그래프 순회 (노드 탐색)</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Traversal</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출발 노드에서 관계를 따라 이웃 노드로 옮겨 가며 원하는 노드를 찾는 일</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고객 → 보유 카드 → 그 카드의 혜택</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8"/>
                  </a:ext>
                </a:extLst>
              </a:tr>
              <a:tr h="51206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홉</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Hop (k-hop)</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관계 하나를 건너는 단위. k홉은 관계를 k번 건넌 거리, 여러 홉 탐색은 멀티홉</a:t>
                      </a:r>
                      <a:endParaRPr lang="en-US" sz="1400" dirty="0">
                        <a:latin typeface="Pretendard" charset="0"/>
                        <a:ea typeface="Pretendard" charset="0"/>
                        <a:cs typeface="Pretendard" charset="0"/>
                      </a:endParaRPr>
                    </a:p>
                    <a:p>
                      <a:pPr marL="0" indent="0">
                        <a:buNone/>
                      </a:pPr>
                      <a:r>
                        <a:rPr lang="en-US" sz="1400" b="1" dirty="0">
                          <a:solidFill>
                            <a:srgbClr val="2E74C6"/>
                          </a:solidFill>
                          <a:latin typeface="Pretendard" pitchFamily="34" charset="0"/>
                          <a:ea typeface="Pretendard" pitchFamily="34" charset="-122"/>
                          <a:cs typeface="Pretendard" pitchFamily="34" charset="-120"/>
                        </a:rPr>
                        <a:t>예: </a:t>
                      </a:r>
                      <a:r>
                        <a:rPr lang="en-US" sz="1400" dirty="0">
                          <a:solidFill>
                            <a:srgbClr val="4A5364"/>
                          </a:solidFill>
                          <a:latin typeface="Pretendard" pitchFamily="34" charset="0"/>
                          <a:ea typeface="Pretendard" pitchFamily="34" charset="-122"/>
                          <a:cs typeface="Pretendard" pitchFamily="34" charset="-120"/>
                        </a:rPr>
                        <a:t>고객→카드 1홉, 고객→카드→혜택 2홉</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GraphRAG 용어 ② 인덱싱(그래프 만들기)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문서와 데이터를 노드·관계로 바꿔, 중복 없이 쌓는 단계에서 쓰는 용어</a:t>
            </a:r>
            <a:endParaRPr lang="en-US" sz="1800" dirty="0"/>
          </a:p>
        </p:txBody>
      </p:sp>
      <p:graphicFrame>
        <p:nvGraphicFramePr>
          <p:cNvPr id="4" name="Table 0"/>
          <p:cNvGraphicFramePr>
            <a:graphicFrameLocks noGrp="1"/>
          </p:cNvGraphicFramePr>
          <p:nvPr/>
        </p:nvGraphicFramePr>
        <p:xfrm>
          <a:off x="509321" y="1737360"/>
          <a:ext cx="13624560" cy="5413248"/>
        </p:xfrm>
        <a:graphic>
          <a:graphicData uri="http://schemas.openxmlformats.org/drawingml/2006/table">
            <a:tbl>
              <a:tblPr/>
              <a:tblGrid>
                <a:gridCol w="2286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8961120">
                  <a:extLst>
                    <a:ext uri="{9D8B030D-6E8A-4147-A177-3AD203B41FA5}">
                      <a16:colId xmlns:a16="http://schemas.microsoft.com/office/drawing/2014/main" val="20002"/>
                    </a:ext>
                  </a:extLst>
                </a:gridCol>
              </a:tblGrid>
              <a:tr h="384048">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용어</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영문</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설명</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그래프 스키마</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Graph schema</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둘 수 있는 레이블·관계와 어떤 노드끼리 이을지를 미리 정한 설계도</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LLM 추출이 범위 밖 레이블·관계를 만들지 않게 막음</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 Neo4j 문서의 '스키마'는 인덱스·제약을 뜻하기도 함</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(고객)-[:보유]-&gt;(카드)만 허용</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엔티티·관계 추출</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Entity &amp; relation extraction</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문장에서 대상(엔티티)과 그 사이의 관계를 뽑아 노드·레이블·관계·속성으로 바꾸는 일</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레이블은 보통 스키마에 정해 둔 목록에서 고름. LLM이나 규칙으로 처리함</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'A카드는 음식점 결제 시 4% 할인' → 노드 A카드(상품)·할인(혜택, 할인율 4%)·음식점(업종), 관계 제공·대상</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엔티티 해소</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Entity resolution</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이름이 달라도 같은 대상을 가리키는 노드를 찾아 하나로 합치는 일</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하지 않으면 같은 대상이 여러 노드로 흩어져 관계가 끊김</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'삼성전자'와 '삼성전자㈜'를 한 노드로 합침</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고유 제약과 MERGE</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Uniqueness constraint · MERGE</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고유 제약: 정해진 </a:t>
                      </a:r>
                      <a:r>
                        <a:rPr lang="en-US" sz="1500" dirty="0" err="1">
                          <a:solidFill>
                            <a:srgbClr val="3B4557"/>
                          </a:solidFill>
                          <a:latin typeface="Pretendard" pitchFamily="34" charset="0"/>
                          <a:ea typeface="Pretendard" pitchFamily="34" charset="-122"/>
                          <a:cs typeface="Pretendard" pitchFamily="34" charset="-120"/>
                        </a:rPr>
                        <a:t>속성</a:t>
                      </a:r>
                      <a:r>
                        <a:rPr lang="en-US" sz="1500" dirty="0">
                          <a:solidFill>
                            <a:srgbClr val="3B4557"/>
                          </a:solidFill>
                          <a:latin typeface="Pretendard" pitchFamily="34" charset="0"/>
                          <a:ea typeface="Pretendard" pitchFamily="34" charset="-122"/>
                          <a:cs typeface="Pretendard" pitchFamily="34" charset="-120"/>
                        </a:rPr>
                        <a:t> 값(</a:t>
                      </a:r>
                      <a:r>
                        <a:rPr lang="ko-KR" altLang="en-US" sz="1500" dirty="0">
                          <a:solidFill>
                            <a:srgbClr val="3B4557"/>
                          </a:solidFill>
                          <a:latin typeface="Pretendard" pitchFamily="34" charset="0"/>
                          <a:ea typeface="Pretendard" pitchFamily="34" charset="-122"/>
                          <a:cs typeface="Pretendard" pitchFamily="34" charset="-120"/>
                        </a:rPr>
                        <a:t>키 값</a:t>
                      </a:r>
                      <a:r>
                        <a:rPr lang="en-US" sz="1500" dirty="0">
                          <a:solidFill>
                            <a:srgbClr val="3B4557"/>
                          </a:solidFill>
                          <a:latin typeface="Pretendard" pitchFamily="34" charset="0"/>
                          <a:ea typeface="Pretendard" pitchFamily="34" charset="-122"/>
                          <a:cs typeface="Pretendard" pitchFamily="34" charset="-120"/>
                        </a:rPr>
                        <a:t>)이 겹치지 </a:t>
                      </a:r>
                      <a:r>
                        <a:rPr lang="en-US" sz="1500" dirty="0" err="1">
                          <a:solidFill>
                            <a:srgbClr val="3B4557"/>
                          </a:solidFill>
                          <a:latin typeface="Pretendard" pitchFamily="34" charset="0"/>
                          <a:ea typeface="Pretendard" pitchFamily="34" charset="-122"/>
                          <a:cs typeface="Pretendard" pitchFamily="34" charset="-120"/>
                        </a:rPr>
                        <a:t>않게</a:t>
                      </a:r>
                      <a:r>
                        <a:rPr lang="en-US" sz="1500" dirty="0">
                          <a:solidFill>
                            <a:srgbClr val="3B4557"/>
                          </a:solidFill>
                          <a:latin typeface="Pretendard" pitchFamily="34" charset="0"/>
                          <a:ea typeface="Pretendard" pitchFamily="34" charset="-122"/>
                          <a:cs typeface="Pretendard" pitchFamily="34" charset="-120"/>
                        </a:rPr>
                        <a:t> </a:t>
                      </a:r>
                      <a:r>
                        <a:rPr lang="ko-KR" altLang="en-US" sz="1500" dirty="0">
                          <a:solidFill>
                            <a:srgbClr val="3B4557"/>
                          </a:solidFill>
                          <a:latin typeface="Pretendard" pitchFamily="34" charset="0"/>
                          <a:ea typeface="Pretendard" pitchFamily="34" charset="-122"/>
                          <a:cs typeface="Pretendard" pitchFamily="34" charset="-120"/>
                        </a:rPr>
                        <a:t>그래프 </a:t>
                      </a:r>
                      <a:r>
                        <a:rPr lang="en-US" sz="1500" dirty="0" err="1">
                          <a:solidFill>
                            <a:srgbClr val="3B4557"/>
                          </a:solidFill>
                          <a:latin typeface="Pretendard" pitchFamily="34" charset="0"/>
                          <a:ea typeface="Pretendard" pitchFamily="34" charset="-122"/>
                          <a:cs typeface="Pretendard" pitchFamily="34" charset="-120"/>
                        </a:rPr>
                        <a:t>DB가</a:t>
                      </a:r>
                      <a:r>
                        <a:rPr lang="en-US" sz="1500" dirty="0">
                          <a:solidFill>
                            <a:srgbClr val="3B4557"/>
                          </a:solidFill>
                          <a:latin typeface="Pretendard" pitchFamily="34" charset="0"/>
                          <a:ea typeface="Pretendard" pitchFamily="34" charset="-122"/>
                          <a:cs typeface="Pretendard" pitchFamily="34" charset="-120"/>
                        </a:rPr>
                        <a:t> 막는 규칙</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MERGE: 있으면 그대로 쓰고 없으면 만드는 명령. 함께 쓰면 다시 적재해도 중복이 안 생김</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MERGE (c:고객 {고객ID: 'C001'})</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조각</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Chunk (TextUnit)</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긴 문서를 검색하기 좋은 크기로 자른 한 토막. MS GraphRAG는 TextUnit이라 부름</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조각을 노드로 두고 그 안에 나온 대상과 이어 두면 원문 근거로 되돌아갈 수 있음</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(조각 12)-[:언급]-&gt;(여행 카드)</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GraphRAG 용어 ③ 검색(그래프에서 꺼내기)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출발 노드를 찾고, 질의로 관계를 따라가, 근거와 함께 꺼내는 단계에서 쓰는 용어</a:t>
            </a:r>
            <a:endParaRPr lang="en-US" sz="1800" dirty="0"/>
          </a:p>
        </p:txBody>
      </p:sp>
      <p:graphicFrame>
        <p:nvGraphicFramePr>
          <p:cNvPr id="4" name="Table 0"/>
          <p:cNvGraphicFramePr>
            <a:graphicFrameLocks noGrp="1"/>
          </p:cNvGraphicFramePr>
          <p:nvPr/>
        </p:nvGraphicFramePr>
        <p:xfrm>
          <a:off x="509321" y="1737360"/>
          <a:ext cx="13624560" cy="5413248"/>
        </p:xfrm>
        <a:graphic>
          <a:graphicData uri="http://schemas.openxmlformats.org/drawingml/2006/table">
            <a:tbl>
              <a:tblPr/>
              <a:tblGrid>
                <a:gridCol w="2286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8961120">
                  <a:extLst>
                    <a:ext uri="{9D8B030D-6E8A-4147-A177-3AD203B41FA5}">
                      <a16:colId xmlns:a16="http://schemas.microsoft.com/office/drawing/2014/main" val="20002"/>
                    </a:ext>
                  </a:extLst>
                </a:gridCol>
              </a:tblGrid>
              <a:tr h="384048">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용어</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영문</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설명</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출발 노드</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Access point (진입점)</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그래프 순회를 시작하는 노드</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질문 속 이름과 일치하는 노드, 벡터 검색으로 찾은 노드, 다른 시스템의 조회 결과 등으로 정함</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질문의 '여행 카드'로 상품 노드를 찾아 출발</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인덱스</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Index</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속성 값으로 노드를 빨리 찾게 돕는 보조 장치</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값 일치용 일반 인덱스, 낱말 검색용 전문 인덱스, 뜻 검색용 벡터 인덱스가 있음</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상품 이름 인덱스로 '여행 카드'를 전체를 훑지 않고 바로 찾음</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사이퍼</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Cypher</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그래프 질의 언어. 노드는 ( ), 관계는 -[ ]-&gt; 처럼 그림 모양으로 씀</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Neo4j 등에서 사용</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MATCH (c:고객)-[:보유]-&gt;(k:카드) RETURN k.이름</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사이퍼 템플릿과 Text2Cypher</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Cypher template · Text2Cypher</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질문을 질의문으로 바꾸는 두 방법. 템플릿은 미리 쓴 질의문에 값만 끼워 안전하고 예측 가능함</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Text2Cypher는 LLM이 질의문을 직접 써서 유연하지만 실행 전 검증이 필요함</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MATCH (u:업종 {이름: $업종}) … 의 $업종에 '식비'를 끼움</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1005840">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출처 되짚기</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4A5364"/>
                          </a:solidFill>
                          <a:latin typeface="Pretendard" pitchFamily="34" charset="0"/>
                          <a:ea typeface="Pretendard" pitchFamily="34" charset="-122"/>
                          <a:cs typeface="Pretendard" pitchFamily="34" charset="-120"/>
                        </a:rPr>
                        <a:t>Provenance(</a:t>
                      </a:r>
                      <a:r>
                        <a:rPr lang="ko-KR" altLang="en-US" sz="1500" dirty="0" err="1">
                          <a:solidFill>
                            <a:srgbClr val="4A5364"/>
                          </a:solidFill>
                          <a:latin typeface="Pretendard" pitchFamily="34" charset="0"/>
                          <a:ea typeface="Pretendard" pitchFamily="34" charset="-122"/>
                          <a:cs typeface="Pretendard" pitchFamily="34" charset="-120"/>
                        </a:rPr>
                        <a:t>프라버넌스</a:t>
                      </a:r>
                      <a:r>
                        <a:rPr lang="en-US" altLang="ko-KR" sz="1500" dirty="0">
                          <a:solidFill>
                            <a:srgbClr val="4A5364"/>
                          </a:solidFill>
                          <a:latin typeface="Pretendard" pitchFamily="34" charset="0"/>
                          <a:ea typeface="Pretendard" pitchFamily="34" charset="-122"/>
                          <a:cs typeface="Pretendard" pitchFamily="34" charset="-120"/>
                        </a:rPr>
                        <a:t>)</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답에 쓴 정보가 어느 노드·관계·원문 조각에서 왔는지 기록하고 보여 주는 것</a:t>
                      </a:r>
                      <a:endParaRPr lang="en-US" sz="1500" dirty="0">
                        <a:latin typeface="Pretendard" charset="0"/>
                        <a:ea typeface="Pretendard" charset="0"/>
                        <a:cs typeface="Pretendard" charset="0"/>
                      </a:endParaRPr>
                    </a:p>
                    <a:p>
                      <a:pPr marL="0" indent="0">
                        <a:buNone/>
                      </a:pPr>
                      <a:r>
                        <a:rPr lang="en-US" sz="1500" dirty="0">
                          <a:solidFill>
                            <a:srgbClr val="3B4557"/>
                          </a:solidFill>
                          <a:latin typeface="Pretendard" pitchFamily="34" charset="0"/>
                          <a:ea typeface="Pretendard" pitchFamily="34" charset="-122"/>
                          <a:cs typeface="Pretendard" pitchFamily="34" charset="-120"/>
                        </a:rPr>
                        <a:t>답을 검증하고 잘못된 근거를 찾을 수 있게 함</a:t>
                      </a:r>
                      <a:endParaRPr lang="en-US" sz="1500" dirty="0">
                        <a:latin typeface="Pretendard" charset="0"/>
                        <a:ea typeface="Pretendard" charset="0"/>
                        <a:cs typeface="Pretendard" charset="0"/>
                      </a:endParaRPr>
                    </a:p>
                    <a:p>
                      <a:pPr marL="0" indent="0">
                        <a:buNone/>
                      </a:pPr>
                      <a:r>
                        <a:rPr lang="en-US" sz="1500" b="1" dirty="0">
                          <a:solidFill>
                            <a:srgbClr val="2E74C6"/>
                          </a:solidFill>
                          <a:latin typeface="Pretendard" pitchFamily="34" charset="0"/>
                          <a:ea typeface="Pretendard" pitchFamily="34" charset="-122"/>
                          <a:cs typeface="Pretendard" pitchFamily="34" charset="-120"/>
                        </a:rPr>
                        <a:t>예: </a:t>
                      </a:r>
                      <a:r>
                        <a:rPr lang="en-US" sz="1500" dirty="0">
                          <a:solidFill>
                            <a:srgbClr val="4A5364"/>
                          </a:solidFill>
                          <a:latin typeface="Pretendard" pitchFamily="34" charset="0"/>
                          <a:ea typeface="Pretendard" pitchFamily="34" charset="-122"/>
                          <a:cs typeface="Pretendard" pitchFamily="34" charset="-120"/>
                        </a:rPr>
                        <a:t>'음식점 4% 할인 (근거: 조각 12 → 할인 혜택 노드)'</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그래프DB 인덱싱 과정: 벡터DB와 비교</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벡터DB 인덱싱 가운데에 'LLM이 글을 노드와 관계로 바꿔 그래프로 저장하는 단계'가 끼어든 것임</a:t>
            </a:r>
            <a:endParaRPr lang="en-US" sz="1800" dirty="0"/>
          </a:p>
        </p:txBody>
      </p:sp>
      <p:sp>
        <p:nvSpPr>
          <p:cNvPr id="5" name="Shape 2"/>
          <p:cNvSpPr/>
          <p:nvPr/>
        </p:nvSpPr>
        <p:spPr>
          <a:xfrm>
            <a:off x="1725473" y="1682496"/>
            <a:ext cx="4072128" cy="4206240"/>
          </a:xfrm>
          <a:prstGeom prst="roundRect">
            <a:avLst>
              <a:gd name="adj" fmla="val 2246"/>
            </a:avLst>
          </a:prstGeom>
          <a:solidFill>
            <a:srgbClr val="F5F8FC"/>
          </a:solidFill>
          <a:ln/>
        </p:spPr>
        <p:txBody>
          <a:bodyPr/>
          <a:lstStyle/>
          <a:p>
            <a:endParaRPr lang="ko-KR" altLang="en-US"/>
          </a:p>
        </p:txBody>
      </p:sp>
      <p:sp>
        <p:nvSpPr>
          <p:cNvPr id="6" name="Shape 3"/>
          <p:cNvSpPr/>
          <p:nvPr/>
        </p:nvSpPr>
        <p:spPr>
          <a:xfrm>
            <a:off x="1789481" y="1737360"/>
            <a:ext cx="3944112" cy="365760"/>
          </a:xfrm>
          <a:prstGeom prst="roundRect">
            <a:avLst>
              <a:gd name="adj" fmla="val 15000"/>
            </a:avLst>
          </a:prstGeom>
          <a:solidFill>
            <a:srgbClr val="7C8598"/>
          </a:solidFill>
          <a:ln/>
        </p:spPr>
        <p:txBody>
          <a:bodyPr/>
          <a:lstStyle/>
          <a:p>
            <a:endParaRPr lang="ko-KR" altLang="en-US"/>
          </a:p>
        </p:txBody>
      </p:sp>
      <p:sp>
        <p:nvSpPr>
          <p:cNvPr id="7" name="Text 4"/>
          <p:cNvSpPr txBox="1"/>
          <p:nvPr/>
        </p:nvSpPr>
        <p:spPr>
          <a:xfrm>
            <a:off x="1789481" y="1737360"/>
            <a:ext cx="3944112"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똑같음</a:t>
            </a:r>
            <a:endParaRPr lang="en-US" sz="1500" dirty="0"/>
          </a:p>
        </p:txBody>
      </p:sp>
      <p:sp>
        <p:nvSpPr>
          <p:cNvPr id="8" name="Shape 5"/>
          <p:cNvSpPr/>
          <p:nvPr/>
        </p:nvSpPr>
        <p:spPr>
          <a:xfrm>
            <a:off x="5925617" y="1682496"/>
            <a:ext cx="5472176" cy="4206240"/>
          </a:xfrm>
          <a:prstGeom prst="roundRect">
            <a:avLst>
              <a:gd name="adj" fmla="val 2174"/>
            </a:avLst>
          </a:prstGeom>
          <a:solidFill>
            <a:srgbClr val="F5F8FC"/>
          </a:solidFill>
          <a:ln/>
        </p:spPr>
        <p:txBody>
          <a:bodyPr/>
          <a:lstStyle/>
          <a:p>
            <a:endParaRPr lang="ko-KR" altLang="en-US"/>
          </a:p>
        </p:txBody>
      </p:sp>
      <p:sp>
        <p:nvSpPr>
          <p:cNvPr id="9" name="Shape 6"/>
          <p:cNvSpPr/>
          <p:nvPr/>
        </p:nvSpPr>
        <p:spPr>
          <a:xfrm>
            <a:off x="5989625" y="1737360"/>
            <a:ext cx="5344160" cy="365760"/>
          </a:xfrm>
          <a:prstGeom prst="roundRect">
            <a:avLst>
              <a:gd name="adj" fmla="val 15000"/>
            </a:avLst>
          </a:prstGeom>
          <a:solidFill>
            <a:srgbClr val="2E74C6"/>
          </a:solidFill>
          <a:ln/>
        </p:spPr>
        <p:txBody>
          <a:bodyPr/>
          <a:lstStyle/>
          <a:p>
            <a:endParaRPr lang="ko-KR" altLang="en-US"/>
          </a:p>
        </p:txBody>
      </p:sp>
      <p:sp>
        <p:nvSpPr>
          <p:cNvPr id="10" name="Text 7"/>
          <p:cNvSpPr txBox="1"/>
          <p:nvPr/>
        </p:nvSpPr>
        <p:spPr>
          <a:xfrm>
            <a:off x="5989625" y="1737360"/>
            <a:ext cx="5344160"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그래프DB에만 있음: 글 → 노드와 관계</a:t>
            </a:r>
            <a:endParaRPr lang="en-US" sz="1500" dirty="0"/>
          </a:p>
        </p:txBody>
      </p:sp>
      <p:sp>
        <p:nvSpPr>
          <p:cNvPr id="11" name="Shape 8"/>
          <p:cNvSpPr/>
          <p:nvPr/>
        </p:nvSpPr>
        <p:spPr>
          <a:xfrm>
            <a:off x="11525809" y="1682496"/>
            <a:ext cx="2672080" cy="4206240"/>
          </a:xfrm>
          <a:prstGeom prst="roundRect">
            <a:avLst>
              <a:gd name="adj" fmla="val 3422"/>
            </a:avLst>
          </a:prstGeom>
          <a:solidFill>
            <a:srgbClr val="F5F8FC"/>
          </a:solidFill>
          <a:ln/>
        </p:spPr>
        <p:txBody>
          <a:bodyPr/>
          <a:lstStyle/>
          <a:p>
            <a:endParaRPr lang="ko-KR" altLang="en-US"/>
          </a:p>
        </p:txBody>
      </p:sp>
      <p:sp>
        <p:nvSpPr>
          <p:cNvPr id="12" name="Shape 9"/>
          <p:cNvSpPr/>
          <p:nvPr/>
        </p:nvSpPr>
        <p:spPr>
          <a:xfrm>
            <a:off x="11589817" y="1737360"/>
            <a:ext cx="2544064" cy="365760"/>
          </a:xfrm>
          <a:prstGeom prst="roundRect">
            <a:avLst>
              <a:gd name="adj" fmla="val 15000"/>
            </a:avLst>
          </a:prstGeom>
          <a:solidFill>
            <a:srgbClr val="7C8598"/>
          </a:solidFill>
          <a:ln/>
        </p:spPr>
        <p:txBody>
          <a:bodyPr/>
          <a:lstStyle/>
          <a:p>
            <a:endParaRPr lang="ko-KR" altLang="en-US"/>
          </a:p>
        </p:txBody>
      </p:sp>
      <p:sp>
        <p:nvSpPr>
          <p:cNvPr id="13" name="Text 10"/>
          <p:cNvSpPr txBox="1"/>
          <p:nvPr/>
        </p:nvSpPr>
        <p:spPr>
          <a:xfrm>
            <a:off x="11589817" y="1737360"/>
            <a:ext cx="2544064"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똑같음</a:t>
            </a:r>
            <a:endParaRPr lang="en-US" sz="1500" dirty="0"/>
          </a:p>
        </p:txBody>
      </p:sp>
      <p:sp>
        <p:nvSpPr>
          <p:cNvPr id="14" name="Shape 11"/>
          <p:cNvSpPr/>
          <p:nvPr/>
        </p:nvSpPr>
        <p:spPr>
          <a:xfrm>
            <a:off x="509321" y="2212848"/>
            <a:ext cx="1143000" cy="914400"/>
          </a:xfrm>
          <a:prstGeom prst="roundRect">
            <a:avLst>
              <a:gd name="adj" fmla="val 8000"/>
            </a:avLst>
          </a:prstGeom>
          <a:solidFill>
            <a:srgbClr val="1E2A5C"/>
          </a:solidFill>
          <a:ln/>
        </p:spPr>
        <p:txBody>
          <a:bodyPr/>
          <a:lstStyle/>
          <a:p>
            <a:endParaRPr lang="ko-KR" altLang="en-US"/>
          </a:p>
        </p:txBody>
      </p:sp>
      <p:sp>
        <p:nvSpPr>
          <p:cNvPr id="15" name="Text 12"/>
          <p:cNvSpPr txBox="1"/>
          <p:nvPr/>
        </p:nvSpPr>
        <p:spPr>
          <a:xfrm>
            <a:off x="509321" y="2212848"/>
            <a:ext cx="1143000" cy="9144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벡터DB</a:t>
            </a:r>
            <a:endParaRPr lang="en-US" sz="1600" dirty="0"/>
          </a:p>
          <a:p>
            <a:pPr marL="0" indent="0" algn="ctr">
              <a:buNone/>
            </a:pPr>
            <a:r>
              <a:rPr lang="en-US" sz="1600" b="1" dirty="0">
                <a:solidFill>
                  <a:srgbClr val="FFFFFF"/>
                </a:solidFill>
                <a:latin typeface="Pretendard" pitchFamily="34" charset="0"/>
                <a:ea typeface="Pretendard" pitchFamily="34" charset="-122"/>
                <a:cs typeface="Pretendard" pitchFamily="34" charset="-120"/>
              </a:rPr>
              <a:t>인덱싱</a:t>
            </a:r>
            <a:endParaRPr lang="en-US" sz="1600" dirty="0"/>
          </a:p>
        </p:txBody>
      </p:sp>
      <p:sp>
        <p:nvSpPr>
          <p:cNvPr id="16" name="Shape 13"/>
          <p:cNvSpPr/>
          <p:nvPr/>
        </p:nvSpPr>
        <p:spPr>
          <a:xfrm>
            <a:off x="509321" y="3310128"/>
            <a:ext cx="1143000" cy="1280160"/>
          </a:xfrm>
          <a:prstGeom prst="roundRect">
            <a:avLst>
              <a:gd name="adj" fmla="val 6400"/>
            </a:avLst>
          </a:prstGeom>
          <a:solidFill>
            <a:srgbClr val="2E74C6"/>
          </a:solidFill>
          <a:ln/>
        </p:spPr>
        <p:txBody>
          <a:bodyPr/>
          <a:lstStyle/>
          <a:p>
            <a:endParaRPr lang="ko-KR" altLang="en-US"/>
          </a:p>
        </p:txBody>
      </p:sp>
      <p:sp>
        <p:nvSpPr>
          <p:cNvPr id="17" name="Text 14"/>
          <p:cNvSpPr txBox="1"/>
          <p:nvPr/>
        </p:nvSpPr>
        <p:spPr>
          <a:xfrm>
            <a:off x="509321" y="3310128"/>
            <a:ext cx="1143000" cy="12801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그래프DB</a:t>
            </a:r>
            <a:endParaRPr lang="en-US" sz="1600" dirty="0"/>
          </a:p>
          <a:p>
            <a:pPr marL="0" indent="0" algn="ctr">
              <a:buNone/>
            </a:pPr>
            <a:r>
              <a:rPr lang="en-US" sz="1600" b="1" dirty="0">
                <a:solidFill>
                  <a:srgbClr val="FFFFFF"/>
                </a:solidFill>
                <a:latin typeface="Pretendard" pitchFamily="34" charset="0"/>
                <a:ea typeface="Pretendard" pitchFamily="34" charset="-122"/>
                <a:cs typeface="Pretendard" pitchFamily="34" charset="-120"/>
              </a:rPr>
              <a:t>인덱싱</a:t>
            </a:r>
            <a:endParaRPr lang="en-US" sz="1600" dirty="0"/>
          </a:p>
        </p:txBody>
      </p:sp>
      <p:sp>
        <p:nvSpPr>
          <p:cNvPr id="18" name="Shape 15"/>
          <p:cNvSpPr/>
          <p:nvPr/>
        </p:nvSpPr>
        <p:spPr>
          <a:xfrm>
            <a:off x="509321" y="5084064"/>
            <a:ext cx="1143000" cy="749808"/>
          </a:xfrm>
          <a:prstGeom prst="roundRect">
            <a:avLst>
              <a:gd name="adj" fmla="val 9756"/>
            </a:avLst>
          </a:prstGeom>
          <a:solidFill>
            <a:srgbClr val="FFFFFF"/>
          </a:solidFill>
          <a:ln w="12700">
            <a:solidFill>
              <a:srgbClr val="C3CEE0"/>
            </a:solidFill>
            <a:prstDash val="solid"/>
          </a:ln>
        </p:spPr>
        <p:txBody>
          <a:bodyPr/>
          <a:lstStyle/>
          <a:p>
            <a:endParaRPr lang="ko-KR" altLang="en-US"/>
          </a:p>
        </p:txBody>
      </p:sp>
      <p:sp>
        <p:nvSpPr>
          <p:cNvPr id="19" name="Text 16"/>
          <p:cNvSpPr txBox="1"/>
          <p:nvPr/>
        </p:nvSpPr>
        <p:spPr>
          <a:xfrm>
            <a:off x="509321" y="5084064"/>
            <a:ext cx="1143000" cy="74980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나오는 것</a:t>
            </a:r>
            <a:endParaRPr lang="en-US" sz="1500" dirty="0"/>
          </a:p>
        </p:txBody>
      </p:sp>
      <p:sp>
        <p:nvSpPr>
          <p:cNvPr id="20" name="Shape 17"/>
          <p:cNvSpPr/>
          <p:nvPr/>
        </p:nvSpPr>
        <p:spPr>
          <a:xfrm>
            <a:off x="1789481" y="2212848"/>
            <a:ext cx="1144016" cy="914400"/>
          </a:xfrm>
          <a:prstGeom prst="roundRect">
            <a:avLst>
              <a:gd name="adj" fmla="val 8000"/>
            </a:avLst>
          </a:prstGeom>
          <a:solidFill>
            <a:srgbClr val="FFFFFF"/>
          </a:solidFill>
          <a:ln w="15875">
            <a:solidFill>
              <a:srgbClr val="1E2A5C"/>
            </a:solidFill>
            <a:prstDash val="solid"/>
          </a:ln>
        </p:spPr>
        <p:txBody>
          <a:bodyPr/>
          <a:lstStyle/>
          <a:p>
            <a:endParaRPr lang="ko-KR" altLang="en-US"/>
          </a:p>
        </p:txBody>
      </p:sp>
      <p:sp>
        <p:nvSpPr>
          <p:cNvPr id="21" name="Text 18"/>
          <p:cNvSpPr txBox="1"/>
          <p:nvPr/>
        </p:nvSpPr>
        <p:spPr>
          <a:xfrm>
            <a:off x="1789481" y="2212848"/>
            <a:ext cx="1144016" cy="914400"/>
          </a:xfrm>
          <a:prstGeom prst="rect">
            <a:avLst/>
          </a:prstGeom>
          <a:noFill/>
          <a:ln/>
        </p:spPr>
        <p:txBody>
          <a:bodyPr wrap="square" lIns="508" tIns="508" rIns="508" bIns="508"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로드</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원본 읽기</a:t>
            </a:r>
            <a:endParaRPr lang="en-US" sz="1700" dirty="0"/>
          </a:p>
        </p:txBody>
      </p:sp>
      <p:sp>
        <p:nvSpPr>
          <p:cNvPr id="22" name="Shape 19"/>
          <p:cNvSpPr/>
          <p:nvPr/>
        </p:nvSpPr>
        <p:spPr>
          <a:xfrm>
            <a:off x="3189529" y="2212848"/>
            <a:ext cx="1144016" cy="914400"/>
          </a:xfrm>
          <a:prstGeom prst="roundRect">
            <a:avLst>
              <a:gd name="adj" fmla="val 8000"/>
            </a:avLst>
          </a:prstGeom>
          <a:solidFill>
            <a:srgbClr val="FFFFFF"/>
          </a:solidFill>
          <a:ln w="15875">
            <a:solidFill>
              <a:srgbClr val="1E2A5C"/>
            </a:solidFill>
            <a:prstDash val="solid"/>
          </a:ln>
        </p:spPr>
        <p:txBody>
          <a:bodyPr/>
          <a:lstStyle/>
          <a:p>
            <a:endParaRPr lang="ko-KR" altLang="en-US"/>
          </a:p>
        </p:txBody>
      </p:sp>
      <p:sp>
        <p:nvSpPr>
          <p:cNvPr id="23" name="Text 20"/>
          <p:cNvSpPr txBox="1"/>
          <p:nvPr/>
        </p:nvSpPr>
        <p:spPr>
          <a:xfrm>
            <a:off x="3189529" y="2212848"/>
            <a:ext cx="1144016" cy="914400"/>
          </a:xfrm>
          <a:prstGeom prst="rect">
            <a:avLst/>
          </a:prstGeom>
          <a:noFill/>
          <a:ln/>
        </p:spPr>
        <p:txBody>
          <a:bodyPr wrap="square" lIns="508" tIns="508" rIns="508" bIns="508"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정제·</a:t>
            </a:r>
            <a:endParaRPr lang="en-US" sz="1700" dirty="0"/>
          </a:p>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가명처리</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실명 → 가명</a:t>
            </a:r>
            <a:endParaRPr lang="en-US" sz="1700" dirty="0"/>
          </a:p>
        </p:txBody>
      </p:sp>
      <p:sp>
        <p:nvSpPr>
          <p:cNvPr id="24" name="Shape 21"/>
          <p:cNvSpPr/>
          <p:nvPr/>
        </p:nvSpPr>
        <p:spPr>
          <a:xfrm>
            <a:off x="2960929" y="2670048"/>
            <a:ext cx="201168" cy="0"/>
          </a:xfrm>
          <a:prstGeom prst="line">
            <a:avLst/>
          </a:prstGeom>
          <a:noFill/>
          <a:ln w="22225">
            <a:solidFill>
              <a:srgbClr val="4A5364"/>
            </a:solidFill>
            <a:prstDash val="solid"/>
            <a:tailEnd type="triangle"/>
          </a:ln>
        </p:spPr>
        <p:txBody>
          <a:bodyPr/>
          <a:lstStyle/>
          <a:p>
            <a:endParaRPr lang="ko-KR" altLang="en-US"/>
          </a:p>
        </p:txBody>
      </p:sp>
      <p:sp>
        <p:nvSpPr>
          <p:cNvPr id="25" name="Shape 22"/>
          <p:cNvSpPr/>
          <p:nvPr/>
        </p:nvSpPr>
        <p:spPr>
          <a:xfrm>
            <a:off x="4589577" y="2212848"/>
            <a:ext cx="1144016" cy="914400"/>
          </a:xfrm>
          <a:prstGeom prst="roundRect">
            <a:avLst>
              <a:gd name="adj" fmla="val 8000"/>
            </a:avLst>
          </a:prstGeom>
          <a:solidFill>
            <a:srgbClr val="FFFFFF"/>
          </a:solidFill>
          <a:ln w="15875">
            <a:solidFill>
              <a:srgbClr val="1E2A5C"/>
            </a:solidFill>
            <a:prstDash val="solid"/>
          </a:ln>
        </p:spPr>
        <p:txBody>
          <a:bodyPr/>
          <a:lstStyle/>
          <a:p>
            <a:endParaRPr lang="ko-KR" altLang="en-US"/>
          </a:p>
        </p:txBody>
      </p:sp>
      <p:sp>
        <p:nvSpPr>
          <p:cNvPr id="26" name="Text 23"/>
          <p:cNvSpPr txBox="1"/>
          <p:nvPr/>
        </p:nvSpPr>
        <p:spPr>
          <a:xfrm>
            <a:off x="4589577" y="2212848"/>
            <a:ext cx="1144016" cy="914400"/>
          </a:xfrm>
          <a:prstGeom prst="rect">
            <a:avLst/>
          </a:prstGeom>
          <a:noFill/>
          <a:ln/>
        </p:spPr>
        <p:txBody>
          <a:bodyPr wrap="square" lIns="508" tIns="508" rIns="508" bIns="508"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청킹</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글 자르기</a:t>
            </a:r>
            <a:endParaRPr lang="en-US" sz="1700" dirty="0"/>
          </a:p>
        </p:txBody>
      </p:sp>
      <p:sp>
        <p:nvSpPr>
          <p:cNvPr id="27" name="Shape 24"/>
          <p:cNvSpPr/>
          <p:nvPr/>
        </p:nvSpPr>
        <p:spPr>
          <a:xfrm>
            <a:off x="4360977" y="2670048"/>
            <a:ext cx="201168" cy="0"/>
          </a:xfrm>
          <a:prstGeom prst="line">
            <a:avLst/>
          </a:prstGeom>
          <a:noFill/>
          <a:ln w="22225">
            <a:solidFill>
              <a:srgbClr val="4A5364"/>
            </a:solidFill>
            <a:prstDash val="solid"/>
            <a:tailEnd type="triangle"/>
          </a:ln>
        </p:spPr>
        <p:txBody>
          <a:bodyPr/>
          <a:lstStyle/>
          <a:p>
            <a:endParaRPr lang="ko-KR" altLang="en-US"/>
          </a:p>
        </p:txBody>
      </p:sp>
      <p:sp>
        <p:nvSpPr>
          <p:cNvPr id="28" name="Shape 25"/>
          <p:cNvSpPr/>
          <p:nvPr/>
        </p:nvSpPr>
        <p:spPr>
          <a:xfrm>
            <a:off x="11589817" y="2212848"/>
            <a:ext cx="1144016" cy="914400"/>
          </a:xfrm>
          <a:prstGeom prst="roundRect">
            <a:avLst>
              <a:gd name="adj" fmla="val 8000"/>
            </a:avLst>
          </a:prstGeom>
          <a:solidFill>
            <a:srgbClr val="FFFFFF"/>
          </a:solidFill>
          <a:ln w="15875">
            <a:solidFill>
              <a:srgbClr val="1E2A5C"/>
            </a:solidFill>
            <a:prstDash val="solid"/>
          </a:ln>
        </p:spPr>
        <p:txBody>
          <a:bodyPr/>
          <a:lstStyle/>
          <a:p>
            <a:endParaRPr lang="ko-KR" altLang="en-US"/>
          </a:p>
        </p:txBody>
      </p:sp>
      <p:sp>
        <p:nvSpPr>
          <p:cNvPr id="29" name="Text 26"/>
          <p:cNvSpPr txBox="1"/>
          <p:nvPr/>
        </p:nvSpPr>
        <p:spPr>
          <a:xfrm>
            <a:off x="11589817" y="2212848"/>
            <a:ext cx="1144016" cy="914400"/>
          </a:xfrm>
          <a:prstGeom prst="rect">
            <a:avLst/>
          </a:prstGeom>
          <a:noFill/>
          <a:ln/>
        </p:spPr>
        <p:txBody>
          <a:bodyPr wrap="square" lIns="508" tIns="508" rIns="508" bIns="508"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임베딩</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청크 → 벡터</a:t>
            </a:r>
            <a:endParaRPr lang="en-US" sz="1700" dirty="0"/>
          </a:p>
        </p:txBody>
      </p:sp>
      <p:sp>
        <p:nvSpPr>
          <p:cNvPr id="30" name="Shape 27"/>
          <p:cNvSpPr/>
          <p:nvPr/>
        </p:nvSpPr>
        <p:spPr>
          <a:xfrm>
            <a:off x="5761025" y="2670048"/>
            <a:ext cx="5801360" cy="0"/>
          </a:xfrm>
          <a:prstGeom prst="line">
            <a:avLst/>
          </a:prstGeom>
          <a:noFill/>
          <a:ln w="22225">
            <a:solidFill>
              <a:srgbClr val="4A5364"/>
            </a:solidFill>
            <a:prstDash val="solid"/>
            <a:tailEnd type="triangle"/>
          </a:ln>
        </p:spPr>
        <p:txBody>
          <a:bodyPr/>
          <a:lstStyle/>
          <a:p>
            <a:endParaRPr lang="ko-KR" altLang="en-US"/>
          </a:p>
        </p:txBody>
      </p:sp>
      <p:sp>
        <p:nvSpPr>
          <p:cNvPr id="31" name="Shape 28"/>
          <p:cNvSpPr/>
          <p:nvPr/>
        </p:nvSpPr>
        <p:spPr>
          <a:xfrm>
            <a:off x="12989865" y="2212848"/>
            <a:ext cx="1144016" cy="914400"/>
          </a:xfrm>
          <a:prstGeom prst="roundRect">
            <a:avLst>
              <a:gd name="adj" fmla="val 8000"/>
            </a:avLst>
          </a:prstGeom>
          <a:solidFill>
            <a:srgbClr val="FFFFFF"/>
          </a:solidFill>
          <a:ln w="15875">
            <a:solidFill>
              <a:srgbClr val="1E2A5C"/>
            </a:solidFill>
            <a:prstDash val="solid"/>
          </a:ln>
        </p:spPr>
        <p:txBody>
          <a:bodyPr/>
          <a:lstStyle/>
          <a:p>
            <a:endParaRPr lang="ko-KR" altLang="en-US"/>
          </a:p>
        </p:txBody>
      </p:sp>
      <p:sp>
        <p:nvSpPr>
          <p:cNvPr id="32" name="Text 29"/>
          <p:cNvSpPr txBox="1"/>
          <p:nvPr/>
        </p:nvSpPr>
        <p:spPr>
          <a:xfrm>
            <a:off x="12989865" y="2212848"/>
            <a:ext cx="1144016" cy="914400"/>
          </a:xfrm>
          <a:prstGeom prst="rect">
            <a:avLst/>
          </a:prstGeom>
          <a:noFill/>
          <a:ln/>
        </p:spPr>
        <p:txBody>
          <a:bodyPr wrap="square" lIns="508" tIns="508" rIns="508" bIns="508"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적재</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벡터DB로</a:t>
            </a:r>
            <a:endParaRPr lang="en-US" sz="1700" dirty="0"/>
          </a:p>
        </p:txBody>
      </p:sp>
      <p:sp>
        <p:nvSpPr>
          <p:cNvPr id="33" name="Shape 30"/>
          <p:cNvSpPr/>
          <p:nvPr/>
        </p:nvSpPr>
        <p:spPr>
          <a:xfrm>
            <a:off x="12761265" y="2670048"/>
            <a:ext cx="201168" cy="0"/>
          </a:xfrm>
          <a:prstGeom prst="line">
            <a:avLst/>
          </a:prstGeom>
          <a:noFill/>
          <a:ln w="22225">
            <a:solidFill>
              <a:srgbClr val="4A5364"/>
            </a:solidFill>
            <a:prstDash val="solid"/>
            <a:tailEnd type="triangle"/>
          </a:ln>
        </p:spPr>
        <p:txBody>
          <a:bodyPr/>
          <a:lstStyle/>
          <a:p>
            <a:endParaRPr lang="ko-KR" altLang="en-US"/>
          </a:p>
        </p:txBody>
      </p:sp>
      <p:sp>
        <p:nvSpPr>
          <p:cNvPr id="34" name="Shape 31"/>
          <p:cNvSpPr/>
          <p:nvPr/>
        </p:nvSpPr>
        <p:spPr>
          <a:xfrm>
            <a:off x="7198665" y="2487168"/>
            <a:ext cx="2926080" cy="365760"/>
          </a:xfrm>
          <a:prstGeom prst="roundRect">
            <a:avLst>
              <a:gd name="adj" fmla="val 45000"/>
            </a:avLst>
          </a:prstGeom>
          <a:solidFill>
            <a:srgbClr val="FFFFFF"/>
          </a:solidFill>
          <a:ln w="12700">
            <a:solidFill>
              <a:srgbClr val="C3CEE0"/>
            </a:solidFill>
            <a:prstDash val="solid"/>
          </a:ln>
        </p:spPr>
        <p:txBody>
          <a:bodyPr/>
          <a:lstStyle/>
          <a:p>
            <a:endParaRPr lang="ko-KR" altLang="en-US"/>
          </a:p>
        </p:txBody>
      </p:sp>
      <p:sp>
        <p:nvSpPr>
          <p:cNvPr id="35" name="Text 32"/>
          <p:cNvSpPr txBox="1"/>
          <p:nvPr/>
        </p:nvSpPr>
        <p:spPr>
          <a:xfrm>
            <a:off x="7198665" y="2487168"/>
            <a:ext cx="2926080" cy="365760"/>
          </a:xfrm>
          <a:prstGeom prst="rect">
            <a:avLst/>
          </a:prstGeom>
          <a:noFill/>
          <a:ln/>
        </p:spPr>
        <p:txBody>
          <a:bodyPr wrap="square" lIns="1016" tIns="1016" rIns="1016" bIns="1016"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그래프 단계 없이 바로 임베딩</a:t>
            </a:r>
            <a:endParaRPr lang="en-US" sz="1400" dirty="0"/>
          </a:p>
        </p:txBody>
      </p:sp>
      <p:sp>
        <p:nvSpPr>
          <p:cNvPr id="36" name="Shape 33"/>
          <p:cNvSpPr/>
          <p:nvPr/>
        </p:nvSpPr>
        <p:spPr>
          <a:xfrm>
            <a:off x="1789481"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37" name="Shape 34"/>
          <p:cNvSpPr/>
          <p:nvPr/>
        </p:nvSpPr>
        <p:spPr>
          <a:xfrm>
            <a:off x="1880921" y="3401568"/>
            <a:ext cx="347472" cy="347472"/>
          </a:xfrm>
          <a:prstGeom prst="roundRect">
            <a:avLst>
              <a:gd name="adj" fmla="val 13158"/>
            </a:avLst>
          </a:prstGeom>
          <a:solidFill>
            <a:srgbClr val="2E74C6"/>
          </a:solidFill>
          <a:ln/>
        </p:spPr>
        <p:txBody>
          <a:bodyPr/>
          <a:lstStyle/>
          <a:p>
            <a:endParaRPr lang="ko-KR" altLang="en-US"/>
          </a:p>
        </p:txBody>
      </p:sp>
      <p:sp>
        <p:nvSpPr>
          <p:cNvPr id="38" name="Text 35"/>
          <p:cNvSpPr txBox="1"/>
          <p:nvPr/>
        </p:nvSpPr>
        <p:spPr>
          <a:xfrm>
            <a:off x="1880921" y="340156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39" name="Text 36"/>
          <p:cNvSpPr txBox="1"/>
          <p:nvPr/>
        </p:nvSpPr>
        <p:spPr>
          <a:xfrm>
            <a:off x="1789481"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로드</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원본 읽기</a:t>
            </a:r>
            <a:endParaRPr lang="en-US" sz="1700" dirty="0"/>
          </a:p>
        </p:txBody>
      </p:sp>
      <p:sp>
        <p:nvSpPr>
          <p:cNvPr id="40" name="Shape 37"/>
          <p:cNvSpPr/>
          <p:nvPr/>
        </p:nvSpPr>
        <p:spPr>
          <a:xfrm>
            <a:off x="3189529"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41" name="Shape 38"/>
          <p:cNvSpPr/>
          <p:nvPr/>
        </p:nvSpPr>
        <p:spPr>
          <a:xfrm>
            <a:off x="3280969" y="3401568"/>
            <a:ext cx="347472" cy="347472"/>
          </a:xfrm>
          <a:prstGeom prst="roundRect">
            <a:avLst>
              <a:gd name="adj" fmla="val 13158"/>
            </a:avLst>
          </a:prstGeom>
          <a:solidFill>
            <a:srgbClr val="2E74C6"/>
          </a:solidFill>
          <a:ln/>
        </p:spPr>
        <p:txBody>
          <a:bodyPr/>
          <a:lstStyle/>
          <a:p>
            <a:endParaRPr lang="ko-KR" altLang="en-US"/>
          </a:p>
        </p:txBody>
      </p:sp>
      <p:sp>
        <p:nvSpPr>
          <p:cNvPr id="42" name="Text 39"/>
          <p:cNvSpPr txBox="1"/>
          <p:nvPr/>
        </p:nvSpPr>
        <p:spPr>
          <a:xfrm>
            <a:off x="3280969" y="340156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43" name="Text 40"/>
          <p:cNvSpPr txBox="1"/>
          <p:nvPr/>
        </p:nvSpPr>
        <p:spPr>
          <a:xfrm>
            <a:off x="3189529"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정제·</a:t>
            </a:r>
            <a:endParaRPr lang="en-US" sz="1700" dirty="0"/>
          </a:p>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가명처리</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실명 → 가명</a:t>
            </a:r>
            <a:endParaRPr lang="en-US" sz="1700" dirty="0"/>
          </a:p>
        </p:txBody>
      </p:sp>
      <p:sp>
        <p:nvSpPr>
          <p:cNvPr id="44" name="Shape 41"/>
          <p:cNvSpPr/>
          <p:nvPr/>
        </p:nvSpPr>
        <p:spPr>
          <a:xfrm>
            <a:off x="2960929" y="3950208"/>
            <a:ext cx="201168" cy="0"/>
          </a:xfrm>
          <a:prstGeom prst="line">
            <a:avLst/>
          </a:prstGeom>
          <a:noFill/>
          <a:ln w="22225">
            <a:solidFill>
              <a:srgbClr val="4A5364"/>
            </a:solidFill>
            <a:prstDash val="solid"/>
            <a:tailEnd type="triangle"/>
          </a:ln>
        </p:spPr>
        <p:txBody>
          <a:bodyPr/>
          <a:lstStyle/>
          <a:p>
            <a:endParaRPr lang="ko-KR" altLang="en-US"/>
          </a:p>
        </p:txBody>
      </p:sp>
      <p:sp>
        <p:nvSpPr>
          <p:cNvPr id="45" name="Shape 42"/>
          <p:cNvSpPr/>
          <p:nvPr/>
        </p:nvSpPr>
        <p:spPr>
          <a:xfrm>
            <a:off x="4589577"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46" name="Shape 43"/>
          <p:cNvSpPr/>
          <p:nvPr/>
        </p:nvSpPr>
        <p:spPr>
          <a:xfrm>
            <a:off x="4681017" y="3401568"/>
            <a:ext cx="347472" cy="347472"/>
          </a:xfrm>
          <a:prstGeom prst="roundRect">
            <a:avLst>
              <a:gd name="adj" fmla="val 13158"/>
            </a:avLst>
          </a:prstGeom>
          <a:solidFill>
            <a:srgbClr val="2E74C6"/>
          </a:solidFill>
          <a:ln/>
        </p:spPr>
        <p:txBody>
          <a:bodyPr/>
          <a:lstStyle/>
          <a:p>
            <a:endParaRPr lang="ko-KR" altLang="en-US"/>
          </a:p>
        </p:txBody>
      </p:sp>
      <p:sp>
        <p:nvSpPr>
          <p:cNvPr id="47" name="Text 44"/>
          <p:cNvSpPr txBox="1"/>
          <p:nvPr/>
        </p:nvSpPr>
        <p:spPr>
          <a:xfrm>
            <a:off x="4681017" y="340156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48" name="Text 45"/>
          <p:cNvSpPr txBox="1"/>
          <p:nvPr/>
        </p:nvSpPr>
        <p:spPr>
          <a:xfrm>
            <a:off x="4589577"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청킹</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글 자르기</a:t>
            </a:r>
            <a:endParaRPr lang="en-US" sz="1700" dirty="0"/>
          </a:p>
        </p:txBody>
      </p:sp>
      <p:sp>
        <p:nvSpPr>
          <p:cNvPr id="49" name="Shape 46"/>
          <p:cNvSpPr/>
          <p:nvPr/>
        </p:nvSpPr>
        <p:spPr>
          <a:xfrm>
            <a:off x="4360977" y="3950208"/>
            <a:ext cx="201168" cy="0"/>
          </a:xfrm>
          <a:prstGeom prst="line">
            <a:avLst/>
          </a:prstGeom>
          <a:noFill/>
          <a:ln w="22225">
            <a:solidFill>
              <a:srgbClr val="4A5364"/>
            </a:solidFill>
            <a:prstDash val="solid"/>
            <a:tailEnd type="triangle"/>
          </a:ln>
        </p:spPr>
        <p:txBody>
          <a:bodyPr/>
          <a:lstStyle/>
          <a:p>
            <a:endParaRPr lang="ko-KR" altLang="en-US"/>
          </a:p>
        </p:txBody>
      </p:sp>
      <p:sp>
        <p:nvSpPr>
          <p:cNvPr id="50" name="Shape 47"/>
          <p:cNvSpPr/>
          <p:nvPr/>
        </p:nvSpPr>
        <p:spPr>
          <a:xfrm>
            <a:off x="5989625"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51" name="Shape 48"/>
          <p:cNvSpPr/>
          <p:nvPr/>
        </p:nvSpPr>
        <p:spPr>
          <a:xfrm>
            <a:off x="6081065" y="3401568"/>
            <a:ext cx="347472" cy="347472"/>
          </a:xfrm>
          <a:prstGeom prst="roundRect">
            <a:avLst>
              <a:gd name="adj" fmla="val 13158"/>
            </a:avLst>
          </a:prstGeom>
          <a:solidFill>
            <a:srgbClr val="2E74C6"/>
          </a:solidFill>
          <a:ln/>
        </p:spPr>
        <p:txBody>
          <a:bodyPr/>
          <a:lstStyle/>
          <a:p>
            <a:endParaRPr lang="ko-KR" altLang="en-US"/>
          </a:p>
        </p:txBody>
      </p:sp>
      <p:sp>
        <p:nvSpPr>
          <p:cNvPr id="52" name="Text 49"/>
          <p:cNvSpPr txBox="1"/>
          <p:nvPr/>
        </p:nvSpPr>
        <p:spPr>
          <a:xfrm>
            <a:off x="6081065" y="340156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3" name="Text 50"/>
          <p:cNvSpPr txBox="1"/>
          <p:nvPr/>
        </p:nvSpPr>
        <p:spPr>
          <a:xfrm>
            <a:off x="5989625"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엔티티·관계</a:t>
            </a:r>
            <a:endParaRPr lang="en-US" sz="1700" dirty="0"/>
          </a:p>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추출</a:t>
            </a:r>
            <a:endParaRPr lang="en-US" sz="1700" dirty="0"/>
          </a:p>
        </p:txBody>
      </p:sp>
      <p:sp>
        <p:nvSpPr>
          <p:cNvPr id="54" name="Shape 51"/>
          <p:cNvSpPr/>
          <p:nvPr/>
        </p:nvSpPr>
        <p:spPr>
          <a:xfrm>
            <a:off x="5761025" y="3950208"/>
            <a:ext cx="201168" cy="0"/>
          </a:xfrm>
          <a:prstGeom prst="line">
            <a:avLst/>
          </a:prstGeom>
          <a:noFill/>
          <a:ln w="22225">
            <a:solidFill>
              <a:srgbClr val="4A5364"/>
            </a:solidFill>
            <a:prstDash val="solid"/>
            <a:tailEnd type="triangle"/>
          </a:ln>
        </p:spPr>
        <p:txBody>
          <a:bodyPr/>
          <a:lstStyle/>
          <a:p>
            <a:endParaRPr lang="ko-KR" altLang="en-US"/>
          </a:p>
        </p:txBody>
      </p:sp>
      <p:sp>
        <p:nvSpPr>
          <p:cNvPr id="55" name="Shape 52"/>
          <p:cNvSpPr/>
          <p:nvPr/>
        </p:nvSpPr>
        <p:spPr>
          <a:xfrm>
            <a:off x="7389673" y="3310128"/>
            <a:ext cx="1144016" cy="1280160"/>
          </a:xfrm>
          <a:prstGeom prst="roundRect">
            <a:avLst>
              <a:gd name="adj" fmla="val 6394"/>
            </a:avLst>
          </a:prstGeom>
          <a:solidFill>
            <a:srgbClr val="FFFFFF"/>
          </a:solidFill>
          <a:ln w="19050">
            <a:solidFill>
              <a:srgbClr val="2E74C6"/>
            </a:solidFill>
            <a:prstDash val="dash"/>
          </a:ln>
        </p:spPr>
        <p:txBody>
          <a:bodyPr/>
          <a:lstStyle/>
          <a:p>
            <a:endParaRPr lang="ko-KR" altLang="en-US"/>
          </a:p>
        </p:txBody>
      </p:sp>
      <p:sp>
        <p:nvSpPr>
          <p:cNvPr id="56" name="Shape 53"/>
          <p:cNvSpPr/>
          <p:nvPr/>
        </p:nvSpPr>
        <p:spPr>
          <a:xfrm>
            <a:off x="7481113" y="3401568"/>
            <a:ext cx="585216" cy="310896"/>
          </a:xfrm>
          <a:prstGeom prst="roundRect">
            <a:avLst>
              <a:gd name="adj" fmla="val 45000"/>
            </a:avLst>
          </a:prstGeom>
          <a:solidFill>
            <a:srgbClr val="FFFFFF"/>
          </a:solidFill>
          <a:ln w="12700">
            <a:solidFill>
              <a:srgbClr val="2E74C6"/>
            </a:solidFill>
            <a:prstDash val="solid"/>
          </a:ln>
        </p:spPr>
        <p:txBody>
          <a:bodyPr/>
          <a:lstStyle/>
          <a:p>
            <a:endParaRPr lang="ko-KR" altLang="en-US"/>
          </a:p>
        </p:txBody>
      </p:sp>
      <p:sp>
        <p:nvSpPr>
          <p:cNvPr id="57" name="Text 54"/>
          <p:cNvSpPr txBox="1"/>
          <p:nvPr/>
        </p:nvSpPr>
        <p:spPr>
          <a:xfrm>
            <a:off x="7481113" y="3401568"/>
            <a:ext cx="585216" cy="310896"/>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보강</a:t>
            </a:r>
            <a:endParaRPr lang="en-US" sz="1400" dirty="0"/>
          </a:p>
        </p:txBody>
      </p:sp>
      <p:sp>
        <p:nvSpPr>
          <p:cNvPr id="58" name="Text 55"/>
          <p:cNvSpPr txBox="1"/>
          <p:nvPr/>
        </p:nvSpPr>
        <p:spPr>
          <a:xfrm>
            <a:off x="7389673"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같은 이름</a:t>
            </a:r>
            <a:endParaRPr lang="en-US" sz="1700" dirty="0"/>
          </a:p>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병합</a:t>
            </a:r>
            <a:endParaRPr lang="en-US" sz="1700" dirty="0"/>
          </a:p>
        </p:txBody>
      </p:sp>
      <p:sp>
        <p:nvSpPr>
          <p:cNvPr id="59" name="Shape 56"/>
          <p:cNvSpPr/>
          <p:nvPr/>
        </p:nvSpPr>
        <p:spPr>
          <a:xfrm>
            <a:off x="7161073" y="3950208"/>
            <a:ext cx="201168" cy="0"/>
          </a:xfrm>
          <a:prstGeom prst="line">
            <a:avLst/>
          </a:prstGeom>
          <a:noFill/>
          <a:ln w="22225">
            <a:solidFill>
              <a:srgbClr val="4A5364"/>
            </a:solidFill>
            <a:prstDash val="solid"/>
            <a:tailEnd type="triangle"/>
          </a:ln>
        </p:spPr>
        <p:txBody>
          <a:bodyPr/>
          <a:lstStyle/>
          <a:p>
            <a:endParaRPr lang="ko-KR" altLang="en-US"/>
          </a:p>
        </p:txBody>
      </p:sp>
      <p:sp>
        <p:nvSpPr>
          <p:cNvPr id="60" name="Shape 57"/>
          <p:cNvSpPr/>
          <p:nvPr/>
        </p:nvSpPr>
        <p:spPr>
          <a:xfrm>
            <a:off x="8789721"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61" name="Shape 58"/>
          <p:cNvSpPr/>
          <p:nvPr/>
        </p:nvSpPr>
        <p:spPr>
          <a:xfrm>
            <a:off x="8881161" y="3401568"/>
            <a:ext cx="347472" cy="347472"/>
          </a:xfrm>
          <a:prstGeom prst="roundRect">
            <a:avLst>
              <a:gd name="adj" fmla="val 13158"/>
            </a:avLst>
          </a:prstGeom>
          <a:solidFill>
            <a:srgbClr val="2E74C6"/>
          </a:solidFill>
          <a:ln/>
        </p:spPr>
        <p:txBody>
          <a:bodyPr/>
          <a:lstStyle/>
          <a:p>
            <a:endParaRPr lang="ko-KR" altLang="en-US"/>
          </a:p>
        </p:txBody>
      </p:sp>
      <p:sp>
        <p:nvSpPr>
          <p:cNvPr id="62" name="Text 59"/>
          <p:cNvSpPr txBox="1"/>
          <p:nvPr/>
        </p:nvSpPr>
        <p:spPr>
          <a:xfrm>
            <a:off x="8881161" y="340156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5</a:t>
            </a:r>
            <a:endParaRPr lang="en-US" sz="1600" dirty="0"/>
          </a:p>
        </p:txBody>
      </p:sp>
      <p:sp>
        <p:nvSpPr>
          <p:cNvPr id="63" name="Text 60"/>
          <p:cNvSpPr txBox="1"/>
          <p:nvPr/>
        </p:nvSpPr>
        <p:spPr>
          <a:xfrm>
            <a:off x="8789721"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지식 그래프</a:t>
            </a:r>
            <a:endParaRPr lang="en-US" sz="1700" dirty="0"/>
          </a:p>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구축</a:t>
            </a:r>
            <a:endParaRPr lang="en-US" sz="1700" dirty="0"/>
          </a:p>
        </p:txBody>
      </p:sp>
      <p:sp>
        <p:nvSpPr>
          <p:cNvPr id="64" name="Shape 61"/>
          <p:cNvSpPr/>
          <p:nvPr/>
        </p:nvSpPr>
        <p:spPr>
          <a:xfrm>
            <a:off x="8561121" y="3950208"/>
            <a:ext cx="201168" cy="0"/>
          </a:xfrm>
          <a:prstGeom prst="line">
            <a:avLst/>
          </a:prstGeom>
          <a:noFill/>
          <a:ln w="22225">
            <a:solidFill>
              <a:srgbClr val="4A5364"/>
            </a:solidFill>
            <a:prstDash val="solid"/>
            <a:tailEnd type="triangle"/>
          </a:ln>
        </p:spPr>
        <p:txBody>
          <a:bodyPr/>
          <a:lstStyle/>
          <a:p>
            <a:endParaRPr lang="ko-KR" altLang="en-US"/>
          </a:p>
        </p:txBody>
      </p:sp>
      <p:sp>
        <p:nvSpPr>
          <p:cNvPr id="65" name="Shape 62"/>
          <p:cNvSpPr/>
          <p:nvPr/>
        </p:nvSpPr>
        <p:spPr>
          <a:xfrm>
            <a:off x="10189769"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66" name="Shape 63"/>
          <p:cNvSpPr/>
          <p:nvPr/>
        </p:nvSpPr>
        <p:spPr>
          <a:xfrm>
            <a:off x="10281209" y="3401568"/>
            <a:ext cx="585216" cy="310896"/>
          </a:xfrm>
          <a:prstGeom prst="roundRect">
            <a:avLst>
              <a:gd name="adj" fmla="val 45000"/>
            </a:avLst>
          </a:prstGeom>
          <a:solidFill>
            <a:srgbClr val="FFFFFF"/>
          </a:solidFill>
          <a:ln w="12700">
            <a:solidFill>
              <a:srgbClr val="2E74C6"/>
            </a:solidFill>
            <a:prstDash val="solid"/>
          </a:ln>
        </p:spPr>
        <p:txBody>
          <a:bodyPr/>
          <a:lstStyle/>
          <a:p>
            <a:endParaRPr lang="ko-KR" altLang="en-US"/>
          </a:p>
        </p:txBody>
      </p:sp>
      <p:sp>
        <p:nvSpPr>
          <p:cNvPr id="67" name="Text 64"/>
          <p:cNvSpPr txBox="1"/>
          <p:nvPr/>
        </p:nvSpPr>
        <p:spPr>
          <a:xfrm>
            <a:off x="10281209" y="3401568"/>
            <a:ext cx="585216" cy="310896"/>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선택</a:t>
            </a:r>
            <a:endParaRPr lang="en-US" sz="1400" dirty="0"/>
          </a:p>
        </p:txBody>
      </p:sp>
      <p:sp>
        <p:nvSpPr>
          <p:cNvPr id="68" name="Text 65"/>
          <p:cNvSpPr txBox="1"/>
          <p:nvPr/>
        </p:nvSpPr>
        <p:spPr>
          <a:xfrm>
            <a:off x="10189769"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사전요약</a:t>
            </a:r>
            <a:endParaRPr lang="en-US" sz="1700" dirty="0"/>
          </a:p>
          <a:p>
            <a:pPr marL="0" indent="0" algn="ctr">
              <a:spcAft>
                <a:spcPts val="200"/>
              </a:spcAft>
              <a:buNone/>
            </a:pPr>
            <a:r>
              <a:rPr lang="en-US" sz="1400" dirty="0" err="1">
                <a:solidFill>
                  <a:srgbClr val="4A5364"/>
                </a:solidFill>
                <a:latin typeface="Pretendard" pitchFamily="34" charset="0"/>
                <a:ea typeface="Pretendard" pitchFamily="34" charset="-122"/>
                <a:cs typeface="Pretendard" pitchFamily="34" charset="-120"/>
              </a:rPr>
              <a:t>커뮤니티</a:t>
            </a:r>
            <a:r>
              <a:rPr lang="en-US" sz="1400" dirty="0">
                <a:solidFill>
                  <a:srgbClr val="4A5364"/>
                </a:solidFill>
                <a:latin typeface="Pretendard" pitchFamily="34" charset="0"/>
                <a:ea typeface="Pretendard" pitchFamily="34" charset="-122"/>
                <a:cs typeface="Pretendard" pitchFamily="34" charset="-120"/>
              </a:rPr>
              <a:t> 요약</a:t>
            </a:r>
            <a:r>
              <a:rPr lang="en-US" sz="1400" baseline="30000" dirty="0">
                <a:solidFill>
                  <a:srgbClr val="4A5364"/>
                </a:solidFill>
                <a:latin typeface="Pretendard" pitchFamily="34" charset="0"/>
                <a:ea typeface="Pretendard" pitchFamily="34" charset="-122"/>
                <a:cs typeface="Pretendard" pitchFamily="34" charset="-120"/>
              </a:rPr>
              <a:t>1)</a:t>
            </a:r>
            <a:endParaRPr lang="en-US" sz="1700" baseline="30000" dirty="0"/>
          </a:p>
        </p:txBody>
      </p:sp>
      <p:sp>
        <p:nvSpPr>
          <p:cNvPr id="69" name="Shape 66"/>
          <p:cNvSpPr/>
          <p:nvPr/>
        </p:nvSpPr>
        <p:spPr>
          <a:xfrm>
            <a:off x="9961169" y="3950208"/>
            <a:ext cx="201168" cy="0"/>
          </a:xfrm>
          <a:prstGeom prst="line">
            <a:avLst/>
          </a:prstGeom>
          <a:noFill/>
          <a:ln w="22225">
            <a:solidFill>
              <a:srgbClr val="4A5364"/>
            </a:solidFill>
            <a:prstDash val="solid"/>
            <a:tailEnd type="triangle"/>
          </a:ln>
        </p:spPr>
        <p:txBody>
          <a:bodyPr/>
          <a:lstStyle/>
          <a:p>
            <a:endParaRPr lang="ko-KR" altLang="en-US"/>
          </a:p>
        </p:txBody>
      </p:sp>
      <p:sp>
        <p:nvSpPr>
          <p:cNvPr id="70" name="Shape 67"/>
          <p:cNvSpPr/>
          <p:nvPr/>
        </p:nvSpPr>
        <p:spPr>
          <a:xfrm>
            <a:off x="11589817"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71" name="Shape 68"/>
          <p:cNvSpPr/>
          <p:nvPr/>
        </p:nvSpPr>
        <p:spPr>
          <a:xfrm>
            <a:off x="11681257" y="3401568"/>
            <a:ext cx="347472" cy="347472"/>
          </a:xfrm>
          <a:prstGeom prst="roundRect">
            <a:avLst>
              <a:gd name="adj" fmla="val 13158"/>
            </a:avLst>
          </a:prstGeom>
          <a:solidFill>
            <a:srgbClr val="2E74C6"/>
          </a:solidFill>
          <a:ln/>
        </p:spPr>
        <p:txBody>
          <a:bodyPr/>
          <a:lstStyle/>
          <a:p>
            <a:endParaRPr lang="ko-KR" altLang="en-US"/>
          </a:p>
        </p:txBody>
      </p:sp>
      <p:sp>
        <p:nvSpPr>
          <p:cNvPr id="72" name="Text 69"/>
          <p:cNvSpPr txBox="1"/>
          <p:nvPr/>
        </p:nvSpPr>
        <p:spPr>
          <a:xfrm>
            <a:off x="11681257" y="340156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6</a:t>
            </a:r>
            <a:endParaRPr lang="en-US" sz="1600" dirty="0"/>
          </a:p>
        </p:txBody>
      </p:sp>
      <p:sp>
        <p:nvSpPr>
          <p:cNvPr id="73" name="Text 70"/>
          <p:cNvSpPr txBox="1"/>
          <p:nvPr/>
        </p:nvSpPr>
        <p:spPr>
          <a:xfrm>
            <a:off x="11589817"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임베딩</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청크 +</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노드 설명</a:t>
            </a:r>
            <a:endParaRPr lang="en-US" sz="1700" dirty="0"/>
          </a:p>
        </p:txBody>
      </p:sp>
      <p:sp>
        <p:nvSpPr>
          <p:cNvPr id="74" name="Shape 71"/>
          <p:cNvSpPr/>
          <p:nvPr/>
        </p:nvSpPr>
        <p:spPr>
          <a:xfrm>
            <a:off x="11361217" y="3950208"/>
            <a:ext cx="201168" cy="0"/>
          </a:xfrm>
          <a:prstGeom prst="line">
            <a:avLst/>
          </a:prstGeom>
          <a:noFill/>
          <a:ln w="22225">
            <a:solidFill>
              <a:srgbClr val="4A5364"/>
            </a:solidFill>
            <a:prstDash val="solid"/>
            <a:tailEnd type="triangle"/>
          </a:ln>
        </p:spPr>
        <p:txBody>
          <a:bodyPr/>
          <a:lstStyle/>
          <a:p>
            <a:endParaRPr lang="ko-KR" altLang="en-US"/>
          </a:p>
        </p:txBody>
      </p:sp>
      <p:sp>
        <p:nvSpPr>
          <p:cNvPr id="75" name="Shape 72"/>
          <p:cNvSpPr/>
          <p:nvPr/>
        </p:nvSpPr>
        <p:spPr>
          <a:xfrm>
            <a:off x="12989865" y="3310128"/>
            <a:ext cx="1144016" cy="1280160"/>
          </a:xfrm>
          <a:prstGeom prst="roundRect">
            <a:avLst>
              <a:gd name="adj" fmla="val 6394"/>
            </a:avLst>
          </a:prstGeom>
          <a:solidFill>
            <a:srgbClr val="EEF3FA"/>
          </a:solidFill>
          <a:ln w="19050">
            <a:solidFill>
              <a:srgbClr val="2E74C6"/>
            </a:solidFill>
            <a:prstDash val="solid"/>
          </a:ln>
        </p:spPr>
        <p:txBody>
          <a:bodyPr/>
          <a:lstStyle/>
          <a:p>
            <a:endParaRPr lang="ko-KR" altLang="en-US"/>
          </a:p>
        </p:txBody>
      </p:sp>
      <p:sp>
        <p:nvSpPr>
          <p:cNvPr id="76" name="Shape 73"/>
          <p:cNvSpPr/>
          <p:nvPr/>
        </p:nvSpPr>
        <p:spPr>
          <a:xfrm>
            <a:off x="13081305" y="3401568"/>
            <a:ext cx="347472" cy="347472"/>
          </a:xfrm>
          <a:prstGeom prst="roundRect">
            <a:avLst>
              <a:gd name="adj" fmla="val 13158"/>
            </a:avLst>
          </a:prstGeom>
          <a:solidFill>
            <a:srgbClr val="2E74C6"/>
          </a:solidFill>
          <a:ln/>
        </p:spPr>
        <p:txBody>
          <a:bodyPr/>
          <a:lstStyle/>
          <a:p>
            <a:endParaRPr lang="ko-KR" altLang="en-US"/>
          </a:p>
        </p:txBody>
      </p:sp>
      <p:sp>
        <p:nvSpPr>
          <p:cNvPr id="77" name="Text 74"/>
          <p:cNvSpPr txBox="1"/>
          <p:nvPr/>
        </p:nvSpPr>
        <p:spPr>
          <a:xfrm>
            <a:off x="13081305" y="340156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7</a:t>
            </a:r>
            <a:endParaRPr lang="en-US" sz="1600" dirty="0"/>
          </a:p>
        </p:txBody>
      </p:sp>
      <p:sp>
        <p:nvSpPr>
          <p:cNvPr id="78" name="Text 75"/>
          <p:cNvSpPr txBox="1"/>
          <p:nvPr/>
        </p:nvSpPr>
        <p:spPr>
          <a:xfrm>
            <a:off x="12989865" y="3730752"/>
            <a:ext cx="1144016" cy="804672"/>
          </a:xfrm>
          <a:prstGeom prst="rect">
            <a:avLst/>
          </a:prstGeom>
          <a:noFill/>
          <a:ln/>
        </p:spPr>
        <p:txBody>
          <a:bodyPr wrap="square" lIns="381" tIns="381" rIns="381" bIns="381" rtlCol="0" anchor="ctr"/>
          <a:lstStyle/>
          <a:p>
            <a:pPr marL="0" indent="0" algn="ctr">
              <a:spcAft>
                <a:spcPts val="200"/>
              </a:spcAft>
              <a:buNone/>
            </a:pPr>
            <a:r>
              <a:rPr lang="en-US" sz="1700" b="1" dirty="0">
                <a:solidFill>
                  <a:srgbClr val="1E2A5C"/>
                </a:solidFill>
                <a:latin typeface="Pretendard" pitchFamily="34" charset="0"/>
                <a:ea typeface="Pretendard" pitchFamily="34" charset="-122"/>
                <a:cs typeface="Pretendard" pitchFamily="34" charset="-120"/>
              </a:rPr>
              <a:t>적재</a:t>
            </a:r>
            <a:endParaRPr lang="en-US" sz="17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KG + 벡터</a:t>
            </a:r>
            <a:endParaRPr lang="en-US" sz="1700" dirty="0"/>
          </a:p>
        </p:txBody>
      </p:sp>
      <p:sp>
        <p:nvSpPr>
          <p:cNvPr id="79" name="Shape 76"/>
          <p:cNvSpPr/>
          <p:nvPr/>
        </p:nvSpPr>
        <p:spPr>
          <a:xfrm>
            <a:off x="12761265" y="3950208"/>
            <a:ext cx="201168" cy="0"/>
          </a:xfrm>
          <a:prstGeom prst="line">
            <a:avLst/>
          </a:prstGeom>
          <a:noFill/>
          <a:ln w="22225">
            <a:solidFill>
              <a:srgbClr val="4A5364"/>
            </a:solidFill>
            <a:prstDash val="solid"/>
            <a:tailEnd type="triangle"/>
          </a:ln>
        </p:spPr>
        <p:txBody>
          <a:bodyPr/>
          <a:lstStyle/>
          <a:p>
            <a:endParaRPr lang="ko-KR" altLang="en-US"/>
          </a:p>
        </p:txBody>
      </p:sp>
      <p:sp>
        <p:nvSpPr>
          <p:cNvPr id="80" name="Shape 77"/>
          <p:cNvSpPr/>
          <p:nvPr/>
        </p:nvSpPr>
        <p:spPr>
          <a:xfrm>
            <a:off x="509321" y="4663440"/>
            <a:ext cx="1143000" cy="347472"/>
          </a:xfrm>
          <a:prstGeom prst="roundRect">
            <a:avLst>
              <a:gd name="adj" fmla="val 21053"/>
            </a:avLst>
          </a:prstGeom>
          <a:solidFill>
            <a:srgbClr val="FFFFFF"/>
          </a:solidFill>
          <a:ln w="12700">
            <a:solidFill>
              <a:srgbClr val="C3CEE0"/>
            </a:solidFill>
            <a:prstDash val="solid"/>
          </a:ln>
        </p:spPr>
        <p:txBody>
          <a:bodyPr/>
          <a:lstStyle/>
          <a:p>
            <a:endParaRPr lang="ko-KR" altLang="en-US"/>
          </a:p>
        </p:txBody>
      </p:sp>
      <p:sp>
        <p:nvSpPr>
          <p:cNvPr id="81" name="Text 78"/>
          <p:cNvSpPr txBox="1"/>
          <p:nvPr/>
        </p:nvSpPr>
        <p:spPr>
          <a:xfrm>
            <a:off x="509321" y="4663440"/>
            <a:ext cx="1143000" cy="347472"/>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누가 하나</a:t>
            </a:r>
            <a:endParaRPr lang="en-US" sz="1500" dirty="0"/>
          </a:p>
        </p:txBody>
      </p:sp>
      <p:sp>
        <p:nvSpPr>
          <p:cNvPr id="82" name="Shape 79"/>
          <p:cNvSpPr/>
          <p:nvPr/>
        </p:nvSpPr>
        <p:spPr>
          <a:xfrm>
            <a:off x="1789481" y="4663440"/>
            <a:ext cx="1144016" cy="347472"/>
          </a:xfrm>
          <a:prstGeom prst="roundRect">
            <a:avLst>
              <a:gd name="adj" fmla="val 45000"/>
            </a:avLst>
          </a:prstGeom>
          <a:solidFill>
            <a:srgbClr val="FFFFFF"/>
          </a:solidFill>
          <a:ln w="12700">
            <a:solidFill>
              <a:srgbClr val="C3CEE0"/>
            </a:solidFill>
            <a:prstDash val="solid"/>
          </a:ln>
        </p:spPr>
        <p:txBody>
          <a:bodyPr/>
          <a:lstStyle/>
          <a:p>
            <a:endParaRPr lang="ko-KR" altLang="en-US"/>
          </a:p>
        </p:txBody>
      </p:sp>
      <p:sp>
        <p:nvSpPr>
          <p:cNvPr id="83" name="Text 80"/>
          <p:cNvSpPr txBox="1"/>
          <p:nvPr/>
        </p:nvSpPr>
        <p:spPr>
          <a:xfrm>
            <a:off x="1789481"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84" name="Shape 81"/>
          <p:cNvSpPr/>
          <p:nvPr/>
        </p:nvSpPr>
        <p:spPr>
          <a:xfrm>
            <a:off x="3189529" y="4663440"/>
            <a:ext cx="1144016" cy="347472"/>
          </a:xfrm>
          <a:prstGeom prst="roundRect">
            <a:avLst>
              <a:gd name="adj" fmla="val 45000"/>
            </a:avLst>
          </a:prstGeom>
          <a:solidFill>
            <a:srgbClr val="FFFFFF"/>
          </a:solidFill>
          <a:ln w="12700">
            <a:solidFill>
              <a:srgbClr val="C3CEE0"/>
            </a:solidFill>
            <a:prstDash val="solid"/>
          </a:ln>
        </p:spPr>
        <p:txBody>
          <a:bodyPr/>
          <a:lstStyle/>
          <a:p>
            <a:endParaRPr lang="ko-KR" altLang="en-US"/>
          </a:p>
        </p:txBody>
      </p:sp>
      <p:sp>
        <p:nvSpPr>
          <p:cNvPr id="85" name="Text 82"/>
          <p:cNvSpPr txBox="1"/>
          <p:nvPr/>
        </p:nvSpPr>
        <p:spPr>
          <a:xfrm>
            <a:off x="3189529"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86" name="Shape 83"/>
          <p:cNvSpPr/>
          <p:nvPr/>
        </p:nvSpPr>
        <p:spPr>
          <a:xfrm>
            <a:off x="4589577" y="4663440"/>
            <a:ext cx="1144016" cy="347472"/>
          </a:xfrm>
          <a:prstGeom prst="roundRect">
            <a:avLst>
              <a:gd name="adj" fmla="val 45000"/>
            </a:avLst>
          </a:prstGeom>
          <a:solidFill>
            <a:srgbClr val="FFFFFF"/>
          </a:solidFill>
          <a:ln w="12700">
            <a:solidFill>
              <a:srgbClr val="C3CEE0"/>
            </a:solidFill>
            <a:prstDash val="solid"/>
          </a:ln>
        </p:spPr>
        <p:txBody>
          <a:bodyPr/>
          <a:lstStyle/>
          <a:p>
            <a:endParaRPr lang="ko-KR" altLang="en-US"/>
          </a:p>
        </p:txBody>
      </p:sp>
      <p:sp>
        <p:nvSpPr>
          <p:cNvPr id="87" name="Text 84"/>
          <p:cNvSpPr txBox="1"/>
          <p:nvPr/>
        </p:nvSpPr>
        <p:spPr>
          <a:xfrm>
            <a:off x="4589577"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88" name="Shape 85"/>
          <p:cNvSpPr/>
          <p:nvPr/>
        </p:nvSpPr>
        <p:spPr>
          <a:xfrm>
            <a:off x="5989625" y="4663440"/>
            <a:ext cx="1144016" cy="347472"/>
          </a:xfrm>
          <a:prstGeom prst="roundRect">
            <a:avLst>
              <a:gd name="adj" fmla="val 45000"/>
            </a:avLst>
          </a:prstGeom>
          <a:solidFill>
            <a:srgbClr val="2E74C6"/>
          </a:solidFill>
          <a:ln/>
        </p:spPr>
        <p:txBody>
          <a:bodyPr/>
          <a:lstStyle/>
          <a:p>
            <a:endParaRPr lang="ko-KR" altLang="en-US"/>
          </a:p>
        </p:txBody>
      </p:sp>
      <p:sp>
        <p:nvSpPr>
          <p:cNvPr id="89" name="Text 86"/>
          <p:cNvSpPr txBox="1"/>
          <p:nvPr/>
        </p:nvSpPr>
        <p:spPr>
          <a:xfrm>
            <a:off x="5989625"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LLM</a:t>
            </a:r>
            <a:endParaRPr lang="en-US" sz="1400" dirty="0"/>
          </a:p>
        </p:txBody>
      </p:sp>
      <p:sp>
        <p:nvSpPr>
          <p:cNvPr id="90" name="Shape 87"/>
          <p:cNvSpPr/>
          <p:nvPr/>
        </p:nvSpPr>
        <p:spPr>
          <a:xfrm>
            <a:off x="7389673" y="4663440"/>
            <a:ext cx="1144016" cy="347472"/>
          </a:xfrm>
          <a:prstGeom prst="roundRect">
            <a:avLst>
              <a:gd name="adj" fmla="val 45000"/>
            </a:avLst>
          </a:prstGeom>
          <a:solidFill>
            <a:srgbClr val="EEF3FA"/>
          </a:solidFill>
          <a:ln w="12700">
            <a:solidFill>
              <a:srgbClr val="2E74C6"/>
            </a:solidFill>
            <a:prstDash val="solid"/>
          </a:ln>
        </p:spPr>
        <p:txBody>
          <a:bodyPr/>
          <a:lstStyle/>
          <a:p>
            <a:endParaRPr lang="ko-KR" altLang="en-US"/>
          </a:p>
        </p:txBody>
      </p:sp>
      <p:sp>
        <p:nvSpPr>
          <p:cNvPr id="91" name="Text 88"/>
          <p:cNvSpPr txBox="1"/>
          <p:nvPr/>
        </p:nvSpPr>
        <p:spPr>
          <a:xfrm>
            <a:off x="7389673"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코드 + LLM</a:t>
            </a:r>
            <a:endParaRPr lang="en-US" sz="1400" dirty="0"/>
          </a:p>
        </p:txBody>
      </p:sp>
      <p:sp>
        <p:nvSpPr>
          <p:cNvPr id="92" name="Shape 89"/>
          <p:cNvSpPr/>
          <p:nvPr/>
        </p:nvSpPr>
        <p:spPr>
          <a:xfrm>
            <a:off x="8789721" y="4663440"/>
            <a:ext cx="1144016" cy="347472"/>
          </a:xfrm>
          <a:prstGeom prst="roundRect">
            <a:avLst>
              <a:gd name="adj" fmla="val 45000"/>
            </a:avLst>
          </a:prstGeom>
          <a:solidFill>
            <a:srgbClr val="FFFFFF"/>
          </a:solidFill>
          <a:ln w="12700">
            <a:solidFill>
              <a:srgbClr val="C3CEE0"/>
            </a:solidFill>
            <a:prstDash val="solid"/>
          </a:ln>
        </p:spPr>
        <p:txBody>
          <a:bodyPr/>
          <a:lstStyle/>
          <a:p>
            <a:endParaRPr lang="ko-KR" altLang="en-US"/>
          </a:p>
        </p:txBody>
      </p:sp>
      <p:sp>
        <p:nvSpPr>
          <p:cNvPr id="93" name="Text 90"/>
          <p:cNvSpPr txBox="1"/>
          <p:nvPr/>
        </p:nvSpPr>
        <p:spPr>
          <a:xfrm>
            <a:off x="8789721"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94" name="Shape 91"/>
          <p:cNvSpPr/>
          <p:nvPr/>
        </p:nvSpPr>
        <p:spPr>
          <a:xfrm>
            <a:off x="10189769" y="4663440"/>
            <a:ext cx="1144016" cy="347472"/>
          </a:xfrm>
          <a:prstGeom prst="roundRect">
            <a:avLst>
              <a:gd name="adj" fmla="val 45000"/>
            </a:avLst>
          </a:prstGeom>
          <a:solidFill>
            <a:srgbClr val="EEF3FA"/>
          </a:solidFill>
          <a:ln w="12700">
            <a:solidFill>
              <a:srgbClr val="2E74C6"/>
            </a:solidFill>
            <a:prstDash val="solid"/>
          </a:ln>
        </p:spPr>
        <p:txBody>
          <a:bodyPr/>
          <a:lstStyle/>
          <a:p>
            <a:endParaRPr lang="ko-KR" altLang="en-US"/>
          </a:p>
        </p:txBody>
      </p:sp>
      <p:sp>
        <p:nvSpPr>
          <p:cNvPr id="95" name="Text 92"/>
          <p:cNvSpPr txBox="1"/>
          <p:nvPr/>
        </p:nvSpPr>
        <p:spPr>
          <a:xfrm>
            <a:off x="10189769"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코드 + LLM</a:t>
            </a:r>
            <a:endParaRPr lang="en-US" sz="1400" dirty="0"/>
          </a:p>
        </p:txBody>
      </p:sp>
      <p:sp>
        <p:nvSpPr>
          <p:cNvPr id="96" name="Shape 93"/>
          <p:cNvSpPr/>
          <p:nvPr/>
        </p:nvSpPr>
        <p:spPr>
          <a:xfrm>
            <a:off x="11589817" y="4663440"/>
            <a:ext cx="1144016" cy="347472"/>
          </a:xfrm>
          <a:prstGeom prst="roundRect">
            <a:avLst>
              <a:gd name="adj" fmla="val 45000"/>
            </a:avLst>
          </a:prstGeom>
          <a:solidFill>
            <a:srgbClr val="1E2A5C"/>
          </a:solidFill>
          <a:ln/>
        </p:spPr>
        <p:txBody>
          <a:bodyPr/>
          <a:lstStyle/>
          <a:p>
            <a:endParaRPr lang="ko-KR" altLang="en-US"/>
          </a:p>
        </p:txBody>
      </p:sp>
      <p:sp>
        <p:nvSpPr>
          <p:cNvPr id="97" name="Text 94"/>
          <p:cNvSpPr txBox="1"/>
          <p:nvPr/>
        </p:nvSpPr>
        <p:spPr>
          <a:xfrm>
            <a:off x="11589817"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임베딩 모델</a:t>
            </a:r>
            <a:endParaRPr lang="en-US" sz="1400" dirty="0"/>
          </a:p>
        </p:txBody>
      </p:sp>
      <p:sp>
        <p:nvSpPr>
          <p:cNvPr id="98" name="Shape 95"/>
          <p:cNvSpPr/>
          <p:nvPr/>
        </p:nvSpPr>
        <p:spPr>
          <a:xfrm>
            <a:off x="12989865" y="4663440"/>
            <a:ext cx="1144016" cy="347472"/>
          </a:xfrm>
          <a:prstGeom prst="roundRect">
            <a:avLst>
              <a:gd name="adj" fmla="val 45000"/>
            </a:avLst>
          </a:prstGeom>
          <a:solidFill>
            <a:srgbClr val="FFFFFF"/>
          </a:solidFill>
          <a:ln w="12700">
            <a:solidFill>
              <a:srgbClr val="C3CEE0"/>
            </a:solidFill>
            <a:prstDash val="solid"/>
          </a:ln>
        </p:spPr>
        <p:txBody>
          <a:bodyPr/>
          <a:lstStyle/>
          <a:p>
            <a:endParaRPr lang="ko-KR" altLang="en-US"/>
          </a:p>
        </p:txBody>
      </p:sp>
      <p:sp>
        <p:nvSpPr>
          <p:cNvPr id="99" name="Text 96"/>
          <p:cNvSpPr txBox="1"/>
          <p:nvPr/>
        </p:nvSpPr>
        <p:spPr>
          <a:xfrm>
            <a:off x="12989865" y="4663440"/>
            <a:ext cx="1144016" cy="347472"/>
          </a:xfrm>
          <a:prstGeom prst="rect">
            <a:avLst/>
          </a:prstGeom>
          <a:noFill/>
          <a:ln/>
        </p:spPr>
        <p:txBody>
          <a:bodyPr wrap="square" lIns="1016" tIns="1016" rIns="1016" bIns="1016"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100" name="Shape 97"/>
          <p:cNvSpPr/>
          <p:nvPr/>
        </p:nvSpPr>
        <p:spPr>
          <a:xfrm>
            <a:off x="1789481" y="5084064"/>
            <a:ext cx="3944112"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101" name="Text 98"/>
          <p:cNvSpPr txBox="1"/>
          <p:nvPr/>
        </p:nvSpPr>
        <p:spPr>
          <a:xfrm>
            <a:off x="1789481" y="5084064"/>
            <a:ext cx="3944112" cy="749808"/>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청크(글 조각) — 벡터DB와 같음</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이름·연락처 같은 개인정보는 가명으로</a:t>
            </a:r>
            <a:endParaRPr lang="en-US" sz="1400" dirty="0"/>
          </a:p>
        </p:txBody>
      </p:sp>
      <p:sp>
        <p:nvSpPr>
          <p:cNvPr id="102" name="Shape 99"/>
          <p:cNvSpPr/>
          <p:nvPr/>
        </p:nvSpPr>
        <p:spPr>
          <a:xfrm>
            <a:off x="5989625" y="5084064"/>
            <a:ext cx="2544064"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103" name="Text 100"/>
          <p:cNvSpPr txBox="1"/>
          <p:nvPr/>
        </p:nvSpPr>
        <p:spPr>
          <a:xfrm>
            <a:off x="5989625" y="5084064"/>
            <a:ext cx="2544064" cy="749808"/>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(A사) ─출시→ (B카드)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같은 이름 합침, 설명은 LLM 요약</a:t>
            </a:r>
            <a:endParaRPr lang="en-US" sz="1400" dirty="0"/>
          </a:p>
        </p:txBody>
      </p:sp>
      <p:sp>
        <p:nvSpPr>
          <p:cNvPr id="104" name="Shape 101"/>
          <p:cNvSpPr/>
          <p:nvPr/>
        </p:nvSpPr>
        <p:spPr>
          <a:xfrm>
            <a:off x="8789721" y="5084064"/>
            <a:ext cx="2544064"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105" name="Text 102"/>
          <p:cNvSpPr txBox="1"/>
          <p:nvPr/>
        </p:nvSpPr>
        <p:spPr>
          <a:xfrm>
            <a:off x="8789721" y="5084064"/>
            <a:ext cx="2544064" cy="749808"/>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노드·관계 연결망(KG) 완성</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묶기는 알고리즘, 요약은 LLM</a:t>
            </a:r>
            <a:endParaRPr lang="en-US" sz="1400" dirty="0"/>
          </a:p>
        </p:txBody>
      </p:sp>
      <p:sp>
        <p:nvSpPr>
          <p:cNvPr id="106" name="Shape 103"/>
          <p:cNvSpPr/>
          <p:nvPr/>
        </p:nvSpPr>
        <p:spPr>
          <a:xfrm>
            <a:off x="11589817" y="5084064"/>
            <a:ext cx="2544064"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107" name="Text 104"/>
          <p:cNvSpPr txBox="1"/>
          <p:nvPr/>
        </p:nvSpPr>
        <p:spPr>
          <a:xfrm>
            <a:off x="11589817" y="5084064"/>
            <a:ext cx="2544064" cy="749808"/>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임베딩: 청크 + 노드 설명</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(관계 연결은 임베딩 안 함)</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적재: KG + 벡터 함께 저장</a:t>
            </a:r>
            <a:endParaRPr lang="en-US" sz="1400" dirty="0"/>
          </a:p>
        </p:txBody>
      </p:sp>
      <p:sp>
        <p:nvSpPr>
          <p:cNvPr id="108" name="Shape 105"/>
          <p:cNvSpPr/>
          <p:nvPr/>
        </p:nvSpPr>
        <p:spPr>
          <a:xfrm>
            <a:off x="509321" y="5943600"/>
            <a:ext cx="4419600" cy="1325880"/>
          </a:xfrm>
          <a:prstGeom prst="roundRect">
            <a:avLst>
              <a:gd name="adj" fmla="val 5517"/>
            </a:avLst>
          </a:prstGeom>
          <a:solidFill>
            <a:srgbClr val="FFFFFF"/>
          </a:solidFill>
          <a:ln w="12700">
            <a:solidFill>
              <a:srgbClr val="D9E0EC"/>
            </a:solidFill>
            <a:prstDash val="solid"/>
          </a:ln>
        </p:spPr>
        <p:txBody>
          <a:bodyPr/>
          <a:lstStyle/>
          <a:p>
            <a:endParaRPr lang="ko-KR" altLang="en-US"/>
          </a:p>
        </p:txBody>
      </p:sp>
      <p:sp>
        <p:nvSpPr>
          <p:cNvPr id="109" name="Shape 106"/>
          <p:cNvSpPr/>
          <p:nvPr/>
        </p:nvSpPr>
        <p:spPr>
          <a:xfrm>
            <a:off x="646481" y="6071616"/>
            <a:ext cx="347472" cy="347472"/>
          </a:xfrm>
          <a:prstGeom prst="roundRect">
            <a:avLst>
              <a:gd name="adj" fmla="val 13158"/>
            </a:avLst>
          </a:prstGeom>
          <a:solidFill>
            <a:srgbClr val="2E74C6"/>
          </a:solidFill>
          <a:ln/>
        </p:spPr>
        <p:txBody>
          <a:bodyPr/>
          <a:lstStyle/>
          <a:p>
            <a:endParaRPr lang="ko-KR" altLang="en-US"/>
          </a:p>
        </p:txBody>
      </p:sp>
      <p:sp>
        <p:nvSpPr>
          <p:cNvPr id="110" name="Text 107"/>
          <p:cNvSpPr txBox="1"/>
          <p:nvPr/>
        </p:nvSpPr>
        <p:spPr>
          <a:xfrm>
            <a:off x="646481" y="607161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111" name="Text 108"/>
          <p:cNvSpPr txBox="1"/>
          <p:nvPr/>
        </p:nvSpPr>
        <p:spPr>
          <a:xfrm>
            <a:off x="1076249" y="6053328"/>
            <a:ext cx="3733800" cy="384048"/>
          </a:xfrm>
          <a:prstGeom prst="rect">
            <a:avLst/>
          </a:prstGeom>
          <a:noFill/>
          <a:ln/>
        </p:spPr>
        <p:txBody>
          <a:bodyPr wrap="square" lIns="762" tIns="762" rIns="762" bIns="762" rtlCol="0" anchor="ctr"/>
          <a:lstStyle/>
          <a:p>
            <a:pPr marL="0" indent="0" algn="l">
              <a:buNone/>
            </a:pPr>
            <a:r>
              <a:rPr lang="en-US" sz="1700" b="1" dirty="0">
                <a:solidFill>
                  <a:srgbClr val="1E2A5C"/>
                </a:solidFill>
                <a:latin typeface="Pretendard" pitchFamily="34" charset="0"/>
                <a:ea typeface="Pretendard" pitchFamily="34" charset="-122"/>
                <a:cs typeface="Pretendard" pitchFamily="34" charset="-120"/>
              </a:rPr>
              <a:t>글을 무엇으로 바꾸나</a:t>
            </a:r>
            <a:endParaRPr lang="en-US" sz="1700" dirty="0"/>
          </a:p>
        </p:txBody>
      </p:sp>
      <p:sp>
        <p:nvSpPr>
          <p:cNvPr id="112" name="Shape 109"/>
          <p:cNvSpPr/>
          <p:nvPr/>
        </p:nvSpPr>
        <p:spPr>
          <a:xfrm>
            <a:off x="646481" y="6492240"/>
            <a:ext cx="987552"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13" name="Text 110"/>
          <p:cNvSpPr txBox="1"/>
          <p:nvPr/>
        </p:nvSpPr>
        <p:spPr>
          <a:xfrm>
            <a:off x="646481" y="6492240"/>
            <a:ext cx="987552"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벡터DB</a:t>
            </a:r>
            <a:endParaRPr lang="en-US" sz="1400" dirty="0"/>
          </a:p>
        </p:txBody>
      </p:sp>
      <p:sp>
        <p:nvSpPr>
          <p:cNvPr id="114" name="Text 111"/>
          <p:cNvSpPr txBox="1"/>
          <p:nvPr/>
        </p:nvSpPr>
        <p:spPr>
          <a:xfrm>
            <a:off x="1725473" y="6473952"/>
            <a:ext cx="3112008" cy="384048"/>
          </a:xfrm>
          <a:prstGeom prst="rect">
            <a:avLst/>
          </a:prstGeom>
          <a:noFill/>
          <a:ln/>
        </p:spPr>
        <p:txBody>
          <a:bodyPr wrap="square" lIns="762" tIns="762" rIns="762" bIns="762" rtlCol="0" anchor="ctr"/>
          <a:lstStyle/>
          <a:p>
            <a:pPr marL="0" indent="0" algn="l">
              <a:buNone/>
            </a:pPr>
            <a:r>
              <a:rPr lang="en-US" sz="1500" dirty="0">
                <a:solidFill>
                  <a:srgbClr val="3B4557"/>
                </a:solidFill>
                <a:latin typeface="Pretendard" pitchFamily="34" charset="0"/>
                <a:ea typeface="Pretendard" pitchFamily="34" charset="-122"/>
                <a:cs typeface="Pretendard" pitchFamily="34" charset="-120"/>
              </a:rPr>
              <a:t>숫자 벡터 → 뜻이 비슷한 글 찾기</a:t>
            </a:r>
            <a:endParaRPr lang="en-US" sz="1500" dirty="0"/>
          </a:p>
        </p:txBody>
      </p:sp>
      <p:sp>
        <p:nvSpPr>
          <p:cNvPr id="115" name="Shape 112"/>
          <p:cNvSpPr/>
          <p:nvPr/>
        </p:nvSpPr>
        <p:spPr>
          <a:xfrm>
            <a:off x="646481" y="6894576"/>
            <a:ext cx="987552" cy="329184"/>
          </a:xfrm>
          <a:prstGeom prst="roundRect">
            <a:avLst>
              <a:gd name="adj" fmla="val 45000"/>
            </a:avLst>
          </a:prstGeom>
          <a:solidFill>
            <a:srgbClr val="2E74C6"/>
          </a:solidFill>
          <a:ln/>
        </p:spPr>
        <p:txBody>
          <a:bodyPr/>
          <a:lstStyle/>
          <a:p>
            <a:endParaRPr lang="ko-KR" altLang="en-US"/>
          </a:p>
        </p:txBody>
      </p:sp>
      <p:sp>
        <p:nvSpPr>
          <p:cNvPr id="116" name="Text 113"/>
          <p:cNvSpPr txBox="1"/>
          <p:nvPr/>
        </p:nvSpPr>
        <p:spPr>
          <a:xfrm>
            <a:off x="646481" y="6894576"/>
            <a:ext cx="987552"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그래프DB</a:t>
            </a:r>
            <a:endParaRPr lang="en-US" sz="1400" dirty="0"/>
          </a:p>
        </p:txBody>
      </p:sp>
      <p:sp>
        <p:nvSpPr>
          <p:cNvPr id="117" name="Text 114"/>
          <p:cNvSpPr txBox="1"/>
          <p:nvPr/>
        </p:nvSpPr>
        <p:spPr>
          <a:xfrm>
            <a:off x="1725473" y="6876288"/>
            <a:ext cx="3112008" cy="384048"/>
          </a:xfrm>
          <a:prstGeom prst="rect">
            <a:avLst/>
          </a:prstGeom>
          <a:noFill/>
          <a:ln/>
        </p:spPr>
        <p:txBody>
          <a:bodyPr wrap="square" lIns="762" tIns="762" rIns="762" bIns="762"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노드·관계 → 누가 누구와 이어지나</a:t>
            </a:r>
            <a:endParaRPr lang="en-US" sz="1500" dirty="0"/>
          </a:p>
        </p:txBody>
      </p:sp>
      <p:sp>
        <p:nvSpPr>
          <p:cNvPr id="118" name="Shape 115"/>
          <p:cNvSpPr/>
          <p:nvPr/>
        </p:nvSpPr>
        <p:spPr>
          <a:xfrm>
            <a:off x="5111801" y="5943600"/>
            <a:ext cx="4419600" cy="1325880"/>
          </a:xfrm>
          <a:prstGeom prst="roundRect">
            <a:avLst>
              <a:gd name="adj" fmla="val 5517"/>
            </a:avLst>
          </a:prstGeom>
          <a:solidFill>
            <a:srgbClr val="FFFFFF"/>
          </a:solidFill>
          <a:ln w="12700">
            <a:solidFill>
              <a:srgbClr val="D9E0EC"/>
            </a:solidFill>
            <a:prstDash val="solid"/>
          </a:ln>
        </p:spPr>
        <p:txBody>
          <a:bodyPr/>
          <a:lstStyle/>
          <a:p>
            <a:endParaRPr lang="ko-KR" altLang="en-US"/>
          </a:p>
        </p:txBody>
      </p:sp>
      <p:sp>
        <p:nvSpPr>
          <p:cNvPr id="119" name="Shape 116"/>
          <p:cNvSpPr/>
          <p:nvPr/>
        </p:nvSpPr>
        <p:spPr>
          <a:xfrm>
            <a:off x="5248961" y="6071616"/>
            <a:ext cx="347472" cy="347472"/>
          </a:xfrm>
          <a:prstGeom prst="roundRect">
            <a:avLst>
              <a:gd name="adj" fmla="val 13158"/>
            </a:avLst>
          </a:prstGeom>
          <a:solidFill>
            <a:srgbClr val="2E74C6"/>
          </a:solidFill>
          <a:ln/>
        </p:spPr>
        <p:txBody>
          <a:bodyPr/>
          <a:lstStyle/>
          <a:p>
            <a:endParaRPr lang="ko-KR" altLang="en-US"/>
          </a:p>
        </p:txBody>
      </p:sp>
      <p:sp>
        <p:nvSpPr>
          <p:cNvPr id="120" name="Text 117"/>
          <p:cNvSpPr txBox="1"/>
          <p:nvPr/>
        </p:nvSpPr>
        <p:spPr>
          <a:xfrm>
            <a:off x="5248961" y="607161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121" name="Text 118"/>
          <p:cNvSpPr txBox="1"/>
          <p:nvPr/>
        </p:nvSpPr>
        <p:spPr>
          <a:xfrm>
            <a:off x="5678729" y="6053328"/>
            <a:ext cx="3733800" cy="384048"/>
          </a:xfrm>
          <a:prstGeom prst="rect">
            <a:avLst/>
          </a:prstGeom>
          <a:noFill/>
          <a:ln/>
        </p:spPr>
        <p:txBody>
          <a:bodyPr wrap="square" lIns="762" tIns="762" rIns="762" bIns="762" rtlCol="0" anchor="ctr"/>
          <a:lstStyle/>
          <a:p>
            <a:pPr marL="0" indent="0" algn="l">
              <a:buNone/>
            </a:pPr>
            <a:r>
              <a:rPr lang="en-US" sz="1700" b="1" dirty="0">
                <a:solidFill>
                  <a:srgbClr val="1E2A5C"/>
                </a:solidFill>
                <a:latin typeface="Pretendard" pitchFamily="34" charset="0"/>
                <a:ea typeface="Pretendard" pitchFamily="34" charset="-122"/>
                <a:cs typeface="Pretendard" pitchFamily="34" charset="-120"/>
              </a:rPr>
              <a:t>누가 바꾸나</a:t>
            </a:r>
            <a:endParaRPr lang="en-US" sz="1700" dirty="0"/>
          </a:p>
        </p:txBody>
      </p:sp>
      <p:sp>
        <p:nvSpPr>
          <p:cNvPr id="122" name="Shape 119"/>
          <p:cNvSpPr/>
          <p:nvPr/>
        </p:nvSpPr>
        <p:spPr>
          <a:xfrm>
            <a:off x="5248961" y="6492240"/>
            <a:ext cx="987552"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23" name="Text 120"/>
          <p:cNvSpPr txBox="1"/>
          <p:nvPr/>
        </p:nvSpPr>
        <p:spPr>
          <a:xfrm>
            <a:off x="5248961" y="6492240"/>
            <a:ext cx="987552"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벡터DB</a:t>
            </a:r>
            <a:endParaRPr lang="en-US" sz="1400" dirty="0"/>
          </a:p>
        </p:txBody>
      </p:sp>
      <p:sp>
        <p:nvSpPr>
          <p:cNvPr id="124" name="Text 121"/>
          <p:cNvSpPr txBox="1"/>
          <p:nvPr/>
        </p:nvSpPr>
        <p:spPr>
          <a:xfrm>
            <a:off x="6327953" y="6473952"/>
            <a:ext cx="3112008" cy="384048"/>
          </a:xfrm>
          <a:prstGeom prst="rect">
            <a:avLst/>
          </a:prstGeom>
          <a:noFill/>
          <a:ln/>
        </p:spPr>
        <p:txBody>
          <a:bodyPr wrap="square" lIns="762" tIns="762" rIns="762" bIns="762" rtlCol="0" anchor="ctr"/>
          <a:lstStyle/>
          <a:p>
            <a:pPr marL="0" indent="0" algn="l">
              <a:buNone/>
            </a:pPr>
            <a:r>
              <a:rPr lang="en-US" sz="1500" dirty="0">
                <a:solidFill>
                  <a:srgbClr val="3B4557"/>
                </a:solidFill>
                <a:latin typeface="Pretendard" pitchFamily="34" charset="0"/>
                <a:ea typeface="Pretendard" pitchFamily="34" charset="-122"/>
                <a:cs typeface="Pretendard" pitchFamily="34" charset="-120"/>
              </a:rPr>
              <a:t>임베딩 모델 → 빠르고 쌈</a:t>
            </a:r>
            <a:endParaRPr lang="en-US" sz="1500" dirty="0"/>
          </a:p>
        </p:txBody>
      </p:sp>
      <p:sp>
        <p:nvSpPr>
          <p:cNvPr id="125" name="Shape 122"/>
          <p:cNvSpPr/>
          <p:nvPr/>
        </p:nvSpPr>
        <p:spPr>
          <a:xfrm>
            <a:off x="5248961" y="6894576"/>
            <a:ext cx="987552" cy="329184"/>
          </a:xfrm>
          <a:prstGeom prst="roundRect">
            <a:avLst>
              <a:gd name="adj" fmla="val 45000"/>
            </a:avLst>
          </a:prstGeom>
          <a:solidFill>
            <a:srgbClr val="2E74C6"/>
          </a:solidFill>
          <a:ln/>
        </p:spPr>
        <p:txBody>
          <a:bodyPr/>
          <a:lstStyle/>
          <a:p>
            <a:endParaRPr lang="ko-KR" altLang="en-US"/>
          </a:p>
        </p:txBody>
      </p:sp>
      <p:sp>
        <p:nvSpPr>
          <p:cNvPr id="126" name="Text 123"/>
          <p:cNvSpPr txBox="1"/>
          <p:nvPr/>
        </p:nvSpPr>
        <p:spPr>
          <a:xfrm>
            <a:off x="5248961" y="6894576"/>
            <a:ext cx="987552"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그래프DB</a:t>
            </a:r>
            <a:endParaRPr lang="en-US" sz="1400" dirty="0"/>
          </a:p>
        </p:txBody>
      </p:sp>
      <p:sp>
        <p:nvSpPr>
          <p:cNvPr id="127" name="Text 124"/>
          <p:cNvSpPr txBox="1"/>
          <p:nvPr/>
        </p:nvSpPr>
        <p:spPr>
          <a:xfrm>
            <a:off x="6327953" y="6876288"/>
            <a:ext cx="3112008" cy="384048"/>
          </a:xfrm>
          <a:prstGeom prst="rect">
            <a:avLst/>
          </a:prstGeom>
          <a:noFill/>
          <a:ln/>
        </p:spPr>
        <p:txBody>
          <a:bodyPr wrap="square" lIns="762" tIns="762" rIns="762" bIns="762"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LLM(추출·요약)까지 → 느리고 비쌈</a:t>
            </a:r>
            <a:endParaRPr lang="en-US" sz="1500" dirty="0"/>
          </a:p>
        </p:txBody>
      </p:sp>
      <p:sp>
        <p:nvSpPr>
          <p:cNvPr id="128" name="Shape 125"/>
          <p:cNvSpPr/>
          <p:nvPr/>
        </p:nvSpPr>
        <p:spPr>
          <a:xfrm>
            <a:off x="9714281" y="5943600"/>
            <a:ext cx="4419600" cy="1325880"/>
          </a:xfrm>
          <a:prstGeom prst="roundRect">
            <a:avLst>
              <a:gd name="adj" fmla="val 5517"/>
            </a:avLst>
          </a:prstGeom>
          <a:solidFill>
            <a:srgbClr val="FFFFFF"/>
          </a:solidFill>
          <a:ln w="12700">
            <a:solidFill>
              <a:srgbClr val="D9E0EC"/>
            </a:solidFill>
            <a:prstDash val="solid"/>
          </a:ln>
        </p:spPr>
        <p:txBody>
          <a:bodyPr/>
          <a:lstStyle/>
          <a:p>
            <a:endParaRPr lang="ko-KR" altLang="en-US"/>
          </a:p>
        </p:txBody>
      </p:sp>
      <p:sp>
        <p:nvSpPr>
          <p:cNvPr id="129" name="Shape 126"/>
          <p:cNvSpPr/>
          <p:nvPr/>
        </p:nvSpPr>
        <p:spPr>
          <a:xfrm>
            <a:off x="9851441" y="6071616"/>
            <a:ext cx="347472" cy="347472"/>
          </a:xfrm>
          <a:prstGeom prst="roundRect">
            <a:avLst>
              <a:gd name="adj" fmla="val 13158"/>
            </a:avLst>
          </a:prstGeom>
          <a:solidFill>
            <a:srgbClr val="2E74C6"/>
          </a:solidFill>
          <a:ln/>
        </p:spPr>
        <p:txBody>
          <a:bodyPr/>
          <a:lstStyle/>
          <a:p>
            <a:endParaRPr lang="ko-KR" altLang="en-US"/>
          </a:p>
        </p:txBody>
      </p:sp>
      <p:sp>
        <p:nvSpPr>
          <p:cNvPr id="130" name="Text 127"/>
          <p:cNvSpPr txBox="1"/>
          <p:nvPr/>
        </p:nvSpPr>
        <p:spPr>
          <a:xfrm>
            <a:off x="9851441" y="607161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131" name="Text 128"/>
          <p:cNvSpPr txBox="1"/>
          <p:nvPr/>
        </p:nvSpPr>
        <p:spPr>
          <a:xfrm>
            <a:off x="10281209" y="6053328"/>
            <a:ext cx="3733800" cy="384048"/>
          </a:xfrm>
          <a:prstGeom prst="rect">
            <a:avLst/>
          </a:prstGeom>
          <a:noFill/>
          <a:ln/>
        </p:spPr>
        <p:txBody>
          <a:bodyPr wrap="square" lIns="762" tIns="762" rIns="762" bIns="762" rtlCol="0" anchor="ctr"/>
          <a:lstStyle/>
          <a:p>
            <a:pPr marL="0" indent="0" algn="l">
              <a:buNone/>
            </a:pPr>
            <a:r>
              <a:rPr lang="en-US" sz="1700" b="1" dirty="0">
                <a:solidFill>
                  <a:srgbClr val="1E2A5C"/>
                </a:solidFill>
                <a:latin typeface="Pretendard" pitchFamily="34" charset="0"/>
                <a:ea typeface="Pretendard" pitchFamily="34" charset="-122"/>
                <a:cs typeface="Pretendard" pitchFamily="34" charset="-120"/>
              </a:rPr>
              <a:t>무엇에 강한가</a:t>
            </a:r>
            <a:endParaRPr lang="en-US" sz="1700" dirty="0"/>
          </a:p>
        </p:txBody>
      </p:sp>
      <p:sp>
        <p:nvSpPr>
          <p:cNvPr id="132" name="Shape 129"/>
          <p:cNvSpPr/>
          <p:nvPr/>
        </p:nvSpPr>
        <p:spPr>
          <a:xfrm>
            <a:off x="9851441" y="6492240"/>
            <a:ext cx="987552"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33" name="Text 130"/>
          <p:cNvSpPr txBox="1"/>
          <p:nvPr/>
        </p:nvSpPr>
        <p:spPr>
          <a:xfrm>
            <a:off x="9851441" y="6492240"/>
            <a:ext cx="987552"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벡터DB</a:t>
            </a:r>
            <a:endParaRPr lang="en-US" sz="1400" dirty="0"/>
          </a:p>
        </p:txBody>
      </p:sp>
      <p:sp>
        <p:nvSpPr>
          <p:cNvPr id="134" name="Text 131"/>
          <p:cNvSpPr txBox="1"/>
          <p:nvPr/>
        </p:nvSpPr>
        <p:spPr>
          <a:xfrm>
            <a:off x="10930433" y="6473952"/>
            <a:ext cx="3112008" cy="384048"/>
          </a:xfrm>
          <a:prstGeom prst="rect">
            <a:avLst/>
          </a:prstGeom>
          <a:noFill/>
          <a:ln/>
        </p:spPr>
        <p:txBody>
          <a:bodyPr wrap="square" lIns="762" tIns="762" rIns="762" bIns="762" rtlCol="0" anchor="ctr"/>
          <a:lstStyle/>
          <a:p>
            <a:pPr marL="0" indent="0" algn="l">
              <a:buNone/>
            </a:pPr>
            <a:r>
              <a:rPr lang="en-US" sz="1500" dirty="0">
                <a:solidFill>
                  <a:srgbClr val="3B4557"/>
                </a:solidFill>
                <a:latin typeface="Pretendard" pitchFamily="34" charset="0"/>
                <a:ea typeface="Pretendard" pitchFamily="34" charset="-122"/>
                <a:cs typeface="Pretendard" pitchFamily="34" charset="-120"/>
              </a:rPr>
              <a:t>한 문단으로 끝나는 질문</a:t>
            </a:r>
            <a:endParaRPr lang="en-US" sz="1500" dirty="0"/>
          </a:p>
        </p:txBody>
      </p:sp>
      <p:sp>
        <p:nvSpPr>
          <p:cNvPr id="135" name="Shape 132"/>
          <p:cNvSpPr/>
          <p:nvPr/>
        </p:nvSpPr>
        <p:spPr>
          <a:xfrm>
            <a:off x="9851441" y="6894576"/>
            <a:ext cx="987552" cy="329184"/>
          </a:xfrm>
          <a:prstGeom prst="roundRect">
            <a:avLst>
              <a:gd name="adj" fmla="val 45000"/>
            </a:avLst>
          </a:prstGeom>
          <a:solidFill>
            <a:srgbClr val="2E74C6"/>
          </a:solidFill>
          <a:ln/>
        </p:spPr>
        <p:txBody>
          <a:bodyPr/>
          <a:lstStyle/>
          <a:p>
            <a:endParaRPr lang="ko-KR" altLang="en-US"/>
          </a:p>
        </p:txBody>
      </p:sp>
      <p:sp>
        <p:nvSpPr>
          <p:cNvPr id="136" name="Text 133"/>
          <p:cNvSpPr txBox="1"/>
          <p:nvPr/>
        </p:nvSpPr>
        <p:spPr>
          <a:xfrm>
            <a:off x="9851441" y="6894576"/>
            <a:ext cx="987552"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그래프DB</a:t>
            </a:r>
            <a:endParaRPr lang="en-US" sz="1400" dirty="0"/>
          </a:p>
        </p:txBody>
      </p:sp>
      <p:sp>
        <p:nvSpPr>
          <p:cNvPr id="137" name="Text 134"/>
          <p:cNvSpPr txBox="1"/>
          <p:nvPr/>
        </p:nvSpPr>
        <p:spPr>
          <a:xfrm>
            <a:off x="10930433" y="6876288"/>
            <a:ext cx="3112008" cy="384048"/>
          </a:xfrm>
          <a:prstGeom prst="rect">
            <a:avLst/>
          </a:prstGeom>
          <a:noFill/>
          <a:ln/>
        </p:spPr>
        <p:txBody>
          <a:bodyPr wrap="square" lIns="762" tIns="762" rIns="762" bIns="762"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여러 단계 연결 · 전체 경향</a:t>
            </a:r>
            <a:endParaRPr lang="en-US" sz="15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11</a:t>
            </a:fld>
            <a:endParaRPr lang="en-US"/>
          </a:p>
        </p:txBody>
      </p:sp>
      <p:sp>
        <p:nvSpPr>
          <p:cNvPr id="139" name="Text 84">
            <a:extLst>
              <a:ext uri="{FF2B5EF4-FFF2-40B4-BE49-F238E27FC236}">
                <a16:creationId xmlns:a16="http://schemas.microsoft.com/office/drawing/2014/main" id="{C5339007-0090-EAE3-995A-75AD980559C8}"/>
              </a:ext>
            </a:extLst>
          </p:cNvPr>
          <p:cNvSpPr txBox="1"/>
          <p:nvPr/>
        </p:nvSpPr>
        <p:spPr>
          <a:xfrm>
            <a:off x="531655" y="7410357"/>
            <a:ext cx="13602225" cy="310896"/>
          </a:xfrm>
          <a:prstGeom prst="rect">
            <a:avLst/>
          </a:prstGeom>
          <a:noFill/>
          <a:ln/>
        </p:spPr>
        <p:txBody>
          <a:bodyPr wrap="square" lIns="762" tIns="762" rIns="762" bIns="762" rtlCol="0" anchor="ctr"/>
          <a:lstStyle/>
          <a:p>
            <a:pPr marL="0" indent="0" algn="l">
              <a:buNone/>
            </a:pPr>
            <a:r>
              <a:rPr lang="en-US" sz="1400" dirty="0">
                <a:latin typeface="Pretendard" pitchFamily="34" charset="0"/>
                <a:ea typeface="Pretendard" pitchFamily="34" charset="-122"/>
                <a:cs typeface="Pretendard" pitchFamily="34" charset="-120"/>
              </a:rPr>
              <a:t>※ 1) </a:t>
            </a:r>
            <a:r>
              <a:rPr lang="ko-KR" altLang="en-US" sz="1400" dirty="0">
                <a:latin typeface="Pretendard" pitchFamily="34" charset="0"/>
                <a:ea typeface="Pretendard" pitchFamily="34" charset="-122"/>
                <a:cs typeface="Pretendard" pitchFamily="34" charset="-120"/>
              </a:rPr>
              <a:t>커뮤니티 요약</a:t>
            </a:r>
            <a:r>
              <a:rPr lang="en-US" altLang="ko-KR" sz="1400" dirty="0">
                <a:latin typeface="Pretendard" pitchFamily="34" charset="0"/>
                <a:ea typeface="Pretendard" pitchFamily="34" charset="-122"/>
                <a:cs typeface="Pretendard" pitchFamily="34" charset="-120"/>
              </a:rPr>
              <a:t>: KG</a:t>
            </a:r>
            <a:r>
              <a:rPr lang="ko-KR" altLang="en-US" sz="1400" dirty="0">
                <a:latin typeface="Pretendard" pitchFamily="34" charset="0"/>
                <a:ea typeface="Pretendard" pitchFamily="34" charset="-122"/>
                <a:cs typeface="Pretendard" pitchFamily="34" charset="-120"/>
              </a:rPr>
              <a:t>를 주제별 그룹으로 묶은 것을 커뮤니티라고 하며 각 커뮤니티의 내용을 </a:t>
            </a:r>
            <a:r>
              <a:rPr lang="en-US" altLang="ko-KR" sz="1400" dirty="0">
                <a:latin typeface="Pretendard" pitchFamily="34" charset="0"/>
                <a:ea typeface="Pretendard" pitchFamily="34" charset="-122"/>
                <a:cs typeface="Pretendard" pitchFamily="34" charset="-120"/>
              </a:rPr>
              <a:t>LLM</a:t>
            </a:r>
            <a:r>
              <a:rPr lang="ko-KR" altLang="en-US" sz="1400" dirty="0">
                <a:latin typeface="Pretendard" pitchFamily="34" charset="0"/>
                <a:ea typeface="Pretendard" pitchFamily="34" charset="-122"/>
                <a:cs typeface="Pretendard" pitchFamily="34" charset="-120"/>
              </a:rPr>
              <a:t>으로 미리 요약한 것을 의미함</a:t>
            </a:r>
            <a:r>
              <a:rPr lang="en-US" altLang="ko-KR" sz="1400" dirty="0">
                <a:latin typeface="Pretendard" pitchFamily="34" charset="0"/>
                <a:ea typeface="Pretendard" pitchFamily="34" charset="-122"/>
                <a:cs typeface="Pretendard" pitchFamily="34" charset="-120"/>
              </a:rPr>
              <a:t>. </a:t>
            </a:r>
            <a:r>
              <a:rPr lang="ko-KR" altLang="en-US" sz="1400" dirty="0">
                <a:latin typeface="Pretendard" pitchFamily="34" charset="0"/>
                <a:ea typeface="Pretendard" pitchFamily="34" charset="-122"/>
                <a:cs typeface="Pretendard" pitchFamily="34" charset="-120"/>
              </a:rPr>
              <a:t>거시적 검색</a:t>
            </a:r>
            <a:r>
              <a:rPr lang="en-US" altLang="ko-KR" sz="1400" dirty="0">
                <a:latin typeface="Pretendard" pitchFamily="34" charset="0"/>
                <a:ea typeface="Pretendard" pitchFamily="34" charset="-122"/>
                <a:cs typeface="Pretendard" pitchFamily="34" charset="-120"/>
              </a:rPr>
              <a:t>(</a:t>
            </a:r>
            <a:r>
              <a:rPr lang="ko-KR" altLang="en-US" sz="1400" dirty="0">
                <a:latin typeface="Pretendard" pitchFamily="34" charset="0"/>
                <a:ea typeface="Pretendard" pitchFamily="34" charset="-122"/>
                <a:cs typeface="Pretendard" pitchFamily="34" charset="-120"/>
              </a:rPr>
              <a:t>경향</a:t>
            </a:r>
            <a:r>
              <a:rPr lang="en-US" altLang="ko-KR" sz="1400" dirty="0">
                <a:latin typeface="Pretendard" pitchFamily="34" charset="0"/>
                <a:ea typeface="Pretendard" pitchFamily="34" charset="-122"/>
                <a:cs typeface="Pretendard" pitchFamily="34" charset="-120"/>
              </a:rPr>
              <a:t>, </a:t>
            </a:r>
            <a:r>
              <a:rPr lang="ko-KR" altLang="en-US" sz="1400" dirty="0">
                <a:latin typeface="Pretendard" pitchFamily="34" charset="0"/>
                <a:ea typeface="Pretendard" pitchFamily="34" charset="-122"/>
                <a:cs typeface="Pretendard" pitchFamily="34" charset="-120"/>
              </a:rPr>
              <a:t>비교 등 데이터 전체를 조망하는 검색</a:t>
            </a:r>
            <a:r>
              <a:rPr lang="en-US" altLang="ko-KR" sz="1400" dirty="0">
                <a:latin typeface="Pretendard" pitchFamily="34" charset="0"/>
                <a:ea typeface="Pretendard" pitchFamily="34" charset="-122"/>
                <a:cs typeface="Pretendard" pitchFamily="34" charset="-120"/>
              </a:rPr>
              <a:t>)</a:t>
            </a:r>
            <a:r>
              <a:rPr lang="ko-KR" altLang="en-US" sz="1400" dirty="0">
                <a:latin typeface="Pretendard" pitchFamily="34" charset="0"/>
                <a:ea typeface="Pretendard" pitchFamily="34" charset="-122"/>
                <a:cs typeface="Pretendard" pitchFamily="34" charset="-120"/>
              </a:rPr>
              <a:t>에 활용됨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그래프 검색 3가지 방식: Local · Global · Hybrid</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질문이 묻는 범위(한 대상 / 전체 / 둘 다)에 따라 그래프에서 꺼내는 재료와 순서가 달라짐</a:t>
            </a:r>
            <a:endParaRPr lang="en-US" sz="1800" dirty="0"/>
          </a:p>
        </p:txBody>
      </p:sp>
      <p:sp>
        <p:nvSpPr>
          <p:cNvPr id="5" name="Shape 2"/>
          <p:cNvSpPr/>
          <p:nvPr/>
        </p:nvSpPr>
        <p:spPr>
          <a:xfrm>
            <a:off x="509321" y="1737360"/>
            <a:ext cx="4389120" cy="4297680"/>
          </a:xfrm>
          <a:prstGeom prst="roundRect">
            <a:avLst>
              <a:gd name="adj" fmla="val 1702"/>
            </a:avLst>
          </a:prstGeom>
          <a:solidFill>
            <a:srgbClr val="FFFFFF"/>
          </a:solidFill>
          <a:ln w="12700">
            <a:solidFill>
              <a:srgbClr val="D9E0EC"/>
            </a:solidFill>
            <a:prstDash val="solid"/>
          </a:ln>
        </p:spPr>
        <p:txBody>
          <a:bodyPr/>
          <a:lstStyle/>
          <a:p>
            <a:endParaRPr lang="ko-KR" altLang="en-US"/>
          </a:p>
        </p:txBody>
      </p:sp>
      <p:sp>
        <p:nvSpPr>
          <p:cNvPr id="6" name="Shape 3"/>
          <p:cNvSpPr/>
          <p:nvPr/>
        </p:nvSpPr>
        <p:spPr>
          <a:xfrm>
            <a:off x="509321" y="1737360"/>
            <a:ext cx="4389120" cy="457200"/>
          </a:xfrm>
          <a:prstGeom prst="roundRect">
            <a:avLst>
              <a:gd name="adj" fmla="val 12000"/>
            </a:avLst>
          </a:prstGeom>
          <a:solidFill>
            <a:srgbClr val="1E2A5C"/>
          </a:solidFill>
          <a:ln/>
        </p:spPr>
        <p:txBody>
          <a:bodyPr/>
          <a:lstStyle/>
          <a:p>
            <a:endParaRPr lang="ko-KR" altLang="en-US"/>
          </a:p>
        </p:txBody>
      </p:sp>
      <p:sp>
        <p:nvSpPr>
          <p:cNvPr id="7" name="Text 4"/>
          <p:cNvSpPr txBox="1"/>
          <p:nvPr/>
        </p:nvSpPr>
        <p:spPr>
          <a:xfrm>
            <a:off x="509321" y="1737360"/>
            <a:ext cx="4389120" cy="457200"/>
          </a:xfrm>
          <a:prstGeom prst="rect">
            <a:avLst/>
          </a:prstGeom>
          <a:noFill/>
          <a:ln/>
        </p:spPr>
        <p:txBody>
          <a:bodyPr wrap="square" lIns="1016" tIns="1016" rIns="1016" bIns="1016"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Local Search</a:t>
            </a:r>
            <a:endParaRPr lang="en-US" sz="2000" dirty="0"/>
          </a:p>
        </p:txBody>
      </p:sp>
      <p:sp>
        <p:nvSpPr>
          <p:cNvPr id="8" name="Shape 5"/>
          <p:cNvSpPr/>
          <p:nvPr/>
        </p:nvSpPr>
        <p:spPr>
          <a:xfrm>
            <a:off x="646481" y="2286000"/>
            <a:ext cx="4114800" cy="640080"/>
          </a:xfrm>
          <a:prstGeom prst="roundRect">
            <a:avLst>
              <a:gd name="adj" fmla="val 8571"/>
            </a:avLst>
          </a:prstGeom>
          <a:solidFill>
            <a:srgbClr val="EEF3FA"/>
          </a:solidFill>
          <a:ln/>
        </p:spPr>
        <p:txBody>
          <a:bodyPr/>
          <a:lstStyle/>
          <a:p>
            <a:endParaRPr lang="ko-KR" altLang="en-US"/>
          </a:p>
        </p:txBody>
      </p:sp>
      <p:sp>
        <p:nvSpPr>
          <p:cNvPr id="9" name="Text 6"/>
          <p:cNvSpPr txBox="1"/>
          <p:nvPr/>
        </p:nvSpPr>
        <p:spPr>
          <a:xfrm>
            <a:off x="710489" y="2286000"/>
            <a:ext cx="3986784" cy="640080"/>
          </a:xfrm>
          <a:prstGeom prst="rect">
            <a:avLst/>
          </a:prstGeom>
          <a:noFill/>
          <a:ln/>
        </p:spPr>
        <p:txBody>
          <a:bodyPr wrap="square" lIns="508" tIns="508" rIns="508" bIns="508"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한 대상을 깊게 묻는 질문</a:t>
            </a:r>
            <a:endParaRPr lang="en-US" sz="1500" dirty="0"/>
          </a:p>
          <a:p>
            <a:pPr marL="0" indent="0">
              <a:buNone/>
            </a:pPr>
            <a:r>
              <a:rPr lang="en-US" sz="1400" dirty="0">
                <a:solidFill>
                  <a:srgbClr val="2B3242"/>
                </a:solidFill>
                <a:latin typeface="Pretendard" pitchFamily="34" charset="0"/>
                <a:ea typeface="Pretendard" pitchFamily="34" charset="-122"/>
                <a:cs typeface="Pretendard" pitchFamily="34" charset="-120"/>
              </a:rPr>
              <a:t>예) A카드의 해외 결제 혜택은?</a:t>
            </a:r>
            <a:endParaRPr lang="en-US" sz="1500" dirty="0"/>
          </a:p>
        </p:txBody>
      </p:sp>
      <p:sp>
        <p:nvSpPr>
          <p:cNvPr id="10" name="Shape 7"/>
          <p:cNvSpPr/>
          <p:nvPr/>
        </p:nvSpPr>
        <p:spPr>
          <a:xfrm flipH="1" flipV="1">
            <a:off x="829361" y="3163824"/>
            <a:ext cx="640080" cy="320040"/>
          </a:xfrm>
          <a:prstGeom prst="line">
            <a:avLst/>
          </a:prstGeom>
          <a:noFill/>
          <a:ln w="12700">
            <a:solidFill>
              <a:srgbClr val="7C8598"/>
            </a:solidFill>
            <a:prstDash val="dash"/>
            <a:tailEnd type="none"/>
          </a:ln>
        </p:spPr>
        <p:txBody>
          <a:bodyPr/>
          <a:lstStyle/>
          <a:p>
            <a:endParaRPr lang="ko-KR" altLang="en-US"/>
          </a:p>
        </p:txBody>
      </p:sp>
      <p:sp>
        <p:nvSpPr>
          <p:cNvPr id="11" name="Shape 8"/>
          <p:cNvSpPr/>
          <p:nvPr/>
        </p:nvSpPr>
        <p:spPr>
          <a:xfrm flipH="1">
            <a:off x="737921" y="3483864"/>
            <a:ext cx="731520" cy="292608"/>
          </a:xfrm>
          <a:prstGeom prst="line">
            <a:avLst/>
          </a:prstGeom>
          <a:noFill/>
          <a:ln w="12700">
            <a:solidFill>
              <a:srgbClr val="7C8598"/>
            </a:solidFill>
            <a:prstDash val="dash"/>
            <a:tailEnd type="none"/>
          </a:ln>
        </p:spPr>
        <p:txBody>
          <a:bodyPr/>
          <a:lstStyle/>
          <a:p>
            <a:endParaRPr lang="ko-KR" altLang="en-US"/>
          </a:p>
        </p:txBody>
      </p:sp>
      <p:sp>
        <p:nvSpPr>
          <p:cNvPr id="12" name="Shape 9"/>
          <p:cNvSpPr/>
          <p:nvPr/>
        </p:nvSpPr>
        <p:spPr>
          <a:xfrm flipV="1">
            <a:off x="1469441" y="3319272"/>
            <a:ext cx="502920" cy="164592"/>
          </a:xfrm>
          <a:prstGeom prst="line">
            <a:avLst/>
          </a:prstGeom>
          <a:noFill/>
          <a:ln w="12700">
            <a:solidFill>
              <a:srgbClr val="7C8598"/>
            </a:solidFill>
            <a:prstDash val="dash"/>
            <a:tailEnd type="none"/>
          </a:ln>
        </p:spPr>
        <p:txBody>
          <a:bodyPr/>
          <a:lstStyle/>
          <a:p>
            <a:endParaRPr lang="ko-KR" altLang="en-US"/>
          </a:p>
        </p:txBody>
      </p:sp>
      <p:sp>
        <p:nvSpPr>
          <p:cNvPr id="13" name="Shape 10"/>
          <p:cNvSpPr/>
          <p:nvPr/>
        </p:nvSpPr>
        <p:spPr>
          <a:xfrm>
            <a:off x="1469441" y="3483864"/>
            <a:ext cx="548640" cy="274320"/>
          </a:xfrm>
          <a:prstGeom prst="line">
            <a:avLst/>
          </a:prstGeom>
          <a:noFill/>
          <a:ln w="12700">
            <a:solidFill>
              <a:srgbClr val="7C8598"/>
            </a:solidFill>
            <a:prstDash val="dash"/>
            <a:tailEnd type="none"/>
          </a:ln>
        </p:spPr>
        <p:txBody>
          <a:bodyPr/>
          <a:lstStyle/>
          <a:p>
            <a:endParaRPr lang="ko-KR" altLang="en-US"/>
          </a:p>
        </p:txBody>
      </p:sp>
      <p:sp>
        <p:nvSpPr>
          <p:cNvPr id="14" name="Shape 11"/>
          <p:cNvSpPr/>
          <p:nvPr/>
        </p:nvSpPr>
        <p:spPr>
          <a:xfrm>
            <a:off x="1972361" y="3319272"/>
            <a:ext cx="45720" cy="438912"/>
          </a:xfrm>
          <a:prstGeom prst="line">
            <a:avLst/>
          </a:prstGeom>
          <a:noFill/>
          <a:ln w="19050">
            <a:solidFill>
              <a:srgbClr val="1E2A5C"/>
            </a:solidFill>
            <a:prstDash val="solid"/>
            <a:tailEnd type="none"/>
          </a:ln>
        </p:spPr>
        <p:txBody>
          <a:bodyPr/>
          <a:lstStyle/>
          <a:p>
            <a:endParaRPr lang="ko-KR" altLang="en-US"/>
          </a:p>
        </p:txBody>
      </p:sp>
      <p:sp>
        <p:nvSpPr>
          <p:cNvPr id="15" name="Shape 12"/>
          <p:cNvSpPr/>
          <p:nvPr/>
        </p:nvSpPr>
        <p:spPr>
          <a:xfrm flipV="1">
            <a:off x="1972361" y="3072384"/>
            <a:ext cx="548640" cy="246888"/>
          </a:xfrm>
          <a:prstGeom prst="line">
            <a:avLst/>
          </a:prstGeom>
          <a:noFill/>
          <a:ln w="19050">
            <a:solidFill>
              <a:srgbClr val="1E2A5C"/>
            </a:solidFill>
            <a:prstDash val="solid"/>
            <a:tailEnd type="none"/>
          </a:ln>
        </p:spPr>
        <p:txBody>
          <a:bodyPr/>
          <a:lstStyle/>
          <a:p>
            <a:endParaRPr lang="ko-KR" altLang="en-US"/>
          </a:p>
        </p:txBody>
      </p:sp>
      <p:sp>
        <p:nvSpPr>
          <p:cNvPr id="16" name="Shape 13"/>
          <p:cNvSpPr/>
          <p:nvPr/>
        </p:nvSpPr>
        <p:spPr>
          <a:xfrm>
            <a:off x="1972361" y="3319272"/>
            <a:ext cx="731520" cy="54864"/>
          </a:xfrm>
          <a:prstGeom prst="line">
            <a:avLst/>
          </a:prstGeom>
          <a:noFill/>
          <a:ln w="19050">
            <a:solidFill>
              <a:srgbClr val="1E2A5C"/>
            </a:solidFill>
            <a:prstDash val="solid"/>
            <a:tailEnd type="none"/>
          </a:ln>
        </p:spPr>
        <p:txBody>
          <a:bodyPr/>
          <a:lstStyle/>
          <a:p>
            <a:endParaRPr lang="ko-KR" altLang="en-US"/>
          </a:p>
        </p:txBody>
      </p:sp>
      <p:sp>
        <p:nvSpPr>
          <p:cNvPr id="17" name="Shape 14"/>
          <p:cNvSpPr/>
          <p:nvPr/>
        </p:nvSpPr>
        <p:spPr>
          <a:xfrm flipV="1">
            <a:off x="2018081" y="3685032"/>
            <a:ext cx="640080" cy="73152"/>
          </a:xfrm>
          <a:prstGeom prst="line">
            <a:avLst/>
          </a:prstGeom>
          <a:noFill/>
          <a:ln w="19050">
            <a:solidFill>
              <a:srgbClr val="1E2A5C"/>
            </a:solidFill>
            <a:prstDash val="solid"/>
            <a:tailEnd type="none"/>
          </a:ln>
        </p:spPr>
        <p:txBody>
          <a:bodyPr/>
          <a:lstStyle/>
          <a:p>
            <a:endParaRPr lang="ko-KR" altLang="en-US"/>
          </a:p>
        </p:txBody>
      </p:sp>
      <p:sp>
        <p:nvSpPr>
          <p:cNvPr id="18" name="Shape 15"/>
          <p:cNvSpPr/>
          <p:nvPr/>
        </p:nvSpPr>
        <p:spPr>
          <a:xfrm>
            <a:off x="2018081" y="3758184"/>
            <a:ext cx="457200" cy="182880"/>
          </a:xfrm>
          <a:prstGeom prst="line">
            <a:avLst/>
          </a:prstGeom>
          <a:noFill/>
          <a:ln w="19050">
            <a:solidFill>
              <a:srgbClr val="1E2A5C"/>
            </a:solidFill>
            <a:prstDash val="solid"/>
            <a:tailEnd type="none"/>
          </a:ln>
        </p:spPr>
        <p:txBody>
          <a:bodyPr/>
          <a:lstStyle/>
          <a:p>
            <a:endParaRPr lang="ko-KR" altLang="en-US"/>
          </a:p>
        </p:txBody>
      </p:sp>
      <p:sp>
        <p:nvSpPr>
          <p:cNvPr id="19" name="Shape 16"/>
          <p:cNvSpPr/>
          <p:nvPr/>
        </p:nvSpPr>
        <p:spPr>
          <a:xfrm>
            <a:off x="737921" y="3072384"/>
            <a:ext cx="182880" cy="182880"/>
          </a:xfrm>
          <a:prstGeom prst="ellipse">
            <a:avLst/>
          </a:prstGeom>
          <a:solidFill>
            <a:srgbClr val="FFFFFF"/>
          </a:solidFill>
          <a:ln w="15875">
            <a:solidFill>
              <a:srgbClr val="7C8598"/>
            </a:solidFill>
            <a:prstDash val="solid"/>
          </a:ln>
        </p:spPr>
        <p:txBody>
          <a:bodyPr/>
          <a:lstStyle/>
          <a:p>
            <a:endParaRPr lang="ko-KR" altLang="en-US"/>
          </a:p>
        </p:txBody>
      </p:sp>
      <p:sp>
        <p:nvSpPr>
          <p:cNvPr id="20" name="Shape 17"/>
          <p:cNvSpPr/>
          <p:nvPr/>
        </p:nvSpPr>
        <p:spPr>
          <a:xfrm>
            <a:off x="646481" y="3685032"/>
            <a:ext cx="182880" cy="182880"/>
          </a:xfrm>
          <a:prstGeom prst="ellipse">
            <a:avLst/>
          </a:prstGeom>
          <a:solidFill>
            <a:srgbClr val="FFFFFF"/>
          </a:solidFill>
          <a:ln w="15875">
            <a:solidFill>
              <a:srgbClr val="7C8598"/>
            </a:solidFill>
            <a:prstDash val="solid"/>
          </a:ln>
        </p:spPr>
        <p:txBody>
          <a:bodyPr/>
          <a:lstStyle/>
          <a:p>
            <a:endParaRPr lang="ko-KR" altLang="en-US"/>
          </a:p>
        </p:txBody>
      </p:sp>
      <p:sp>
        <p:nvSpPr>
          <p:cNvPr id="21" name="Shape 18"/>
          <p:cNvSpPr/>
          <p:nvPr/>
        </p:nvSpPr>
        <p:spPr>
          <a:xfrm>
            <a:off x="2420417" y="2971800"/>
            <a:ext cx="201168" cy="201168"/>
          </a:xfrm>
          <a:prstGeom prst="ellipse">
            <a:avLst/>
          </a:prstGeom>
          <a:solidFill>
            <a:srgbClr val="FFFFFF"/>
          </a:solidFill>
          <a:ln w="15875">
            <a:solidFill>
              <a:srgbClr val="1E2A5C"/>
            </a:solidFill>
            <a:prstDash val="solid"/>
          </a:ln>
        </p:spPr>
        <p:txBody>
          <a:bodyPr/>
          <a:lstStyle/>
          <a:p>
            <a:endParaRPr lang="ko-KR" altLang="en-US"/>
          </a:p>
        </p:txBody>
      </p:sp>
      <p:sp>
        <p:nvSpPr>
          <p:cNvPr id="22" name="Shape 19"/>
          <p:cNvSpPr/>
          <p:nvPr/>
        </p:nvSpPr>
        <p:spPr>
          <a:xfrm>
            <a:off x="2603297" y="3273552"/>
            <a:ext cx="201168" cy="201168"/>
          </a:xfrm>
          <a:prstGeom prst="ellipse">
            <a:avLst/>
          </a:prstGeom>
          <a:solidFill>
            <a:srgbClr val="FFFFFF"/>
          </a:solidFill>
          <a:ln w="15875">
            <a:solidFill>
              <a:srgbClr val="1E2A5C"/>
            </a:solidFill>
            <a:prstDash val="solid"/>
          </a:ln>
        </p:spPr>
        <p:txBody>
          <a:bodyPr/>
          <a:lstStyle/>
          <a:p>
            <a:endParaRPr lang="ko-KR" altLang="en-US"/>
          </a:p>
        </p:txBody>
      </p:sp>
      <p:sp>
        <p:nvSpPr>
          <p:cNvPr id="23" name="Shape 20"/>
          <p:cNvSpPr/>
          <p:nvPr/>
        </p:nvSpPr>
        <p:spPr>
          <a:xfrm>
            <a:off x="2557577" y="3584448"/>
            <a:ext cx="201168" cy="201168"/>
          </a:xfrm>
          <a:prstGeom prst="ellipse">
            <a:avLst/>
          </a:prstGeom>
          <a:solidFill>
            <a:srgbClr val="FFFFFF"/>
          </a:solidFill>
          <a:ln w="15875">
            <a:solidFill>
              <a:srgbClr val="1E2A5C"/>
            </a:solidFill>
            <a:prstDash val="solid"/>
          </a:ln>
        </p:spPr>
        <p:txBody>
          <a:bodyPr/>
          <a:lstStyle/>
          <a:p>
            <a:endParaRPr lang="ko-KR" altLang="en-US"/>
          </a:p>
        </p:txBody>
      </p:sp>
      <p:sp>
        <p:nvSpPr>
          <p:cNvPr id="24" name="Shape 21"/>
          <p:cNvSpPr/>
          <p:nvPr/>
        </p:nvSpPr>
        <p:spPr>
          <a:xfrm>
            <a:off x="2374697" y="3840480"/>
            <a:ext cx="201168" cy="201168"/>
          </a:xfrm>
          <a:prstGeom prst="ellipse">
            <a:avLst/>
          </a:prstGeom>
          <a:solidFill>
            <a:srgbClr val="FFFFFF"/>
          </a:solidFill>
          <a:ln w="15875">
            <a:solidFill>
              <a:srgbClr val="1E2A5C"/>
            </a:solidFill>
            <a:prstDash val="solid"/>
          </a:ln>
        </p:spPr>
        <p:txBody>
          <a:bodyPr/>
          <a:lstStyle/>
          <a:p>
            <a:endParaRPr lang="ko-KR" altLang="en-US"/>
          </a:p>
        </p:txBody>
      </p:sp>
      <p:sp>
        <p:nvSpPr>
          <p:cNvPr id="25" name="Shape 22"/>
          <p:cNvSpPr/>
          <p:nvPr/>
        </p:nvSpPr>
        <p:spPr>
          <a:xfrm>
            <a:off x="1826057" y="3063240"/>
            <a:ext cx="146304" cy="256032"/>
          </a:xfrm>
          <a:prstGeom prst="line">
            <a:avLst/>
          </a:prstGeom>
          <a:noFill/>
          <a:ln w="19050">
            <a:solidFill>
              <a:srgbClr val="7C8598"/>
            </a:solidFill>
            <a:prstDash val="solid"/>
            <a:tailEnd type="none"/>
          </a:ln>
        </p:spPr>
        <p:txBody>
          <a:bodyPr/>
          <a:lstStyle/>
          <a:p>
            <a:endParaRPr lang="ko-KR" altLang="en-US"/>
          </a:p>
        </p:txBody>
      </p:sp>
      <p:sp>
        <p:nvSpPr>
          <p:cNvPr id="26" name="Shape 23"/>
          <p:cNvSpPr/>
          <p:nvPr/>
        </p:nvSpPr>
        <p:spPr>
          <a:xfrm>
            <a:off x="1643177" y="2953512"/>
            <a:ext cx="182880" cy="219456"/>
          </a:xfrm>
          <a:prstGeom prst="rect">
            <a:avLst/>
          </a:prstGeom>
          <a:solidFill>
            <a:srgbClr val="FFFFFF"/>
          </a:solidFill>
          <a:ln w="12700">
            <a:solidFill>
              <a:srgbClr val="4A5364"/>
            </a:solidFill>
            <a:prstDash val="solid"/>
          </a:ln>
        </p:spPr>
        <p:txBody>
          <a:bodyPr/>
          <a:lstStyle/>
          <a:p>
            <a:endParaRPr lang="ko-KR" altLang="en-US"/>
          </a:p>
        </p:txBody>
      </p:sp>
      <p:sp>
        <p:nvSpPr>
          <p:cNvPr id="27" name="Shape 24"/>
          <p:cNvSpPr/>
          <p:nvPr/>
        </p:nvSpPr>
        <p:spPr>
          <a:xfrm>
            <a:off x="1679753" y="3019349"/>
            <a:ext cx="109728" cy="0"/>
          </a:xfrm>
          <a:prstGeom prst="line">
            <a:avLst/>
          </a:prstGeom>
          <a:noFill/>
          <a:ln w="9525">
            <a:solidFill>
              <a:srgbClr val="4A5364"/>
            </a:solidFill>
            <a:prstDash val="solid"/>
          </a:ln>
        </p:spPr>
        <p:txBody>
          <a:bodyPr/>
          <a:lstStyle/>
          <a:p>
            <a:endParaRPr lang="ko-KR" altLang="en-US"/>
          </a:p>
        </p:txBody>
      </p:sp>
      <p:sp>
        <p:nvSpPr>
          <p:cNvPr id="28" name="Shape 25"/>
          <p:cNvSpPr/>
          <p:nvPr/>
        </p:nvSpPr>
        <p:spPr>
          <a:xfrm>
            <a:off x="1679753" y="3063240"/>
            <a:ext cx="109728" cy="0"/>
          </a:xfrm>
          <a:prstGeom prst="line">
            <a:avLst/>
          </a:prstGeom>
          <a:noFill/>
          <a:ln w="9525">
            <a:solidFill>
              <a:srgbClr val="4A5364"/>
            </a:solidFill>
            <a:prstDash val="solid"/>
          </a:ln>
        </p:spPr>
        <p:txBody>
          <a:bodyPr/>
          <a:lstStyle/>
          <a:p>
            <a:endParaRPr lang="ko-KR" altLang="en-US"/>
          </a:p>
        </p:txBody>
      </p:sp>
      <p:sp>
        <p:nvSpPr>
          <p:cNvPr id="29" name="Shape 26"/>
          <p:cNvSpPr/>
          <p:nvPr/>
        </p:nvSpPr>
        <p:spPr>
          <a:xfrm>
            <a:off x="1679753" y="3107131"/>
            <a:ext cx="109728" cy="0"/>
          </a:xfrm>
          <a:prstGeom prst="line">
            <a:avLst/>
          </a:prstGeom>
          <a:noFill/>
          <a:ln w="9525">
            <a:solidFill>
              <a:srgbClr val="4A5364"/>
            </a:solidFill>
            <a:prstDash val="solid"/>
          </a:ln>
        </p:spPr>
        <p:txBody>
          <a:bodyPr/>
          <a:lstStyle/>
          <a:p>
            <a:endParaRPr lang="ko-KR" altLang="en-US"/>
          </a:p>
        </p:txBody>
      </p:sp>
      <p:sp>
        <p:nvSpPr>
          <p:cNvPr id="30" name="Shape 27"/>
          <p:cNvSpPr/>
          <p:nvPr/>
        </p:nvSpPr>
        <p:spPr>
          <a:xfrm flipV="1">
            <a:off x="1853489" y="3758184"/>
            <a:ext cx="164592" cy="128016"/>
          </a:xfrm>
          <a:prstGeom prst="line">
            <a:avLst/>
          </a:prstGeom>
          <a:noFill/>
          <a:ln w="19050">
            <a:solidFill>
              <a:srgbClr val="7C8598"/>
            </a:solidFill>
            <a:prstDash val="solid"/>
            <a:tailEnd type="none"/>
          </a:ln>
        </p:spPr>
        <p:txBody>
          <a:bodyPr/>
          <a:lstStyle/>
          <a:p>
            <a:endParaRPr lang="ko-KR" altLang="en-US"/>
          </a:p>
        </p:txBody>
      </p:sp>
      <p:sp>
        <p:nvSpPr>
          <p:cNvPr id="31" name="Shape 28"/>
          <p:cNvSpPr/>
          <p:nvPr/>
        </p:nvSpPr>
        <p:spPr>
          <a:xfrm>
            <a:off x="1670609" y="3776472"/>
            <a:ext cx="182880" cy="219456"/>
          </a:xfrm>
          <a:prstGeom prst="rect">
            <a:avLst/>
          </a:prstGeom>
          <a:solidFill>
            <a:srgbClr val="FFFFFF"/>
          </a:solidFill>
          <a:ln w="12700">
            <a:solidFill>
              <a:srgbClr val="4A5364"/>
            </a:solidFill>
            <a:prstDash val="solid"/>
          </a:ln>
        </p:spPr>
        <p:txBody>
          <a:bodyPr/>
          <a:lstStyle/>
          <a:p>
            <a:endParaRPr lang="ko-KR" altLang="en-US"/>
          </a:p>
        </p:txBody>
      </p:sp>
      <p:sp>
        <p:nvSpPr>
          <p:cNvPr id="32" name="Shape 29"/>
          <p:cNvSpPr/>
          <p:nvPr/>
        </p:nvSpPr>
        <p:spPr>
          <a:xfrm>
            <a:off x="1707185" y="3842309"/>
            <a:ext cx="109728" cy="0"/>
          </a:xfrm>
          <a:prstGeom prst="line">
            <a:avLst/>
          </a:prstGeom>
          <a:noFill/>
          <a:ln w="9525">
            <a:solidFill>
              <a:srgbClr val="4A5364"/>
            </a:solidFill>
            <a:prstDash val="solid"/>
          </a:ln>
        </p:spPr>
        <p:txBody>
          <a:bodyPr/>
          <a:lstStyle/>
          <a:p>
            <a:endParaRPr lang="ko-KR" altLang="en-US"/>
          </a:p>
        </p:txBody>
      </p:sp>
      <p:sp>
        <p:nvSpPr>
          <p:cNvPr id="33" name="Shape 30"/>
          <p:cNvSpPr/>
          <p:nvPr/>
        </p:nvSpPr>
        <p:spPr>
          <a:xfrm>
            <a:off x="1707185" y="3886200"/>
            <a:ext cx="109728" cy="0"/>
          </a:xfrm>
          <a:prstGeom prst="line">
            <a:avLst/>
          </a:prstGeom>
          <a:noFill/>
          <a:ln w="9525">
            <a:solidFill>
              <a:srgbClr val="4A5364"/>
            </a:solidFill>
            <a:prstDash val="solid"/>
          </a:ln>
        </p:spPr>
        <p:txBody>
          <a:bodyPr/>
          <a:lstStyle/>
          <a:p>
            <a:endParaRPr lang="ko-KR" altLang="en-US"/>
          </a:p>
        </p:txBody>
      </p:sp>
      <p:sp>
        <p:nvSpPr>
          <p:cNvPr id="34" name="Shape 31"/>
          <p:cNvSpPr/>
          <p:nvPr/>
        </p:nvSpPr>
        <p:spPr>
          <a:xfrm>
            <a:off x="1707185" y="3930091"/>
            <a:ext cx="109728" cy="0"/>
          </a:xfrm>
          <a:prstGeom prst="line">
            <a:avLst/>
          </a:prstGeom>
          <a:noFill/>
          <a:ln w="9525">
            <a:solidFill>
              <a:srgbClr val="4A5364"/>
            </a:solidFill>
            <a:prstDash val="solid"/>
          </a:ln>
        </p:spPr>
        <p:txBody>
          <a:bodyPr/>
          <a:lstStyle/>
          <a:p>
            <a:endParaRPr lang="ko-KR" altLang="en-US"/>
          </a:p>
        </p:txBody>
      </p:sp>
      <p:sp>
        <p:nvSpPr>
          <p:cNvPr id="35" name="Shape 32"/>
          <p:cNvSpPr/>
          <p:nvPr/>
        </p:nvSpPr>
        <p:spPr>
          <a:xfrm>
            <a:off x="1844345" y="3191256"/>
            <a:ext cx="256032" cy="256032"/>
          </a:xfrm>
          <a:prstGeom prst="ellipse">
            <a:avLst/>
          </a:prstGeom>
          <a:solidFill>
            <a:srgbClr val="1E2A5C"/>
          </a:solidFill>
          <a:ln w="15875">
            <a:solidFill>
              <a:srgbClr val="1E2A5C"/>
            </a:solidFill>
            <a:prstDash val="solid"/>
          </a:ln>
        </p:spPr>
        <p:txBody>
          <a:bodyPr/>
          <a:lstStyle/>
          <a:p>
            <a:endParaRPr lang="ko-KR" altLang="en-US"/>
          </a:p>
        </p:txBody>
      </p:sp>
      <p:sp>
        <p:nvSpPr>
          <p:cNvPr id="36" name="Shape 33"/>
          <p:cNvSpPr/>
          <p:nvPr/>
        </p:nvSpPr>
        <p:spPr>
          <a:xfrm>
            <a:off x="1890065" y="3630168"/>
            <a:ext cx="256032" cy="256032"/>
          </a:xfrm>
          <a:prstGeom prst="ellipse">
            <a:avLst/>
          </a:prstGeom>
          <a:solidFill>
            <a:srgbClr val="1E2A5C"/>
          </a:solidFill>
          <a:ln w="15875">
            <a:solidFill>
              <a:srgbClr val="1E2A5C"/>
            </a:solidFill>
            <a:prstDash val="solid"/>
          </a:ln>
        </p:spPr>
        <p:txBody>
          <a:bodyPr/>
          <a:lstStyle/>
          <a:p>
            <a:endParaRPr lang="ko-KR" altLang="en-US"/>
          </a:p>
        </p:txBody>
      </p:sp>
      <p:sp>
        <p:nvSpPr>
          <p:cNvPr id="37" name="Text 34"/>
          <p:cNvSpPr/>
          <p:nvPr/>
        </p:nvSpPr>
        <p:spPr>
          <a:xfrm>
            <a:off x="1277417" y="3291840"/>
            <a:ext cx="384048" cy="384048"/>
          </a:xfrm>
          <a:prstGeom prst="ellipse">
            <a:avLst/>
          </a:prstGeom>
          <a:solidFill>
            <a:srgbClr val="2E74C6"/>
          </a:solidFill>
          <a:ln w="12700">
            <a:solidFill>
              <a:srgbClr val="2E74C6"/>
            </a:solidFill>
          </a:ln>
        </p:spPr>
        <p:txBody>
          <a:bodyPr wrap="square" lIns="0" tIns="0" rIns="0" bIns="0"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Q</a:t>
            </a:r>
            <a:endParaRPr lang="en-US" sz="1600" dirty="0"/>
          </a:p>
        </p:txBody>
      </p:sp>
      <p:sp>
        <p:nvSpPr>
          <p:cNvPr id="38" name="Shape 35"/>
          <p:cNvSpPr/>
          <p:nvPr/>
        </p:nvSpPr>
        <p:spPr>
          <a:xfrm>
            <a:off x="3316529" y="3008376"/>
            <a:ext cx="182880" cy="182880"/>
          </a:xfrm>
          <a:prstGeom prst="ellipse">
            <a:avLst/>
          </a:prstGeom>
          <a:solidFill>
            <a:srgbClr val="1E2A5C"/>
          </a:solidFill>
          <a:ln w="15875">
            <a:solidFill>
              <a:srgbClr val="1E2A5C"/>
            </a:solidFill>
            <a:prstDash val="solid"/>
          </a:ln>
        </p:spPr>
        <p:txBody>
          <a:bodyPr/>
          <a:lstStyle/>
          <a:p>
            <a:endParaRPr lang="ko-KR" altLang="en-US"/>
          </a:p>
        </p:txBody>
      </p:sp>
      <p:sp>
        <p:nvSpPr>
          <p:cNvPr id="39" name="Shape 36"/>
          <p:cNvSpPr/>
          <p:nvPr/>
        </p:nvSpPr>
        <p:spPr>
          <a:xfrm>
            <a:off x="3298241" y="3355848"/>
            <a:ext cx="228600" cy="0"/>
          </a:xfrm>
          <a:prstGeom prst="line">
            <a:avLst/>
          </a:prstGeom>
          <a:noFill/>
          <a:ln w="12700">
            <a:solidFill>
              <a:srgbClr val="7C8598"/>
            </a:solidFill>
            <a:prstDash val="dash"/>
            <a:tailEnd type="none"/>
          </a:ln>
        </p:spPr>
        <p:txBody>
          <a:bodyPr/>
          <a:lstStyle/>
          <a:p>
            <a:endParaRPr lang="ko-KR" altLang="en-US"/>
          </a:p>
        </p:txBody>
      </p:sp>
      <p:sp>
        <p:nvSpPr>
          <p:cNvPr id="40" name="Shape 37"/>
          <p:cNvSpPr/>
          <p:nvPr/>
        </p:nvSpPr>
        <p:spPr>
          <a:xfrm>
            <a:off x="3298241" y="3611880"/>
            <a:ext cx="228600" cy="0"/>
          </a:xfrm>
          <a:prstGeom prst="line">
            <a:avLst/>
          </a:prstGeom>
          <a:noFill/>
          <a:ln w="19050">
            <a:solidFill>
              <a:srgbClr val="1E2A5C"/>
            </a:solidFill>
            <a:prstDash val="solid"/>
            <a:tailEnd type="none"/>
          </a:ln>
        </p:spPr>
        <p:txBody>
          <a:bodyPr/>
          <a:lstStyle/>
          <a:p>
            <a:endParaRPr lang="ko-KR" altLang="en-US"/>
          </a:p>
        </p:txBody>
      </p:sp>
      <p:sp>
        <p:nvSpPr>
          <p:cNvPr id="41" name="Shape 38"/>
          <p:cNvSpPr/>
          <p:nvPr/>
        </p:nvSpPr>
        <p:spPr>
          <a:xfrm>
            <a:off x="3325673" y="3758184"/>
            <a:ext cx="164592" cy="201168"/>
          </a:xfrm>
          <a:prstGeom prst="rect">
            <a:avLst/>
          </a:prstGeom>
          <a:solidFill>
            <a:srgbClr val="FFFFFF"/>
          </a:solidFill>
          <a:ln w="12700">
            <a:solidFill>
              <a:srgbClr val="4A5364"/>
            </a:solidFill>
            <a:prstDash val="solid"/>
          </a:ln>
        </p:spPr>
        <p:txBody>
          <a:bodyPr/>
          <a:lstStyle/>
          <a:p>
            <a:endParaRPr lang="ko-KR" altLang="en-US"/>
          </a:p>
        </p:txBody>
      </p:sp>
      <p:sp>
        <p:nvSpPr>
          <p:cNvPr id="42" name="Shape 39"/>
          <p:cNvSpPr/>
          <p:nvPr/>
        </p:nvSpPr>
        <p:spPr>
          <a:xfrm>
            <a:off x="3358591" y="3818534"/>
            <a:ext cx="98755" cy="0"/>
          </a:xfrm>
          <a:prstGeom prst="line">
            <a:avLst/>
          </a:prstGeom>
          <a:noFill/>
          <a:ln w="9525">
            <a:solidFill>
              <a:srgbClr val="4A5364"/>
            </a:solidFill>
            <a:prstDash val="solid"/>
          </a:ln>
        </p:spPr>
        <p:txBody>
          <a:bodyPr/>
          <a:lstStyle/>
          <a:p>
            <a:endParaRPr lang="ko-KR" altLang="en-US"/>
          </a:p>
        </p:txBody>
      </p:sp>
      <p:sp>
        <p:nvSpPr>
          <p:cNvPr id="43" name="Shape 40"/>
          <p:cNvSpPr/>
          <p:nvPr/>
        </p:nvSpPr>
        <p:spPr>
          <a:xfrm>
            <a:off x="3358591" y="3858768"/>
            <a:ext cx="98755" cy="0"/>
          </a:xfrm>
          <a:prstGeom prst="line">
            <a:avLst/>
          </a:prstGeom>
          <a:noFill/>
          <a:ln w="9525">
            <a:solidFill>
              <a:srgbClr val="4A5364"/>
            </a:solidFill>
            <a:prstDash val="solid"/>
          </a:ln>
        </p:spPr>
        <p:txBody>
          <a:bodyPr/>
          <a:lstStyle/>
          <a:p>
            <a:endParaRPr lang="ko-KR" altLang="en-US"/>
          </a:p>
        </p:txBody>
      </p:sp>
      <p:sp>
        <p:nvSpPr>
          <p:cNvPr id="44" name="Shape 41"/>
          <p:cNvSpPr/>
          <p:nvPr/>
        </p:nvSpPr>
        <p:spPr>
          <a:xfrm>
            <a:off x="3358591" y="3899002"/>
            <a:ext cx="98755" cy="0"/>
          </a:xfrm>
          <a:prstGeom prst="line">
            <a:avLst/>
          </a:prstGeom>
          <a:noFill/>
          <a:ln w="9525">
            <a:solidFill>
              <a:srgbClr val="4A5364"/>
            </a:solidFill>
            <a:prstDash val="solid"/>
          </a:ln>
        </p:spPr>
        <p:txBody>
          <a:bodyPr/>
          <a:lstStyle/>
          <a:p>
            <a:endParaRPr lang="ko-KR" altLang="en-US"/>
          </a:p>
        </p:txBody>
      </p:sp>
      <p:sp>
        <p:nvSpPr>
          <p:cNvPr id="45" name="Text 42"/>
          <p:cNvSpPr txBox="1"/>
          <p:nvPr/>
        </p:nvSpPr>
        <p:spPr>
          <a:xfrm>
            <a:off x="3572561" y="2971800"/>
            <a:ext cx="1325880" cy="256032"/>
          </a:xfrm>
          <a:prstGeom prst="rect">
            <a:avLst/>
          </a:prstGeom>
          <a:noFill/>
          <a:ln/>
        </p:spPr>
        <p:txBody>
          <a:bodyPr wrap="square" lIns="762" tIns="762" rIns="762" bIns="762"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진입점</a:t>
            </a:r>
            <a:endParaRPr lang="en-US" sz="1400" dirty="0"/>
          </a:p>
        </p:txBody>
      </p:sp>
      <p:sp>
        <p:nvSpPr>
          <p:cNvPr id="46" name="Text 43"/>
          <p:cNvSpPr txBox="1"/>
          <p:nvPr/>
        </p:nvSpPr>
        <p:spPr>
          <a:xfrm>
            <a:off x="3572561" y="3227832"/>
            <a:ext cx="1325880" cy="256032"/>
          </a:xfrm>
          <a:prstGeom prst="rect">
            <a:avLst/>
          </a:prstGeom>
          <a:noFill/>
          <a:ln/>
        </p:spPr>
        <p:txBody>
          <a:bodyPr wrap="square" lIns="762" tIns="762" rIns="762" bIns="762"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뜻 거리</a:t>
            </a:r>
            <a:endParaRPr lang="en-US" sz="1400" dirty="0"/>
          </a:p>
        </p:txBody>
      </p:sp>
      <p:sp>
        <p:nvSpPr>
          <p:cNvPr id="47" name="Text 44"/>
          <p:cNvSpPr txBox="1"/>
          <p:nvPr/>
        </p:nvSpPr>
        <p:spPr>
          <a:xfrm>
            <a:off x="3572561" y="3483864"/>
            <a:ext cx="1325880" cy="256032"/>
          </a:xfrm>
          <a:prstGeom prst="rect">
            <a:avLst/>
          </a:prstGeom>
          <a:noFill/>
          <a:ln/>
        </p:spPr>
        <p:txBody>
          <a:bodyPr wrap="square" lIns="762" tIns="762" rIns="762" bIns="762"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관계 (1홉)</a:t>
            </a:r>
            <a:endParaRPr lang="en-US" sz="1400" dirty="0"/>
          </a:p>
        </p:txBody>
      </p:sp>
      <p:sp>
        <p:nvSpPr>
          <p:cNvPr id="48" name="Text 45"/>
          <p:cNvSpPr txBox="1"/>
          <p:nvPr/>
        </p:nvSpPr>
        <p:spPr>
          <a:xfrm>
            <a:off x="3572561" y="3739896"/>
            <a:ext cx="1325880" cy="256032"/>
          </a:xfrm>
          <a:prstGeom prst="rect">
            <a:avLst/>
          </a:prstGeom>
          <a:noFill/>
          <a:ln/>
        </p:spPr>
        <p:txBody>
          <a:bodyPr wrap="square" lIns="762" tIns="762" rIns="762" bIns="762"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원문 조각</a:t>
            </a:r>
            <a:endParaRPr lang="en-US" sz="1400" dirty="0"/>
          </a:p>
        </p:txBody>
      </p:sp>
      <p:sp>
        <p:nvSpPr>
          <p:cNvPr id="49" name="Shape 46"/>
          <p:cNvSpPr/>
          <p:nvPr/>
        </p:nvSpPr>
        <p:spPr>
          <a:xfrm>
            <a:off x="646481" y="4101084"/>
            <a:ext cx="310896" cy="310896"/>
          </a:xfrm>
          <a:prstGeom prst="roundRect">
            <a:avLst>
              <a:gd name="adj" fmla="val 14706"/>
            </a:avLst>
          </a:prstGeom>
          <a:solidFill>
            <a:srgbClr val="1E2A5C"/>
          </a:solidFill>
          <a:ln/>
        </p:spPr>
        <p:txBody>
          <a:bodyPr/>
          <a:lstStyle/>
          <a:p>
            <a:endParaRPr lang="ko-KR" altLang="en-US"/>
          </a:p>
        </p:txBody>
      </p:sp>
      <p:sp>
        <p:nvSpPr>
          <p:cNvPr id="50" name="Text 47"/>
          <p:cNvSpPr txBox="1"/>
          <p:nvPr/>
        </p:nvSpPr>
        <p:spPr>
          <a:xfrm>
            <a:off x="646481" y="410108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51" name="Text 48"/>
          <p:cNvSpPr txBox="1"/>
          <p:nvPr/>
        </p:nvSpPr>
        <p:spPr>
          <a:xfrm>
            <a:off x="1039673" y="4059936"/>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Q와 뜻이 가까운 엔티티 몇 개를 진입점으로 찾기</a:t>
            </a:r>
            <a:endParaRPr lang="en-US" sz="1500" dirty="0"/>
          </a:p>
        </p:txBody>
      </p:sp>
      <p:sp>
        <p:nvSpPr>
          <p:cNvPr id="52" name="Shape 49"/>
          <p:cNvSpPr/>
          <p:nvPr/>
        </p:nvSpPr>
        <p:spPr>
          <a:xfrm>
            <a:off x="646481" y="4494276"/>
            <a:ext cx="310896" cy="310896"/>
          </a:xfrm>
          <a:prstGeom prst="roundRect">
            <a:avLst>
              <a:gd name="adj" fmla="val 14706"/>
            </a:avLst>
          </a:prstGeom>
          <a:solidFill>
            <a:srgbClr val="1E2A5C"/>
          </a:solidFill>
          <a:ln/>
        </p:spPr>
        <p:txBody>
          <a:bodyPr/>
          <a:lstStyle/>
          <a:p>
            <a:endParaRPr lang="ko-KR" altLang="en-US"/>
          </a:p>
        </p:txBody>
      </p:sp>
      <p:sp>
        <p:nvSpPr>
          <p:cNvPr id="53" name="Text 50"/>
          <p:cNvSpPr txBox="1"/>
          <p:nvPr/>
        </p:nvSpPr>
        <p:spPr>
          <a:xfrm>
            <a:off x="646481" y="449427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54" name="Text 51"/>
          <p:cNvSpPr txBox="1"/>
          <p:nvPr/>
        </p:nvSpPr>
        <p:spPr>
          <a:xfrm>
            <a:off x="1039673" y="4453128"/>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진입점에서 뻗은 관계(1홉)와 관계 설명을</a:t>
            </a:r>
            <a:endParaRPr lang="en-US" sz="1500" dirty="0"/>
          </a:p>
          <a:p>
            <a:pPr marL="0" indent="0" algn="l">
              <a:buNone/>
            </a:pPr>
            <a:r>
              <a:rPr lang="en-US" sz="1500" dirty="0">
                <a:solidFill>
                  <a:srgbClr val="2B3242"/>
                </a:solidFill>
                <a:latin typeface="Pretendard" pitchFamily="34" charset="0"/>
                <a:ea typeface="Pretendard" pitchFamily="34" charset="-122"/>
                <a:cs typeface="Pretendard" pitchFamily="34" charset="-120"/>
              </a:rPr>
              <a:t>근거 후보에 넣기</a:t>
            </a:r>
            <a:endParaRPr lang="en-US" sz="1500" dirty="0"/>
          </a:p>
        </p:txBody>
      </p:sp>
      <p:sp>
        <p:nvSpPr>
          <p:cNvPr id="55" name="Shape 52"/>
          <p:cNvSpPr/>
          <p:nvPr/>
        </p:nvSpPr>
        <p:spPr>
          <a:xfrm>
            <a:off x="646481" y="4887468"/>
            <a:ext cx="310896" cy="310896"/>
          </a:xfrm>
          <a:prstGeom prst="roundRect">
            <a:avLst>
              <a:gd name="adj" fmla="val 14706"/>
            </a:avLst>
          </a:prstGeom>
          <a:solidFill>
            <a:srgbClr val="1E2A5C"/>
          </a:solidFill>
          <a:ln/>
        </p:spPr>
        <p:txBody>
          <a:bodyPr/>
          <a:lstStyle/>
          <a:p>
            <a:endParaRPr lang="ko-KR" altLang="en-US"/>
          </a:p>
        </p:txBody>
      </p:sp>
      <p:sp>
        <p:nvSpPr>
          <p:cNvPr id="56" name="Text 53"/>
          <p:cNvSpPr txBox="1"/>
          <p:nvPr/>
        </p:nvSpPr>
        <p:spPr>
          <a:xfrm>
            <a:off x="646481" y="4887468"/>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57" name="Text 54"/>
          <p:cNvSpPr txBox="1"/>
          <p:nvPr/>
        </p:nvSpPr>
        <p:spPr>
          <a:xfrm>
            <a:off x="1039673" y="4846320"/>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진입점의 원문 조각 · 리포트도 근거 후보에 넣기</a:t>
            </a:r>
            <a:endParaRPr lang="en-US" sz="1500" dirty="0"/>
          </a:p>
        </p:txBody>
      </p:sp>
      <p:sp>
        <p:nvSpPr>
          <p:cNvPr id="58" name="Shape 55"/>
          <p:cNvSpPr/>
          <p:nvPr/>
        </p:nvSpPr>
        <p:spPr>
          <a:xfrm>
            <a:off x="646481" y="5280660"/>
            <a:ext cx="310896" cy="310896"/>
          </a:xfrm>
          <a:prstGeom prst="roundRect">
            <a:avLst>
              <a:gd name="adj" fmla="val 14706"/>
            </a:avLst>
          </a:prstGeom>
          <a:solidFill>
            <a:srgbClr val="1E2A5C"/>
          </a:solidFill>
          <a:ln/>
        </p:spPr>
        <p:txBody>
          <a:bodyPr/>
          <a:lstStyle/>
          <a:p>
            <a:endParaRPr lang="ko-KR" altLang="en-US"/>
          </a:p>
        </p:txBody>
      </p:sp>
      <p:sp>
        <p:nvSpPr>
          <p:cNvPr id="59" name="Text 56"/>
          <p:cNvSpPr txBox="1"/>
          <p:nvPr/>
        </p:nvSpPr>
        <p:spPr>
          <a:xfrm>
            <a:off x="646481" y="5280660"/>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60" name="Text 57"/>
          <p:cNvSpPr txBox="1"/>
          <p:nvPr/>
        </p:nvSpPr>
        <p:spPr>
          <a:xfrm>
            <a:off x="1039673" y="5239512"/>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토큰 한도에 맞게 추려 LLM이 답변</a:t>
            </a:r>
            <a:endParaRPr lang="en-US" sz="1500" dirty="0"/>
          </a:p>
        </p:txBody>
      </p:sp>
      <p:sp>
        <p:nvSpPr>
          <p:cNvPr id="61" name="Shape 58"/>
          <p:cNvSpPr/>
          <p:nvPr/>
        </p:nvSpPr>
        <p:spPr>
          <a:xfrm>
            <a:off x="646481" y="5678424"/>
            <a:ext cx="4114800" cy="0"/>
          </a:xfrm>
          <a:prstGeom prst="line">
            <a:avLst/>
          </a:prstGeom>
          <a:noFill/>
          <a:ln w="12700">
            <a:solidFill>
              <a:srgbClr val="EDF0F6"/>
            </a:solidFill>
            <a:prstDash val="solid"/>
          </a:ln>
        </p:spPr>
        <p:txBody>
          <a:bodyPr/>
          <a:lstStyle/>
          <a:p>
            <a:endParaRPr lang="ko-KR" altLang="en-US"/>
          </a:p>
        </p:txBody>
      </p:sp>
      <p:sp>
        <p:nvSpPr>
          <p:cNvPr id="62" name="Text 59"/>
          <p:cNvSpPr txBox="1"/>
          <p:nvPr/>
        </p:nvSpPr>
        <p:spPr>
          <a:xfrm>
            <a:off x="646481" y="5696712"/>
            <a:ext cx="4114800" cy="320040"/>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LightRAG는 1단계를 세부(Low-level) 키워드로 수행</a:t>
            </a:r>
            <a:endParaRPr lang="en-US" sz="1400" dirty="0"/>
          </a:p>
        </p:txBody>
      </p:sp>
      <p:sp>
        <p:nvSpPr>
          <p:cNvPr id="63" name="Shape 60"/>
          <p:cNvSpPr/>
          <p:nvPr/>
        </p:nvSpPr>
        <p:spPr>
          <a:xfrm>
            <a:off x="5127041" y="1737360"/>
            <a:ext cx="4389120" cy="4297680"/>
          </a:xfrm>
          <a:prstGeom prst="roundRect">
            <a:avLst>
              <a:gd name="adj" fmla="val 1702"/>
            </a:avLst>
          </a:prstGeom>
          <a:solidFill>
            <a:srgbClr val="FFFFFF"/>
          </a:solidFill>
          <a:ln w="12700">
            <a:solidFill>
              <a:srgbClr val="D9E0EC"/>
            </a:solidFill>
            <a:prstDash val="solid"/>
          </a:ln>
        </p:spPr>
        <p:txBody>
          <a:bodyPr/>
          <a:lstStyle/>
          <a:p>
            <a:endParaRPr lang="ko-KR" altLang="en-US"/>
          </a:p>
        </p:txBody>
      </p:sp>
      <p:sp>
        <p:nvSpPr>
          <p:cNvPr id="64" name="Shape 61"/>
          <p:cNvSpPr/>
          <p:nvPr/>
        </p:nvSpPr>
        <p:spPr>
          <a:xfrm>
            <a:off x="5127041" y="1737360"/>
            <a:ext cx="4389120" cy="457200"/>
          </a:xfrm>
          <a:prstGeom prst="roundRect">
            <a:avLst>
              <a:gd name="adj" fmla="val 12000"/>
            </a:avLst>
          </a:prstGeom>
          <a:solidFill>
            <a:srgbClr val="2E74C6"/>
          </a:solidFill>
          <a:ln/>
        </p:spPr>
        <p:txBody>
          <a:bodyPr/>
          <a:lstStyle/>
          <a:p>
            <a:endParaRPr lang="ko-KR" altLang="en-US"/>
          </a:p>
        </p:txBody>
      </p:sp>
      <p:sp>
        <p:nvSpPr>
          <p:cNvPr id="65" name="Text 62"/>
          <p:cNvSpPr txBox="1"/>
          <p:nvPr/>
        </p:nvSpPr>
        <p:spPr>
          <a:xfrm>
            <a:off x="5127041" y="1737360"/>
            <a:ext cx="4389120" cy="457200"/>
          </a:xfrm>
          <a:prstGeom prst="rect">
            <a:avLst/>
          </a:prstGeom>
          <a:noFill/>
          <a:ln/>
        </p:spPr>
        <p:txBody>
          <a:bodyPr wrap="square" lIns="1016" tIns="1016" rIns="1016" bIns="1016"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Global Search</a:t>
            </a:r>
            <a:endParaRPr lang="en-US" sz="2000" dirty="0"/>
          </a:p>
        </p:txBody>
      </p:sp>
      <p:sp>
        <p:nvSpPr>
          <p:cNvPr id="66" name="Shape 63"/>
          <p:cNvSpPr/>
          <p:nvPr/>
        </p:nvSpPr>
        <p:spPr>
          <a:xfrm>
            <a:off x="5264201" y="2286000"/>
            <a:ext cx="4114800" cy="640080"/>
          </a:xfrm>
          <a:prstGeom prst="roundRect">
            <a:avLst>
              <a:gd name="adj" fmla="val 8571"/>
            </a:avLst>
          </a:prstGeom>
          <a:solidFill>
            <a:srgbClr val="EEF3FA"/>
          </a:solidFill>
          <a:ln/>
        </p:spPr>
        <p:txBody>
          <a:bodyPr/>
          <a:lstStyle/>
          <a:p>
            <a:endParaRPr lang="ko-KR" altLang="en-US"/>
          </a:p>
        </p:txBody>
      </p:sp>
      <p:sp>
        <p:nvSpPr>
          <p:cNvPr id="67" name="Text 64"/>
          <p:cNvSpPr txBox="1"/>
          <p:nvPr/>
        </p:nvSpPr>
        <p:spPr>
          <a:xfrm>
            <a:off x="5328209" y="2286000"/>
            <a:ext cx="3986784" cy="640080"/>
          </a:xfrm>
          <a:prstGeom prst="rect">
            <a:avLst/>
          </a:prstGeom>
          <a:noFill/>
          <a:ln/>
        </p:spPr>
        <p:txBody>
          <a:bodyPr wrap="square" lIns="508" tIns="508" rIns="508" bIns="508" rtlCol="0" anchor="ctr"/>
          <a:lstStyle/>
          <a:p>
            <a:pPr marL="0" indent="0">
              <a:buNone/>
            </a:pPr>
            <a:r>
              <a:rPr lang="en-US" sz="1500" b="1" dirty="0">
                <a:solidFill>
                  <a:srgbClr val="2E74C6"/>
                </a:solidFill>
                <a:latin typeface="Pretendard" pitchFamily="34" charset="0"/>
                <a:ea typeface="Pretendard" pitchFamily="34" charset="-122"/>
                <a:cs typeface="Pretendard" pitchFamily="34" charset="-120"/>
              </a:rPr>
              <a:t>문서 전체를 조망하는 질문</a:t>
            </a:r>
            <a:endParaRPr lang="en-US" sz="1500" dirty="0"/>
          </a:p>
          <a:p>
            <a:pPr marL="0" indent="0">
              <a:buNone/>
            </a:pPr>
            <a:r>
              <a:rPr lang="en-US" sz="1400" dirty="0">
                <a:solidFill>
                  <a:srgbClr val="2B3242"/>
                </a:solidFill>
                <a:latin typeface="Pretendard" pitchFamily="34" charset="0"/>
                <a:ea typeface="Pretendard" pitchFamily="34" charset="-122"/>
                <a:cs typeface="Pretendard" pitchFamily="34" charset="-120"/>
              </a:rPr>
              <a:t>예) 고객 불만의 주요 주제는?</a:t>
            </a:r>
            <a:endParaRPr lang="en-US" sz="1500" dirty="0"/>
          </a:p>
        </p:txBody>
      </p:sp>
      <p:sp>
        <p:nvSpPr>
          <p:cNvPr id="68" name="Text 65"/>
          <p:cNvSpPr txBox="1"/>
          <p:nvPr/>
        </p:nvSpPr>
        <p:spPr>
          <a:xfrm>
            <a:off x="5264201" y="2980944"/>
            <a:ext cx="1097280" cy="256032"/>
          </a:xfrm>
          <a:prstGeom prst="rect">
            <a:avLst/>
          </a:prstGeom>
          <a:noFill/>
          <a:ln/>
        </p:spPr>
        <p:txBody>
          <a:bodyPr wrap="square" lIns="762" tIns="762" rIns="762" bIns="762" rtlCol="0" anchor="ctr"/>
          <a:lstStyle/>
          <a:p>
            <a:pPr marL="0" indent="0" algn="ctr">
              <a:buNone/>
            </a:pPr>
            <a:r>
              <a:rPr lang="en-US" sz="1400" b="1" dirty="0">
                <a:solidFill>
                  <a:srgbClr val="7C8598"/>
                </a:solidFill>
                <a:latin typeface="Pretendard" pitchFamily="34" charset="0"/>
                <a:ea typeface="Pretendard" pitchFamily="34" charset="-122"/>
                <a:cs typeface="Pretendard" pitchFamily="34" charset="-120"/>
              </a:rPr>
              <a:t>리포트 묶음</a:t>
            </a:r>
            <a:endParaRPr lang="en-US" sz="1400" dirty="0"/>
          </a:p>
        </p:txBody>
      </p:sp>
      <p:sp>
        <p:nvSpPr>
          <p:cNvPr id="69" name="Text 66"/>
          <p:cNvSpPr txBox="1"/>
          <p:nvPr/>
        </p:nvSpPr>
        <p:spPr>
          <a:xfrm>
            <a:off x="6772961" y="2980944"/>
            <a:ext cx="914400" cy="256032"/>
          </a:xfrm>
          <a:prstGeom prst="rect">
            <a:avLst/>
          </a:prstGeom>
          <a:noFill/>
          <a:ln/>
        </p:spPr>
        <p:txBody>
          <a:bodyPr wrap="square" lIns="762" tIns="762" rIns="762" bIns="762"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map</a:t>
            </a:r>
            <a:endParaRPr lang="en-US" sz="1400" dirty="0"/>
          </a:p>
        </p:txBody>
      </p:sp>
      <p:sp>
        <p:nvSpPr>
          <p:cNvPr id="70" name="Text 67"/>
          <p:cNvSpPr txBox="1"/>
          <p:nvPr/>
        </p:nvSpPr>
        <p:spPr>
          <a:xfrm>
            <a:off x="8190281" y="2980944"/>
            <a:ext cx="1234440" cy="256032"/>
          </a:xfrm>
          <a:prstGeom prst="rect">
            <a:avLst/>
          </a:prstGeom>
          <a:noFill/>
          <a:ln/>
        </p:spPr>
        <p:txBody>
          <a:bodyPr wrap="square" lIns="762" tIns="762" rIns="762" bIns="762"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reduce</a:t>
            </a:r>
            <a:endParaRPr lang="en-US" sz="1400" dirty="0"/>
          </a:p>
        </p:txBody>
      </p:sp>
      <p:sp>
        <p:nvSpPr>
          <p:cNvPr id="71" name="Shape 68"/>
          <p:cNvSpPr/>
          <p:nvPr/>
        </p:nvSpPr>
        <p:spPr>
          <a:xfrm>
            <a:off x="5355641" y="3255264"/>
            <a:ext cx="914400" cy="237744"/>
          </a:xfrm>
          <a:prstGeom prst="roundRect">
            <a:avLst>
              <a:gd name="adj" fmla="val 15385"/>
            </a:avLst>
          </a:prstGeom>
          <a:solidFill>
            <a:srgbClr val="EEF3FA"/>
          </a:solidFill>
          <a:ln w="12700">
            <a:solidFill>
              <a:srgbClr val="C3CEE0"/>
            </a:solidFill>
            <a:prstDash val="solid"/>
          </a:ln>
        </p:spPr>
        <p:txBody>
          <a:bodyPr/>
          <a:lstStyle/>
          <a:p>
            <a:endParaRPr lang="ko-KR" altLang="en-US"/>
          </a:p>
        </p:txBody>
      </p:sp>
      <p:sp>
        <p:nvSpPr>
          <p:cNvPr id="72" name="Text 69"/>
          <p:cNvSpPr txBox="1"/>
          <p:nvPr/>
        </p:nvSpPr>
        <p:spPr>
          <a:xfrm>
            <a:off x="5355641" y="3255264"/>
            <a:ext cx="914400" cy="237744"/>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리포트</a:t>
            </a:r>
            <a:endParaRPr lang="en-US" sz="1400" dirty="0"/>
          </a:p>
        </p:txBody>
      </p:sp>
      <p:sp>
        <p:nvSpPr>
          <p:cNvPr id="73" name="Shape 70"/>
          <p:cNvSpPr/>
          <p:nvPr/>
        </p:nvSpPr>
        <p:spPr>
          <a:xfrm>
            <a:off x="6772961" y="3255264"/>
            <a:ext cx="914400" cy="237744"/>
          </a:xfrm>
          <a:prstGeom prst="roundRect">
            <a:avLst>
              <a:gd name="adj" fmla="val 15385"/>
            </a:avLst>
          </a:prstGeom>
          <a:solidFill>
            <a:srgbClr val="FFFFFF"/>
          </a:solidFill>
          <a:ln w="12700">
            <a:solidFill>
              <a:srgbClr val="2E74C6"/>
            </a:solidFill>
            <a:prstDash val="solid"/>
          </a:ln>
        </p:spPr>
        <p:txBody>
          <a:bodyPr/>
          <a:lstStyle/>
          <a:p>
            <a:endParaRPr lang="ko-KR" altLang="en-US"/>
          </a:p>
        </p:txBody>
      </p:sp>
      <p:sp>
        <p:nvSpPr>
          <p:cNvPr id="74" name="Text 71"/>
          <p:cNvSpPr txBox="1"/>
          <p:nvPr/>
        </p:nvSpPr>
        <p:spPr>
          <a:xfrm>
            <a:off x="6772961" y="3255264"/>
            <a:ext cx="914400" cy="237744"/>
          </a:xfrm>
          <a:prstGeom prst="rect">
            <a:avLst/>
          </a:prstGeom>
          <a:noFill/>
          <a:ln/>
        </p:spPr>
        <p:txBody>
          <a:bodyPr wrap="square" lIns="1016" tIns="1016" rIns="1016" bIns="1016" rtlCol="0" anchor="ctr"/>
          <a:lstStyle/>
          <a:p>
            <a:pPr marL="0" indent="0" algn="ctr">
              <a:buNone/>
            </a:pPr>
            <a:r>
              <a:rPr lang="en-US" sz="1400" dirty="0">
                <a:solidFill>
                  <a:srgbClr val="2E74C6"/>
                </a:solidFill>
                <a:latin typeface="Pretendard" pitchFamily="34" charset="0"/>
                <a:ea typeface="Pretendard" pitchFamily="34" charset="-122"/>
                <a:cs typeface="Pretendard" pitchFamily="34" charset="-120"/>
              </a:rPr>
              <a:t>중간 답</a:t>
            </a:r>
            <a:endParaRPr lang="en-US" sz="1400" dirty="0"/>
          </a:p>
        </p:txBody>
      </p:sp>
      <p:sp>
        <p:nvSpPr>
          <p:cNvPr id="75" name="Shape 72"/>
          <p:cNvSpPr/>
          <p:nvPr/>
        </p:nvSpPr>
        <p:spPr>
          <a:xfrm>
            <a:off x="6306617" y="3374136"/>
            <a:ext cx="429768" cy="0"/>
          </a:xfrm>
          <a:prstGeom prst="line">
            <a:avLst/>
          </a:prstGeom>
          <a:noFill/>
          <a:ln w="15875">
            <a:solidFill>
              <a:srgbClr val="7C8598"/>
            </a:solidFill>
            <a:prstDash val="solid"/>
            <a:tailEnd type="triangle"/>
          </a:ln>
        </p:spPr>
        <p:txBody>
          <a:bodyPr/>
          <a:lstStyle/>
          <a:p>
            <a:endParaRPr lang="ko-KR" altLang="en-US"/>
          </a:p>
        </p:txBody>
      </p:sp>
      <p:sp>
        <p:nvSpPr>
          <p:cNvPr id="76" name="Shape 73"/>
          <p:cNvSpPr/>
          <p:nvPr/>
        </p:nvSpPr>
        <p:spPr>
          <a:xfrm>
            <a:off x="7723937" y="3374136"/>
            <a:ext cx="429768" cy="256032"/>
          </a:xfrm>
          <a:prstGeom prst="line">
            <a:avLst/>
          </a:prstGeom>
          <a:noFill/>
          <a:ln w="15875">
            <a:solidFill>
              <a:srgbClr val="7C8598"/>
            </a:solidFill>
            <a:prstDash val="solid"/>
            <a:tailEnd type="triangle"/>
          </a:ln>
        </p:spPr>
        <p:txBody>
          <a:bodyPr/>
          <a:lstStyle/>
          <a:p>
            <a:endParaRPr lang="ko-KR" altLang="en-US"/>
          </a:p>
        </p:txBody>
      </p:sp>
      <p:sp>
        <p:nvSpPr>
          <p:cNvPr id="77" name="Shape 74"/>
          <p:cNvSpPr/>
          <p:nvPr/>
        </p:nvSpPr>
        <p:spPr>
          <a:xfrm>
            <a:off x="5355641" y="3511296"/>
            <a:ext cx="914400" cy="237744"/>
          </a:xfrm>
          <a:prstGeom prst="roundRect">
            <a:avLst>
              <a:gd name="adj" fmla="val 15385"/>
            </a:avLst>
          </a:prstGeom>
          <a:solidFill>
            <a:srgbClr val="EEF3FA"/>
          </a:solidFill>
          <a:ln w="12700">
            <a:solidFill>
              <a:srgbClr val="C3CEE0"/>
            </a:solidFill>
            <a:prstDash val="solid"/>
          </a:ln>
        </p:spPr>
        <p:txBody>
          <a:bodyPr/>
          <a:lstStyle/>
          <a:p>
            <a:endParaRPr lang="ko-KR" altLang="en-US"/>
          </a:p>
        </p:txBody>
      </p:sp>
      <p:sp>
        <p:nvSpPr>
          <p:cNvPr id="78" name="Text 75"/>
          <p:cNvSpPr txBox="1"/>
          <p:nvPr/>
        </p:nvSpPr>
        <p:spPr>
          <a:xfrm>
            <a:off x="5355641" y="3511296"/>
            <a:ext cx="914400" cy="237744"/>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리포트</a:t>
            </a:r>
            <a:endParaRPr lang="en-US" sz="1400" dirty="0"/>
          </a:p>
        </p:txBody>
      </p:sp>
      <p:sp>
        <p:nvSpPr>
          <p:cNvPr id="79" name="Shape 76"/>
          <p:cNvSpPr/>
          <p:nvPr/>
        </p:nvSpPr>
        <p:spPr>
          <a:xfrm>
            <a:off x="6772961" y="3511296"/>
            <a:ext cx="914400" cy="237744"/>
          </a:xfrm>
          <a:prstGeom prst="roundRect">
            <a:avLst>
              <a:gd name="adj" fmla="val 15385"/>
            </a:avLst>
          </a:prstGeom>
          <a:solidFill>
            <a:srgbClr val="FFFFFF"/>
          </a:solidFill>
          <a:ln w="12700">
            <a:solidFill>
              <a:srgbClr val="2E74C6"/>
            </a:solidFill>
            <a:prstDash val="solid"/>
          </a:ln>
        </p:spPr>
        <p:txBody>
          <a:bodyPr/>
          <a:lstStyle/>
          <a:p>
            <a:endParaRPr lang="ko-KR" altLang="en-US"/>
          </a:p>
        </p:txBody>
      </p:sp>
      <p:sp>
        <p:nvSpPr>
          <p:cNvPr id="80" name="Text 77"/>
          <p:cNvSpPr txBox="1"/>
          <p:nvPr/>
        </p:nvSpPr>
        <p:spPr>
          <a:xfrm>
            <a:off x="6772961" y="3511296"/>
            <a:ext cx="914400" cy="237744"/>
          </a:xfrm>
          <a:prstGeom prst="rect">
            <a:avLst/>
          </a:prstGeom>
          <a:noFill/>
          <a:ln/>
        </p:spPr>
        <p:txBody>
          <a:bodyPr wrap="square" lIns="1016" tIns="1016" rIns="1016" bIns="1016" rtlCol="0" anchor="ctr"/>
          <a:lstStyle/>
          <a:p>
            <a:pPr marL="0" indent="0" algn="ctr">
              <a:buNone/>
            </a:pPr>
            <a:r>
              <a:rPr lang="en-US" sz="1400" dirty="0">
                <a:solidFill>
                  <a:srgbClr val="2E74C6"/>
                </a:solidFill>
                <a:latin typeface="Pretendard" pitchFamily="34" charset="0"/>
                <a:ea typeface="Pretendard" pitchFamily="34" charset="-122"/>
                <a:cs typeface="Pretendard" pitchFamily="34" charset="-120"/>
              </a:rPr>
              <a:t>중간 답</a:t>
            </a:r>
            <a:endParaRPr lang="en-US" sz="1400" dirty="0"/>
          </a:p>
        </p:txBody>
      </p:sp>
      <p:sp>
        <p:nvSpPr>
          <p:cNvPr id="81" name="Shape 78"/>
          <p:cNvSpPr/>
          <p:nvPr/>
        </p:nvSpPr>
        <p:spPr>
          <a:xfrm>
            <a:off x="6306617" y="3630168"/>
            <a:ext cx="429768" cy="0"/>
          </a:xfrm>
          <a:prstGeom prst="line">
            <a:avLst/>
          </a:prstGeom>
          <a:noFill/>
          <a:ln w="15875">
            <a:solidFill>
              <a:srgbClr val="7C8598"/>
            </a:solidFill>
            <a:prstDash val="solid"/>
            <a:tailEnd type="triangle"/>
          </a:ln>
        </p:spPr>
        <p:txBody>
          <a:bodyPr/>
          <a:lstStyle/>
          <a:p>
            <a:endParaRPr lang="ko-KR" altLang="en-US"/>
          </a:p>
        </p:txBody>
      </p:sp>
      <p:sp>
        <p:nvSpPr>
          <p:cNvPr id="82" name="Shape 79"/>
          <p:cNvSpPr/>
          <p:nvPr/>
        </p:nvSpPr>
        <p:spPr>
          <a:xfrm>
            <a:off x="7723937" y="3630168"/>
            <a:ext cx="429768" cy="0"/>
          </a:xfrm>
          <a:prstGeom prst="line">
            <a:avLst/>
          </a:prstGeom>
          <a:noFill/>
          <a:ln w="15875">
            <a:solidFill>
              <a:srgbClr val="7C8598"/>
            </a:solidFill>
            <a:prstDash val="solid"/>
            <a:tailEnd type="triangle"/>
          </a:ln>
        </p:spPr>
        <p:txBody>
          <a:bodyPr/>
          <a:lstStyle/>
          <a:p>
            <a:endParaRPr lang="ko-KR" altLang="en-US"/>
          </a:p>
        </p:txBody>
      </p:sp>
      <p:sp>
        <p:nvSpPr>
          <p:cNvPr id="83" name="Shape 80"/>
          <p:cNvSpPr/>
          <p:nvPr/>
        </p:nvSpPr>
        <p:spPr>
          <a:xfrm>
            <a:off x="5355641" y="3767328"/>
            <a:ext cx="914400" cy="237744"/>
          </a:xfrm>
          <a:prstGeom prst="roundRect">
            <a:avLst>
              <a:gd name="adj" fmla="val 15385"/>
            </a:avLst>
          </a:prstGeom>
          <a:solidFill>
            <a:srgbClr val="EEF3FA"/>
          </a:solidFill>
          <a:ln w="12700">
            <a:solidFill>
              <a:srgbClr val="C3CEE0"/>
            </a:solidFill>
            <a:prstDash val="solid"/>
          </a:ln>
        </p:spPr>
        <p:txBody>
          <a:bodyPr/>
          <a:lstStyle/>
          <a:p>
            <a:endParaRPr lang="ko-KR" altLang="en-US"/>
          </a:p>
        </p:txBody>
      </p:sp>
      <p:sp>
        <p:nvSpPr>
          <p:cNvPr id="84" name="Text 81"/>
          <p:cNvSpPr txBox="1"/>
          <p:nvPr/>
        </p:nvSpPr>
        <p:spPr>
          <a:xfrm>
            <a:off x="5355641" y="3767328"/>
            <a:ext cx="914400" cy="237744"/>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리포트</a:t>
            </a:r>
            <a:endParaRPr lang="en-US" sz="1400" dirty="0"/>
          </a:p>
        </p:txBody>
      </p:sp>
      <p:sp>
        <p:nvSpPr>
          <p:cNvPr id="85" name="Shape 82"/>
          <p:cNvSpPr/>
          <p:nvPr/>
        </p:nvSpPr>
        <p:spPr>
          <a:xfrm>
            <a:off x="6772961" y="3767328"/>
            <a:ext cx="914400" cy="237744"/>
          </a:xfrm>
          <a:prstGeom prst="roundRect">
            <a:avLst>
              <a:gd name="adj" fmla="val 15385"/>
            </a:avLst>
          </a:prstGeom>
          <a:solidFill>
            <a:srgbClr val="FFFFFF"/>
          </a:solidFill>
          <a:ln w="12700">
            <a:solidFill>
              <a:srgbClr val="2E74C6"/>
            </a:solidFill>
            <a:prstDash val="solid"/>
          </a:ln>
        </p:spPr>
        <p:txBody>
          <a:bodyPr/>
          <a:lstStyle/>
          <a:p>
            <a:endParaRPr lang="ko-KR" altLang="en-US"/>
          </a:p>
        </p:txBody>
      </p:sp>
      <p:sp>
        <p:nvSpPr>
          <p:cNvPr id="86" name="Text 83"/>
          <p:cNvSpPr txBox="1"/>
          <p:nvPr/>
        </p:nvSpPr>
        <p:spPr>
          <a:xfrm>
            <a:off x="6772961" y="3767328"/>
            <a:ext cx="914400" cy="237744"/>
          </a:xfrm>
          <a:prstGeom prst="rect">
            <a:avLst/>
          </a:prstGeom>
          <a:noFill/>
          <a:ln/>
        </p:spPr>
        <p:txBody>
          <a:bodyPr wrap="square" lIns="1016" tIns="1016" rIns="1016" bIns="1016" rtlCol="0" anchor="ctr"/>
          <a:lstStyle/>
          <a:p>
            <a:pPr marL="0" indent="0" algn="ctr">
              <a:buNone/>
            </a:pPr>
            <a:r>
              <a:rPr lang="en-US" sz="1400" dirty="0">
                <a:solidFill>
                  <a:srgbClr val="2E74C6"/>
                </a:solidFill>
                <a:latin typeface="Pretendard" pitchFamily="34" charset="0"/>
                <a:ea typeface="Pretendard" pitchFamily="34" charset="-122"/>
                <a:cs typeface="Pretendard" pitchFamily="34" charset="-120"/>
              </a:rPr>
              <a:t>중간 답</a:t>
            </a:r>
            <a:endParaRPr lang="en-US" sz="1400" dirty="0"/>
          </a:p>
        </p:txBody>
      </p:sp>
      <p:sp>
        <p:nvSpPr>
          <p:cNvPr id="87" name="Shape 84"/>
          <p:cNvSpPr/>
          <p:nvPr/>
        </p:nvSpPr>
        <p:spPr>
          <a:xfrm>
            <a:off x="6306617" y="3886200"/>
            <a:ext cx="429768" cy="0"/>
          </a:xfrm>
          <a:prstGeom prst="line">
            <a:avLst/>
          </a:prstGeom>
          <a:noFill/>
          <a:ln w="15875">
            <a:solidFill>
              <a:srgbClr val="7C8598"/>
            </a:solidFill>
            <a:prstDash val="solid"/>
            <a:tailEnd type="triangle"/>
          </a:ln>
        </p:spPr>
        <p:txBody>
          <a:bodyPr/>
          <a:lstStyle/>
          <a:p>
            <a:endParaRPr lang="ko-KR" altLang="en-US"/>
          </a:p>
        </p:txBody>
      </p:sp>
      <p:sp>
        <p:nvSpPr>
          <p:cNvPr id="88" name="Shape 85"/>
          <p:cNvSpPr/>
          <p:nvPr/>
        </p:nvSpPr>
        <p:spPr>
          <a:xfrm flipV="1">
            <a:off x="7723937" y="3630168"/>
            <a:ext cx="429768" cy="256032"/>
          </a:xfrm>
          <a:prstGeom prst="line">
            <a:avLst/>
          </a:prstGeom>
          <a:noFill/>
          <a:ln w="15875">
            <a:solidFill>
              <a:srgbClr val="7C8598"/>
            </a:solidFill>
            <a:prstDash val="solid"/>
            <a:tailEnd type="triangle"/>
          </a:ln>
        </p:spPr>
        <p:txBody>
          <a:bodyPr/>
          <a:lstStyle/>
          <a:p>
            <a:endParaRPr lang="ko-KR" altLang="en-US"/>
          </a:p>
        </p:txBody>
      </p:sp>
      <p:sp>
        <p:nvSpPr>
          <p:cNvPr id="89" name="Shape 86"/>
          <p:cNvSpPr/>
          <p:nvPr/>
        </p:nvSpPr>
        <p:spPr>
          <a:xfrm>
            <a:off x="8190281" y="3447288"/>
            <a:ext cx="1234440" cy="365760"/>
          </a:xfrm>
          <a:prstGeom prst="roundRect">
            <a:avLst>
              <a:gd name="adj" fmla="val 15000"/>
            </a:avLst>
          </a:prstGeom>
          <a:solidFill>
            <a:srgbClr val="2E74C6"/>
          </a:solidFill>
          <a:ln/>
        </p:spPr>
        <p:txBody>
          <a:bodyPr/>
          <a:lstStyle/>
          <a:p>
            <a:endParaRPr lang="ko-KR" altLang="en-US"/>
          </a:p>
        </p:txBody>
      </p:sp>
      <p:sp>
        <p:nvSpPr>
          <p:cNvPr id="90" name="Text 87"/>
          <p:cNvSpPr txBox="1"/>
          <p:nvPr/>
        </p:nvSpPr>
        <p:spPr>
          <a:xfrm>
            <a:off x="8190281" y="3447288"/>
            <a:ext cx="1234440"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최종 답</a:t>
            </a:r>
            <a:endParaRPr lang="en-US" sz="1500" dirty="0"/>
          </a:p>
        </p:txBody>
      </p:sp>
      <p:sp>
        <p:nvSpPr>
          <p:cNvPr id="91" name="Shape 88"/>
          <p:cNvSpPr/>
          <p:nvPr/>
        </p:nvSpPr>
        <p:spPr>
          <a:xfrm>
            <a:off x="5264201" y="4101084"/>
            <a:ext cx="310896" cy="310896"/>
          </a:xfrm>
          <a:prstGeom prst="roundRect">
            <a:avLst>
              <a:gd name="adj" fmla="val 14706"/>
            </a:avLst>
          </a:prstGeom>
          <a:solidFill>
            <a:srgbClr val="2E74C6"/>
          </a:solidFill>
          <a:ln/>
        </p:spPr>
        <p:txBody>
          <a:bodyPr/>
          <a:lstStyle/>
          <a:p>
            <a:endParaRPr lang="ko-KR" altLang="en-US"/>
          </a:p>
        </p:txBody>
      </p:sp>
      <p:sp>
        <p:nvSpPr>
          <p:cNvPr id="92" name="Text 89"/>
          <p:cNvSpPr txBox="1"/>
          <p:nvPr/>
        </p:nvSpPr>
        <p:spPr>
          <a:xfrm>
            <a:off x="5264201" y="410108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93" name="Text 90"/>
          <p:cNvSpPr txBox="1"/>
          <p:nvPr/>
        </p:nvSpPr>
        <p:spPr>
          <a:xfrm>
            <a:off x="5657393" y="4059936"/>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한 계층의 커뮤니티 리포트를 묶음으로 나누기</a:t>
            </a:r>
            <a:endParaRPr lang="en-US" sz="1500" dirty="0"/>
          </a:p>
        </p:txBody>
      </p:sp>
      <p:sp>
        <p:nvSpPr>
          <p:cNvPr id="94" name="Shape 91"/>
          <p:cNvSpPr/>
          <p:nvPr/>
        </p:nvSpPr>
        <p:spPr>
          <a:xfrm>
            <a:off x="5264201" y="4494276"/>
            <a:ext cx="310896" cy="310896"/>
          </a:xfrm>
          <a:prstGeom prst="roundRect">
            <a:avLst>
              <a:gd name="adj" fmla="val 14706"/>
            </a:avLst>
          </a:prstGeom>
          <a:solidFill>
            <a:srgbClr val="2E74C6"/>
          </a:solidFill>
          <a:ln/>
        </p:spPr>
        <p:txBody>
          <a:bodyPr/>
          <a:lstStyle/>
          <a:p>
            <a:endParaRPr lang="ko-KR" altLang="en-US"/>
          </a:p>
        </p:txBody>
      </p:sp>
      <p:sp>
        <p:nvSpPr>
          <p:cNvPr id="95" name="Text 92"/>
          <p:cNvSpPr txBox="1"/>
          <p:nvPr/>
        </p:nvSpPr>
        <p:spPr>
          <a:xfrm>
            <a:off x="5264201" y="449427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96" name="Text 93"/>
          <p:cNvSpPr txBox="1"/>
          <p:nvPr/>
        </p:nvSpPr>
        <p:spPr>
          <a:xfrm>
            <a:off x="5657393" y="4453128"/>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map: 묶음마다 따로 중간 답 쓰기</a:t>
            </a:r>
            <a:endParaRPr lang="en-US" sz="1500" dirty="0"/>
          </a:p>
        </p:txBody>
      </p:sp>
      <p:sp>
        <p:nvSpPr>
          <p:cNvPr id="97" name="Shape 94"/>
          <p:cNvSpPr/>
          <p:nvPr/>
        </p:nvSpPr>
        <p:spPr>
          <a:xfrm>
            <a:off x="5264201" y="4887468"/>
            <a:ext cx="310896" cy="310896"/>
          </a:xfrm>
          <a:prstGeom prst="roundRect">
            <a:avLst>
              <a:gd name="adj" fmla="val 14706"/>
            </a:avLst>
          </a:prstGeom>
          <a:solidFill>
            <a:srgbClr val="2E74C6"/>
          </a:solidFill>
          <a:ln/>
        </p:spPr>
        <p:txBody>
          <a:bodyPr/>
          <a:lstStyle/>
          <a:p>
            <a:endParaRPr lang="ko-KR" altLang="en-US"/>
          </a:p>
        </p:txBody>
      </p:sp>
      <p:sp>
        <p:nvSpPr>
          <p:cNvPr id="98" name="Text 95"/>
          <p:cNvSpPr txBox="1"/>
          <p:nvPr/>
        </p:nvSpPr>
        <p:spPr>
          <a:xfrm>
            <a:off x="5264201" y="4887468"/>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99" name="Text 96"/>
          <p:cNvSpPr txBox="1"/>
          <p:nvPr/>
        </p:nvSpPr>
        <p:spPr>
          <a:xfrm>
            <a:off x="5657393" y="4846320"/>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reduce: 중간 답 안의 요점별 중요도 점수로 골라 합치기</a:t>
            </a:r>
            <a:endParaRPr lang="en-US" sz="1500" dirty="0"/>
          </a:p>
        </p:txBody>
      </p:sp>
      <p:sp>
        <p:nvSpPr>
          <p:cNvPr id="100" name="Shape 97"/>
          <p:cNvSpPr/>
          <p:nvPr/>
        </p:nvSpPr>
        <p:spPr>
          <a:xfrm>
            <a:off x="5264201" y="5280660"/>
            <a:ext cx="310896" cy="310896"/>
          </a:xfrm>
          <a:prstGeom prst="roundRect">
            <a:avLst>
              <a:gd name="adj" fmla="val 14706"/>
            </a:avLst>
          </a:prstGeom>
          <a:solidFill>
            <a:srgbClr val="2E74C6"/>
          </a:solidFill>
          <a:ln/>
        </p:spPr>
        <p:txBody>
          <a:bodyPr/>
          <a:lstStyle/>
          <a:p>
            <a:endParaRPr lang="ko-KR" altLang="en-US"/>
          </a:p>
        </p:txBody>
      </p:sp>
      <p:sp>
        <p:nvSpPr>
          <p:cNvPr id="101" name="Text 98"/>
          <p:cNvSpPr txBox="1"/>
          <p:nvPr/>
        </p:nvSpPr>
        <p:spPr>
          <a:xfrm>
            <a:off x="5264201" y="5280660"/>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102" name="Text 99"/>
          <p:cNvSpPr txBox="1"/>
          <p:nvPr/>
        </p:nvSpPr>
        <p:spPr>
          <a:xfrm>
            <a:off x="5657393" y="5239512"/>
            <a:ext cx="3767328" cy="39319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전체 조망 답변 생성</a:t>
            </a:r>
            <a:endParaRPr lang="en-US" sz="1500" dirty="0"/>
          </a:p>
        </p:txBody>
      </p:sp>
      <p:sp>
        <p:nvSpPr>
          <p:cNvPr id="103" name="Shape 100"/>
          <p:cNvSpPr/>
          <p:nvPr/>
        </p:nvSpPr>
        <p:spPr>
          <a:xfrm>
            <a:off x="5264201" y="5678424"/>
            <a:ext cx="4114800" cy="0"/>
          </a:xfrm>
          <a:prstGeom prst="line">
            <a:avLst/>
          </a:prstGeom>
          <a:noFill/>
          <a:ln w="12700">
            <a:solidFill>
              <a:srgbClr val="EDF0F6"/>
            </a:solidFill>
            <a:prstDash val="solid"/>
          </a:ln>
        </p:spPr>
        <p:txBody>
          <a:bodyPr/>
          <a:lstStyle/>
          <a:p>
            <a:endParaRPr lang="ko-KR" altLang="en-US"/>
          </a:p>
        </p:txBody>
      </p:sp>
      <p:sp>
        <p:nvSpPr>
          <p:cNvPr id="104" name="Text 101"/>
          <p:cNvSpPr txBox="1"/>
          <p:nvPr/>
        </p:nvSpPr>
        <p:spPr>
          <a:xfrm>
            <a:off x="5264201" y="5696712"/>
            <a:ext cx="4114800" cy="320040"/>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관련 리포트만 골라 사용하는 동적 선택은 옵션</a:t>
            </a:r>
            <a:endParaRPr lang="en-US" sz="1400" dirty="0"/>
          </a:p>
        </p:txBody>
      </p:sp>
      <p:sp>
        <p:nvSpPr>
          <p:cNvPr id="105" name="Shape 102"/>
          <p:cNvSpPr/>
          <p:nvPr/>
        </p:nvSpPr>
        <p:spPr>
          <a:xfrm>
            <a:off x="9744761" y="1737360"/>
            <a:ext cx="4389120" cy="4297680"/>
          </a:xfrm>
          <a:prstGeom prst="roundRect">
            <a:avLst>
              <a:gd name="adj" fmla="val 1702"/>
            </a:avLst>
          </a:prstGeom>
          <a:solidFill>
            <a:srgbClr val="FFFFFF"/>
          </a:solidFill>
          <a:ln w="12700">
            <a:solidFill>
              <a:srgbClr val="D9E0EC"/>
            </a:solidFill>
            <a:prstDash val="solid"/>
          </a:ln>
        </p:spPr>
        <p:txBody>
          <a:bodyPr/>
          <a:lstStyle/>
          <a:p>
            <a:endParaRPr lang="ko-KR" altLang="en-US"/>
          </a:p>
        </p:txBody>
      </p:sp>
      <p:sp>
        <p:nvSpPr>
          <p:cNvPr id="106" name="Shape 103"/>
          <p:cNvSpPr/>
          <p:nvPr/>
        </p:nvSpPr>
        <p:spPr>
          <a:xfrm>
            <a:off x="9744761" y="1737360"/>
            <a:ext cx="4389120" cy="457200"/>
          </a:xfrm>
          <a:prstGeom prst="roundRect">
            <a:avLst>
              <a:gd name="adj" fmla="val 12000"/>
            </a:avLst>
          </a:prstGeom>
          <a:solidFill>
            <a:srgbClr val="404155"/>
          </a:solidFill>
          <a:ln/>
        </p:spPr>
        <p:txBody>
          <a:bodyPr/>
          <a:lstStyle/>
          <a:p>
            <a:endParaRPr lang="ko-KR" altLang="en-US"/>
          </a:p>
        </p:txBody>
      </p:sp>
      <p:sp>
        <p:nvSpPr>
          <p:cNvPr id="107" name="Text 104"/>
          <p:cNvSpPr txBox="1"/>
          <p:nvPr/>
        </p:nvSpPr>
        <p:spPr>
          <a:xfrm>
            <a:off x="9744761" y="1737360"/>
            <a:ext cx="4389120" cy="457200"/>
          </a:xfrm>
          <a:prstGeom prst="rect">
            <a:avLst/>
          </a:prstGeom>
          <a:noFill/>
          <a:ln/>
        </p:spPr>
        <p:txBody>
          <a:bodyPr wrap="square" lIns="1016" tIns="1016" rIns="1016" bIns="1016"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Hybrid Search</a:t>
            </a:r>
            <a:endParaRPr lang="en-US" sz="2000" dirty="0"/>
          </a:p>
        </p:txBody>
      </p:sp>
      <p:sp>
        <p:nvSpPr>
          <p:cNvPr id="108" name="Shape 105"/>
          <p:cNvSpPr/>
          <p:nvPr/>
        </p:nvSpPr>
        <p:spPr>
          <a:xfrm>
            <a:off x="9881921" y="2286000"/>
            <a:ext cx="4114800" cy="640080"/>
          </a:xfrm>
          <a:prstGeom prst="roundRect">
            <a:avLst>
              <a:gd name="adj" fmla="val 8571"/>
            </a:avLst>
          </a:prstGeom>
          <a:solidFill>
            <a:srgbClr val="EEF3FA"/>
          </a:solidFill>
          <a:ln/>
        </p:spPr>
        <p:txBody>
          <a:bodyPr/>
          <a:lstStyle/>
          <a:p>
            <a:endParaRPr lang="ko-KR" altLang="en-US"/>
          </a:p>
        </p:txBody>
      </p:sp>
      <p:sp>
        <p:nvSpPr>
          <p:cNvPr id="109" name="Text 106"/>
          <p:cNvSpPr txBox="1"/>
          <p:nvPr/>
        </p:nvSpPr>
        <p:spPr>
          <a:xfrm>
            <a:off x="9945929" y="2286000"/>
            <a:ext cx="3986784" cy="640080"/>
          </a:xfrm>
          <a:prstGeom prst="rect">
            <a:avLst/>
          </a:prstGeom>
          <a:noFill/>
          <a:ln/>
        </p:spPr>
        <p:txBody>
          <a:bodyPr wrap="square" lIns="508" tIns="508" rIns="508" bIns="508"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한 대상 + 전체 흐름을 함께 묻는 질문</a:t>
            </a:r>
            <a:endParaRPr lang="en-US" sz="1500" dirty="0"/>
          </a:p>
          <a:p>
            <a:pPr marL="0" indent="0">
              <a:buNone/>
            </a:pPr>
            <a:r>
              <a:rPr lang="en-US" sz="1400" dirty="0">
                <a:solidFill>
                  <a:srgbClr val="2B3242"/>
                </a:solidFill>
                <a:latin typeface="Pretendard" pitchFamily="34" charset="0"/>
                <a:ea typeface="Pretendard" pitchFamily="34" charset="-122"/>
                <a:cs typeface="Pretendard" pitchFamily="34" charset="-120"/>
              </a:rPr>
              <a:t>예) A카드 혜택은 업계 흐름과 어떻게 다른가?</a:t>
            </a:r>
            <a:endParaRPr lang="en-US" sz="1500" dirty="0"/>
          </a:p>
        </p:txBody>
      </p:sp>
      <p:sp>
        <p:nvSpPr>
          <p:cNvPr id="110" name="Shape 107"/>
          <p:cNvSpPr/>
          <p:nvPr/>
        </p:nvSpPr>
        <p:spPr>
          <a:xfrm>
            <a:off x="9927641" y="3154680"/>
            <a:ext cx="1325880" cy="658368"/>
          </a:xfrm>
          <a:prstGeom prst="roundRect">
            <a:avLst>
              <a:gd name="adj" fmla="val 8333"/>
            </a:avLst>
          </a:prstGeom>
          <a:solidFill>
            <a:srgbClr val="EEF3FA"/>
          </a:solidFill>
          <a:ln w="12700">
            <a:solidFill>
              <a:srgbClr val="C3CEE0"/>
            </a:solidFill>
            <a:prstDash val="solid"/>
          </a:ln>
        </p:spPr>
        <p:txBody>
          <a:bodyPr/>
          <a:lstStyle/>
          <a:p>
            <a:endParaRPr lang="ko-KR" altLang="en-US"/>
          </a:p>
        </p:txBody>
      </p:sp>
      <p:sp>
        <p:nvSpPr>
          <p:cNvPr id="111" name="Text 108"/>
          <p:cNvSpPr txBox="1"/>
          <p:nvPr/>
        </p:nvSpPr>
        <p:spPr>
          <a:xfrm>
            <a:off x="9927641" y="3154680"/>
            <a:ext cx="1325880" cy="65836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Local</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세부 근거</a:t>
            </a:r>
            <a:endParaRPr lang="en-US" sz="1400" dirty="0"/>
          </a:p>
        </p:txBody>
      </p:sp>
      <p:sp>
        <p:nvSpPr>
          <p:cNvPr id="112" name="Shape 109"/>
          <p:cNvSpPr/>
          <p:nvPr/>
        </p:nvSpPr>
        <p:spPr>
          <a:xfrm>
            <a:off x="12716561" y="3154680"/>
            <a:ext cx="1325880" cy="658368"/>
          </a:xfrm>
          <a:prstGeom prst="roundRect">
            <a:avLst>
              <a:gd name="adj" fmla="val 8333"/>
            </a:avLst>
          </a:prstGeom>
          <a:solidFill>
            <a:srgbClr val="EEF3FA"/>
          </a:solidFill>
          <a:ln w="12700">
            <a:solidFill>
              <a:srgbClr val="C3CEE0"/>
            </a:solidFill>
            <a:prstDash val="solid"/>
          </a:ln>
        </p:spPr>
        <p:txBody>
          <a:bodyPr/>
          <a:lstStyle/>
          <a:p>
            <a:endParaRPr lang="ko-KR" altLang="en-US"/>
          </a:p>
        </p:txBody>
      </p:sp>
      <p:sp>
        <p:nvSpPr>
          <p:cNvPr id="113" name="Text 110"/>
          <p:cNvSpPr txBox="1"/>
          <p:nvPr/>
        </p:nvSpPr>
        <p:spPr>
          <a:xfrm>
            <a:off x="12716561" y="3154680"/>
            <a:ext cx="1325880" cy="65836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Global</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전체 맥락</a:t>
            </a:r>
            <a:endParaRPr lang="en-US" sz="1400" dirty="0"/>
          </a:p>
        </p:txBody>
      </p:sp>
      <p:sp>
        <p:nvSpPr>
          <p:cNvPr id="114" name="Shape 111"/>
          <p:cNvSpPr/>
          <p:nvPr/>
        </p:nvSpPr>
        <p:spPr>
          <a:xfrm>
            <a:off x="11546129" y="3300984"/>
            <a:ext cx="877824" cy="365760"/>
          </a:xfrm>
          <a:prstGeom prst="roundRect">
            <a:avLst>
              <a:gd name="adj" fmla="val 15000"/>
            </a:avLst>
          </a:prstGeom>
          <a:solidFill>
            <a:srgbClr val="404155"/>
          </a:solidFill>
          <a:ln/>
        </p:spPr>
        <p:txBody>
          <a:bodyPr/>
          <a:lstStyle/>
          <a:p>
            <a:endParaRPr lang="ko-KR" altLang="en-US"/>
          </a:p>
        </p:txBody>
      </p:sp>
      <p:sp>
        <p:nvSpPr>
          <p:cNvPr id="115" name="Text 112"/>
          <p:cNvSpPr txBox="1"/>
          <p:nvPr/>
        </p:nvSpPr>
        <p:spPr>
          <a:xfrm>
            <a:off x="11546129" y="3300984"/>
            <a:ext cx="877824"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결합</a:t>
            </a:r>
            <a:endParaRPr lang="en-US" sz="1500" dirty="0"/>
          </a:p>
        </p:txBody>
      </p:sp>
      <p:sp>
        <p:nvSpPr>
          <p:cNvPr id="116" name="Shape 113"/>
          <p:cNvSpPr/>
          <p:nvPr/>
        </p:nvSpPr>
        <p:spPr>
          <a:xfrm>
            <a:off x="11280953" y="3483864"/>
            <a:ext cx="237744" cy="0"/>
          </a:xfrm>
          <a:prstGeom prst="line">
            <a:avLst/>
          </a:prstGeom>
          <a:noFill/>
          <a:ln w="15875">
            <a:solidFill>
              <a:srgbClr val="7C8598"/>
            </a:solidFill>
            <a:prstDash val="solid"/>
            <a:tailEnd type="triangle"/>
          </a:ln>
        </p:spPr>
        <p:txBody>
          <a:bodyPr/>
          <a:lstStyle/>
          <a:p>
            <a:endParaRPr lang="ko-KR" altLang="en-US"/>
          </a:p>
        </p:txBody>
      </p:sp>
      <p:sp>
        <p:nvSpPr>
          <p:cNvPr id="117" name="Shape 114"/>
          <p:cNvSpPr/>
          <p:nvPr/>
        </p:nvSpPr>
        <p:spPr>
          <a:xfrm flipH="1">
            <a:off x="12451385" y="3483864"/>
            <a:ext cx="237744" cy="0"/>
          </a:xfrm>
          <a:prstGeom prst="line">
            <a:avLst/>
          </a:prstGeom>
          <a:noFill/>
          <a:ln w="15875">
            <a:solidFill>
              <a:srgbClr val="7C8598"/>
            </a:solidFill>
            <a:prstDash val="solid"/>
            <a:tailEnd type="triangle"/>
          </a:ln>
        </p:spPr>
        <p:txBody>
          <a:bodyPr/>
          <a:lstStyle/>
          <a:p>
            <a:endParaRPr lang="ko-KR" altLang="en-US"/>
          </a:p>
        </p:txBody>
      </p:sp>
      <p:sp>
        <p:nvSpPr>
          <p:cNvPr id="118" name="Text 115"/>
          <p:cNvSpPr txBox="1"/>
          <p:nvPr/>
        </p:nvSpPr>
        <p:spPr>
          <a:xfrm>
            <a:off x="9881921" y="4059936"/>
            <a:ext cx="4114800" cy="292608"/>
          </a:xfrm>
          <a:prstGeom prst="rect">
            <a:avLst/>
          </a:prstGeom>
          <a:noFill/>
          <a:ln/>
        </p:spPr>
        <p:txBody>
          <a:bodyPr wrap="square" lIns="762" tIns="762" rIns="762" bIns="762" rtlCol="0" anchor="ctr"/>
          <a:lstStyle/>
          <a:p>
            <a:pPr marL="0" indent="0" algn="l">
              <a:buNone/>
            </a:pPr>
            <a:r>
              <a:rPr lang="en-US" sz="1500" b="1" dirty="0">
                <a:solidFill>
                  <a:srgbClr val="404155"/>
                </a:solidFill>
                <a:latin typeface="Pretendard" pitchFamily="34" charset="0"/>
                <a:ea typeface="Pretendard" pitchFamily="34" charset="-122"/>
                <a:cs typeface="Pretendard" pitchFamily="34" charset="-120"/>
              </a:rPr>
              <a:t>결합 방법은 프레임워크마다 다름</a:t>
            </a:r>
            <a:endParaRPr lang="en-US" sz="1500" dirty="0"/>
          </a:p>
        </p:txBody>
      </p:sp>
      <p:sp>
        <p:nvSpPr>
          <p:cNvPr id="119" name="Shape 116"/>
          <p:cNvSpPr/>
          <p:nvPr/>
        </p:nvSpPr>
        <p:spPr>
          <a:xfrm>
            <a:off x="9881921" y="4474464"/>
            <a:ext cx="1280160"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20" name="Text 117"/>
          <p:cNvSpPr txBox="1"/>
          <p:nvPr/>
        </p:nvSpPr>
        <p:spPr>
          <a:xfrm>
            <a:off x="9881921" y="4474464"/>
            <a:ext cx="1280160"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Neo4j</a:t>
            </a:r>
            <a:endParaRPr lang="en-US" sz="1400" dirty="0"/>
          </a:p>
        </p:txBody>
      </p:sp>
      <p:sp>
        <p:nvSpPr>
          <p:cNvPr id="121" name="Text 118"/>
          <p:cNvSpPr txBox="1"/>
          <p:nvPr/>
        </p:nvSpPr>
        <p:spPr>
          <a:xfrm>
            <a:off x="11226089" y="4370832"/>
            <a:ext cx="2834640" cy="536448"/>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'Hybrid' = 벡터 + 키워드 검색</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Local + Global 결합은 직접 설계</a:t>
            </a:r>
            <a:endParaRPr lang="en-US" sz="1400" dirty="0"/>
          </a:p>
        </p:txBody>
      </p:sp>
      <p:sp>
        <p:nvSpPr>
          <p:cNvPr id="122" name="Shape 119"/>
          <p:cNvSpPr/>
          <p:nvPr/>
        </p:nvSpPr>
        <p:spPr>
          <a:xfrm>
            <a:off x="9881921" y="4907280"/>
            <a:ext cx="4114800" cy="0"/>
          </a:xfrm>
          <a:prstGeom prst="line">
            <a:avLst/>
          </a:prstGeom>
          <a:noFill/>
          <a:ln w="12700">
            <a:solidFill>
              <a:srgbClr val="EDF0F6"/>
            </a:solidFill>
            <a:prstDash val="solid"/>
          </a:ln>
        </p:spPr>
        <p:txBody>
          <a:bodyPr/>
          <a:lstStyle/>
          <a:p>
            <a:endParaRPr lang="ko-KR" altLang="en-US"/>
          </a:p>
        </p:txBody>
      </p:sp>
      <p:sp>
        <p:nvSpPr>
          <p:cNvPr id="123" name="Shape 120"/>
          <p:cNvSpPr/>
          <p:nvPr/>
        </p:nvSpPr>
        <p:spPr>
          <a:xfrm>
            <a:off x="9881921" y="5010912"/>
            <a:ext cx="1280160"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24" name="Text 121"/>
          <p:cNvSpPr txBox="1"/>
          <p:nvPr/>
        </p:nvSpPr>
        <p:spPr>
          <a:xfrm>
            <a:off x="9881921" y="5010912"/>
            <a:ext cx="1280160"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MS GraphRAG</a:t>
            </a:r>
            <a:endParaRPr lang="en-US" sz="1400" dirty="0"/>
          </a:p>
        </p:txBody>
      </p:sp>
      <p:sp>
        <p:nvSpPr>
          <p:cNvPr id="125" name="Text 122"/>
          <p:cNvSpPr txBox="1"/>
          <p:nvPr/>
        </p:nvSpPr>
        <p:spPr>
          <a:xfrm>
            <a:off x="11226089" y="4907280"/>
            <a:ext cx="2834640" cy="536448"/>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DRIFT: 요약으로 큰 답 →</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후속 질문마다 Local 검색 (순서대로)</a:t>
            </a:r>
            <a:endParaRPr lang="en-US" sz="1400" dirty="0"/>
          </a:p>
        </p:txBody>
      </p:sp>
      <p:sp>
        <p:nvSpPr>
          <p:cNvPr id="126" name="Shape 123"/>
          <p:cNvSpPr/>
          <p:nvPr/>
        </p:nvSpPr>
        <p:spPr>
          <a:xfrm>
            <a:off x="9881921" y="5443728"/>
            <a:ext cx="4114800" cy="0"/>
          </a:xfrm>
          <a:prstGeom prst="line">
            <a:avLst/>
          </a:prstGeom>
          <a:noFill/>
          <a:ln w="12700">
            <a:solidFill>
              <a:srgbClr val="EDF0F6"/>
            </a:solidFill>
            <a:prstDash val="solid"/>
          </a:ln>
        </p:spPr>
        <p:txBody>
          <a:bodyPr/>
          <a:lstStyle/>
          <a:p>
            <a:endParaRPr lang="ko-KR" altLang="en-US"/>
          </a:p>
        </p:txBody>
      </p:sp>
      <p:sp>
        <p:nvSpPr>
          <p:cNvPr id="127" name="Shape 124"/>
          <p:cNvSpPr/>
          <p:nvPr/>
        </p:nvSpPr>
        <p:spPr>
          <a:xfrm>
            <a:off x="9881921" y="5547360"/>
            <a:ext cx="1280160" cy="329184"/>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28" name="Text 125"/>
          <p:cNvSpPr txBox="1"/>
          <p:nvPr/>
        </p:nvSpPr>
        <p:spPr>
          <a:xfrm>
            <a:off x="9881921" y="5547360"/>
            <a:ext cx="1280160"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LightRAG</a:t>
            </a:r>
            <a:endParaRPr lang="en-US" sz="1400" dirty="0"/>
          </a:p>
        </p:txBody>
      </p:sp>
      <p:sp>
        <p:nvSpPr>
          <p:cNvPr id="129" name="Text 126"/>
          <p:cNvSpPr txBox="1"/>
          <p:nvPr/>
        </p:nvSpPr>
        <p:spPr>
          <a:xfrm>
            <a:off x="11226089" y="5443728"/>
            <a:ext cx="2834640" cy="536448"/>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듀얼 레벨: 세부 키워드 → 엔티티</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상위 키워드 → 관계, 둘 다 사용</a:t>
            </a:r>
            <a:endParaRPr lang="en-US" sz="1400" dirty="0"/>
          </a:p>
        </p:txBody>
      </p:sp>
      <p:sp>
        <p:nvSpPr>
          <p:cNvPr id="130" name="Shape 127"/>
          <p:cNvSpPr/>
          <p:nvPr/>
        </p:nvSpPr>
        <p:spPr>
          <a:xfrm>
            <a:off x="509321" y="6144768"/>
            <a:ext cx="2057400" cy="1060704"/>
          </a:xfrm>
          <a:prstGeom prst="roundRect">
            <a:avLst>
              <a:gd name="adj" fmla="val 5172"/>
            </a:avLst>
          </a:prstGeom>
          <a:solidFill>
            <a:srgbClr val="404155"/>
          </a:solidFill>
          <a:ln/>
        </p:spPr>
        <p:txBody>
          <a:bodyPr/>
          <a:lstStyle/>
          <a:p>
            <a:endParaRPr lang="ko-KR" altLang="en-US"/>
          </a:p>
        </p:txBody>
      </p:sp>
      <p:sp>
        <p:nvSpPr>
          <p:cNvPr id="131" name="Text 128"/>
          <p:cNvSpPr txBox="1"/>
          <p:nvPr/>
        </p:nvSpPr>
        <p:spPr>
          <a:xfrm>
            <a:off x="509321" y="6144768"/>
            <a:ext cx="2057400" cy="1060704"/>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대표 프레임워크의</a:t>
            </a:r>
            <a:endParaRPr lang="en-US" sz="1600" dirty="0"/>
          </a:p>
          <a:p>
            <a:pPr marL="0" indent="0" algn="ctr">
              <a:buNone/>
            </a:pPr>
            <a:r>
              <a:rPr lang="en-US" sz="1600" b="1" dirty="0">
                <a:solidFill>
                  <a:srgbClr val="FFFFFF"/>
                </a:solidFill>
                <a:latin typeface="Pretendard" pitchFamily="34" charset="0"/>
                <a:ea typeface="Pretendard" pitchFamily="34" charset="-122"/>
                <a:cs typeface="Pretendard" pitchFamily="34" charset="-120"/>
              </a:rPr>
              <a:t>Global 질문 처리</a:t>
            </a:r>
            <a:endParaRPr lang="en-US" sz="1600" dirty="0"/>
          </a:p>
        </p:txBody>
      </p:sp>
      <p:sp>
        <p:nvSpPr>
          <p:cNvPr id="132" name="Shape 129"/>
          <p:cNvSpPr/>
          <p:nvPr/>
        </p:nvSpPr>
        <p:spPr>
          <a:xfrm>
            <a:off x="2703881" y="6144768"/>
            <a:ext cx="3718560" cy="1060704"/>
          </a:xfrm>
          <a:prstGeom prst="roundRect">
            <a:avLst>
              <a:gd name="adj" fmla="val 5172"/>
            </a:avLst>
          </a:prstGeom>
          <a:solidFill>
            <a:srgbClr val="F5F8FC"/>
          </a:solidFill>
          <a:ln w="12700">
            <a:solidFill>
              <a:srgbClr val="D9E0EC"/>
            </a:solidFill>
            <a:prstDash val="solid"/>
          </a:ln>
        </p:spPr>
        <p:txBody>
          <a:bodyPr/>
          <a:lstStyle/>
          <a:p>
            <a:endParaRPr lang="ko-KR" altLang="en-US"/>
          </a:p>
        </p:txBody>
      </p:sp>
      <p:sp>
        <p:nvSpPr>
          <p:cNvPr id="133" name="Text 130"/>
          <p:cNvSpPr txBox="1"/>
          <p:nvPr/>
        </p:nvSpPr>
        <p:spPr>
          <a:xfrm>
            <a:off x="2813609" y="6144768"/>
            <a:ext cx="3499104" cy="1060704"/>
          </a:xfrm>
          <a:prstGeom prst="rect">
            <a:avLst/>
          </a:prstGeom>
          <a:noFill/>
          <a:ln/>
        </p:spPr>
        <p:txBody>
          <a:bodyPr wrap="square" lIns="508" tIns="508" rIns="508" bIns="508"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① Neo4j GraphRAG</a:t>
            </a:r>
            <a:r>
              <a:rPr lang="en-US" sz="1400" b="1" dirty="0">
                <a:solidFill>
                  <a:srgbClr val="4A5364"/>
                </a:solidFill>
                <a:latin typeface="Pretendard" pitchFamily="34" charset="0"/>
                <a:ea typeface="Pretendard" pitchFamily="34" charset="-122"/>
                <a:cs typeface="Pretendard" pitchFamily="34" charset="-120"/>
              </a:rPr>
              <a:t>  Text2Cypher</a:t>
            </a:r>
            <a:endParaRPr lang="en-US" sz="1600" dirty="0"/>
          </a:p>
          <a:p>
            <a:pPr marL="0" indent="0">
              <a:buNone/>
            </a:pPr>
            <a:r>
              <a:rPr lang="en-US" sz="1400" dirty="0">
                <a:solidFill>
                  <a:srgbClr val="2B3242"/>
                </a:solidFill>
                <a:latin typeface="Pretendard" pitchFamily="34" charset="0"/>
                <a:ea typeface="Pretendard" pitchFamily="34" charset="-122"/>
                <a:cs typeface="Pretendard" pitchFamily="34" charset="-120"/>
              </a:rPr>
              <a:t>질문을 Cypher로 바꿔 그래프 전체를 집계</a:t>
            </a:r>
            <a:endParaRPr lang="en-US" sz="1600" dirty="0"/>
          </a:p>
          <a:p>
            <a:pPr marL="0" indent="0">
              <a:buNone/>
            </a:pPr>
            <a:r>
              <a:rPr lang="en-US" sz="1400" b="1" dirty="0">
                <a:solidFill>
                  <a:srgbClr val="2E74C6"/>
                </a:solidFill>
                <a:latin typeface="Pretendard" pitchFamily="34" charset="0"/>
                <a:ea typeface="Pretendard" pitchFamily="34" charset="-122"/>
                <a:cs typeface="Pretendard" pitchFamily="34" charset="-120"/>
              </a:rPr>
              <a:t>조건으로 대상을 좁혀 정확히 집계 · 요약은 LLM</a:t>
            </a:r>
            <a:endParaRPr lang="en-US" sz="1600" dirty="0"/>
          </a:p>
        </p:txBody>
      </p:sp>
      <p:sp>
        <p:nvSpPr>
          <p:cNvPr id="134" name="Shape 131"/>
          <p:cNvSpPr/>
          <p:nvPr/>
        </p:nvSpPr>
        <p:spPr>
          <a:xfrm>
            <a:off x="6559601" y="6144768"/>
            <a:ext cx="3718560" cy="1060704"/>
          </a:xfrm>
          <a:prstGeom prst="roundRect">
            <a:avLst>
              <a:gd name="adj" fmla="val 5172"/>
            </a:avLst>
          </a:prstGeom>
          <a:solidFill>
            <a:srgbClr val="F5F8FC"/>
          </a:solidFill>
          <a:ln w="12700">
            <a:solidFill>
              <a:srgbClr val="D9E0EC"/>
            </a:solidFill>
            <a:prstDash val="solid"/>
          </a:ln>
        </p:spPr>
        <p:txBody>
          <a:bodyPr/>
          <a:lstStyle/>
          <a:p>
            <a:endParaRPr lang="ko-KR" altLang="en-US"/>
          </a:p>
        </p:txBody>
      </p:sp>
      <p:sp>
        <p:nvSpPr>
          <p:cNvPr id="135" name="Text 132"/>
          <p:cNvSpPr txBox="1"/>
          <p:nvPr/>
        </p:nvSpPr>
        <p:spPr>
          <a:xfrm>
            <a:off x="6669329" y="6144768"/>
            <a:ext cx="3499104" cy="1060704"/>
          </a:xfrm>
          <a:prstGeom prst="rect">
            <a:avLst/>
          </a:prstGeom>
          <a:noFill/>
          <a:ln/>
        </p:spPr>
        <p:txBody>
          <a:bodyPr wrap="square" lIns="508" tIns="508" rIns="508" bIns="508"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② MS GraphRAG※</a:t>
            </a:r>
            <a:r>
              <a:rPr lang="en-US" sz="1400" b="1" dirty="0">
                <a:solidFill>
                  <a:srgbClr val="4A5364"/>
                </a:solidFill>
                <a:latin typeface="Pretendard" pitchFamily="34" charset="0"/>
                <a:ea typeface="Pretendard" pitchFamily="34" charset="-122"/>
                <a:cs typeface="Pretendard" pitchFamily="34" charset="-120"/>
              </a:rPr>
              <a:t>  커뮤니티 요약</a:t>
            </a:r>
            <a:endParaRPr lang="en-US" sz="1600" dirty="0"/>
          </a:p>
          <a:p>
            <a:pPr marL="0" indent="0">
              <a:buNone/>
            </a:pPr>
            <a:r>
              <a:rPr lang="en-US" sz="1400" dirty="0">
                <a:solidFill>
                  <a:srgbClr val="2B3242"/>
                </a:solidFill>
                <a:latin typeface="Pretendard" pitchFamily="34" charset="0"/>
                <a:ea typeface="Pretendard" pitchFamily="34" charset="-122"/>
                <a:cs typeface="Pretendard" pitchFamily="34" charset="-120"/>
              </a:rPr>
              <a:t>미리 만든 커뮤니티 요약을 나눠 답하고 합침</a:t>
            </a:r>
            <a:endParaRPr lang="en-US" sz="1600" dirty="0"/>
          </a:p>
          <a:p>
            <a:pPr marL="0" indent="0">
              <a:buNone/>
            </a:pPr>
            <a:r>
              <a:rPr lang="en-US" sz="1400" b="1" dirty="0">
                <a:solidFill>
                  <a:srgbClr val="2E74C6"/>
                </a:solidFill>
                <a:latin typeface="Pretendard" pitchFamily="34" charset="0"/>
                <a:ea typeface="Pretendard" pitchFamily="34" charset="-122"/>
                <a:cs typeface="Pretendard" pitchFamily="34" charset="-120"/>
              </a:rPr>
              <a:t>전체 리포트를 다 훑음 · 빠짐없지만 비용 큼</a:t>
            </a:r>
            <a:endParaRPr lang="en-US" sz="1600" dirty="0"/>
          </a:p>
        </p:txBody>
      </p:sp>
      <p:sp>
        <p:nvSpPr>
          <p:cNvPr id="136" name="Shape 133"/>
          <p:cNvSpPr/>
          <p:nvPr/>
        </p:nvSpPr>
        <p:spPr>
          <a:xfrm>
            <a:off x="10415321" y="6144768"/>
            <a:ext cx="3718560" cy="1060704"/>
          </a:xfrm>
          <a:prstGeom prst="roundRect">
            <a:avLst>
              <a:gd name="adj" fmla="val 5172"/>
            </a:avLst>
          </a:prstGeom>
          <a:solidFill>
            <a:srgbClr val="F5F8FC"/>
          </a:solidFill>
          <a:ln w="12700">
            <a:solidFill>
              <a:srgbClr val="D9E0EC"/>
            </a:solidFill>
            <a:prstDash val="solid"/>
          </a:ln>
        </p:spPr>
        <p:txBody>
          <a:bodyPr/>
          <a:lstStyle/>
          <a:p>
            <a:endParaRPr lang="ko-KR" altLang="en-US"/>
          </a:p>
        </p:txBody>
      </p:sp>
      <p:sp>
        <p:nvSpPr>
          <p:cNvPr id="137" name="Text 134"/>
          <p:cNvSpPr txBox="1"/>
          <p:nvPr/>
        </p:nvSpPr>
        <p:spPr>
          <a:xfrm>
            <a:off x="10525049" y="6144768"/>
            <a:ext cx="3499104" cy="1060704"/>
          </a:xfrm>
          <a:prstGeom prst="rect">
            <a:avLst/>
          </a:prstGeom>
          <a:noFill/>
          <a:ln/>
        </p:spPr>
        <p:txBody>
          <a:bodyPr wrap="square" lIns="508" tIns="508" rIns="508" bIns="508"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③ LightRAG</a:t>
            </a:r>
            <a:r>
              <a:rPr lang="en-US" sz="1400" b="1" dirty="0">
                <a:solidFill>
                  <a:srgbClr val="4A5364"/>
                </a:solidFill>
                <a:latin typeface="Pretendard" pitchFamily="34" charset="0"/>
                <a:ea typeface="Pretendard" pitchFamily="34" charset="-122"/>
                <a:cs typeface="Pretendard" pitchFamily="34" charset="-120"/>
              </a:rPr>
              <a:t>  High-level 키워드</a:t>
            </a:r>
            <a:endParaRPr lang="en-US" sz="1600" dirty="0"/>
          </a:p>
          <a:p>
            <a:pPr marL="0" indent="0">
              <a:buNone/>
            </a:pPr>
            <a:r>
              <a:rPr lang="en-US" sz="1400" dirty="0">
                <a:solidFill>
                  <a:srgbClr val="2B3242"/>
                </a:solidFill>
                <a:latin typeface="Pretendard" pitchFamily="34" charset="0"/>
                <a:ea typeface="Pretendard" pitchFamily="34" charset="-122"/>
                <a:cs typeface="Pretendard" pitchFamily="34" charset="-120"/>
              </a:rPr>
              <a:t>질문의 상위(High-level) 키워드로 관계 벡터 검색</a:t>
            </a:r>
            <a:endParaRPr lang="en-US" sz="1600" dirty="0"/>
          </a:p>
          <a:p>
            <a:pPr marL="0" indent="0">
              <a:buNone/>
            </a:pPr>
            <a:r>
              <a:rPr lang="en-US" sz="1400" b="1" dirty="0">
                <a:solidFill>
                  <a:srgbClr val="2E74C6"/>
                </a:solidFill>
                <a:latin typeface="Pretendard" pitchFamily="34" charset="0"/>
                <a:ea typeface="Pretendard" pitchFamily="34" charset="-122"/>
                <a:cs typeface="Pretendard" pitchFamily="34" charset="-120"/>
              </a:rPr>
              <a:t>맞는 관계만 골라 봄 · 가볍지만 놓칠 수 있음</a:t>
            </a:r>
            <a:endParaRPr lang="en-US" sz="1600" dirty="0"/>
          </a:p>
        </p:txBody>
      </p:sp>
      <p:sp>
        <p:nvSpPr>
          <p:cNvPr id="138" name="Text 135"/>
          <p:cNvSpPr txBox="1"/>
          <p:nvPr/>
        </p:nvSpPr>
        <p:spPr>
          <a:xfrm>
            <a:off x="509321" y="7242048"/>
            <a:ext cx="13624560" cy="310896"/>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 MS GraphRAG는 현재 유지보수 모드: 새 기능 추가 없이 버그 · 보안 수정만 이어 가는 상태 (2026-08 공지). Local · Global · DRIFT 개념의 원형으로 참고</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GraphRAG 대표 프레임워크: Neo4j · MS GraphRAG · LightRAG</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그래프를 어디에 담고, 전체를 묻는 질문을 어떻게 푸는지가 세 프레임워크의 가장 큰 차이</a:t>
            </a:r>
            <a:endParaRPr lang="en-US" sz="1800" dirty="0"/>
          </a:p>
        </p:txBody>
      </p:sp>
      <p:sp>
        <p:nvSpPr>
          <p:cNvPr id="5" name="Shape 2"/>
          <p:cNvSpPr/>
          <p:nvPr/>
        </p:nvSpPr>
        <p:spPr>
          <a:xfrm>
            <a:off x="509321" y="1737360"/>
            <a:ext cx="4389120" cy="5468112"/>
          </a:xfrm>
          <a:prstGeom prst="roundRect">
            <a:avLst>
              <a:gd name="adj" fmla="val 1667"/>
            </a:avLst>
          </a:prstGeom>
          <a:solidFill>
            <a:srgbClr val="FFFFFF"/>
          </a:solidFill>
          <a:ln w="12700">
            <a:solidFill>
              <a:srgbClr val="D9E0EC"/>
            </a:solidFill>
            <a:prstDash val="solid"/>
          </a:ln>
        </p:spPr>
        <p:txBody>
          <a:bodyPr/>
          <a:lstStyle/>
          <a:p>
            <a:endParaRPr lang="ko-KR" altLang="en-US"/>
          </a:p>
        </p:txBody>
      </p:sp>
      <p:sp>
        <p:nvSpPr>
          <p:cNvPr id="6" name="Shape 3"/>
          <p:cNvSpPr/>
          <p:nvPr/>
        </p:nvSpPr>
        <p:spPr>
          <a:xfrm>
            <a:off x="509321" y="1737360"/>
            <a:ext cx="4389120" cy="502920"/>
          </a:xfrm>
          <a:prstGeom prst="roundRect">
            <a:avLst>
              <a:gd name="adj" fmla="val 10909"/>
            </a:avLst>
          </a:prstGeom>
          <a:solidFill>
            <a:srgbClr val="1E2A5C"/>
          </a:solidFill>
          <a:ln/>
        </p:spPr>
        <p:txBody>
          <a:bodyPr/>
          <a:lstStyle/>
          <a:p>
            <a:endParaRPr lang="ko-KR" altLang="en-US"/>
          </a:p>
        </p:txBody>
      </p:sp>
      <p:sp>
        <p:nvSpPr>
          <p:cNvPr id="7" name="Text 4"/>
          <p:cNvSpPr txBox="1"/>
          <p:nvPr/>
        </p:nvSpPr>
        <p:spPr>
          <a:xfrm>
            <a:off x="646481" y="1737360"/>
            <a:ext cx="4114800" cy="502920"/>
          </a:xfrm>
          <a:prstGeom prst="rect">
            <a:avLst/>
          </a:prstGeom>
          <a:noFill/>
          <a:ln/>
        </p:spPr>
        <p:txBody>
          <a:bodyPr wrap="square" lIns="0" tIns="0" rIns="0" bIns="0" rtlCol="0" anchor="ctr"/>
          <a:lstStyle/>
          <a:p>
            <a:pPr marL="0" indent="0">
              <a:buNone/>
            </a:pPr>
            <a:r>
              <a:rPr lang="en-US" sz="2000" b="1" dirty="0">
                <a:solidFill>
                  <a:srgbClr val="FFFFFF"/>
                </a:solidFill>
                <a:latin typeface="Pretendard" pitchFamily="34" charset="0"/>
                <a:ea typeface="Pretendard" pitchFamily="34" charset="-122"/>
                <a:cs typeface="Pretendard" pitchFamily="34" charset="-120"/>
              </a:rPr>
              <a:t>Neo4j</a:t>
            </a:r>
            <a:r>
              <a:rPr lang="en-US" sz="1400" dirty="0">
                <a:solidFill>
                  <a:srgbClr val="D9E3F5"/>
                </a:solidFill>
                <a:latin typeface="Pretendard" pitchFamily="34" charset="0"/>
                <a:ea typeface="Pretendard" pitchFamily="34" charset="-122"/>
                <a:cs typeface="Pretendard" pitchFamily="34" charset="-120"/>
              </a:rPr>
              <a:t>  Neo4j GraphRAG · LangChain + Neo4j</a:t>
            </a:r>
            <a:endParaRPr lang="en-US" sz="2000" dirty="0"/>
          </a:p>
        </p:txBody>
      </p:sp>
      <p:sp>
        <p:nvSpPr>
          <p:cNvPr id="8" name="Shape 5"/>
          <p:cNvSpPr/>
          <p:nvPr/>
        </p:nvSpPr>
        <p:spPr>
          <a:xfrm>
            <a:off x="646481" y="2331720"/>
            <a:ext cx="4114800" cy="438912"/>
          </a:xfrm>
          <a:prstGeom prst="roundRect">
            <a:avLst>
              <a:gd name="adj" fmla="val 12500"/>
            </a:avLst>
          </a:prstGeom>
          <a:solidFill>
            <a:srgbClr val="EEF3FA"/>
          </a:solidFill>
          <a:ln/>
        </p:spPr>
        <p:txBody>
          <a:bodyPr/>
          <a:lstStyle/>
          <a:p>
            <a:endParaRPr lang="ko-KR" altLang="en-US"/>
          </a:p>
        </p:txBody>
      </p:sp>
      <p:sp>
        <p:nvSpPr>
          <p:cNvPr id="9" name="Text 6"/>
          <p:cNvSpPr txBox="1"/>
          <p:nvPr/>
        </p:nvSpPr>
        <p:spPr>
          <a:xfrm>
            <a:off x="646481" y="2331720"/>
            <a:ext cx="4114800" cy="438912"/>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그래프 DB에 담고 Cypher로 직접 묻기</a:t>
            </a:r>
            <a:endParaRPr lang="en-US" sz="1600" dirty="0"/>
          </a:p>
        </p:txBody>
      </p:sp>
      <p:sp>
        <p:nvSpPr>
          <p:cNvPr id="10" name="Shape 7"/>
          <p:cNvSpPr/>
          <p:nvPr/>
        </p:nvSpPr>
        <p:spPr>
          <a:xfrm>
            <a:off x="646481" y="2880360"/>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1" name="Text 8"/>
          <p:cNvSpPr txBox="1"/>
          <p:nvPr/>
        </p:nvSpPr>
        <p:spPr>
          <a:xfrm>
            <a:off x="646481" y="2880360"/>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인덱싱</a:t>
            </a:r>
            <a:endParaRPr lang="en-US" sz="1400" dirty="0"/>
          </a:p>
        </p:txBody>
      </p:sp>
      <p:sp>
        <p:nvSpPr>
          <p:cNvPr id="12" name="Shape 9"/>
          <p:cNvSpPr/>
          <p:nvPr/>
        </p:nvSpPr>
        <p:spPr>
          <a:xfrm>
            <a:off x="1469441" y="2880360"/>
            <a:ext cx="621792" cy="310896"/>
          </a:xfrm>
          <a:prstGeom prst="roundRect">
            <a:avLst>
              <a:gd name="adj" fmla="val 14706"/>
            </a:avLst>
          </a:prstGeom>
          <a:solidFill>
            <a:srgbClr val="EEF3FA"/>
          </a:solidFill>
          <a:ln/>
        </p:spPr>
        <p:txBody>
          <a:bodyPr/>
          <a:lstStyle/>
          <a:p>
            <a:endParaRPr lang="ko-KR" altLang="en-US"/>
          </a:p>
        </p:txBody>
      </p:sp>
      <p:sp>
        <p:nvSpPr>
          <p:cNvPr id="13" name="Text 10"/>
          <p:cNvSpPr txBox="1"/>
          <p:nvPr/>
        </p:nvSpPr>
        <p:spPr>
          <a:xfrm>
            <a:off x="1469441"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청킹</a:t>
            </a:r>
            <a:endParaRPr lang="en-US" sz="1400" dirty="0"/>
          </a:p>
        </p:txBody>
      </p:sp>
      <p:sp>
        <p:nvSpPr>
          <p:cNvPr id="14" name="Shape 11"/>
          <p:cNvSpPr/>
          <p:nvPr/>
        </p:nvSpPr>
        <p:spPr>
          <a:xfrm>
            <a:off x="2136953" y="2880360"/>
            <a:ext cx="621792" cy="310896"/>
          </a:xfrm>
          <a:prstGeom prst="roundRect">
            <a:avLst>
              <a:gd name="adj" fmla="val 14706"/>
            </a:avLst>
          </a:prstGeom>
          <a:solidFill>
            <a:srgbClr val="EEF3FA"/>
          </a:solidFill>
          <a:ln/>
        </p:spPr>
        <p:txBody>
          <a:bodyPr/>
          <a:lstStyle/>
          <a:p>
            <a:endParaRPr lang="ko-KR" altLang="en-US"/>
          </a:p>
        </p:txBody>
      </p:sp>
      <p:sp>
        <p:nvSpPr>
          <p:cNvPr id="15" name="Text 12"/>
          <p:cNvSpPr txBox="1"/>
          <p:nvPr/>
        </p:nvSpPr>
        <p:spPr>
          <a:xfrm>
            <a:off x="2136953"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추출</a:t>
            </a:r>
            <a:endParaRPr lang="en-US" sz="1400" dirty="0"/>
          </a:p>
        </p:txBody>
      </p:sp>
      <p:sp>
        <p:nvSpPr>
          <p:cNvPr id="16" name="Shape 13"/>
          <p:cNvSpPr/>
          <p:nvPr/>
        </p:nvSpPr>
        <p:spPr>
          <a:xfrm>
            <a:off x="2804465" y="2880360"/>
            <a:ext cx="621792" cy="310896"/>
          </a:xfrm>
          <a:prstGeom prst="roundRect">
            <a:avLst>
              <a:gd name="adj" fmla="val 14706"/>
            </a:avLst>
          </a:prstGeom>
          <a:solidFill>
            <a:srgbClr val="EEF3FA"/>
          </a:solidFill>
          <a:ln/>
        </p:spPr>
        <p:txBody>
          <a:bodyPr/>
          <a:lstStyle/>
          <a:p>
            <a:endParaRPr lang="ko-KR" altLang="en-US"/>
          </a:p>
        </p:txBody>
      </p:sp>
      <p:sp>
        <p:nvSpPr>
          <p:cNvPr id="17" name="Text 14"/>
          <p:cNvSpPr txBox="1"/>
          <p:nvPr/>
        </p:nvSpPr>
        <p:spPr>
          <a:xfrm>
            <a:off x="2804465"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KG 저장</a:t>
            </a:r>
            <a:endParaRPr lang="en-US" sz="1400" dirty="0"/>
          </a:p>
        </p:txBody>
      </p:sp>
      <p:sp>
        <p:nvSpPr>
          <p:cNvPr id="18" name="Shape 15"/>
          <p:cNvSpPr/>
          <p:nvPr/>
        </p:nvSpPr>
        <p:spPr>
          <a:xfrm>
            <a:off x="3471977" y="2880360"/>
            <a:ext cx="621792" cy="310896"/>
          </a:xfrm>
          <a:prstGeom prst="roundRect">
            <a:avLst>
              <a:gd name="adj" fmla="val 14706"/>
            </a:avLst>
          </a:prstGeom>
          <a:solidFill>
            <a:srgbClr val="FFFFFF"/>
          </a:solidFill>
          <a:ln w="12700">
            <a:solidFill>
              <a:srgbClr val="C3CEE0"/>
            </a:solidFill>
            <a:prstDash val="dash"/>
          </a:ln>
        </p:spPr>
        <p:txBody>
          <a:bodyPr/>
          <a:lstStyle/>
          <a:p>
            <a:endParaRPr lang="ko-KR" altLang="en-US"/>
          </a:p>
        </p:txBody>
      </p:sp>
      <p:sp>
        <p:nvSpPr>
          <p:cNvPr id="19" name="Text 16"/>
          <p:cNvSpPr txBox="1"/>
          <p:nvPr/>
        </p:nvSpPr>
        <p:spPr>
          <a:xfrm>
            <a:off x="3471977" y="2880360"/>
            <a:ext cx="621792" cy="310896"/>
          </a:xfrm>
          <a:prstGeom prst="rect">
            <a:avLst/>
          </a:prstGeom>
          <a:noFill/>
          <a:ln/>
        </p:spPr>
        <p:txBody>
          <a:bodyPr wrap="square" lIns="1016" tIns="1016" rIns="1016" bIns="1016" rtlCol="0" anchor="ctr"/>
          <a:lstStyle/>
          <a:p>
            <a:pPr marL="0" indent="0" algn="ctr">
              <a:buNone/>
            </a:pPr>
            <a:r>
              <a:rPr lang="en-US" sz="1400" dirty="0" err="1">
                <a:latin typeface="Pretendard" pitchFamily="34" charset="0"/>
                <a:ea typeface="Pretendard" pitchFamily="34" charset="-122"/>
                <a:cs typeface="Pretendard" pitchFamily="34" charset="-120"/>
              </a:rPr>
              <a:t>요약</a:t>
            </a:r>
            <a:br>
              <a:rPr lang="en-US" sz="1400" dirty="0">
                <a:latin typeface="Pretendard" pitchFamily="34" charset="0"/>
                <a:ea typeface="Pretendard" pitchFamily="34" charset="-122"/>
                <a:cs typeface="Pretendard" pitchFamily="34" charset="-120"/>
              </a:rPr>
            </a:br>
            <a:r>
              <a:rPr lang="en-US" sz="1100" dirty="0">
                <a:latin typeface="Pretendard" pitchFamily="34" charset="0"/>
                <a:ea typeface="Pretendard" pitchFamily="34" charset="-122"/>
                <a:cs typeface="Pretendard" pitchFamily="34" charset="-120"/>
              </a:rPr>
              <a:t>(</a:t>
            </a:r>
            <a:r>
              <a:rPr lang="ko-KR" altLang="en-US" sz="1100" dirty="0">
                <a:latin typeface="Pretendard" pitchFamily="34" charset="0"/>
                <a:ea typeface="Pretendard" pitchFamily="34" charset="-122"/>
                <a:cs typeface="Pretendard" pitchFamily="34" charset="-120"/>
              </a:rPr>
              <a:t>선택</a:t>
            </a:r>
            <a:r>
              <a:rPr lang="en-US" altLang="ko-KR" sz="1100" dirty="0">
                <a:latin typeface="Pretendard" pitchFamily="34" charset="0"/>
                <a:ea typeface="Pretendard" pitchFamily="34" charset="-122"/>
                <a:cs typeface="Pretendard" pitchFamily="34" charset="-120"/>
              </a:rPr>
              <a:t>)</a:t>
            </a:r>
            <a:endParaRPr lang="en-US" sz="1400" dirty="0"/>
          </a:p>
        </p:txBody>
      </p:sp>
      <p:sp>
        <p:nvSpPr>
          <p:cNvPr id="20" name="Shape 17"/>
          <p:cNvSpPr/>
          <p:nvPr/>
        </p:nvSpPr>
        <p:spPr>
          <a:xfrm>
            <a:off x="4139489" y="2880360"/>
            <a:ext cx="621792" cy="310896"/>
          </a:xfrm>
          <a:prstGeom prst="roundRect">
            <a:avLst>
              <a:gd name="adj" fmla="val 14706"/>
            </a:avLst>
          </a:prstGeom>
          <a:solidFill>
            <a:srgbClr val="EEF3FA"/>
          </a:solidFill>
          <a:ln/>
        </p:spPr>
        <p:txBody>
          <a:bodyPr/>
          <a:lstStyle/>
          <a:p>
            <a:endParaRPr lang="ko-KR" altLang="en-US"/>
          </a:p>
        </p:txBody>
      </p:sp>
      <p:sp>
        <p:nvSpPr>
          <p:cNvPr id="21" name="Text 18"/>
          <p:cNvSpPr txBox="1"/>
          <p:nvPr/>
        </p:nvSpPr>
        <p:spPr>
          <a:xfrm>
            <a:off x="4139489"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임베딩</a:t>
            </a:r>
            <a:endParaRPr lang="en-US" sz="1400" dirty="0"/>
          </a:p>
        </p:txBody>
      </p:sp>
      <p:sp>
        <p:nvSpPr>
          <p:cNvPr id="22" name="Shape 19"/>
          <p:cNvSpPr/>
          <p:nvPr/>
        </p:nvSpPr>
        <p:spPr>
          <a:xfrm>
            <a:off x="646481" y="344728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23" name="Text 20"/>
          <p:cNvSpPr txBox="1"/>
          <p:nvPr/>
        </p:nvSpPr>
        <p:spPr>
          <a:xfrm>
            <a:off x="646481" y="344728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저장소</a:t>
            </a:r>
            <a:endParaRPr lang="en-US" sz="1400" dirty="0"/>
          </a:p>
        </p:txBody>
      </p:sp>
      <p:sp>
        <p:nvSpPr>
          <p:cNvPr id="24" name="Shape 21"/>
          <p:cNvSpPr/>
          <p:nvPr/>
        </p:nvSpPr>
        <p:spPr>
          <a:xfrm>
            <a:off x="1469441" y="3300984"/>
            <a:ext cx="3291840" cy="603504"/>
          </a:xfrm>
          <a:prstGeom prst="roundRect">
            <a:avLst>
              <a:gd name="adj" fmla="val 9091"/>
            </a:avLst>
          </a:prstGeom>
          <a:solidFill>
            <a:srgbClr val="F5F8FC"/>
          </a:solidFill>
          <a:ln w="19050">
            <a:solidFill>
              <a:srgbClr val="1E2A5C"/>
            </a:solidFill>
            <a:prstDash val="solid"/>
          </a:ln>
        </p:spPr>
        <p:txBody>
          <a:bodyPr/>
          <a:lstStyle/>
          <a:p>
            <a:endParaRPr lang="ko-KR" altLang="en-US"/>
          </a:p>
        </p:txBody>
      </p:sp>
      <p:sp>
        <p:nvSpPr>
          <p:cNvPr id="25" name="Text 22"/>
          <p:cNvSpPr txBox="1"/>
          <p:nvPr/>
        </p:nvSpPr>
        <p:spPr>
          <a:xfrm>
            <a:off x="1542593" y="3300984"/>
            <a:ext cx="822960" cy="603504"/>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Neo4j</a:t>
            </a:r>
            <a:endParaRPr lang="en-US" sz="1500" dirty="0"/>
          </a:p>
        </p:txBody>
      </p:sp>
      <p:sp>
        <p:nvSpPr>
          <p:cNvPr id="26" name="Shape 23"/>
          <p:cNvSpPr/>
          <p:nvPr/>
        </p:nvSpPr>
        <p:spPr>
          <a:xfrm>
            <a:off x="2383841" y="3374136"/>
            <a:ext cx="1120140" cy="45720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27" name="Text 24"/>
          <p:cNvSpPr txBox="1"/>
          <p:nvPr/>
        </p:nvSpPr>
        <p:spPr>
          <a:xfrm>
            <a:off x="2383841" y="3374136"/>
            <a:ext cx="1120140"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그래프</a:t>
            </a:r>
            <a:endParaRPr lang="en-US" sz="1400" dirty="0"/>
          </a:p>
        </p:txBody>
      </p:sp>
      <p:sp>
        <p:nvSpPr>
          <p:cNvPr id="28" name="Shape 25"/>
          <p:cNvSpPr/>
          <p:nvPr/>
        </p:nvSpPr>
        <p:spPr>
          <a:xfrm>
            <a:off x="3567989" y="3374136"/>
            <a:ext cx="1120140" cy="45720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29" name="Text 26"/>
          <p:cNvSpPr txBox="1"/>
          <p:nvPr/>
        </p:nvSpPr>
        <p:spPr>
          <a:xfrm>
            <a:off x="3567989" y="3374136"/>
            <a:ext cx="1120140"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벡터 인덱스</a:t>
            </a:r>
            <a:endParaRPr lang="en-US" sz="1400" dirty="0"/>
          </a:p>
        </p:txBody>
      </p:sp>
      <p:sp>
        <p:nvSpPr>
          <p:cNvPr id="30" name="Text 27"/>
          <p:cNvSpPr txBox="1"/>
          <p:nvPr/>
        </p:nvSpPr>
        <p:spPr>
          <a:xfrm>
            <a:off x="1469441" y="3922776"/>
            <a:ext cx="3291840" cy="256032"/>
          </a:xfrm>
          <a:prstGeom prst="rect">
            <a:avLst/>
          </a:prstGeom>
          <a:noFill/>
          <a:ln/>
        </p:spPr>
        <p:txBody>
          <a:bodyPr wrap="square" lIns="762" tIns="762" rIns="762" bIns="762"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한 DB에 통합</a:t>
            </a:r>
            <a:endParaRPr lang="en-US" sz="1400" dirty="0"/>
          </a:p>
        </p:txBody>
      </p:sp>
      <p:sp>
        <p:nvSpPr>
          <p:cNvPr id="31" name="Shape 28"/>
          <p:cNvSpPr/>
          <p:nvPr/>
        </p:nvSpPr>
        <p:spPr>
          <a:xfrm>
            <a:off x="646481" y="4288536"/>
            <a:ext cx="4114800" cy="0"/>
          </a:xfrm>
          <a:prstGeom prst="line">
            <a:avLst/>
          </a:prstGeom>
          <a:noFill/>
          <a:ln w="12700">
            <a:solidFill>
              <a:srgbClr val="EDF0F6"/>
            </a:solidFill>
            <a:prstDash val="solid"/>
          </a:ln>
        </p:spPr>
        <p:txBody>
          <a:bodyPr/>
          <a:lstStyle/>
          <a:p>
            <a:endParaRPr lang="ko-KR" altLang="en-US"/>
          </a:p>
        </p:txBody>
      </p:sp>
      <p:sp>
        <p:nvSpPr>
          <p:cNvPr id="32" name="Shape 29"/>
          <p:cNvSpPr/>
          <p:nvPr/>
        </p:nvSpPr>
        <p:spPr>
          <a:xfrm>
            <a:off x="646481" y="440740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33" name="Text 30"/>
          <p:cNvSpPr txBox="1"/>
          <p:nvPr/>
        </p:nvSpPr>
        <p:spPr>
          <a:xfrm>
            <a:off x="646481" y="440740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Local</a:t>
            </a:r>
            <a:endParaRPr lang="en-US" sz="1400" dirty="0"/>
          </a:p>
        </p:txBody>
      </p:sp>
      <p:sp>
        <p:nvSpPr>
          <p:cNvPr id="34" name="Text 31"/>
          <p:cNvSpPr txBox="1"/>
          <p:nvPr/>
        </p:nvSpPr>
        <p:spPr>
          <a:xfrm>
            <a:off x="1469441" y="428853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벡터로 진입점 → Cypher로 주변 탐색</a:t>
            </a:r>
            <a:endParaRPr lang="en-US" sz="1400" dirty="0"/>
          </a:p>
        </p:txBody>
      </p:sp>
      <p:sp>
        <p:nvSpPr>
          <p:cNvPr id="35" name="Shape 32"/>
          <p:cNvSpPr/>
          <p:nvPr/>
        </p:nvSpPr>
        <p:spPr>
          <a:xfrm>
            <a:off x="646481" y="4837176"/>
            <a:ext cx="4114800" cy="0"/>
          </a:xfrm>
          <a:prstGeom prst="line">
            <a:avLst/>
          </a:prstGeom>
          <a:noFill/>
          <a:ln w="12700">
            <a:solidFill>
              <a:srgbClr val="EDF0F6"/>
            </a:solidFill>
            <a:prstDash val="solid"/>
          </a:ln>
        </p:spPr>
        <p:txBody>
          <a:bodyPr/>
          <a:lstStyle/>
          <a:p>
            <a:endParaRPr lang="ko-KR" altLang="en-US"/>
          </a:p>
        </p:txBody>
      </p:sp>
      <p:sp>
        <p:nvSpPr>
          <p:cNvPr id="36" name="Shape 33"/>
          <p:cNvSpPr/>
          <p:nvPr/>
        </p:nvSpPr>
        <p:spPr>
          <a:xfrm>
            <a:off x="646481" y="495604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37" name="Text 34"/>
          <p:cNvSpPr txBox="1"/>
          <p:nvPr/>
        </p:nvSpPr>
        <p:spPr>
          <a:xfrm>
            <a:off x="646481" y="495604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Global</a:t>
            </a:r>
            <a:endParaRPr lang="en-US" sz="1400" dirty="0"/>
          </a:p>
        </p:txBody>
      </p:sp>
      <p:sp>
        <p:nvSpPr>
          <p:cNvPr id="38" name="Text 35"/>
          <p:cNvSpPr txBox="1"/>
          <p:nvPr/>
        </p:nvSpPr>
        <p:spPr>
          <a:xfrm>
            <a:off x="1469441" y="483717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Cypher 조건 · 집계 + LLM 요약</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(선택) GDS 커뮤니티 + LLM 요약</a:t>
            </a:r>
            <a:endParaRPr lang="en-US" sz="1400" dirty="0"/>
          </a:p>
        </p:txBody>
      </p:sp>
      <p:sp>
        <p:nvSpPr>
          <p:cNvPr id="39" name="Shape 36"/>
          <p:cNvSpPr/>
          <p:nvPr/>
        </p:nvSpPr>
        <p:spPr>
          <a:xfrm>
            <a:off x="646481" y="5385816"/>
            <a:ext cx="4114800" cy="0"/>
          </a:xfrm>
          <a:prstGeom prst="line">
            <a:avLst/>
          </a:prstGeom>
          <a:noFill/>
          <a:ln w="12700">
            <a:solidFill>
              <a:srgbClr val="EDF0F6"/>
            </a:solidFill>
            <a:prstDash val="solid"/>
          </a:ln>
        </p:spPr>
        <p:txBody>
          <a:bodyPr/>
          <a:lstStyle/>
          <a:p>
            <a:endParaRPr lang="ko-KR" altLang="en-US"/>
          </a:p>
        </p:txBody>
      </p:sp>
      <p:sp>
        <p:nvSpPr>
          <p:cNvPr id="40" name="Shape 37"/>
          <p:cNvSpPr/>
          <p:nvPr/>
        </p:nvSpPr>
        <p:spPr>
          <a:xfrm>
            <a:off x="646481" y="550468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41" name="Text 38"/>
          <p:cNvSpPr txBox="1"/>
          <p:nvPr/>
        </p:nvSpPr>
        <p:spPr>
          <a:xfrm>
            <a:off x="646481" y="550468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Hybrid</a:t>
            </a:r>
            <a:endParaRPr lang="en-US" sz="1400" dirty="0"/>
          </a:p>
        </p:txBody>
      </p:sp>
      <p:sp>
        <p:nvSpPr>
          <p:cNvPr id="42" name="Text 39"/>
          <p:cNvSpPr txBox="1"/>
          <p:nvPr/>
        </p:nvSpPr>
        <p:spPr>
          <a:xfrm>
            <a:off x="1469441" y="538581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'Hybrid' = 벡터 + 키워드 검색</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Local + Global 결합은 직접 구성</a:t>
            </a:r>
            <a:endParaRPr lang="en-US" sz="1400" dirty="0"/>
          </a:p>
        </p:txBody>
      </p:sp>
      <p:sp>
        <p:nvSpPr>
          <p:cNvPr id="43" name="Shape 40"/>
          <p:cNvSpPr/>
          <p:nvPr/>
        </p:nvSpPr>
        <p:spPr>
          <a:xfrm>
            <a:off x="646481" y="5934456"/>
            <a:ext cx="4114800" cy="0"/>
          </a:xfrm>
          <a:prstGeom prst="line">
            <a:avLst/>
          </a:prstGeom>
          <a:noFill/>
          <a:ln w="12700">
            <a:solidFill>
              <a:srgbClr val="EDF0F6"/>
            </a:solidFill>
            <a:prstDash val="solid"/>
          </a:ln>
        </p:spPr>
        <p:txBody>
          <a:bodyPr/>
          <a:lstStyle/>
          <a:p>
            <a:endParaRPr lang="ko-KR" altLang="en-US"/>
          </a:p>
        </p:txBody>
      </p:sp>
      <p:sp>
        <p:nvSpPr>
          <p:cNvPr id="44" name="Shape 41"/>
          <p:cNvSpPr/>
          <p:nvPr/>
        </p:nvSpPr>
        <p:spPr>
          <a:xfrm>
            <a:off x="646481" y="605332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45" name="Text 42"/>
          <p:cNvSpPr txBox="1"/>
          <p:nvPr/>
        </p:nvSpPr>
        <p:spPr>
          <a:xfrm>
            <a:off x="646481" y="605332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문서 갱신</a:t>
            </a:r>
            <a:endParaRPr lang="en-US" sz="1400" dirty="0"/>
          </a:p>
        </p:txBody>
      </p:sp>
      <p:sp>
        <p:nvSpPr>
          <p:cNvPr id="46" name="Text 43"/>
          <p:cNvSpPr txBox="1"/>
          <p:nvPr/>
        </p:nvSpPr>
        <p:spPr>
          <a:xfrm>
            <a:off x="1469441" y="593445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MERGE로 중복 없이 추가,</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Cypher로 지우고 재삽입</a:t>
            </a:r>
            <a:endParaRPr lang="en-US" sz="1400" dirty="0"/>
          </a:p>
        </p:txBody>
      </p:sp>
      <p:sp>
        <p:nvSpPr>
          <p:cNvPr id="47" name="Shape 44"/>
          <p:cNvSpPr/>
          <p:nvPr/>
        </p:nvSpPr>
        <p:spPr>
          <a:xfrm>
            <a:off x="646481" y="6556248"/>
            <a:ext cx="4114800" cy="539496"/>
          </a:xfrm>
          <a:prstGeom prst="roundRect">
            <a:avLst>
              <a:gd name="adj" fmla="val 10169"/>
            </a:avLst>
          </a:prstGeom>
          <a:solidFill>
            <a:srgbClr val="1E2A5C"/>
          </a:solidFill>
          <a:ln/>
        </p:spPr>
        <p:txBody>
          <a:bodyPr/>
          <a:lstStyle/>
          <a:p>
            <a:endParaRPr lang="ko-KR" altLang="en-US"/>
          </a:p>
        </p:txBody>
      </p:sp>
      <p:sp>
        <p:nvSpPr>
          <p:cNvPr id="48" name="Text 45"/>
          <p:cNvSpPr txBox="1"/>
          <p:nvPr/>
        </p:nvSpPr>
        <p:spPr>
          <a:xfrm>
            <a:off x="646481" y="6556248"/>
            <a:ext cx="4114800" cy="539496"/>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정형 데이터와 함께 쓰고</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조건 · 집계 질문이 많을 때</a:t>
            </a:r>
            <a:endParaRPr lang="en-US" sz="1500" dirty="0"/>
          </a:p>
        </p:txBody>
      </p:sp>
      <p:sp>
        <p:nvSpPr>
          <p:cNvPr id="49" name="Shape 46"/>
          <p:cNvSpPr/>
          <p:nvPr/>
        </p:nvSpPr>
        <p:spPr>
          <a:xfrm>
            <a:off x="5127041" y="1737360"/>
            <a:ext cx="4389120" cy="5468112"/>
          </a:xfrm>
          <a:prstGeom prst="roundRect">
            <a:avLst>
              <a:gd name="adj" fmla="val 1667"/>
            </a:avLst>
          </a:prstGeom>
          <a:solidFill>
            <a:srgbClr val="FFFFFF"/>
          </a:solidFill>
          <a:ln w="12700">
            <a:solidFill>
              <a:srgbClr val="D9E0EC"/>
            </a:solidFill>
            <a:prstDash val="solid"/>
          </a:ln>
        </p:spPr>
        <p:txBody>
          <a:bodyPr/>
          <a:lstStyle/>
          <a:p>
            <a:endParaRPr lang="ko-KR" altLang="en-US"/>
          </a:p>
        </p:txBody>
      </p:sp>
      <p:sp>
        <p:nvSpPr>
          <p:cNvPr id="50" name="Shape 47"/>
          <p:cNvSpPr/>
          <p:nvPr/>
        </p:nvSpPr>
        <p:spPr>
          <a:xfrm>
            <a:off x="5127041" y="1737360"/>
            <a:ext cx="4389120" cy="502920"/>
          </a:xfrm>
          <a:prstGeom prst="roundRect">
            <a:avLst>
              <a:gd name="adj" fmla="val 10909"/>
            </a:avLst>
          </a:prstGeom>
          <a:solidFill>
            <a:srgbClr val="2E74C6"/>
          </a:solidFill>
          <a:ln/>
        </p:spPr>
        <p:txBody>
          <a:bodyPr/>
          <a:lstStyle/>
          <a:p>
            <a:endParaRPr lang="ko-KR" altLang="en-US"/>
          </a:p>
        </p:txBody>
      </p:sp>
      <p:sp>
        <p:nvSpPr>
          <p:cNvPr id="51" name="Text 48"/>
          <p:cNvSpPr txBox="1"/>
          <p:nvPr/>
        </p:nvSpPr>
        <p:spPr>
          <a:xfrm>
            <a:off x="5264201" y="1737360"/>
            <a:ext cx="4114800" cy="502920"/>
          </a:xfrm>
          <a:prstGeom prst="rect">
            <a:avLst/>
          </a:prstGeom>
          <a:noFill/>
          <a:ln/>
        </p:spPr>
        <p:txBody>
          <a:bodyPr wrap="square" lIns="0" tIns="0" rIns="0" bIns="0" rtlCol="0" anchor="ctr"/>
          <a:lstStyle/>
          <a:p>
            <a:pPr marL="0" indent="0">
              <a:buNone/>
            </a:pPr>
            <a:r>
              <a:rPr lang="en-US" sz="2000" b="1" dirty="0">
                <a:solidFill>
                  <a:srgbClr val="FFFFFF"/>
                </a:solidFill>
                <a:latin typeface="Pretendard" pitchFamily="34" charset="0"/>
                <a:ea typeface="Pretendard" pitchFamily="34" charset="-122"/>
                <a:cs typeface="Pretendard" pitchFamily="34" charset="-120"/>
              </a:rPr>
              <a:t>MS GraphRAG</a:t>
            </a:r>
            <a:r>
              <a:rPr lang="en-US" sz="2000" b="1" baseline="30000" dirty="0">
                <a:solidFill>
                  <a:srgbClr val="FFFFFF"/>
                </a:solidFill>
                <a:latin typeface="Pretendard" pitchFamily="34" charset="0"/>
                <a:ea typeface="Pretendard" pitchFamily="34" charset="-122"/>
                <a:cs typeface="Pretendard" pitchFamily="34" charset="-120"/>
              </a:rPr>
              <a:t>1)</a:t>
            </a:r>
            <a:r>
              <a:rPr lang="en-US" sz="1400" dirty="0">
                <a:solidFill>
                  <a:srgbClr val="D9E3F5"/>
                </a:solidFill>
                <a:latin typeface="Pretendard" pitchFamily="34" charset="0"/>
                <a:ea typeface="Pretendard" pitchFamily="34" charset="-122"/>
                <a:cs typeface="Pretendard" pitchFamily="34" charset="-120"/>
              </a:rPr>
              <a:t>  Microsoft Research</a:t>
            </a:r>
            <a:endParaRPr lang="en-US" sz="2000" dirty="0"/>
          </a:p>
        </p:txBody>
      </p:sp>
      <p:sp>
        <p:nvSpPr>
          <p:cNvPr id="52" name="Shape 49"/>
          <p:cNvSpPr/>
          <p:nvPr/>
        </p:nvSpPr>
        <p:spPr>
          <a:xfrm>
            <a:off x="5264201" y="2331720"/>
            <a:ext cx="4114800" cy="438912"/>
          </a:xfrm>
          <a:prstGeom prst="roundRect">
            <a:avLst>
              <a:gd name="adj" fmla="val 12500"/>
            </a:avLst>
          </a:prstGeom>
          <a:solidFill>
            <a:srgbClr val="EEF3FA"/>
          </a:solidFill>
          <a:ln/>
        </p:spPr>
        <p:txBody>
          <a:bodyPr/>
          <a:lstStyle/>
          <a:p>
            <a:endParaRPr lang="ko-KR" altLang="en-US"/>
          </a:p>
        </p:txBody>
      </p:sp>
      <p:sp>
        <p:nvSpPr>
          <p:cNvPr id="53" name="Text 50"/>
          <p:cNvSpPr txBox="1"/>
          <p:nvPr/>
        </p:nvSpPr>
        <p:spPr>
          <a:xfrm>
            <a:off x="5264201" y="2331720"/>
            <a:ext cx="4114800" cy="438912"/>
          </a:xfrm>
          <a:prstGeom prst="rect">
            <a:avLst/>
          </a:prstGeom>
          <a:noFill/>
          <a:ln/>
        </p:spPr>
        <p:txBody>
          <a:bodyPr wrap="square" lIns="1016" tIns="1016" rIns="1016" bIns="1016" rtlCol="0" anchor="ctr"/>
          <a:lstStyle/>
          <a:p>
            <a:pPr marL="0" indent="0" algn="ctr">
              <a:buNone/>
            </a:pPr>
            <a:r>
              <a:rPr lang="en-US" sz="1600" b="1" dirty="0">
                <a:solidFill>
                  <a:srgbClr val="2E74C6"/>
                </a:solidFill>
                <a:latin typeface="Pretendard" pitchFamily="34" charset="0"/>
                <a:ea typeface="Pretendard" pitchFamily="34" charset="-122"/>
                <a:cs typeface="Pretendard" pitchFamily="34" charset="-120"/>
              </a:rPr>
              <a:t>미리 요약해 두어 전체 질문에 강함</a:t>
            </a:r>
            <a:endParaRPr lang="en-US" sz="1600" dirty="0"/>
          </a:p>
        </p:txBody>
      </p:sp>
      <p:sp>
        <p:nvSpPr>
          <p:cNvPr id="54" name="Shape 51"/>
          <p:cNvSpPr/>
          <p:nvPr/>
        </p:nvSpPr>
        <p:spPr>
          <a:xfrm>
            <a:off x="5264201" y="2880360"/>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55" name="Text 52"/>
          <p:cNvSpPr txBox="1"/>
          <p:nvPr/>
        </p:nvSpPr>
        <p:spPr>
          <a:xfrm>
            <a:off x="5264201" y="2880360"/>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인덱싱</a:t>
            </a:r>
            <a:endParaRPr lang="en-US" sz="1400" dirty="0"/>
          </a:p>
        </p:txBody>
      </p:sp>
      <p:sp>
        <p:nvSpPr>
          <p:cNvPr id="56" name="Shape 53"/>
          <p:cNvSpPr/>
          <p:nvPr/>
        </p:nvSpPr>
        <p:spPr>
          <a:xfrm>
            <a:off x="6087161" y="2880360"/>
            <a:ext cx="621792" cy="310896"/>
          </a:xfrm>
          <a:prstGeom prst="roundRect">
            <a:avLst>
              <a:gd name="adj" fmla="val 14706"/>
            </a:avLst>
          </a:prstGeom>
          <a:solidFill>
            <a:srgbClr val="EEF3FA"/>
          </a:solidFill>
          <a:ln/>
        </p:spPr>
        <p:txBody>
          <a:bodyPr/>
          <a:lstStyle/>
          <a:p>
            <a:endParaRPr lang="ko-KR" altLang="en-US"/>
          </a:p>
        </p:txBody>
      </p:sp>
      <p:sp>
        <p:nvSpPr>
          <p:cNvPr id="57" name="Text 54"/>
          <p:cNvSpPr txBox="1"/>
          <p:nvPr/>
        </p:nvSpPr>
        <p:spPr>
          <a:xfrm>
            <a:off x="6087161"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청킹</a:t>
            </a:r>
            <a:endParaRPr lang="en-US" sz="1400" dirty="0"/>
          </a:p>
        </p:txBody>
      </p:sp>
      <p:sp>
        <p:nvSpPr>
          <p:cNvPr id="58" name="Shape 55"/>
          <p:cNvSpPr/>
          <p:nvPr/>
        </p:nvSpPr>
        <p:spPr>
          <a:xfrm>
            <a:off x="6754673" y="2880360"/>
            <a:ext cx="621792" cy="310896"/>
          </a:xfrm>
          <a:prstGeom prst="roundRect">
            <a:avLst>
              <a:gd name="adj" fmla="val 14706"/>
            </a:avLst>
          </a:prstGeom>
          <a:solidFill>
            <a:srgbClr val="EEF3FA"/>
          </a:solidFill>
          <a:ln/>
        </p:spPr>
        <p:txBody>
          <a:bodyPr/>
          <a:lstStyle/>
          <a:p>
            <a:endParaRPr lang="ko-KR" altLang="en-US"/>
          </a:p>
        </p:txBody>
      </p:sp>
      <p:sp>
        <p:nvSpPr>
          <p:cNvPr id="59" name="Text 56"/>
          <p:cNvSpPr txBox="1"/>
          <p:nvPr/>
        </p:nvSpPr>
        <p:spPr>
          <a:xfrm>
            <a:off x="6754673"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추출</a:t>
            </a:r>
            <a:endParaRPr lang="en-US" sz="1400" dirty="0"/>
          </a:p>
        </p:txBody>
      </p:sp>
      <p:sp>
        <p:nvSpPr>
          <p:cNvPr id="60" name="Shape 57"/>
          <p:cNvSpPr/>
          <p:nvPr/>
        </p:nvSpPr>
        <p:spPr>
          <a:xfrm>
            <a:off x="7422185" y="2880360"/>
            <a:ext cx="621792" cy="310896"/>
          </a:xfrm>
          <a:prstGeom prst="roundRect">
            <a:avLst>
              <a:gd name="adj" fmla="val 14706"/>
            </a:avLst>
          </a:prstGeom>
          <a:solidFill>
            <a:srgbClr val="EEF3FA"/>
          </a:solidFill>
          <a:ln/>
        </p:spPr>
        <p:txBody>
          <a:bodyPr/>
          <a:lstStyle/>
          <a:p>
            <a:endParaRPr lang="ko-KR" altLang="en-US"/>
          </a:p>
        </p:txBody>
      </p:sp>
      <p:sp>
        <p:nvSpPr>
          <p:cNvPr id="61" name="Text 58"/>
          <p:cNvSpPr txBox="1"/>
          <p:nvPr/>
        </p:nvSpPr>
        <p:spPr>
          <a:xfrm>
            <a:off x="7422185"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KG 저장</a:t>
            </a:r>
            <a:endParaRPr lang="en-US" sz="1400" dirty="0"/>
          </a:p>
        </p:txBody>
      </p:sp>
      <p:sp>
        <p:nvSpPr>
          <p:cNvPr id="62" name="Shape 59"/>
          <p:cNvSpPr/>
          <p:nvPr/>
        </p:nvSpPr>
        <p:spPr>
          <a:xfrm>
            <a:off x="8089697" y="2880360"/>
            <a:ext cx="621792" cy="310896"/>
          </a:xfrm>
          <a:prstGeom prst="roundRect">
            <a:avLst>
              <a:gd name="adj" fmla="val 14706"/>
            </a:avLst>
          </a:prstGeom>
          <a:solidFill>
            <a:srgbClr val="2E74C6"/>
          </a:solidFill>
          <a:ln/>
        </p:spPr>
        <p:txBody>
          <a:bodyPr/>
          <a:lstStyle/>
          <a:p>
            <a:endParaRPr lang="ko-KR" altLang="en-US"/>
          </a:p>
        </p:txBody>
      </p:sp>
      <p:sp>
        <p:nvSpPr>
          <p:cNvPr id="63" name="Text 60"/>
          <p:cNvSpPr txBox="1"/>
          <p:nvPr/>
        </p:nvSpPr>
        <p:spPr>
          <a:xfrm>
            <a:off x="8089697" y="2880360"/>
            <a:ext cx="621792"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요약</a:t>
            </a:r>
            <a:endParaRPr lang="en-US" sz="1400" dirty="0"/>
          </a:p>
        </p:txBody>
      </p:sp>
      <p:sp>
        <p:nvSpPr>
          <p:cNvPr id="64" name="Shape 61"/>
          <p:cNvSpPr/>
          <p:nvPr/>
        </p:nvSpPr>
        <p:spPr>
          <a:xfrm>
            <a:off x="8757209" y="2880360"/>
            <a:ext cx="621792" cy="310896"/>
          </a:xfrm>
          <a:prstGeom prst="roundRect">
            <a:avLst>
              <a:gd name="adj" fmla="val 14706"/>
            </a:avLst>
          </a:prstGeom>
          <a:solidFill>
            <a:srgbClr val="EEF3FA"/>
          </a:solidFill>
          <a:ln/>
        </p:spPr>
        <p:txBody>
          <a:bodyPr/>
          <a:lstStyle/>
          <a:p>
            <a:endParaRPr lang="ko-KR" altLang="en-US"/>
          </a:p>
        </p:txBody>
      </p:sp>
      <p:sp>
        <p:nvSpPr>
          <p:cNvPr id="65" name="Text 62"/>
          <p:cNvSpPr txBox="1"/>
          <p:nvPr/>
        </p:nvSpPr>
        <p:spPr>
          <a:xfrm>
            <a:off x="8757209"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임베딩</a:t>
            </a:r>
            <a:endParaRPr lang="en-US" sz="1400" dirty="0"/>
          </a:p>
        </p:txBody>
      </p:sp>
      <p:sp>
        <p:nvSpPr>
          <p:cNvPr id="66" name="Shape 63"/>
          <p:cNvSpPr/>
          <p:nvPr/>
        </p:nvSpPr>
        <p:spPr>
          <a:xfrm>
            <a:off x="5264201" y="344728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67" name="Text 64"/>
          <p:cNvSpPr txBox="1"/>
          <p:nvPr/>
        </p:nvSpPr>
        <p:spPr>
          <a:xfrm>
            <a:off x="5264201" y="344728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저장소</a:t>
            </a:r>
            <a:endParaRPr lang="en-US" sz="1400" dirty="0"/>
          </a:p>
        </p:txBody>
      </p:sp>
      <p:sp>
        <p:nvSpPr>
          <p:cNvPr id="68" name="Shape 65"/>
          <p:cNvSpPr/>
          <p:nvPr/>
        </p:nvSpPr>
        <p:spPr>
          <a:xfrm>
            <a:off x="6087161" y="3300984"/>
            <a:ext cx="1600200" cy="603504"/>
          </a:xfrm>
          <a:prstGeom prst="roundRect">
            <a:avLst>
              <a:gd name="adj" fmla="val 9091"/>
            </a:avLst>
          </a:prstGeom>
          <a:solidFill>
            <a:srgbClr val="F5F8FC"/>
          </a:solidFill>
          <a:ln w="15875">
            <a:solidFill>
              <a:srgbClr val="2E74C6"/>
            </a:solidFill>
            <a:prstDash val="solid"/>
          </a:ln>
        </p:spPr>
        <p:txBody>
          <a:bodyPr/>
          <a:lstStyle/>
          <a:p>
            <a:endParaRPr lang="ko-KR" altLang="en-US"/>
          </a:p>
        </p:txBody>
      </p:sp>
      <p:sp>
        <p:nvSpPr>
          <p:cNvPr id="69" name="Text 66"/>
          <p:cNvSpPr txBox="1"/>
          <p:nvPr/>
        </p:nvSpPr>
        <p:spPr>
          <a:xfrm>
            <a:off x="6087161" y="3300984"/>
            <a:ext cx="1600200" cy="60350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Parquet 파일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(그래프)</a:t>
            </a:r>
            <a:endParaRPr lang="en-US" sz="1400" dirty="0"/>
          </a:p>
        </p:txBody>
      </p:sp>
      <p:sp>
        <p:nvSpPr>
          <p:cNvPr id="70" name="Shape 67"/>
          <p:cNvSpPr/>
          <p:nvPr/>
        </p:nvSpPr>
        <p:spPr>
          <a:xfrm>
            <a:off x="7778801" y="3300984"/>
            <a:ext cx="1600200" cy="603504"/>
          </a:xfrm>
          <a:prstGeom prst="roundRect">
            <a:avLst>
              <a:gd name="adj" fmla="val 9091"/>
            </a:avLst>
          </a:prstGeom>
          <a:solidFill>
            <a:srgbClr val="F5F8FC"/>
          </a:solidFill>
          <a:ln w="15875">
            <a:solidFill>
              <a:srgbClr val="2E74C6"/>
            </a:solidFill>
            <a:prstDash val="solid"/>
          </a:ln>
        </p:spPr>
        <p:txBody>
          <a:bodyPr/>
          <a:lstStyle/>
          <a:p>
            <a:endParaRPr lang="ko-KR" altLang="en-US"/>
          </a:p>
        </p:txBody>
      </p:sp>
      <p:sp>
        <p:nvSpPr>
          <p:cNvPr id="71" name="Text 68"/>
          <p:cNvSpPr txBox="1"/>
          <p:nvPr/>
        </p:nvSpPr>
        <p:spPr>
          <a:xfrm>
            <a:off x="7778801" y="3300984"/>
            <a:ext cx="1600200" cy="60350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LanceDB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(벡터)</a:t>
            </a:r>
            <a:endParaRPr lang="en-US" sz="1400" dirty="0"/>
          </a:p>
        </p:txBody>
      </p:sp>
      <p:sp>
        <p:nvSpPr>
          <p:cNvPr id="72" name="Text 69"/>
          <p:cNvSpPr txBox="1"/>
          <p:nvPr/>
        </p:nvSpPr>
        <p:spPr>
          <a:xfrm>
            <a:off x="6087161" y="3922776"/>
            <a:ext cx="3291840" cy="256032"/>
          </a:xfrm>
          <a:prstGeom prst="rect">
            <a:avLst/>
          </a:prstGeom>
          <a:noFill/>
          <a:ln/>
        </p:spPr>
        <p:txBody>
          <a:bodyPr wrap="square" lIns="762" tIns="762" rIns="762" bIns="762"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그래프 DB 불필요</a:t>
            </a:r>
            <a:endParaRPr lang="en-US" sz="1400" dirty="0"/>
          </a:p>
        </p:txBody>
      </p:sp>
      <p:sp>
        <p:nvSpPr>
          <p:cNvPr id="73" name="Shape 70"/>
          <p:cNvSpPr/>
          <p:nvPr/>
        </p:nvSpPr>
        <p:spPr>
          <a:xfrm>
            <a:off x="5264201" y="4288536"/>
            <a:ext cx="4114800" cy="0"/>
          </a:xfrm>
          <a:prstGeom prst="line">
            <a:avLst/>
          </a:prstGeom>
          <a:noFill/>
          <a:ln w="12700">
            <a:solidFill>
              <a:srgbClr val="EDF0F6"/>
            </a:solidFill>
            <a:prstDash val="solid"/>
          </a:ln>
        </p:spPr>
        <p:txBody>
          <a:bodyPr/>
          <a:lstStyle/>
          <a:p>
            <a:endParaRPr lang="ko-KR" altLang="en-US"/>
          </a:p>
        </p:txBody>
      </p:sp>
      <p:sp>
        <p:nvSpPr>
          <p:cNvPr id="74" name="Shape 71"/>
          <p:cNvSpPr/>
          <p:nvPr/>
        </p:nvSpPr>
        <p:spPr>
          <a:xfrm>
            <a:off x="5264201" y="440740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75" name="Text 72"/>
          <p:cNvSpPr txBox="1"/>
          <p:nvPr/>
        </p:nvSpPr>
        <p:spPr>
          <a:xfrm>
            <a:off x="5264201" y="440740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Local</a:t>
            </a:r>
            <a:endParaRPr lang="en-US" sz="1400" dirty="0"/>
          </a:p>
        </p:txBody>
      </p:sp>
      <p:sp>
        <p:nvSpPr>
          <p:cNvPr id="76" name="Text 73"/>
          <p:cNvSpPr txBox="1"/>
          <p:nvPr/>
        </p:nvSpPr>
        <p:spPr>
          <a:xfrm>
            <a:off x="6087161" y="428853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엔티티 벡터 → 1홉 관계 · 원문 · 리포트</a:t>
            </a:r>
            <a:endParaRPr lang="en-US" sz="1400" dirty="0"/>
          </a:p>
        </p:txBody>
      </p:sp>
      <p:sp>
        <p:nvSpPr>
          <p:cNvPr id="77" name="Shape 74"/>
          <p:cNvSpPr/>
          <p:nvPr/>
        </p:nvSpPr>
        <p:spPr>
          <a:xfrm>
            <a:off x="5264201" y="4837176"/>
            <a:ext cx="4114800" cy="0"/>
          </a:xfrm>
          <a:prstGeom prst="line">
            <a:avLst/>
          </a:prstGeom>
          <a:noFill/>
          <a:ln w="12700">
            <a:solidFill>
              <a:srgbClr val="EDF0F6"/>
            </a:solidFill>
            <a:prstDash val="solid"/>
          </a:ln>
        </p:spPr>
        <p:txBody>
          <a:bodyPr/>
          <a:lstStyle/>
          <a:p>
            <a:endParaRPr lang="ko-KR" altLang="en-US"/>
          </a:p>
        </p:txBody>
      </p:sp>
      <p:sp>
        <p:nvSpPr>
          <p:cNvPr id="78" name="Shape 75"/>
          <p:cNvSpPr/>
          <p:nvPr/>
        </p:nvSpPr>
        <p:spPr>
          <a:xfrm>
            <a:off x="5264201" y="495604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79" name="Text 76"/>
          <p:cNvSpPr txBox="1"/>
          <p:nvPr/>
        </p:nvSpPr>
        <p:spPr>
          <a:xfrm>
            <a:off x="5264201" y="495604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Global</a:t>
            </a:r>
            <a:endParaRPr lang="en-US" sz="1400" dirty="0"/>
          </a:p>
        </p:txBody>
      </p:sp>
      <p:sp>
        <p:nvSpPr>
          <p:cNvPr id="80" name="Text 77"/>
          <p:cNvSpPr txBox="1"/>
          <p:nvPr/>
        </p:nvSpPr>
        <p:spPr>
          <a:xfrm>
            <a:off x="6087161" y="483717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커뮤니티 리포트 map-reduce</a:t>
            </a:r>
            <a:endParaRPr lang="en-US" sz="1400" dirty="0"/>
          </a:p>
        </p:txBody>
      </p:sp>
      <p:sp>
        <p:nvSpPr>
          <p:cNvPr id="81" name="Shape 78"/>
          <p:cNvSpPr/>
          <p:nvPr/>
        </p:nvSpPr>
        <p:spPr>
          <a:xfrm>
            <a:off x="5264201" y="5385816"/>
            <a:ext cx="4114800" cy="0"/>
          </a:xfrm>
          <a:prstGeom prst="line">
            <a:avLst/>
          </a:prstGeom>
          <a:noFill/>
          <a:ln w="12700">
            <a:solidFill>
              <a:srgbClr val="EDF0F6"/>
            </a:solidFill>
            <a:prstDash val="solid"/>
          </a:ln>
        </p:spPr>
        <p:txBody>
          <a:bodyPr/>
          <a:lstStyle/>
          <a:p>
            <a:endParaRPr lang="ko-KR" altLang="en-US"/>
          </a:p>
        </p:txBody>
      </p:sp>
      <p:sp>
        <p:nvSpPr>
          <p:cNvPr id="82" name="Shape 79"/>
          <p:cNvSpPr/>
          <p:nvPr/>
        </p:nvSpPr>
        <p:spPr>
          <a:xfrm>
            <a:off x="5264201" y="550468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83" name="Text 80"/>
          <p:cNvSpPr txBox="1"/>
          <p:nvPr/>
        </p:nvSpPr>
        <p:spPr>
          <a:xfrm>
            <a:off x="5264201" y="550468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Hybrid</a:t>
            </a:r>
            <a:endParaRPr lang="en-US" sz="1400" dirty="0"/>
          </a:p>
        </p:txBody>
      </p:sp>
      <p:sp>
        <p:nvSpPr>
          <p:cNvPr id="84" name="Text 81"/>
          <p:cNvSpPr txBox="1"/>
          <p:nvPr/>
        </p:nvSpPr>
        <p:spPr>
          <a:xfrm>
            <a:off x="6087161" y="538581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DRIFT: 요약 → 후속 질문 → Local</a:t>
            </a:r>
            <a:endParaRPr lang="en-US" sz="1400" dirty="0"/>
          </a:p>
        </p:txBody>
      </p:sp>
      <p:sp>
        <p:nvSpPr>
          <p:cNvPr id="85" name="Shape 82"/>
          <p:cNvSpPr/>
          <p:nvPr/>
        </p:nvSpPr>
        <p:spPr>
          <a:xfrm>
            <a:off x="5264201" y="5934456"/>
            <a:ext cx="4114800" cy="0"/>
          </a:xfrm>
          <a:prstGeom prst="line">
            <a:avLst/>
          </a:prstGeom>
          <a:noFill/>
          <a:ln w="12700">
            <a:solidFill>
              <a:srgbClr val="EDF0F6"/>
            </a:solidFill>
            <a:prstDash val="solid"/>
          </a:ln>
        </p:spPr>
        <p:txBody>
          <a:bodyPr/>
          <a:lstStyle/>
          <a:p>
            <a:endParaRPr lang="ko-KR" altLang="en-US"/>
          </a:p>
        </p:txBody>
      </p:sp>
      <p:sp>
        <p:nvSpPr>
          <p:cNvPr id="86" name="Shape 83"/>
          <p:cNvSpPr/>
          <p:nvPr/>
        </p:nvSpPr>
        <p:spPr>
          <a:xfrm>
            <a:off x="5264201" y="605332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87" name="Text 84"/>
          <p:cNvSpPr txBox="1"/>
          <p:nvPr/>
        </p:nvSpPr>
        <p:spPr>
          <a:xfrm>
            <a:off x="5264201" y="605332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문서 갱신</a:t>
            </a:r>
            <a:endParaRPr lang="en-US" sz="1400" dirty="0"/>
          </a:p>
        </p:txBody>
      </p:sp>
      <p:sp>
        <p:nvSpPr>
          <p:cNvPr id="88" name="Text 85"/>
          <p:cNvSpPr txBox="1"/>
          <p:nvPr/>
        </p:nvSpPr>
        <p:spPr>
          <a:xfrm>
            <a:off x="6087161" y="593445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update는 새 문서만 이어 붙임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수정 · 삭제는 전체 재인덱싱이 안전</a:t>
            </a:r>
            <a:endParaRPr lang="en-US" sz="1400" dirty="0"/>
          </a:p>
        </p:txBody>
      </p:sp>
      <p:sp>
        <p:nvSpPr>
          <p:cNvPr id="89" name="Shape 86"/>
          <p:cNvSpPr/>
          <p:nvPr/>
        </p:nvSpPr>
        <p:spPr>
          <a:xfrm>
            <a:off x="5264201" y="6556248"/>
            <a:ext cx="4114800" cy="539496"/>
          </a:xfrm>
          <a:prstGeom prst="roundRect">
            <a:avLst>
              <a:gd name="adj" fmla="val 10169"/>
            </a:avLst>
          </a:prstGeom>
          <a:solidFill>
            <a:srgbClr val="2E74C6"/>
          </a:solidFill>
          <a:ln/>
        </p:spPr>
        <p:txBody>
          <a:bodyPr/>
          <a:lstStyle/>
          <a:p>
            <a:endParaRPr lang="ko-KR" altLang="en-US"/>
          </a:p>
        </p:txBody>
      </p:sp>
      <p:sp>
        <p:nvSpPr>
          <p:cNvPr id="90" name="Text 87"/>
          <p:cNvSpPr txBox="1"/>
          <p:nvPr/>
        </p:nvSpPr>
        <p:spPr>
          <a:xfrm>
            <a:off x="5264201" y="6556248"/>
            <a:ext cx="4114800" cy="539496"/>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전체 주제 요약 품질이 최우선일 때</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(인덱싱 비용 감수)</a:t>
            </a:r>
            <a:endParaRPr lang="en-US" sz="1500" dirty="0"/>
          </a:p>
        </p:txBody>
      </p:sp>
      <p:sp>
        <p:nvSpPr>
          <p:cNvPr id="91" name="Shape 88"/>
          <p:cNvSpPr/>
          <p:nvPr/>
        </p:nvSpPr>
        <p:spPr>
          <a:xfrm>
            <a:off x="9744761" y="1737360"/>
            <a:ext cx="4389120" cy="5468112"/>
          </a:xfrm>
          <a:prstGeom prst="roundRect">
            <a:avLst>
              <a:gd name="adj" fmla="val 1667"/>
            </a:avLst>
          </a:prstGeom>
          <a:solidFill>
            <a:srgbClr val="FFFFFF"/>
          </a:solidFill>
          <a:ln w="12700">
            <a:solidFill>
              <a:srgbClr val="D9E0EC"/>
            </a:solidFill>
            <a:prstDash val="solid"/>
          </a:ln>
        </p:spPr>
        <p:txBody>
          <a:bodyPr/>
          <a:lstStyle/>
          <a:p>
            <a:endParaRPr lang="ko-KR" altLang="en-US"/>
          </a:p>
        </p:txBody>
      </p:sp>
      <p:sp>
        <p:nvSpPr>
          <p:cNvPr id="92" name="Shape 89"/>
          <p:cNvSpPr/>
          <p:nvPr/>
        </p:nvSpPr>
        <p:spPr>
          <a:xfrm>
            <a:off x="9744761" y="1737360"/>
            <a:ext cx="4389120" cy="502920"/>
          </a:xfrm>
          <a:prstGeom prst="roundRect">
            <a:avLst>
              <a:gd name="adj" fmla="val 10909"/>
            </a:avLst>
          </a:prstGeom>
          <a:solidFill>
            <a:srgbClr val="404155"/>
          </a:solidFill>
          <a:ln/>
        </p:spPr>
        <p:txBody>
          <a:bodyPr/>
          <a:lstStyle/>
          <a:p>
            <a:endParaRPr lang="ko-KR" altLang="en-US"/>
          </a:p>
        </p:txBody>
      </p:sp>
      <p:sp>
        <p:nvSpPr>
          <p:cNvPr id="93" name="Text 90"/>
          <p:cNvSpPr txBox="1"/>
          <p:nvPr/>
        </p:nvSpPr>
        <p:spPr>
          <a:xfrm>
            <a:off x="9881921" y="1737360"/>
            <a:ext cx="4114800" cy="502920"/>
          </a:xfrm>
          <a:prstGeom prst="rect">
            <a:avLst/>
          </a:prstGeom>
          <a:noFill/>
          <a:ln/>
        </p:spPr>
        <p:txBody>
          <a:bodyPr wrap="square" lIns="0" tIns="0" rIns="0" bIns="0" rtlCol="0" anchor="ctr"/>
          <a:lstStyle/>
          <a:p>
            <a:pPr marL="0" indent="0">
              <a:buNone/>
            </a:pPr>
            <a:r>
              <a:rPr lang="en-US" sz="2000" b="1" dirty="0">
                <a:solidFill>
                  <a:srgbClr val="FFFFFF"/>
                </a:solidFill>
                <a:latin typeface="Pretendard" pitchFamily="34" charset="0"/>
                <a:ea typeface="Pretendard" pitchFamily="34" charset="-122"/>
                <a:cs typeface="Pretendard" pitchFamily="34" charset="-120"/>
              </a:rPr>
              <a:t>LightRAG</a:t>
            </a:r>
            <a:r>
              <a:rPr lang="en-US" sz="1400" dirty="0">
                <a:solidFill>
                  <a:srgbClr val="D9E3F5"/>
                </a:solidFill>
                <a:latin typeface="Pretendard" pitchFamily="34" charset="0"/>
                <a:ea typeface="Pretendard" pitchFamily="34" charset="-122"/>
                <a:cs typeface="Pretendard" pitchFamily="34" charset="-120"/>
              </a:rPr>
              <a:t>  HKUDS · 경량 GraphRAG</a:t>
            </a:r>
            <a:endParaRPr lang="en-US" sz="2000" dirty="0"/>
          </a:p>
        </p:txBody>
      </p:sp>
      <p:sp>
        <p:nvSpPr>
          <p:cNvPr id="94" name="Shape 91"/>
          <p:cNvSpPr/>
          <p:nvPr/>
        </p:nvSpPr>
        <p:spPr>
          <a:xfrm>
            <a:off x="9881921" y="2331720"/>
            <a:ext cx="4114800" cy="438912"/>
          </a:xfrm>
          <a:prstGeom prst="roundRect">
            <a:avLst>
              <a:gd name="adj" fmla="val 12500"/>
            </a:avLst>
          </a:prstGeom>
          <a:solidFill>
            <a:srgbClr val="EEF3FA"/>
          </a:solidFill>
          <a:ln/>
        </p:spPr>
        <p:txBody>
          <a:bodyPr/>
          <a:lstStyle/>
          <a:p>
            <a:endParaRPr lang="ko-KR" altLang="en-US"/>
          </a:p>
        </p:txBody>
      </p:sp>
      <p:sp>
        <p:nvSpPr>
          <p:cNvPr id="95" name="Text 92"/>
          <p:cNvSpPr txBox="1"/>
          <p:nvPr/>
        </p:nvSpPr>
        <p:spPr>
          <a:xfrm>
            <a:off x="9881921" y="2331720"/>
            <a:ext cx="4114800" cy="438912"/>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요약 없이 가볍게, 듀얼레벨 키워드로 찾기</a:t>
            </a:r>
            <a:endParaRPr lang="en-US" sz="1600" dirty="0"/>
          </a:p>
        </p:txBody>
      </p:sp>
      <p:sp>
        <p:nvSpPr>
          <p:cNvPr id="96" name="Shape 93"/>
          <p:cNvSpPr/>
          <p:nvPr/>
        </p:nvSpPr>
        <p:spPr>
          <a:xfrm>
            <a:off x="9881921" y="2880360"/>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97" name="Text 94"/>
          <p:cNvSpPr txBox="1"/>
          <p:nvPr/>
        </p:nvSpPr>
        <p:spPr>
          <a:xfrm>
            <a:off x="9881921" y="2880360"/>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인덱싱</a:t>
            </a:r>
            <a:endParaRPr lang="en-US" sz="1400" dirty="0"/>
          </a:p>
        </p:txBody>
      </p:sp>
      <p:sp>
        <p:nvSpPr>
          <p:cNvPr id="98" name="Shape 95"/>
          <p:cNvSpPr/>
          <p:nvPr/>
        </p:nvSpPr>
        <p:spPr>
          <a:xfrm>
            <a:off x="10704881" y="2880360"/>
            <a:ext cx="621792" cy="310896"/>
          </a:xfrm>
          <a:prstGeom prst="roundRect">
            <a:avLst>
              <a:gd name="adj" fmla="val 14706"/>
            </a:avLst>
          </a:prstGeom>
          <a:solidFill>
            <a:srgbClr val="EEF3FA"/>
          </a:solidFill>
          <a:ln/>
        </p:spPr>
        <p:txBody>
          <a:bodyPr/>
          <a:lstStyle/>
          <a:p>
            <a:endParaRPr lang="ko-KR" altLang="en-US"/>
          </a:p>
        </p:txBody>
      </p:sp>
      <p:sp>
        <p:nvSpPr>
          <p:cNvPr id="99" name="Text 96"/>
          <p:cNvSpPr txBox="1"/>
          <p:nvPr/>
        </p:nvSpPr>
        <p:spPr>
          <a:xfrm>
            <a:off x="10704881"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청킹</a:t>
            </a:r>
            <a:endParaRPr lang="en-US" sz="1400" dirty="0"/>
          </a:p>
        </p:txBody>
      </p:sp>
      <p:sp>
        <p:nvSpPr>
          <p:cNvPr id="100" name="Shape 97"/>
          <p:cNvSpPr/>
          <p:nvPr/>
        </p:nvSpPr>
        <p:spPr>
          <a:xfrm>
            <a:off x="11372393" y="2880360"/>
            <a:ext cx="621792" cy="310896"/>
          </a:xfrm>
          <a:prstGeom prst="roundRect">
            <a:avLst>
              <a:gd name="adj" fmla="val 14706"/>
            </a:avLst>
          </a:prstGeom>
          <a:solidFill>
            <a:srgbClr val="EEF3FA"/>
          </a:solidFill>
          <a:ln/>
        </p:spPr>
        <p:txBody>
          <a:bodyPr/>
          <a:lstStyle/>
          <a:p>
            <a:endParaRPr lang="ko-KR" altLang="en-US"/>
          </a:p>
        </p:txBody>
      </p:sp>
      <p:sp>
        <p:nvSpPr>
          <p:cNvPr id="101" name="Text 98"/>
          <p:cNvSpPr txBox="1"/>
          <p:nvPr/>
        </p:nvSpPr>
        <p:spPr>
          <a:xfrm>
            <a:off x="11372393"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추출</a:t>
            </a:r>
            <a:endParaRPr lang="en-US" sz="1400" dirty="0"/>
          </a:p>
        </p:txBody>
      </p:sp>
      <p:sp>
        <p:nvSpPr>
          <p:cNvPr id="102" name="Shape 99"/>
          <p:cNvSpPr/>
          <p:nvPr/>
        </p:nvSpPr>
        <p:spPr>
          <a:xfrm>
            <a:off x="12039905" y="2880360"/>
            <a:ext cx="621792" cy="310896"/>
          </a:xfrm>
          <a:prstGeom prst="roundRect">
            <a:avLst>
              <a:gd name="adj" fmla="val 14706"/>
            </a:avLst>
          </a:prstGeom>
          <a:solidFill>
            <a:srgbClr val="EEF3FA"/>
          </a:solidFill>
          <a:ln/>
        </p:spPr>
        <p:txBody>
          <a:bodyPr/>
          <a:lstStyle/>
          <a:p>
            <a:endParaRPr lang="ko-KR" altLang="en-US"/>
          </a:p>
        </p:txBody>
      </p:sp>
      <p:sp>
        <p:nvSpPr>
          <p:cNvPr id="103" name="Text 100"/>
          <p:cNvSpPr txBox="1"/>
          <p:nvPr/>
        </p:nvSpPr>
        <p:spPr>
          <a:xfrm>
            <a:off x="12039905"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KG 저장</a:t>
            </a:r>
            <a:endParaRPr lang="en-US" sz="1400" dirty="0"/>
          </a:p>
        </p:txBody>
      </p:sp>
      <p:sp>
        <p:nvSpPr>
          <p:cNvPr id="104" name="Shape 101"/>
          <p:cNvSpPr/>
          <p:nvPr/>
        </p:nvSpPr>
        <p:spPr>
          <a:xfrm>
            <a:off x="12707417" y="2880360"/>
            <a:ext cx="621792" cy="310896"/>
          </a:xfrm>
          <a:prstGeom prst="roundRect">
            <a:avLst>
              <a:gd name="adj" fmla="val 14706"/>
            </a:avLst>
          </a:prstGeom>
          <a:solidFill>
            <a:srgbClr val="FFFFFF"/>
          </a:solidFill>
          <a:ln w="12700">
            <a:solidFill>
              <a:srgbClr val="C3CEE0"/>
            </a:solidFill>
            <a:prstDash val="dash"/>
          </a:ln>
        </p:spPr>
        <p:txBody>
          <a:bodyPr/>
          <a:lstStyle/>
          <a:p>
            <a:endParaRPr lang="ko-KR" altLang="en-US"/>
          </a:p>
        </p:txBody>
      </p:sp>
      <p:sp>
        <p:nvSpPr>
          <p:cNvPr id="105" name="Text 102"/>
          <p:cNvSpPr txBox="1"/>
          <p:nvPr/>
        </p:nvSpPr>
        <p:spPr>
          <a:xfrm>
            <a:off x="12707417" y="2880360"/>
            <a:ext cx="621792" cy="310896"/>
          </a:xfrm>
          <a:prstGeom prst="rect">
            <a:avLst/>
          </a:prstGeom>
          <a:noFill/>
          <a:ln/>
        </p:spPr>
        <p:txBody>
          <a:bodyPr wrap="square" lIns="1016" tIns="1016" rIns="1016" bIns="1016" rtlCol="0" anchor="ctr"/>
          <a:lstStyle/>
          <a:p>
            <a:pPr marL="0" indent="0" algn="ctr">
              <a:buNone/>
            </a:pPr>
            <a:r>
              <a:rPr lang="en-US" sz="1400" dirty="0" err="1">
                <a:solidFill>
                  <a:srgbClr val="C3CEE0"/>
                </a:solidFill>
                <a:latin typeface="Pretendard" pitchFamily="34" charset="0"/>
                <a:ea typeface="Pretendard" pitchFamily="34" charset="-122"/>
                <a:cs typeface="Pretendard" pitchFamily="34" charset="-120"/>
              </a:rPr>
              <a:t>요약</a:t>
            </a:r>
            <a:r>
              <a:rPr lang="en-US" sz="1400" dirty="0">
                <a:solidFill>
                  <a:srgbClr val="C3CEE0"/>
                </a:solidFill>
                <a:latin typeface="Pretendard" pitchFamily="34" charset="0"/>
                <a:ea typeface="Pretendard" pitchFamily="34" charset="-122"/>
                <a:cs typeface="Pretendard" pitchFamily="34" charset="-120"/>
              </a:rPr>
              <a:t> X</a:t>
            </a:r>
            <a:endParaRPr lang="en-US" sz="1400" dirty="0"/>
          </a:p>
        </p:txBody>
      </p:sp>
      <p:sp>
        <p:nvSpPr>
          <p:cNvPr id="106" name="Shape 103"/>
          <p:cNvSpPr/>
          <p:nvPr/>
        </p:nvSpPr>
        <p:spPr>
          <a:xfrm>
            <a:off x="13374929" y="2880360"/>
            <a:ext cx="621792" cy="310896"/>
          </a:xfrm>
          <a:prstGeom prst="roundRect">
            <a:avLst>
              <a:gd name="adj" fmla="val 14706"/>
            </a:avLst>
          </a:prstGeom>
          <a:solidFill>
            <a:srgbClr val="EEF3FA"/>
          </a:solidFill>
          <a:ln/>
        </p:spPr>
        <p:txBody>
          <a:bodyPr/>
          <a:lstStyle/>
          <a:p>
            <a:endParaRPr lang="ko-KR" altLang="en-US"/>
          </a:p>
        </p:txBody>
      </p:sp>
      <p:sp>
        <p:nvSpPr>
          <p:cNvPr id="107" name="Text 104"/>
          <p:cNvSpPr txBox="1"/>
          <p:nvPr/>
        </p:nvSpPr>
        <p:spPr>
          <a:xfrm>
            <a:off x="13374929" y="2880360"/>
            <a:ext cx="621792" cy="310896"/>
          </a:xfrm>
          <a:prstGeom prst="rect">
            <a:avLst/>
          </a:prstGeom>
          <a:noFill/>
          <a:ln/>
        </p:spPr>
        <p:txBody>
          <a:bodyPr wrap="square" lIns="1016" tIns="1016" rIns="1016" bIns="1016" rtlCol="0" anchor="ctr"/>
          <a:lstStyle/>
          <a:p>
            <a:pPr marL="0" indent="0" algn="ctr">
              <a:buNone/>
            </a:pPr>
            <a:r>
              <a:rPr lang="en-US" sz="1400" dirty="0">
                <a:solidFill>
                  <a:srgbClr val="1E2A5C"/>
                </a:solidFill>
                <a:latin typeface="Pretendard" pitchFamily="34" charset="0"/>
                <a:ea typeface="Pretendard" pitchFamily="34" charset="-122"/>
                <a:cs typeface="Pretendard" pitchFamily="34" charset="-120"/>
              </a:rPr>
              <a:t>임베딩</a:t>
            </a:r>
            <a:endParaRPr lang="en-US" sz="1400" dirty="0"/>
          </a:p>
        </p:txBody>
      </p:sp>
      <p:sp>
        <p:nvSpPr>
          <p:cNvPr id="108" name="Shape 105"/>
          <p:cNvSpPr/>
          <p:nvPr/>
        </p:nvSpPr>
        <p:spPr>
          <a:xfrm>
            <a:off x="9881921" y="344728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09" name="Text 106"/>
          <p:cNvSpPr txBox="1"/>
          <p:nvPr/>
        </p:nvSpPr>
        <p:spPr>
          <a:xfrm>
            <a:off x="9881921" y="344728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저장소</a:t>
            </a:r>
            <a:endParaRPr lang="en-US" sz="1400" dirty="0"/>
          </a:p>
        </p:txBody>
      </p:sp>
      <p:sp>
        <p:nvSpPr>
          <p:cNvPr id="110" name="Shape 107"/>
          <p:cNvSpPr/>
          <p:nvPr/>
        </p:nvSpPr>
        <p:spPr>
          <a:xfrm>
            <a:off x="10704881" y="3300984"/>
            <a:ext cx="1600200" cy="603504"/>
          </a:xfrm>
          <a:prstGeom prst="roundRect">
            <a:avLst>
              <a:gd name="adj" fmla="val 9091"/>
            </a:avLst>
          </a:prstGeom>
          <a:solidFill>
            <a:srgbClr val="F5F8FC"/>
          </a:solidFill>
          <a:ln w="15875">
            <a:solidFill>
              <a:srgbClr val="404155"/>
            </a:solidFill>
            <a:prstDash val="solid"/>
          </a:ln>
        </p:spPr>
        <p:txBody>
          <a:bodyPr/>
          <a:lstStyle/>
          <a:p>
            <a:endParaRPr lang="ko-KR" altLang="en-US"/>
          </a:p>
        </p:txBody>
      </p:sp>
      <p:sp>
        <p:nvSpPr>
          <p:cNvPr id="111" name="Text 108"/>
          <p:cNvSpPr txBox="1"/>
          <p:nvPr/>
        </p:nvSpPr>
        <p:spPr>
          <a:xfrm>
            <a:off x="10704881" y="3300984"/>
            <a:ext cx="1600200" cy="60350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그래프</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(파일 · Neo4j 등)</a:t>
            </a:r>
            <a:endParaRPr lang="en-US" sz="1400" dirty="0"/>
          </a:p>
        </p:txBody>
      </p:sp>
      <p:sp>
        <p:nvSpPr>
          <p:cNvPr id="112" name="Shape 109"/>
          <p:cNvSpPr/>
          <p:nvPr/>
        </p:nvSpPr>
        <p:spPr>
          <a:xfrm>
            <a:off x="12396521" y="3300984"/>
            <a:ext cx="1600200" cy="603504"/>
          </a:xfrm>
          <a:prstGeom prst="roundRect">
            <a:avLst>
              <a:gd name="adj" fmla="val 9091"/>
            </a:avLst>
          </a:prstGeom>
          <a:solidFill>
            <a:srgbClr val="F5F8FC"/>
          </a:solidFill>
          <a:ln w="15875">
            <a:solidFill>
              <a:srgbClr val="404155"/>
            </a:solidFill>
            <a:prstDash val="solid"/>
          </a:ln>
        </p:spPr>
        <p:txBody>
          <a:bodyPr/>
          <a:lstStyle/>
          <a:p>
            <a:endParaRPr lang="ko-KR" altLang="en-US"/>
          </a:p>
        </p:txBody>
      </p:sp>
      <p:sp>
        <p:nvSpPr>
          <p:cNvPr id="113" name="Text 110"/>
          <p:cNvSpPr txBox="1"/>
          <p:nvPr/>
        </p:nvSpPr>
        <p:spPr>
          <a:xfrm>
            <a:off x="12396521" y="3300984"/>
            <a:ext cx="1600200" cy="60350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벡터</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(내장 · Milvus 등)</a:t>
            </a:r>
            <a:endParaRPr lang="en-US" sz="1400" dirty="0"/>
          </a:p>
        </p:txBody>
      </p:sp>
      <p:sp>
        <p:nvSpPr>
          <p:cNvPr id="114" name="Text 111"/>
          <p:cNvSpPr txBox="1"/>
          <p:nvPr/>
        </p:nvSpPr>
        <p:spPr>
          <a:xfrm>
            <a:off x="10704881" y="3922776"/>
            <a:ext cx="3291840" cy="256032"/>
          </a:xfrm>
          <a:prstGeom prst="rect">
            <a:avLst/>
          </a:prstGeom>
          <a:noFill/>
          <a:ln/>
        </p:spPr>
        <p:txBody>
          <a:bodyPr wrap="square" lIns="762" tIns="762" rIns="762" bIns="762"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기본은 파일(테스트용)</a:t>
            </a:r>
            <a:endParaRPr lang="en-US" sz="1400" dirty="0"/>
          </a:p>
        </p:txBody>
      </p:sp>
      <p:sp>
        <p:nvSpPr>
          <p:cNvPr id="115" name="Shape 112"/>
          <p:cNvSpPr/>
          <p:nvPr/>
        </p:nvSpPr>
        <p:spPr>
          <a:xfrm>
            <a:off x="9881921" y="4288536"/>
            <a:ext cx="4114800" cy="0"/>
          </a:xfrm>
          <a:prstGeom prst="line">
            <a:avLst/>
          </a:prstGeom>
          <a:noFill/>
          <a:ln w="12700">
            <a:solidFill>
              <a:srgbClr val="EDF0F6"/>
            </a:solidFill>
            <a:prstDash val="solid"/>
          </a:ln>
        </p:spPr>
        <p:txBody>
          <a:bodyPr/>
          <a:lstStyle/>
          <a:p>
            <a:endParaRPr lang="ko-KR" altLang="en-US"/>
          </a:p>
        </p:txBody>
      </p:sp>
      <p:sp>
        <p:nvSpPr>
          <p:cNvPr id="116" name="Shape 113"/>
          <p:cNvSpPr/>
          <p:nvPr/>
        </p:nvSpPr>
        <p:spPr>
          <a:xfrm>
            <a:off x="9881921" y="440740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17" name="Text 114"/>
          <p:cNvSpPr txBox="1"/>
          <p:nvPr/>
        </p:nvSpPr>
        <p:spPr>
          <a:xfrm>
            <a:off x="9881921" y="440740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Local</a:t>
            </a:r>
            <a:endParaRPr lang="en-US" sz="1400" dirty="0"/>
          </a:p>
        </p:txBody>
      </p:sp>
      <p:sp>
        <p:nvSpPr>
          <p:cNvPr id="118" name="Text 115"/>
          <p:cNvSpPr txBox="1"/>
          <p:nvPr/>
        </p:nvSpPr>
        <p:spPr>
          <a:xfrm>
            <a:off x="10704881" y="428853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Low-level 키워드 → 엔티티 벡터</a:t>
            </a:r>
            <a:endParaRPr lang="en-US" sz="1400" dirty="0"/>
          </a:p>
        </p:txBody>
      </p:sp>
      <p:sp>
        <p:nvSpPr>
          <p:cNvPr id="119" name="Shape 116"/>
          <p:cNvSpPr/>
          <p:nvPr/>
        </p:nvSpPr>
        <p:spPr>
          <a:xfrm>
            <a:off x="9881921" y="4837176"/>
            <a:ext cx="4114800" cy="0"/>
          </a:xfrm>
          <a:prstGeom prst="line">
            <a:avLst/>
          </a:prstGeom>
          <a:noFill/>
          <a:ln w="12700">
            <a:solidFill>
              <a:srgbClr val="EDF0F6"/>
            </a:solidFill>
            <a:prstDash val="solid"/>
          </a:ln>
        </p:spPr>
        <p:txBody>
          <a:bodyPr/>
          <a:lstStyle/>
          <a:p>
            <a:endParaRPr lang="ko-KR" altLang="en-US"/>
          </a:p>
        </p:txBody>
      </p:sp>
      <p:sp>
        <p:nvSpPr>
          <p:cNvPr id="120" name="Shape 117"/>
          <p:cNvSpPr/>
          <p:nvPr/>
        </p:nvSpPr>
        <p:spPr>
          <a:xfrm>
            <a:off x="9881921" y="495604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21" name="Text 118"/>
          <p:cNvSpPr txBox="1"/>
          <p:nvPr/>
        </p:nvSpPr>
        <p:spPr>
          <a:xfrm>
            <a:off x="9881921" y="495604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Global</a:t>
            </a:r>
            <a:endParaRPr lang="en-US" sz="1400" dirty="0"/>
          </a:p>
        </p:txBody>
      </p:sp>
      <p:sp>
        <p:nvSpPr>
          <p:cNvPr id="122" name="Text 119"/>
          <p:cNvSpPr txBox="1"/>
          <p:nvPr/>
        </p:nvSpPr>
        <p:spPr>
          <a:xfrm>
            <a:off x="10704881" y="483717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High-level 키워드 → 관계 벡터</a:t>
            </a:r>
            <a:endParaRPr lang="en-US" sz="1400" dirty="0"/>
          </a:p>
        </p:txBody>
      </p:sp>
      <p:sp>
        <p:nvSpPr>
          <p:cNvPr id="123" name="Shape 120"/>
          <p:cNvSpPr/>
          <p:nvPr/>
        </p:nvSpPr>
        <p:spPr>
          <a:xfrm>
            <a:off x="9881921" y="5385816"/>
            <a:ext cx="4114800" cy="0"/>
          </a:xfrm>
          <a:prstGeom prst="line">
            <a:avLst/>
          </a:prstGeom>
          <a:noFill/>
          <a:ln w="12700">
            <a:solidFill>
              <a:srgbClr val="EDF0F6"/>
            </a:solidFill>
            <a:prstDash val="solid"/>
          </a:ln>
        </p:spPr>
        <p:txBody>
          <a:bodyPr/>
          <a:lstStyle/>
          <a:p>
            <a:endParaRPr lang="ko-KR" altLang="en-US"/>
          </a:p>
        </p:txBody>
      </p:sp>
      <p:sp>
        <p:nvSpPr>
          <p:cNvPr id="124" name="Shape 121"/>
          <p:cNvSpPr/>
          <p:nvPr/>
        </p:nvSpPr>
        <p:spPr>
          <a:xfrm>
            <a:off x="9881921" y="550468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25" name="Text 122"/>
          <p:cNvSpPr txBox="1"/>
          <p:nvPr/>
        </p:nvSpPr>
        <p:spPr>
          <a:xfrm>
            <a:off x="9881921" y="550468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Hybrid</a:t>
            </a:r>
            <a:endParaRPr lang="en-US" sz="1400" dirty="0"/>
          </a:p>
        </p:txBody>
      </p:sp>
      <p:sp>
        <p:nvSpPr>
          <p:cNvPr id="126" name="Text 123"/>
          <p:cNvSpPr txBox="1"/>
          <p:nvPr/>
        </p:nvSpPr>
        <p:spPr>
          <a:xfrm>
            <a:off x="10704881" y="538581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hybrid: Low + High 둘 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기본 mix는 원문 벡터까지 추가</a:t>
            </a:r>
            <a:endParaRPr lang="en-US" sz="1400" dirty="0"/>
          </a:p>
        </p:txBody>
      </p:sp>
      <p:sp>
        <p:nvSpPr>
          <p:cNvPr id="127" name="Shape 124"/>
          <p:cNvSpPr/>
          <p:nvPr/>
        </p:nvSpPr>
        <p:spPr>
          <a:xfrm>
            <a:off x="9881921" y="5934456"/>
            <a:ext cx="4114800" cy="0"/>
          </a:xfrm>
          <a:prstGeom prst="line">
            <a:avLst/>
          </a:prstGeom>
          <a:noFill/>
          <a:ln w="12700">
            <a:solidFill>
              <a:srgbClr val="EDF0F6"/>
            </a:solidFill>
            <a:prstDash val="solid"/>
          </a:ln>
        </p:spPr>
        <p:txBody>
          <a:bodyPr/>
          <a:lstStyle/>
          <a:p>
            <a:endParaRPr lang="ko-KR" altLang="en-US"/>
          </a:p>
        </p:txBody>
      </p:sp>
      <p:sp>
        <p:nvSpPr>
          <p:cNvPr id="128" name="Shape 125"/>
          <p:cNvSpPr/>
          <p:nvPr/>
        </p:nvSpPr>
        <p:spPr>
          <a:xfrm>
            <a:off x="9881921" y="6053328"/>
            <a:ext cx="749808" cy="310896"/>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129" name="Text 126"/>
          <p:cNvSpPr txBox="1"/>
          <p:nvPr/>
        </p:nvSpPr>
        <p:spPr>
          <a:xfrm>
            <a:off x="9881921" y="6053328"/>
            <a:ext cx="749808"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문서 갱신</a:t>
            </a:r>
            <a:endParaRPr lang="en-US" sz="1400" dirty="0"/>
          </a:p>
        </p:txBody>
      </p:sp>
      <p:sp>
        <p:nvSpPr>
          <p:cNvPr id="130" name="Text 127"/>
          <p:cNvSpPr txBox="1"/>
          <p:nvPr/>
        </p:nvSpPr>
        <p:spPr>
          <a:xfrm>
            <a:off x="10704881" y="5934456"/>
            <a:ext cx="3291840" cy="548640"/>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새 문서는 바로 병합,</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수정은 문서 삭제 후 재삽입</a:t>
            </a:r>
            <a:endParaRPr lang="en-US" sz="1400" dirty="0"/>
          </a:p>
        </p:txBody>
      </p:sp>
      <p:sp>
        <p:nvSpPr>
          <p:cNvPr id="131" name="Shape 128"/>
          <p:cNvSpPr/>
          <p:nvPr/>
        </p:nvSpPr>
        <p:spPr>
          <a:xfrm>
            <a:off x="9881921" y="6556248"/>
            <a:ext cx="4114800" cy="539496"/>
          </a:xfrm>
          <a:prstGeom prst="roundRect">
            <a:avLst>
              <a:gd name="adj" fmla="val 10169"/>
            </a:avLst>
          </a:prstGeom>
          <a:solidFill>
            <a:srgbClr val="404155"/>
          </a:solidFill>
          <a:ln/>
        </p:spPr>
        <p:txBody>
          <a:bodyPr/>
          <a:lstStyle/>
          <a:p>
            <a:endParaRPr lang="ko-KR" altLang="en-US"/>
          </a:p>
        </p:txBody>
      </p:sp>
      <p:sp>
        <p:nvSpPr>
          <p:cNvPr id="132" name="Text 129"/>
          <p:cNvSpPr txBox="1"/>
          <p:nvPr/>
        </p:nvSpPr>
        <p:spPr>
          <a:xfrm>
            <a:off x="9881921" y="6556248"/>
            <a:ext cx="4114800" cy="539496"/>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비용 · 속도가 중요하고</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문서가 자주 늘 때</a:t>
            </a:r>
            <a:endParaRPr lang="en-US" sz="1500" dirty="0"/>
          </a:p>
        </p:txBody>
      </p:sp>
      <p:sp>
        <p:nvSpPr>
          <p:cNvPr id="133" name="Text 130"/>
          <p:cNvSpPr txBox="1"/>
          <p:nvPr/>
        </p:nvSpPr>
        <p:spPr>
          <a:xfrm>
            <a:off x="509321" y="7260336"/>
            <a:ext cx="13624560" cy="310896"/>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 1) MS GraphRAG는 현재 유지보수 모드: 새 기능 추가 없이 버그 · 보안 수정만 이어 가는 상태 (2026-08 공지)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81AC8-C5B9-698E-DC4C-48A83BD23666}"/>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0B18D9B-EEC5-97CE-52CF-925C09C483D2}"/>
              </a:ext>
            </a:extLst>
          </p:cNvPr>
          <p:cNvSpPr>
            <a:spLocks noGrp="1"/>
          </p:cNvSpPr>
          <p:nvPr>
            <p:ph type="body" idx="11"/>
          </p:nvPr>
        </p:nvSpPr>
        <p:spPr>
          <a:xfrm>
            <a:off x="1604010" y="3657770"/>
            <a:ext cx="11414760" cy="772805"/>
          </a:xfrm>
        </p:spPr>
        <p:txBody>
          <a:bodyPr/>
          <a:lstStyle/>
          <a:p>
            <a:r>
              <a:rPr lang="ko-KR" altLang="en-US" dirty="0"/>
              <a:t>그래프</a:t>
            </a:r>
            <a:r>
              <a:rPr lang="en-US" altLang="ko-KR" dirty="0"/>
              <a:t>DB </a:t>
            </a:r>
            <a:r>
              <a:rPr lang="ko-KR" altLang="en-US" dirty="0"/>
              <a:t>인덱싱</a:t>
            </a:r>
            <a:r>
              <a:rPr lang="en-US" altLang="ko-KR" dirty="0"/>
              <a:t> </a:t>
            </a:r>
            <a:r>
              <a:rPr lang="ko-KR" altLang="en-US" dirty="0"/>
              <a:t>이해</a:t>
            </a:r>
            <a:endParaRPr dirty="0"/>
          </a:p>
        </p:txBody>
      </p:sp>
      <p:sp>
        <p:nvSpPr>
          <p:cNvPr id="3" name="텍스트 개체 틀 2">
            <a:extLst>
              <a:ext uri="{FF2B5EF4-FFF2-40B4-BE49-F238E27FC236}">
                <a16:creationId xmlns:a16="http://schemas.microsoft.com/office/drawing/2014/main" id="{FAE75DA0-B18B-1DC2-73AA-B22BC62834CB}"/>
              </a:ext>
            </a:extLst>
          </p:cNvPr>
          <p:cNvSpPr>
            <a:spLocks noGrp="1"/>
          </p:cNvSpPr>
          <p:nvPr>
            <p:ph type="body" idx="12"/>
          </p:nvPr>
        </p:nvSpPr>
        <p:spPr>
          <a:xfrm>
            <a:off x="1611630" y="3288439"/>
            <a:ext cx="11414760" cy="332399"/>
          </a:xfrm>
        </p:spPr>
        <p:txBody>
          <a:bodyPr/>
          <a:lstStyle/>
          <a:p>
            <a:pPr>
              <a:spcBef>
                <a:spcPct val="0"/>
              </a:spcBef>
              <a:spcAft>
                <a:spcPts val="600"/>
              </a:spcAft>
              <a:buNone/>
            </a:pPr>
            <a:r>
              <a:rPr>
                <a:solidFill>
                  <a:schemeClr val="tx2"/>
                </a:solidFill>
                <a:latin typeface="Pretendard"/>
                <a:ea typeface="Pretendard"/>
                <a:cs typeface="Pretendard"/>
              </a:rPr>
              <a:t>하이브리드 AI</a:t>
            </a:r>
          </a:p>
        </p:txBody>
      </p:sp>
    </p:spTree>
    <p:extLst>
      <p:ext uri="{BB962C8B-B14F-4D97-AF65-F5344CB8AC3E}">
        <p14:creationId xmlns:p14="http://schemas.microsoft.com/office/powerpoint/2010/main" val="3561475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노드 타입과 관계는 추출 전에 먼저 정함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스키마는 추출 결과가 아니라 추출기에 주는 허용 목록 — 먼저 정하지 않으면 같은 개념이 여러 라벨로 쪼개짐</a:t>
            </a:r>
            <a:endParaRPr lang="en-US" sz="1800" dirty="0"/>
          </a:p>
        </p:txBody>
      </p:sp>
      <p:sp>
        <p:nvSpPr>
          <p:cNvPr id="5" name="Shape 2"/>
          <p:cNvSpPr/>
          <p:nvPr/>
        </p:nvSpPr>
        <p:spPr>
          <a:xfrm>
            <a:off x="509321" y="1700784"/>
            <a:ext cx="1783080" cy="457200"/>
          </a:xfrm>
          <a:prstGeom prst="roundRect">
            <a:avLst>
              <a:gd name="adj" fmla="val 12000"/>
            </a:avLst>
          </a:prstGeom>
          <a:solidFill>
            <a:srgbClr val="2E74C6"/>
          </a:solidFill>
          <a:ln/>
        </p:spPr>
        <p:txBody>
          <a:bodyPr/>
          <a:lstStyle/>
          <a:p>
            <a:endParaRPr lang="ko-KR" altLang="en-US"/>
          </a:p>
        </p:txBody>
      </p:sp>
      <p:sp>
        <p:nvSpPr>
          <p:cNvPr id="6" name="Text 3"/>
          <p:cNvSpPr txBox="1"/>
          <p:nvPr/>
        </p:nvSpPr>
        <p:spPr>
          <a:xfrm>
            <a:off x="509321" y="170078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설계 시(사전 1회)</a:t>
            </a:r>
            <a:endParaRPr lang="en-US" sz="1400" dirty="0"/>
          </a:p>
        </p:txBody>
      </p:sp>
      <p:sp>
        <p:nvSpPr>
          <p:cNvPr id="7" name="Shape 4"/>
          <p:cNvSpPr/>
          <p:nvPr/>
        </p:nvSpPr>
        <p:spPr>
          <a:xfrm>
            <a:off x="509321" y="2432304"/>
            <a:ext cx="1783080" cy="457200"/>
          </a:xfrm>
          <a:prstGeom prst="roundRect">
            <a:avLst>
              <a:gd name="adj" fmla="val 12000"/>
            </a:avLst>
          </a:prstGeom>
          <a:solidFill>
            <a:srgbClr val="1E2A5C"/>
          </a:solidFill>
          <a:ln/>
        </p:spPr>
        <p:txBody>
          <a:bodyPr/>
          <a:lstStyle/>
          <a:p>
            <a:endParaRPr lang="ko-KR" altLang="en-US"/>
          </a:p>
        </p:txBody>
      </p:sp>
      <p:sp>
        <p:nvSpPr>
          <p:cNvPr id="8" name="Text 5"/>
          <p:cNvSpPr txBox="1"/>
          <p:nvPr/>
        </p:nvSpPr>
        <p:spPr>
          <a:xfrm>
            <a:off x="509321" y="243230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인덱싱 시(매 실행)</a:t>
            </a:r>
            <a:endParaRPr lang="en-US" sz="1400" dirty="0"/>
          </a:p>
        </p:txBody>
      </p:sp>
      <p:sp>
        <p:nvSpPr>
          <p:cNvPr id="9" name="Shape 6"/>
          <p:cNvSpPr/>
          <p:nvPr/>
        </p:nvSpPr>
        <p:spPr>
          <a:xfrm>
            <a:off x="2402129"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0" name="Text 7"/>
          <p:cNvSpPr txBox="1"/>
          <p:nvPr/>
        </p:nvSpPr>
        <p:spPr>
          <a:xfrm>
            <a:off x="240212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1" name="Shape 8"/>
          <p:cNvSpPr/>
          <p:nvPr/>
        </p:nvSpPr>
        <p:spPr>
          <a:xfrm>
            <a:off x="372000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2" name="Shape 9"/>
          <p:cNvSpPr/>
          <p:nvPr/>
        </p:nvSpPr>
        <p:spPr>
          <a:xfrm>
            <a:off x="3893744"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3" name="Text 10"/>
          <p:cNvSpPr txBox="1"/>
          <p:nvPr/>
        </p:nvSpPr>
        <p:spPr>
          <a:xfrm>
            <a:off x="3893744"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14" name="Shape 11"/>
          <p:cNvSpPr/>
          <p:nvPr/>
        </p:nvSpPr>
        <p:spPr>
          <a:xfrm>
            <a:off x="5211623"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5" name="Shape 12"/>
          <p:cNvSpPr/>
          <p:nvPr/>
        </p:nvSpPr>
        <p:spPr>
          <a:xfrm>
            <a:off x="5385359" y="1700784"/>
            <a:ext cx="1290447" cy="457200"/>
          </a:xfrm>
          <a:prstGeom prst="roundRect">
            <a:avLst>
              <a:gd name="adj" fmla="val 16000"/>
            </a:avLst>
          </a:prstGeom>
          <a:solidFill>
            <a:srgbClr val="2E74C6"/>
          </a:solidFill>
          <a:ln/>
        </p:spPr>
        <p:txBody>
          <a:bodyPr/>
          <a:lstStyle/>
          <a:p>
            <a:endParaRPr lang="ko-KR" altLang="en-US"/>
          </a:p>
        </p:txBody>
      </p:sp>
      <p:sp>
        <p:nvSpPr>
          <p:cNvPr id="16" name="Text 13"/>
          <p:cNvSpPr txBox="1"/>
          <p:nvPr/>
        </p:nvSpPr>
        <p:spPr>
          <a:xfrm>
            <a:off x="538535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3단계 확정</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17" name="Shape 14"/>
          <p:cNvSpPr/>
          <p:nvPr/>
        </p:nvSpPr>
        <p:spPr>
          <a:xfrm>
            <a:off x="670323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8" name="Shape 15"/>
          <p:cNvSpPr/>
          <p:nvPr/>
        </p:nvSpPr>
        <p:spPr>
          <a:xfrm>
            <a:off x="6876974" y="1700784"/>
            <a:ext cx="2782062" cy="457200"/>
          </a:xfrm>
          <a:prstGeom prst="roundRect">
            <a:avLst>
              <a:gd name="adj" fmla="val 16000"/>
            </a:avLst>
          </a:prstGeom>
          <a:solidFill>
            <a:srgbClr val="EEF3FA"/>
          </a:solidFill>
          <a:ln w="25400">
            <a:solidFill>
              <a:srgbClr val="2E74C6"/>
            </a:solidFill>
            <a:prstDash val="solid"/>
          </a:ln>
        </p:spPr>
        <p:txBody>
          <a:bodyPr/>
          <a:lstStyle/>
          <a:p>
            <a:endParaRPr lang="ko-KR" altLang="en-US"/>
          </a:p>
        </p:txBody>
      </p:sp>
      <p:sp>
        <p:nvSpPr>
          <p:cNvPr id="19" name="Text 16"/>
          <p:cNvSpPr txBox="1"/>
          <p:nvPr/>
        </p:nvSpPr>
        <p:spPr>
          <a:xfrm>
            <a:off x="6876974" y="1700784"/>
            <a:ext cx="2782062" cy="457200"/>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0" name="Text 17"/>
          <p:cNvSpPr txBox="1"/>
          <p:nvPr/>
        </p:nvSpPr>
        <p:spPr>
          <a:xfrm>
            <a:off x="9951644" y="1664208"/>
            <a:ext cx="4182237" cy="53035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21" name="Shape 18"/>
          <p:cNvSpPr/>
          <p:nvPr/>
        </p:nvSpPr>
        <p:spPr>
          <a:xfrm>
            <a:off x="240212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2" name="Text 19"/>
          <p:cNvSpPr txBox="1"/>
          <p:nvPr/>
        </p:nvSpPr>
        <p:spPr>
          <a:xfrm>
            <a:off x="240212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23" name="Shape 20"/>
          <p:cNvSpPr/>
          <p:nvPr/>
        </p:nvSpPr>
        <p:spPr>
          <a:xfrm>
            <a:off x="372000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4" name="Shape 21"/>
          <p:cNvSpPr/>
          <p:nvPr/>
        </p:nvSpPr>
        <p:spPr>
          <a:xfrm>
            <a:off x="389374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5" name="Text 22"/>
          <p:cNvSpPr txBox="1"/>
          <p:nvPr/>
        </p:nvSpPr>
        <p:spPr>
          <a:xfrm>
            <a:off x="389374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26" name="Shape 23"/>
          <p:cNvSpPr/>
          <p:nvPr/>
        </p:nvSpPr>
        <p:spPr>
          <a:xfrm>
            <a:off x="521162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7" name="Shape 24"/>
          <p:cNvSpPr/>
          <p:nvPr/>
        </p:nvSpPr>
        <p:spPr>
          <a:xfrm>
            <a:off x="538535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8" name="Text 25"/>
          <p:cNvSpPr txBox="1"/>
          <p:nvPr/>
        </p:nvSpPr>
        <p:spPr>
          <a:xfrm>
            <a:off x="538535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③ 청킹</a:t>
            </a:r>
            <a:endParaRPr lang="en-US" sz="1400" dirty="0"/>
          </a:p>
        </p:txBody>
      </p:sp>
      <p:sp>
        <p:nvSpPr>
          <p:cNvPr id="29" name="Shape 26"/>
          <p:cNvSpPr/>
          <p:nvPr/>
        </p:nvSpPr>
        <p:spPr>
          <a:xfrm>
            <a:off x="670323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0" name="Shape 27"/>
          <p:cNvSpPr/>
          <p:nvPr/>
        </p:nvSpPr>
        <p:spPr>
          <a:xfrm>
            <a:off x="6876974" y="2432304"/>
            <a:ext cx="1290447" cy="457200"/>
          </a:xfrm>
          <a:prstGeom prst="roundRect">
            <a:avLst>
              <a:gd name="adj" fmla="val 16000"/>
            </a:avLst>
          </a:prstGeom>
          <a:solidFill>
            <a:srgbClr val="1E2A5C"/>
          </a:solidFill>
          <a:ln/>
        </p:spPr>
        <p:txBody>
          <a:bodyPr/>
          <a:lstStyle/>
          <a:p>
            <a:endParaRPr lang="ko-KR" altLang="en-US"/>
          </a:p>
        </p:txBody>
      </p:sp>
      <p:sp>
        <p:nvSpPr>
          <p:cNvPr id="31" name="Text 28"/>
          <p:cNvSpPr txBox="1"/>
          <p:nvPr/>
        </p:nvSpPr>
        <p:spPr>
          <a:xfrm>
            <a:off x="687697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2" name="Shape 29"/>
          <p:cNvSpPr/>
          <p:nvPr/>
        </p:nvSpPr>
        <p:spPr>
          <a:xfrm>
            <a:off x="819485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3" name="Shape 30"/>
          <p:cNvSpPr/>
          <p:nvPr/>
        </p:nvSpPr>
        <p:spPr>
          <a:xfrm>
            <a:off x="8368589" y="2432304"/>
            <a:ext cx="1290447" cy="457200"/>
          </a:xfrm>
          <a:prstGeom prst="roundRect">
            <a:avLst>
              <a:gd name="adj" fmla="val 16000"/>
            </a:avLst>
          </a:prstGeom>
          <a:solidFill>
            <a:srgbClr val="1E2A5C"/>
          </a:solidFill>
          <a:ln/>
        </p:spPr>
        <p:txBody>
          <a:bodyPr/>
          <a:lstStyle/>
          <a:p>
            <a:endParaRPr lang="ko-KR" altLang="en-US"/>
          </a:p>
        </p:txBody>
      </p:sp>
      <p:sp>
        <p:nvSpPr>
          <p:cNvPr id="34" name="Text 31"/>
          <p:cNvSpPr txBox="1"/>
          <p:nvPr/>
        </p:nvSpPr>
        <p:spPr>
          <a:xfrm>
            <a:off x="836858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35" name="Shape 32"/>
          <p:cNvSpPr/>
          <p:nvPr/>
        </p:nvSpPr>
        <p:spPr>
          <a:xfrm>
            <a:off x="968646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6" name="Shape 33"/>
          <p:cNvSpPr/>
          <p:nvPr/>
        </p:nvSpPr>
        <p:spPr>
          <a:xfrm>
            <a:off x="986020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37" name="Text 34"/>
          <p:cNvSpPr txBox="1"/>
          <p:nvPr/>
        </p:nvSpPr>
        <p:spPr>
          <a:xfrm>
            <a:off x="986020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38" name="Shape 35"/>
          <p:cNvSpPr/>
          <p:nvPr/>
        </p:nvSpPr>
        <p:spPr>
          <a:xfrm>
            <a:off x="1117808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9" name="Shape 36"/>
          <p:cNvSpPr/>
          <p:nvPr/>
        </p:nvSpPr>
        <p:spPr>
          <a:xfrm>
            <a:off x="1135181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0" name="Text 37"/>
          <p:cNvSpPr txBox="1"/>
          <p:nvPr/>
        </p:nvSpPr>
        <p:spPr>
          <a:xfrm>
            <a:off x="1135181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1" name="Shape 38"/>
          <p:cNvSpPr/>
          <p:nvPr/>
        </p:nvSpPr>
        <p:spPr>
          <a:xfrm>
            <a:off x="1266969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42" name="Shape 39"/>
          <p:cNvSpPr/>
          <p:nvPr/>
        </p:nvSpPr>
        <p:spPr>
          <a:xfrm>
            <a:off x="1284343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3" name="Text 40"/>
          <p:cNvSpPr txBox="1"/>
          <p:nvPr/>
        </p:nvSpPr>
        <p:spPr>
          <a:xfrm>
            <a:off x="1284343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(노드 설명)</a:t>
            </a:r>
            <a:endParaRPr lang="en-US" sz="1400" dirty="0"/>
          </a:p>
        </p:txBody>
      </p:sp>
      <p:sp>
        <p:nvSpPr>
          <p:cNvPr id="44" name="Shape 41"/>
          <p:cNvSpPr/>
          <p:nvPr/>
        </p:nvSpPr>
        <p:spPr>
          <a:xfrm>
            <a:off x="7522197" y="2176272"/>
            <a:ext cx="0" cy="237744"/>
          </a:xfrm>
          <a:prstGeom prst="line">
            <a:avLst/>
          </a:prstGeom>
          <a:noFill/>
          <a:ln w="22225">
            <a:solidFill>
              <a:srgbClr val="2E74C6"/>
            </a:solidFill>
            <a:prstDash val="dash"/>
            <a:tailEnd type="triangle"/>
          </a:ln>
        </p:spPr>
        <p:txBody>
          <a:bodyPr/>
          <a:lstStyle/>
          <a:p>
            <a:endParaRPr lang="ko-KR" altLang="en-US"/>
          </a:p>
        </p:txBody>
      </p:sp>
      <p:sp>
        <p:nvSpPr>
          <p:cNvPr id="45" name="Shape 42"/>
          <p:cNvSpPr/>
          <p:nvPr/>
        </p:nvSpPr>
        <p:spPr>
          <a:xfrm>
            <a:off x="9013812" y="2176272"/>
            <a:ext cx="0" cy="237744"/>
          </a:xfrm>
          <a:prstGeom prst="line">
            <a:avLst/>
          </a:prstGeom>
          <a:noFill/>
          <a:ln w="22225">
            <a:solidFill>
              <a:srgbClr val="2E74C6"/>
            </a:solidFill>
            <a:prstDash val="dash"/>
            <a:tailEnd type="triangle"/>
          </a:ln>
        </p:spPr>
        <p:txBody>
          <a:bodyPr/>
          <a:lstStyle/>
          <a:p>
            <a:endParaRPr lang="ko-KR" altLang="en-US"/>
          </a:p>
        </p:txBody>
      </p:sp>
      <p:sp>
        <p:nvSpPr>
          <p:cNvPr id="46" name="Text 43"/>
          <p:cNvSpPr txBox="1"/>
          <p:nvPr/>
        </p:nvSpPr>
        <p:spPr>
          <a:xfrm>
            <a:off x="7595349" y="2167128"/>
            <a:ext cx="9144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47" name="Shape 44"/>
          <p:cNvSpPr/>
          <p:nvPr/>
        </p:nvSpPr>
        <p:spPr>
          <a:xfrm>
            <a:off x="509321" y="3017520"/>
            <a:ext cx="658368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509321" y="3017520"/>
            <a:ext cx="65836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 없이 추출하면 (실측)</a:t>
            </a:r>
            <a:endParaRPr lang="en-US" sz="1600" dirty="0"/>
          </a:p>
        </p:txBody>
      </p:sp>
      <p:sp>
        <p:nvSpPr>
          <p:cNvPr id="49" name="Shape 46"/>
          <p:cNvSpPr/>
          <p:nvPr/>
        </p:nvSpPr>
        <p:spPr>
          <a:xfrm>
            <a:off x="509321" y="3438144"/>
            <a:ext cx="6583680" cy="3072384"/>
          </a:xfrm>
          <a:prstGeom prst="roundRect">
            <a:avLst>
              <a:gd name="adj" fmla="val 2381"/>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692201" y="3511296"/>
            <a:ext cx="6217920" cy="310896"/>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로컬 gemma-4 12B로 청크 2개를 스키마 없이 추출 → 라벨 11종</a:t>
            </a:r>
            <a:endParaRPr lang="en-US" sz="1500" dirty="0"/>
          </a:p>
        </p:txBody>
      </p:sp>
      <p:sp>
        <p:nvSpPr>
          <p:cNvPr id="51" name="Shape 48"/>
          <p:cNvSpPr/>
          <p:nvPr/>
        </p:nvSpPr>
        <p:spPr>
          <a:xfrm>
            <a:off x="692201" y="3895344"/>
            <a:ext cx="1143000" cy="329184"/>
          </a:xfrm>
          <a:prstGeom prst="roundRect">
            <a:avLst>
              <a:gd name="adj" fmla="val 45000"/>
            </a:avLst>
          </a:prstGeom>
          <a:solidFill>
            <a:srgbClr val="2E74C6"/>
          </a:solidFill>
          <a:ln/>
        </p:spPr>
        <p:txBody>
          <a:bodyPr/>
          <a:lstStyle/>
          <a:p>
            <a:endParaRPr lang="ko-KR" altLang="en-US"/>
          </a:p>
        </p:txBody>
      </p:sp>
      <p:sp>
        <p:nvSpPr>
          <p:cNvPr id="52" name="Text 49"/>
          <p:cNvSpPr txBox="1"/>
          <p:nvPr/>
        </p:nvSpPr>
        <p:spPr>
          <a:xfrm>
            <a:off x="692201" y="3895344"/>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Brand</a:t>
            </a:r>
            <a:endParaRPr lang="en-US" sz="1400" dirty="0"/>
          </a:p>
        </p:txBody>
      </p:sp>
      <p:sp>
        <p:nvSpPr>
          <p:cNvPr id="53" name="Shape 50"/>
          <p:cNvSpPr/>
          <p:nvPr/>
        </p:nvSpPr>
        <p:spPr>
          <a:xfrm>
            <a:off x="1926641" y="3895344"/>
            <a:ext cx="1508760"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1926641" y="3895344"/>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CardProduct</a:t>
            </a:r>
            <a:endParaRPr lang="en-US" sz="1400" dirty="0"/>
          </a:p>
        </p:txBody>
      </p:sp>
      <p:sp>
        <p:nvSpPr>
          <p:cNvPr id="55" name="Text 52"/>
          <p:cNvSpPr txBox="1"/>
          <p:nvPr/>
        </p:nvSpPr>
        <p:spPr>
          <a:xfrm>
            <a:off x="3572561" y="3895344"/>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카드 하나가 라벨 2개로</a:t>
            </a:r>
            <a:endParaRPr lang="en-US" sz="1500" dirty="0"/>
          </a:p>
        </p:txBody>
      </p:sp>
      <p:sp>
        <p:nvSpPr>
          <p:cNvPr id="56" name="Shape 53"/>
          <p:cNvSpPr/>
          <p:nvPr/>
        </p:nvSpPr>
        <p:spPr>
          <a:xfrm>
            <a:off x="692201" y="4297680"/>
            <a:ext cx="1143000" cy="329184"/>
          </a:xfrm>
          <a:prstGeom prst="roundRect">
            <a:avLst>
              <a:gd name="adj" fmla="val 45000"/>
            </a:avLst>
          </a:prstGeom>
          <a:solidFill>
            <a:srgbClr val="2E74C6"/>
          </a:solidFill>
          <a:ln/>
        </p:spPr>
        <p:txBody>
          <a:bodyPr/>
          <a:lstStyle/>
          <a:p>
            <a:endParaRPr lang="ko-KR" altLang="en-US"/>
          </a:p>
        </p:txBody>
      </p:sp>
      <p:sp>
        <p:nvSpPr>
          <p:cNvPr id="57" name="Text 54"/>
          <p:cNvSpPr txBox="1"/>
          <p:nvPr/>
        </p:nvSpPr>
        <p:spPr>
          <a:xfrm>
            <a:off x="692201" y="4297680"/>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Fee</a:t>
            </a:r>
            <a:endParaRPr lang="en-US" sz="1400" dirty="0"/>
          </a:p>
        </p:txBody>
      </p:sp>
      <p:sp>
        <p:nvSpPr>
          <p:cNvPr id="58" name="Shape 55"/>
          <p:cNvSpPr/>
          <p:nvPr/>
        </p:nvSpPr>
        <p:spPr>
          <a:xfrm>
            <a:off x="1926641" y="4297680"/>
            <a:ext cx="1508760" cy="329184"/>
          </a:xfrm>
          <a:prstGeom prst="roundRect">
            <a:avLst>
              <a:gd name="adj" fmla="val 45000"/>
            </a:avLst>
          </a:prstGeom>
          <a:solidFill>
            <a:srgbClr val="2E74C6"/>
          </a:solidFill>
          <a:ln/>
        </p:spPr>
        <p:txBody>
          <a:bodyPr/>
          <a:lstStyle/>
          <a:p>
            <a:endParaRPr lang="ko-KR" altLang="en-US"/>
          </a:p>
        </p:txBody>
      </p:sp>
      <p:sp>
        <p:nvSpPr>
          <p:cNvPr id="59" name="Text 56"/>
          <p:cNvSpPr txBox="1"/>
          <p:nvPr/>
        </p:nvSpPr>
        <p:spPr>
          <a:xfrm>
            <a:off x="1926641" y="4297680"/>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AnnualFee</a:t>
            </a:r>
            <a:endParaRPr lang="en-US" sz="1400" dirty="0"/>
          </a:p>
        </p:txBody>
      </p:sp>
      <p:sp>
        <p:nvSpPr>
          <p:cNvPr id="60" name="Text 57"/>
          <p:cNvSpPr txBox="1"/>
          <p:nvPr/>
        </p:nvSpPr>
        <p:spPr>
          <a:xfrm>
            <a:off x="3572561" y="4297680"/>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요금도 라벨 2개로</a:t>
            </a:r>
            <a:endParaRPr lang="en-US" sz="1500" dirty="0"/>
          </a:p>
        </p:txBody>
      </p:sp>
      <p:sp>
        <p:nvSpPr>
          <p:cNvPr id="61" name="Shape 58"/>
          <p:cNvSpPr/>
          <p:nvPr/>
        </p:nvSpPr>
        <p:spPr>
          <a:xfrm>
            <a:off x="69220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2" name="Text 59"/>
          <p:cNvSpPr txBox="1"/>
          <p:nvPr/>
        </p:nvSpPr>
        <p:spPr>
          <a:xfrm>
            <a:off x="69220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Channel</a:t>
            </a:r>
            <a:endParaRPr lang="en-US" sz="1400" dirty="0"/>
          </a:p>
        </p:txBody>
      </p:sp>
      <p:sp>
        <p:nvSpPr>
          <p:cNvPr id="63" name="Shape 60"/>
          <p:cNvSpPr/>
          <p:nvPr/>
        </p:nvSpPr>
        <p:spPr>
          <a:xfrm>
            <a:off x="1926641" y="4718304"/>
            <a:ext cx="1097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4" name="Text 61"/>
          <p:cNvSpPr txBox="1"/>
          <p:nvPr/>
        </p:nvSpPr>
        <p:spPr>
          <a:xfrm>
            <a:off x="1926641" y="4718304"/>
            <a:ext cx="1097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65" name="Shape 62"/>
          <p:cNvSpPr/>
          <p:nvPr/>
        </p:nvSpPr>
        <p:spPr>
          <a:xfrm>
            <a:off x="311536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6" name="Text 63"/>
          <p:cNvSpPr txBox="1"/>
          <p:nvPr/>
        </p:nvSpPr>
        <p:spPr>
          <a:xfrm>
            <a:off x="311536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Guardian</a:t>
            </a:r>
            <a:endParaRPr lang="en-US" sz="1400" dirty="0"/>
          </a:p>
        </p:txBody>
      </p:sp>
      <p:sp>
        <p:nvSpPr>
          <p:cNvPr id="67" name="Shape 64"/>
          <p:cNvSpPr/>
          <p:nvPr/>
        </p:nvSpPr>
        <p:spPr>
          <a:xfrm>
            <a:off x="4349801" y="4718304"/>
            <a:ext cx="9144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8" name="Text 65"/>
          <p:cNvSpPr txBox="1"/>
          <p:nvPr/>
        </p:nvSpPr>
        <p:spPr>
          <a:xfrm>
            <a:off x="4349801" y="4718304"/>
            <a:ext cx="9144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Grade</a:t>
            </a:r>
            <a:endParaRPr lang="en-US" sz="1400" dirty="0"/>
          </a:p>
        </p:txBody>
      </p:sp>
      <p:sp>
        <p:nvSpPr>
          <p:cNvPr id="69" name="Shape 66"/>
          <p:cNvSpPr/>
          <p:nvPr/>
        </p:nvSpPr>
        <p:spPr>
          <a:xfrm>
            <a:off x="5355641" y="4718304"/>
            <a:ext cx="82296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0" name="Text 67"/>
          <p:cNvSpPr txBox="1"/>
          <p:nvPr/>
        </p:nvSpPr>
        <p:spPr>
          <a:xfrm>
            <a:off x="5355641" y="4718304"/>
            <a:ext cx="82296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Date</a:t>
            </a:r>
            <a:endParaRPr lang="en-US" sz="1400" dirty="0"/>
          </a:p>
        </p:txBody>
      </p:sp>
      <p:sp>
        <p:nvSpPr>
          <p:cNvPr id="71" name="Shape 68"/>
          <p:cNvSpPr/>
          <p:nvPr/>
        </p:nvSpPr>
        <p:spPr>
          <a:xfrm>
            <a:off x="692201" y="5102352"/>
            <a:ext cx="8686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2" name="Text 69"/>
          <p:cNvSpPr txBox="1"/>
          <p:nvPr/>
        </p:nvSpPr>
        <p:spPr>
          <a:xfrm>
            <a:off x="692201" y="5102352"/>
            <a:ext cx="8686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Store</a:t>
            </a:r>
            <a:endParaRPr lang="en-US" sz="1400" dirty="0"/>
          </a:p>
        </p:txBody>
      </p:sp>
      <p:sp>
        <p:nvSpPr>
          <p:cNvPr id="73" name="Shape 70"/>
          <p:cNvSpPr/>
          <p:nvPr/>
        </p:nvSpPr>
        <p:spPr>
          <a:xfrm>
            <a:off x="1652321" y="5102352"/>
            <a:ext cx="2240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4" name="Text 71"/>
          <p:cNvSpPr txBox="1"/>
          <p:nvPr/>
        </p:nvSpPr>
        <p:spPr>
          <a:xfrm>
            <a:off x="1652321" y="5102352"/>
            <a:ext cx="2240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PerformanceCondition</a:t>
            </a:r>
            <a:endParaRPr lang="en-US" sz="1400" dirty="0"/>
          </a:p>
        </p:txBody>
      </p:sp>
      <p:sp>
        <p:nvSpPr>
          <p:cNvPr id="75" name="Shape 72"/>
          <p:cNvSpPr/>
          <p:nvPr/>
        </p:nvSpPr>
        <p:spPr>
          <a:xfrm>
            <a:off x="692201" y="5522976"/>
            <a:ext cx="6217920" cy="0"/>
          </a:xfrm>
          <a:prstGeom prst="line">
            <a:avLst/>
          </a:prstGeom>
          <a:noFill/>
          <a:ln w="12700">
            <a:solidFill>
              <a:srgbClr val="D9E0EC"/>
            </a:solidFill>
            <a:prstDash val="solid"/>
          </a:ln>
        </p:spPr>
        <p:txBody>
          <a:bodyPr/>
          <a:lstStyle/>
          <a:p>
            <a:endParaRPr lang="ko-KR" altLang="en-US"/>
          </a:p>
        </p:txBody>
      </p:sp>
      <p:sp>
        <p:nvSpPr>
          <p:cNvPr id="76" name="Text 73"/>
          <p:cNvSpPr txBox="1"/>
          <p:nvPr/>
        </p:nvSpPr>
        <p:spPr>
          <a:xfrm>
            <a:off x="692201" y="5568696"/>
            <a:ext cx="6217920" cy="292608"/>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GraphRAG 도구 기본 노드 타입/관계가 없거나 너무 일반적임</a:t>
            </a:r>
            <a:endParaRPr lang="en-US" sz="1500" dirty="0"/>
          </a:p>
        </p:txBody>
      </p:sp>
      <p:sp>
        <p:nvSpPr>
          <p:cNvPr id="77" name="Text 74"/>
          <p:cNvSpPr txBox="1"/>
          <p:nvPr/>
        </p:nvSpPr>
        <p:spPr>
          <a:xfrm>
            <a:off x="692201" y="5852160"/>
            <a:ext cx="6217920" cy="64008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 Neo4j: 스키마를 안 주면 매번 입력 글에서 자동 추출(사람 검토 없음)</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MS GraphRAG 기본 타입: organization, person, geo, event</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LangChain+Neo4j: 허용 목록이 비면 아무 타입이나 만듦</a:t>
            </a:r>
            <a:endParaRPr lang="en-US" sz="1400" dirty="0"/>
          </a:p>
        </p:txBody>
      </p:sp>
      <p:sp>
        <p:nvSpPr>
          <p:cNvPr id="78" name="Shape 75"/>
          <p:cNvSpPr/>
          <p:nvPr/>
        </p:nvSpPr>
        <p:spPr>
          <a:xfrm>
            <a:off x="7321601" y="3017520"/>
            <a:ext cx="6812280" cy="365760"/>
          </a:xfrm>
          <a:prstGeom prst="roundRect">
            <a:avLst>
              <a:gd name="adj" fmla="val 12500"/>
            </a:avLst>
          </a:prstGeom>
          <a:solidFill>
            <a:srgbClr val="1E2A5C"/>
          </a:solidFill>
          <a:ln/>
        </p:spPr>
        <p:txBody>
          <a:bodyPr/>
          <a:lstStyle/>
          <a:p>
            <a:endParaRPr lang="ko-KR" altLang="en-US"/>
          </a:p>
        </p:txBody>
      </p:sp>
      <p:sp>
        <p:nvSpPr>
          <p:cNvPr id="79" name="Text 76"/>
          <p:cNvSpPr txBox="1"/>
          <p:nvPr/>
        </p:nvSpPr>
        <p:spPr>
          <a:xfrm>
            <a:off x="7321601" y="3017520"/>
            <a:ext cx="68122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스키마를 주면 (Native GraphSchema)</a:t>
            </a:r>
            <a:endParaRPr lang="en-US" sz="1600" dirty="0"/>
          </a:p>
        </p:txBody>
      </p:sp>
      <p:sp>
        <p:nvSpPr>
          <p:cNvPr id="80" name="Shape 77"/>
          <p:cNvSpPr/>
          <p:nvPr/>
        </p:nvSpPr>
        <p:spPr>
          <a:xfrm>
            <a:off x="7321601" y="3438144"/>
            <a:ext cx="6812280" cy="1700784"/>
          </a:xfrm>
          <a:prstGeom prst="roundRect">
            <a:avLst>
              <a:gd name="adj" fmla="val 3226"/>
            </a:avLst>
          </a:prstGeom>
          <a:solidFill>
            <a:srgbClr val="F5F8FC"/>
          </a:solidFill>
          <a:ln w="12700">
            <a:solidFill>
              <a:srgbClr val="D9E0EC"/>
            </a:solidFill>
            <a:prstDash val="solid"/>
          </a:ln>
        </p:spPr>
        <p:txBody>
          <a:bodyPr/>
          <a:lstStyle/>
          <a:p>
            <a:endParaRPr lang="ko-KR" altLang="en-US"/>
          </a:p>
        </p:txBody>
      </p:sp>
      <p:sp>
        <p:nvSpPr>
          <p:cNvPr id="81" name="Text 78"/>
          <p:cNvSpPr txBox="1"/>
          <p:nvPr/>
        </p:nvSpPr>
        <p:spPr>
          <a:xfrm>
            <a:off x="7431329" y="3511296"/>
            <a:ext cx="659282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["Card", "Benefit",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["HAS_BENEFIT", "HAS_FEE"],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("Card", "HAS_FEE",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graph = await extractor.run(chunks=chunks, schema=schema)</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result = await GraphPruning().run(graph, schema)</a:t>
            </a:r>
            <a:endParaRPr lang="en-US" sz="1400" dirty="0"/>
          </a:p>
        </p:txBody>
      </p:sp>
      <p:sp>
        <p:nvSpPr>
          <p:cNvPr id="82" name="Shape 79"/>
          <p:cNvSpPr/>
          <p:nvPr/>
        </p:nvSpPr>
        <p:spPr>
          <a:xfrm>
            <a:off x="732160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3" name="Text 80"/>
          <p:cNvSpPr txBox="1"/>
          <p:nvPr/>
        </p:nvSpPr>
        <p:spPr>
          <a:xfrm>
            <a:off x="745876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① 추출 안내</a:t>
            </a:r>
            <a:endParaRPr lang="en-US" sz="1600" dirty="0"/>
          </a:p>
        </p:txBody>
      </p:sp>
      <p:sp>
        <p:nvSpPr>
          <p:cNvPr id="84" name="Text 81"/>
          <p:cNvSpPr txBox="1"/>
          <p:nvPr/>
        </p:nvSpPr>
        <p:spPr>
          <a:xfrm>
            <a:off x="745876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허용 목록이 추출 프롬프트에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들어가 LLM이 그 안에서 고름</a:t>
            </a:r>
            <a:endParaRPr lang="en-US" sz="1400" dirty="0"/>
          </a:p>
        </p:txBody>
      </p:sp>
      <p:sp>
        <p:nvSpPr>
          <p:cNvPr id="85" name="Shape 82"/>
          <p:cNvSpPr/>
          <p:nvPr/>
        </p:nvSpPr>
        <p:spPr>
          <a:xfrm>
            <a:off x="1081918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6" name="Text 83"/>
          <p:cNvSpPr txBox="1"/>
          <p:nvPr/>
        </p:nvSpPr>
        <p:spPr>
          <a:xfrm>
            <a:off x="1095634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② 가지치기</a:t>
            </a:r>
            <a:endParaRPr lang="en-US" sz="1600" dirty="0"/>
          </a:p>
        </p:txBody>
      </p:sp>
      <p:sp>
        <p:nvSpPr>
          <p:cNvPr id="87" name="Text 84"/>
          <p:cNvSpPr txBox="1"/>
          <p:nvPr/>
        </p:nvSpPr>
        <p:spPr>
          <a:xfrm>
            <a:off x="1095634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목록 밖 노드와 관계를 지우고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지운 개수를 통계로 남김</a:t>
            </a:r>
            <a:endParaRPr lang="en-US" sz="1400" dirty="0"/>
          </a:p>
        </p:txBody>
      </p:sp>
      <p:sp>
        <p:nvSpPr>
          <p:cNvPr id="88" name="Text 85"/>
          <p:cNvSpPr txBox="1"/>
          <p:nvPr/>
        </p:nvSpPr>
        <p:spPr>
          <a:xfrm>
            <a:off x="7321601" y="6217920"/>
            <a:ext cx="681228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실행 확인: 노드 타입을 주면 목록 밖 타입은 기본 불허</a:t>
            </a:r>
            <a:endParaRPr lang="en-US" sz="1400" dirty="0"/>
          </a:p>
        </p:txBody>
      </p:sp>
      <p:sp>
        <p:nvSpPr>
          <p:cNvPr id="89" name="Shape 86"/>
          <p:cNvSpPr/>
          <p:nvPr/>
        </p:nvSpPr>
        <p:spPr>
          <a:xfrm>
            <a:off x="509321" y="6601968"/>
            <a:ext cx="13624560" cy="621792"/>
          </a:xfrm>
          <a:prstGeom prst="roundRect">
            <a:avLst>
              <a:gd name="adj" fmla="val 11765"/>
            </a:avLst>
          </a:prstGeom>
          <a:solidFill>
            <a:srgbClr val="EEF3FA"/>
          </a:solidFill>
          <a:ln w="19050">
            <a:solidFill>
              <a:srgbClr val="2E74C6"/>
            </a:solidFill>
            <a:prstDash val="solid"/>
          </a:ln>
        </p:spPr>
        <p:txBody>
          <a:bodyPr/>
          <a:lstStyle/>
          <a:p>
            <a:endParaRPr lang="ko-KR" altLang="en-US"/>
          </a:p>
        </p:txBody>
      </p:sp>
      <p:sp>
        <p:nvSpPr>
          <p:cNvPr id="90" name="Shape 87"/>
          <p:cNvSpPr/>
          <p:nvPr/>
        </p:nvSpPr>
        <p:spPr>
          <a:xfrm>
            <a:off x="509321" y="6601968"/>
            <a:ext cx="82296" cy="621792"/>
          </a:xfrm>
          <a:prstGeom prst="rect">
            <a:avLst/>
          </a:prstGeom>
          <a:solidFill>
            <a:srgbClr val="2E74C6"/>
          </a:solidFill>
          <a:ln/>
        </p:spPr>
        <p:txBody>
          <a:bodyPr/>
          <a:lstStyle/>
          <a:p>
            <a:endParaRPr lang="ko-KR" altLang="en-US"/>
          </a:p>
        </p:txBody>
      </p:sp>
      <p:sp>
        <p:nvSpPr>
          <p:cNvPr id="91" name="Text 88"/>
          <p:cNvSpPr txBox="1"/>
          <p:nvPr/>
        </p:nvSpPr>
        <p:spPr>
          <a:xfrm>
            <a:off x="737921" y="6601968"/>
            <a:ext cx="13258800" cy="62179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스키마는 인덱싱 전 설계 단계에서 확정해 파일로 고정, 인덱싱은 읽어 쓰기만 함.</a:t>
            </a:r>
            <a:endParaRPr lang="en-US" sz="1600" dirty="0"/>
          </a:p>
          <a:p>
            <a:pPr marL="0" indent="0" algn="l">
              <a:buNone/>
            </a:pPr>
            <a:r>
              <a:rPr lang="en-US" sz="1600" b="1" dirty="0">
                <a:solidFill>
                  <a:srgbClr val="1E2A5C"/>
                </a:solidFill>
                <a:latin typeface="Pretendard" pitchFamily="34" charset="0"/>
                <a:ea typeface="Pretendard" pitchFamily="34" charset="-122"/>
                <a:cs typeface="Pretendard" pitchFamily="34" charset="-120"/>
              </a:rPr>
              <a:t>정형 테이블은 변환 규칙으로, 문서는 표본 → 후보 → 사람 확정으로 스키마 설계</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스키마에 정의하는 7가지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노드 타입과 관계, 각각의 속성, 연결 패턴이 뼈대 — 제약과 허용 범위로 무엇을 지킬지 정함</a:t>
            </a:r>
            <a:endParaRPr lang="en-US" sz="1800" dirty="0"/>
          </a:p>
        </p:txBody>
      </p:sp>
      <p:sp>
        <p:nvSpPr>
          <p:cNvPr id="5" name="Text 2"/>
          <p:cNvSpPr txBox="1"/>
          <p:nvPr/>
        </p:nvSpPr>
        <p:spPr>
          <a:xfrm>
            <a:off x="509321" y="1700784"/>
            <a:ext cx="18288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뼈대 ① ~ ⑤</a:t>
            </a:r>
            <a:endParaRPr lang="en-US" sz="1400" dirty="0"/>
          </a:p>
        </p:txBody>
      </p:sp>
      <p:sp>
        <p:nvSpPr>
          <p:cNvPr id="6" name="Text 3"/>
          <p:cNvSpPr txBox="1"/>
          <p:nvPr/>
        </p:nvSpPr>
        <p:spPr>
          <a:xfrm>
            <a:off x="2338121" y="1700784"/>
            <a:ext cx="4846320" cy="274320"/>
          </a:xfrm>
          <a:prstGeom prst="rect">
            <a:avLst/>
          </a:prstGeom>
          <a:noFill/>
          <a:ln/>
        </p:spPr>
        <p:txBody>
          <a:bodyPr wrap="square" lIns="0" tIns="0" rIns="0" bIns="0" rtlCol="0" anchor="ctr"/>
          <a:lstStyle/>
          <a:p>
            <a:pPr marL="0" indent="0" algn="r">
              <a:buNone/>
            </a:pPr>
            <a:r>
              <a:rPr lang="en-US" sz="1400" dirty="0">
                <a:solidFill>
                  <a:srgbClr val="4A5364"/>
                </a:solidFill>
                <a:latin typeface="Pretendard" pitchFamily="34" charset="0"/>
                <a:ea typeface="Pretendard" pitchFamily="34" charset="-122"/>
                <a:cs typeface="Pretendard" pitchFamily="34" charset="-120"/>
              </a:rPr>
              <a:t>왼쪽부터 정의할 것, GraphSchema 칸, 카드 예</a:t>
            </a:r>
            <a:endParaRPr lang="en-US" sz="1400" dirty="0"/>
          </a:p>
        </p:txBody>
      </p:sp>
      <p:sp>
        <p:nvSpPr>
          <p:cNvPr id="7" name="Shape 4"/>
          <p:cNvSpPr/>
          <p:nvPr/>
        </p:nvSpPr>
        <p:spPr>
          <a:xfrm>
            <a:off x="509321" y="2011680"/>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8" name="Shape 5"/>
          <p:cNvSpPr/>
          <p:nvPr/>
        </p:nvSpPr>
        <p:spPr>
          <a:xfrm>
            <a:off x="600761" y="2103120"/>
            <a:ext cx="347472" cy="347472"/>
          </a:xfrm>
          <a:prstGeom prst="roundRect">
            <a:avLst>
              <a:gd name="adj" fmla="val 13158"/>
            </a:avLst>
          </a:prstGeom>
          <a:solidFill>
            <a:srgbClr val="1E2A5C"/>
          </a:solidFill>
          <a:ln/>
        </p:spPr>
        <p:txBody>
          <a:bodyPr/>
          <a:lstStyle/>
          <a:p>
            <a:endParaRPr lang="ko-KR" altLang="en-US"/>
          </a:p>
        </p:txBody>
      </p:sp>
      <p:sp>
        <p:nvSpPr>
          <p:cNvPr id="9" name="Text 6"/>
          <p:cNvSpPr txBox="1"/>
          <p:nvPr/>
        </p:nvSpPr>
        <p:spPr>
          <a:xfrm>
            <a:off x="600761" y="210312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a:t>
            </a:r>
            <a:endParaRPr lang="en-US" sz="1600" dirty="0"/>
          </a:p>
        </p:txBody>
      </p:sp>
      <p:sp>
        <p:nvSpPr>
          <p:cNvPr id="10" name="Text 7"/>
          <p:cNvSpPr txBox="1"/>
          <p:nvPr/>
        </p:nvSpPr>
        <p:spPr>
          <a:xfrm>
            <a:off x="1039673" y="201168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타입</a:t>
            </a:r>
            <a:endParaRPr lang="en-US" sz="1600" dirty="0"/>
          </a:p>
        </p:txBody>
      </p:sp>
      <p:sp>
        <p:nvSpPr>
          <p:cNvPr id="11" name="Text 8"/>
          <p:cNvSpPr txBox="1"/>
          <p:nvPr/>
        </p:nvSpPr>
        <p:spPr>
          <a:xfrm>
            <a:off x="2200961" y="201168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node_types[].label</a:t>
            </a:r>
            <a:endParaRPr lang="en-US" sz="1400" dirty="0"/>
          </a:p>
        </p:txBody>
      </p:sp>
      <p:sp>
        <p:nvSpPr>
          <p:cNvPr id="12" name="Text 9"/>
          <p:cNvSpPr txBox="1"/>
          <p:nvPr/>
        </p:nvSpPr>
        <p:spPr>
          <a:xfrm>
            <a:off x="5035601" y="201168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Benefit</a:t>
            </a:r>
            <a:endParaRPr lang="en-US" sz="1400" dirty="0"/>
          </a:p>
        </p:txBody>
      </p:sp>
      <p:sp>
        <p:nvSpPr>
          <p:cNvPr id="13" name="Shape 10"/>
          <p:cNvSpPr/>
          <p:nvPr/>
        </p:nvSpPr>
        <p:spPr>
          <a:xfrm>
            <a:off x="509321" y="2587752"/>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14" name="Shape 11"/>
          <p:cNvSpPr/>
          <p:nvPr/>
        </p:nvSpPr>
        <p:spPr>
          <a:xfrm>
            <a:off x="600761" y="2679192"/>
            <a:ext cx="347472" cy="347472"/>
          </a:xfrm>
          <a:prstGeom prst="roundRect">
            <a:avLst>
              <a:gd name="adj" fmla="val 13158"/>
            </a:avLst>
          </a:prstGeom>
          <a:solidFill>
            <a:srgbClr val="1E2A5C"/>
          </a:solidFill>
          <a:ln/>
        </p:spPr>
        <p:txBody>
          <a:bodyPr/>
          <a:lstStyle/>
          <a:p>
            <a:endParaRPr lang="ko-KR" altLang="en-US"/>
          </a:p>
        </p:txBody>
      </p:sp>
      <p:sp>
        <p:nvSpPr>
          <p:cNvPr id="15" name="Text 12"/>
          <p:cNvSpPr txBox="1"/>
          <p:nvPr/>
        </p:nvSpPr>
        <p:spPr>
          <a:xfrm>
            <a:off x="600761" y="267919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a:t>
            </a:r>
            <a:endParaRPr lang="en-US" sz="1600" dirty="0"/>
          </a:p>
        </p:txBody>
      </p:sp>
      <p:sp>
        <p:nvSpPr>
          <p:cNvPr id="16" name="Text 13"/>
          <p:cNvSpPr txBox="1"/>
          <p:nvPr/>
        </p:nvSpPr>
        <p:spPr>
          <a:xfrm>
            <a:off x="1039673" y="2587752"/>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속성</a:t>
            </a:r>
            <a:endParaRPr lang="en-US" sz="1600" dirty="0"/>
          </a:p>
        </p:txBody>
      </p:sp>
      <p:sp>
        <p:nvSpPr>
          <p:cNvPr id="17" name="Text 14"/>
          <p:cNvSpPr txBox="1"/>
          <p:nvPr/>
        </p:nvSpPr>
        <p:spPr>
          <a:xfrm>
            <a:off x="2200961" y="2587752"/>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18" name="Text 15"/>
          <p:cNvSpPr txBox="1"/>
          <p:nvPr/>
        </p:nvSpPr>
        <p:spPr>
          <a:xfrm>
            <a:off x="5035601" y="2587752"/>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{name, annual_fee}</a:t>
            </a:r>
            <a:endParaRPr lang="en-US" sz="1400" dirty="0"/>
          </a:p>
        </p:txBody>
      </p:sp>
      <p:sp>
        <p:nvSpPr>
          <p:cNvPr id="19" name="Shape 16"/>
          <p:cNvSpPr/>
          <p:nvPr/>
        </p:nvSpPr>
        <p:spPr>
          <a:xfrm>
            <a:off x="509321" y="3163824"/>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00761" y="3255264"/>
            <a:ext cx="347472" cy="347472"/>
          </a:xfrm>
          <a:prstGeom prst="roundRect">
            <a:avLst>
              <a:gd name="adj" fmla="val 13158"/>
            </a:avLst>
          </a:prstGeom>
          <a:solidFill>
            <a:srgbClr val="1E2A5C"/>
          </a:solidFill>
          <a:ln/>
        </p:spPr>
        <p:txBody>
          <a:bodyPr/>
          <a:lstStyle/>
          <a:p>
            <a:endParaRPr lang="ko-KR" altLang="en-US"/>
          </a:p>
        </p:txBody>
      </p:sp>
      <p:sp>
        <p:nvSpPr>
          <p:cNvPr id="21" name="Text 18"/>
          <p:cNvSpPr txBox="1"/>
          <p:nvPr/>
        </p:nvSpPr>
        <p:spPr>
          <a:xfrm>
            <a:off x="600761" y="325526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a:t>
            </a:r>
            <a:endParaRPr lang="en-US" sz="1600" dirty="0"/>
          </a:p>
        </p:txBody>
      </p:sp>
      <p:sp>
        <p:nvSpPr>
          <p:cNvPr id="22" name="Text 19"/>
          <p:cNvSpPr txBox="1"/>
          <p:nvPr/>
        </p:nvSpPr>
        <p:spPr>
          <a:xfrm>
            <a:off x="1039673" y="3163824"/>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a:t>
            </a:r>
            <a:endParaRPr lang="en-US" sz="1600" dirty="0"/>
          </a:p>
        </p:txBody>
      </p:sp>
      <p:sp>
        <p:nvSpPr>
          <p:cNvPr id="23" name="Text 20"/>
          <p:cNvSpPr txBox="1"/>
          <p:nvPr/>
        </p:nvSpPr>
        <p:spPr>
          <a:xfrm>
            <a:off x="2200961" y="3163824"/>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.label</a:t>
            </a:r>
            <a:endParaRPr lang="en-US" sz="1400" dirty="0"/>
          </a:p>
        </p:txBody>
      </p:sp>
      <p:sp>
        <p:nvSpPr>
          <p:cNvPr id="24" name="Text 21"/>
          <p:cNvSpPr txBox="1"/>
          <p:nvPr/>
        </p:nvSpPr>
        <p:spPr>
          <a:xfrm>
            <a:off x="5035601" y="3163824"/>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a:t>
            </a:r>
            <a:endParaRPr lang="en-US" sz="1400" dirty="0"/>
          </a:p>
        </p:txBody>
      </p:sp>
      <p:sp>
        <p:nvSpPr>
          <p:cNvPr id="25" name="Shape 22"/>
          <p:cNvSpPr/>
          <p:nvPr/>
        </p:nvSpPr>
        <p:spPr>
          <a:xfrm>
            <a:off x="509321" y="3739896"/>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600761" y="3831336"/>
            <a:ext cx="347472" cy="347472"/>
          </a:xfrm>
          <a:prstGeom prst="roundRect">
            <a:avLst>
              <a:gd name="adj" fmla="val 13158"/>
            </a:avLst>
          </a:prstGeom>
          <a:solidFill>
            <a:srgbClr val="1E2A5C"/>
          </a:solidFill>
          <a:ln/>
        </p:spPr>
        <p:txBody>
          <a:bodyPr/>
          <a:lstStyle/>
          <a:p>
            <a:endParaRPr lang="ko-KR" altLang="en-US"/>
          </a:p>
        </p:txBody>
      </p:sp>
      <p:sp>
        <p:nvSpPr>
          <p:cNvPr id="27" name="Text 24"/>
          <p:cNvSpPr txBox="1"/>
          <p:nvPr/>
        </p:nvSpPr>
        <p:spPr>
          <a:xfrm>
            <a:off x="600761" y="383133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a:t>
            </a:r>
            <a:endParaRPr lang="en-US" sz="1600" dirty="0"/>
          </a:p>
        </p:txBody>
      </p:sp>
      <p:sp>
        <p:nvSpPr>
          <p:cNvPr id="28" name="Text 25"/>
          <p:cNvSpPr txBox="1"/>
          <p:nvPr/>
        </p:nvSpPr>
        <p:spPr>
          <a:xfrm>
            <a:off x="1039673" y="3739896"/>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 속성</a:t>
            </a:r>
            <a:endParaRPr lang="en-US" sz="1600" dirty="0"/>
          </a:p>
        </p:txBody>
      </p:sp>
      <p:sp>
        <p:nvSpPr>
          <p:cNvPr id="29" name="Text 26"/>
          <p:cNvSpPr txBox="1"/>
          <p:nvPr/>
        </p:nvSpPr>
        <p:spPr>
          <a:xfrm>
            <a:off x="2200961" y="3739896"/>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30" name="Text 27"/>
          <p:cNvSpPr txBox="1"/>
          <p:nvPr/>
        </p:nvSpPr>
        <p:spPr>
          <a:xfrm>
            <a:off x="5035601" y="3739896"/>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 {valid_until}</a:t>
            </a:r>
            <a:endParaRPr lang="en-US" sz="1400" dirty="0"/>
          </a:p>
        </p:txBody>
      </p:sp>
      <p:sp>
        <p:nvSpPr>
          <p:cNvPr id="31" name="Shape 28"/>
          <p:cNvSpPr/>
          <p:nvPr/>
        </p:nvSpPr>
        <p:spPr>
          <a:xfrm>
            <a:off x="509321" y="4315968"/>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32" name="Shape 29"/>
          <p:cNvSpPr/>
          <p:nvPr/>
        </p:nvSpPr>
        <p:spPr>
          <a:xfrm>
            <a:off x="600761" y="4407408"/>
            <a:ext cx="347472" cy="347472"/>
          </a:xfrm>
          <a:prstGeom prst="roundRect">
            <a:avLst>
              <a:gd name="adj" fmla="val 13158"/>
            </a:avLst>
          </a:prstGeom>
          <a:solidFill>
            <a:srgbClr val="1E2A5C"/>
          </a:solidFill>
          <a:ln/>
        </p:spPr>
        <p:txBody>
          <a:bodyPr/>
          <a:lstStyle/>
          <a:p>
            <a:endParaRPr lang="ko-KR" altLang="en-US"/>
          </a:p>
        </p:txBody>
      </p:sp>
      <p:sp>
        <p:nvSpPr>
          <p:cNvPr id="33" name="Text 30"/>
          <p:cNvSpPr txBox="1"/>
          <p:nvPr/>
        </p:nvSpPr>
        <p:spPr>
          <a:xfrm>
            <a:off x="600761" y="440740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⑤</a:t>
            </a:r>
            <a:endParaRPr lang="en-US" sz="1600" dirty="0"/>
          </a:p>
        </p:txBody>
      </p:sp>
      <p:sp>
        <p:nvSpPr>
          <p:cNvPr id="34" name="Text 31"/>
          <p:cNvSpPr txBox="1"/>
          <p:nvPr/>
        </p:nvSpPr>
        <p:spPr>
          <a:xfrm>
            <a:off x="1039673" y="4315968"/>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연결 패턴</a:t>
            </a:r>
            <a:endParaRPr lang="en-US" sz="1600" dirty="0"/>
          </a:p>
        </p:txBody>
      </p:sp>
      <p:sp>
        <p:nvSpPr>
          <p:cNvPr id="35" name="Text 32"/>
          <p:cNvSpPr txBox="1"/>
          <p:nvPr/>
        </p:nvSpPr>
        <p:spPr>
          <a:xfrm>
            <a:off x="2200961" y="4315968"/>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patterns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(출발, 관계, 도착)</a:t>
            </a:r>
            <a:endParaRPr lang="en-US" sz="1400" dirty="0"/>
          </a:p>
        </p:txBody>
      </p:sp>
      <p:sp>
        <p:nvSpPr>
          <p:cNvPr id="36" name="Text 33"/>
          <p:cNvSpPr txBox="1"/>
          <p:nvPr/>
        </p:nvSpPr>
        <p:spPr>
          <a:xfrm>
            <a:off x="5035601" y="4315968"/>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HAS_BENEFIT,</a:t>
            </a:r>
            <a:endParaRPr lang="en-US" sz="1400" dirty="0"/>
          </a:p>
          <a:p>
            <a:pPr marL="0" indent="0" algn="l">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37" name="Shape 34"/>
          <p:cNvSpPr/>
          <p:nvPr/>
        </p:nvSpPr>
        <p:spPr>
          <a:xfrm>
            <a:off x="509321" y="5166360"/>
            <a:ext cx="6675120" cy="530352"/>
          </a:xfrm>
          <a:prstGeom prst="roundRect">
            <a:avLst>
              <a:gd name="adj" fmla="val 10345"/>
            </a:avLst>
          </a:prstGeom>
          <a:solidFill>
            <a:srgbClr val="EEF3FA"/>
          </a:solidFill>
          <a:ln w="12700">
            <a:solidFill>
              <a:srgbClr val="2E74C6"/>
            </a:solidFill>
            <a:prstDash val="solid"/>
          </a:ln>
        </p:spPr>
        <p:txBody>
          <a:bodyPr/>
          <a:lstStyle/>
          <a:p>
            <a:endParaRPr lang="ko-KR" altLang="en-US"/>
          </a:p>
        </p:txBody>
      </p:sp>
      <p:sp>
        <p:nvSpPr>
          <p:cNvPr id="38" name="Shape 35"/>
          <p:cNvSpPr/>
          <p:nvPr/>
        </p:nvSpPr>
        <p:spPr>
          <a:xfrm>
            <a:off x="600761" y="5257800"/>
            <a:ext cx="347472" cy="347472"/>
          </a:xfrm>
          <a:prstGeom prst="roundRect">
            <a:avLst>
              <a:gd name="adj" fmla="val 13158"/>
            </a:avLst>
          </a:prstGeom>
          <a:solidFill>
            <a:srgbClr val="2E74C6"/>
          </a:solidFill>
          <a:ln/>
        </p:spPr>
        <p:txBody>
          <a:bodyPr/>
          <a:lstStyle/>
          <a:p>
            <a:endParaRPr lang="ko-KR" altLang="en-US"/>
          </a:p>
        </p:txBody>
      </p:sp>
      <p:sp>
        <p:nvSpPr>
          <p:cNvPr id="39" name="Text 36"/>
          <p:cNvSpPr txBox="1"/>
          <p:nvPr/>
        </p:nvSpPr>
        <p:spPr>
          <a:xfrm>
            <a:off x="600761" y="525780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⑥</a:t>
            </a:r>
            <a:endParaRPr lang="en-US" sz="1600" dirty="0"/>
          </a:p>
        </p:txBody>
      </p:sp>
      <p:sp>
        <p:nvSpPr>
          <p:cNvPr id="40" name="Text 37"/>
          <p:cNvSpPr txBox="1"/>
          <p:nvPr/>
        </p:nvSpPr>
        <p:spPr>
          <a:xfrm>
            <a:off x="1039673" y="516636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제약</a:t>
            </a:r>
            <a:endParaRPr lang="en-US" sz="1600" dirty="0"/>
          </a:p>
        </p:txBody>
      </p:sp>
      <p:sp>
        <p:nvSpPr>
          <p:cNvPr id="41" name="Text 38"/>
          <p:cNvSpPr txBox="1"/>
          <p:nvPr/>
        </p:nvSpPr>
        <p:spPr>
          <a:xfrm>
            <a:off x="2200961" y="516636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constraints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UNIQUENESS, EXISTENCE, KEY</a:t>
            </a:r>
            <a:endParaRPr lang="en-US" sz="1400" dirty="0"/>
          </a:p>
        </p:txBody>
      </p:sp>
      <p:sp>
        <p:nvSpPr>
          <p:cNvPr id="42" name="Text 39"/>
          <p:cNvSpPr txBox="1"/>
          <p:nvPr/>
        </p:nvSpPr>
        <p:spPr>
          <a:xfrm>
            <a:off x="5035601" y="516636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Card.name = KEY</a:t>
            </a:r>
            <a:endParaRPr lang="en-US" sz="1400" dirty="0"/>
          </a:p>
        </p:txBody>
      </p:sp>
      <p:sp>
        <p:nvSpPr>
          <p:cNvPr id="43" name="Shape 40"/>
          <p:cNvSpPr/>
          <p:nvPr/>
        </p:nvSpPr>
        <p:spPr>
          <a:xfrm>
            <a:off x="509321" y="5742432"/>
            <a:ext cx="6675120" cy="676656"/>
          </a:xfrm>
          <a:prstGeom prst="roundRect">
            <a:avLst>
              <a:gd name="adj" fmla="val 8108"/>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5907024"/>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590702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⑦</a:t>
            </a:r>
            <a:endParaRPr lang="en-US" sz="1600" dirty="0"/>
          </a:p>
        </p:txBody>
      </p:sp>
      <p:sp>
        <p:nvSpPr>
          <p:cNvPr id="46" name="Text 43"/>
          <p:cNvSpPr txBox="1"/>
          <p:nvPr/>
        </p:nvSpPr>
        <p:spPr>
          <a:xfrm>
            <a:off x="1039673" y="5742432"/>
            <a:ext cx="1143000" cy="67665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허용 범위</a:t>
            </a:r>
            <a:endParaRPr lang="en-US" sz="1600" dirty="0"/>
          </a:p>
        </p:txBody>
      </p:sp>
      <p:sp>
        <p:nvSpPr>
          <p:cNvPr id="47" name="Text 44"/>
          <p:cNvSpPr txBox="1"/>
          <p:nvPr/>
        </p:nvSpPr>
        <p:spPr>
          <a:xfrm>
            <a:off x="2200961" y="5742432"/>
            <a:ext cx="2788920" cy="676656"/>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additional_node_types,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additional_patterns</a:t>
            </a:r>
            <a:endParaRPr lang="en-US" sz="1400" dirty="0"/>
          </a:p>
        </p:txBody>
      </p:sp>
      <p:sp>
        <p:nvSpPr>
          <p:cNvPr id="48" name="Text 45"/>
          <p:cNvSpPr txBox="1"/>
          <p:nvPr/>
        </p:nvSpPr>
        <p:spPr>
          <a:xfrm>
            <a:off x="5035601" y="5742432"/>
            <a:ext cx="2057400" cy="676656"/>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①~⑤에 지정된 목록 밖을 허용할지 여부</a:t>
            </a:r>
            <a:endParaRPr lang="en-US" sz="1400" dirty="0"/>
          </a:p>
        </p:txBody>
      </p:sp>
      <p:sp>
        <p:nvSpPr>
          <p:cNvPr id="49" name="Text 46"/>
          <p:cNvSpPr txBox="1"/>
          <p:nvPr/>
        </p:nvSpPr>
        <p:spPr>
          <a:xfrm>
            <a:off x="509321" y="4892040"/>
            <a:ext cx="22860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지킬 규칙 ⑥ ⑦</a:t>
            </a:r>
            <a:endParaRPr lang="en-US" sz="1400" dirty="0"/>
          </a:p>
        </p:txBody>
      </p:sp>
      <p:sp>
        <p:nvSpPr>
          <p:cNvPr id="50" name="Shape 47"/>
          <p:cNvSpPr/>
          <p:nvPr/>
        </p:nvSpPr>
        <p:spPr>
          <a:xfrm>
            <a:off x="7413041" y="1737360"/>
            <a:ext cx="6720840" cy="13716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9592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2" name="Shape 49"/>
          <p:cNvSpPr/>
          <p:nvPr/>
        </p:nvSpPr>
        <p:spPr>
          <a:xfrm>
            <a:off x="7687361" y="1956816"/>
            <a:ext cx="1965960" cy="329184"/>
          </a:xfrm>
          <a:prstGeom prst="roundRect">
            <a:avLst>
              <a:gd name="adj" fmla="val 13889"/>
            </a:avLst>
          </a:prstGeom>
          <a:solidFill>
            <a:srgbClr val="1E2A5C"/>
          </a:solidFill>
          <a:ln/>
        </p:spPr>
        <p:txBody>
          <a:bodyPr/>
          <a:lstStyle/>
          <a:p>
            <a:endParaRPr lang="ko-KR" altLang="en-US"/>
          </a:p>
        </p:txBody>
      </p:sp>
      <p:sp>
        <p:nvSpPr>
          <p:cNvPr id="53" name="Text 50"/>
          <p:cNvSpPr txBox="1"/>
          <p:nvPr/>
        </p:nvSpPr>
        <p:spPr>
          <a:xfrm>
            <a:off x="768736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:Card</a:t>
            </a:r>
            <a:endParaRPr lang="en-US" sz="1500" dirty="0"/>
          </a:p>
        </p:txBody>
      </p:sp>
      <p:sp>
        <p:nvSpPr>
          <p:cNvPr id="54" name="Text 51"/>
          <p:cNvSpPr txBox="1"/>
          <p:nvPr/>
        </p:nvSpPr>
        <p:spPr>
          <a:xfrm>
            <a:off x="773308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 (키)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annual_fee</a:t>
            </a:r>
            <a:endParaRPr lang="en-US" sz="1400" dirty="0"/>
          </a:p>
        </p:txBody>
      </p:sp>
      <p:sp>
        <p:nvSpPr>
          <p:cNvPr id="55" name="Shape 52"/>
          <p:cNvSpPr/>
          <p:nvPr/>
        </p:nvSpPr>
        <p:spPr>
          <a:xfrm>
            <a:off x="1180216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6" name="Shape 53"/>
          <p:cNvSpPr/>
          <p:nvPr/>
        </p:nvSpPr>
        <p:spPr>
          <a:xfrm>
            <a:off x="11893601" y="1956816"/>
            <a:ext cx="1965960" cy="329184"/>
          </a:xfrm>
          <a:prstGeom prst="roundRect">
            <a:avLst>
              <a:gd name="adj" fmla="val 13889"/>
            </a:avLst>
          </a:prstGeom>
          <a:solidFill>
            <a:srgbClr val="1E2A5C"/>
          </a:solidFill>
          <a:ln/>
        </p:spPr>
        <p:txBody>
          <a:bodyPr/>
          <a:lstStyle/>
          <a:p>
            <a:endParaRPr lang="ko-KR" altLang="en-US"/>
          </a:p>
        </p:txBody>
      </p:sp>
      <p:sp>
        <p:nvSpPr>
          <p:cNvPr id="57" name="Text 54"/>
          <p:cNvSpPr txBox="1"/>
          <p:nvPr/>
        </p:nvSpPr>
        <p:spPr>
          <a:xfrm>
            <a:off x="1189360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:Benefit</a:t>
            </a:r>
            <a:endParaRPr lang="en-US" sz="1500" dirty="0"/>
          </a:p>
        </p:txBody>
      </p:sp>
      <p:sp>
        <p:nvSpPr>
          <p:cNvPr id="58" name="Text 55"/>
          <p:cNvSpPr txBox="1"/>
          <p:nvPr/>
        </p:nvSpPr>
        <p:spPr>
          <a:xfrm>
            <a:off x="1193932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rate</a:t>
            </a:r>
            <a:endParaRPr lang="en-US" sz="1400" dirty="0"/>
          </a:p>
        </p:txBody>
      </p:sp>
      <p:sp>
        <p:nvSpPr>
          <p:cNvPr id="59" name="Shape 56"/>
          <p:cNvSpPr/>
          <p:nvPr/>
        </p:nvSpPr>
        <p:spPr>
          <a:xfrm>
            <a:off x="9781337" y="2423160"/>
            <a:ext cx="1984248" cy="0"/>
          </a:xfrm>
          <a:prstGeom prst="line">
            <a:avLst/>
          </a:prstGeom>
          <a:noFill/>
          <a:ln w="25400">
            <a:solidFill>
              <a:srgbClr val="1E2A5C"/>
            </a:solidFill>
            <a:prstDash val="solid"/>
            <a:tailEnd type="triangle"/>
          </a:ln>
        </p:spPr>
        <p:txBody>
          <a:bodyPr/>
          <a:lstStyle/>
          <a:p>
            <a:endParaRPr lang="ko-KR" altLang="en-US"/>
          </a:p>
        </p:txBody>
      </p:sp>
      <p:sp>
        <p:nvSpPr>
          <p:cNvPr id="60" name="Text 57"/>
          <p:cNvSpPr txBox="1"/>
          <p:nvPr/>
        </p:nvSpPr>
        <p:spPr>
          <a:xfrm>
            <a:off x="9744761" y="2075688"/>
            <a:ext cx="2057400" cy="292608"/>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:HAS_BENEFIT</a:t>
            </a:r>
            <a:endParaRPr lang="en-US" sz="1500" dirty="0"/>
          </a:p>
        </p:txBody>
      </p:sp>
      <p:sp>
        <p:nvSpPr>
          <p:cNvPr id="61" name="Text 58"/>
          <p:cNvSpPr txBox="1"/>
          <p:nvPr/>
        </p:nvSpPr>
        <p:spPr>
          <a:xfrm>
            <a:off x="9744761" y="2478024"/>
            <a:ext cx="20574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{valid_until}</a:t>
            </a:r>
            <a:endParaRPr lang="en-US" sz="1400" dirty="0"/>
          </a:p>
        </p:txBody>
      </p:sp>
      <p:sp>
        <p:nvSpPr>
          <p:cNvPr id="62" name="Shape 59"/>
          <p:cNvSpPr/>
          <p:nvPr/>
        </p:nvSpPr>
        <p:spPr>
          <a:xfrm>
            <a:off x="9470441" y="1792224"/>
            <a:ext cx="310896" cy="310896"/>
          </a:xfrm>
          <a:prstGeom prst="roundRect">
            <a:avLst>
              <a:gd name="adj" fmla="val 45000"/>
            </a:avLst>
          </a:prstGeom>
          <a:solidFill>
            <a:srgbClr val="1E2A5C"/>
          </a:solidFill>
          <a:ln/>
        </p:spPr>
        <p:txBody>
          <a:bodyPr/>
          <a:lstStyle/>
          <a:p>
            <a:endParaRPr lang="ko-KR" altLang="en-US"/>
          </a:p>
        </p:txBody>
      </p:sp>
      <p:sp>
        <p:nvSpPr>
          <p:cNvPr id="63" name="Text 60"/>
          <p:cNvSpPr txBox="1"/>
          <p:nvPr/>
        </p:nvSpPr>
        <p:spPr>
          <a:xfrm>
            <a:off x="9470441" y="179222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①</a:t>
            </a:r>
            <a:endParaRPr lang="en-US" sz="1400" dirty="0"/>
          </a:p>
        </p:txBody>
      </p:sp>
      <p:sp>
        <p:nvSpPr>
          <p:cNvPr id="64" name="Shape 61"/>
          <p:cNvSpPr/>
          <p:nvPr/>
        </p:nvSpPr>
        <p:spPr>
          <a:xfrm>
            <a:off x="9333281" y="2596896"/>
            <a:ext cx="310896" cy="310896"/>
          </a:xfrm>
          <a:prstGeom prst="roundRect">
            <a:avLst>
              <a:gd name="adj" fmla="val 45000"/>
            </a:avLst>
          </a:prstGeom>
          <a:solidFill>
            <a:srgbClr val="1E2A5C"/>
          </a:solidFill>
          <a:ln/>
        </p:spPr>
        <p:txBody>
          <a:bodyPr/>
          <a:lstStyle/>
          <a:p>
            <a:endParaRPr lang="ko-KR" altLang="en-US"/>
          </a:p>
        </p:txBody>
      </p:sp>
      <p:sp>
        <p:nvSpPr>
          <p:cNvPr id="65" name="Text 62"/>
          <p:cNvSpPr txBox="1"/>
          <p:nvPr/>
        </p:nvSpPr>
        <p:spPr>
          <a:xfrm>
            <a:off x="9333281" y="259689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②</a:t>
            </a:r>
            <a:endParaRPr lang="en-US" sz="1400" dirty="0"/>
          </a:p>
        </p:txBody>
      </p:sp>
      <p:sp>
        <p:nvSpPr>
          <p:cNvPr id="66" name="Shape 63"/>
          <p:cNvSpPr/>
          <p:nvPr/>
        </p:nvSpPr>
        <p:spPr>
          <a:xfrm>
            <a:off x="8784641" y="2313432"/>
            <a:ext cx="310896" cy="310896"/>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8784641" y="231343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⑥</a:t>
            </a:r>
            <a:endParaRPr lang="en-US" sz="1400" dirty="0"/>
          </a:p>
        </p:txBody>
      </p:sp>
      <p:sp>
        <p:nvSpPr>
          <p:cNvPr id="68" name="Shape 65"/>
          <p:cNvSpPr/>
          <p:nvPr/>
        </p:nvSpPr>
        <p:spPr>
          <a:xfrm>
            <a:off x="10618013" y="1764792"/>
            <a:ext cx="310896" cy="310896"/>
          </a:xfrm>
          <a:prstGeom prst="roundRect">
            <a:avLst>
              <a:gd name="adj" fmla="val 45000"/>
            </a:avLst>
          </a:prstGeom>
          <a:solidFill>
            <a:srgbClr val="1E2A5C"/>
          </a:solidFill>
          <a:ln/>
        </p:spPr>
        <p:txBody>
          <a:bodyPr/>
          <a:lstStyle/>
          <a:p>
            <a:endParaRPr lang="ko-KR" altLang="en-US"/>
          </a:p>
        </p:txBody>
      </p:sp>
      <p:sp>
        <p:nvSpPr>
          <p:cNvPr id="69" name="Text 66"/>
          <p:cNvSpPr txBox="1"/>
          <p:nvPr/>
        </p:nvSpPr>
        <p:spPr>
          <a:xfrm>
            <a:off x="10618013" y="176479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③</a:t>
            </a:r>
            <a:endParaRPr lang="en-US" sz="1400" dirty="0"/>
          </a:p>
        </p:txBody>
      </p:sp>
      <p:sp>
        <p:nvSpPr>
          <p:cNvPr id="70" name="Shape 67"/>
          <p:cNvSpPr/>
          <p:nvPr/>
        </p:nvSpPr>
        <p:spPr>
          <a:xfrm>
            <a:off x="11459261" y="2459736"/>
            <a:ext cx="310896" cy="310896"/>
          </a:xfrm>
          <a:prstGeom prst="roundRect">
            <a:avLst>
              <a:gd name="adj" fmla="val 45000"/>
            </a:avLst>
          </a:prstGeom>
          <a:solidFill>
            <a:srgbClr val="1E2A5C"/>
          </a:solidFill>
          <a:ln/>
        </p:spPr>
        <p:txBody>
          <a:bodyPr/>
          <a:lstStyle/>
          <a:p>
            <a:endParaRPr lang="ko-KR" altLang="en-US"/>
          </a:p>
        </p:txBody>
      </p:sp>
      <p:sp>
        <p:nvSpPr>
          <p:cNvPr id="71" name="Text 68"/>
          <p:cNvSpPr txBox="1"/>
          <p:nvPr/>
        </p:nvSpPr>
        <p:spPr>
          <a:xfrm>
            <a:off x="11459261" y="245973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a:t>
            </a:r>
            <a:endParaRPr lang="en-US" sz="1400" dirty="0"/>
          </a:p>
        </p:txBody>
      </p:sp>
      <p:sp>
        <p:nvSpPr>
          <p:cNvPr id="72" name="Shape 69"/>
          <p:cNvSpPr/>
          <p:nvPr/>
        </p:nvSpPr>
        <p:spPr>
          <a:xfrm>
            <a:off x="10618013" y="2752344"/>
            <a:ext cx="310896" cy="310896"/>
          </a:xfrm>
          <a:prstGeom prst="roundRect">
            <a:avLst>
              <a:gd name="adj" fmla="val 45000"/>
            </a:avLst>
          </a:prstGeom>
          <a:solidFill>
            <a:srgbClr val="1E2A5C"/>
          </a:solidFill>
          <a:ln/>
        </p:spPr>
        <p:txBody>
          <a:bodyPr/>
          <a:lstStyle/>
          <a:p>
            <a:endParaRPr lang="ko-KR" altLang="en-US"/>
          </a:p>
        </p:txBody>
      </p:sp>
      <p:sp>
        <p:nvSpPr>
          <p:cNvPr id="73" name="Text 70"/>
          <p:cNvSpPr txBox="1"/>
          <p:nvPr/>
        </p:nvSpPr>
        <p:spPr>
          <a:xfrm>
            <a:off x="10618013" y="275234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⑤</a:t>
            </a:r>
            <a:endParaRPr lang="en-US" sz="1400" dirty="0"/>
          </a:p>
        </p:txBody>
      </p:sp>
      <p:sp>
        <p:nvSpPr>
          <p:cNvPr id="74" name="Shape 71"/>
          <p:cNvSpPr/>
          <p:nvPr/>
        </p:nvSpPr>
        <p:spPr>
          <a:xfrm>
            <a:off x="7413041" y="3493008"/>
            <a:ext cx="6720840" cy="2907792"/>
          </a:xfrm>
          <a:prstGeom prst="roundRect">
            <a:avLst>
              <a:gd name="adj" fmla="val 1887"/>
            </a:avLst>
          </a:prstGeom>
          <a:solidFill>
            <a:srgbClr val="F5F8FC"/>
          </a:solidFill>
          <a:ln w="12700">
            <a:solidFill>
              <a:srgbClr val="D9E0EC"/>
            </a:solidFill>
            <a:prstDash val="solid"/>
          </a:ln>
        </p:spPr>
        <p:txBody>
          <a:bodyPr/>
          <a:lstStyle/>
          <a:p>
            <a:endParaRPr lang="ko-KR" altLang="en-US"/>
          </a:p>
        </p:txBody>
      </p:sp>
      <p:sp>
        <p:nvSpPr>
          <p:cNvPr id="75" name="Text 72"/>
          <p:cNvSpPr txBox="1"/>
          <p:nvPr/>
        </p:nvSpPr>
        <p:spPr>
          <a:xfrm>
            <a:off x="7522769" y="3566160"/>
            <a:ext cx="6501384" cy="277977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                              # ① ②</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"Card",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"name", "type": "STRING"},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"annual_fee", "type": "INTEGER"}]},</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"Benefit",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[{"label": "HAS_BENEFIT",   # ③ ④</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 [{"name": "valid_until", "type": "DATE"}]}],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   # ⑤</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"constraints": [{"type": "KEY", "node_type": "Card",  # ⑥</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"property_names": ["name"]}],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"additional_node_types": False})                # ⑦</a:t>
            </a:r>
            <a:endParaRPr lang="en-US" sz="1400" dirty="0"/>
          </a:p>
        </p:txBody>
      </p:sp>
      <p:sp>
        <p:nvSpPr>
          <p:cNvPr id="76" name="Text 73"/>
          <p:cNvSpPr txBox="1"/>
          <p:nvPr/>
        </p:nvSpPr>
        <p:spPr>
          <a:xfrm>
            <a:off x="7413041" y="3182112"/>
            <a:ext cx="6720840" cy="274320"/>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7칸을 채운 Native GraphSchema — 실행 확인: name 없는 Card는 가지치기가 지움</a:t>
            </a:r>
            <a:endParaRPr lang="en-US" sz="1400" dirty="0"/>
          </a:p>
        </p:txBody>
      </p:sp>
      <p:sp>
        <p:nvSpPr>
          <p:cNvPr id="77" name="Shape 74"/>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78" name="Shape 75"/>
          <p:cNvSpPr/>
          <p:nvPr/>
        </p:nvSpPr>
        <p:spPr>
          <a:xfrm>
            <a:off x="509321" y="6492240"/>
            <a:ext cx="82296" cy="731520"/>
          </a:xfrm>
          <a:prstGeom prst="rect">
            <a:avLst/>
          </a:prstGeom>
          <a:solidFill>
            <a:srgbClr val="2E74C6"/>
          </a:solidFill>
          <a:ln/>
        </p:spPr>
        <p:txBody>
          <a:bodyPr/>
          <a:lstStyle/>
          <a:p>
            <a:endParaRPr lang="ko-KR" altLang="en-US"/>
          </a:p>
        </p:txBody>
      </p:sp>
      <p:sp>
        <p:nvSpPr>
          <p:cNvPr id="79" name="Text 76"/>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최소한 = ①, ③, ⑤ + ⑥ 고유키. 속성은 질문에 쓰는 것만 정의하고, 타입마다 description을 적으면 LLM이 고르는 기준이 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 지정한 속성에 대해 UNIQUENESS는 고유 강제, EXISTENCE는 존재 강제, KEY는 고유 + 존재를 강제함. UNIQUENESS는 지정한 속성이 비어 있어도 허용하나 KEY는 불허함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정형 테이블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규칙</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모델 없이 규칙으로 바꿈 — 단, FK를 세기 전에 '그 표 자체가 조회 대상인가'부터 물음</a:t>
            </a:r>
            <a:endParaRPr lang="en-US" sz="1800" dirty="0"/>
          </a:p>
        </p:txBody>
      </p:sp>
      <p:sp>
        <p:nvSpPr>
          <p:cNvPr id="5" name="Shape 2"/>
          <p:cNvSpPr/>
          <p:nvPr/>
        </p:nvSpPr>
        <p:spPr>
          <a:xfrm>
            <a:off x="2521001" y="1755648"/>
            <a:ext cx="2011680" cy="384048"/>
          </a:xfrm>
          <a:prstGeom prst="roundRect">
            <a:avLst>
              <a:gd name="adj" fmla="val 19048"/>
            </a:avLst>
          </a:prstGeom>
          <a:solidFill>
            <a:srgbClr val="1E2A5C"/>
          </a:solidFill>
          <a:ln/>
        </p:spPr>
        <p:txBody>
          <a:bodyPr/>
          <a:lstStyle/>
          <a:p>
            <a:endParaRPr lang="ko-KR" altLang="en-US"/>
          </a:p>
        </p:txBody>
      </p:sp>
      <p:sp>
        <p:nvSpPr>
          <p:cNvPr id="6" name="Text 3"/>
          <p:cNvSpPr txBox="1"/>
          <p:nvPr/>
        </p:nvSpPr>
        <p:spPr>
          <a:xfrm>
            <a:off x="2521001" y="1755648"/>
            <a:ext cx="201168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테이블 1개</a:t>
            </a:r>
            <a:endParaRPr lang="en-US" sz="1500" dirty="0"/>
          </a:p>
        </p:txBody>
      </p:sp>
      <p:sp>
        <p:nvSpPr>
          <p:cNvPr id="7" name="Shape 4"/>
          <p:cNvSpPr/>
          <p:nvPr/>
        </p:nvSpPr>
        <p:spPr>
          <a:xfrm>
            <a:off x="3526841" y="2157984"/>
            <a:ext cx="0" cy="18288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509321" y="2359152"/>
            <a:ext cx="6035040" cy="502920"/>
          </a:xfrm>
          <a:prstGeom prst="roundRect">
            <a:avLst>
              <a:gd name="adj" fmla="val 14545"/>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509321" y="2359152"/>
            <a:ext cx="6035040" cy="502920"/>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Q1. 그 표 자체가 조회 대상인 엔티티인가?</a:t>
            </a:r>
            <a:endParaRPr lang="en-US" sz="1600" dirty="0"/>
          </a:p>
        </p:txBody>
      </p:sp>
      <p:sp>
        <p:nvSpPr>
          <p:cNvPr id="10" name="Shape 7"/>
          <p:cNvSpPr/>
          <p:nvPr/>
        </p:nvSpPr>
        <p:spPr>
          <a:xfrm>
            <a:off x="1835201" y="2880360"/>
            <a:ext cx="0" cy="320040"/>
          </a:xfrm>
          <a:prstGeom prst="line">
            <a:avLst/>
          </a:prstGeom>
          <a:noFill/>
          <a:ln w="22225">
            <a:solidFill>
              <a:srgbClr val="1E2A5C"/>
            </a:solidFill>
            <a:prstDash val="solid"/>
            <a:tailEnd type="triangle"/>
          </a:ln>
        </p:spPr>
        <p:txBody>
          <a:bodyPr/>
          <a:lstStyle/>
          <a:p>
            <a:endParaRPr lang="ko-KR" altLang="en-US"/>
          </a:p>
        </p:txBody>
      </p:sp>
      <p:sp>
        <p:nvSpPr>
          <p:cNvPr id="11" name="Text 8"/>
          <p:cNvSpPr txBox="1"/>
          <p:nvPr/>
        </p:nvSpPr>
        <p:spPr>
          <a:xfrm>
            <a:off x="1908353" y="2889504"/>
            <a:ext cx="457200" cy="274320"/>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예</a:t>
            </a:r>
            <a:endParaRPr lang="en-US" sz="1500" dirty="0"/>
          </a:p>
        </p:txBody>
      </p:sp>
      <p:sp>
        <p:nvSpPr>
          <p:cNvPr id="12" name="Shape 9"/>
          <p:cNvSpPr/>
          <p:nvPr/>
        </p:nvSpPr>
        <p:spPr>
          <a:xfrm>
            <a:off x="4989881" y="2880360"/>
            <a:ext cx="0" cy="320040"/>
          </a:xfrm>
          <a:prstGeom prst="line">
            <a:avLst/>
          </a:prstGeom>
          <a:noFill/>
          <a:ln w="22225">
            <a:solidFill>
              <a:srgbClr val="4A5364"/>
            </a:solidFill>
            <a:prstDash val="solid"/>
            <a:tailEnd type="triangle"/>
          </a:ln>
        </p:spPr>
        <p:txBody>
          <a:bodyPr/>
          <a:lstStyle/>
          <a:p>
            <a:endParaRPr lang="ko-KR" altLang="en-US"/>
          </a:p>
        </p:txBody>
      </p:sp>
      <p:sp>
        <p:nvSpPr>
          <p:cNvPr id="13" name="Text 10"/>
          <p:cNvSpPr txBox="1"/>
          <p:nvPr/>
        </p:nvSpPr>
        <p:spPr>
          <a:xfrm>
            <a:off x="5063033" y="2889504"/>
            <a:ext cx="731520" cy="274320"/>
          </a:xfrm>
          <a:prstGeom prst="rect">
            <a:avLst/>
          </a:prstGeom>
          <a:noFill/>
          <a:ln/>
        </p:spPr>
        <p:txBody>
          <a:bodyPr wrap="square" lIns="0" tIns="0" rIns="0" bIns="0"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아니오</a:t>
            </a:r>
            <a:endParaRPr lang="en-US" sz="1500" dirty="0"/>
          </a:p>
        </p:txBody>
      </p:sp>
      <p:sp>
        <p:nvSpPr>
          <p:cNvPr id="14" name="Shape 11"/>
          <p:cNvSpPr/>
          <p:nvPr/>
        </p:nvSpPr>
        <p:spPr>
          <a:xfrm>
            <a:off x="509321" y="3218688"/>
            <a:ext cx="2651760" cy="1417320"/>
          </a:xfrm>
          <a:prstGeom prst="roundRect">
            <a:avLst>
              <a:gd name="adj" fmla="val 5161"/>
            </a:avLst>
          </a:prstGeom>
          <a:solidFill>
            <a:srgbClr val="1E2A5C"/>
          </a:solidFill>
          <a:ln/>
        </p:spPr>
        <p:txBody>
          <a:bodyPr/>
          <a:lstStyle/>
          <a:p>
            <a:endParaRPr lang="ko-KR" altLang="en-US"/>
          </a:p>
        </p:txBody>
      </p:sp>
      <p:sp>
        <p:nvSpPr>
          <p:cNvPr id="15" name="Shape 12"/>
          <p:cNvSpPr/>
          <p:nvPr/>
        </p:nvSpPr>
        <p:spPr>
          <a:xfrm>
            <a:off x="619049" y="3310128"/>
            <a:ext cx="329184" cy="329184"/>
          </a:xfrm>
          <a:prstGeom prst="roundRect">
            <a:avLst>
              <a:gd name="adj" fmla="val 45000"/>
            </a:avLst>
          </a:prstGeom>
          <a:solidFill>
            <a:srgbClr val="FFFFFF"/>
          </a:solidFill>
          <a:ln/>
        </p:spPr>
        <p:txBody>
          <a:bodyPr/>
          <a:lstStyle/>
          <a:p>
            <a:endParaRPr lang="ko-KR" altLang="en-US"/>
          </a:p>
        </p:txBody>
      </p:sp>
      <p:sp>
        <p:nvSpPr>
          <p:cNvPr id="16" name="Text 13"/>
          <p:cNvSpPr txBox="1"/>
          <p:nvPr/>
        </p:nvSpPr>
        <p:spPr>
          <a:xfrm>
            <a:off x="619049" y="3310128"/>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①</a:t>
            </a:r>
            <a:endParaRPr lang="en-US" sz="1500" dirty="0"/>
          </a:p>
        </p:txBody>
      </p:sp>
      <p:sp>
        <p:nvSpPr>
          <p:cNvPr id="17" name="Text 14"/>
          <p:cNvSpPr txBox="1"/>
          <p:nvPr/>
        </p:nvSpPr>
        <p:spPr>
          <a:xfrm>
            <a:off x="1057961" y="3218688"/>
            <a:ext cx="2011680" cy="141732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Pretendard" pitchFamily="34" charset="0"/>
                <a:ea typeface="Pretendard" pitchFamily="34" charset="-122"/>
                <a:cs typeface="Pretendard" pitchFamily="34" charset="-120"/>
              </a:rPr>
              <a:t>노드 타입</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열 = 노드 속성</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 관계</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열은 바꾼 뒤 지움</a:t>
            </a:r>
            <a:endParaRPr lang="en-US" sz="1800" dirty="0"/>
          </a:p>
        </p:txBody>
      </p:sp>
      <p:sp>
        <p:nvSpPr>
          <p:cNvPr id="18" name="Text 15"/>
          <p:cNvSpPr txBox="1"/>
          <p:nvPr/>
        </p:nvSpPr>
        <p:spPr>
          <a:xfrm>
            <a:off x="509321" y="4709160"/>
            <a:ext cx="2651760" cy="548640"/>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FK가 0개 또는 1개인</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보통 테이블은 대부분 여기로 옴</a:t>
            </a:r>
            <a:endParaRPr lang="en-US" sz="1400" dirty="0"/>
          </a:p>
        </p:txBody>
      </p:sp>
      <p:sp>
        <p:nvSpPr>
          <p:cNvPr id="19" name="Shape 16"/>
          <p:cNvSpPr/>
          <p:nvPr/>
        </p:nvSpPr>
        <p:spPr>
          <a:xfrm>
            <a:off x="3435401" y="3218688"/>
            <a:ext cx="3108960" cy="420624"/>
          </a:xfrm>
          <a:prstGeom prst="roundRect">
            <a:avLst>
              <a:gd name="adj" fmla="val 17391"/>
            </a:avLst>
          </a:prstGeom>
          <a:solidFill>
            <a:srgbClr val="EEF3FA"/>
          </a:solidFill>
          <a:ln w="12700">
            <a:solidFill>
              <a:srgbClr val="2E74C6"/>
            </a:solidFill>
            <a:prstDash val="solid"/>
          </a:ln>
        </p:spPr>
        <p:txBody>
          <a:bodyPr/>
          <a:lstStyle/>
          <a:p>
            <a:endParaRPr lang="ko-KR" altLang="en-US"/>
          </a:p>
        </p:txBody>
      </p:sp>
      <p:sp>
        <p:nvSpPr>
          <p:cNvPr id="20" name="Text 17"/>
          <p:cNvSpPr txBox="1"/>
          <p:nvPr/>
        </p:nvSpPr>
        <p:spPr>
          <a:xfrm>
            <a:off x="3435401" y="3218688"/>
            <a:ext cx="3108960" cy="42062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Q2. FK 몇 개?</a:t>
            </a:r>
            <a:endParaRPr lang="en-US" sz="1500" dirty="0"/>
          </a:p>
        </p:txBody>
      </p:sp>
      <p:sp>
        <p:nvSpPr>
          <p:cNvPr id="21" name="Shape 18"/>
          <p:cNvSpPr/>
          <p:nvPr/>
        </p:nvSpPr>
        <p:spPr>
          <a:xfrm>
            <a:off x="3435401" y="3730752"/>
            <a:ext cx="310896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2" name="Shape 19"/>
          <p:cNvSpPr/>
          <p:nvPr/>
        </p:nvSpPr>
        <p:spPr>
          <a:xfrm>
            <a:off x="3508553" y="3831336"/>
            <a:ext cx="329184" cy="329184"/>
          </a:xfrm>
          <a:prstGeom prst="roundRect">
            <a:avLst>
              <a:gd name="adj" fmla="val 45000"/>
            </a:avLst>
          </a:prstGeom>
          <a:solidFill>
            <a:srgbClr val="2E74C6"/>
          </a:solidFill>
          <a:ln/>
        </p:spPr>
        <p:txBody>
          <a:bodyPr/>
          <a:lstStyle/>
          <a:p>
            <a:endParaRPr lang="ko-KR" altLang="en-US"/>
          </a:p>
        </p:txBody>
      </p:sp>
      <p:sp>
        <p:nvSpPr>
          <p:cNvPr id="23" name="Text 20"/>
          <p:cNvSpPr txBox="1"/>
          <p:nvPr/>
        </p:nvSpPr>
        <p:spPr>
          <a:xfrm>
            <a:off x="3508553" y="383133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24" name="Text 21"/>
          <p:cNvSpPr txBox="1"/>
          <p:nvPr/>
        </p:nvSpPr>
        <p:spPr>
          <a:xfrm>
            <a:off x="3910889" y="3730752"/>
            <a:ext cx="2578608" cy="5303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2개이고 업무 열 없음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1개로 흡수</a:t>
            </a:r>
            <a:endParaRPr lang="en-US" sz="1400" dirty="0"/>
          </a:p>
        </p:txBody>
      </p:sp>
      <p:sp>
        <p:nvSpPr>
          <p:cNvPr id="25" name="Shape 22"/>
          <p:cNvSpPr/>
          <p:nvPr/>
        </p:nvSpPr>
        <p:spPr>
          <a:xfrm>
            <a:off x="3435401" y="4334256"/>
            <a:ext cx="3108960"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3508553" y="4544568"/>
            <a:ext cx="329184" cy="329184"/>
          </a:xfrm>
          <a:prstGeom prst="roundRect">
            <a:avLst>
              <a:gd name="adj" fmla="val 45000"/>
            </a:avLst>
          </a:prstGeom>
          <a:solidFill>
            <a:srgbClr val="2E74C6"/>
          </a:solidFill>
          <a:ln/>
        </p:spPr>
        <p:txBody>
          <a:bodyPr/>
          <a:lstStyle/>
          <a:p>
            <a:endParaRPr lang="ko-KR" altLang="en-US"/>
          </a:p>
        </p:txBody>
      </p:sp>
      <p:sp>
        <p:nvSpPr>
          <p:cNvPr id="27" name="Text 24"/>
          <p:cNvSpPr txBox="1"/>
          <p:nvPr/>
        </p:nvSpPr>
        <p:spPr>
          <a:xfrm>
            <a:off x="3508553" y="454456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28" name="Text 25"/>
          <p:cNvSpPr txBox="1"/>
          <p:nvPr/>
        </p:nvSpPr>
        <p:spPr>
          <a:xfrm>
            <a:off x="3910889" y="4334256"/>
            <a:ext cx="2578608" cy="7498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 + 업무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 관계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(조회하거나 집계하면 노드)</a:t>
            </a:r>
            <a:endParaRPr lang="en-US" sz="1400" dirty="0"/>
          </a:p>
        </p:txBody>
      </p:sp>
      <p:sp>
        <p:nvSpPr>
          <p:cNvPr id="29" name="Shape 26"/>
          <p:cNvSpPr/>
          <p:nvPr/>
        </p:nvSpPr>
        <p:spPr>
          <a:xfrm>
            <a:off x="3435401" y="5157216"/>
            <a:ext cx="3108960" cy="530352"/>
          </a:xfrm>
          <a:prstGeom prst="roundRect">
            <a:avLst>
              <a:gd name="adj" fmla="val 10345"/>
            </a:avLst>
          </a:prstGeom>
          <a:solidFill>
            <a:srgbClr val="1E2A5C"/>
          </a:solidFill>
          <a:ln/>
        </p:spPr>
        <p:txBody>
          <a:bodyPr/>
          <a:lstStyle/>
          <a:p>
            <a:endParaRPr lang="ko-KR" altLang="en-US"/>
          </a:p>
        </p:txBody>
      </p:sp>
      <p:sp>
        <p:nvSpPr>
          <p:cNvPr id="30" name="Shape 27"/>
          <p:cNvSpPr/>
          <p:nvPr/>
        </p:nvSpPr>
        <p:spPr>
          <a:xfrm>
            <a:off x="3508553" y="5257800"/>
            <a:ext cx="329184" cy="329184"/>
          </a:xfrm>
          <a:prstGeom prst="roundRect">
            <a:avLst>
              <a:gd name="adj" fmla="val 45000"/>
            </a:avLst>
          </a:prstGeom>
          <a:solidFill>
            <a:srgbClr val="FFFFFF"/>
          </a:solidFill>
          <a:ln/>
        </p:spPr>
        <p:txBody>
          <a:bodyPr/>
          <a:lstStyle/>
          <a:p>
            <a:endParaRPr lang="ko-KR" altLang="en-US"/>
          </a:p>
        </p:txBody>
      </p:sp>
      <p:sp>
        <p:nvSpPr>
          <p:cNvPr id="31" name="Text 28"/>
          <p:cNvSpPr txBox="1"/>
          <p:nvPr/>
        </p:nvSpPr>
        <p:spPr>
          <a:xfrm>
            <a:off x="3508553" y="5257800"/>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a:t>
            </a:r>
            <a:endParaRPr lang="en-US" sz="1500" dirty="0"/>
          </a:p>
        </p:txBody>
      </p:sp>
      <p:sp>
        <p:nvSpPr>
          <p:cNvPr id="32" name="Text 29"/>
          <p:cNvSpPr txBox="1"/>
          <p:nvPr/>
        </p:nvSpPr>
        <p:spPr>
          <a:xfrm>
            <a:off x="3910889" y="5157216"/>
            <a:ext cx="2578608" cy="530352"/>
          </a:xfrm>
          <a:prstGeom prst="rect">
            <a:avLst/>
          </a:prstGeom>
          <a:noFill/>
          <a:ln/>
        </p:spPr>
        <p:txBody>
          <a:bodyPr wrap="square" lIns="0" tIns="0" rIns="0" bIns="0" rtlCol="0" anchor="ctr"/>
          <a:lstStyle/>
          <a:p>
            <a:pPr marL="0" indent="0">
              <a:buNone/>
            </a:pPr>
            <a:r>
              <a:rPr lang="en-US" sz="1400" b="1" dirty="0">
                <a:solidFill>
                  <a:srgbClr val="FFFFFF"/>
                </a:solidFill>
                <a:latin typeface="Pretendard" pitchFamily="34" charset="0"/>
                <a:ea typeface="Pretendard" pitchFamily="34" charset="-122"/>
                <a:cs typeface="Pretendard" pitchFamily="34" charset="-120"/>
              </a:rPr>
              <a:t>3개 이상</a:t>
            </a:r>
            <a:endParaRPr lang="en-US" sz="1400" dirty="0"/>
          </a:p>
          <a:p>
            <a:pPr marL="0" indent="0">
              <a:buNone/>
            </a:pPr>
            <a:r>
              <a:rPr lang="en-US" sz="1400" dirty="0">
                <a:solidFill>
                  <a:srgbClr val="D9E3F5"/>
                </a:solidFill>
                <a:latin typeface="Pretendard" pitchFamily="34" charset="0"/>
                <a:ea typeface="Pretendard" pitchFamily="34" charset="-122"/>
                <a:cs typeface="Pretendard" pitchFamily="34" charset="-120"/>
              </a:rPr>
              <a:t>노드 타입(중간 노드)</a:t>
            </a:r>
            <a:endParaRPr lang="en-US" sz="1400" dirty="0"/>
          </a:p>
        </p:txBody>
      </p:sp>
      <p:sp>
        <p:nvSpPr>
          <p:cNvPr id="33" name="Shape 30"/>
          <p:cNvSpPr/>
          <p:nvPr/>
        </p:nvSpPr>
        <p:spPr>
          <a:xfrm>
            <a:off x="509321" y="5797296"/>
            <a:ext cx="6035040" cy="585216"/>
          </a:xfrm>
          <a:prstGeom prst="roundRect">
            <a:avLst>
              <a:gd name="adj" fmla="val 12500"/>
            </a:avLst>
          </a:prstGeom>
          <a:solidFill>
            <a:srgbClr val="EEF3FA"/>
          </a:solidFill>
          <a:ln w="12700">
            <a:solidFill>
              <a:srgbClr val="2E74C6"/>
            </a:solidFill>
            <a:prstDash val="solid"/>
          </a:ln>
        </p:spPr>
        <p:txBody>
          <a:bodyPr/>
          <a:lstStyle/>
          <a:p>
            <a:endParaRPr lang="ko-KR" altLang="en-US"/>
          </a:p>
        </p:txBody>
      </p:sp>
      <p:sp>
        <p:nvSpPr>
          <p:cNvPr id="34" name="Text 31"/>
          <p:cNvSpPr txBox="1"/>
          <p:nvPr/>
        </p:nvSpPr>
        <p:spPr>
          <a:xfrm>
            <a:off x="646481" y="5797296"/>
            <a:ext cx="57607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왜 Q1이 먼저? FK 수만 보면 이체 기록(FK 2개)이 관계로 흡수돼 이체 자체를 찾을 수 없음 (예 ①)</a:t>
            </a:r>
            <a:endParaRPr lang="en-US" sz="1400" dirty="0"/>
          </a:p>
        </p:txBody>
      </p:sp>
      <p:sp>
        <p:nvSpPr>
          <p:cNvPr id="35" name="Shape 32"/>
          <p:cNvSpPr/>
          <p:nvPr/>
        </p:nvSpPr>
        <p:spPr>
          <a:xfrm>
            <a:off x="6818681" y="1755648"/>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36" name="Shape 33"/>
          <p:cNvSpPr/>
          <p:nvPr/>
        </p:nvSpPr>
        <p:spPr>
          <a:xfrm>
            <a:off x="6910121" y="1847088"/>
            <a:ext cx="329184" cy="329184"/>
          </a:xfrm>
          <a:prstGeom prst="roundRect">
            <a:avLst>
              <a:gd name="adj" fmla="val 45000"/>
            </a:avLst>
          </a:prstGeom>
          <a:solidFill>
            <a:srgbClr val="2E74C6"/>
          </a:solidFill>
          <a:ln/>
        </p:spPr>
        <p:txBody>
          <a:bodyPr/>
          <a:lstStyle/>
          <a:p>
            <a:endParaRPr lang="ko-KR" altLang="en-US"/>
          </a:p>
        </p:txBody>
      </p:sp>
      <p:sp>
        <p:nvSpPr>
          <p:cNvPr id="37" name="Text 34"/>
          <p:cNvSpPr txBox="1"/>
          <p:nvPr/>
        </p:nvSpPr>
        <p:spPr>
          <a:xfrm>
            <a:off x="6910121" y="184708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a:t>
            </a:r>
            <a:endParaRPr lang="en-US" sz="1500" dirty="0"/>
          </a:p>
        </p:txBody>
      </p:sp>
      <p:sp>
        <p:nvSpPr>
          <p:cNvPr id="38" name="Shape 35"/>
          <p:cNvSpPr/>
          <p:nvPr/>
        </p:nvSpPr>
        <p:spPr>
          <a:xfrm>
            <a:off x="7321601" y="1865376"/>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39" name="Text 36"/>
          <p:cNvSpPr txBox="1"/>
          <p:nvPr/>
        </p:nvSpPr>
        <p:spPr>
          <a:xfrm>
            <a:off x="7367321" y="1865376"/>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이체(출금계좌FK, 입금계좌FK,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금액, 일시)</a:t>
            </a:r>
            <a:endParaRPr lang="en-US" sz="1400" dirty="0"/>
          </a:p>
        </p:txBody>
      </p:sp>
      <p:sp>
        <p:nvSpPr>
          <p:cNvPr id="40" name="Shape 37"/>
          <p:cNvSpPr/>
          <p:nvPr/>
        </p:nvSpPr>
        <p:spPr>
          <a:xfrm>
            <a:off x="9699041" y="2295144"/>
            <a:ext cx="228600" cy="0"/>
          </a:xfrm>
          <a:prstGeom prst="line">
            <a:avLst/>
          </a:prstGeom>
          <a:noFill/>
          <a:ln w="22225">
            <a:solidFill>
              <a:srgbClr val="4A5364"/>
            </a:solidFill>
            <a:prstDash val="solid"/>
            <a:tailEnd type="triangle"/>
          </a:ln>
        </p:spPr>
        <p:txBody>
          <a:bodyPr/>
          <a:lstStyle/>
          <a:p>
            <a:endParaRPr lang="ko-KR" altLang="en-US"/>
          </a:p>
        </p:txBody>
      </p:sp>
      <p:sp>
        <p:nvSpPr>
          <p:cNvPr id="41" name="Shape 38"/>
          <p:cNvSpPr/>
          <p:nvPr/>
        </p:nvSpPr>
        <p:spPr>
          <a:xfrm>
            <a:off x="1001908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2" name="Text 39"/>
          <p:cNvSpPr txBox="1"/>
          <p:nvPr/>
        </p:nvSpPr>
        <p:spPr>
          <a:xfrm>
            <a:off x="1001908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3" name="Shape 40"/>
          <p:cNvSpPr/>
          <p:nvPr/>
        </p:nvSpPr>
        <p:spPr>
          <a:xfrm>
            <a:off x="11550701" y="2084832"/>
            <a:ext cx="960120" cy="384048"/>
          </a:xfrm>
          <a:prstGeom prst="roundRect">
            <a:avLst>
              <a:gd name="adj" fmla="val 28571"/>
            </a:avLst>
          </a:prstGeom>
          <a:solidFill>
            <a:srgbClr val="1E2A5C"/>
          </a:solidFill>
          <a:ln/>
        </p:spPr>
        <p:txBody>
          <a:bodyPr/>
          <a:lstStyle/>
          <a:p>
            <a:endParaRPr lang="ko-KR" altLang="en-US"/>
          </a:p>
        </p:txBody>
      </p:sp>
      <p:sp>
        <p:nvSpPr>
          <p:cNvPr id="44" name="Text 41"/>
          <p:cNvSpPr txBox="1"/>
          <p:nvPr/>
        </p:nvSpPr>
        <p:spPr>
          <a:xfrm>
            <a:off x="1155070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:이체</a:t>
            </a:r>
            <a:endParaRPr lang="en-US" sz="1400" dirty="0"/>
          </a:p>
        </p:txBody>
      </p:sp>
      <p:sp>
        <p:nvSpPr>
          <p:cNvPr id="45" name="Shape 42"/>
          <p:cNvSpPr/>
          <p:nvPr/>
        </p:nvSpPr>
        <p:spPr>
          <a:xfrm>
            <a:off x="1308232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6" name="Text 43"/>
          <p:cNvSpPr txBox="1"/>
          <p:nvPr/>
        </p:nvSpPr>
        <p:spPr>
          <a:xfrm>
            <a:off x="1308232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7" name="Shape 44"/>
          <p:cNvSpPr/>
          <p:nvPr/>
        </p:nvSpPr>
        <p:spPr>
          <a:xfrm>
            <a:off x="1100663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48" name="Text 45"/>
          <p:cNvSpPr txBox="1"/>
          <p:nvPr/>
        </p:nvSpPr>
        <p:spPr>
          <a:xfrm>
            <a:off x="1088776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:출금</a:t>
            </a:r>
            <a:endParaRPr lang="en-US" sz="1400" dirty="0"/>
          </a:p>
        </p:txBody>
      </p:sp>
      <p:sp>
        <p:nvSpPr>
          <p:cNvPr id="49" name="Shape 46"/>
          <p:cNvSpPr/>
          <p:nvPr/>
        </p:nvSpPr>
        <p:spPr>
          <a:xfrm>
            <a:off x="1253825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50" name="Text 47"/>
          <p:cNvSpPr txBox="1"/>
          <p:nvPr/>
        </p:nvSpPr>
        <p:spPr>
          <a:xfrm>
            <a:off x="1241938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:입금</a:t>
            </a:r>
            <a:endParaRPr lang="en-US" sz="1400" dirty="0"/>
          </a:p>
        </p:txBody>
      </p:sp>
      <p:sp>
        <p:nvSpPr>
          <p:cNvPr id="51" name="Text 48"/>
          <p:cNvSpPr txBox="1"/>
          <p:nvPr/>
        </p:nvSpPr>
        <p:spPr>
          <a:xfrm>
            <a:off x="9973361" y="2487168"/>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조회 대상 → 노드 타입(FK가 2개여도)</a:t>
            </a:r>
            <a:endParaRPr lang="en-US" sz="1400" dirty="0"/>
          </a:p>
        </p:txBody>
      </p:sp>
      <p:sp>
        <p:nvSpPr>
          <p:cNvPr id="52" name="Shape 49"/>
          <p:cNvSpPr/>
          <p:nvPr/>
        </p:nvSpPr>
        <p:spPr>
          <a:xfrm>
            <a:off x="6818681" y="2907792"/>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3" name="Shape 50"/>
          <p:cNvSpPr/>
          <p:nvPr/>
        </p:nvSpPr>
        <p:spPr>
          <a:xfrm>
            <a:off x="6910121" y="2999232"/>
            <a:ext cx="329184"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6910121" y="299923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55" name="Shape 52"/>
          <p:cNvSpPr/>
          <p:nvPr/>
        </p:nvSpPr>
        <p:spPr>
          <a:xfrm>
            <a:off x="7321601" y="3017520"/>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56" name="Text 53"/>
          <p:cNvSpPr txBox="1"/>
          <p:nvPr/>
        </p:nvSpPr>
        <p:spPr>
          <a:xfrm>
            <a:off x="7367321" y="3017520"/>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사용자, 역할,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사용자역할(사용자FK, 역할FK)</a:t>
            </a:r>
            <a:endParaRPr lang="en-US" sz="1400" dirty="0"/>
          </a:p>
        </p:txBody>
      </p:sp>
      <p:sp>
        <p:nvSpPr>
          <p:cNvPr id="57" name="Shape 54"/>
          <p:cNvSpPr/>
          <p:nvPr/>
        </p:nvSpPr>
        <p:spPr>
          <a:xfrm>
            <a:off x="9699041" y="3447288"/>
            <a:ext cx="228600" cy="0"/>
          </a:xfrm>
          <a:prstGeom prst="line">
            <a:avLst/>
          </a:prstGeom>
          <a:noFill/>
          <a:ln w="22225">
            <a:solidFill>
              <a:srgbClr val="4A5364"/>
            </a:solidFill>
            <a:prstDash val="solid"/>
            <a:tailEnd type="triangle"/>
          </a:ln>
        </p:spPr>
        <p:txBody>
          <a:bodyPr/>
          <a:lstStyle/>
          <a:p>
            <a:endParaRPr lang="ko-KR" altLang="en-US"/>
          </a:p>
        </p:txBody>
      </p:sp>
      <p:sp>
        <p:nvSpPr>
          <p:cNvPr id="58" name="Shape 55"/>
          <p:cNvSpPr/>
          <p:nvPr/>
        </p:nvSpPr>
        <p:spPr>
          <a:xfrm>
            <a:off x="1001908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59" name="Text 56"/>
          <p:cNvSpPr txBox="1"/>
          <p:nvPr/>
        </p:nvSpPr>
        <p:spPr>
          <a:xfrm>
            <a:off x="1001908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:사용자</a:t>
            </a:r>
            <a:endParaRPr lang="en-US" sz="1400" dirty="0"/>
          </a:p>
        </p:txBody>
      </p:sp>
      <p:sp>
        <p:nvSpPr>
          <p:cNvPr id="60" name="Shape 57"/>
          <p:cNvSpPr/>
          <p:nvPr/>
        </p:nvSpPr>
        <p:spPr>
          <a:xfrm>
            <a:off x="1312804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61" name="Text 58"/>
          <p:cNvSpPr txBox="1"/>
          <p:nvPr/>
        </p:nvSpPr>
        <p:spPr>
          <a:xfrm>
            <a:off x="1312804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:역할</a:t>
            </a:r>
            <a:endParaRPr lang="en-US" sz="1400" dirty="0"/>
          </a:p>
        </p:txBody>
      </p:sp>
      <p:sp>
        <p:nvSpPr>
          <p:cNvPr id="62" name="Shape 59"/>
          <p:cNvSpPr/>
          <p:nvPr/>
        </p:nvSpPr>
        <p:spPr>
          <a:xfrm>
            <a:off x="10960913" y="3429000"/>
            <a:ext cx="2139696" cy="0"/>
          </a:xfrm>
          <a:prstGeom prst="line">
            <a:avLst/>
          </a:prstGeom>
          <a:noFill/>
          <a:ln w="22225">
            <a:solidFill>
              <a:srgbClr val="1E2A5C"/>
            </a:solidFill>
            <a:prstDash val="solid"/>
            <a:tailEnd type="triangle"/>
          </a:ln>
        </p:spPr>
        <p:txBody>
          <a:bodyPr/>
          <a:lstStyle/>
          <a:p>
            <a:endParaRPr lang="ko-KR" altLang="en-US"/>
          </a:p>
        </p:txBody>
      </p:sp>
      <p:sp>
        <p:nvSpPr>
          <p:cNvPr id="63" name="Text 60"/>
          <p:cNvSpPr txBox="1"/>
          <p:nvPr/>
        </p:nvSpPr>
        <p:spPr>
          <a:xfrm>
            <a:off x="10842041" y="3127248"/>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:맡음</a:t>
            </a:r>
            <a:endParaRPr lang="en-US" sz="1400" dirty="0"/>
          </a:p>
        </p:txBody>
      </p:sp>
      <p:sp>
        <p:nvSpPr>
          <p:cNvPr id="64" name="Text 61"/>
          <p:cNvSpPr txBox="1"/>
          <p:nvPr/>
        </p:nvSpPr>
        <p:spPr>
          <a:xfrm>
            <a:off x="9973361" y="3639312"/>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열 없음 → 관계로 흡수(사용자역할 노드 없음)</a:t>
            </a:r>
            <a:endParaRPr lang="en-US" sz="1400" dirty="0"/>
          </a:p>
        </p:txBody>
      </p:sp>
      <p:sp>
        <p:nvSpPr>
          <p:cNvPr id="65" name="Shape 62"/>
          <p:cNvSpPr/>
          <p:nvPr/>
        </p:nvSpPr>
        <p:spPr>
          <a:xfrm>
            <a:off x="6818681" y="4059936"/>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66" name="Shape 63"/>
          <p:cNvSpPr/>
          <p:nvPr/>
        </p:nvSpPr>
        <p:spPr>
          <a:xfrm>
            <a:off x="6910121" y="4151376"/>
            <a:ext cx="329184" cy="329184"/>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6910121" y="415137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68" name="Shape 65"/>
          <p:cNvSpPr/>
          <p:nvPr/>
        </p:nvSpPr>
        <p:spPr>
          <a:xfrm>
            <a:off x="7321601" y="4169664"/>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69" name="Text 66"/>
          <p:cNvSpPr txBox="1"/>
          <p:nvPr/>
        </p:nvSpPr>
        <p:spPr>
          <a:xfrm>
            <a:off x="7367321" y="4169664"/>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주문상품(주문FK, 상품FK,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수량, 단가)</a:t>
            </a:r>
            <a:endParaRPr lang="en-US" sz="1400" dirty="0"/>
          </a:p>
        </p:txBody>
      </p:sp>
      <p:sp>
        <p:nvSpPr>
          <p:cNvPr id="70" name="Shape 67"/>
          <p:cNvSpPr/>
          <p:nvPr/>
        </p:nvSpPr>
        <p:spPr>
          <a:xfrm>
            <a:off x="9699041" y="4599432"/>
            <a:ext cx="228600" cy="0"/>
          </a:xfrm>
          <a:prstGeom prst="line">
            <a:avLst/>
          </a:prstGeom>
          <a:noFill/>
          <a:ln w="22225">
            <a:solidFill>
              <a:srgbClr val="4A5364"/>
            </a:solidFill>
            <a:prstDash val="solid"/>
            <a:tailEnd type="triangle"/>
          </a:ln>
        </p:spPr>
        <p:txBody>
          <a:bodyPr/>
          <a:lstStyle/>
          <a:p>
            <a:endParaRPr lang="ko-KR" altLang="en-US"/>
          </a:p>
        </p:txBody>
      </p:sp>
      <p:sp>
        <p:nvSpPr>
          <p:cNvPr id="71" name="Shape 68"/>
          <p:cNvSpPr/>
          <p:nvPr/>
        </p:nvSpPr>
        <p:spPr>
          <a:xfrm>
            <a:off x="1001908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2" name="Text 69"/>
          <p:cNvSpPr txBox="1"/>
          <p:nvPr/>
        </p:nvSpPr>
        <p:spPr>
          <a:xfrm>
            <a:off x="1001908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:주문</a:t>
            </a:r>
            <a:endParaRPr lang="en-US" sz="1400" dirty="0"/>
          </a:p>
        </p:txBody>
      </p:sp>
      <p:sp>
        <p:nvSpPr>
          <p:cNvPr id="73" name="Shape 70"/>
          <p:cNvSpPr/>
          <p:nvPr/>
        </p:nvSpPr>
        <p:spPr>
          <a:xfrm>
            <a:off x="1312804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4" name="Text 71"/>
          <p:cNvSpPr txBox="1"/>
          <p:nvPr/>
        </p:nvSpPr>
        <p:spPr>
          <a:xfrm>
            <a:off x="1312804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:상품</a:t>
            </a:r>
            <a:endParaRPr lang="en-US" sz="1400" dirty="0"/>
          </a:p>
        </p:txBody>
      </p:sp>
      <p:sp>
        <p:nvSpPr>
          <p:cNvPr id="75" name="Shape 72"/>
          <p:cNvSpPr/>
          <p:nvPr/>
        </p:nvSpPr>
        <p:spPr>
          <a:xfrm>
            <a:off x="10960913" y="4581144"/>
            <a:ext cx="2139696" cy="0"/>
          </a:xfrm>
          <a:prstGeom prst="line">
            <a:avLst/>
          </a:prstGeom>
          <a:noFill/>
          <a:ln w="22225">
            <a:solidFill>
              <a:srgbClr val="1E2A5C"/>
            </a:solidFill>
            <a:prstDash val="solid"/>
            <a:tailEnd type="triangle"/>
          </a:ln>
        </p:spPr>
        <p:txBody>
          <a:bodyPr/>
          <a:lstStyle/>
          <a:p>
            <a:endParaRPr lang="ko-KR" altLang="en-US"/>
          </a:p>
        </p:txBody>
      </p:sp>
      <p:sp>
        <p:nvSpPr>
          <p:cNvPr id="76" name="Text 73"/>
          <p:cNvSpPr txBox="1"/>
          <p:nvPr/>
        </p:nvSpPr>
        <p:spPr>
          <a:xfrm>
            <a:off x="10842041" y="4279392"/>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:포함 {수량, 단가}</a:t>
            </a:r>
            <a:endParaRPr lang="en-US" sz="1400" dirty="0"/>
          </a:p>
        </p:txBody>
      </p:sp>
      <p:sp>
        <p:nvSpPr>
          <p:cNvPr id="77" name="Text 74"/>
          <p:cNvSpPr txBox="1"/>
          <p:nvPr/>
        </p:nvSpPr>
        <p:spPr>
          <a:xfrm>
            <a:off x="9973361" y="4791456"/>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속성 → 관계 속성(판매 집계가 잦으면 노드)</a:t>
            </a:r>
            <a:endParaRPr lang="en-US" sz="1400" dirty="0"/>
          </a:p>
        </p:txBody>
      </p:sp>
      <p:sp>
        <p:nvSpPr>
          <p:cNvPr id="78" name="Shape 75"/>
          <p:cNvSpPr/>
          <p:nvPr/>
        </p:nvSpPr>
        <p:spPr>
          <a:xfrm>
            <a:off x="6818681" y="5212080"/>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79" name="Shape 76"/>
          <p:cNvSpPr/>
          <p:nvPr/>
        </p:nvSpPr>
        <p:spPr>
          <a:xfrm>
            <a:off x="6910121" y="5303520"/>
            <a:ext cx="329184" cy="329184"/>
          </a:xfrm>
          <a:prstGeom prst="roundRect">
            <a:avLst>
              <a:gd name="adj" fmla="val 45000"/>
            </a:avLst>
          </a:prstGeom>
          <a:solidFill>
            <a:srgbClr val="2E74C6"/>
          </a:solidFill>
          <a:ln/>
        </p:spPr>
        <p:txBody>
          <a:bodyPr/>
          <a:lstStyle/>
          <a:p>
            <a:endParaRPr lang="ko-KR" altLang="en-US"/>
          </a:p>
        </p:txBody>
      </p:sp>
      <p:sp>
        <p:nvSpPr>
          <p:cNvPr id="80" name="Text 77"/>
          <p:cNvSpPr txBox="1"/>
          <p:nvPr/>
        </p:nvSpPr>
        <p:spPr>
          <a:xfrm>
            <a:off x="6910121" y="53035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④</a:t>
            </a:r>
            <a:endParaRPr lang="en-US" sz="1500" dirty="0"/>
          </a:p>
        </p:txBody>
      </p:sp>
      <p:sp>
        <p:nvSpPr>
          <p:cNvPr id="81" name="Shape 78"/>
          <p:cNvSpPr/>
          <p:nvPr/>
        </p:nvSpPr>
        <p:spPr>
          <a:xfrm>
            <a:off x="7321601" y="5321808"/>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82" name="Text 79"/>
          <p:cNvSpPr txBox="1"/>
          <p:nvPr/>
        </p:nvSpPr>
        <p:spPr>
          <a:xfrm>
            <a:off x="7367321" y="5321808"/>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수강신청(학생FK, 과목FK,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학기FK)</a:t>
            </a:r>
            <a:endParaRPr lang="en-US" sz="1400" dirty="0"/>
          </a:p>
        </p:txBody>
      </p:sp>
      <p:sp>
        <p:nvSpPr>
          <p:cNvPr id="83" name="Shape 80"/>
          <p:cNvSpPr/>
          <p:nvPr/>
        </p:nvSpPr>
        <p:spPr>
          <a:xfrm>
            <a:off x="9699041" y="5751576"/>
            <a:ext cx="228600" cy="0"/>
          </a:xfrm>
          <a:prstGeom prst="line">
            <a:avLst/>
          </a:prstGeom>
          <a:noFill/>
          <a:ln w="22225">
            <a:solidFill>
              <a:srgbClr val="4A5364"/>
            </a:solidFill>
            <a:prstDash val="solid"/>
            <a:tailEnd type="triangle"/>
          </a:ln>
        </p:spPr>
        <p:txBody>
          <a:bodyPr/>
          <a:lstStyle/>
          <a:p>
            <a:endParaRPr lang="ko-KR" altLang="en-US"/>
          </a:p>
        </p:txBody>
      </p:sp>
      <p:sp>
        <p:nvSpPr>
          <p:cNvPr id="84" name="Shape 81"/>
          <p:cNvSpPr/>
          <p:nvPr/>
        </p:nvSpPr>
        <p:spPr>
          <a:xfrm>
            <a:off x="1001908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5" name="Text 82"/>
          <p:cNvSpPr txBox="1"/>
          <p:nvPr/>
        </p:nvSpPr>
        <p:spPr>
          <a:xfrm>
            <a:off x="1001908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:학생</a:t>
            </a:r>
            <a:endParaRPr lang="en-US" sz="1400" dirty="0"/>
          </a:p>
        </p:txBody>
      </p:sp>
      <p:sp>
        <p:nvSpPr>
          <p:cNvPr id="86" name="Shape 83"/>
          <p:cNvSpPr/>
          <p:nvPr/>
        </p:nvSpPr>
        <p:spPr>
          <a:xfrm>
            <a:off x="11550701" y="5541264"/>
            <a:ext cx="960120" cy="384048"/>
          </a:xfrm>
          <a:prstGeom prst="roundRect">
            <a:avLst>
              <a:gd name="adj" fmla="val 28571"/>
            </a:avLst>
          </a:prstGeom>
          <a:solidFill>
            <a:srgbClr val="1E2A5C"/>
          </a:solidFill>
          <a:ln/>
        </p:spPr>
        <p:txBody>
          <a:bodyPr/>
          <a:lstStyle/>
          <a:p>
            <a:endParaRPr lang="ko-KR" altLang="en-US"/>
          </a:p>
        </p:txBody>
      </p:sp>
      <p:sp>
        <p:nvSpPr>
          <p:cNvPr id="87" name="Text 84"/>
          <p:cNvSpPr txBox="1"/>
          <p:nvPr/>
        </p:nvSpPr>
        <p:spPr>
          <a:xfrm>
            <a:off x="1155070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:수강신청</a:t>
            </a:r>
            <a:endParaRPr lang="en-US" sz="1400" dirty="0"/>
          </a:p>
        </p:txBody>
      </p:sp>
      <p:sp>
        <p:nvSpPr>
          <p:cNvPr id="88" name="Shape 85"/>
          <p:cNvSpPr/>
          <p:nvPr/>
        </p:nvSpPr>
        <p:spPr>
          <a:xfrm>
            <a:off x="1308232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9" name="Text 86"/>
          <p:cNvSpPr txBox="1"/>
          <p:nvPr/>
        </p:nvSpPr>
        <p:spPr>
          <a:xfrm>
            <a:off x="1308232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:과목</a:t>
            </a:r>
            <a:endParaRPr lang="en-US" sz="1400" dirty="0"/>
          </a:p>
        </p:txBody>
      </p:sp>
      <p:sp>
        <p:nvSpPr>
          <p:cNvPr id="90" name="Shape 87"/>
          <p:cNvSpPr/>
          <p:nvPr/>
        </p:nvSpPr>
        <p:spPr>
          <a:xfrm>
            <a:off x="1100663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1" name="Text 88"/>
          <p:cNvSpPr txBox="1"/>
          <p:nvPr/>
        </p:nvSpPr>
        <p:spPr>
          <a:xfrm>
            <a:off x="1088776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:신청</a:t>
            </a:r>
            <a:endParaRPr lang="en-US" sz="1400" dirty="0"/>
          </a:p>
        </p:txBody>
      </p:sp>
      <p:sp>
        <p:nvSpPr>
          <p:cNvPr id="92" name="Shape 89"/>
          <p:cNvSpPr/>
          <p:nvPr/>
        </p:nvSpPr>
        <p:spPr>
          <a:xfrm>
            <a:off x="1253825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3" name="Text 90"/>
          <p:cNvSpPr txBox="1"/>
          <p:nvPr/>
        </p:nvSpPr>
        <p:spPr>
          <a:xfrm>
            <a:off x="1241938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:대상</a:t>
            </a:r>
            <a:endParaRPr lang="en-US" sz="1400" dirty="0"/>
          </a:p>
        </p:txBody>
      </p:sp>
      <p:sp>
        <p:nvSpPr>
          <p:cNvPr id="94" name="Text 91"/>
          <p:cNvSpPr txBox="1"/>
          <p:nvPr/>
        </p:nvSpPr>
        <p:spPr>
          <a:xfrm>
            <a:off x="9973361" y="5943600"/>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FK 3개 → 중간 노드(학기도 같은 방식), 홉 +1</a:t>
            </a:r>
            <a:endParaRPr lang="en-US" sz="1400" dirty="0"/>
          </a:p>
        </p:txBody>
      </p:sp>
      <p:sp>
        <p:nvSpPr>
          <p:cNvPr id="95" name="Shape 92"/>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96" name="Shape 93"/>
          <p:cNvSpPr/>
          <p:nvPr/>
        </p:nvSpPr>
        <p:spPr>
          <a:xfrm>
            <a:off x="509321" y="6492240"/>
            <a:ext cx="82296" cy="731520"/>
          </a:xfrm>
          <a:prstGeom prst="rect">
            <a:avLst/>
          </a:prstGeom>
          <a:solidFill>
            <a:srgbClr val="2E74C6"/>
          </a:solidFill>
          <a:ln/>
        </p:spPr>
        <p:txBody>
          <a:bodyPr/>
          <a:lstStyle/>
          <a:p>
            <a:endParaRPr lang="ko-KR" altLang="en-US"/>
          </a:p>
        </p:txBody>
      </p:sp>
      <p:sp>
        <p:nvSpPr>
          <p:cNvPr id="97" name="Text 94"/>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Neo4j 공식 변환 규칙과 같음: 테이블 → 라벨 , FK → 관계 , 조인 테이블 → 관계 또는 관계 + 속성,  셋 이상 → 중간 노드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이름에 공백 없음(Neo4j 권고: 라벨은 PascalCase, 관계는 대문자_밑줄). 정형에서 나온 타입은 LLM 추출 비용이 들지 않음</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프롬프트로 정형 테이블의 </a:t>
            </a:r>
            <a:r>
              <a:rPr lang="en-US" sz="3200" b="1" dirty="0" err="1">
                <a:solidFill>
                  <a:srgbClr val="2C2926"/>
                </a:solidFill>
                <a:latin typeface="Pretendard" pitchFamily="34" charset="0"/>
                <a:ea typeface="Pretendard" pitchFamily="34" charset="-122"/>
                <a:cs typeface="Pretendard" pitchFamily="34" charset="-120"/>
              </a:rPr>
              <a:t>스키마</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후보 </a:t>
            </a:r>
            <a:r>
              <a:rPr lang="en-US" sz="3200" b="1" dirty="0" err="1">
                <a:solidFill>
                  <a:srgbClr val="2C2926"/>
                </a:solidFill>
                <a:latin typeface="Pretendard" pitchFamily="34" charset="0"/>
                <a:ea typeface="Pretendard" pitchFamily="34" charset="-122"/>
                <a:cs typeface="Pretendard" pitchFamily="34" charset="-120"/>
              </a:rPr>
              <a:t>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변환 규칙을 프롬프트에 담아 바이브 코딩 도구에 맡김 — AI는 읽고 판정하고 그리며, 사람은 세 번 답하고 승인함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lang="ko-KR" altLang="en-US"/>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lang="ko-KR" altLang="en-US"/>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lang="ko-KR" altLang="en-US"/>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lang="ko-KR" altLang="en-US"/>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1755648"/>
            <a:ext cx="1163320" cy="640080"/>
          </a:xfrm>
          <a:prstGeom prst="roundRect">
            <a:avLst>
              <a:gd name="adj" fmla="val 11429"/>
            </a:avLst>
          </a:prstGeom>
          <a:solidFill>
            <a:srgbClr val="2E74C6"/>
          </a:solidFill>
          <a:ln/>
        </p:spPr>
        <p:txBody>
          <a:bodyPr/>
          <a:lstStyle/>
          <a:p>
            <a:endParaRPr lang="ko-KR" altLang="en-US"/>
          </a:p>
        </p:txBody>
      </p:sp>
      <p:sp>
        <p:nvSpPr>
          <p:cNvPr id="12" name="Text 9"/>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33917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5" name="Text 12"/>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DB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카탈로그 읽기</a:t>
            </a:r>
            <a:endParaRPr lang="en-US" sz="1400" dirty="0"/>
          </a:p>
        </p:txBody>
      </p:sp>
      <p:sp>
        <p:nvSpPr>
          <p:cNvPr id="16" name="Shape 13"/>
          <p:cNvSpPr/>
          <p:nvPr/>
        </p:nvSpPr>
        <p:spPr>
          <a:xfrm>
            <a:off x="47379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8" name="Text 15"/>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규칙 판정</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(②③④)</a:t>
            </a:r>
            <a:endParaRPr lang="en-US" sz="1400" dirty="0"/>
          </a:p>
        </p:txBody>
      </p:sp>
      <p:sp>
        <p:nvSpPr>
          <p:cNvPr id="19" name="Shape 16"/>
          <p:cNvSpPr/>
          <p:nvPr/>
        </p:nvSpPr>
        <p:spPr>
          <a:xfrm flipV="1">
            <a:off x="6084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0" name="Shape 17"/>
          <p:cNvSpPr/>
          <p:nvPr/>
        </p:nvSpPr>
        <p:spPr>
          <a:xfrm>
            <a:off x="6239561" y="1755648"/>
            <a:ext cx="1163320" cy="640080"/>
          </a:xfrm>
          <a:prstGeom prst="roundRect">
            <a:avLst>
              <a:gd name="adj" fmla="val 11429"/>
            </a:avLst>
          </a:prstGeom>
          <a:solidFill>
            <a:srgbClr val="2E74C6"/>
          </a:solidFill>
          <a:ln/>
        </p:spPr>
        <p:txBody>
          <a:bodyPr/>
          <a:lstStyle/>
          <a:p>
            <a:endParaRPr lang="ko-KR" altLang="en-US"/>
          </a:p>
        </p:txBody>
      </p:sp>
      <p:sp>
        <p:nvSpPr>
          <p:cNvPr id="21" name="Text 18"/>
          <p:cNvSpPr txBox="1"/>
          <p:nvPr/>
        </p:nvSpPr>
        <p:spPr>
          <a:xfrm>
            <a:off x="62395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 규칙 ①과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이름 답</a:t>
            </a:r>
            <a:endParaRPr lang="en-US" sz="1400" dirty="0"/>
          </a:p>
        </p:txBody>
      </p:sp>
      <p:sp>
        <p:nvSpPr>
          <p:cNvPr id="22" name="Shape 19"/>
          <p:cNvSpPr/>
          <p:nvPr/>
        </p:nvSpPr>
        <p:spPr>
          <a:xfrm>
            <a:off x="74303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3" name="Shape 20"/>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4" name="Text 21"/>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25" name="Shape 22"/>
          <p:cNvSpPr/>
          <p:nvPr/>
        </p:nvSpPr>
        <p:spPr>
          <a:xfrm>
            <a:off x="87765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6" name="Shape 23"/>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7" name="Text 24"/>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28" name="Shape 25"/>
          <p:cNvSpPr/>
          <p:nvPr/>
        </p:nvSpPr>
        <p:spPr>
          <a:xfrm>
            <a:off x="101227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9" name="Shape 26"/>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0" name="Text 27"/>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Mermaid</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그림</a:t>
            </a:r>
            <a:endParaRPr lang="en-US" sz="1400" dirty="0"/>
          </a:p>
        </p:txBody>
      </p:sp>
      <p:sp>
        <p:nvSpPr>
          <p:cNvPr id="31" name="Shape 28"/>
          <p:cNvSpPr/>
          <p:nvPr/>
        </p:nvSpPr>
        <p:spPr>
          <a:xfrm flipV="1">
            <a:off x="114689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2" name="Shape 29"/>
          <p:cNvSpPr/>
          <p:nvPr/>
        </p:nvSpPr>
        <p:spPr>
          <a:xfrm>
            <a:off x="11624361" y="1755648"/>
            <a:ext cx="1163320" cy="640080"/>
          </a:xfrm>
          <a:prstGeom prst="roundRect">
            <a:avLst>
              <a:gd name="adj" fmla="val 11429"/>
            </a:avLst>
          </a:prstGeom>
          <a:solidFill>
            <a:srgbClr val="2E74C6"/>
          </a:solidFill>
          <a:ln/>
        </p:spPr>
        <p:txBody>
          <a:bodyPr/>
          <a:lstStyle/>
          <a:p>
            <a:endParaRPr lang="ko-KR" altLang="en-US"/>
          </a:p>
        </p:txBody>
      </p:sp>
      <p:sp>
        <p:nvSpPr>
          <p:cNvPr id="33" name="Text 30"/>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8. 검증과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34" name="Shape 31"/>
          <p:cNvSpPr/>
          <p:nvPr/>
        </p:nvSpPr>
        <p:spPr>
          <a:xfrm>
            <a:off x="12815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5" name="Shape 32"/>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6" name="Text 33"/>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37" name="Shape 34"/>
          <p:cNvSpPr/>
          <p:nvPr/>
        </p:nvSpPr>
        <p:spPr>
          <a:xfrm>
            <a:off x="12206021" y="2414016"/>
            <a:ext cx="0" cy="1078992"/>
          </a:xfrm>
          <a:prstGeom prst="line">
            <a:avLst/>
          </a:prstGeom>
          <a:noFill/>
          <a:ln w="19050">
            <a:solidFill>
              <a:srgbClr val="2E74C6"/>
            </a:solidFill>
            <a:prstDash val="dash"/>
            <a:tailEnd type="none"/>
          </a:ln>
        </p:spPr>
        <p:txBody>
          <a:bodyPr/>
          <a:lstStyle/>
          <a:p>
            <a:endParaRPr lang="ko-KR" altLang="en-US"/>
          </a:p>
        </p:txBody>
      </p:sp>
      <p:sp>
        <p:nvSpPr>
          <p:cNvPr id="38" name="Shape 35"/>
          <p:cNvSpPr/>
          <p:nvPr/>
        </p:nvSpPr>
        <p:spPr>
          <a:xfrm>
            <a:off x="8167421" y="3493008"/>
            <a:ext cx="4038600" cy="0"/>
          </a:xfrm>
          <a:prstGeom prst="line">
            <a:avLst/>
          </a:prstGeom>
          <a:noFill/>
          <a:ln w="19050">
            <a:solidFill>
              <a:srgbClr val="2E74C6"/>
            </a:solidFill>
            <a:prstDash val="dash"/>
          </a:ln>
        </p:spPr>
        <p:txBody>
          <a:bodyPr/>
          <a:lstStyle/>
          <a:p>
            <a:endParaRPr lang="ko-KR" altLang="en-US"/>
          </a:p>
        </p:txBody>
      </p:sp>
      <p:sp>
        <p:nvSpPr>
          <p:cNvPr id="39" name="Shape 36"/>
          <p:cNvSpPr/>
          <p:nvPr/>
        </p:nvSpPr>
        <p:spPr>
          <a:xfrm flipV="1">
            <a:off x="8167421" y="3328416"/>
            <a:ext cx="0" cy="164592"/>
          </a:xfrm>
          <a:prstGeom prst="line">
            <a:avLst/>
          </a:prstGeom>
          <a:noFill/>
          <a:ln w="19050">
            <a:solidFill>
              <a:srgbClr val="2E74C6"/>
            </a:solidFill>
            <a:prstDash val="dash"/>
            <a:tailEnd type="triangle"/>
          </a:ln>
        </p:spPr>
        <p:txBody>
          <a:bodyPr/>
          <a:lstStyle/>
          <a:p>
            <a:endParaRPr lang="ko-KR" altLang="en-US"/>
          </a:p>
        </p:txBody>
      </p:sp>
      <p:sp>
        <p:nvSpPr>
          <p:cNvPr id="40" name="Text 37"/>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수정 요청 시 5단계부터 다시(최대 5회)</a:t>
            </a:r>
            <a:endParaRPr lang="en-US" sz="1400" dirty="0"/>
          </a:p>
        </p:txBody>
      </p:sp>
      <p:sp>
        <p:nvSpPr>
          <p:cNvPr id="41" name="Shape 38"/>
          <p:cNvSpPr/>
          <p:nvPr/>
        </p:nvSpPr>
        <p:spPr>
          <a:xfrm>
            <a:off x="509321" y="3858768"/>
            <a:ext cx="4343400" cy="365760"/>
          </a:xfrm>
          <a:prstGeom prst="roundRect">
            <a:avLst>
              <a:gd name="adj" fmla="val 12500"/>
            </a:avLst>
          </a:prstGeom>
          <a:solidFill>
            <a:srgbClr val="2E74C6"/>
          </a:solidFill>
          <a:ln/>
        </p:spPr>
        <p:txBody>
          <a:bodyPr/>
          <a:lstStyle/>
          <a:p>
            <a:endParaRPr lang="ko-KR" altLang="en-US"/>
          </a:p>
        </p:txBody>
      </p:sp>
      <p:sp>
        <p:nvSpPr>
          <p:cNvPr id="42" name="Text 39"/>
          <p:cNvSpPr txBox="1"/>
          <p:nvPr/>
        </p:nvSpPr>
        <p:spPr>
          <a:xfrm>
            <a:off x="509321" y="3858768"/>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답하는 곳 3번</a:t>
            </a:r>
            <a:endParaRPr lang="en-US" sz="1600" dirty="0"/>
          </a:p>
        </p:txBody>
      </p:sp>
      <p:sp>
        <p:nvSpPr>
          <p:cNvPr id="43" name="Shape 40"/>
          <p:cNvSpPr/>
          <p:nvPr/>
        </p:nvSpPr>
        <p:spPr>
          <a:xfrm>
            <a:off x="509321" y="4297680"/>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4416552"/>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441655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46" name="Text 43"/>
          <p:cNvSpPr txBox="1"/>
          <p:nvPr/>
        </p:nvSpPr>
        <p:spPr>
          <a:xfrm>
            <a:off x="1057961" y="4297680"/>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출력 폴더와 DB 접속 정보</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비밀번호는 .env에 직접 등록</a:t>
            </a:r>
            <a:endParaRPr lang="en-US" sz="1400" dirty="0"/>
          </a:p>
        </p:txBody>
      </p:sp>
      <p:sp>
        <p:nvSpPr>
          <p:cNvPr id="47" name="Shape 44"/>
          <p:cNvSpPr/>
          <p:nvPr/>
        </p:nvSpPr>
        <p:spPr>
          <a:xfrm>
            <a:off x="509321" y="4946904"/>
            <a:ext cx="4343400" cy="804672"/>
          </a:xfrm>
          <a:prstGeom prst="roundRect">
            <a:avLst>
              <a:gd name="adj" fmla="val 6818"/>
            </a:avLst>
          </a:prstGeom>
          <a:solidFill>
            <a:srgbClr val="EEF3FA"/>
          </a:solidFill>
          <a:ln w="12700">
            <a:solidFill>
              <a:srgbClr val="2E74C6"/>
            </a:solidFill>
            <a:prstDash val="solid"/>
          </a:ln>
        </p:spPr>
        <p:txBody>
          <a:bodyPr/>
          <a:lstStyle/>
          <a:p>
            <a:endParaRPr lang="ko-KR" altLang="en-US"/>
          </a:p>
        </p:txBody>
      </p:sp>
      <p:sp>
        <p:nvSpPr>
          <p:cNvPr id="48" name="Shape 45"/>
          <p:cNvSpPr/>
          <p:nvPr/>
        </p:nvSpPr>
        <p:spPr>
          <a:xfrm>
            <a:off x="600761" y="5175504"/>
            <a:ext cx="347472" cy="347472"/>
          </a:xfrm>
          <a:prstGeom prst="roundRect">
            <a:avLst>
              <a:gd name="adj" fmla="val 13158"/>
            </a:avLst>
          </a:prstGeom>
          <a:solidFill>
            <a:srgbClr val="2E74C6"/>
          </a:solidFill>
          <a:ln/>
        </p:spPr>
        <p:txBody>
          <a:bodyPr/>
          <a:lstStyle/>
          <a:p>
            <a:endParaRPr lang="ko-KR" altLang="en-US"/>
          </a:p>
        </p:txBody>
      </p:sp>
      <p:sp>
        <p:nvSpPr>
          <p:cNvPr id="49" name="Text 46"/>
          <p:cNvSpPr txBox="1"/>
          <p:nvPr/>
        </p:nvSpPr>
        <p:spPr>
          <a:xfrm>
            <a:off x="600761" y="517550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0" name="Text 47"/>
          <p:cNvSpPr txBox="1"/>
          <p:nvPr/>
        </p:nvSpPr>
        <p:spPr>
          <a:xfrm>
            <a:off x="1057961" y="4946904"/>
            <a:ext cx="3703320" cy="80467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규칙 ① 후보(FK 2개 + 업무 열)를 노드 타입</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또는 관계 + 관계 속성으로 정함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뺄 테이블, 이름 후보 승인</a:t>
            </a:r>
            <a:endParaRPr lang="en-US" sz="1400" dirty="0"/>
          </a:p>
        </p:txBody>
      </p:sp>
      <p:sp>
        <p:nvSpPr>
          <p:cNvPr id="51" name="Shape 48"/>
          <p:cNvSpPr/>
          <p:nvPr/>
        </p:nvSpPr>
        <p:spPr>
          <a:xfrm>
            <a:off x="509321" y="5815584"/>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52" name="Shape 49"/>
          <p:cNvSpPr/>
          <p:nvPr/>
        </p:nvSpPr>
        <p:spPr>
          <a:xfrm>
            <a:off x="600761" y="5934456"/>
            <a:ext cx="347472" cy="347472"/>
          </a:xfrm>
          <a:prstGeom prst="roundRect">
            <a:avLst>
              <a:gd name="adj" fmla="val 13158"/>
            </a:avLst>
          </a:prstGeom>
          <a:solidFill>
            <a:srgbClr val="2E74C6"/>
          </a:solidFill>
          <a:ln/>
        </p:spPr>
        <p:txBody>
          <a:bodyPr/>
          <a:lstStyle/>
          <a:p>
            <a:endParaRPr lang="ko-KR" altLang="en-US"/>
          </a:p>
        </p:txBody>
      </p:sp>
      <p:sp>
        <p:nvSpPr>
          <p:cNvPr id="53" name="Text 50"/>
          <p:cNvSpPr txBox="1"/>
          <p:nvPr/>
        </p:nvSpPr>
        <p:spPr>
          <a:xfrm>
            <a:off x="600761" y="593445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8</a:t>
            </a:r>
            <a:endParaRPr lang="en-US" sz="1600" dirty="0"/>
          </a:p>
        </p:txBody>
      </p:sp>
      <p:sp>
        <p:nvSpPr>
          <p:cNvPr id="54" name="Text 51"/>
          <p:cNvSpPr txBox="1"/>
          <p:nvPr/>
        </p:nvSpPr>
        <p:spPr>
          <a:xfrm>
            <a:off x="1057961" y="5815584"/>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Mermaid 그림과 판정표를 보고 승인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(승인자와 일시를 기록)</a:t>
            </a:r>
            <a:endParaRPr lang="en-US" sz="1400" dirty="0"/>
          </a:p>
        </p:txBody>
      </p:sp>
      <p:sp>
        <p:nvSpPr>
          <p:cNvPr id="55" name="Shape 52"/>
          <p:cNvSpPr/>
          <p:nvPr/>
        </p:nvSpPr>
        <p:spPr>
          <a:xfrm>
            <a:off x="5081321" y="3858768"/>
            <a:ext cx="4572000" cy="365760"/>
          </a:xfrm>
          <a:prstGeom prst="roundRect">
            <a:avLst>
              <a:gd name="adj" fmla="val 12500"/>
            </a:avLst>
          </a:prstGeom>
          <a:solidFill>
            <a:srgbClr val="1E2A5C"/>
          </a:solidFill>
          <a:ln/>
        </p:spPr>
        <p:txBody>
          <a:bodyPr/>
          <a:lstStyle/>
          <a:p>
            <a:endParaRPr lang="ko-KR" altLang="en-US"/>
          </a:p>
        </p:txBody>
      </p:sp>
      <p:sp>
        <p:nvSpPr>
          <p:cNvPr id="56" name="Text 53"/>
          <p:cNvSpPr txBox="1"/>
          <p:nvPr/>
        </p:nvSpPr>
        <p:spPr>
          <a:xfrm>
            <a:off x="5081321" y="3858768"/>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57" name="Shape 54"/>
          <p:cNvSpPr/>
          <p:nvPr/>
        </p:nvSpPr>
        <p:spPr>
          <a:xfrm>
            <a:off x="5081321" y="4297680"/>
            <a:ext cx="457200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58" name="Text 55"/>
          <p:cNvSpPr txBox="1"/>
          <p:nvPr/>
        </p:nvSpPr>
        <p:spPr>
          <a:xfrm>
            <a:off x="5264201" y="4352544"/>
            <a:ext cx="4297680" cy="1993392"/>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FK 개수는 열 수가 아니라 제약 수로 셈</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DB는 읽기 전용, 비밀번호는 .env에만 둠</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라벨은 영문, 한글 이름은 description에 넣음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그림은 Mermaid만 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규칙 ① 판정과 이름은 추측해 확정하지 않음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표시가 남으면 스키마 파일을 만들지 않음</a:t>
            </a:r>
            <a:endParaRPr lang="en-US" sz="1400" dirty="0"/>
          </a:p>
        </p:txBody>
      </p:sp>
      <p:sp>
        <p:nvSpPr>
          <p:cNvPr id="59" name="Shape 56"/>
          <p:cNvSpPr/>
          <p:nvPr/>
        </p:nvSpPr>
        <p:spPr>
          <a:xfrm>
            <a:off x="9881921" y="3858768"/>
            <a:ext cx="4251960" cy="365760"/>
          </a:xfrm>
          <a:prstGeom prst="roundRect">
            <a:avLst>
              <a:gd name="adj" fmla="val 12500"/>
            </a:avLst>
          </a:prstGeom>
          <a:solidFill>
            <a:srgbClr val="404155"/>
          </a:solidFill>
          <a:ln/>
        </p:spPr>
        <p:txBody>
          <a:bodyPr/>
          <a:lstStyle/>
          <a:p>
            <a:endParaRPr lang="ko-KR" altLang="en-US"/>
          </a:p>
        </p:txBody>
      </p:sp>
      <p:sp>
        <p:nvSpPr>
          <p:cNvPr id="60" name="Text 57"/>
          <p:cNvSpPr txBox="1"/>
          <p:nvPr/>
        </p:nvSpPr>
        <p:spPr>
          <a:xfrm>
            <a:off x="9881921"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승인 화면 예 (Mermaid 그림)</a:t>
            </a:r>
            <a:endParaRPr lang="en-US" sz="1600" dirty="0"/>
          </a:p>
        </p:txBody>
      </p:sp>
      <p:sp>
        <p:nvSpPr>
          <p:cNvPr id="61" name="Shape 58"/>
          <p:cNvSpPr/>
          <p:nvPr/>
        </p:nvSpPr>
        <p:spPr>
          <a:xfrm>
            <a:off x="9881921" y="4297680"/>
            <a:ext cx="425196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62" name="Shape 59"/>
          <p:cNvSpPr/>
          <p:nvPr/>
        </p:nvSpPr>
        <p:spPr>
          <a:xfrm>
            <a:off x="1001908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3" name="Shape 60"/>
          <p:cNvSpPr/>
          <p:nvPr/>
        </p:nvSpPr>
        <p:spPr>
          <a:xfrm>
            <a:off x="10092233" y="4553712"/>
            <a:ext cx="1271016" cy="329184"/>
          </a:xfrm>
          <a:prstGeom prst="roundRect">
            <a:avLst>
              <a:gd name="adj" fmla="val 13889"/>
            </a:avLst>
          </a:prstGeom>
          <a:solidFill>
            <a:srgbClr val="1E2A5C"/>
          </a:solidFill>
          <a:ln/>
        </p:spPr>
        <p:txBody>
          <a:bodyPr/>
          <a:lstStyle/>
          <a:p>
            <a:endParaRPr lang="ko-KR" altLang="en-US"/>
          </a:p>
        </p:txBody>
      </p:sp>
      <p:sp>
        <p:nvSpPr>
          <p:cNvPr id="64" name="Text 61"/>
          <p:cNvSpPr txBox="1"/>
          <p:nvPr/>
        </p:nvSpPr>
        <p:spPr>
          <a:xfrm>
            <a:off x="1009223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:Member</a:t>
            </a:r>
            <a:endParaRPr lang="en-US" sz="1400" dirty="0"/>
          </a:p>
        </p:txBody>
      </p:sp>
      <p:sp>
        <p:nvSpPr>
          <p:cNvPr id="65" name="Text 62"/>
          <p:cNvSpPr txBox="1"/>
          <p:nvPr/>
        </p:nvSpPr>
        <p:spPr>
          <a:xfrm>
            <a:off x="1009223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(회원)</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member_id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age_band</a:t>
            </a:r>
            <a:endParaRPr lang="en-US" sz="1400" dirty="0"/>
          </a:p>
        </p:txBody>
      </p:sp>
      <p:sp>
        <p:nvSpPr>
          <p:cNvPr id="66" name="Shape 63"/>
          <p:cNvSpPr/>
          <p:nvPr/>
        </p:nvSpPr>
        <p:spPr>
          <a:xfrm>
            <a:off x="1257940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7" name="Shape 64"/>
          <p:cNvSpPr/>
          <p:nvPr/>
        </p:nvSpPr>
        <p:spPr>
          <a:xfrm>
            <a:off x="12652553" y="4553712"/>
            <a:ext cx="1271016" cy="329184"/>
          </a:xfrm>
          <a:prstGeom prst="roundRect">
            <a:avLst>
              <a:gd name="adj" fmla="val 13889"/>
            </a:avLst>
          </a:prstGeom>
          <a:solidFill>
            <a:srgbClr val="1E2A5C"/>
          </a:solidFill>
          <a:ln/>
        </p:spPr>
        <p:txBody>
          <a:bodyPr/>
          <a:lstStyle/>
          <a:p>
            <a:endParaRPr lang="ko-KR" altLang="en-US"/>
          </a:p>
        </p:txBody>
      </p:sp>
      <p:sp>
        <p:nvSpPr>
          <p:cNvPr id="68" name="Text 65"/>
          <p:cNvSpPr txBox="1"/>
          <p:nvPr/>
        </p:nvSpPr>
        <p:spPr>
          <a:xfrm>
            <a:off x="1265255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a:t>
            </a:r>
            <a:endParaRPr lang="en-US" sz="1400" dirty="0"/>
          </a:p>
        </p:txBody>
      </p:sp>
      <p:sp>
        <p:nvSpPr>
          <p:cNvPr id="69" name="Text 66"/>
          <p:cNvSpPr txBox="1"/>
          <p:nvPr/>
        </p:nvSpPr>
        <p:spPr>
          <a:xfrm>
            <a:off x="1265255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(카드)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card_id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status</a:t>
            </a:r>
            <a:endParaRPr lang="en-US" sz="1400" dirty="0"/>
          </a:p>
        </p:txBody>
      </p:sp>
      <p:sp>
        <p:nvSpPr>
          <p:cNvPr id="70" name="Shape 67"/>
          <p:cNvSpPr/>
          <p:nvPr/>
        </p:nvSpPr>
        <p:spPr>
          <a:xfrm>
            <a:off x="11472977" y="5143500"/>
            <a:ext cx="1069848" cy="0"/>
          </a:xfrm>
          <a:prstGeom prst="line">
            <a:avLst/>
          </a:prstGeom>
          <a:noFill/>
          <a:ln w="25400">
            <a:solidFill>
              <a:srgbClr val="1E2A5C"/>
            </a:solidFill>
            <a:prstDash val="solid"/>
            <a:tailEnd type="triangle"/>
          </a:ln>
        </p:spPr>
        <p:txBody>
          <a:bodyPr/>
          <a:lstStyle/>
          <a:p>
            <a:endParaRPr lang="ko-KR" altLang="en-US"/>
          </a:p>
        </p:txBody>
      </p:sp>
      <p:sp>
        <p:nvSpPr>
          <p:cNvPr id="71" name="Text 68"/>
          <p:cNvSpPr txBox="1"/>
          <p:nvPr/>
        </p:nvSpPr>
        <p:spPr>
          <a:xfrm>
            <a:off x="11436401" y="4814316"/>
            <a:ext cx="114300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HAS_CARD</a:t>
            </a:r>
            <a:endParaRPr lang="en-US" sz="1400" dirty="0"/>
          </a:p>
        </p:txBody>
      </p:sp>
      <p:sp>
        <p:nvSpPr>
          <p:cNvPr id="72" name="Text 69"/>
          <p:cNvSpPr txBox="1"/>
          <p:nvPr/>
        </p:nvSpPr>
        <p:spPr>
          <a:xfrm>
            <a:off x="11436401" y="5198364"/>
            <a:ext cx="11430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(보유함)</a:t>
            </a:r>
            <a:endParaRPr lang="en-US" sz="1400" dirty="0"/>
          </a:p>
        </p:txBody>
      </p:sp>
      <p:sp>
        <p:nvSpPr>
          <p:cNvPr id="73" name="Text 70"/>
          <p:cNvSpPr txBox="1"/>
          <p:nvPr/>
        </p:nvSpPr>
        <p:spPr>
          <a:xfrm>
            <a:off x="10019081" y="5897880"/>
            <a:ext cx="3977640" cy="448056"/>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영문 라벨 아래에 한글 이름을 함께 적어</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검토하는 사람이 바로 읽게 함</a:t>
            </a:r>
            <a:endParaRPr lang="en-US" sz="1400" dirty="0"/>
          </a:p>
        </p:txBody>
      </p:sp>
      <p:sp>
        <p:nvSpPr>
          <p:cNvPr id="74" name="Shape 71"/>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lang="ko-KR" altLang="en-US"/>
          </a:p>
        </p:txBody>
      </p:sp>
      <p:sp>
        <p:nvSpPr>
          <p:cNvPr id="75" name="Shape 72"/>
          <p:cNvSpPr/>
          <p:nvPr/>
        </p:nvSpPr>
        <p:spPr>
          <a:xfrm>
            <a:off x="509321" y="6510528"/>
            <a:ext cx="82296" cy="694944"/>
          </a:xfrm>
          <a:prstGeom prst="rect">
            <a:avLst/>
          </a:prstGeom>
          <a:solidFill>
            <a:srgbClr val="2E74C6"/>
          </a:solidFill>
          <a:ln/>
        </p:spPr>
        <p:txBody>
          <a:bodyPr/>
          <a:lstStyle/>
          <a:p>
            <a:endParaRPr lang="ko-KR" altLang="en-US"/>
          </a:p>
        </p:txBody>
      </p:sp>
      <p:sp>
        <p:nvSpPr>
          <p:cNvPr id="76" name="Text 73"/>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graph_schema.json(승인본)과 approval.json(승인자, 승인 일시, 입력 파일 SHA-256). 인덱싱은 이 파일을 읽기만 함</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GraphSchema 검증, 저장, 다시 읽기는 Neo4j 서버 없이 됨(실행 확인)</a:t>
            </a:r>
            <a:endParaRPr lang="en-US" sz="1500" dirty="0"/>
          </a:p>
        </p:txBody>
      </p:sp>
      <p:sp>
        <p:nvSpPr>
          <p:cNvPr id="77" name="Text 74"/>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DB 카탈로그를 읽을 스키마는 원본 테이블이 있는 스키마로 지정하고, 서비스용 뷰(View)가 정의된 스키마(예: app)는 쓰지 않음</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a:t>
            </a:r>
            <a:r>
              <a:rPr lang="ko-KR" altLang="en-US" dirty="0">
                <a:solidFill>
                  <a:srgbClr val="2C2926"/>
                </a:solidFill>
                <a:latin typeface="Pretendard" pitchFamily="34" charset="0"/>
                <a:ea typeface="Pretendard" pitchFamily="34" charset="-122"/>
                <a:cs typeface="Pretendard" pitchFamily="34" charset="-120"/>
              </a:rPr>
              <a:t>비정형</a:t>
            </a:r>
            <a:r>
              <a:rPr lang="en-US" sz="3200" b="1" dirty="0">
                <a:solidFill>
                  <a:srgbClr val="2C2926"/>
                </a:solidFill>
                <a:latin typeface="Pretendard" pitchFamily="34" charset="0"/>
                <a:ea typeface="Pretendard" pitchFamily="34" charset="-122"/>
                <a:cs typeface="Pretendard" pitchFamily="34" charset="-120"/>
              </a:rPr>
              <a:t> 문서 → </a:t>
            </a:r>
            <a:r>
              <a:rPr lang="ko-KR" altLang="en-US" sz="3200" b="1" dirty="0">
                <a:solidFill>
                  <a:srgbClr val="2C2926"/>
                </a:solidFill>
                <a:latin typeface="Pretendard" pitchFamily="34" charset="0"/>
                <a:ea typeface="Pretendard" pitchFamily="34" charset="-122"/>
                <a:cs typeface="Pretendard" pitchFamily="34" charset="-120"/>
              </a:rPr>
              <a:t>스키마 설계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방안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ko-KR" altLang="en-US" sz="1800" dirty="0">
                <a:solidFill>
                  <a:srgbClr val="000000"/>
                </a:solidFill>
                <a:latin typeface="Pretendard SemiBold" pitchFamily="34" charset="0"/>
                <a:ea typeface="Pretendard SemiBold" pitchFamily="34" charset="-122"/>
                <a:cs typeface="Pretendard SemiBold" pitchFamily="34" charset="-120"/>
              </a:rPr>
              <a:t>역량 질문</a:t>
            </a:r>
            <a:r>
              <a:rPr lang="en-US" altLang="ko-KR" sz="1800" dirty="0">
                <a:solidFill>
                  <a:srgbClr val="000000"/>
                </a:solidFill>
                <a:latin typeface="Pretendard SemiBold" pitchFamily="34" charset="0"/>
                <a:ea typeface="Pretendard SemiBold" pitchFamily="34" charset="-122"/>
                <a:cs typeface="Pretendard SemiBold" pitchFamily="34" charset="-120"/>
              </a:rPr>
              <a:t>(KG</a:t>
            </a:r>
            <a:r>
              <a:rPr lang="ko-KR" altLang="en-US" sz="1800" dirty="0">
                <a:solidFill>
                  <a:srgbClr val="000000"/>
                </a:solidFill>
                <a:latin typeface="Pretendard SemiBold" pitchFamily="34" charset="0"/>
                <a:ea typeface="Pretendard SemiBold" pitchFamily="34" charset="-122"/>
                <a:cs typeface="Pretendard SemiBold" pitchFamily="34" charset="-120"/>
              </a:rPr>
              <a:t>가 답해야 할 질문</a:t>
            </a:r>
            <a:r>
              <a:rPr lang="en-US" altLang="ko-KR" sz="1800" dirty="0">
                <a:solidFill>
                  <a:srgbClr val="000000"/>
                </a:solidFill>
                <a:latin typeface="Pretendard SemiBold" pitchFamily="34" charset="0"/>
                <a:ea typeface="Pretendard SemiBold" pitchFamily="34" charset="-122"/>
                <a:cs typeface="Pretendard SemiBold" pitchFamily="34" charset="-120"/>
              </a:rPr>
              <a:t>)</a:t>
            </a:r>
            <a:r>
              <a:rPr lang="ko-KR" altLang="en-US" dirty="0">
                <a:solidFill>
                  <a:srgbClr val="000000"/>
                </a:solidFill>
                <a:latin typeface="Pretendard SemiBold" pitchFamily="34" charset="0"/>
                <a:ea typeface="Pretendard SemiBold" pitchFamily="34" charset="-122"/>
                <a:cs typeface="Pretendard SemiBold" pitchFamily="34" charset="-120"/>
              </a:rPr>
              <a:t>을 주고</a:t>
            </a:r>
            <a:r>
              <a:rPr lang="ko-KR" alt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a:solidFill>
                  <a:srgbClr val="000000"/>
                </a:solidFill>
                <a:latin typeface="Pretendard SemiBold" pitchFamily="34" charset="0"/>
                <a:ea typeface="Pretendard SemiBold" pitchFamily="34" charset="-122"/>
                <a:cs typeface="Pretendard SemiBold" pitchFamily="34" charset="-120"/>
              </a:rPr>
              <a:t>LLM</a:t>
            </a:r>
            <a:r>
              <a:rPr lang="ko-KR" altLang="en-US" sz="1800" dirty="0">
                <a:solidFill>
                  <a:srgbClr val="000000"/>
                </a:solidFill>
                <a:latin typeface="Pretendard SemiBold" pitchFamily="34" charset="0"/>
                <a:ea typeface="Pretendard SemiBold" pitchFamily="34" charset="-122"/>
                <a:cs typeface="Pretendard SemiBold" pitchFamily="34" charset="-120"/>
              </a:rPr>
              <a:t>으로</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스키마 </a:t>
            </a:r>
            <a:r>
              <a:rPr lang="en-US" sz="1800" dirty="0" err="1">
                <a:solidFill>
                  <a:srgbClr val="000000"/>
                </a:solidFill>
                <a:latin typeface="Pretendard SemiBold" pitchFamily="34" charset="0"/>
                <a:ea typeface="Pretendard SemiBold" pitchFamily="34" charset="-122"/>
                <a:cs typeface="Pretendard SemiBold" pitchFamily="34" charset="-120"/>
              </a:rPr>
              <a:t>후보</a:t>
            </a:r>
            <a:r>
              <a:rPr lang="ko-KR" altLang="en-US" sz="1800" dirty="0">
                <a:solidFill>
                  <a:srgbClr val="000000"/>
                </a:solidFill>
                <a:latin typeface="Pretendard SemiBold" pitchFamily="34" charset="0"/>
                <a:ea typeface="Pretendard SemiBold" pitchFamily="34" charset="-122"/>
                <a:cs typeface="Pretendard SemiBold" pitchFamily="34" charset="-120"/>
              </a:rPr>
              <a:t>를</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넓게 </a:t>
            </a:r>
            <a:r>
              <a:rPr lang="en-US" sz="1800" dirty="0">
                <a:solidFill>
                  <a:srgbClr val="000000"/>
                </a:solidFill>
                <a:latin typeface="Pretendard SemiBold" pitchFamily="34" charset="0"/>
                <a:ea typeface="Pretendard SemiBold" pitchFamily="34" charset="-122"/>
                <a:cs typeface="Pretendard SemiBold" pitchFamily="34" charset="-120"/>
              </a:rPr>
              <a:t>뽑</a:t>
            </a:r>
            <a:r>
              <a:rPr lang="ko-KR" altLang="en-US" sz="1800" dirty="0">
                <a:solidFill>
                  <a:srgbClr val="000000"/>
                </a:solidFill>
                <a:latin typeface="Pretendard SemiBold" pitchFamily="34" charset="0"/>
                <a:ea typeface="Pretendard SemiBold" pitchFamily="34" charset="-122"/>
                <a:cs typeface="Pretendard SemiBold" pitchFamily="34" charset="-120"/>
              </a:rPr>
              <a:t>은 뒤</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사람이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확정</a:t>
            </a:r>
            <a:r>
              <a:rPr lang="ko-KR" altLang="en-US" sz="1800" dirty="0">
                <a:solidFill>
                  <a:srgbClr val="000000"/>
                </a:solidFill>
                <a:latin typeface="Pretendard SemiBold" pitchFamily="34" charset="0"/>
                <a:ea typeface="Pretendard SemiBold" pitchFamily="34" charset="-122"/>
                <a:cs typeface="Pretendard SemiBold" pitchFamily="34" charset="-120"/>
              </a:rPr>
              <a:t>하고</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표본 문서로 </a:t>
            </a:r>
            <a:r>
              <a:rPr lang="en-US" sz="1800" dirty="0" err="1">
                <a:solidFill>
                  <a:srgbClr val="000000"/>
                </a:solidFill>
                <a:latin typeface="Pretendard SemiBold" pitchFamily="34" charset="0"/>
                <a:ea typeface="Pretendard SemiBold" pitchFamily="34" charset="-122"/>
                <a:cs typeface="Pretendard SemiBold" pitchFamily="34" charset="-120"/>
              </a:rPr>
              <a:t>추출해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검증</a:t>
            </a:r>
            <a:r>
              <a:rPr lang="ko-KR" altLang="en-US" sz="1800" dirty="0">
                <a:solidFill>
                  <a:srgbClr val="000000"/>
                </a:solidFill>
                <a:latin typeface="Pretendard SemiBold" pitchFamily="34" charset="0"/>
                <a:ea typeface="Pretendard SemiBold" pitchFamily="34" charset="-122"/>
                <a:cs typeface="Pretendard SemiBold" pitchFamily="34" charset="-120"/>
              </a:rPr>
              <a:t>하여</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GraphSchema로</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고정</a:t>
            </a:r>
            <a:r>
              <a:rPr lang="ko-KR" altLang="en-US" sz="1800" dirty="0">
                <a:solidFill>
                  <a:srgbClr val="000000"/>
                </a:solidFill>
                <a:latin typeface="Pretendard SemiBold" pitchFamily="34" charset="0"/>
                <a:ea typeface="Pretendard SemiBold" pitchFamily="34" charset="-122"/>
                <a:cs typeface="Pretendard SemiBold" pitchFamily="34" charset="-120"/>
              </a:rPr>
              <a:t>함</a:t>
            </a:r>
            <a:endParaRPr lang="en-US" sz="1800" dirty="0"/>
          </a:p>
        </p:txBody>
      </p:sp>
      <p:sp>
        <p:nvSpPr>
          <p:cNvPr id="5" name="Shape 2"/>
          <p:cNvSpPr/>
          <p:nvPr/>
        </p:nvSpPr>
        <p:spPr>
          <a:xfrm>
            <a:off x="509321" y="1737360"/>
            <a:ext cx="2505456" cy="566928"/>
          </a:xfrm>
          <a:prstGeom prst="roundRect">
            <a:avLst>
              <a:gd name="adj" fmla="val 12903"/>
            </a:avLst>
          </a:prstGeom>
          <a:solidFill>
            <a:srgbClr val="2E74C6"/>
          </a:solidFill>
          <a:ln/>
        </p:spPr>
        <p:txBody>
          <a:bodyPr/>
          <a:lstStyle/>
          <a:p>
            <a:endParaRPr lang="ko-KR" altLang="en-US"/>
          </a:p>
        </p:txBody>
      </p:sp>
      <p:sp>
        <p:nvSpPr>
          <p:cNvPr id="6" name="Text 3"/>
          <p:cNvSpPr txBox="1"/>
          <p:nvPr/>
        </p:nvSpPr>
        <p:spPr>
          <a:xfrm>
            <a:off x="509321"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역량 질문 정하기</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a:t>
            </a:r>
            <a:r>
              <a:rPr lang="en-US" altLang="ko-KR" sz="1500" b="1" dirty="0">
                <a:solidFill>
                  <a:srgbClr val="FFFFFF"/>
                </a:solidFill>
                <a:latin typeface="Pretendard" pitchFamily="34" charset="0"/>
                <a:ea typeface="Pretendard" pitchFamily="34" charset="-122"/>
                <a:cs typeface="Pretendard" pitchFamily="34" charset="-120"/>
              </a:rPr>
              <a:t>+</a:t>
            </a:r>
            <a:r>
              <a:rPr lang="ko-KR" altLang="en-US" sz="1500" b="1" dirty="0">
                <a:solidFill>
                  <a:srgbClr val="FFFFFF"/>
                </a:solidFill>
                <a:latin typeface="Pretendard" pitchFamily="34" charset="0"/>
                <a:ea typeface="Pretendard" pitchFamily="34" charset="-122"/>
                <a:cs typeface="Pretendard" pitchFamily="34" charset="-120"/>
              </a:rPr>
              <a:t>사람확정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7" name="Shape 4"/>
          <p:cNvSpPr/>
          <p:nvPr/>
        </p:nvSpPr>
        <p:spPr>
          <a:xfrm>
            <a:off x="3042209" y="2020824"/>
            <a:ext cx="219456" cy="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3289097"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3289097"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② </a:t>
            </a:r>
            <a:r>
              <a:rPr lang="ko-KR" altLang="en-US" sz="1500" b="1" dirty="0">
                <a:solidFill>
                  <a:srgbClr val="1E2A5C"/>
                </a:solidFill>
                <a:latin typeface="Pretendard" pitchFamily="34" charset="0"/>
                <a:ea typeface="Pretendard" pitchFamily="34" charset="-122"/>
                <a:cs typeface="Pretendard" pitchFamily="34" charset="-120"/>
              </a:rPr>
              <a:t>스키마 후보 넓게 </a:t>
            </a:r>
            <a:r>
              <a:rPr lang="en-US" sz="1500" b="1" dirty="0" err="1">
                <a:solidFill>
                  <a:srgbClr val="1E2A5C"/>
                </a:solidFill>
                <a:latin typeface="Pretendard" pitchFamily="34" charset="0"/>
                <a:ea typeface="Pretendard" pitchFamily="34" charset="-122"/>
                <a:cs typeface="Pretendard" pitchFamily="34" charset="-120"/>
              </a:rPr>
              <a:t>뽑기</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a:t>
            </a:r>
            <a:endParaRPr lang="en-US" sz="1500" dirty="0"/>
          </a:p>
        </p:txBody>
      </p:sp>
      <p:sp>
        <p:nvSpPr>
          <p:cNvPr id="10" name="Shape 7"/>
          <p:cNvSpPr/>
          <p:nvPr/>
        </p:nvSpPr>
        <p:spPr>
          <a:xfrm>
            <a:off x="5821985"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1" name="Shape 8"/>
          <p:cNvSpPr/>
          <p:nvPr/>
        </p:nvSpPr>
        <p:spPr>
          <a:xfrm>
            <a:off x="6068873" y="1737360"/>
            <a:ext cx="2505456" cy="566928"/>
          </a:xfrm>
          <a:prstGeom prst="roundRect">
            <a:avLst>
              <a:gd name="adj" fmla="val 12903"/>
            </a:avLst>
          </a:prstGeom>
          <a:solidFill>
            <a:srgbClr val="2E74C6"/>
          </a:solidFill>
          <a:ln/>
        </p:spPr>
        <p:txBody>
          <a:bodyPr/>
          <a:lstStyle/>
          <a:p>
            <a:endParaRPr lang="ko-KR" altLang="en-US"/>
          </a:p>
        </p:txBody>
      </p:sp>
      <p:sp>
        <p:nvSpPr>
          <p:cNvPr id="12" name="Text 9"/>
          <p:cNvSpPr txBox="1"/>
          <p:nvPr/>
        </p:nvSpPr>
        <p:spPr>
          <a:xfrm>
            <a:off x="6068873"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a:t>
            </a:r>
            <a:r>
              <a:rPr lang="ko-KR" altLang="en-US" sz="1500" b="1" dirty="0">
                <a:solidFill>
                  <a:srgbClr val="FFFFFF"/>
                </a:solidFill>
                <a:latin typeface="Pretendard" pitchFamily="34" charset="0"/>
                <a:ea typeface="Pretendard" pitchFamily="34" charset="-122"/>
                <a:cs typeface="Pretendard" pitchFamily="34" charset="-120"/>
              </a:rPr>
              <a:t>스키마 후보</a:t>
            </a:r>
            <a:r>
              <a:rPr lang="en-US" sz="1500" b="1" dirty="0">
                <a:solidFill>
                  <a:srgbClr val="FFFFFF"/>
                </a:solidFill>
                <a:latin typeface="Pretendard" pitchFamily="34" charset="0"/>
                <a:ea typeface="Pretendard" pitchFamily="34" charset="-122"/>
                <a:cs typeface="Pretendard" pitchFamily="34" charset="-120"/>
              </a:rPr>
              <a:t>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 </a:t>
            </a:r>
            <a:r>
              <a:rPr lang="en-US" altLang="ko-KR"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사람</a:t>
            </a:r>
            <a:r>
              <a:rPr lang="ko-KR" altLang="en-US" sz="1500" b="1" dirty="0">
                <a:solidFill>
                  <a:srgbClr val="FFFFFF"/>
                </a:solidFill>
                <a:latin typeface="Pretendard" pitchFamily="34" charset="0"/>
                <a:ea typeface="Pretendard" pitchFamily="34" charset="-122"/>
                <a:cs typeface="Pretendard" pitchFamily="34" charset="-120"/>
              </a:rPr>
              <a:t>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3" name="Shape 10"/>
          <p:cNvSpPr/>
          <p:nvPr/>
        </p:nvSpPr>
        <p:spPr>
          <a:xfrm>
            <a:off x="8601761"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8848649"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15" name="Text 12"/>
          <p:cNvSpPr txBox="1"/>
          <p:nvPr/>
        </p:nvSpPr>
        <p:spPr>
          <a:xfrm>
            <a:off x="8848649"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 채우기 시험</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 + </a:t>
            </a:r>
            <a:r>
              <a:rPr lang="en-US" sz="1500" b="1" dirty="0" err="1">
                <a:solidFill>
                  <a:srgbClr val="1E2A5C"/>
                </a:solidFill>
                <a:latin typeface="Pretendard" pitchFamily="34" charset="0"/>
                <a:ea typeface="Pretendard" pitchFamily="34" charset="-122"/>
                <a:cs typeface="Pretendard" pitchFamily="34" charset="-120"/>
              </a:rPr>
              <a:t>사람</a:t>
            </a: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16" name="Shape 13"/>
          <p:cNvSpPr/>
          <p:nvPr/>
        </p:nvSpPr>
        <p:spPr>
          <a:xfrm>
            <a:off x="11381537"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11628425" y="1737360"/>
            <a:ext cx="2505456" cy="566928"/>
          </a:xfrm>
          <a:prstGeom prst="roundRect">
            <a:avLst>
              <a:gd name="adj" fmla="val 12903"/>
            </a:avLst>
          </a:prstGeom>
          <a:solidFill>
            <a:srgbClr val="1E2A5C"/>
          </a:solidFill>
          <a:ln/>
        </p:spPr>
        <p:txBody>
          <a:bodyPr/>
          <a:lstStyle/>
          <a:p>
            <a:endParaRPr lang="ko-KR" altLang="en-US"/>
          </a:p>
        </p:txBody>
      </p:sp>
      <p:sp>
        <p:nvSpPr>
          <p:cNvPr id="18" name="Text 15"/>
          <p:cNvSpPr txBox="1"/>
          <p:nvPr/>
        </p:nvSpPr>
        <p:spPr>
          <a:xfrm>
            <a:off x="11628425"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⑤ </a:t>
            </a:r>
            <a:r>
              <a:rPr lang="ko-KR" altLang="en-US" sz="1500" b="1" dirty="0">
                <a:solidFill>
                  <a:srgbClr val="FFFFFF"/>
                </a:solidFill>
                <a:latin typeface="Pretendard" pitchFamily="34" charset="0"/>
                <a:ea typeface="Pretendard" pitchFamily="34" charset="-122"/>
                <a:cs typeface="Pretendard" pitchFamily="34" charset="-120"/>
              </a:rPr>
              <a:t>스키마 설계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a:t>
            </a:r>
            <a:r>
              <a:rPr lang="en-US" sz="1500" b="1" dirty="0" err="1">
                <a:solidFill>
                  <a:srgbClr val="FFFFFF"/>
                </a:solidFill>
                <a:latin typeface="Pretendard" pitchFamily="34" charset="0"/>
                <a:ea typeface="Pretendard" pitchFamily="34" charset="-122"/>
                <a:cs typeface="Pretendard" pitchFamily="34" charset="-120"/>
              </a:rPr>
              <a:t>코드</a:t>
            </a:r>
            <a:r>
              <a:rPr lang="en-US"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9" name="Shape 16"/>
          <p:cNvSpPr/>
          <p:nvPr/>
        </p:nvSpPr>
        <p:spPr>
          <a:xfrm>
            <a:off x="10101377" y="2322576"/>
            <a:ext cx="0" cy="237744"/>
          </a:xfrm>
          <a:prstGeom prst="line">
            <a:avLst/>
          </a:prstGeom>
          <a:noFill/>
          <a:ln w="19050">
            <a:solidFill>
              <a:srgbClr val="2E74C6"/>
            </a:solidFill>
            <a:prstDash val="dash"/>
            <a:tailEnd type="none"/>
          </a:ln>
        </p:spPr>
        <p:txBody>
          <a:bodyPr/>
          <a:lstStyle/>
          <a:p>
            <a:endParaRPr lang="ko-KR" altLang="en-US"/>
          </a:p>
        </p:txBody>
      </p:sp>
      <p:sp>
        <p:nvSpPr>
          <p:cNvPr id="20" name="Shape 17"/>
          <p:cNvSpPr/>
          <p:nvPr/>
        </p:nvSpPr>
        <p:spPr>
          <a:xfrm>
            <a:off x="7321601" y="2560320"/>
            <a:ext cx="2779776" cy="0"/>
          </a:xfrm>
          <a:prstGeom prst="line">
            <a:avLst/>
          </a:prstGeom>
          <a:noFill/>
          <a:ln w="19050">
            <a:solidFill>
              <a:srgbClr val="2E74C6"/>
            </a:solidFill>
            <a:prstDash val="dash"/>
          </a:ln>
        </p:spPr>
        <p:txBody>
          <a:bodyPr/>
          <a:lstStyle/>
          <a:p>
            <a:endParaRPr lang="ko-KR" altLang="en-US"/>
          </a:p>
        </p:txBody>
      </p:sp>
      <p:sp>
        <p:nvSpPr>
          <p:cNvPr id="21" name="Shape 18"/>
          <p:cNvSpPr/>
          <p:nvPr/>
        </p:nvSpPr>
        <p:spPr>
          <a:xfrm flipV="1">
            <a:off x="7321601" y="2322576"/>
            <a:ext cx="0" cy="237744"/>
          </a:xfrm>
          <a:prstGeom prst="line">
            <a:avLst/>
          </a:prstGeom>
          <a:noFill/>
          <a:ln w="19050">
            <a:solidFill>
              <a:srgbClr val="2E74C6"/>
            </a:solidFill>
            <a:prstDash val="dash"/>
            <a:tailEnd type="triangle"/>
          </a:ln>
        </p:spPr>
        <p:txBody>
          <a:bodyPr/>
          <a:lstStyle/>
          <a:p>
            <a:endParaRPr lang="ko-KR" altLang="en-US"/>
          </a:p>
        </p:txBody>
      </p:sp>
      <p:sp>
        <p:nvSpPr>
          <p:cNvPr id="22" name="Text 19"/>
          <p:cNvSpPr txBox="1"/>
          <p:nvPr/>
        </p:nvSpPr>
        <p:spPr>
          <a:xfrm>
            <a:off x="7413041" y="2322576"/>
            <a:ext cx="2596896" cy="219456"/>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고쳐 다시</a:t>
            </a:r>
            <a:endParaRPr lang="en-US" sz="1400" dirty="0"/>
          </a:p>
        </p:txBody>
      </p:sp>
      <p:sp>
        <p:nvSpPr>
          <p:cNvPr id="23" name="Shape 20"/>
          <p:cNvSpPr/>
          <p:nvPr/>
        </p:nvSpPr>
        <p:spPr>
          <a:xfrm>
            <a:off x="509321"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4" name="Text 21"/>
          <p:cNvSpPr txBox="1"/>
          <p:nvPr/>
        </p:nvSpPr>
        <p:spPr>
          <a:xfrm>
            <a:off x="637337"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문서 종류마다 답해야 할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정의</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질문에는 답이 될 </a:t>
            </a:r>
            <a:r>
              <a:rPr lang="ko-KR" altLang="en-US" sz="1400" dirty="0" err="1">
                <a:solidFill>
                  <a:srgbClr val="2B3242"/>
                </a:solidFill>
                <a:latin typeface="Pretendard" pitchFamily="34" charset="0"/>
                <a:ea typeface="Pretendard" pitchFamily="34" charset="-122"/>
                <a:cs typeface="Pretendard" pitchFamily="34" charset="-120"/>
              </a:rPr>
              <a:t>노드타입이나</a:t>
            </a:r>
            <a:r>
              <a:rPr lang="ko-KR" altLang="en-US" sz="1400" dirty="0">
                <a:solidFill>
                  <a:srgbClr val="2B3242"/>
                </a:solidFill>
                <a:latin typeface="Pretendard" pitchFamily="34" charset="0"/>
                <a:ea typeface="Pretendard" pitchFamily="34" charset="-122"/>
                <a:cs typeface="Pretendard" pitchFamily="34" charset="-120"/>
              </a:rPr>
              <a:t> 관계를 미리 쓰지 않음</a:t>
            </a:r>
            <a:endParaRPr lang="en-US" sz="1400" dirty="0"/>
          </a:p>
          <a:p>
            <a:pPr marL="152400" indent="-152400">
              <a:spcAft>
                <a:spcPts val="1000"/>
              </a:spcAft>
              <a:buSzPct val="100000"/>
              <a:buChar char="•"/>
            </a:pPr>
            <a:r>
              <a:rPr lang="en-US" altLang="ko-KR" sz="1400" dirty="0">
                <a:solidFill>
                  <a:srgbClr val="2B3242"/>
                </a:solidFill>
                <a:latin typeface="Pretendard" pitchFamily="34" charset="0"/>
                <a:ea typeface="Pretendard" pitchFamily="34" charset="-122"/>
                <a:cs typeface="Pretendard" pitchFamily="34" charset="-120"/>
              </a:rPr>
              <a:t>Ontology 101</a:t>
            </a:r>
            <a:r>
              <a:rPr lang="ko-KR" altLang="en-US" sz="1400" dirty="0">
                <a:solidFill>
                  <a:srgbClr val="2B3242"/>
                </a:solidFill>
                <a:latin typeface="Pretendard" pitchFamily="34" charset="0"/>
                <a:ea typeface="Pretendard" pitchFamily="34" charset="-122"/>
                <a:cs typeface="Pretendard" pitchFamily="34" charset="-120"/>
              </a:rPr>
              <a:t>의 역량질문 가이드에 기반하여 </a:t>
            </a:r>
            <a:r>
              <a:rPr lang="en-US" altLang="ko-KR"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초안 작성 요청하고 사람 검토</a:t>
            </a:r>
            <a:endParaRPr lang="en-US" sz="1400" dirty="0"/>
          </a:p>
        </p:txBody>
      </p:sp>
      <p:sp>
        <p:nvSpPr>
          <p:cNvPr id="25" name="Shape 22"/>
          <p:cNvSpPr/>
          <p:nvPr/>
        </p:nvSpPr>
        <p:spPr>
          <a:xfrm>
            <a:off x="3289097"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3417113"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문서 종류별로 </a:t>
            </a:r>
            <a:r>
              <a:rPr lang="en-US" altLang="ko-KR" sz="1400" dirty="0">
                <a:solidFill>
                  <a:srgbClr val="2B3242"/>
                </a:solidFill>
                <a:latin typeface="Pretendard" pitchFamily="34" charset="0"/>
                <a:ea typeface="Pretendard" pitchFamily="34" charset="-122"/>
                <a:cs typeface="Pretendard" pitchFamily="34" charset="-120"/>
              </a:rPr>
              <a:t>1</a:t>
            </a:r>
            <a:r>
              <a:rPr lang="ko-KR" altLang="en-US" sz="1400" dirty="0">
                <a:solidFill>
                  <a:srgbClr val="2B3242"/>
                </a:solidFill>
                <a:latin typeface="Pretendard" pitchFamily="34" charset="0"/>
                <a:ea typeface="Pretendard" pitchFamily="34" charset="-122"/>
                <a:cs typeface="Pretendard" pitchFamily="34" charset="-120"/>
              </a:rPr>
              <a:t>차로 묶고 필요 시 하위 그룹별로 묶은 후 각 묶음마다</a:t>
            </a:r>
            <a:r>
              <a:rPr lang="en-US" sz="1400" dirty="0">
                <a:solidFill>
                  <a:srgbClr val="2B3242"/>
                </a:solidFill>
                <a:latin typeface="Pretendard" pitchFamily="34" charset="0"/>
                <a:ea typeface="Pretendard" pitchFamily="34" charset="-122"/>
                <a:cs typeface="Pretendard" pitchFamily="34" charset="-120"/>
              </a:rPr>
              <a:t> </a:t>
            </a:r>
            <a:r>
              <a:rPr lang="en-US" sz="1400" dirty="0" err="1">
                <a:solidFill>
                  <a:srgbClr val="2B3242"/>
                </a:solidFill>
                <a:latin typeface="Pretendard" pitchFamily="34" charset="0"/>
                <a:ea typeface="Pretendard" pitchFamily="34" charset="-122"/>
                <a:cs typeface="Pretendard" pitchFamily="34" charset="-120"/>
              </a:rPr>
              <a:t>표본</a:t>
            </a:r>
            <a:r>
              <a:rPr lang="ko-KR" altLang="en-US" sz="1400" dirty="0">
                <a:solidFill>
                  <a:srgbClr val="2B3242"/>
                </a:solidFill>
                <a:latin typeface="Pretendard" pitchFamily="34" charset="0"/>
                <a:ea typeface="Pretendard" pitchFamily="34" charset="-122"/>
                <a:cs typeface="Pretendard" pitchFamily="34" charset="-120"/>
              </a:rPr>
              <a:t>문서 추출</a:t>
            </a:r>
            <a:r>
              <a:rPr lang="en-US" sz="1400" dirty="0">
                <a:solidFill>
                  <a:srgbClr val="2B3242"/>
                </a:solidFill>
                <a:latin typeface="Pretendard" pitchFamily="34" charset="0"/>
                <a:ea typeface="Pretendard" pitchFamily="34" charset="-122"/>
                <a:cs typeface="Pretendard" pitchFamily="34" charset="-120"/>
              </a:rPr>
              <a:t>: 시작 10건, 상한 30건(비율이 아니라 건수)</a:t>
            </a:r>
            <a:endParaRPr lang="en-US" sz="1400" dirty="0"/>
          </a:p>
          <a:p>
            <a:pPr marL="152400" indent="-152400">
              <a:spcAft>
                <a:spcPts val="1000"/>
              </a:spcAft>
              <a:buSzPct val="100000"/>
              <a:buChar char="•"/>
            </a:pPr>
            <a:r>
              <a:rPr lang="en-US" sz="1300" dirty="0">
                <a:solidFill>
                  <a:srgbClr val="2B3242"/>
                </a:solidFill>
                <a:latin typeface="Pretendard" pitchFamily="34" charset="0"/>
                <a:ea typeface="Pretendard" pitchFamily="34" charset="-122"/>
                <a:cs typeface="Pretendard" pitchFamily="34" charset="-120"/>
              </a:rPr>
              <a:t>SchemaFromTextExtractor</a:t>
            </a:r>
            <a:r>
              <a:rPr lang="en-US" sz="1400" dirty="0">
                <a:solidFill>
                  <a:srgbClr val="2B3242"/>
                </a:solidFill>
                <a:latin typeface="Pretendard" pitchFamily="34" charset="0"/>
                <a:ea typeface="Pretendard" pitchFamily="34" charset="-122"/>
                <a:cs typeface="Pretendard" pitchFamily="34" charset="-120"/>
              </a:rPr>
              <a:t>에 질문을 examples로 넣음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앞서 나온 이름을 다시 쓰라는 안내는 넣지 않음</a:t>
            </a:r>
            <a:endParaRPr lang="en-US" sz="1400" dirty="0"/>
          </a:p>
        </p:txBody>
      </p:sp>
      <p:sp>
        <p:nvSpPr>
          <p:cNvPr id="27" name="Shape 24"/>
          <p:cNvSpPr/>
          <p:nvPr/>
        </p:nvSpPr>
        <p:spPr>
          <a:xfrm>
            <a:off x="6068873"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8" name="Text 25"/>
          <p:cNvSpPr txBox="1"/>
          <p:nvPr/>
        </p:nvSpPr>
        <p:spPr>
          <a:xfrm>
            <a:off x="6196889"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②의 후보목록과 역량질문을 주고 </a:t>
            </a:r>
            <a:r>
              <a:rPr lang="en-US"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스키마 초안 요청</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초안</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 추가</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병합할 것과 각각의 근거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그리고 구체적 설명</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해당과 비해당</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검토해 스키마 초안 확정</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빈도로 거르지 않고 드문 이름도 살림</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값 규칙</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중복제거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필수존재</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정함</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endParaRPr lang="en-US" altLang="ko-KR" sz="1400" dirty="0">
              <a:solidFill>
                <a:srgbClr val="2B3242"/>
              </a:solidFill>
              <a:latin typeface="Pretendard" pitchFamily="34" charset="0"/>
              <a:ea typeface="Pretendard" pitchFamily="34" charset="-122"/>
              <a:cs typeface="Pretendard" pitchFamily="34" charset="-120"/>
            </a:endParaRPr>
          </a:p>
        </p:txBody>
      </p:sp>
      <p:sp>
        <p:nvSpPr>
          <p:cNvPr id="29" name="Shape 26"/>
          <p:cNvSpPr/>
          <p:nvPr/>
        </p:nvSpPr>
        <p:spPr>
          <a:xfrm>
            <a:off x="8848649"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8976665"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초안을</a:t>
            </a:r>
            <a:r>
              <a:rPr lang="en-US" sz="1400" dirty="0">
                <a:solidFill>
                  <a:srgbClr val="2B3242"/>
                </a:solidFill>
                <a:latin typeface="Pretendard" pitchFamily="34" charset="0"/>
                <a:ea typeface="Pretendard" pitchFamily="34" charset="-122"/>
                <a:cs typeface="Pretendard" pitchFamily="34" charset="-120"/>
              </a:rPr>
              <a:t> schema로 주고 추출한 뒤 GraphPruning으로 정리</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표본 문서의 기대 답과 비교</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답이 없어야 하는 문서와 ②에서 안 쓴 문서 포함</a:t>
            </a:r>
            <a:r>
              <a:rPr lang="en-US" altLang="ko-KR" sz="1400" dirty="0">
                <a:solidFill>
                  <a:srgbClr val="2B3242"/>
                </a:solidFill>
                <a:latin typeface="Pretendard" pitchFamily="34" charset="0"/>
                <a:ea typeface="Pretendard" pitchFamily="34" charset="-122"/>
                <a:cs typeface="Pretendard" pitchFamily="34" charset="-120"/>
              </a:rPr>
              <a:t>)</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잘못 뽑기가 많으면 설명을 고쳐 ③</a:t>
            </a:r>
            <a:r>
              <a:rPr lang="en-US" sz="1400" dirty="0" err="1">
                <a:solidFill>
                  <a:srgbClr val="2B3242"/>
                </a:solidFill>
                <a:latin typeface="Pretendard" pitchFamily="34" charset="0"/>
                <a:ea typeface="Pretendard" pitchFamily="34" charset="-122"/>
                <a:cs typeface="Pretendard" pitchFamily="34" charset="-120"/>
              </a:rPr>
              <a:t>으로</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돌아가 반복 수행</a:t>
            </a:r>
            <a:endParaRPr lang="en-US" sz="1400" dirty="0"/>
          </a:p>
        </p:txBody>
      </p:sp>
      <p:sp>
        <p:nvSpPr>
          <p:cNvPr id="31" name="Shape 28"/>
          <p:cNvSpPr/>
          <p:nvPr/>
        </p:nvSpPr>
        <p:spPr>
          <a:xfrm>
            <a:off x="11628425"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2" name="Text 29"/>
          <p:cNvSpPr txBox="1"/>
          <p:nvPr/>
        </p:nvSpPr>
        <p:spPr>
          <a:xfrm>
            <a:off x="11756441"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err="1">
                <a:solidFill>
                  <a:srgbClr val="2B3242"/>
                </a:solidFill>
                <a:latin typeface="Pretendard" pitchFamily="34" charset="0"/>
                <a:ea typeface="Pretendard" pitchFamily="34" charset="-122"/>
                <a:cs typeface="Pretendard" pitchFamily="34" charset="-120"/>
              </a:rPr>
              <a:t>GraphSchema.save</a:t>
            </a:r>
            <a:r>
              <a:rPr lang="en-US"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설계 밖 </a:t>
            </a:r>
            <a:r>
              <a:rPr lang="ko-KR" altLang="en-US" sz="1400" dirty="0" err="1">
                <a:solidFill>
                  <a:srgbClr val="2B3242"/>
                </a:solidFill>
                <a:latin typeface="Pretendard" pitchFamily="34" charset="0"/>
                <a:ea typeface="Pretendard" pitchFamily="34" charset="-122"/>
                <a:cs typeface="Pretendard" pitchFamily="34" charset="-120"/>
              </a:rPr>
              <a:t>노드타입</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관계</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속성은 만들지 않음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인덱싱은 이 파일을 읽기만 함</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바뀌면 새 세대로 다시 인덱싱</a:t>
            </a:r>
            <a:endParaRPr lang="en-US" sz="1400" dirty="0"/>
          </a:p>
        </p:txBody>
      </p:sp>
      <p:sp>
        <p:nvSpPr>
          <p:cNvPr id="33" name="Text 30"/>
          <p:cNvSpPr txBox="1"/>
          <p:nvPr/>
        </p:nvSpPr>
        <p:spPr>
          <a:xfrm>
            <a:off x="509321" y="5592133"/>
            <a:ext cx="1828800" cy="29260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주의</a:t>
            </a:r>
            <a:endParaRPr lang="en-US" sz="1600" dirty="0"/>
          </a:p>
        </p:txBody>
      </p:sp>
      <p:sp>
        <p:nvSpPr>
          <p:cNvPr id="34" name="Shape 31"/>
          <p:cNvSpPr/>
          <p:nvPr/>
        </p:nvSpPr>
        <p:spPr>
          <a:xfrm>
            <a:off x="50932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5" name="Shape 32"/>
          <p:cNvSpPr/>
          <p:nvPr/>
        </p:nvSpPr>
        <p:spPr>
          <a:xfrm>
            <a:off x="600761" y="6328225"/>
            <a:ext cx="365760" cy="365760"/>
          </a:xfrm>
          <a:prstGeom prst="roundRect">
            <a:avLst>
              <a:gd name="adj" fmla="val 12500"/>
            </a:avLst>
          </a:prstGeom>
          <a:solidFill>
            <a:srgbClr val="404155"/>
          </a:solidFill>
          <a:ln/>
        </p:spPr>
        <p:txBody>
          <a:bodyPr/>
          <a:lstStyle/>
          <a:p>
            <a:endParaRPr lang="ko-KR" altLang="en-US"/>
          </a:p>
        </p:txBody>
      </p:sp>
      <p:sp>
        <p:nvSpPr>
          <p:cNvPr id="36" name="Text 33"/>
          <p:cNvSpPr txBox="1"/>
          <p:nvPr/>
        </p:nvSpPr>
        <p:spPr>
          <a:xfrm>
            <a:off x="60076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37" name="Text 34"/>
          <p:cNvSpPr txBox="1"/>
          <p:nvPr/>
        </p:nvSpPr>
        <p:spPr>
          <a:xfrm>
            <a:off x="1057961" y="5939605"/>
            <a:ext cx="2681478" cy="1143000"/>
          </a:xfrm>
          <a:prstGeom prst="rect">
            <a:avLst/>
          </a:prstGeom>
          <a:noFill/>
          <a:ln/>
        </p:spPr>
        <p:txBody>
          <a:bodyPr wrap="square" lIns="0" tIns="0" rIns="0" bIns="0" rtlCol="0" anchor="ctr"/>
          <a:lstStyle/>
          <a:p>
            <a:pPr marL="0" indent="0" algn="l">
              <a:buNone/>
            </a:pPr>
            <a:r>
              <a:rPr lang="ko-KR" altLang="en-US" sz="1500" dirty="0">
                <a:solidFill>
                  <a:srgbClr val="2B3242"/>
                </a:solidFill>
                <a:latin typeface="Pretendard" pitchFamily="34" charset="0"/>
                <a:ea typeface="Pretendard" pitchFamily="34" charset="-122"/>
                <a:cs typeface="Pretendard" pitchFamily="34" charset="-120"/>
              </a:rPr>
              <a:t>②에서는 앞 결과의 이름을 넘기지 않음</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넘기면 이름은 모이지만 새 개념이 안 나옴</a:t>
            </a:r>
            <a:r>
              <a:rPr lang="en-US" sz="1500" dirty="0">
                <a:solidFill>
                  <a:srgbClr val="2B3242"/>
                </a:solidFill>
                <a:latin typeface="Pretendard" pitchFamily="34" charset="0"/>
                <a:ea typeface="Pretendard" pitchFamily="34" charset="-122"/>
                <a:cs typeface="Pretendard" pitchFamily="34" charset="-120"/>
              </a:rPr>
              <a:t>→ ④</a:t>
            </a:r>
            <a:r>
              <a:rPr lang="en-US" sz="1500" dirty="0" err="1">
                <a:solidFill>
                  <a:srgbClr val="2B3242"/>
                </a:solidFill>
                <a:latin typeface="Pretendard" pitchFamily="34" charset="0"/>
                <a:ea typeface="Pretendard" pitchFamily="34" charset="-122"/>
                <a:cs typeface="Pretendard" pitchFamily="34" charset="-120"/>
              </a:rPr>
              <a:t>에서만</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사용</a:t>
            </a:r>
            <a:endParaRPr lang="en-US" sz="1500" dirty="0"/>
          </a:p>
        </p:txBody>
      </p:sp>
      <p:sp>
        <p:nvSpPr>
          <p:cNvPr id="38" name="Shape 35"/>
          <p:cNvSpPr/>
          <p:nvPr/>
        </p:nvSpPr>
        <p:spPr>
          <a:xfrm>
            <a:off x="394975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9" name="Shape 36"/>
          <p:cNvSpPr/>
          <p:nvPr/>
        </p:nvSpPr>
        <p:spPr>
          <a:xfrm>
            <a:off x="4041191" y="6328225"/>
            <a:ext cx="365760" cy="365760"/>
          </a:xfrm>
          <a:prstGeom prst="roundRect">
            <a:avLst>
              <a:gd name="adj" fmla="val 12500"/>
            </a:avLst>
          </a:prstGeom>
          <a:solidFill>
            <a:srgbClr val="404155"/>
          </a:solidFill>
          <a:ln/>
        </p:spPr>
        <p:txBody>
          <a:bodyPr/>
          <a:lstStyle/>
          <a:p>
            <a:endParaRPr lang="ko-KR" altLang="en-US"/>
          </a:p>
        </p:txBody>
      </p:sp>
      <p:sp>
        <p:nvSpPr>
          <p:cNvPr id="40" name="Text 37"/>
          <p:cNvSpPr txBox="1"/>
          <p:nvPr/>
        </p:nvSpPr>
        <p:spPr>
          <a:xfrm>
            <a:off x="404119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1" name="Text 38"/>
          <p:cNvSpPr txBox="1"/>
          <p:nvPr/>
        </p:nvSpPr>
        <p:spPr>
          <a:xfrm>
            <a:off x="449839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대화 속 </a:t>
            </a:r>
            <a:r>
              <a:rPr lang="en-US" sz="1500" dirty="0" err="1">
                <a:solidFill>
                  <a:srgbClr val="2B3242"/>
                </a:solidFill>
                <a:latin typeface="Pretendard" pitchFamily="34" charset="0"/>
                <a:ea typeface="Pretendard" pitchFamily="34" charset="-122"/>
                <a:cs typeface="Pretendard" pitchFamily="34" charset="-120"/>
              </a:rPr>
              <a:t>행위나</a:t>
            </a:r>
            <a:r>
              <a:rPr lang="en-US" sz="1500" dirty="0">
                <a:solidFill>
                  <a:srgbClr val="2B3242"/>
                </a:solidFill>
                <a:latin typeface="Pretendard" pitchFamily="34" charset="0"/>
                <a:ea typeface="Pretendard" pitchFamily="34" charset="-122"/>
                <a:cs typeface="Pretendard" pitchFamily="34" charset="-120"/>
              </a:rPr>
              <a:t> 조항 규칙 같은 구조는 LLM이 잘 못 뽑음 → </a:t>
            </a:r>
            <a:r>
              <a:rPr lang="en-US" sz="1500" dirty="0" err="1">
                <a:solidFill>
                  <a:srgbClr val="2B3242"/>
                </a:solidFill>
                <a:latin typeface="Pretendard" pitchFamily="34" charset="0"/>
                <a:ea typeface="Pretendard" pitchFamily="34" charset="-122"/>
                <a:cs typeface="Pretendard" pitchFamily="34" charset="-120"/>
              </a:rPr>
              <a:t>사람이</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직접 </a:t>
            </a:r>
            <a:r>
              <a:rPr lang="ko-KR" altLang="en-US" sz="1500" dirty="0" err="1">
                <a:solidFill>
                  <a:srgbClr val="2B3242"/>
                </a:solidFill>
                <a:latin typeface="Pretendard" pitchFamily="34" charset="0"/>
                <a:ea typeface="Pretendard" pitchFamily="34" charset="-122"/>
                <a:cs typeface="Pretendard" pitchFamily="34" charset="-120"/>
              </a:rPr>
              <a:t>노드타입</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관계</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속성 넣기</a:t>
            </a:r>
            <a:endParaRPr lang="en-US" sz="1500" dirty="0"/>
          </a:p>
        </p:txBody>
      </p:sp>
      <p:sp>
        <p:nvSpPr>
          <p:cNvPr id="42" name="Shape 39"/>
          <p:cNvSpPr/>
          <p:nvPr/>
        </p:nvSpPr>
        <p:spPr>
          <a:xfrm>
            <a:off x="739018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3" name="Shape 40"/>
          <p:cNvSpPr/>
          <p:nvPr/>
        </p:nvSpPr>
        <p:spPr>
          <a:xfrm>
            <a:off x="7481621" y="6328225"/>
            <a:ext cx="365760" cy="365760"/>
          </a:xfrm>
          <a:prstGeom prst="roundRect">
            <a:avLst>
              <a:gd name="adj" fmla="val 12500"/>
            </a:avLst>
          </a:prstGeom>
          <a:solidFill>
            <a:srgbClr val="404155"/>
          </a:solidFill>
          <a:ln/>
        </p:spPr>
        <p:txBody>
          <a:bodyPr/>
          <a:lstStyle/>
          <a:p>
            <a:endParaRPr lang="ko-KR" altLang="en-US"/>
          </a:p>
        </p:txBody>
      </p:sp>
      <p:sp>
        <p:nvSpPr>
          <p:cNvPr id="44" name="Text 41"/>
          <p:cNvSpPr txBox="1"/>
          <p:nvPr/>
        </p:nvSpPr>
        <p:spPr>
          <a:xfrm>
            <a:off x="748162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5" name="Text 42"/>
          <p:cNvSpPr txBox="1"/>
          <p:nvPr/>
        </p:nvSpPr>
        <p:spPr>
          <a:xfrm>
            <a:off x="793882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여러 문서에 걸친 관계(카드 비교 등)는 청크 단위 추출로 </a:t>
            </a:r>
            <a:r>
              <a:rPr lang="en-US" sz="1500" dirty="0" err="1">
                <a:solidFill>
                  <a:srgbClr val="2B3242"/>
                </a:solidFill>
                <a:latin typeface="Pretendard" pitchFamily="34" charset="0"/>
                <a:ea typeface="Pretendard" pitchFamily="34" charset="-122"/>
                <a:cs typeface="Pretendard" pitchFamily="34" charset="-120"/>
              </a:rPr>
              <a:t>나오지</a:t>
            </a:r>
            <a:r>
              <a:rPr lang="en-US" sz="1500" dirty="0">
                <a:solidFill>
                  <a:srgbClr val="2B3242"/>
                </a:solidFill>
                <a:latin typeface="Pretendard" pitchFamily="34" charset="0"/>
                <a:ea typeface="Pretendard" pitchFamily="34" charset="-122"/>
                <a:cs typeface="Pretendard" pitchFamily="34" charset="-120"/>
              </a:rPr>
              <a:t> </a:t>
            </a:r>
            <a:r>
              <a:rPr lang="en-US" sz="1500" dirty="0" err="1">
                <a:solidFill>
                  <a:srgbClr val="2B3242"/>
                </a:solidFill>
                <a:latin typeface="Pretendard" pitchFamily="34" charset="0"/>
                <a:ea typeface="Pretendard" pitchFamily="34" charset="-122"/>
                <a:cs typeface="Pretendard" pitchFamily="34" charset="-120"/>
              </a:rPr>
              <a:t>않음</a:t>
            </a:r>
            <a:r>
              <a:rPr lang="en-US" sz="1500" dirty="0">
                <a:solidFill>
                  <a:srgbClr val="2B3242"/>
                </a:solidFill>
                <a:latin typeface="Pretendard" pitchFamily="34" charset="0"/>
                <a:ea typeface="Pretendard" pitchFamily="34" charset="-122"/>
                <a:cs typeface="Pretendard" pitchFamily="34" charset="-120"/>
              </a:rPr>
              <a:t> </a:t>
            </a:r>
          </a:p>
          <a:p>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검색에서 처리</a:t>
            </a:r>
            <a:endParaRPr lang="en-US" sz="1500" dirty="0"/>
          </a:p>
        </p:txBody>
      </p:sp>
      <p:sp>
        <p:nvSpPr>
          <p:cNvPr id="46" name="Shape 43"/>
          <p:cNvSpPr/>
          <p:nvPr/>
        </p:nvSpPr>
        <p:spPr>
          <a:xfrm>
            <a:off x="1083061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7" name="Shape 44"/>
          <p:cNvSpPr/>
          <p:nvPr/>
        </p:nvSpPr>
        <p:spPr>
          <a:xfrm>
            <a:off x="10922051" y="6328225"/>
            <a:ext cx="36576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1092205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9" name="Text 46"/>
          <p:cNvSpPr txBox="1"/>
          <p:nvPr/>
        </p:nvSpPr>
        <p:spPr>
          <a:xfrm>
            <a:off x="1137925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멈춤: 2건 이상 나온 새 이름이 연속 3건 없으면 그 층은 멈춤</a:t>
            </a:r>
            <a:endParaRPr lang="en-US" sz="1500" dirty="0"/>
          </a:p>
        </p:txBody>
      </p:sp>
      <p:sp>
        <p:nvSpPr>
          <p:cNvPr id="50" name="Shape 47"/>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51" name="Text 4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출처: </a:t>
            </a:r>
            <a:r>
              <a:rPr lang="en-US" sz="1400" u="sng" dirty="0">
                <a:solidFill>
                  <a:srgbClr val="2E74C6"/>
                </a:solidFill>
                <a:latin typeface="Pretendard" pitchFamily="34" charset="0"/>
                <a:ea typeface="Pretendard" pitchFamily="34" charset="-122"/>
                <a:cs typeface="Pretendard" pitchFamily="34" charset="-120"/>
                <a:hlinkClick r:id="rId3" tooltip="https://neo4j.com/docs/neo4j-graphrag-python/current/user_guide_kg_builder.html">
                  <a:extLst>
                    <a:ext uri="{A12FA001-AC4F-418D-AE19-62706E023703}">
                      <ahyp:hlinkClr xmlns:ahyp="http://schemas.microsoft.com/office/drawing/2018/hyperlinkcolor" val="tx"/>
                    </a:ext>
                  </a:extLst>
                </a:hlinkClick>
              </a:rPr>
              <a:t>Neo4j GraphRAG Python 사용자 안내</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4" tooltip="https://neo4j.com/labs/genai-ecosystem/llm-graph-builder-features/">
                  <a:extLst>
                    <a:ext uri="{A12FA001-AC4F-418D-AE19-62706E023703}">
                      <ahyp:hlinkClr xmlns:ahyp="http://schemas.microsoft.com/office/drawing/2018/hyperlinkcolor" val="tx"/>
                    </a:ext>
                  </a:extLst>
                </a:hlinkClick>
              </a:rPr>
              <a:t>Neo4j LLM Graph Builder 기능</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5" tooltip="https://protege.stanford.edu/publications/ontology_development/ontology101-noy-mcguinness.html">
                  <a:extLst>
                    <a:ext uri="{A12FA001-AC4F-418D-AE19-62706E023703}">
                      <ahyp:hlinkClr xmlns:ahyp="http://schemas.microsoft.com/office/drawing/2018/hyperlinkcolor" val="tx"/>
                    </a:ext>
                  </a:extLst>
                </a:hlinkClick>
              </a:rPr>
              <a:t>Noy와 McGuinness, Ontology 101(역량 질문)</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6" tooltip="https://journals.plos.org/plosone/article?id=10.1371/journal.pone.0232076">
                  <a:extLst>
                    <a:ext uri="{A12FA001-AC4F-418D-AE19-62706E023703}">
                      <ahyp:hlinkClr xmlns:ahyp="http://schemas.microsoft.com/office/drawing/2018/hyperlinkcolor" val="tx"/>
                    </a:ext>
                  </a:extLst>
                </a:hlinkClick>
              </a:rPr>
              <a:t>Guest 외(2020) 포화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a:t>
            </a:r>
            <a:r>
              <a:rPr lang="ko-KR" altLang="en-US" dirty="0">
                <a:solidFill>
                  <a:srgbClr val="2C2926"/>
                </a:solidFill>
                <a:latin typeface="Pretendard" pitchFamily="34" charset="0"/>
                <a:ea typeface="Pretendard" pitchFamily="34" charset="-122"/>
                <a:cs typeface="Pretendard" pitchFamily="34" charset="-120"/>
              </a:rPr>
              <a:t>참고</a:t>
            </a:r>
            <a:r>
              <a:rPr lang="en-US" altLang="ko-KR" dirty="0">
                <a:solidFill>
                  <a:srgbClr val="2C2926"/>
                </a:solidFill>
                <a:latin typeface="Pretendard" pitchFamily="34" charset="0"/>
                <a:ea typeface="Pretendard" pitchFamily="34" charset="-122"/>
                <a:cs typeface="Pretendard" pitchFamily="34" charset="-120"/>
              </a:rPr>
              <a:t>] </a:t>
            </a:r>
            <a:r>
              <a:rPr lang="en-US" altLang="ko-KR" dirty="0" err="1">
                <a:solidFill>
                  <a:srgbClr val="2C2926"/>
                </a:solidFill>
                <a:latin typeface="Pretendard" pitchFamily="34" charset="0"/>
                <a:ea typeface="Pretendard" pitchFamily="34" charset="-122"/>
                <a:cs typeface="Pretendard" pitchFamily="34" charset="-120"/>
              </a:rPr>
              <a:t>평가셋</a:t>
            </a:r>
            <a:r>
              <a:rPr lang="en-US" altLang="ko-KR" dirty="0">
                <a:solidFill>
                  <a:srgbClr val="2C2926"/>
                </a:solidFill>
                <a:latin typeface="Pretendard" pitchFamily="34" charset="0"/>
                <a:ea typeface="Pretendard" pitchFamily="34" charset="-122"/>
                <a:cs typeface="Pretendard" pitchFamily="34" charset="-120"/>
              </a:rPr>
              <a:t> 25문항: </a:t>
            </a:r>
            <a:r>
              <a:rPr lang="en-US" altLang="ko-KR" dirty="0" err="1">
                <a:solidFill>
                  <a:srgbClr val="2C2926"/>
                </a:solidFill>
                <a:latin typeface="Pretendard" pitchFamily="34" charset="0"/>
                <a:ea typeface="Pretendard" pitchFamily="34" charset="-122"/>
                <a:cs typeface="Pretendard" pitchFamily="34" charset="-120"/>
              </a:rPr>
              <a:t>질문</a:t>
            </a:r>
            <a:r>
              <a:rPr lang="en-US" altLang="ko-KR" dirty="0">
                <a:solidFill>
                  <a:srgbClr val="2C2926"/>
                </a:solidFill>
                <a:latin typeface="Pretendard" pitchFamily="34" charset="0"/>
                <a:ea typeface="Pretendard" pitchFamily="34" charset="-122"/>
                <a:cs typeface="Pretendard" pitchFamily="34" charset="-120"/>
              </a:rPr>
              <a:t>, </a:t>
            </a:r>
            <a:r>
              <a:rPr lang="en-US" altLang="ko-KR" dirty="0" err="1">
                <a:solidFill>
                  <a:srgbClr val="2C2926"/>
                </a:solidFill>
                <a:latin typeface="Pretendard" pitchFamily="34" charset="0"/>
                <a:ea typeface="Pretendard" pitchFamily="34" charset="-122"/>
                <a:cs typeface="Pretendard" pitchFamily="34" charset="-120"/>
              </a:rPr>
              <a:t>정답</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출처</a:t>
            </a: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20</a:t>
            </a:fld>
            <a:endParaRPr lang="en-US"/>
          </a:p>
        </p:txBody>
      </p:sp>
      <p:graphicFrame>
        <p:nvGraphicFramePr>
          <p:cNvPr id="5" name="Table 0">
            <a:extLst>
              <a:ext uri="{FF2B5EF4-FFF2-40B4-BE49-F238E27FC236}">
                <a16:creationId xmlns:a16="http://schemas.microsoft.com/office/drawing/2014/main" id="{A7563AE4-6C09-947C-D785-4F685662CE2D}"/>
              </a:ext>
            </a:extLst>
          </p:cNvPr>
          <p:cNvGraphicFramePr>
            <a:graphicFrameLocks noGrp="1"/>
          </p:cNvGraphicFramePr>
          <p:nvPr>
            <p:extLst>
              <p:ext uri="{D42A27DB-BD31-4B8C-83A1-F6EECF244321}">
                <p14:modId xmlns:p14="http://schemas.microsoft.com/office/powerpoint/2010/main" val="1082156329"/>
              </p:ext>
            </p:extLst>
          </p:nvPr>
        </p:nvGraphicFramePr>
        <p:xfrm>
          <a:off x="509321" y="1097280"/>
          <a:ext cx="13624560" cy="6394704"/>
        </p:xfrm>
        <a:graphic>
          <a:graphicData uri="http://schemas.openxmlformats.org/drawingml/2006/table">
            <a:tbl>
              <a:tblPr/>
              <a:tblGrid>
                <a:gridCol w="960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71780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274320">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번호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정답 요점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정답 출처</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연회비 면제 기준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직전 12개월 300만 원 이상, 연체 없으면 기본 연회비 면제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약관 제10조①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할부 상품 철회 기한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상품이나 계약서를 받은 날 중 늦은 날부터 7일 이내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약관 제16조의2①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명세서 이의 기한과 결과 통지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게시일부터 45일 이내 제기, 15영업일 이내 1차 결과</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약관 제34조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약관 변경 사전 안내 시점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적용일 30일 전부터 이유, 적용일, 바뀌는 조항 안내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약관 제38조①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Q05</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결제일이 휴일일 때 출금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다음 영업일에 출금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약관 제21조①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Q06</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휴면카드 처리</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신규 승인 정지 후 선택 안내, 의사 없으면 계약 종료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약관 제12조의3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모아생활 포인트 적립률과 한도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1.2% 적립, 월 8,000원 상당까지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혜택 D2-C001-B01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Q08</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모아생활 포인트 리필 조건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달빛상점 한 번에 7,000P 이상 쓰면 700P, 월 1건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혜택 D2-C001-B02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8"/>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Q09</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가족돌봄 바우처 금액과 기간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연 1회 90,000원, 발급일부터 180일</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혜택 D2-C021-B01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9"/>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Q10</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자유여행 라운지 횟수와 기한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연 2회, 발급 후 30일 이내 본인만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혜택 D2-C024-B04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10"/>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전기길 충전 캐시백</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2.5%, 월 8,000원 상당까지 다음 달 18일 지급</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혜택 D2-C008-B01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11"/>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반려동행 동물병원 할인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4% 할인, 월 8,000원 상당까지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혜택 D2-C058-B01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12"/>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청소년생활 결제 한도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건별 25,000원, 월 150,000원 (보호자가 낮출 수 있음)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혜택 D2-C055-B04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13"/>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M-1042 비교 기준과 해지 진행</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추가 소비 없는 부담 비교, 해지는 신청 전 확인 단계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상담 C-20260302-001 외 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Q15</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M-1042가 생활비 이전을 꺼린 이유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결제일이 달라 예산을 다시 짜야 하고 방식을 바꾸기 싫음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상담 C-20260531-002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Q16</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M-3001 비교 항목과 전환 조건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신청 절차를 비교, 반복 신청이 없으면 전환 검토 (미신청)</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상담 C-20260310-008 외 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M-3001에게 피할 설명과 제안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「무조건 편하다」 설명, 매달 알림 설정, 추가 적립 제안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상담 C-20260626-011 외 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265176">
                <a:tc>
                  <a:txBody>
                    <a:bodyP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Q18 ~ 22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답이 없는 5문항</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모두 「확인 필요」 (포인트 납부, 해외 수수료, 옛 약관, 회원 2건)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없음 (낱말 묶음 부재 확인)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18"/>
                  </a:ext>
                </a:extLst>
              </a:tr>
              <a:tr h="512064">
                <a:tc>
                  <a:txBody>
                    <a:bodyP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Q23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b="1" dirty="0">
                          <a:solidFill>
                            <a:srgbClr val="2B3242"/>
                          </a:solidFill>
                          <a:latin typeface="Pretendard" pitchFamily="34" charset="0"/>
                          <a:ea typeface="Pretendard" pitchFamily="34" charset="-122"/>
                          <a:cs typeface="Pretendard" pitchFamily="34" charset="-120"/>
                        </a:rPr>
                        <a:t>고객군별 불만을 주제로 나누기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1E2A5C"/>
                          </a:solidFill>
                          <a:latin typeface="Pretendard" pitchFamily="34" charset="0"/>
                          <a:ea typeface="Pretendard" pitchFamily="34" charset="-122"/>
                          <a:cs typeface="Pretendard" pitchFamily="34" charset="-120"/>
                        </a:rPr>
                        <a:t>장기보유, 연회비부담: 비용 대비 가치 / 신규가입, VIP: 절차 반복</a:t>
                      </a:r>
                      <a:endParaRPr lang="en-US" sz="1400" dirty="0">
                        <a:latin typeface="Pretendard" charset="0"/>
                        <a:ea typeface="Pretendard" charset="0"/>
                        <a:cs typeface="Pretendard" charset="0"/>
                      </a:endParaRPr>
                    </a:p>
                    <a:p>
                      <a:pPr marL="0" indent="0">
                        <a:buNone/>
                      </a:pPr>
                      <a:r>
                        <a:rPr lang="en-US" sz="1400" dirty="0">
                          <a:solidFill>
                            <a:srgbClr val="1E2A5C"/>
                          </a:solidFill>
                          <a:latin typeface="Pretendard" pitchFamily="34" charset="0"/>
                          <a:ea typeface="Pretendard" pitchFamily="34" charset="-122"/>
                          <a:cs typeface="Pretendard" pitchFamily="34" charset="-120"/>
                        </a:rPr>
                        <a:t>장기보유, 휴면직전: 안내 부족 / 다중카드: 불만 없음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상담 6건 (고객군별 불만 발화)</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extLst>
                  <a:ext uri="{0D108BD9-81ED-4DB2-BD59-A6C34878D82A}">
                    <a16:rowId xmlns:a16="http://schemas.microsoft.com/office/drawing/2014/main" val="10019"/>
                  </a:ext>
                </a:extLst>
              </a:tr>
              <a:tr h="265176">
                <a:tc>
                  <a:txBody>
                    <a:bodyP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Q24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b="1" dirty="0">
                          <a:solidFill>
                            <a:srgbClr val="2B3242"/>
                          </a:solidFill>
                          <a:latin typeface="Pretendard" pitchFamily="34" charset="0"/>
                          <a:ea typeface="Pretendard" pitchFamily="34" charset="-122"/>
                          <a:cs typeface="Pretendard" pitchFamily="34" charset="-120"/>
                        </a:rPr>
                        <a:t>받아들여진 제안의 공통점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1E2A5C"/>
                          </a:solidFill>
                          <a:latin typeface="Pretendard" pitchFamily="34" charset="0"/>
                          <a:ea typeface="Pretendard" pitchFamily="34" charset="-122"/>
                          <a:cs typeface="Pretendard" pitchFamily="34" charset="-120"/>
                        </a:rPr>
                        <a:t>할 일이나 소비가 늘지 않음, 글로 남는 안내, 원한 방식에 맞춤</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상담 5건 (수용, 거절 이유)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extLst>
                  <a:ext uri="{0D108BD9-81ED-4DB2-BD59-A6C34878D82A}">
                    <a16:rowId xmlns:a16="http://schemas.microsoft.com/office/drawing/2014/main" val="10020"/>
                  </a:ext>
                </a:extLst>
              </a:tr>
              <a:tr h="512064">
                <a:tc>
                  <a:txBody>
                    <a:bodyP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Q25</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b="1" dirty="0">
                          <a:solidFill>
                            <a:srgbClr val="2B3242"/>
                          </a:solidFill>
                          <a:latin typeface="Pretendard" pitchFamily="34" charset="0"/>
                          <a:ea typeface="Pretendard" pitchFamily="34" charset="-122"/>
                          <a:cs typeface="Pretendard" pitchFamily="34" charset="-120"/>
                        </a:rPr>
                        <a:t>불만 주제별 약관 조항과 카드 혜택</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1E2A5C"/>
                          </a:solidFill>
                          <a:latin typeface="Pretendard" pitchFamily="34" charset="0"/>
                          <a:ea typeface="Pretendard" pitchFamily="34" charset="-122"/>
                          <a:cs typeface="Pretendard" pitchFamily="34" charset="-120"/>
                        </a:rPr>
                        <a:t>장보기 할인: 제17조, 장보기와 간편생활 카드 / 신청 반복: 제17조, 자동맞춤 카드</a:t>
                      </a:r>
                      <a:endParaRPr lang="en-US" sz="1400" dirty="0">
                        <a:latin typeface="Pretendard" charset="0"/>
                        <a:ea typeface="Pretendard" charset="0"/>
                        <a:cs typeface="Pretendard" charset="0"/>
                      </a:endParaRPr>
                    </a:p>
                    <a:p>
                      <a:pPr marL="0" indent="0">
                        <a:buNone/>
                      </a:pPr>
                      <a:r>
                        <a:rPr lang="en-US" sz="1400" dirty="0">
                          <a:solidFill>
                            <a:srgbClr val="1E2A5C"/>
                          </a:solidFill>
                          <a:latin typeface="Pretendard" pitchFamily="34" charset="0"/>
                          <a:ea typeface="Pretendard" pitchFamily="34" charset="-122"/>
                          <a:cs typeface="Pretendard" pitchFamily="34" charset="-120"/>
                        </a:rPr>
                        <a:t>연회비 제9, 10조 / 인증 제29조 / 민원 제34조 / 알림 제5조: 관련 혜택 없음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4A5364"/>
                          </a:solidFill>
                          <a:latin typeface="Pretendard" pitchFamily="34" charset="0"/>
                          <a:ea typeface="Pretendard" pitchFamily="34" charset="-122"/>
                          <a:cs typeface="Pretendard" pitchFamily="34" charset="-120"/>
                        </a:rPr>
                        <a:t>상담 6, 혜택 3, 약관 6</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① 역량 질문 정하기(예시: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실제 사용자 질문을 모아 값을 빈칸으로 바꾸고 유형으로 묶은 뒤, 유형마다 역량 질문을 씀</a:t>
            </a:r>
            <a:endParaRPr lang="en-US" sz="1800" dirty="0"/>
          </a:p>
        </p:txBody>
      </p:sp>
      <p:sp>
        <p:nvSpPr>
          <p:cNvPr id="5" name="Shape 2"/>
          <p:cNvSpPr/>
          <p:nvPr/>
        </p:nvSpPr>
        <p:spPr>
          <a:xfrm>
            <a:off x="509321" y="1737360"/>
            <a:ext cx="4572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사용자 질문(출처)</a:t>
            </a:r>
            <a:endParaRPr lang="en-US" sz="1600" dirty="0"/>
          </a:p>
        </p:txBody>
      </p:sp>
      <p:sp>
        <p:nvSpPr>
          <p:cNvPr id="7" name="Shape 4"/>
          <p:cNvSpPr/>
          <p:nvPr/>
        </p:nvSpPr>
        <p:spPr>
          <a:xfrm>
            <a:off x="5401361" y="1737360"/>
            <a:ext cx="3520440" cy="365760"/>
          </a:xfrm>
          <a:prstGeom prst="roundRect">
            <a:avLst>
              <a:gd name="adj" fmla="val 12500"/>
            </a:avLst>
          </a:prstGeom>
          <a:solidFill>
            <a:srgbClr val="404155"/>
          </a:solidFill>
          <a:ln/>
        </p:spPr>
        <p:txBody>
          <a:bodyPr/>
          <a:lstStyle/>
          <a:p>
            <a:endParaRPr/>
          </a:p>
        </p:txBody>
      </p:sp>
      <p:sp>
        <p:nvSpPr>
          <p:cNvPr id="8" name="Text 5"/>
          <p:cNvSpPr txBox="1"/>
          <p:nvPr/>
        </p:nvSpPr>
        <p:spPr>
          <a:xfrm>
            <a:off x="5401361" y="1737360"/>
            <a:ext cx="35204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값을 빈칸으로 → 질문 유형</a:t>
            </a:r>
            <a:endParaRPr lang="en-US" sz="1600" dirty="0"/>
          </a:p>
        </p:txBody>
      </p:sp>
      <p:sp>
        <p:nvSpPr>
          <p:cNvPr id="9" name="Shape 6"/>
          <p:cNvSpPr/>
          <p:nvPr/>
        </p:nvSpPr>
        <p:spPr>
          <a:xfrm>
            <a:off x="9241841" y="1737360"/>
            <a:ext cx="4892040" cy="365760"/>
          </a:xfrm>
          <a:prstGeom prst="roundRect">
            <a:avLst>
              <a:gd name="adj" fmla="val 12500"/>
            </a:avLst>
          </a:prstGeom>
          <a:solidFill>
            <a:srgbClr val="1E2A5C"/>
          </a:solidFill>
          <a:ln/>
        </p:spPr>
        <p:txBody>
          <a:bodyPr/>
          <a:lstStyle/>
          <a:p>
            <a:endParaRPr/>
          </a:p>
        </p:txBody>
      </p:sp>
      <p:sp>
        <p:nvSpPr>
          <p:cNvPr id="10" name="Text 7"/>
          <p:cNvSpPr txBox="1"/>
          <p:nvPr/>
        </p:nvSpPr>
        <p:spPr>
          <a:xfrm>
            <a:off x="9241841" y="1737360"/>
            <a:ext cx="48920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역량 질문(상담 이력 5개)</a:t>
            </a:r>
            <a:endParaRPr lang="en-US" sz="1600" dirty="0"/>
          </a:p>
        </p:txBody>
      </p:sp>
      <p:sp>
        <p:nvSpPr>
          <p:cNvPr id="11" name="Shape 8"/>
          <p:cNvSpPr/>
          <p:nvPr/>
        </p:nvSpPr>
        <p:spPr>
          <a:xfrm>
            <a:off x="5117897" y="1920240"/>
            <a:ext cx="246888" cy="0"/>
          </a:xfrm>
          <a:prstGeom prst="line">
            <a:avLst/>
          </a:prstGeom>
          <a:noFill/>
          <a:ln w="25400">
            <a:solidFill>
              <a:srgbClr val="4A5364"/>
            </a:solidFill>
            <a:prstDash val="solid"/>
            <a:tailEnd type="triangle"/>
          </a:ln>
        </p:spPr>
        <p:txBody>
          <a:bodyPr/>
          <a:lstStyle/>
          <a:p>
            <a:endParaRPr/>
          </a:p>
        </p:txBody>
      </p:sp>
      <p:sp>
        <p:nvSpPr>
          <p:cNvPr id="12" name="Shape 9"/>
          <p:cNvSpPr/>
          <p:nvPr/>
        </p:nvSpPr>
        <p:spPr>
          <a:xfrm>
            <a:off x="8958377" y="1920240"/>
            <a:ext cx="246888" cy="0"/>
          </a:xfrm>
          <a:prstGeom prst="line">
            <a:avLst/>
          </a:prstGeom>
          <a:noFill/>
          <a:ln w="25400">
            <a:solidFill>
              <a:srgbClr val="4A5364"/>
            </a:solidFill>
            <a:prstDash val="solid"/>
            <a:tailEnd type="triangle"/>
          </a:ln>
        </p:spPr>
        <p:txBody>
          <a:bodyPr/>
          <a:lstStyle/>
          <a:p>
            <a:endParaRPr/>
          </a:p>
        </p:txBody>
      </p:sp>
      <p:sp>
        <p:nvSpPr>
          <p:cNvPr id="13" name="Shape 10"/>
          <p:cNvSpPr/>
          <p:nvPr/>
        </p:nvSpPr>
        <p:spPr>
          <a:xfrm>
            <a:off x="509321" y="2212848"/>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14" name="Text 11"/>
          <p:cNvSpPr txBox="1"/>
          <p:nvPr/>
        </p:nvSpPr>
        <p:spPr>
          <a:xfrm>
            <a:off x="619049" y="2212848"/>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이 고객의 최근 불편은 무엇이고 이전 상담과 무엇이 달라졌는가?</a:t>
            </a:r>
            <a:endParaRPr lang="en-US" sz="1400" dirty="0"/>
          </a:p>
        </p:txBody>
      </p:sp>
      <p:sp>
        <p:nvSpPr>
          <p:cNvPr id="15" name="Shape 12"/>
          <p:cNvSpPr/>
          <p:nvPr/>
        </p:nvSpPr>
        <p:spPr>
          <a:xfrm>
            <a:off x="4258361" y="2450592"/>
            <a:ext cx="329184" cy="292608"/>
          </a:xfrm>
          <a:prstGeom prst="roundRect">
            <a:avLst>
              <a:gd name="adj" fmla="val 25000"/>
            </a:avLst>
          </a:prstGeom>
          <a:solidFill>
            <a:srgbClr val="2E74C6"/>
          </a:solidFill>
          <a:ln/>
        </p:spPr>
        <p:txBody>
          <a:bodyPr/>
          <a:lstStyle/>
          <a:p>
            <a:endParaRPr/>
          </a:p>
        </p:txBody>
      </p:sp>
      <p:sp>
        <p:nvSpPr>
          <p:cNvPr id="16" name="Text 13"/>
          <p:cNvSpPr txBox="1"/>
          <p:nvPr/>
        </p:nvSpPr>
        <p:spPr>
          <a:xfrm>
            <a:off x="425836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17" name="Shape 14"/>
          <p:cNvSpPr/>
          <p:nvPr/>
        </p:nvSpPr>
        <p:spPr>
          <a:xfrm>
            <a:off x="4624121" y="2450592"/>
            <a:ext cx="329184" cy="292608"/>
          </a:xfrm>
          <a:prstGeom prst="roundRect">
            <a:avLst>
              <a:gd name="adj" fmla="val 25000"/>
            </a:avLst>
          </a:prstGeom>
          <a:solidFill>
            <a:srgbClr val="2E74C6"/>
          </a:solidFill>
          <a:ln/>
        </p:spPr>
        <p:txBody>
          <a:bodyPr/>
          <a:lstStyle/>
          <a:p>
            <a:endParaRPr/>
          </a:p>
        </p:txBody>
      </p:sp>
      <p:sp>
        <p:nvSpPr>
          <p:cNvPr id="18" name="Text 15"/>
          <p:cNvSpPr txBox="1"/>
          <p:nvPr/>
        </p:nvSpPr>
        <p:spPr>
          <a:xfrm>
            <a:off x="462412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19" name="Shape 16"/>
          <p:cNvSpPr/>
          <p:nvPr/>
        </p:nvSpPr>
        <p:spPr>
          <a:xfrm>
            <a:off x="509321" y="3054096"/>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0" name="Text 17"/>
          <p:cNvSpPr txBox="1"/>
          <p:nvPr/>
        </p:nvSpPr>
        <p:spPr>
          <a:xfrm>
            <a:off x="619049" y="3054096"/>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어떤 제안을 받아들이거나 거절했으며 고객이 밝힌 이유는 무엇인가?</a:t>
            </a:r>
            <a:endParaRPr lang="en-US" sz="1400" dirty="0"/>
          </a:p>
        </p:txBody>
      </p:sp>
      <p:sp>
        <p:nvSpPr>
          <p:cNvPr id="21" name="Shape 18"/>
          <p:cNvSpPr/>
          <p:nvPr/>
        </p:nvSpPr>
        <p:spPr>
          <a:xfrm>
            <a:off x="4624121" y="3291840"/>
            <a:ext cx="329184" cy="292608"/>
          </a:xfrm>
          <a:prstGeom prst="roundRect">
            <a:avLst>
              <a:gd name="adj" fmla="val 25000"/>
            </a:avLst>
          </a:prstGeom>
          <a:solidFill>
            <a:srgbClr val="2E74C6"/>
          </a:solidFill>
          <a:ln/>
        </p:spPr>
        <p:txBody>
          <a:bodyPr/>
          <a:lstStyle/>
          <a:p>
            <a:endParaRPr/>
          </a:p>
        </p:txBody>
      </p:sp>
      <p:sp>
        <p:nvSpPr>
          <p:cNvPr id="22" name="Text 19"/>
          <p:cNvSpPr txBox="1"/>
          <p:nvPr/>
        </p:nvSpPr>
        <p:spPr>
          <a:xfrm>
            <a:off x="462412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3" name="Shape 20"/>
          <p:cNvSpPr/>
          <p:nvPr/>
        </p:nvSpPr>
        <p:spPr>
          <a:xfrm>
            <a:off x="509321" y="3895344"/>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4" name="Text 21"/>
          <p:cNvSpPr txBox="1"/>
          <p:nvPr/>
        </p:nvSpPr>
        <p:spPr>
          <a:xfrm>
            <a:off x="619049" y="3895344"/>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Q15</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M-1042 회원은 생활비를 이 카드로 옮기는 것을 왜 원하지 않았나요?</a:t>
            </a:r>
            <a:endParaRPr lang="en-US" sz="1400" dirty="0"/>
          </a:p>
        </p:txBody>
      </p:sp>
      <p:sp>
        <p:nvSpPr>
          <p:cNvPr id="25" name="Shape 22"/>
          <p:cNvSpPr/>
          <p:nvPr/>
        </p:nvSpPr>
        <p:spPr>
          <a:xfrm>
            <a:off x="4624121" y="4133088"/>
            <a:ext cx="329184" cy="292608"/>
          </a:xfrm>
          <a:prstGeom prst="roundRect">
            <a:avLst>
              <a:gd name="adj" fmla="val 25000"/>
            </a:avLst>
          </a:prstGeom>
          <a:solidFill>
            <a:srgbClr val="2E74C6"/>
          </a:solidFill>
          <a:ln/>
        </p:spPr>
        <p:txBody>
          <a:bodyPr/>
          <a:lstStyle/>
          <a:p>
            <a:endParaRPr/>
          </a:p>
        </p:txBody>
      </p:sp>
      <p:sp>
        <p:nvSpPr>
          <p:cNvPr id="26" name="Text 23"/>
          <p:cNvSpPr txBox="1"/>
          <p:nvPr/>
        </p:nvSpPr>
        <p:spPr>
          <a:xfrm>
            <a:off x="462412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7" name="Shape 24"/>
          <p:cNvSpPr/>
          <p:nvPr/>
        </p:nvSpPr>
        <p:spPr>
          <a:xfrm>
            <a:off x="509321" y="4736592"/>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8" name="Text 25"/>
          <p:cNvSpPr txBox="1"/>
          <p:nvPr/>
        </p:nvSpPr>
        <p:spPr>
          <a:xfrm>
            <a:off x="619049" y="4736592"/>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Q16</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M-3001 회원은 … 어떤 조건이면 옮기겠다고 했나요?</a:t>
            </a:r>
            <a:endParaRPr lang="en-US" sz="1400" dirty="0"/>
          </a:p>
        </p:txBody>
      </p:sp>
      <p:sp>
        <p:nvSpPr>
          <p:cNvPr id="29" name="Shape 26"/>
          <p:cNvSpPr/>
          <p:nvPr/>
        </p:nvSpPr>
        <p:spPr>
          <a:xfrm>
            <a:off x="4624121" y="4974336"/>
            <a:ext cx="329184" cy="292608"/>
          </a:xfrm>
          <a:prstGeom prst="roundRect">
            <a:avLst>
              <a:gd name="adj" fmla="val 25000"/>
            </a:avLst>
          </a:prstGeom>
          <a:solidFill>
            <a:srgbClr val="2E74C6"/>
          </a:solidFill>
          <a:ln/>
        </p:spPr>
        <p:txBody>
          <a:bodyPr/>
          <a:lstStyle/>
          <a:p>
            <a:endParaRPr/>
          </a:p>
        </p:txBody>
      </p:sp>
      <p:sp>
        <p:nvSpPr>
          <p:cNvPr id="30" name="Text 27"/>
          <p:cNvSpPr txBox="1"/>
          <p:nvPr/>
        </p:nvSpPr>
        <p:spPr>
          <a:xfrm>
            <a:off x="462412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31" name="Shape 28"/>
          <p:cNvSpPr/>
          <p:nvPr/>
        </p:nvSpPr>
        <p:spPr>
          <a:xfrm>
            <a:off x="5401361" y="2212848"/>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2" name="Shape 29"/>
          <p:cNvSpPr/>
          <p:nvPr/>
        </p:nvSpPr>
        <p:spPr>
          <a:xfrm>
            <a:off x="5492801" y="2450592"/>
            <a:ext cx="329184" cy="292608"/>
          </a:xfrm>
          <a:prstGeom prst="roundRect">
            <a:avLst>
              <a:gd name="adj" fmla="val 25000"/>
            </a:avLst>
          </a:prstGeom>
          <a:solidFill>
            <a:srgbClr val="2E74C6"/>
          </a:solidFill>
          <a:ln/>
        </p:spPr>
        <p:txBody>
          <a:bodyPr/>
          <a:lstStyle/>
          <a:p>
            <a:endParaRPr/>
          </a:p>
        </p:txBody>
      </p:sp>
      <p:sp>
        <p:nvSpPr>
          <p:cNvPr id="33" name="Text 30"/>
          <p:cNvSpPr txBox="1"/>
          <p:nvPr/>
        </p:nvSpPr>
        <p:spPr>
          <a:xfrm>
            <a:off x="549280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34" name="Text 31"/>
          <p:cNvSpPr txBox="1"/>
          <p:nvPr/>
        </p:nvSpPr>
        <p:spPr>
          <a:xfrm>
            <a:off x="5904281" y="2212848"/>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최근 불편과 그 원인은?</a:t>
            </a:r>
            <a:endParaRPr lang="en-US" sz="1400" dirty="0"/>
          </a:p>
        </p:txBody>
      </p:sp>
      <p:sp>
        <p:nvSpPr>
          <p:cNvPr id="35" name="Shape 32"/>
          <p:cNvSpPr/>
          <p:nvPr/>
        </p:nvSpPr>
        <p:spPr>
          <a:xfrm>
            <a:off x="5401361" y="3054096"/>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6" name="Shape 33"/>
          <p:cNvSpPr/>
          <p:nvPr/>
        </p:nvSpPr>
        <p:spPr>
          <a:xfrm>
            <a:off x="5492801" y="3291840"/>
            <a:ext cx="329184" cy="292608"/>
          </a:xfrm>
          <a:prstGeom prst="roundRect">
            <a:avLst>
              <a:gd name="adj" fmla="val 25000"/>
            </a:avLst>
          </a:prstGeom>
          <a:solidFill>
            <a:srgbClr val="2E74C6"/>
          </a:solidFill>
          <a:ln/>
        </p:spPr>
        <p:txBody>
          <a:bodyPr/>
          <a:lstStyle/>
          <a:p>
            <a:endParaRPr/>
          </a:p>
        </p:txBody>
      </p:sp>
      <p:sp>
        <p:nvSpPr>
          <p:cNvPr id="37" name="Text 34"/>
          <p:cNvSpPr txBox="1"/>
          <p:nvPr/>
        </p:nvSpPr>
        <p:spPr>
          <a:xfrm>
            <a:off x="549280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38" name="Text 35"/>
          <p:cNvSpPr txBox="1"/>
          <p:nvPr/>
        </p:nvSpPr>
        <p:spPr>
          <a:xfrm>
            <a:off x="5904281" y="3054096"/>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{회원}이 받은 제안과 수용 또는 거절, 이유는?</a:t>
            </a:r>
            <a:endParaRPr lang="en-US" sz="1400" dirty="0"/>
          </a:p>
        </p:txBody>
      </p:sp>
      <p:sp>
        <p:nvSpPr>
          <p:cNvPr id="39" name="Shape 36"/>
          <p:cNvSpPr/>
          <p:nvPr/>
        </p:nvSpPr>
        <p:spPr>
          <a:xfrm>
            <a:off x="5401361" y="3895344"/>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0" name="Shape 37"/>
          <p:cNvSpPr/>
          <p:nvPr/>
        </p:nvSpPr>
        <p:spPr>
          <a:xfrm>
            <a:off x="5492801" y="4133088"/>
            <a:ext cx="329184" cy="292608"/>
          </a:xfrm>
          <a:prstGeom prst="roundRect">
            <a:avLst>
              <a:gd name="adj" fmla="val 25000"/>
            </a:avLst>
          </a:prstGeom>
          <a:solidFill>
            <a:srgbClr val="2E74C6"/>
          </a:solidFill>
          <a:ln/>
        </p:spPr>
        <p:txBody>
          <a:bodyPr/>
          <a:lstStyle/>
          <a:p>
            <a:endParaRPr/>
          </a:p>
        </p:txBody>
      </p:sp>
      <p:sp>
        <p:nvSpPr>
          <p:cNvPr id="41" name="Text 38"/>
          <p:cNvSpPr txBox="1"/>
          <p:nvPr/>
        </p:nvSpPr>
        <p:spPr>
          <a:xfrm>
            <a:off x="549280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42" name="Text 39"/>
          <p:cNvSpPr txBox="1"/>
          <p:nvPr/>
        </p:nvSpPr>
        <p:spPr>
          <a:xfrm>
            <a:off x="5904281" y="3895344"/>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{회원}은 어떤 조건이면 다시 보나?</a:t>
            </a:r>
            <a:endParaRPr lang="en-US" sz="1400" dirty="0"/>
          </a:p>
        </p:txBody>
      </p:sp>
      <p:sp>
        <p:nvSpPr>
          <p:cNvPr id="43" name="Shape 40"/>
          <p:cNvSpPr/>
          <p:nvPr/>
        </p:nvSpPr>
        <p:spPr>
          <a:xfrm>
            <a:off x="5401361" y="4736592"/>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4" name="Shape 41"/>
          <p:cNvSpPr/>
          <p:nvPr/>
        </p:nvSpPr>
        <p:spPr>
          <a:xfrm>
            <a:off x="5492801" y="4974336"/>
            <a:ext cx="329184" cy="292608"/>
          </a:xfrm>
          <a:prstGeom prst="roundRect">
            <a:avLst>
              <a:gd name="adj" fmla="val 25000"/>
            </a:avLst>
          </a:prstGeom>
          <a:solidFill>
            <a:srgbClr val="2E74C6"/>
          </a:solidFill>
          <a:ln/>
        </p:spPr>
        <p:txBody>
          <a:bodyPr/>
          <a:lstStyle/>
          <a:p>
            <a:endParaRPr/>
          </a:p>
        </p:txBody>
      </p:sp>
      <p:sp>
        <p:nvSpPr>
          <p:cNvPr id="45" name="Text 42"/>
          <p:cNvSpPr txBox="1"/>
          <p:nvPr/>
        </p:nvSpPr>
        <p:spPr>
          <a:xfrm>
            <a:off x="549280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46" name="Text 43"/>
          <p:cNvSpPr txBox="1"/>
          <p:nvPr/>
        </p:nvSpPr>
        <p:spPr>
          <a:xfrm>
            <a:off x="5904281" y="4736592"/>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이 상담은 어느 상담과 이어지나?</a:t>
            </a:r>
            <a:endParaRPr lang="en-US" sz="1400" dirty="0"/>
          </a:p>
        </p:txBody>
      </p:sp>
      <p:sp>
        <p:nvSpPr>
          <p:cNvPr id="47" name="Shape 44"/>
          <p:cNvSpPr/>
          <p:nvPr/>
        </p:nvSpPr>
        <p:spPr>
          <a:xfrm>
            <a:off x="9241841" y="2212848"/>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48" name="Shape 45"/>
          <p:cNvSpPr/>
          <p:nvPr/>
        </p:nvSpPr>
        <p:spPr>
          <a:xfrm>
            <a:off x="9333281" y="2350008"/>
            <a:ext cx="329184"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9333281" y="235000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50" name="Text 47"/>
          <p:cNvSpPr txBox="1"/>
          <p:nvPr/>
        </p:nvSpPr>
        <p:spPr>
          <a:xfrm>
            <a:off x="9744761" y="2212848"/>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1. 고객이 말한 불만 원인은 무엇인가?</a:t>
            </a:r>
            <a:endParaRPr lang="en-US" sz="1400" dirty="0"/>
          </a:p>
        </p:txBody>
      </p:sp>
      <p:sp>
        <p:nvSpPr>
          <p:cNvPr id="51" name="Shape 48"/>
          <p:cNvSpPr/>
          <p:nvPr/>
        </p:nvSpPr>
        <p:spPr>
          <a:xfrm>
            <a:off x="9241841" y="2843784"/>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2" name="Shape 49"/>
          <p:cNvSpPr/>
          <p:nvPr/>
        </p:nvSpPr>
        <p:spPr>
          <a:xfrm>
            <a:off x="9333281" y="2980944"/>
            <a:ext cx="329184" cy="292608"/>
          </a:xfrm>
          <a:prstGeom prst="roundRect">
            <a:avLst>
              <a:gd name="adj" fmla="val 25000"/>
            </a:avLst>
          </a:prstGeom>
          <a:solidFill>
            <a:srgbClr val="2E74C6"/>
          </a:solidFill>
          <a:ln/>
        </p:spPr>
        <p:txBody>
          <a:bodyPr/>
          <a:lstStyle/>
          <a:p>
            <a:endParaRPr/>
          </a:p>
        </p:txBody>
      </p:sp>
      <p:sp>
        <p:nvSpPr>
          <p:cNvPr id="53" name="Text 50"/>
          <p:cNvSpPr txBox="1"/>
          <p:nvPr/>
        </p:nvSpPr>
        <p:spPr>
          <a:xfrm>
            <a:off x="9333281" y="2980944"/>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4" name="Text 51"/>
          <p:cNvSpPr txBox="1"/>
          <p:nvPr/>
        </p:nvSpPr>
        <p:spPr>
          <a:xfrm>
            <a:off x="9744761" y="2843784"/>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 상담사가 어떤 제안을 했는가?</a:t>
            </a:r>
            <a:endParaRPr lang="en-US" sz="1400" dirty="0"/>
          </a:p>
        </p:txBody>
      </p:sp>
      <p:sp>
        <p:nvSpPr>
          <p:cNvPr id="55" name="Shape 52"/>
          <p:cNvSpPr/>
          <p:nvPr/>
        </p:nvSpPr>
        <p:spPr>
          <a:xfrm>
            <a:off x="9241841" y="3474720"/>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6" name="Shape 53"/>
          <p:cNvSpPr/>
          <p:nvPr/>
        </p:nvSpPr>
        <p:spPr>
          <a:xfrm>
            <a:off x="9333281" y="3611880"/>
            <a:ext cx="329184" cy="292608"/>
          </a:xfrm>
          <a:prstGeom prst="roundRect">
            <a:avLst>
              <a:gd name="adj" fmla="val 25000"/>
            </a:avLst>
          </a:prstGeom>
          <a:solidFill>
            <a:srgbClr val="2E74C6"/>
          </a:solidFill>
          <a:ln/>
        </p:spPr>
        <p:txBody>
          <a:bodyPr/>
          <a:lstStyle/>
          <a:p>
            <a:endParaRPr/>
          </a:p>
        </p:txBody>
      </p:sp>
      <p:sp>
        <p:nvSpPr>
          <p:cNvPr id="57" name="Text 54"/>
          <p:cNvSpPr txBox="1"/>
          <p:nvPr/>
        </p:nvSpPr>
        <p:spPr>
          <a:xfrm>
            <a:off x="9333281" y="361188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8" name="Text 55"/>
          <p:cNvSpPr txBox="1"/>
          <p:nvPr/>
        </p:nvSpPr>
        <p:spPr>
          <a:xfrm>
            <a:off x="9744761" y="3474720"/>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 고객은 그 제안을 수용했는가, 거절했는가, 보류했는가? 그 이유는?</a:t>
            </a:r>
            <a:endParaRPr lang="en-US" sz="1400" dirty="0"/>
          </a:p>
        </p:txBody>
      </p:sp>
      <p:sp>
        <p:nvSpPr>
          <p:cNvPr id="59" name="Shape 56"/>
          <p:cNvSpPr/>
          <p:nvPr/>
        </p:nvSpPr>
        <p:spPr>
          <a:xfrm>
            <a:off x="9241841" y="4105656"/>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0" name="Shape 57"/>
          <p:cNvSpPr/>
          <p:nvPr/>
        </p:nvSpPr>
        <p:spPr>
          <a:xfrm>
            <a:off x="9333281" y="4242816"/>
            <a:ext cx="329184" cy="292608"/>
          </a:xfrm>
          <a:prstGeom prst="roundRect">
            <a:avLst>
              <a:gd name="adj" fmla="val 25000"/>
            </a:avLst>
          </a:prstGeom>
          <a:solidFill>
            <a:srgbClr val="2E74C6"/>
          </a:solidFill>
          <a:ln/>
        </p:spPr>
        <p:txBody>
          <a:bodyPr/>
          <a:lstStyle/>
          <a:p>
            <a:endParaRPr/>
          </a:p>
        </p:txBody>
      </p:sp>
      <p:sp>
        <p:nvSpPr>
          <p:cNvPr id="61" name="Text 58"/>
          <p:cNvSpPr txBox="1"/>
          <p:nvPr/>
        </p:nvSpPr>
        <p:spPr>
          <a:xfrm>
            <a:off x="9333281" y="424281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62" name="Text 59"/>
          <p:cNvSpPr txBox="1"/>
          <p:nvPr/>
        </p:nvSpPr>
        <p:spPr>
          <a:xfrm>
            <a:off x="9744761" y="4105656"/>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4. 고객은 어떤 조건이 되면 다시 검토하겠다고 했는가?</a:t>
            </a:r>
            <a:endParaRPr lang="en-US" sz="1400" dirty="0"/>
          </a:p>
        </p:txBody>
      </p:sp>
      <p:sp>
        <p:nvSpPr>
          <p:cNvPr id="63" name="Shape 60"/>
          <p:cNvSpPr/>
          <p:nvPr/>
        </p:nvSpPr>
        <p:spPr>
          <a:xfrm>
            <a:off x="9241841" y="4736592"/>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4" name="Shape 61"/>
          <p:cNvSpPr/>
          <p:nvPr/>
        </p:nvSpPr>
        <p:spPr>
          <a:xfrm>
            <a:off x="9333281" y="4873752"/>
            <a:ext cx="329184" cy="292608"/>
          </a:xfrm>
          <a:prstGeom prst="roundRect">
            <a:avLst>
              <a:gd name="adj" fmla="val 25000"/>
            </a:avLst>
          </a:prstGeom>
          <a:solidFill>
            <a:srgbClr val="2E74C6"/>
          </a:solidFill>
          <a:ln/>
        </p:spPr>
        <p:txBody>
          <a:bodyPr/>
          <a:lstStyle/>
          <a:p>
            <a:endParaRPr/>
          </a:p>
        </p:txBody>
      </p:sp>
      <p:sp>
        <p:nvSpPr>
          <p:cNvPr id="65" name="Text 62"/>
          <p:cNvSpPr txBox="1"/>
          <p:nvPr/>
        </p:nvSpPr>
        <p:spPr>
          <a:xfrm>
            <a:off x="9333281" y="487375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66" name="Text 63"/>
          <p:cNvSpPr txBox="1"/>
          <p:nvPr/>
        </p:nvSpPr>
        <p:spPr>
          <a:xfrm>
            <a:off x="9744761" y="4736592"/>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5. 이 상담은 같은 고객의 어떤 이전 상담과 이어지는가?</a:t>
            </a:r>
            <a:endParaRPr lang="en-US" sz="1400" dirty="0"/>
          </a:p>
        </p:txBody>
      </p:sp>
      <p:sp>
        <p:nvSpPr>
          <p:cNvPr id="67" name="Shape 64"/>
          <p:cNvSpPr/>
          <p:nvPr/>
        </p:nvSpPr>
        <p:spPr>
          <a:xfrm>
            <a:off x="50932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68" name="Text 65"/>
          <p:cNvSpPr txBox="1"/>
          <p:nvPr/>
        </p:nvSpPr>
        <p:spPr>
          <a:xfrm>
            <a:off x="64648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답이 될 이름은 쓰지 않음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피함: "Complaint 노드의 cause는?"   권함: "고객이 말한 불만 원인은?"</a:t>
            </a:r>
            <a:endParaRPr lang="en-US" sz="1400" dirty="0"/>
          </a:p>
        </p:txBody>
      </p:sp>
      <p:sp>
        <p:nvSpPr>
          <p:cNvPr id="69" name="Shape 66"/>
          <p:cNvSpPr/>
          <p:nvPr/>
        </p:nvSpPr>
        <p:spPr>
          <a:xfrm>
            <a:off x="745876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70" name="Text 67"/>
          <p:cNvSpPr txBox="1"/>
          <p:nvPr/>
        </p:nvSpPr>
        <p:spPr>
          <a:xfrm>
            <a:off x="759592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다른 문서도 같은 방법(각 5개)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약관: 어떤 조건을 채우면 어떤 면제나 혜택을 받는가?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혜택: 혜택의 한도와 제외 대상은 무엇인가?</a:t>
            </a:r>
            <a:endParaRPr lang="en-US" sz="1400" dirty="0"/>
          </a:p>
        </p:txBody>
      </p:sp>
      <p:sp>
        <p:nvSpPr>
          <p:cNvPr id="71" name="Shape 68"/>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72" name="Shape 69"/>
          <p:cNvSpPr/>
          <p:nvPr/>
        </p:nvSpPr>
        <p:spPr>
          <a:xfrm>
            <a:off x="509321" y="6510528"/>
            <a:ext cx="82296" cy="658368"/>
          </a:xfrm>
          <a:prstGeom prst="rect">
            <a:avLst/>
          </a:prstGeom>
          <a:solidFill>
            <a:srgbClr val="2E74C6"/>
          </a:solidFill>
          <a:ln/>
        </p:spPr>
        <p:txBody>
          <a:bodyPr/>
          <a:lstStyle/>
          <a:p>
            <a:endParaRPr/>
          </a:p>
        </p:txBody>
      </p:sp>
      <p:sp>
        <p:nvSpPr>
          <p:cNvPr id="73" name="Text 70"/>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초안은 LLM이 사용자 질문을 보고 작성하고 사람이 검토해 확정함. 개수는 정해 두지 않고 질문 유형마다 1개 이상</a:t>
            </a:r>
            <a:endParaRPr lang="en-US" sz="1600" dirty="0"/>
          </a:p>
        </p:txBody>
      </p:sp>
      <p:sp>
        <p:nvSpPr>
          <p:cNvPr id="74" name="Shape 71"/>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75" name="Text 72"/>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D3 상담 이력 안내문(검색 평가 질문), RAGAS 평가셋 Q15와 Q16, 역량 질문은 스키마 후보 실험에 쓴 문장 그대로</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② 스키마 후보 넓게 뽑기(예시: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묶음별 표본을 1건씩 SchemaFromTextExtractor에 넣고(역량 질문만 examples로), 나온 이름을 모두 모음</a:t>
            </a:r>
            <a:endParaRPr lang="en-US" sz="1800" dirty="0"/>
          </a:p>
        </p:txBody>
      </p:sp>
      <p:sp>
        <p:nvSpPr>
          <p:cNvPr id="5" name="Shape 2"/>
          <p:cNvSpPr/>
          <p:nvPr/>
        </p:nvSpPr>
        <p:spPr>
          <a:xfrm>
            <a:off x="509321" y="1737360"/>
            <a:ext cx="42062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206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묶음과 표본 수</a:t>
            </a:r>
            <a:endParaRPr lang="en-US" sz="1600" dirty="0"/>
          </a:p>
        </p:txBody>
      </p:sp>
      <p:sp>
        <p:nvSpPr>
          <p:cNvPr id="7" name="Shape 4"/>
          <p:cNvSpPr/>
          <p:nvPr/>
        </p:nvSpPr>
        <p:spPr>
          <a:xfrm>
            <a:off x="509321" y="221284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304288"/>
            <a:ext cx="731520" cy="914400"/>
          </a:xfrm>
          <a:prstGeom prst="roundRect">
            <a:avLst>
              <a:gd name="adj" fmla="val 7500"/>
            </a:avLst>
          </a:prstGeom>
          <a:solidFill>
            <a:srgbClr val="1E2A5C"/>
          </a:solidFill>
          <a:ln/>
        </p:spPr>
        <p:txBody>
          <a:bodyPr/>
          <a:lstStyle/>
          <a:p>
            <a:endParaRPr/>
          </a:p>
        </p:txBody>
      </p:sp>
      <p:sp>
        <p:nvSpPr>
          <p:cNvPr id="9" name="Text 6"/>
          <p:cNvSpPr txBox="1"/>
          <p:nvPr/>
        </p:nvSpPr>
        <p:spPr>
          <a:xfrm>
            <a:off x="600761" y="230428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약관</a:t>
            </a:r>
            <a:endParaRPr lang="en-US" sz="1500" dirty="0"/>
          </a:p>
        </p:txBody>
      </p:sp>
      <p:sp>
        <p:nvSpPr>
          <p:cNvPr id="10" name="Text 7"/>
          <p:cNvSpPr txBox="1"/>
          <p:nvPr/>
        </p:nvSpPr>
        <p:spPr>
          <a:xfrm>
            <a:off x="1442009" y="221284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10청크 → 묶음 1개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10건 전부 봄</a:t>
            </a:r>
            <a:endParaRPr lang="en-US" sz="1400" dirty="0"/>
          </a:p>
        </p:txBody>
      </p:sp>
      <p:sp>
        <p:nvSpPr>
          <p:cNvPr id="11" name="Shape 8"/>
          <p:cNvSpPr/>
          <p:nvPr/>
        </p:nvSpPr>
        <p:spPr>
          <a:xfrm>
            <a:off x="509321" y="340156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493008"/>
            <a:ext cx="731520" cy="914400"/>
          </a:xfrm>
          <a:prstGeom prst="roundRect">
            <a:avLst>
              <a:gd name="adj" fmla="val 7500"/>
            </a:avLst>
          </a:prstGeom>
          <a:solidFill>
            <a:srgbClr val="1E2A5C"/>
          </a:solidFill>
          <a:ln/>
        </p:spPr>
        <p:txBody>
          <a:bodyPr/>
          <a:lstStyle/>
          <a:p>
            <a:endParaRPr/>
          </a:p>
        </p:txBody>
      </p:sp>
      <p:sp>
        <p:nvSpPr>
          <p:cNvPr id="13" name="Text 10"/>
          <p:cNvSpPr txBox="1"/>
          <p:nvPr/>
        </p:nvSpPr>
        <p:spPr>
          <a:xfrm>
            <a:off x="600761" y="349300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상담</a:t>
            </a:r>
            <a:endParaRPr lang="en-US" sz="1500" dirty="0"/>
          </a:p>
        </p:txBody>
      </p:sp>
      <p:sp>
        <p:nvSpPr>
          <p:cNvPr id="14" name="Text 11"/>
          <p:cNvSpPr txBox="1"/>
          <p:nvPr/>
        </p:nvSpPr>
        <p:spPr>
          <a:xfrm>
            <a:off x="1442009" y="340156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48건 → 고객 세그먼트 묶음 6개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12건(묶음마다 2건), 상한 30건</a:t>
            </a:r>
            <a:endParaRPr lang="en-US" sz="1400" dirty="0"/>
          </a:p>
        </p:txBody>
      </p:sp>
      <p:sp>
        <p:nvSpPr>
          <p:cNvPr id="15" name="Shape 12"/>
          <p:cNvSpPr/>
          <p:nvPr/>
        </p:nvSpPr>
        <p:spPr>
          <a:xfrm>
            <a:off x="509321" y="459028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4681728"/>
            <a:ext cx="731520" cy="914400"/>
          </a:xfrm>
          <a:prstGeom prst="roundRect">
            <a:avLst>
              <a:gd name="adj" fmla="val 7500"/>
            </a:avLst>
          </a:prstGeom>
          <a:solidFill>
            <a:srgbClr val="1E2A5C"/>
          </a:solidFill>
          <a:ln/>
        </p:spPr>
        <p:txBody>
          <a:bodyPr/>
          <a:lstStyle/>
          <a:p>
            <a:endParaRPr/>
          </a:p>
        </p:txBody>
      </p:sp>
      <p:sp>
        <p:nvSpPr>
          <p:cNvPr id="17" name="Text 14"/>
          <p:cNvSpPr txBox="1"/>
          <p:nvPr/>
        </p:nvSpPr>
        <p:spPr>
          <a:xfrm>
            <a:off x="600761" y="468172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혜택</a:t>
            </a:r>
            <a:endParaRPr lang="en-US" sz="1500" dirty="0"/>
          </a:p>
        </p:txBody>
      </p:sp>
      <p:sp>
        <p:nvSpPr>
          <p:cNvPr id="18" name="Text 15"/>
          <p:cNvSpPr txBox="1"/>
          <p:nvPr/>
        </p:nvSpPr>
        <p:spPr>
          <a:xfrm>
            <a:off x="1442009" y="459028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160청크 → 묶음 4개(공통 안내 4, 참고 카드 7, 카드 개요 64, 혜택 상세 85)</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4, 7, 10, 10건, 묶음마다 상한 30건</a:t>
            </a:r>
            <a:endParaRPr lang="en-US" sz="1400" dirty="0"/>
          </a:p>
        </p:txBody>
      </p:sp>
      <p:sp>
        <p:nvSpPr>
          <p:cNvPr id="20" name="Shape 17"/>
          <p:cNvSpPr/>
          <p:nvPr/>
        </p:nvSpPr>
        <p:spPr>
          <a:xfrm>
            <a:off x="4989881" y="1737360"/>
            <a:ext cx="484632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4989881" y="1737360"/>
            <a:ext cx="48463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1건: C-20260701-016(타사 관리 절차 비교)</a:t>
            </a:r>
            <a:endParaRPr lang="en-US" sz="1600" dirty="0"/>
          </a:p>
        </p:txBody>
      </p:sp>
      <p:sp>
        <p:nvSpPr>
          <p:cNvPr id="22" name="Shape 19"/>
          <p:cNvSpPr/>
          <p:nvPr/>
        </p:nvSpPr>
        <p:spPr>
          <a:xfrm>
            <a:off x="4989881" y="2212848"/>
            <a:ext cx="4846320" cy="1627632"/>
          </a:xfrm>
          <a:prstGeom prst="roundRect">
            <a:avLst>
              <a:gd name="adj" fmla="val 3371"/>
            </a:avLst>
          </a:prstGeom>
          <a:solidFill>
            <a:srgbClr val="F5F8FC"/>
          </a:solidFill>
          <a:ln w="12700">
            <a:solidFill>
              <a:srgbClr val="D9E0EC"/>
            </a:solidFill>
            <a:prstDash val="solid"/>
          </a:ln>
        </p:spPr>
        <p:txBody>
          <a:bodyPr/>
          <a:lstStyle/>
          <a:p>
            <a:endParaRPr/>
          </a:p>
        </p:txBody>
      </p:sp>
      <p:sp>
        <p:nvSpPr>
          <p:cNvPr id="23" name="Text 20"/>
          <p:cNvSpPr txBox="1"/>
          <p:nvPr/>
        </p:nvSpPr>
        <p:spPr>
          <a:xfrm>
            <a:off x="5099609" y="2249424"/>
            <a:ext cx="4626864" cy="155448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고객: 전환 신청은 아직 안 했어요. 매달 신청을 반복해야 하는 게 불만의 원인이에요.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상담사: 지금 카드를 유지하시면 자주 쓰시는 곳 할인을 늘릴 수 있는지 확인해 볼까요?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그건 다음 결제일이 지나고 다시 볼게요. …</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2026-06-26 상담 C-20260626-011과 이어지는 기록으로 남겨 주세요.</a:t>
            </a:r>
            <a:endParaRPr lang="en-US" sz="1400" dirty="0"/>
          </a:p>
        </p:txBody>
      </p:sp>
      <p:sp>
        <p:nvSpPr>
          <p:cNvPr id="24" name="Shape 21"/>
          <p:cNvSpPr/>
          <p:nvPr/>
        </p:nvSpPr>
        <p:spPr>
          <a:xfrm>
            <a:off x="5218481" y="3858768"/>
            <a:ext cx="0" cy="274320"/>
          </a:xfrm>
          <a:prstGeom prst="line">
            <a:avLst/>
          </a:prstGeom>
          <a:noFill/>
          <a:ln w="25400">
            <a:solidFill>
              <a:srgbClr val="1E2A5C"/>
            </a:solidFill>
            <a:prstDash val="solid"/>
            <a:tailEnd type="triangle"/>
          </a:ln>
        </p:spPr>
        <p:txBody>
          <a:bodyPr/>
          <a:lstStyle/>
          <a:p>
            <a:endParaRPr/>
          </a:p>
        </p:txBody>
      </p:sp>
      <p:sp>
        <p:nvSpPr>
          <p:cNvPr id="25" name="Text 22"/>
          <p:cNvSpPr txBox="1"/>
          <p:nvPr/>
        </p:nvSpPr>
        <p:spPr>
          <a:xfrm>
            <a:off x="5373929" y="3858768"/>
            <a:ext cx="4462272"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SchemaFromTextExtractor(examples = 역량 질문)</a:t>
            </a:r>
            <a:endParaRPr lang="en-US" sz="1400" dirty="0"/>
          </a:p>
        </p:txBody>
      </p:sp>
      <p:sp>
        <p:nvSpPr>
          <p:cNvPr id="26" name="Shape 23"/>
          <p:cNvSpPr/>
          <p:nvPr/>
        </p:nvSpPr>
        <p:spPr>
          <a:xfrm>
            <a:off x="4989881" y="4169664"/>
            <a:ext cx="4846320" cy="2212848"/>
          </a:xfrm>
          <a:prstGeom prst="roundRect">
            <a:avLst>
              <a:gd name="adj" fmla="val 2479"/>
            </a:avLst>
          </a:prstGeom>
          <a:solidFill>
            <a:srgbClr val="FFFFFF"/>
          </a:solidFill>
          <a:ln w="12700">
            <a:solidFill>
              <a:srgbClr val="2E74C6"/>
            </a:solidFill>
            <a:prstDash val="solid"/>
          </a:ln>
        </p:spPr>
        <p:txBody>
          <a:bodyPr/>
          <a:lstStyle/>
          <a:p>
            <a:endParaRPr/>
          </a:p>
        </p:txBody>
      </p:sp>
      <p:sp>
        <p:nvSpPr>
          <p:cNvPr id="27" name="Text 24"/>
          <p:cNvSpPr txBox="1"/>
          <p:nvPr/>
        </p:nvSpPr>
        <p:spPr>
          <a:xfrm>
            <a:off x="5099609" y="4224528"/>
            <a:ext cx="27432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나온 노드 타입 6개</a:t>
            </a:r>
            <a:endParaRPr lang="en-US" sz="1400" dirty="0"/>
          </a:p>
        </p:txBody>
      </p:sp>
      <p:sp>
        <p:nvSpPr>
          <p:cNvPr id="28" name="Shape 25"/>
          <p:cNvSpPr/>
          <p:nvPr/>
        </p:nvSpPr>
        <p:spPr>
          <a:xfrm>
            <a:off x="5099609" y="4553712"/>
            <a:ext cx="969264" cy="310896"/>
          </a:xfrm>
          <a:prstGeom prst="roundRect">
            <a:avLst>
              <a:gd name="adj" fmla="val 23529"/>
            </a:avLst>
          </a:prstGeom>
          <a:solidFill>
            <a:srgbClr val="F5F8FC"/>
          </a:solidFill>
          <a:ln/>
        </p:spPr>
        <p:txBody>
          <a:bodyPr/>
          <a:lstStyle/>
          <a:p>
            <a:endParaRPr/>
          </a:p>
        </p:txBody>
      </p:sp>
      <p:sp>
        <p:nvSpPr>
          <p:cNvPr id="29" name="Text 26"/>
          <p:cNvSpPr txBox="1"/>
          <p:nvPr/>
        </p:nvSpPr>
        <p:spPr>
          <a:xfrm>
            <a:off x="5099609" y="4553712"/>
            <a:ext cx="969264"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Customer</a:t>
            </a:r>
            <a:endParaRPr lang="en-US" sz="1400" dirty="0"/>
          </a:p>
        </p:txBody>
      </p:sp>
      <p:sp>
        <p:nvSpPr>
          <p:cNvPr id="30" name="Shape 27"/>
          <p:cNvSpPr/>
          <p:nvPr/>
        </p:nvSpPr>
        <p:spPr>
          <a:xfrm>
            <a:off x="6160313" y="4553712"/>
            <a:ext cx="1257300" cy="310896"/>
          </a:xfrm>
          <a:prstGeom prst="roundRect">
            <a:avLst>
              <a:gd name="adj" fmla="val 23529"/>
            </a:avLst>
          </a:prstGeom>
          <a:solidFill>
            <a:srgbClr val="F5F8FC"/>
          </a:solidFill>
          <a:ln/>
        </p:spPr>
        <p:txBody>
          <a:bodyPr/>
          <a:lstStyle/>
          <a:p>
            <a:endParaRPr/>
          </a:p>
        </p:txBody>
      </p:sp>
      <p:sp>
        <p:nvSpPr>
          <p:cNvPr id="31" name="Text 28"/>
          <p:cNvSpPr txBox="1"/>
          <p:nvPr/>
        </p:nvSpPr>
        <p:spPr>
          <a:xfrm>
            <a:off x="6160313" y="4553712"/>
            <a:ext cx="125730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Transaction</a:t>
            </a:r>
            <a:endParaRPr lang="en-US" sz="1400" dirty="0"/>
          </a:p>
        </p:txBody>
      </p:sp>
      <p:sp>
        <p:nvSpPr>
          <p:cNvPr id="32" name="Shape 29"/>
          <p:cNvSpPr/>
          <p:nvPr/>
        </p:nvSpPr>
        <p:spPr>
          <a:xfrm>
            <a:off x="7509053" y="4553712"/>
            <a:ext cx="873252" cy="310896"/>
          </a:xfrm>
          <a:prstGeom prst="roundRect">
            <a:avLst>
              <a:gd name="adj" fmla="val 23529"/>
            </a:avLst>
          </a:prstGeom>
          <a:solidFill>
            <a:srgbClr val="F5F8FC"/>
          </a:solidFill>
          <a:ln/>
        </p:spPr>
        <p:txBody>
          <a:bodyPr/>
          <a:lstStyle/>
          <a:p>
            <a:endParaRPr/>
          </a:p>
        </p:txBody>
      </p:sp>
      <p:sp>
        <p:nvSpPr>
          <p:cNvPr id="33" name="Text 30"/>
          <p:cNvSpPr txBox="1"/>
          <p:nvPr/>
        </p:nvSpPr>
        <p:spPr>
          <a:xfrm>
            <a:off x="7509053" y="4553712"/>
            <a:ext cx="873252"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Request</a:t>
            </a:r>
            <a:endParaRPr lang="en-US" sz="1400" dirty="0"/>
          </a:p>
        </p:txBody>
      </p:sp>
      <p:sp>
        <p:nvSpPr>
          <p:cNvPr id="34" name="Shape 31"/>
          <p:cNvSpPr/>
          <p:nvPr/>
        </p:nvSpPr>
        <p:spPr>
          <a:xfrm>
            <a:off x="8473745" y="4553712"/>
            <a:ext cx="777240" cy="310896"/>
          </a:xfrm>
          <a:prstGeom prst="roundRect">
            <a:avLst>
              <a:gd name="adj" fmla="val 23529"/>
            </a:avLst>
          </a:prstGeom>
          <a:solidFill>
            <a:srgbClr val="F5F8FC"/>
          </a:solidFill>
          <a:ln/>
        </p:spPr>
        <p:txBody>
          <a:bodyPr/>
          <a:lstStyle/>
          <a:p>
            <a:endParaRPr/>
          </a:p>
        </p:txBody>
      </p:sp>
      <p:sp>
        <p:nvSpPr>
          <p:cNvPr id="35" name="Text 32"/>
          <p:cNvSpPr txBox="1"/>
          <p:nvPr/>
        </p:nvSpPr>
        <p:spPr>
          <a:xfrm>
            <a:off x="8473745" y="4553712"/>
            <a:ext cx="77724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Record</a:t>
            </a:r>
            <a:endParaRPr lang="en-US" sz="1400" dirty="0"/>
          </a:p>
        </p:txBody>
      </p:sp>
      <p:sp>
        <p:nvSpPr>
          <p:cNvPr id="36" name="Shape 33"/>
          <p:cNvSpPr/>
          <p:nvPr/>
        </p:nvSpPr>
        <p:spPr>
          <a:xfrm>
            <a:off x="5099609" y="4937760"/>
            <a:ext cx="969264" cy="310896"/>
          </a:xfrm>
          <a:prstGeom prst="roundRect">
            <a:avLst>
              <a:gd name="adj" fmla="val 23529"/>
            </a:avLst>
          </a:prstGeom>
          <a:solidFill>
            <a:srgbClr val="2E74C6"/>
          </a:solidFill>
          <a:ln/>
        </p:spPr>
        <p:txBody>
          <a:bodyPr/>
          <a:lstStyle/>
          <a:p>
            <a:endParaRPr/>
          </a:p>
        </p:txBody>
      </p:sp>
      <p:sp>
        <p:nvSpPr>
          <p:cNvPr id="37" name="Text 34"/>
          <p:cNvSpPr txBox="1"/>
          <p:nvPr/>
        </p:nvSpPr>
        <p:spPr>
          <a:xfrm>
            <a:off x="5099609" y="4937760"/>
            <a:ext cx="969264"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38" name="Shape 35"/>
          <p:cNvSpPr/>
          <p:nvPr/>
        </p:nvSpPr>
        <p:spPr>
          <a:xfrm>
            <a:off x="6160313" y="4937760"/>
            <a:ext cx="1065276" cy="310896"/>
          </a:xfrm>
          <a:prstGeom prst="roundRect">
            <a:avLst>
              <a:gd name="adj" fmla="val 23529"/>
            </a:avLst>
          </a:prstGeom>
          <a:solidFill>
            <a:srgbClr val="2E74C6"/>
          </a:solidFill>
          <a:ln/>
        </p:spPr>
        <p:txBody>
          <a:bodyPr/>
          <a:lstStyle/>
          <a:p>
            <a:endParaRPr/>
          </a:p>
        </p:txBody>
      </p:sp>
      <p:sp>
        <p:nvSpPr>
          <p:cNvPr id="39" name="Text 36"/>
          <p:cNvSpPr txBox="1"/>
          <p:nvPr/>
        </p:nvSpPr>
        <p:spPr>
          <a:xfrm>
            <a:off x="6160313" y="4937760"/>
            <a:ext cx="106527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Condition</a:t>
            </a:r>
            <a:endParaRPr lang="en-US" sz="1400" dirty="0"/>
          </a:p>
        </p:txBody>
      </p:sp>
      <p:sp>
        <p:nvSpPr>
          <p:cNvPr id="40" name="Text 37"/>
          <p:cNvSpPr txBox="1"/>
          <p:nvPr/>
        </p:nvSpPr>
        <p:spPr>
          <a:xfrm>
            <a:off x="5099609" y="5349240"/>
            <a:ext cx="4626864" cy="987552"/>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관계 7개: MAKES_REQUEST, PROVIDES_PROPOSAL, HAS_CONDITION, CONTINUES_WITH 등</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파랑 = 역량 질문에 답할 이름. Customer 속성으로 email, birthdate까지 제안 → 가명처리 대상이라 ③에서 버림</a:t>
            </a:r>
            <a:endParaRPr lang="en-US" sz="1400" dirty="0"/>
          </a:p>
        </p:txBody>
      </p:sp>
      <p:sp>
        <p:nvSpPr>
          <p:cNvPr id="41" name="Shape 38"/>
          <p:cNvSpPr/>
          <p:nvPr/>
        </p:nvSpPr>
        <p:spPr>
          <a:xfrm>
            <a:off x="10110521" y="1737360"/>
            <a:ext cx="4023360" cy="365760"/>
          </a:xfrm>
          <a:prstGeom prst="roundRect">
            <a:avLst>
              <a:gd name="adj" fmla="val 12500"/>
            </a:avLst>
          </a:prstGeom>
          <a:solidFill>
            <a:srgbClr val="1E2A5C"/>
          </a:solidFill>
          <a:ln/>
        </p:spPr>
        <p:txBody>
          <a:bodyPr/>
          <a:lstStyle/>
          <a:p>
            <a:endParaRPr/>
          </a:p>
        </p:txBody>
      </p:sp>
      <p:sp>
        <p:nvSpPr>
          <p:cNvPr id="42" name="Text 39"/>
          <p:cNvSpPr txBox="1"/>
          <p:nvPr/>
        </p:nvSpPr>
        <p:spPr>
          <a:xfrm>
            <a:off x="10110521" y="1737360"/>
            <a:ext cx="40233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30건을 모은 결과</a:t>
            </a:r>
            <a:endParaRPr lang="en-US" sz="1600" dirty="0"/>
          </a:p>
        </p:txBody>
      </p:sp>
      <p:sp>
        <p:nvSpPr>
          <p:cNvPr id="43" name="Shape 40"/>
          <p:cNvSpPr/>
          <p:nvPr/>
        </p:nvSpPr>
        <p:spPr>
          <a:xfrm>
            <a:off x="10110521" y="2212848"/>
            <a:ext cx="4023360" cy="822960"/>
          </a:xfrm>
          <a:prstGeom prst="roundRect">
            <a:avLst>
              <a:gd name="adj" fmla="val 6667"/>
            </a:avLst>
          </a:prstGeom>
          <a:solidFill>
            <a:srgbClr val="EEF3FA"/>
          </a:solidFill>
          <a:ln w="12700">
            <a:solidFill>
              <a:srgbClr val="2E74C6"/>
            </a:solidFill>
            <a:prstDash val="solid"/>
          </a:ln>
        </p:spPr>
        <p:txBody>
          <a:bodyPr/>
          <a:lstStyle/>
          <a:p>
            <a:endParaRPr/>
          </a:p>
        </p:txBody>
      </p:sp>
      <p:sp>
        <p:nvSpPr>
          <p:cNvPr id="44" name="Text 41"/>
          <p:cNvSpPr txBox="1"/>
          <p:nvPr/>
        </p:nvSpPr>
        <p:spPr>
          <a:xfrm>
            <a:off x="10110521" y="2212848"/>
            <a:ext cx="4023360" cy="822960"/>
          </a:xfrm>
          <a:prstGeom prst="rect">
            <a:avLst/>
          </a:prstGeom>
          <a:noFill/>
          <a:ln/>
        </p:spPr>
        <p:txBody>
          <a:bodyPr wrap="square" lIns="0" tIns="0" rIns="0" bIns="0" rtlCol="0" anchor="ctr"/>
          <a:lstStyle/>
          <a:p>
            <a:pPr marL="0" indent="0" algn="ctr">
              <a:buNone/>
            </a:pPr>
            <a:r>
              <a:rPr lang="en-US" sz="1800" b="1" dirty="0">
                <a:solidFill>
                  <a:srgbClr val="1E2A5C"/>
                </a:solidFill>
                <a:latin typeface="Pretendard" pitchFamily="34" charset="0"/>
                <a:ea typeface="Pretendard" pitchFamily="34" charset="-122"/>
                <a:cs typeface="Pretendard" pitchFamily="34" charset="-120"/>
              </a:rPr>
              <a:t>노드 타입 53개, 관계 106개</a:t>
            </a:r>
            <a:endParaRPr lang="en-US" sz="1800" dirty="0"/>
          </a:p>
        </p:txBody>
      </p:sp>
      <p:sp>
        <p:nvSpPr>
          <p:cNvPr id="45" name="Text 42"/>
          <p:cNvSpPr txBox="1"/>
          <p:nvPr/>
        </p:nvSpPr>
        <p:spPr>
          <a:xfrm>
            <a:off x="10156241" y="3127248"/>
            <a:ext cx="3931920" cy="1737360"/>
          </a:xfrm>
          <a:prstGeom prst="rect">
            <a:avLst/>
          </a:prstGeom>
          <a:noFill/>
          <a:ln/>
        </p:spPr>
        <p:txBody>
          <a:bodyPr wrap="square" lIns="0" tIns="0" rIns="0" bIns="0" rtlCol="0" anchor="t"/>
          <a:lstStyle/>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많이 </a:t>
            </a:r>
            <a:r>
              <a:rPr lang="en-US" sz="1400" b="1" dirty="0" err="1">
                <a:solidFill>
                  <a:srgbClr val="1E2A5C"/>
                </a:solidFill>
                <a:latin typeface="Pretendard" pitchFamily="34" charset="0"/>
                <a:ea typeface="Pretendard" pitchFamily="34" charset="-122"/>
                <a:cs typeface="Pretendard" pitchFamily="34" charset="-120"/>
              </a:rPr>
              <a:t>나온</a:t>
            </a:r>
            <a:r>
              <a:rPr lang="en-US" sz="1400" b="1" dirty="0">
                <a:solidFill>
                  <a:srgbClr val="1E2A5C"/>
                </a:solidFill>
                <a:latin typeface="Pretendard" pitchFamily="34" charset="0"/>
                <a:ea typeface="Pretendard" pitchFamily="34" charset="-122"/>
                <a:cs typeface="Pretendard" pitchFamily="34" charset="-120"/>
              </a:rPr>
              <a:t> </a:t>
            </a:r>
            <a:r>
              <a:rPr lang="ko-KR" altLang="en-US" sz="1400" b="1" dirty="0">
                <a:solidFill>
                  <a:srgbClr val="1E2A5C"/>
                </a:solidFill>
                <a:latin typeface="Pretendard" pitchFamily="34" charset="0"/>
                <a:ea typeface="Pretendard" pitchFamily="34" charset="-122"/>
                <a:cs typeface="Pretendard" pitchFamily="34" charset="-120"/>
              </a:rPr>
              <a:t>타입 이름</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Customer 29, Request 20, Transaction 18, Consultation 12, TransactionSummary 10</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역량 질문에 답할 드문 이름</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Issue 5, Complaint 2, Proposal 2, Condition 2, REJECTS_CHANGE 1, FOLLOWS 3</a:t>
            </a:r>
            <a:endParaRPr lang="en-US" sz="1400" dirty="0"/>
          </a:p>
        </p:txBody>
      </p:sp>
      <p:sp>
        <p:nvSpPr>
          <p:cNvPr id="46" name="Shape 43"/>
          <p:cNvSpPr/>
          <p:nvPr/>
        </p:nvSpPr>
        <p:spPr>
          <a:xfrm>
            <a:off x="10110521" y="4937760"/>
            <a:ext cx="4023360" cy="1444752"/>
          </a:xfrm>
          <a:prstGeom prst="roundRect">
            <a:avLst>
              <a:gd name="adj" fmla="val 3797"/>
            </a:avLst>
          </a:prstGeom>
          <a:solidFill>
            <a:srgbClr val="F5F8FC"/>
          </a:solidFill>
          <a:ln w="12700">
            <a:solidFill>
              <a:srgbClr val="D9E0EC"/>
            </a:solidFill>
            <a:prstDash val="solid"/>
          </a:ln>
        </p:spPr>
        <p:txBody>
          <a:bodyPr/>
          <a:lstStyle/>
          <a:p>
            <a:endParaRPr/>
          </a:p>
        </p:txBody>
      </p:sp>
      <p:sp>
        <p:nvSpPr>
          <p:cNvPr id="47" name="Text 44"/>
          <p:cNvSpPr txBox="1"/>
          <p:nvPr/>
        </p:nvSpPr>
        <p:spPr>
          <a:xfrm>
            <a:off x="10220249" y="4937760"/>
            <a:ext cx="3803904" cy="1444752"/>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같은 30건, 앞 결과 이름을 넘기면</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 이름은 </a:t>
            </a:r>
            <a:r>
              <a:rPr lang="en-US" sz="1400" dirty="0">
                <a:solidFill>
                  <a:srgbClr val="2B3242"/>
                </a:solidFill>
                <a:latin typeface="Pretendard" pitchFamily="34" charset="0"/>
                <a:ea typeface="Pretendard" pitchFamily="34" charset="-122"/>
                <a:cs typeface="Pretendard" pitchFamily="34" charset="-120"/>
              </a:rPr>
              <a:t>10개로 모이지만 역량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2 / 5</a:t>
            </a:r>
            <a:endParaRPr lang="en-US" sz="1400" dirty="0"/>
          </a:p>
          <a:p>
            <a:pPr marL="0" indent="0">
              <a:buNone/>
            </a:pPr>
            <a:endParaRPr lang="en-US" sz="1400" b="1" dirty="0">
              <a:solidFill>
                <a:srgbClr val="2E74C6"/>
              </a:solidFill>
              <a:latin typeface="Pretendard" pitchFamily="34" charset="0"/>
              <a:ea typeface="Pretendard" pitchFamily="34" charset="-122"/>
              <a:cs typeface="Pretendard" pitchFamily="34" charset="-120"/>
            </a:endParaRPr>
          </a:p>
          <a:p>
            <a:pPr marL="0" indent="0">
              <a:buNone/>
            </a:pPr>
            <a:r>
              <a:rPr lang="en-US" sz="1400" b="1" dirty="0" err="1">
                <a:solidFill>
                  <a:srgbClr val="2E74C6"/>
                </a:solidFill>
                <a:latin typeface="Pretendard" pitchFamily="34" charset="0"/>
                <a:ea typeface="Pretendard" pitchFamily="34" charset="-122"/>
                <a:cs typeface="Pretendard" pitchFamily="34" charset="-120"/>
              </a:rPr>
              <a:t>넘기지</a:t>
            </a:r>
            <a:r>
              <a:rPr lang="en-US" sz="1400" b="1" dirty="0">
                <a:solidFill>
                  <a:srgbClr val="2E74C6"/>
                </a:solidFill>
                <a:latin typeface="Pretendard" pitchFamily="34" charset="0"/>
                <a:ea typeface="Pretendard" pitchFamily="34" charset="-122"/>
                <a:cs typeface="Pretendard" pitchFamily="34" charset="-120"/>
              </a:rPr>
              <a:t> </a:t>
            </a:r>
            <a:r>
              <a:rPr lang="en-US" sz="1400" b="1" dirty="0" err="1">
                <a:solidFill>
                  <a:srgbClr val="2E74C6"/>
                </a:solidFill>
                <a:latin typeface="Pretendard" pitchFamily="34" charset="0"/>
                <a:ea typeface="Pretendard" pitchFamily="34" charset="-122"/>
                <a:cs typeface="Pretendard" pitchFamily="34" charset="-120"/>
              </a:rPr>
              <a:t>않으면</a:t>
            </a: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타입이름은 </a:t>
            </a:r>
            <a:r>
              <a:rPr lang="en-US" sz="1400" dirty="0">
                <a:solidFill>
                  <a:srgbClr val="2B3242"/>
                </a:solidFill>
                <a:latin typeface="Pretendard" pitchFamily="34" charset="0"/>
                <a:ea typeface="Pretendard" pitchFamily="34" charset="-122"/>
                <a:cs typeface="Pretendard" pitchFamily="34" charset="-120"/>
              </a:rPr>
              <a:t>53개로 흩어지지만 역량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5 / 5</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드물게 나온 이름이 핵심일 수 있음 — 빈도로 거르지 말고 ③에서 역량 질문을 기준으로 판단</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상담 30건(세그먼트 균형 순서), 역량 질문 5개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③ 스키마 후보 확정(LLM 추천 + 사람 확정)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후보 목록과 역량 질문을 LLM에 주면 병합, 제거, 추가 초안과 근거를 추천하고, 사람이 검토해 스키마 초안을 확정함</a:t>
            </a:r>
            <a:endParaRPr lang="en-US" sz="1800" dirty="0"/>
          </a:p>
        </p:txBody>
      </p:sp>
      <p:sp>
        <p:nvSpPr>
          <p:cNvPr id="5" name="Shape 2"/>
          <p:cNvSpPr/>
          <p:nvPr/>
        </p:nvSpPr>
        <p:spPr>
          <a:xfrm>
            <a:off x="509321" y="1737360"/>
            <a:ext cx="6858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858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LLM 추천(괄호 = 근거가 된 역량 질문 번호)</a:t>
            </a:r>
            <a:endParaRPr lang="en-US" sz="1600" dirty="0"/>
          </a:p>
        </p:txBody>
      </p:sp>
      <p:sp>
        <p:nvSpPr>
          <p:cNvPr id="7" name="Shape 4"/>
          <p:cNvSpPr/>
          <p:nvPr/>
        </p:nvSpPr>
        <p:spPr>
          <a:xfrm>
            <a:off x="509321" y="2212848"/>
            <a:ext cx="6858000" cy="1499616"/>
          </a:xfrm>
          <a:prstGeom prst="roundRect">
            <a:avLst>
              <a:gd name="adj" fmla="val 3659"/>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286000"/>
            <a:ext cx="731520" cy="1353312"/>
          </a:xfrm>
          <a:prstGeom prst="roundRect">
            <a:avLst>
              <a:gd name="adj" fmla="val 7500"/>
            </a:avLst>
          </a:prstGeom>
          <a:solidFill>
            <a:srgbClr val="1E2A5C"/>
          </a:solidFill>
          <a:ln/>
        </p:spPr>
        <p:txBody>
          <a:bodyPr/>
          <a:lstStyle/>
          <a:p>
            <a:endParaRPr/>
          </a:p>
        </p:txBody>
      </p:sp>
      <p:sp>
        <p:nvSpPr>
          <p:cNvPr id="9" name="Text 6"/>
          <p:cNvSpPr txBox="1"/>
          <p:nvPr/>
        </p:nvSpPr>
        <p:spPr>
          <a:xfrm>
            <a:off x="600761" y="2286000"/>
            <a:ext cx="731520" cy="13533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병합</a:t>
            </a:r>
            <a:endParaRPr lang="en-US" sz="1500" dirty="0"/>
          </a:p>
        </p:txBody>
      </p:sp>
      <p:sp>
        <p:nvSpPr>
          <p:cNvPr id="10" name="Text 7"/>
          <p:cNvSpPr txBox="1"/>
          <p:nvPr/>
        </p:nvSpPr>
        <p:spPr>
          <a:xfrm>
            <a:off x="1442009" y="2212848"/>
            <a:ext cx="5852160" cy="149961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Issue, Complaint → Complaint (1)</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Proposal, SUGGESTS, MAKES_PROPOSAL → Proposal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Condition → ReconsiderCondition (4)</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Consultation, Conversation, Session, Record → Consultation (5)</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FOLLOWS, CONTINUES_FROM, PREVIOUS_SESSION → FOLLOWS (5)</a:t>
            </a:r>
            <a:endParaRPr lang="en-US" sz="1400" dirty="0"/>
          </a:p>
        </p:txBody>
      </p:sp>
      <p:sp>
        <p:nvSpPr>
          <p:cNvPr id="11" name="Shape 8"/>
          <p:cNvSpPr/>
          <p:nvPr/>
        </p:nvSpPr>
        <p:spPr>
          <a:xfrm>
            <a:off x="509321" y="3803904"/>
            <a:ext cx="6858000" cy="1225296"/>
          </a:xfrm>
          <a:prstGeom prst="roundRect">
            <a:avLst>
              <a:gd name="adj" fmla="val 4478"/>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877056"/>
            <a:ext cx="731520" cy="1078992"/>
          </a:xfrm>
          <a:prstGeom prst="roundRect">
            <a:avLst>
              <a:gd name="adj" fmla="val 7500"/>
            </a:avLst>
          </a:prstGeom>
          <a:solidFill>
            <a:srgbClr val="404155"/>
          </a:solidFill>
          <a:ln/>
        </p:spPr>
        <p:txBody>
          <a:bodyPr/>
          <a:lstStyle/>
          <a:p>
            <a:endParaRPr/>
          </a:p>
        </p:txBody>
      </p:sp>
      <p:sp>
        <p:nvSpPr>
          <p:cNvPr id="13" name="Text 10"/>
          <p:cNvSpPr txBox="1"/>
          <p:nvPr/>
        </p:nvSpPr>
        <p:spPr>
          <a:xfrm>
            <a:off x="600761" y="3877056"/>
            <a:ext cx="731520" cy="107899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제거</a:t>
            </a:r>
            <a:endParaRPr lang="en-US" sz="1500" dirty="0"/>
          </a:p>
        </p:txBody>
      </p:sp>
      <p:sp>
        <p:nvSpPr>
          <p:cNvPr id="14" name="Text 11"/>
          <p:cNvSpPr txBox="1"/>
          <p:nvPr/>
        </p:nvSpPr>
        <p:spPr>
          <a:xfrm>
            <a:off x="1442009" y="3803904"/>
            <a:ext cx="5852160" cy="122529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Request, Menu, Address, Order: 어느 질문에도 안 쓰임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Transaction, TransactionSummary: RDB에 이미 있는 집계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Customer의 name, email, birthdate: 가명처리 대상</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Agent, Counselor: 메타데이터(상담사 가명ID)로 충분</a:t>
            </a:r>
            <a:endParaRPr lang="en-US" sz="1400" dirty="0"/>
          </a:p>
        </p:txBody>
      </p:sp>
      <p:sp>
        <p:nvSpPr>
          <p:cNvPr id="15" name="Shape 12"/>
          <p:cNvSpPr/>
          <p:nvPr/>
        </p:nvSpPr>
        <p:spPr>
          <a:xfrm>
            <a:off x="509321" y="5120640"/>
            <a:ext cx="6858000" cy="950976"/>
          </a:xfrm>
          <a:prstGeom prst="roundRect">
            <a:avLst>
              <a:gd name="adj" fmla="val 5769"/>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5193792"/>
            <a:ext cx="731520" cy="804672"/>
          </a:xfrm>
          <a:prstGeom prst="roundRect">
            <a:avLst>
              <a:gd name="adj" fmla="val 7500"/>
            </a:avLst>
          </a:prstGeom>
          <a:solidFill>
            <a:srgbClr val="2E74C6"/>
          </a:solidFill>
          <a:ln/>
        </p:spPr>
        <p:txBody>
          <a:bodyPr/>
          <a:lstStyle/>
          <a:p>
            <a:endParaRPr/>
          </a:p>
        </p:txBody>
      </p:sp>
      <p:sp>
        <p:nvSpPr>
          <p:cNvPr id="17" name="Text 14"/>
          <p:cNvSpPr txBox="1"/>
          <p:nvPr/>
        </p:nvSpPr>
        <p:spPr>
          <a:xfrm>
            <a:off x="600761" y="5193792"/>
            <a:ext cx="731520" cy="80467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추가</a:t>
            </a:r>
            <a:endParaRPr lang="en-US" sz="1500" dirty="0"/>
          </a:p>
        </p:txBody>
      </p:sp>
      <p:sp>
        <p:nvSpPr>
          <p:cNvPr id="18" name="Text 15"/>
          <p:cNvSpPr txBox="1"/>
          <p:nvPr/>
        </p:nvSpPr>
        <p:spPr>
          <a:xfrm>
            <a:off x="1442009" y="5120640"/>
            <a:ext cx="5852160" cy="95097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Proposal.decision, decision_reason (3): 후보는 REJECTS_CHANGE 1건뿐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ADDRESSES: 제안이 어느 불만을 겨냥했나 (1,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RECONSIDER_WHEN: 보류한 제안의 재검토 조건 (4)</a:t>
            </a:r>
            <a:endParaRPr lang="en-US" sz="1400" dirty="0"/>
          </a:p>
        </p:txBody>
      </p:sp>
      <p:sp>
        <p:nvSpPr>
          <p:cNvPr id="19" name="Shape 16"/>
          <p:cNvSpPr/>
          <p:nvPr/>
        </p:nvSpPr>
        <p:spPr>
          <a:xfrm>
            <a:off x="7641641" y="1737360"/>
            <a:ext cx="6492240" cy="365760"/>
          </a:xfrm>
          <a:prstGeom prst="roundRect">
            <a:avLst>
              <a:gd name="adj" fmla="val 12500"/>
            </a:avLst>
          </a:prstGeom>
          <a:solidFill>
            <a:srgbClr val="1E2A5C"/>
          </a:solidFill>
          <a:ln/>
        </p:spPr>
        <p:txBody>
          <a:bodyPr/>
          <a:lstStyle/>
          <a:p>
            <a:endParaRPr/>
          </a:p>
        </p:txBody>
      </p:sp>
      <p:sp>
        <p:nvSpPr>
          <p:cNvPr id="20" name="Text 17"/>
          <p:cNvSpPr txBox="1"/>
          <p:nvPr/>
        </p:nvSpPr>
        <p:spPr>
          <a:xfrm>
            <a:off x="7641641" y="1737360"/>
            <a:ext cx="6492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검토해 정한 것</a:t>
            </a:r>
            <a:endParaRPr lang="en-US" sz="1600" dirty="0"/>
          </a:p>
        </p:txBody>
      </p:sp>
      <p:sp>
        <p:nvSpPr>
          <p:cNvPr id="21" name="Shape 18"/>
          <p:cNvSpPr/>
          <p:nvPr/>
        </p:nvSpPr>
        <p:spPr>
          <a:xfrm>
            <a:off x="7641641" y="2212848"/>
            <a:ext cx="6492240" cy="969264"/>
          </a:xfrm>
          <a:prstGeom prst="roundRect">
            <a:avLst>
              <a:gd name="adj" fmla="val 5660"/>
            </a:avLst>
          </a:prstGeom>
          <a:solidFill>
            <a:srgbClr val="EEF3FA"/>
          </a:solidFill>
          <a:ln w="12700">
            <a:solidFill>
              <a:srgbClr val="2E74C6"/>
            </a:solidFill>
            <a:prstDash val="solid"/>
          </a:ln>
        </p:spPr>
        <p:txBody>
          <a:bodyPr/>
          <a:lstStyle/>
          <a:p>
            <a:endParaRPr/>
          </a:p>
        </p:txBody>
      </p:sp>
      <p:sp>
        <p:nvSpPr>
          <p:cNvPr id="22" name="Text 19"/>
          <p:cNvSpPr txBox="1"/>
          <p:nvPr/>
        </p:nvSpPr>
        <p:spPr>
          <a:xfrm>
            <a:off x="7751369" y="2212848"/>
            <a:ext cx="6309360" cy="96926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고객 응답은 노드 대신 Proposal 속성(decision, decision_reason)으로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상담 주제(Request)는 노드 대신 Consultation.topic 속성으로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제약은 Consultation.record_id UNIQUENESS 하나(Community 판 </a:t>
            </a:r>
            <a:r>
              <a:rPr lang="ko-KR" altLang="en-US" sz="1400" b="1" dirty="0">
                <a:solidFill>
                  <a:srgbClr val="1E2A5C"/>
                </a:solidFill>
                <a:latin typeface="Pretendard" pitchFamily="34" charset="0"/>
                <a:ea typeface="Pretendard" pitchFamily="34" charset="-122"/>
                <a:cs typeface="Pretendard" pitchFamily="34" charset="-120"/>
              </a:rPr>
              <a:t>한계</a:t>
            </a:r>
            <a:r>
              <a:rPr lang="en-US" sz="1400" b="1" dirty="0">
                <a:solidFill>
                  <a:srgbClr val="1E2A5C"/>
                </a:solidFill>
                <a:latin typeface="Pretendard" pitchFamily="34" charset="0"/>
                <a:ea typeface="Pretendard" pitchFamily="34" charset="-122"/>
                <a:cs typeface="Pretendard" pitchFamily="34" charset="-120"/>
              </a:rPr>
              <a:t>)</a:t>
            </a:r>
            <a:endParaRPr lang="en-US" sz="1400" dirty="0"/>
          </a:p>
        </p:txBody>
      </p:sp>
      <p:sp>
        <p:nvSpPr>
          <p:cNvPr id="23" name="Shape 20"/>
          <p:cNvSpPr/>
          <p:nvPr/>
        </p:nvSpPr>
        <p:spPr>
          <a:xfrm>
            <a:off x="7733081" y="4178808"/>
            <a:ext cx="1828800" cy="658368"/>
          </a:xfrm>
          <a:prstGeom prst="roundRect">
            <a:avLst>
              <a:gd name="adj" fmla="val 11111"/>
            </a:avLst>
          </a:prstGeom>
          <a:solidFill>
            <a:srgbClr val="1E2A5C"/>
          </a:solidFill>
          <a:ln w="19050">
            <a:solidFill>
              <a:srgbClr val="1E2A5C"/>
            </a:solidFill>
            <a:prstDash val="solid"/>
          </a:ln>
        </p:spPr>
        <p:txBody>
          <a:bodyPr/>
          <a:lstStyle/>
          <a:p>
            <a:endParaRPr/>
          </a:p>
        </p:txBody>
      </p:sp>
      <p:sp>
        <p:nvSpPr>
          <p:cNvPr id="24" name="Text 21"/>
          <p:cNvSpPr txBox="1"/>
          <p:nvPr/>
        </p:nvSpPr>
        <p:spPr>
          <a:xfrm>
            <a:off x="7806233" y="4206240"/>
            <a:ext cx="1682496"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:Consultation</a:t>
            </a:r>
            <a:endParaRPr lang="en-US" sz="1400" dirty="0"/>
          </a:p>
        </p:txBody>
      </p:sp>
      <p:sp>
        <p:nvSpPr>
          <p:cNvPr id="25" name="Text 22"/>
          <p:cNvSpPr txBox="1"/>
          <p:nvPr/>
        </p:nvSpPr>
        <p:spPr>
          <a:xfrm>
            <a:off x="7806233" y="4471416"/>
            <a:ext cx="1682496" cy="347472"/>
          </a:xfrm>
          <a:prstGeom prst="rect">
            <a:avLst/>
          </a:prstGeom>
          <a:noFill/>
          <a:ln/>
        </p:spPr>
        <p:txBody>
          <a:bodyPr wrap="square" lIns="0" tIns="0" rIns="0" bIns="0" rtlCol="0" anchor="t"/>
          <a:lstStyle/>
          <a:p>
            <a:pPr marL="0" indent="0" algn="ctr">
              <a:buNone/>
            </a:pPr>
            <a:r>
              <a:rPr lang="en-US" sz="1400" dirty="0">
                <a:solidFill>
                  <a:srgbClr val="D9E3F5"/>
                </a:solidFill>
                <a:latin typeface="Pretendard" pitchFamily="34" charset="0"/>
                <a:ea typeface="Pretendard" pitchFamily="34" charset="-122"/>
                <a:cs typeface="Pretendard" pitchFamily="34" charset="-120"/>
              </a:rPr>
              <a:t>record_id (키)</a:t>
            </a:r>
            <a:endParaRPr lang="en-US" sz="1400" dirty="0"/>
          </a:p>
        </p:txBody>
      </p:sp>
      <p:sp>
        <p:nvSpPr>
          <p:cNvPr id="26" name="Shape 23"/>
          <p:cNvSpPr/>
          <p:nvPr/>
        </p:nvSpPr>
        <p:spPr>
          <a:xfrm>
            <a:off x="7733081" y="5184648"/>
            <a:ext cx="1828800" cy="566928"/>
          </a:xfrm>
          <a:prstGeom prst="roundRect">
            <a:avLst>
              <a:gd name="adj" fmla="val 12903"/>
            </a:avLst>
          </a:prstGeom>
          <a:solidFill>
            <a:srgbClr val="EEF3FA"/>
          </a:solidFill>
          <a:ln w="19050">
            <a:solidFill>
              <a:srgbClr val="7C8598"/>
            </a:solidFill>
            <a:prstDash val="dash"/>
          </a:ln>
        </p:spPr>
        <p:txBody>
          <a:bodyPr/>
          <a:lstStyle/>
          <a:p>
            <a:endParaRPr/>
          </a:p>
        </p:txBody>
      </p:sp>
      <p:sp>
        <p:nvSpPr>
          <p:cNvPr id="27" name="Text 24"/>
          <p:cNvSpPr txBox="1"/>
          <p:nvPr/>
        </p:nvSpPr>
        <p:spPr>
          <a:xfrm>
            <a:off x="7806233" y="5212080"/>
            <a:ext cx="16824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:Consultation</a:t>
            </a:r>
            <a:endParaRPr lang="en-US" sz="1400" dirty="0"/>
          </a:p>
        </p:txBody>
      </p:sp>
      <p:sp>
        <p:nvSpPr>
          <p:cNvPr id="28" name="Text 25"/>
          <p:cNvSpPr txBox="1"/>
          <p:nvPr/>
        </p:nvSpPr>
        <p:spPr>
          <a:xfrm>
            <a:off x="7806233" y="5477256"/>
            <a:ext cx="16824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앞선 상담</a:t>
            </a:r>
            <a:endParaRPr lang="en-US" sz="1400" dirty="0"/>
          </a:p>
        </p:txBody>
      </p:sp>
      <p:sp>
        <p:nvSpPr>
          <p:cNvPr id="29" name="Shape 26"/>
          <p:cNvSpPr/>
          <p:nvPr/>
        </p:nvSpPr>
        <p:spPr>
          <a:xfrm>
            <a:off x="11756441" y="3310128"/>
            <a:ext cx="2286000" cy="621792"/>
          </a:xfrm>
          <a:prstGeom prst="roundRect">
            <a:avLst>
              <a:gd name="adj" fmla="val 11765"/>
            </a:avLst>
          </a:prstGeom>
          <a:solidFill>
            <a:srgbClr val="EEF3FA"/>
          </a:solidFill>
          <a:ln w="19050">
            <a:solidFill>
              <a:srgbClr val="1E2A5C"/>
            </a:solidFill>
            <a:prstDash val="solid"/>
          </a:ln>
        </p:spPr>
        <p:txBody>
          <a:bodyPr/>
          <a:lstStyle/>
          <a:p>
            <a:endParaRPr/>
          </a:p>
        </p:txBody>
      </p:sp>
      <p:sp>
        <p:nvSpPr>
          <p:cNvPr id="30" name="Text 27"/>
          <p:cNvSpPr txBox="1"/>
          <p:nvPr/>
        </p:nvSpPr>
        <p:spPr>
          <a:xfrm>
            <a:off x="11829593" y="333756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:Complaint</a:t>
            </a:r>
            <a:endParaRPr lang="en-US" sz="1400" dirty="0"/>
          </a:p>
        </p:txBody>
      </p:sp>
      <p:sp>
        <p:nvSpPr>
          <p:cNvPr id="31" name="Text 28"/>
          <p:cNvSpPr txBox="1"/>
          <p:nvPr/>
        </p:nvSpPr>
        <p:spPr>
          <a:xfrm>
            <a:off x="11829593" y="3602736"/>
            <a:ext cx="2139696" cy="310896"/>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cause, category</a:t>
            </a:r>
            <a:endParaRPr lang="en-US" sz="1400" dirty="0"/>
          </a:p>
        </p:txBody>
      </p:sp>
      <p:sp>
        <p:nvSpPr>
          <p:cNvPr id="32" name="Shape 29"/>
          <p:cNvSpPr/>
          <p:nvPr/>
        </p:nvSpPr>
        <p:spPr>
          <a:xfrm>
            <a:off x="11756441" y="4178808"/>
            <a:ext cx="2286000" cy="822960"/>
          </a:xfrm>
          <a:prstGeom prst="roundRect">
            <a:avLst>
              <a:gd name="adj" fmla="val 8889"/>
            </a:avLst>
          </a:prstGeom>
          <a:solidFill>
            <a:srgbClr val="EEF3FA"/>
          </a:solidFill>
          <a:ln w="19050">
            <a:solidFill>
              <a:srgbClr val="1E2A5C"/>
            </a:solidFill>
            <a:prstDash val="solid"/>
          </a:ln>
        </p:spPr>
        <p:txBody>
          <a:bodyPr/>
          <a:lstStyle/>
          <a:p>
            <a:endParaRPr/>
          </a:p>
        </p:txBody>
      </p:sp>
      <p:sp>
        <p:nvSpPr>
          <p:cNvPr id="33" name="Text 30"/>
          <p:cNvSpPr txBox="1"/>
          <p:nvPr/>
        </p:nvSpPr>
        <p:spPr>
          <a:xfrm>
            <a:off x="11829593" y="420624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:Proposal</a:t>
            </a:r>
            <a:endParaRPr lang="en-US" sz="1400" dirty="0"/>
          </a:p>
        </p:txBody>
      </p:sp>
      <p:sp>
        <p:nvSpPr>
          <p:cNvPr id="34" name="Text 31"/>
          <p:cNvSpPr txBox="1"/>
          <p:nvPr/>
        </p:nvSpPr>
        <p:spPr>
          <a:xfrm>
            <a:off x="11829593" y="4471416"/>
            <a:ext cx="2139696" cy="51206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content, decision,</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decision_reason</a:t>
            </a:r>
            <a:endParaRPr lang="en-US" sz="1400" dirty="0"/>
          </a:p>
        </p:txBody>
      </p:sp>
      <p:sp>
        <p:nvSpPr>
          <p:cNvPr id="35" name="Shape 32"/>
          <p:cNvSpPr/>
          <p:nvPr/>
        </p:nvSpPr>
        <p:spPr>
          <a:xfrm>
            <a:off x="11756441" y="5248656"/>
            <a:ext cx="2286000" cy="566928"/>
          </a:xfrm>
          <a:prstGeom prst="roundRect">
            <a:avLst>
              <a:gd name="adj" fmla="val 12903"/>
            </a:avLst>
          </a:prstGeom>
          <a:solidFill>
            <a:srgbClr val="EEF3FA"/>
          </a:solidFill>
          <a:ln w="19050">
            <a:solidFill>
              <a:srgbClr val="1E2A5C"/>
            </a:solidFill>
            <a:prstDash val="solid"/>
          </a:ln>
        </p:spPr>
        <p:txBody>
          <a:bodyPr/>
          <a:lstStyle/>
          <a:p>
            <a:endParaRPr/>
          </a:p>
        </p:txBody>
      </p:sp>
      <p:sp>
        <p:nvSpPr>
          <p:cNvPr id="36" name="Text 33"/>
          <p:cNvSpPr txBox="1"/>
          <p:nvPr/>
        </p:nvSpPr>
        <p:spPr>
          <a:xfrm>
            <a:off x="11829593" y="5276088"/>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:ReconsiderCondition</a:t>
            </a:r>
            <a:endParaRPr lang="en-US" sz="1400" dirty="0"/>
          </a:p>
        </p:txBody>
      </p:sp>
      <p:sp>
        <p:nvSpPr>
          <p:cNvPr id="37" name="Text 34"/>
          <p:cNvSpPr txBox="1"/>
          <p:nvPr/>
        </p:nvSpPr>
        <p:spPr>
          <a:xfrm>
            <a:off x="11829593" y="5541264"/>
            <a:ext cx="21396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description</a:t>
            </a:r>
            <a:endParaRPr lang="en-US" sz="1400" dirty="0"/>
          </a:p>
        </p:txBody>
      </p:sp>
      <p:sp>
        <p:nvSpPr>
          <p:cNvPr id="38" name="Shape 35"/>
          <p:cNvSpPr/>
          <p:nvPr/>
        </p:nvSpPr>
        <p:spPr>
          <a:xfrm flipV="1">
            <a:off x="9589313" y="3675888"/>
            <a:ext cx="2139696" cy="594360"/>
          </a:xfrm>
          <a:prstGeom prst="line">
            <a:avLst/>
          </a:prstGeom>
          <a:noFill/>
          <a:ln w="19050">
            <a:solidFill>
              <a:srgbClr val="1E2A5C"/>
            </a:solidFill>
            <a:prstDash val="solid"/>
            <a:tailEnd type="triangle"/>
          </a:ln>
        </p:spPr>
        <p:txBody>
          <a:bodyPr/>
          <a:lstStyle/>
          <a:p>
            <a:endParaRPr/>
          </a:p>
        </p:txBody>
      </p:sp>
      <p:sp>
        <p:nvSpPr>
          <p:cNvPr id="39" name="Text 36"/>
          <p:cNvSpPr txBox="1"/>
          <p:nvPr/>
        </p:nvSpPr>
        <p:spPr>
          <a:xfrm>
            <a:off x="9607601" y="3602736"/>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HAS_COMPLAINT</a:t>
            </a:r>
            <a:endParaRPr lang="en-US" sz="1400" dirty="0"/>
          </a:p>
        </p:txBody>
      </p:sp>
      <p:sp>
        <p:nvSpPr>
          <p:cNvPr id="40" name="Shape 37"/>
          <p:cNvSpPr/>
          <p:nvPr/>
        </p:nvSpPr>
        <p:spPr>
          <a:xfrm>
            <a:off x="9589313" y="4590288"/>
            <a:ext cx="2139696" cy="0"/>
          </a:xfrm>
          <a:prstGeom prst="line">
            <a:avLst/>
          </a:prstGeom>
          <a:noFill/>
          <a:ln w="19050">
            <a:solidFill>
              <a:srgbClr val="1E2A5C"/>
            </a:solidFill>
            <a:prstDash val="solid"/>
            <a:tailEnd type="triangle"/>
          </a:ln>
        </p:spPr>
        <p:txBody>
          <a:bodyPr/>
          <a:lstStyle/>
          <a:p>
            <a:endParaRPr/>
          </a:p>
        </p:txBody>
      </p:sp>
      <p:sp>
        <p:nvSpPr>
          <p:cNvPr id="41" name="Text 38"/>
          <p:cNvSpPr txBox="1"/>
          <p:nvPr/>
        </p:nvSpPr>
        <p:spPr>
          <a:xfrm>
            <a:off x="9607601" y="4315968"/>
            <a:ext cx="2103120" cy="237744"/>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42" name="Shape 39"/>
          <p:cNvSpPr/>
          <p:nvPr/>
        </p:nvSpPr>
        <p:spPr>
          <a:xfrm flipV="1">
            <a:off x="12899441" y="3950208"/>
            <a:ext cx="0" cy="210312"/>
          </a:xfrm>
          <a:prstGeom prst="line">
            <a:avLst/>
          </a:prstGeom>
          <a:noFill/>
          <a:ln w="19050">
            <a:solidFill>
              <a:srgbClr val="2E74C6"/>
            </a:solidFill>
            <a:prstDash val="solid"/>
            <a:tailEnd type="triangle"/>
          </a:ln>
        </p:spPr>
        <p:txBody>
          <a:bodyPr/>
          <a:lstStyle/>
          <a:p>
            <a:endParaRPr/>
          </a:p>
        </p:txBody>
      </p:sp>
      <p:sp>
        <p:nvSpPr>
          <p:cNvPr id="43" name="Text 40"/>
          <p:cNvSpPr txBox="1"/>
          <p:nvPr/>
        </p:nvSpPr>
        <p:spPr>
          <a:xfrm>
            <a:off x="12954305" y="3931920"/>
            <a:ext cx="1097280" cy="219456"/>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ADDRESSES</a:t>
            </a:r>
            <a:endParaRPr lang="en-US" sz="1400" dirty="0"/>
          </a:p>
        </p:txBody>
      </p:sp>
      <p:sp>
        <p:nvSpPr>
          <p:cNvPr id="44" name="Shape 41"/>
          <p:cNvSpPr/>
          <p:nvPr/>
        </p:nvSpPr>
        <p:spPr>
          <a:xfrm>
            <a:off x="12899441" y="5020056"/>
            <a:ext cx="0" cy="210312"/>
          </a:xfrm>
          <a:prstGeom prst="line">
            <a:avLst/>
          </a:prstGeom>
          <a:noFill/>
          <a:ln w="19050">
            <a:solidFill>
              <a:srgbClr val="2E74C6"/>
            </a:solidFill>
            <a:prstDash val="solid"/>
            <a:tailEnd type="triangle"/>
          </a:ln>
        </p:spPr>
        <p:txBody>
          <a:bodyPr/>
          <a:lstStyle/>
          <a:p>
            <a:endParaRPr/>
          </a:p>
        </p:txBody>
      </p:sp>
      <p:sp>
        <p:nvSpPr>
          <p:cNvPr id="45" name="Text 42"/>
          <p:cNvSpPr txBox="1"/>
          <p:nvPr/>
        </p:nvSpPr>
        <p:spPr>
          <a:xfrm>
            <a:off x="10933481" y="5010912"/>
            <a:ext cx="1901952" cy="237744"/>
          </a:xfrm>
          <a:prstGeom prst="rect">
            <a:avLst/>
          </a:prstGeom>
          <a:noFill/>
          <a:ln/>
        </p:spPr>
        <p:txBody>
          <a:bodyPr wrap="square" lIns="0" tIns="0" rIns="0" bIns="0" rtlCol="0" anchor="ct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RECONSIDER_WHEN</a:t>
            </a:r>
            <a:endParaRPr lang="en-US" sz="1400" dirty="0"/>
          </a:p>
        </p:txBody>
      </p:sp>
      <p:sp>
        <p:nvSpPr>
          <p:cNvPr id="46" name="Shape 43"/>
          <p:cNvSpPr/>
          <p:nvPr/>
        </p:nvSpPr>
        <p:spPr>
          <a:xfrm>
            <a:off x="8647481" y="4855464"/>
            <a:ext cx="0" cy="310896"/>
          </a:xfrm>
          <a:prstGeom prst="line">
            <a:avLst/>
          </a:prstGeom>
          <a:noFill/>
          <a:ln w="19050">
            <a:solidFill>
              <a:srgbClr val="1E2A5C"/>
            </a:solidFill>
            <a:prstDash val="solid"/>
            <a:tailEnd type="triangle"/>
          </a:ln>
        </p:spPr>
        <p:txBody>
          <a:bodyPr/>
          <a:lstStyle/>
          <a:p>
            <a:endParaRPr/>
          </a:p>
        </p:txBody>
      </p:sp>
      <p:sp>
        <p:nvSpPr>
          <p:cNvPr id="47" name="Text 44"/>
          <p:cNvSpPr txBox="1"/>
          <p:nvPr/>
        </p:nvSpPr>
        <p:spPr>
          <a:xfrm>
            <a:off x="8702345" y="4882896"/>
            <a:ext cx="100584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48" name="Shape 45"/>
          <p:cNvSpPr/>
          <p:nvPr/>
        </p:nvSpPr>
        <p:spPr>
          <a:xfrm>
            <a:off x="7641641" y="5870448"/>
            <a:ext cx="6492240" cy="548640"/>
          </a:xfrm>
          <a:prstGeom prst="roundRect">
            <a:avLst>
              <a:gd name="adj" fmla="val 10000"/>
            </a:avLst>
          </a:prstGeom>
          <a:solidFill>
            <a:srgbClr val="F5F8FC"/>
          </a:solidFill>
          <a:ln w="12700">
            <a:solidFill>
              <a:srgbClr val="D9E0EC"/>
            </a:solidFill>
            <a:prstDash val="solid"/>
          </a:ln>
        </p:spPr>
        <p:txBody>
          <a:bodyPr/>
          <a:lstStyle/>
          <a:p>
            <a:endParaRPr/>
          </a:p>
        </p:txBody>
      </p:sp>
      <p:sp>
        <p:nvSpPr>
          <p:cNvPr id="49" name="Text 46"/>
          <p:cNvSpPr txBox="1"/>
          <p:nvPr/>
        </p:nvSpPr>
        <p:spPr>
          <a:xfrm>
            <a:off x="7751369" y="5870448"/>
            <a:ext cx="6309360" cy="54864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설명: 불만이나 불편을 분명히 말한 경우만. 문의 목적, 개인 사정은 아님</a:t>
            </a:r>
            <a:endParaRPr lang="en-US" sz="1400" dirty="0"/>
          </a:p>
        </p:txBody>
      </p:sp>
      <p:sp>
        <p:nvSpPr>
          <p:cNvPr id="50" name="Shape 47"/>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1" name="Shape 48"/>
          <p:cNvSpPr/>
          <p:nvPr/>
        </p:nvSpPr>
        <p:spPr>
          <a:xfrm>
            <a:off x="509321" y="6510528"/>
            <a:ext cx="82296" cy="658368"/>
          </a:xfrm>
          <a:prstGeom prst="rect">
            <a:avLst/>
          </a:prstGeom>
          <a:solidFill>
            <a:srgbClr val="2E74C6"/>
          </a:solidFill>
          <a:ln/>
        </p:spPr>
        <p:txBody>
          <a:bodyPr/>
          <a:lstStyle/>
          <a:p>
            <a:endParaRPr/>
          </a:p>
        </p:txBody>
      </p:sp>
      <p:sp>
        <p:nvSpPr>
          <p:cNvPr id="52" name="Text 49"/>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결과: 스키마 초안 = 노드 타입 4, 관계 5, 패턴 5, 제약 1. </a:t>
            </a:r>
            <a:r>
              <a:rPr lang="en-US" sz="1600" b="1" dirty="0" err="1">
                <a:solidFill>
                  <a:srgbClr val="1E2A5C"/>
                </a:solidFill>
                <a:latin typeface="Pretendard" pitchFamily="34" charset="0"/>
                <a:ea typeface="Pretendard" pitchFamily="34" charset="-122"/>
                <a:cs typeface="Pretendard" pitchFamily="34" charset="-120"/>
              </a:rPr>
              <a:t>사람은</a:t>
            </a:r>
            <a:r>
              <a:rPr lang="en-US" sz="1600" b="1" dirty="0">
                <a:solidFill>
                  <a:srgbClr val="1E2A5C"/>
                </a:solidFill>
                <a:latin typeface="Pretendard" pitchFamily="34" charset="0"/>
                <a:ea typeface="Pretendard" pitchFamily="34" charset="-122"/>
                <a:cs typeface="Pretendard" pitchFamily="34" charset="-120"/>
              </a:rPr>
              <a:t> </a:t>
            </a:r>
            <a:r>
              <a:rPr lang="ko-KR" altLang="en-US" sz="1600" b="1" dirty="0">
                <a:solidFill>
                  <a:srgbClr val="1E2A5C"/>
                </a:solidFill>
                <a:latin typeface="Pretendard" pitchFamily="34" charset="0"/>
                <a:ea typeface="Pretendard" pitchFamily="34" charset="-122"/>
                <a:cs typeface="Pretendard" pitchFamily="34" charset="-120"/>
              </a:rPr>
              <a:t>역량</a:t>
            </a:r>
            <a:r>
              <a:rPr lang="en-US" sz="1600" b="1" dirty="0" err="1">
                <a:solidFill>
                  <a:srgbClr val="1E2A5C"/>
                </a:solidFill>
                <a:latin typeface="Pretendard" pitchFamily="34" charset="0"/>
                <a:ea typeface="Pretendard" pitchFamily="34" charset="-122"/>
                <a:cs typeface="Pretendard" pitchFamily="34" charset="-120"/>
              </a:rPr>
              <a:t>질문과</a:t>
            </a:r>
            <a:r>
              <a:rPr lang="en-US" sz="1600" b="1" dirty="0">
                <a:solidFill>
                  <a:srgbClr val="1E2A5C"/>
                </a:solidFill>
                <a:latin typeface="Pretendard" pitchFamily="34" charset="0"/>
                <a:ea typeface="Pretendard" pitchFamily="34" charset="-122"/>
                <a:cs typeface="Pretendard" pitchFamily="34" charset="-120"/>
              </a:rPr>
              <a:t> </a:t>
            </a:r>
            <a:r>
              <a:rPr lang="en-US" altLang="ko-KR" sz="1600" b="1" dirty="0">
                <a:solidFill>
                  <a:srgbClr val="1E2A5C"/>
                </a:solidFill>
                <a:latin typeface="Pretendard" pitchFamily="34" charset="0"/>
                <a:ea typeface="Pretendard" pitchFamily="34" charset="-122"/>
                <a:cs typeface="Pretendard" pitchFamily="34" charset="-120"/>
              </a:rPr>
              <a:t>RDB</a:t>
            </a:r>
            <a:r>
              <a:rPr lang="ko-KR" altLang="en-US" sz="1600" b="1" dirty="0">
                <a:solidFill>
                  <a:srgbClr val="1E2A5C"/>
                </a:solidFill>
                <a:latin typeface="Pretendard" pitchFamily="34" charset="0"/>
                <a:ea typeface="Pretendard" pitchFamily="34" charset="-122"/>
                <a:cs typeface="Pretendard" pitchFamily="34" charset="-120"/>
              </a:rPr>
              <a:t> 스키마와의 중복 여부</a:t>
            </a:r>
            <a:r>
              <a:rPr lang="en-US" altLang="ko-KR" sz="1600" b="1" dirty="0">
                <a:solidFill>
                  <a:srgbClr val="1E2A5C"/>
                </a:solidFill>
                <a:latin typeface="Pretendard" pitchFamily="34" charset="0"/>
                <a:ea typeface="Pretendard" pitchFamily="34" charset="-122"/>
                <a:cs typeface="Pretendard" pitchFamily="34" charset="-120"/>
              </a:rPr>
              <a:t>, </a:t>
            </a:r>
            <a:r>
              <a:rPr lang="ko-KR" altLang="en-US" sz="1600" b="1" dirty="0">
                <a:solidFill>
                  <a:srgbClr val="1E2A5C"/>
                </a:solidFill>
                <a:latin typeface="Pretendard" pitchFamily="34" charset="0"/>
                <a:ea typeface="Pretendard" pitchFamily="34" charset="-122"/>
                <a:cs typeface="Pretendard" pitchFamily="34" charset="-120"/>
              </a:rPr>
              <a:t>가명화 규칙</a:t>
            </a:r>
            <a:r>
              <a:rPr lang="en-US" altLang="ko-KR" sz="1600" b="1" dirty="0">
                <a:solidFill>
                  <a:srgbClr val="1E2A5C"/>
                </a:solidFill>
                <a:latin typeface="Pretendard" pitchFamily="34" charset="0"/>
                <a:ea typeface="Pretendard" pitchFamily="34" charset="-122"/>
                <a:cs typeface="Pretendard" pitchFamily="34" charset="-120"/>
              </a:rPr>
              <a:t>, Neo4j </a:t>
            </a:r>
            <a:r>
              <a:rPr lang="ko-KR" altLang="en-US" sz="1600" b="1" dirty="0">
                <a:solidFill>
                  <a:srgbClr val="1E2A5C"/>
                </a:solidFill>
                <a:latin typeface="Pretendard" pitchFamily="34" charset="0"/>
                <a:ea typeface="Pretendard" pitchFamily="34" charset="-122"/>
                <a:cs typeface="Pretendard" pitchFamily="34" charset="-120"/>
              </a:rPr>
              <a:t>한계 등으로 판단</a:t>
            </a:r>
            <a:r>
              <a:rPr lang="en-US" altLang="ko-KR" sz="1600" b="1" dirty="0">
                <a:solidFill>
                  <a:srgbClr val="1E2A5C"/>
                </a:solidFill>
                <a:latin typeface="Pretendard" pitchFamily="34" charset="0"/>
                <a:ea typeface="Pretendard" pitchFamily="34" charset="-122"/>
                <a:cs typeface="Pretendard" pitchFamily="34" charset="-120"/>
              </a:rPr>
              <a:t>.</a:t>
            </a:r>
            <a:endParaRPr lang="en-US" sz="1600" dirty="0"/>
          </a:p>
        </p:txBody>
      </p:sp>
      <p:sp>
        <p:nvSpPr>
          <p:cNvPr id="53" name="Shape 50"/>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4" name="Text 51"/>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단계 ② 결과(이름 53개와 건수)와 역량 질문 5개, 초안 파일 skeleton_consult_v2.json(GraphSchema 검증 통과)</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시험(1) 실제 1건씩 대조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 초안을 schema로 주고 정답표가 있는 상담 48건(②에서 안 본 18건 포함)을 실제 추출해 한 건씩 맞춰 봄</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C-20260701-016, 불만이 있는 상담(v2 설명)</a:t>
            </a:r>
            <a:endParaRPr lang="en-US" sz="1600" dirty="0"/>
          </a:p>
        </p:txBody>
      </p:sp>
      <p:sp>
        <p:nvSpPr>
          <p:cNvPr id="7" name="Text 4"/>
          <p:cNvSpPr txBox="1"/>
          <p:nvPr/>
        </p:nvSpPr>
        <p:spPr>
          <a:xfrm>
            <a:off x="600761" y="2157984"/>
            <a:ext cx="12801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항목(역량 질문)</a:t>
            </a:r>
            <a:endParaRPr lang="en-US" sz="1400" dirty="0"/>
          </a:p>
        </p:txBody>
      </p:sp>
      <p:sp>
        <p:nvSpPr>
          <p:cNvPr id="8" name="Text 5"/>
          <p:cNvSpPr txBox="1"/>
          <p:nvPr/>
        </p:nvSpPr>
        <p:spPr>
          <a:xfrm>
            <a:off x="192664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정답(대조표)</a:t>
            </a:r>
            <a:endParaRPr lang="en-US" sz="1400" dirty="0"/>
          </a:p>
        </p:txBody>
      </p:sp>
      <p:sp>
        <p:nvSpPr>
          <p:cNvPr id="9" name="Text 6"/>
          <p:cNvSpPr txBox="1"/>
          <p:nvPr/>
        </p:nvSpPr>
        <p:spPr>
          <a:xfrm>
            <a:off x="416692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추출 결과</a:t>
            </a:r>
            <a:endParaRPr lang="en-US" sz="1400" dirty="0"/>
          </a:p>
        </p:txBody>
      </p:sp>
      <p:sp>
        <p:nvSpPr>
          <p:cNvPr id="10" name="Shape 7"/>
          <p:cNvSpPr/>
          <p:nvPr/>
        </p:nvSpPr>
        <p:spPr>
          <a:xfrm>
            <a:off x="509321" y="2468880"/>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1" name="Text 8"/>
          <p:cNvSpPr txBox="1"/>
          <p:nvPr/>
        </p:nvSpPr>
        <p:spPr>
          <a:xfrm>
            <a:off x="600761" y="2468880"/>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 원인</a:t>
            </a:r>
            <a:br/>
            <a:r>
              <a:rPr lang="en-US" sz="1400" b="1" dirty="0">
                <a:solidFill>
                  <a:srgbClr val="1E2A5C"/>
                </a:solidFill>
                <a:latin typeface="Pretendard" pitchFamily="34" charset="0"/>
                <a:ea typeface="Pretendard" pitchFamily="34" charset="-122"/>
                <a:cs typeface="Pretendard" pitchFamily="34" charset="-120"/>
              </a:rPr>
              <a:t>질문 1</a:t>
            </a:r>
            <a:endParaRPr lang="en-US" sz="1400" dirty="0"/>
          </a:p>
        </p:txBody>
      </p:sp>
      <p:sp>
        <p:nvSpPr>
          <p:cNvPr id="12" name="Text 9"/>
          <p:cNvSpPr txBox="1"/>
          <p:nvPr/>
        </p:nvSpPr>
        <p:spPr>
          <a:xfrm>
            <a:off x="192664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매달 신청을 반복해야 하는 게 불만의 원인</a:t>
            </a:r>
            <a:endParaRPr lang="en-US" sz="1400" dirty="0"/>
          </a:p>
        </p:txBody>
      </p:sp>
      <p:sp>
        <p:nvSpPr>
          <p:cNvPr id="13" name="Text 10"/>
          <p:cNvSpPr txBox="1"/>
          <p:nvPr/>
        </p:nvSpPr>
        <p:spPr>
          <a:xfrm>
            <a:off x="416692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14" name="Shape 11"/>
          <p:cNvSpPr/>
          <p:nvPr/>
        </p:nvSpPr>
        <p:spPr>
          <a:xfrm>
            <a:off x="6416345" y="2679192"/>
            <a:ext cx="658368" cy="310896"/>
          </a:xfrm>
          <a:prstGeom prst="roundRect">
            <a:avLst>
              <a:gd name="adj" fmla="val 23529"/>
            </a:avLst>
          </a:prstGeom>
          <a:solidFill>
            <a:srgbClr val="2E74C6"/>
          </a:solidFill>
          <a:ln/>
        </p:spPr>
        <p:txBody>
          <a:bodyPr/>
          <a:lstStyle/>
          <a:p>
            <a:endParaRPr/>
          </a:p>
        </p:txBody>
      </p:sp>
      <p:sp>
        <p:nvSpPr>
          <p:cNvPr id="15" name="Text 12"/>
          <p:cNvSpPr txBox="1"/>
          <p:nvPr/>
        </p:nvSpPr>
        <p:spPr>
          <a:xfrm>
            <a:off x="6416345" y="267919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16" name="Shape 13"/>
          <p:cNvSpPr/>
          <p:nvPr/>
        </p:nvSpPr>
        <p:spPr>
          <a:xfrm>
            <a:off x="509321" y="3273552"/>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7" name="Text 14"/>
          <p:cNvSpPr txBox="1"/>
          <p:nvPr/>
        </p:nvSpPr>
        <p:spPr>
          <a:xfrm>
            <a:off x="600761" y="3273552"/>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a:t>
            </a:r>
            <a:br/>
            <a:r>
              <a:rPr lang="en-US" sz="1400" b="1" dirty="0">
                <a:solidFill>
                  <a:srgbClr val="1E2A5C"/>
                </a:solidFill>
                <a:latin typeface="Pretendard" pitchFamily="34" charset="0"/>
                <a:ea typeface="Pretendard" pitchFamily="34" charset="-122"/>
                <a:cs typeface="Pretendard" pitchFamily="34" charset="-120"/>
              </a:rPr>
              <a:t>질문 4</a:t>
            </a:r>
            <a:endParaRPr lang="en-US" sz="1400" dirty="0"/>
          </a:p>
        </p:txBody>
      </p:sp>
      <p:sp>
        <p:nvSpPr>
          <p:cNvPr id="18" name="Text 15"/>
          <p:cNvSpPr txBox="1"/>
          <p:nvPr/>
        </p:nvSpPr>
        <p:spPr>
          <a:xfrm>
            <a:off x="192664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다음 결제일이 지나고 다시 볼게요</a:t>
            </a:r>
            <a:endParaRPr lang="en-US" sz="1400" dirty="0"/>
          </a:p>
        </p:txBody>
      </p:sp>
      <p:sp>
        <p:nvSpPr>
          <p:cNvPr id="19" name="Text 16"/>
          <p:cNvSpPr txBox="1"/>
          <p:nvPr/>
        </p:nvSpPr>
        <p:spPr>
          <a:xfrm>
            <a:off x="416692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20" name="Shape 17"/>
          <p:cNvSpPr/>
          <p:nvPr/>
        </p:nvSpPr>
        <p:spPr>
          <a:xfrm>
            <a:off x="6416345" y="3483864"/>
            <a:ext cx="658368" cy="310896"/>
          </a:xfrm>
          <a:prstGeom prst="roundRect">
            <a:avLst>
              <a:gd name="adj" fmla="val 23529"/>
            </a:avLst>
          </a:prstGeom>
          <a:solidFill>
            <a:srgbClr val="2E74C6"/>
          </a:solidFill>
          <a:ln/>
        </p:spPr>
        <p:txBody>
          <a:bodyPr/>
          <a:lstStyle/>
          <a:p>
            <a:endParaRPr/>
          </a:p>
        </p:txBody>
      </p:sp>
      <p:sp>
        <p:nvSpPr>
          <p:cNvPr id="21" name="Text 18"/>
          <p:cNvSpPr txBox="1"/>
          <p:nvPr/>
        </p:nvSpPr>
        <p:spPr>
          <a:xfrm>
            <a:off x="6416345" y="34838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2" name="Shape 19"/>
          <p:cNvSpPr/>
          <p:nvPr/>
        </p:nvSpPr>
        <p:spPr>
          <a:xfrm>
            <a:off x="509321" y="4078224"/>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0761" y="4078224"/>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a:t>
            </a:r>
            <a:br/>
            <a:r>
              <a:rPr lang="en-US" sz="1400" b="1" dirty="0">
                <a:solidFill>
                  <a:srgbClr val="1E2A5C"/>
                </a:solidFill>
                <a:latin typeface="Pretendard" pitchFamily="34" charset="0"/>
                <a:ea typeface="Pretendard" pitchFamily="34" charset="-122"/>
                <a:cs typeface="Pretendard" pitchFamily="34" charset="-120"/>
              </a:rPr>
              <a:t>질문 5</a:t>
            </a:r>
            <a:endParaRPr lang="en-US" sz="1400" dirty="0"/>
          </a:p>
        </p:txBody>
      </p:sp>
      <p:sp>
        <p:nvSpPr>
          <p:cNvPr id="24" name="Text 21"/>
          <p:cNvSpPr txBox="1"/>
          <p:nvPr/>
        </p:nvSpPr>
        <p:spPr>
          <a:xfrm>
            <a:off x="192664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C-20260626-011</a:t>
            </a:r>
            <a:endParaRPr lang="en-US" sz="1400" dirty="0"/>
          </a:p>
        </p:txBody>
      </p:sp>
      <p:sp>
        <p:nvSpPr>
          <p:cNvPr id="25" name="Text 22"/>
          <p:cNvSpPr txBox="1"/>
          <p:nvPr/>
        </p:nvSpPr>
        <p:spPr>
          <a:xfrm>
            <a:off x="416692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같음(FOLLOWS 관계)</a:t>
            </a:r>
            <a:endParaRPr lang="en-US" sz="1400" dirty="0"/>
          </a:p>
        </p:txBody>
      </p:sp>
      <p:sp>
        <p:nvSpPr>
          <p:cNvPr id="26" name="Shape 23"/>
          <p:cNvSpPr/>
          <p:nvPr/>
        </p:nvSpPr>
        <p:spPr>
          <a:xfrm>
            <a:off x="6416345" y="4288536"/>
            <a:ext cx="658368" cy="310896"/>
          </a:xfrm>
          <a:prstGeom prst="roundRect">
            <a:avLst>
              <a:gd name="adj" fmla="val 23529"/>
            </a:avLst>
          </a:prstGeom>
          <a:solidFill>
            <a:srgbClr val="2E74C6"/>
          </a:solidFill>
          <a:ln/>
        </p:spPr>
        <p:txBody>
          <a:bodyPr/>
          <a:lstStyle/>
          <a:p>
            <a:endParaRPr/>
          </a:p>
        </p:txBody>
      </p:sp>
      <p:sp>
        <p:nvSpPr>
          <p:cNvPr id="27" name="Text 24"/>
          <p:cNvSpPr txBox="1"/>
          <p:nvPr/>
        </p:nvSpPr>
        <p:spPr>
          <a:xfrm>
            <a:off x="6416345" y="4288536"/>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8" name="Shape 25"/>
          <p:cNvSpPr/>
          <p:nvPr/>
        </p:nvSpPr>
        <p:spPr>
          <a:xfrm>
            <a:off x="509321" y="4882896"/>
            <a:ext cx="6675120" cy="731520"/>
          </a:xfrm>
          <a:prstGeom prst="roundRect">
            <a:avLst>
              <a:gd name="adj" fmla="val 7500"/>
            </a:avLst>
          </a:prstGeom>
          <a:solidFill>
            <a:srgbClr val="F5F8FC"/>
          </a:solidFill>
          <a:ln w="12700">
            <a:solidFill>
              <a:srgbClr val="404155"/>
            </a:solidFill>
            <a:prstDash val="solid"/>
          </a:ln>
        </p:spPr>
        <p:txBody>
          <a:bodyPr/>
          <a:lstStyle/>
          <a:p>
            <a:endParaRPr/>
          </a:p>
        </p:txBody>
      </p:sp>
      <p:sp>
        <p:nvSpPr>
          <p:cNvPr id="29" name="Text 26"/>
          <p:cNvSpPr txBox="1"/>
          <p:nvPr/>
        </p:nvSpPr>
        <p:spPr>
          <a:xfrm>
            <a:off x="600761" y="4882896"/>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제안과 응답</a:t>
            </a:r>
            <a:br/>
            <a:r>
              <a:rPr lang="en-US" sz="1400" b="1" dirty="0">
                <a:solidFill>
                  <a:srgbClr val="1E2A5C"/>
                </a:solidFill>
                <a:latin typeface="Pretendard" pitchFamily="34" charset="0"/>
                <a:ea typeface="Pretendard" pitchFamily="34" charset="-122"/>
                <a:cs typeface="Pretendard" pitchFamily="34" charset="-120"/>
              </a:rPr>
              <a:t>질문 2, 3</a:t>
            </a:r>
            <a:endParaRPr lang="en-US" sz="1400" dirty="0"/>
          </a:p>
        </p:txBody>
      </p:sp>
      <p:sp>
        <p:nvSpPr>
          <p:cNvPr id="30" name="Text 27"/>
          <p:cNvSpPr txBox="1"/>
          <p:nvPr/>
        </p:nvSpPr>
        <p:spPr>
          <a:xfrm>
            <a:off x="192664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할인을 늘릴 수 있는지 확인, 보류</a:t>
            </a:r>
            <a:endParaRPr lang="en-US" sz="1400" dirty="0"/>
          </a:p>
        </p:txBody>
      </p:sp>
      <p:sp>
        <p:nvSpPr>
          <p:cNvPr id="31" name="Text 28"/>
          <p:cNvSpPr txBox="1"/>
          <p:nvPr/>
        </p:nvSpPr>
        <p:spPr>
          <a:xfrm>
            <a:off x="416692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자동납부 재등록 절차 비교, 수용</a:t>
            </a:r>
            <a:endParaRPr lang="en-US" sz="1400" dirty="0"/>
          </a:p>
        </p:txBody>
      </p:sp>
      <p:sp>
        <p:nvSpPr>
          <p:cNvPr id="32" name="Shape 29"/>
          <p:cNvSpPr/>
          <p:nvPr/>
        </p:nvSpPr>
        <p:spPr>
          <a:xfrm>
            <a:off x="6416345" y="5093208"/>
            <a:ext cx="658368" cy="310896"/>
          </a:xfrm>
          <a:prstGeom prst="roundRect">
            <a:avLst>
              <a:gd name="adj" fmla="val 23529"/>
            </a:avLst>
          </a:prstGeom>
          <a:solidFill>
            <a:srgbClr val="404155"/>
          </a:solidFill>
          <a:ln/>
        </p:spPr>
        <p:txBody>
          <a:bodyPr/>
          <a:lstStyle/>
          <a:p>
            <a:endParaRPr/>
          </a:p>
        </p:txBody>
      </p:sp>
      <p:sp>
        <p:nvSpPr>
          <p:cNvPr id="33" name="Text 30"/>
          <p:cNvSpPr txBox="1"/>
          <p:nvPr/>
        </p:nvSpPr>
        <p:spPr>
          <a:xfrm>
            <a:off x="6416345" y="50932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34" name="Text 31"/>
          <p:cNvSpPr txBox="1"/>
          <p:nvPr/>
        </p:nvSpPr>
        <p:spPr>
          <a:xfrm>
            <a:off x="509321" y="5742432"/>
            <a:ext cx="6675120" cy="64008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제안이 둘 이상인 상담에서 다른 안내를 고르는 실수가 남음(응답 엄격 일치 37 / 48의 이유)</a:t>
            </a:r>
            <a:endParaRPr lang="en-US" sz="1400" dirty="0"/>
          </a:p>
        </p:txBody>
      </p:sp>
      <p:sp>
        <p:nvSpPr>
          <p:cNvPr id="35" name="Shape 32"/>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36" name="Text 33"/>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C-20260310-018, 불만이 없는 주소 변경 문의</a:t>
            </a:r>
            <a:endParaRPr lang="en-US" sz="1600" dirty="0"/>
          </a:p>
        </p:txBody>
      </p:sp>
      <p:sp>
        <p:nvSpPr>
          <p:cNvPr id="37" name="Text 34"/>
          <p:cNvSpPr txBox="1"/>
          <p:nvPr/>
        </p:nvSpPr>
        <p:spPr>
          <a:xfrm>
            <a:off x="7458761" y="2157984"/>
            <a:ext cx="667512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답이 없어야 하는 문서: 불만이 나오면 잘못 뽑은 것</a:t>
            </a:r>
            <a:endParaRPr lang="en-US" sz="1400" dirty="0"/>
          </a:p>
        </p:txBody>
      </p:sp>
      <p:sp>
        <p:nvSpPr>
          <p:cNvPr id="38" name="Shape 35"/>
          <p:cNvSpPr/>
          <p:nvPr/>
        </p:nvSpPr>
        <p:spPr>
          <a:xfrm>
            <a:off x="7458761" y="2468880"/>
            <a:ext cx="6675120" cy="1481328"/>
          </a:xfrm>
          <a:prstGeom prst="roundRect">
            <a:avLst>
              <a:gd name="adj" fmla="val 3704"/>
            </a:avLst>
          </a:prstGeom>
          <a:solidFill>
            <a:srgbClr val="FFFFFF"/>
          </a:solidFill>
          <a:ln w="12700">
            <a:solidFill>
              <a:srgbClr val="D9E0EC"/>
            </a:solidFill>
            <a:prstDash val="solid"/>
          </a:ln>
        </p:spPr>
        <p:txBody>
          <a:bodyPr/>
          <a:lstStyle/>
          <a:p>
            <a:endParaRPr/>
          </a:p>
        </p:txBody>
      </p:sp>
      <p:sp>
        <p:nvSpPr>
          <p:cNvPr id="39" name="Shape 36"/>
          <p:cNvSpPr/>
          <p:nvPr/>
        </p:nvSpPr>
        <p:spPr>
          <a:xfrm>
            <a:off x="7550201" y="2560320"/>
            <a:ext cx="1463040" cy="292608"/>
          </a:xfrm>
          <a:prstGeom prst="roundRect">
            <a:avLst>
              <a:gd name="adj" fmla="val 25000"/>
            </a:avLst>
          </a:prstGeom>
          <a:solidFill>
            <a:srgbClr val="4A5364"/>
          </a:solidFill>
          <a:ln/>
        </p:spPr>
        <p:txBody>
          <a:bodyPr/>
          <a:lstStyle/>
          <a:p>
            <a:endParaRPr/>
          </a:p>
        </p:txBody>
      </p:sp>
      <p:sp>
        <p:nvSpPr>
          <p:cNvPr id="40" name="Text 37"/>
          <p:cNvSpPr txBox="1"/>
          <p:nvPr/>
        </p:nvSpPr>
        <p:spPr>
          <a:xfrm>
            <a:off x="7550201" y="2560320"/>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v1 설명</a:t>
            </a:r>
            <a:endParaRPr lang="en-US" sz="1400" dirty="0"/>
          </a:p>
        </p:txBody>
      </p:sp>
      <p:sp>
        <p:nvSpPr>
          <p:cNvPr id="41" name="Text 38"/>
          <p:cNvSpPr txBox="1"/>
          <p:nvPr/>
        </p:nvSpPr>
        <p:spPr>
          <a:xfrm>
            <a:off x="7595921" y="2926080"/>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{cause: "이사"}</a:t>
            </a:r>
            <a:endParaRPr lang="en-US" sz="1400" dirty="0"/>
          </a:p>
        </p:txBody>
      </p:sp>
      <p:sp>
        <p:nvSpPr>
          <p:cNvPr id="42" name="Shape 39"/>
          <p:cNvSpPr/>
          <p:nvPr/>
        </p:nvSpPr>
        <p:spPr>
          <a:xfrm>
            <a:off x="13347497" y="2999232"/>
            <a:ext cx="658368" cy="310896"/>
          </a:xfrm>
          <a:prstGeom prst="roundRect">
            <a:avLst>
              <a:gd name="adj" fmla="val 23529"/>
            </a:avLst>
          </a:prstGeom>
          <a:solidFill>
            <a:srgbClr val="404155"/>
          </a:solidFill>
          <a:ln/>
        </p:spPr>
        <p:txBody>
          <a:bodyPr/>
          <a:lstStyle/>
          <a:p>
            <a:endParaRPr/>
          </a:p>
        </p:txBody>
      </p:sp>
      <p:sp>
        <p:nvSpPr>
          <p:cNvPr id="43" name="Text 40"/>
          <p:cNvSpPr txBox="1"/>
          <p:nvPr/>
        </p:nvSpPr>
        <p:spPr>
          <a:xfrm>
            <a:off x="13347497" y="299923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4" name="Text 41"/>
          <p:cNvSpPr txBox="1"/>
          <p:nvPr/>
        </p:nvSpPr>
        <p:spPr>
          <a:xfrm>
            <a:off x="7595921" y="341985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2개: 수령지 직접 변경 방법(수용), 후속 안내를 영업점 방식으로(수용)</a:t>
            </a:r>
            <a:endParaRPr lang="en-US" sz="1400" dirty="0"/>
          </a:p>
        </p:txBody>
      </p:sp>
      <p:sp>
        <p:nvSpPr>
          <p:cNvPr id="45" name="Shape 42"/>
          <p:cNvSpPr/>
          <p:nvPr/>
        </p:nvSpPr>
        <p:spPr>
          <a:xfrm>
            <a:off x="13347497" y="3493008"/>
            <a:ext cx="658368" cy="310896"/>
          </a:xfrm>
          <a:prstGeom prst="roundRect">
            <a:avLst>
              <a:gd name="adj" fmla="val 23529"/>
            </a:avLst>
          </a:prstGeom>
          <a:solidFill>
            <a:srgbClr val="404155"/>
          </a:solidFill>
          <a:ln/>
        </p:spPr>
        <p:txBody>
          <a:bodyPr/>
          <a:lstStyle/>
          <a:p>
            <a:endParaRPr/>
          </a:p>
        </p:txBody>
      </p:sp>
      <p:sp>
        <p:nvSpPr>
          <p:cNvPr id="46" name="Text 43"/>
          <p:cNvSpPr txBox="1"/>
          <p:nvPr/>
        </p:nvSpPr>
        <p:spPr>
          <a:xfrm>
            <a:off x="13347497" y="34930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7" name="Shape 44"/>
          <p:cNvSpPr/>
          <p:nvPr/>
        </p:nvSpPr>
        <p:spPr>
          <a:xfrm>
            <a:off x="7458761" y="4059936"/>
            <a:ext cx="6675120" cy="1481328"/>
          </a:xfrm>
          <a:prstGeom prst="roundRect">
            <a:avLst>
              <a:gd name="adj" fmla="val 3704"/>
            </a:avLst>
          </a:prstGeom>
          <a:solidFill>
            <a:srgbClr val="EEF3FA"/>
          </a:solidFill>
          <a:ln w="12700">
            <a:solidFill>
              <a:srgbClr val="2E74C6"/>
            </a:solidFill>
            <a:prstDash val="solid"/>
          </a:ln>
        </p:spPr>
        <p:txBody>
          <a:bodyPr/>
          <a:lstStyle/>
          <a:p>
            <a:endParaRPr/>
          </a:p>
        </p:txBody>
      </p:sp>
      <p:sp>
        <p:nvSpPr>
          <p:cNvPr id="48" name="Shape 45"/>
          <p:cNvSpPr/>
          <p:nvPr/>
        </p:nvSpPr>
        <p:spPr>
          <a:xfrm>
            <a:off x="7550201" y="4151376"/>
            <a:ext cx="1463040"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7550201" y="4151376"/>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v2 설명(좁힘)</a:t>
            </a:r>
            <a:endParaRPr lang="en-US" sz="1400" dirty="0"/>
          </a:p>
        </p:txBody>
      </p:sp>
      <p:sp>
        <p:nvSpPr>
          <p:cNvPr id="50" name="Text 47"/>
          <p:cNvSpPr txBox="1"/>
          <p:nvPr/>
        </p:nvSpPr>
        <p:spPr>
          <a:xfrm>
            <a:off x="7595921" y="451713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없음</a:t>
            </a:r>
            <a:endParaRPr lang="en-US" sz="1400" dirty="0"/>
          </a:p>
        </p:txBody>
      </p:sp>
      <p:sp>
        <p:nvSpPr>
          <p:cNvPr id="51" name="Shape 48"/>
          <p:cNvSpPr/>
          <p:nvPr/>
        </p:nvSpPr>
        <p:spPr>
          <a:xfrm>
            <a:off x="13347497" y="4590288"/>
            <a:ext cx="658368" cy="310896"/>
          </a:xfrm>
          <a:prstGeom prst="roundRect">
            <a:avLst>
              <a:gd name="adj" fmla="val 23529"/>
            </a:avLst>
          </a:prstGeom>
          <a:solidFill>
            <a:srgbClr val="2E74C6"/>
          </a:solidFill>
          <a:ln/>
        </p:spPr>
        <p:txBody>
          <a:bodyPr/>
          <a:lstStyle/>
          <a:p>
            <a:endParaRPr/>
          </a:p>
        </p:txBody>
      </p:sp>
      <p:sp>
        <p:nvSpPr>
          <p:cNvPr id="52" name="Text 49"/>
          <p:cNvSpPr txBox="1"/>
          <p:nvPr/>
        </p:nvSpPr>
        <p:spPr>
          <a:xfrm>
            <a:off x="13347497" y="459028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3" name="Text 50"/>
          <p:cNvSpPr txBox="1"/>
          <p:nvPr/>
        </p:nvSpPr>
        <p:spPr>
          <a:xfrm>
            <a:off x="7595921" y="5010912"/>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1개: 앱에서 본인 인증하고 수령지를 직접 바꾸는 방법, 수용, 이유 "집에서 바로 할 수 있는 쪽이 편해서요"</a:t>
            </a:r>
            <a:endParaRPr lang="en-US" sz="1400" dirty="0"/>
          </a:p>
        </p:txBody>
      </p:sp>
      <p:sp>
        <p:nvSpPr>
          <p:cNvPr id="54" name="Shape 51"/>
          <p:cNvSpPr/>
          <p:nvPr/>
        </p:nvSpPr>
        <p:spPr>
          <a:xfrm>
            <a:off x="13347497" y="5084064"/>
            <a:ext cx="658368" cy="310896"/>
          </a:xfrm>
          <a:prstGeom prst="roundRect">
            <a:avLst>
              <a:gd name="adj" fmla="val 23529"/>
            </a:avLst>
          </a:prstGeom>
          <a:solidFill>
            <a:srgbClr val="2E74C6"/>
          </a:solidFill>
          <a:ln/>
        </p:spPr>
        <p:txBody>
          <a:bodyPr/>
          <a:lstStyle/>
          <a:p>
            <a:endParaRPr/>
          </a:p>
        </p:txBody>
      </p:sp>
      <p:sp>
        <p:nvSpPr>
          <p:cNvPr id="55" name="Text 52"/>
          <p:cNvSpPr txBox="1"/>
          <p:nvPr/>
        </p:nvSpPr>
        <p:spPr>
          <a:xfrm>
            <a:off x="13347497" y="50840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6" name="Text 53"/>
          <p:cNvSpPr txBox="1"/>
          <p:nvPr/>
        </p:nvSpPr>
        <p:spPr>
          <a:xfrm>
            <a:off x="7458761" y="5650992"/>
            <a:ext cx="6675120" cy="73152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v1의 두 번째 제안은 절차 안내라 틀림. 정답표 제안은 1개</a:t>
            </a:r>
            <a:endParaRPr lang="en-US" sz="1400" dirty="0"/>
          </a:p>
        </p:txBody>
      </p:sp>
      <p:sp>
        <p:nvSpPr>
          <p:cNvPr id="57" name="Shape 54"/>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8" name="Shape 55"/>
          <p:cNvSpPr/>
          <p:nvPr/>
        </p:nvSpPr>
        <p:spPr>
          <a:xfrm>
            <a:off x="509321" y="6510528"/>
            <a:ext cx="82296" cy="658368"/>
          </a:xfrm>
          <a:prstGeom prst="rect">
            <a:avLst/>
          </a:prstGeom>
          <a:solidFill>
            <a:srgbClr val="2E74C6"/>
          </a:solidFill>
          <a:ln/>
        </p:spPr>
        <p:txBody>
          <a:bodyPr/>
          <a:lstStyle/>
          <a:p>
            <a:endParaRPr/>
          </a:p>
        </p:txBody>
      </p:sp>
      <p:sp>
        <p:nvSpPr>
          <p:cNvPr id="59" name="Text 56"/>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실무: ②와 겹치지 않는 표본(문서 종류마다 30 ~ 50건, 답이 없어야 하는 문서 포함)에 기대 답을 붙여 시험. 이 예시는 정답표가 48건 모두에 있어 전체를 씀</a:t>
            </a:r>
            <a:endParaRPr lang="en-US" sz="1600" dirty="0"/>
          </a:p>
        </p:txBody>
      </p:sp>
      <p:sp>
        <p:nvSpPr>
          <p:cNvPr id="60" name="Shape 57"/>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1" name="Text 5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시험(2) 전체 지표와 설명 고치기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48건 지표로 보고 잘못 뽑기가 많은 타입의 설명을 고쳐 ③으로 돌아감 — 한 번 고치자 불만 오탐이 22건에서 4건으로</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상담 48건, 역량 질문 5개를 정답표와 비교</a:t>
            </a:r>
            <a:endParaRPr lang="en-US" sz="1600" dirty="0"/>
          </a:p>
        </p:txBody>
      </p:sp>
      <p:sp>
        <p:nvSpPr>
          <p:cNvPr id="7" name="Shape 4"/>
          <p:cNvSpPr/>
          <p:nvPr/>
        </p:nvSpPr>
        <p:spPr>
          <a:xfrm>
            <a:off x="3252521" y="2231136"/>
            <a:ext cx="274320" cy="164592"/>
          </a:xfrm>
          <a:prstGeom prst="rect">
            <a:avLst/>
          </a:prstGeom>
          <a:solidFill>
            <a:srgbClr val="C3CEE0"/>
          </a:solidFill>
          <a:ln/>
        </p:spPr>
        <p:txBody>
          <a:bodyPr/>
          <a:lstStyle/>
          <a:p>
            <a:endParaRPr/>
          </a:p>
        </p:txBody>
      </p:sp>
      <p:sp>
        <p:nvSpPr>
          <p:cNvPr id="8" name="Text 5"/>
          <p:cNvSpPr txBox="1"/>
          <p:nvPr/>
        </p:nvSpPr>
        <p:spPr>
          <a:xfrm>
            <a:off x="3599993" y="2157984"/>
            <a:ext cx="9144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v1 설명</a:t>
            </a:r>
            <a:endParaRPr lang="en-US" sz="1400" dirty="0"/>
          </a:p>
        </p:txBody>
      </p:sp>
      <p:sp>
        <p:nvSpPr>
          <p:cNvPr id="9" name="Shape 6"/>
          <p:cNvSpPr/>
          <p:nvPr/>
        </p:nvSpPr>
        <p:spPr>
          <a:xfrm>
            <a:off x="4532681" y="2231136"/>
            <a:ext cx="274320" cy="164592"/>
          </a:xfrm>
          <a:prstGeom prst="rect">
            <a:avLst/>
          </a:prstGeom>
          <a:solidFill>
            <a:srgbClr val="2E74C6"/>
          </a:solidFill>
          <a:ln/>
        </p:spPr>
        <p:txBody>
          <a:bodyPr/>
          <a:lstStyle/>
          <a:p>
            <a:endParaRPr/>
          </a:p>
        </p:txBody>
      </p:sp>
      <p:sp>
        <p:nvSpPr>
          <p:cNvPr id="10" name="Text 7"/>
          <p:cNvSpPr txBox="1"/>
          <p:nvPr/>
        </p:nvSpPr>
        <p:spPr>
          <a:xfrm>
            <a:off x="4880153" y="2157984"/>
            <a:ext cx="146304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v2 설명(좁힘)</a:t>
            </a:r>
            <a:endParaRPr lang="en-US" sz="1400" dirty="0"/>
          </a:p>
        </p:txBody>
      </p:sp>
      <p:sp>
        <p:nvSpPr>
          <p:cNvPr id="11" name="Shape 8"/>
          <p:cNvSpPr/>
          <p:nvPr/>
        </p:nvSpPr>
        <p:spPr>
          <a:xfrm>
            <a:off x="509321" y="2542032"/>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2" name="Text 9"/>
          <p:cNvSpPr txBox="1"/>
          <p:nvPr/>
        </p:nvSpPr>
        <p:spPr>
          <a:xfrm>
            <a:off x="619049" y="2596896"/>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불만을 잘못 뽑음(질문 1)</a:t>
            </a:r>
            <a:endParaRPr lang="en-US" sz="1400" dirty="0"/>
          </a:p>
        </p:txBody>
      </p:sp>
      <p:sp>
        <p:nvSpPr>
          <p:cNvPr id="13" name="Text 10"/>
          <p:cNvSpPr txBox="1"/>
          <p:nvPr/>
        </p:nvSpPr>
        <p:spPr>
          <a:xfrm>
            <a:off x="619049" y="2889504"/>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불만 없는 24건 중, 낮을수록 좋음</a:t>
            </a:r>
            <a:endParaRPr lang="en-US" sz="1400" dirty="0"/>
          </a:p>
        </p:txBody>
      </p:sp>
      <p:sp>
        <p:nvSpPr>
          <p:cNvPr id="14" name="Shape 11"/>
          <p:cNvSpPr/>
          <p:nvPr/>
        </p:nvSpPr>
        <p:spPr>
          <a:xfrm>
            <a:off x="3252521" y="2670048"/>
            <a:ext cx="2849880" cy="182880"/>
          </a:xfrm>
          <a:prstGeom prst="rect">
            <a:avLst/>
          </a:prstGeom>
          <a:solidFill>
            <a:srgbClr val="C3CEE0"/>
          </a:solidFill>
          <a:ln/>
        </p:spPr>
        <p:txBody>
          <a:bodyPr/>
          <a:lstStyle/>
          <a:p>
            <a:endParaRPr/>
          </a:p>
        </p:txBody>
      </p:sp>
      <p:sp>
        <p:nvSpPr>
          <p:cNvPr id="15" name="Text 12"/>
          <p:cNvSpPr txBox="1"/>
          <p:nvPr/>
        </p:nvSpPr>
        <p:spPr>
          <a:xfrm>
            <a:off x="6157265" y="2615184"/>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22</a:t>
            </a:r>
            <a:endParaRPr lang="en-US" sz="1400" dirty="0"/>
          </a:p>
        </p:txBody>
      </p:sp>
      <p:sp>
        <p:nvSpPr>
          <p:cNvPr id="16" name="Shape 13"/>
          <p:cNvSpPr/>
          <p:nvPr/>
        </p:nvSpPr>
        <p:spPr>
          <a:xfrm>
            <a:off x="3252521" y="2926080"/>
            <a:ext cx="518160" cy="182880"/>
          </a:xfrm>
          <a:prstGeom prst="rect">
            <a:avLst/>
          </a:prstGeom>
          <a:solidFill>
            <a:srgbClr val="2E74C6"/>
          </a:solidFill>
          <a:ln/>
        </p:spPr>
        <p:txBody>
          <a:bodyPr/>
          <a:lstStyle/>
          <a:p>
            <a:endParaRPr/>
          </a:p>
        </p:txBody>
      </p:sp>
      <p:sp>
        <p:nvSpPr>
          <p:cNvPr id="17" name="Text 14"/>
          <p:cNvSpPr txBox="1"/>
          <p:nvPr/>
        </p:nvSpPr>
        <p:spPr>
          <a:xfrm>
            <a:off x="3825545" y="2871216"/>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8" name="Shape 15"/>
          <p:cNvSpPr/>
          <p:nvPr/>
        </p:nvSpPr>
        <p:spPr>
          <a:xfrm>
            <a:off x="509321" y="3291840"/>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9" name="Text 16"/>
          <p:cNvSpPr txBox="1"/>
          <p:nvPr/>
        </p:nvSpPr>
        <p:spPr>
          <a:xfrm>
            <a:off x="619049" y="3346704"/>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 노드 수(질문 2)</a:t>
            </a:r>
            <a:endParaRPr lang="en-US" sz="1400" dirty="0"/>
          </a:p>
        </p:txBody>
      </p:sp>
      <p:sp>
        <p:nvSpPr>
          <p:cNvPr id="20" name="Text 17"/>
          <p:cNvSpPr txBox="1"/>
          <p:nvPr/>
        </p:nvSpPr>
        <p:spPr>
          <a:xfrm>
            <a:off x="619049" y="3639312"/>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합계, 낮을수록 좋음</a:t>
            </a:r>
            <a:endParaRPr lang="en-US" sz="1400" dirty="0"/>
          </a:p>
        </p:txBody>
      </p:sp>
      <p:sp>
        <p:nvSpPr>
          <p:cNvPr id="21" name="Shape 18"/>
          <p:cNvSpPr/>
          <p:nvPr/>
        </p:nvSpPr>
        <p:spPr>
          <a:xfrm>
            <a:off x="3252521" y="3419856"/>
            <a:ext cx="3108960" cy="182880"/>
          </a:xfrm>
          <a:prstGeom prst="rect">
            <a:avLst/>
          </a:prstGeom>
          <a:solidFill>
            <a:srgbClr val="C3CEE0"/>
          </a:solidFill>
          <a:ln/>
        </p:spPr>
        <p:txBody>
          <a:bodyPr/>
          <a:lstStyle/>
          <a:p>
            <a:endParaRPr/>
          </a:p>
        </p:txBody>
      </p:sp>
      <p:sp>
        <p:nvSpPr>
          <p:cNvPr id="22" name="Text 19"/>
          <p:cNvSpPr txBox="1"/>
          <p:nvPr/>
        </p:nvSpPr>
        <p:spPr>
          <a:xfrm>
            <a:off x="6416345" y="3364992"/>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87</a:t>
            </a:r>
            <a:endParaRPr lang="en-US" sz="1400" dirty="0"/>
          </a:p>
        </p:txBody>
      </p:sp>
      <p:sp>
        <p:nvSpPr>
          <p:cNvPr id="23" name="Shape 20"/>
          <p:cNvSpPr/>
          <p:nvPr/>
        </p:nvSpPr>
        <p:spPr>
          <a:xfrm>
            <a:off x="3252521" y="3675888"/>
            <a:ext cx="2001170" cy="182880"/>
          </a:xfrm>
          <a:prstGeom prst="rect">
            <a:avLst/>
          </a:prstGeom>
          <a:solidFill>
            <a:srgbClr val="2E74C6"/>
          </a:solidFill>
          <a:ln/>
        </p:spPr>
        <p:txBody>
          <a:bodyPr/>
          <a:lstStyle/>
          <a:p>
            <a:endParaRPr/>
          </a:p>
        </p:txBody>
      </p:sp>
      <p:sp>
        <p:nvSpPr>
          <p:cNvPr id="24" name="Text 21"/>
          <p:cNvSpPr txBox="1"/>
          <p:nvPr/>
        </p:nvSpPr>
        <p:spPr>
          <a:xfrm>
            <a:off x="5308554" y="3621024"/>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56</a:t>
            </a:r>
            <a:endParaRPr lang="en-US" sz="1400" dirty="0"/>
          </a:p>
        </p:txBody>
      </p:sp>
      <p:sp>
        <p:nvSpPr>
          <p:cNvPr id="25" name="Shape 22"/>
          <p:cNvSpPr/>
          <p:nvPr/>
        </p:nvSpPr>
        <p:spPr>
          <a:xfrm>
            <a:off x="509321" y="4041648"/>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26" name="Text 23"/>
          <p:cNvSpPr txBox="1"/>
          <p:nvPr/>
        </p:nvSpPr>
        <p:spPr>
          <a:xfrm>
            <a:off x="619049" y="4096512"/>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응답이 정답과 같음(질문 3)</a:t>
            </a:r>
            <a:endParaRPr lang="en-US" sz="1400" dirty="0"/>
          </a:p>
        </p:txBody>
      </p:sp>
      <p:sp>
        <p:nvSpPr>
          <p:cNvPr id="27" name="Text 24"/>
          <p:cNvSpPr txBox="1"/>
          <p:nvPr/>
        </p:nvSpPr>
        <p:spPr>
          <a:xfrm>
            <a:off x="619049" y="4389120"/>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중, 높을수록 좋음</a:t>
            </a:r>
            <a:endParaRPr lang="en-US" sz="1400" dirty="0"/>
          </a:p>
        </p:txBody>
      </p:sp>
      <p:sp>
        <p:nvSpPr>
          <p:cNvPr id="28" name="Shape 25"/>
          <p:cNvSpPr/>
          <p:nvPr/>
        </p:nvSpPr>
        <p:spPr>
          <a:xfrm>
            <a:off x="3252521" y="4169664"/>
            <a:ext cx="2007870" cy="182880"/>
          </a:xfrm>
          <a:prstGeom prst="rect">
            <a:avLst/>
          </a:prstGeom>
          <a:solidFill>
            <a:srgbClr val="C3CEE0"/>
          </a:solidFill>
          <a:ln/>
        </p:spPr>
        <p:txBody>
          <a:bodyPr/>
          <a:lstStyle/>
          <a:p>
            <a:endParaRPr/>
          </a:p>
        </p:txBody>
      </p:sp>
      <p:sp>
        <p:nvSpPr>
          <p:cNvPr id="29" name="Text 26"/>
          <p:cNvSpPr txBox="1"/>
          <p:nvPr/>
        </p:nvSpPr>
        <p:spPr>
          <a:xfrm>
            <a:off x="5315255" y="4114800"/>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31</a:t>
            </a:r>
            <a:endParaRPr lang="en-US" sz="1400" dirty="0"/>
          </a:p>
        </p:txBody>
      </p:sp>
      <p:sp>
        <p:nvSpPr>
          <p:cNvPr id="30" name="Shape 27"/>
          <p:cNvSpPr/>
          <p:nvPr/>
        </p:nvSpPr>
        <p:spPr>
          <a:xfrm>
            <a:off x="3252521" y="4425696"/>
            <a:ext cx="2396490" cy="182880"/>
          </a:xfrm>
          <a:prstGeom prst="rect">
            <a:avLst/>
          </a:prstGeom>
          <a:solidFill>
            <a:srgbClr val="2E74C6"/>
          </a:solidFill>
          <a:ln/>
        </p:spPr>
        <p:txBody>
          <a:bodyPr/>
          <a:lstStyle/>
          <a:p>
            <a:endParaRPr/>
          </a:p>
        </p:txBody>
      </p:sp>
      <p:sp>
        <p:nvSpPr>
          <p:cNvPr id="31" name="Text 28"/>
          <p:cNvSpPr txBox="1"/>
          <p:nvPr/>
        </p:nvSpPr>
        <p:spPr>
          <a:xfrm>
            <a:off x="5703875" y="4370832"/>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37</a:t>
            </a:r>
            <a:endParaRPr lang="en-US" sz="1400" dirty="0"/>
          </a:p>
        </p:txBody>
      </p:sp>
      <p:sp>
        <p:nvSpPr>
          <p:cNvPr id="32" name="Shape 29"/>
          <p:cNvSpPr/>
          <p:nvPr/>
        </p:nvSpPr>
        <p:spPr>
          <a:xfrm>
            <a:off x="509321" y="4791456"/>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33" name="Text 30"/>
          <p:cNvSpPr txBox="1"/>
          <p:nvPr/>
        </p:nvSpPr>
        <p:spPr>
          <a:xfrm>
            <a:off x="619049" y="4846320"/>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조건을 잘못 뽑음(질문 4)</a:t>
            </a:r>
            <a:endParaRPr lang="en-US" sz="1400" dirty="0"/>
          </a:p>
        </p:txBody>
      </p:sp>
      <p:sp>
        <p:nvSpPr>
          <p:cNvPr id="34" name="Text 31"/>
          <p:cNvSpPr txBox="1"/>
          <p:nvPr/>
        </p:nvSpPr>
        <p:spPr>
          <a:xfrm>
            <a:off x="619049" y="5138928"/>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조건 없는 29건 중, 낮을수록 좋음</a:t>
            </a:r>
            <a:endParaRPr lang="en-US" sz="1400" dirty="0"/>
          </a:p>
        </p:txBody>
      </p:sp>
      <p:sp>
        <p:nvSpPr>
          <p:cNvPr id="35" name="Shape 32"/>
          <p:cNvSpPr/>
          <p:nvPr/>
        </p:nvSpPr>
        <p:spPr>
          <a:xfrm>
            <a:off x="3252521" y="4919472"/>
            <a:ext cx="643233" cy="182880"/>
          </a:xfrm>
          <a:prstGeom prst="rect">
            <a:avLst/>
          </a:prstGeom>
          <a:solidFill>
            <a:srgbClr val="C3CEE0"/>
          </a:solidFill>
          <a:ln/>
        </p:spPr>
        <p:txBody>
          <a:bodyPr/>
          <a:lstStyle/>
          <a:p>
            <a:endParaRPr/>
          </a:p>
        </p:txBody>
      </p:sp>
      <p:sp>
        <p:nvSpPr>
          <p:cNvPr id="36" name="Text 33"/>
          <p:cNvSpPr txBox="1"/>
          <p:nvPr/>
        </p:nvSpPr>
        <p:spPr>
          <a:xfrm>
            <a:off x="3950618" y="4864608"/>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37" name="Shape 34"/>
          <p:cNvSpPr/>
          <p:nvPr/>
        </p:nvSpPr>
        <p:spPr>
          <a:xfrm>
            <a:off x="3252521" y="5175504"/>
            <a:ext cx="45720" cy="182880"/>
          </a:xfrm>
          <a:prstGeom prst="rect">
            <a:avLst/>
          </a:prstGeom>
          <a:solidFill>
            <a:srgbClr val="2E74C6"/>
          </a:solidFill>
          <a:ln/>
        </p:spPr>
        <p:txBody>
          <a:bodyPr/>
          <a:lstStyle/>
          <a:p>
            <a:endParaRPr/>
          </a:p>
        </p:txBody>
      </p:sp>
      <p:sp>
        <p:nvSpPr>
          <p:cNvPr id="38" name="Text 35"/>
          <p:cNvSpPr txBox="1"/>
          <p:nvPr/>
        </p:nvSpPr>
        <p:spPr>
          <a:xfrm>
            <a:off x="3353105" y="5120640"/>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0</a:t>
            </a:r>
            <a:endParaRPr lang="en-US" sz="1400" dirty="0"/>
          </a:p>
        </p:txBody>
      </p:sp>
      <p:sp>
        <p:nvSpPr>
          <p:cNvPr id="39" name="Shape 36"/>
          <p:cNvSpPr/>
          <p:nvPr/>
        </p:nvSpPr>
        <p:spPr>
          <a:xfrm>
            <a:off x="509321" y="5541264"/>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40" name="Text 37"/>
          <p:cNvSpPr txBox="1"/>
          <p:nvPr/>
        </p:nvSpPr>
        <p:spPr>
          <a:xfrm>
            <a:off x="619049" y="5596128"/>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 연결을 뽑음(질문 5)</a:t>
            </a:r>
            <a:endParaRPr lang="en-US" sz="1400" dirty="0"/>
          </a:p>
        </p:txBody>
      </p:sp>
      <p:sp>
        <p:nvSpPr>
          <p:cNvPr id="41" name="Text 38"/>
          <p:cNvSpPr txBox="1"/>
          <p:nvPr/>
        </p:nvSpPr>
        <p:spPr>
          <a:xfrm>
            <a:off x="619049" y="5888736"/>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연결 있는 36건 중, 높을수록 좋음</a:t>
            </a:r>
            <a:endParaRPr lang="en-US" sz="1400" dirty="0"/>
          </a:p>
        </p:txBody>
      </p:sp>
      <p:sp>
        <p:nvSpPr>
          <p:cNvPr id="42" name="Shape 39"/>
          <p:cNvSpPr/>
          <p:nvPr/>
        </p:nvSpPr>
        <p:spPr>
          <a:xfrm>
            <a:off x="3252521" y="5669280"/>
            <a:ext cx="2936240" cy="182880"/>
          </a:xfrm>
          <a:prstGeom prst="rect">
            <a:avLst/>
          </a:prstGeom>
          <a:solidFill>
            <a:srgbClr val="C3CEE0"/>
          </a:solidFill>
          <a:ln/>
        </p:spPr>
        <p:txBody>
          <a:bodyPr/>
          <a:lstStyle/>
          <a:p>
            <a:endParaRPr/>
          </a:p>
        </p:txBody>
      </p:sp>
      <p:sp>
        <p:nvSpPr>
          <p:cNvPr id="43" name="Text 40"/>
          <p:cNvSpPr txBox="1"/>
          <p:nvPr/>
        </p:nvSpPr>
        <p:spPr>
          <a:xfrm>
            <a:off x="6243625" y="5614416"/>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34</a:t>
            </a:r>
            <a:endParaRPr lang="en-US" sz="1400" dirty="0"/>
          </a:p>
        </p:txBody>
      </p:sp>
      <p:sp>
        <p:nvSpPr>
          <p:cNvPr id="44" name="Shape 41"/>
          <p:cNvSpPr/>
          <p:nvPr/>
        </p:nvSpPr>
        <p:spPr>
          <a:xfrm>
            <a:off x="3252521" y="5925312"/>
            <a:ext cx="3108960" cy="182880"/>
          </a:xfrm>
          <a:prstGeom prst="rect">
            <a:avLst/>
          </a:prstGeom>
          <a:solidFill>
            <a:srgbClr val="2E74C6"/>
          </a:solidFill>
          <a:ln/>
        </p:spPr>
        <p:txBody>
          <a:bodyPr/>
          <a:lstStyle/>
          <a:p>
            <a:endParaRPr/>
          </a:p>
        </p:txBody>
      </p:sp>
      <p:sp>
        <p:nvSpPr>
          <p:cNvPr id="45" name="Text 42"/>
          <p:cNvSpPr txBox="1"/>
          <p:nvPr/>
        </p:nvSpPr>
        <p:spPr>
          <a:xfrm>
            <a:off x="6416345" y="5870448"/>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36</a:t>
            </a:r>
            <a:endParaRPr lang="en-US" sz="1400" dirty="0"/>
          </a:p>
        </p:txBody>
      </p:sp>
      <p:sp>
        <p:nvSpPr>
          <p:cNvPr id="46" name="Shape 43"/>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47" name="Text 44"/>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고친 설명(description)</a:t>
            </a:r>
            <a:endParaRPr lang="en-US" sz="1600" dirty="0"/>
          </a:p>
        </p:txBody>
      </p:sp>
      <p:sp>
        <p:nvSpPr>
          <p:cNvPr id="48" name="Shape 45"/>
          <p:cNvSpPr/>
          <p:nvPr/>
        </p:nvSpPr>
        <p:spPr>
          <a:xfrm>
            <a:off x="7458761" y="2212848"/>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49" name="Shape 46"/>
          <p:cNvSpPr/>
          <p:nvPr/>
        </p:nvSpPr>
        <p:spPr>
          <a:xfrm>
            <a:off x="7550201" y="2304288"/>
            <a:ext cx="1280160" cy="292608"/>
          </a:xfrm>
          <a:prstGeom prst="roundRect">
            <a:avLst>
              <a:gd name="adj" fmla="val 25000"/>
            </a:avLst>
          </a:prstGeom>
          <a:solidFill>
            <a:srgbClr val="1E2A5C"/>
          </a:solidFill>
          <a:ln/>
        </p:spPr>
        <p:txBody>
          <a:bodyPr/>
          <a:lstStyle/>
          <a:p>
            <a:endParaRPr/>
          </a:p>
        </p:txBody>
      </p:sp>
      <p:sp>
        <p:nvSpPr>
          <p:cNvPr id="50" name="Text 47"/>
          <p:cNvSpPr txBox="1"/>
          <p:nvPr/>
        </p:nvSpPr>
        <p:spPr>
          <a:xfrm>
            <a:off x="7550201" y="2304288"/>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Complaint</a:t>
            </a:r>
            <a:endParaRPr lang="en-US" sz="1400" dirty="0"/>
          </a:p>
        </p:txBody>
      </p:sp>
      <p:sp>
        <p:nvSpPr>
          <p:cNvPr id="51" name="Text 48"/>
          <p:cNvSpPr txBox="1"/>
          <p:nvPr/>
        </p:nvSpPr>
        <p:spPr>
          <a:xfrm>
            <a:off x="7595921" y="2651760"/>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고객이 말한 불만과 그 원인</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불만이나 불편을 분명히 말한 경우만. 단순 문의 목적, 개인 사정(이사, 지출 감소), 궁금증은 아님</a:t>
            </a:r>
            <a:endParaRPr lang="en-US" sz="1400" dirty="0"/>
          </a:p>
        </p:txBody>
      </p:sp>
      <p:sp>
        <p:nvSpPr>
          <p:cNvPr id="52" name="Shape 49"/>
          <p:cNvSpPr/>
          <p:nvPr/>
        </p:nvSpPr>
        <p:spPr>
          <a:xfrm>
            <a:off x="7458761" y="3694176"/>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53" name="Shape 50"/>
          <p:cNvSpPr/>
          <p:nvPr/>
        </p:nvSpPr>
        <p:spPr>
          <a:xfrm>
            <a:off x="7550201" y="3785616"/>
            <a:ext cx="1280160" cy="292608"/>
          </a:xfrm>
          <a:prstGeom prst="roundRect">
            <a:avLst>
              <a:gd name="adj" fmla="val 25000"/>
            </a:avLst>
          </a:prstGeom>
          <a:solidFill>
            <a:srgbClr val="1E2A5C"/>
          </a:solidFill>
          <a:ln/>
        </p:spPr>
        <p:txBody>
          <a:bodyPr/>
          <a:lstStyle/>
          <a:p>
            <a:endParaRPr/>
          </a:p>
        </p:txBody>
      </p:sp>
      <p:sp>
        <p:nvSpPr>
          <p:cNvPr id="54" name="Text 51"/>
          <p:cNvSpPr txBox="1"/>
          <p:nvPr/>
        </p:nvSpPr>
        <p:spPr>
          <a:xfrm>
            <a:off x="7550201" y="3785616"/>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55" name="Text 52"/>
          <p:cNvSpPr txBox="1"/>
          <p:nvPr/>
        </p:nvSpPr>
        <p:spPr>
          <a:xfrm>
            <a:off x="7595921" y="4133088"/>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상담사가 한 제안과 고객의 응답</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고객이 받아들이거나 거절할 수 있는 구체적 대안만. '확인해 드릴게요' 같은 절차 안내는 아님, 보통 1개</a:t>
            </a:r>
            <a:endParaRPr lang="en-US" sz="1400" dirty="0"/>
          </a:p>
        </p:txBody>
      </p:sp>
      <p:sp>
        <p:nvSpPr>
          <p:cNvPr id="56" name="Shape 53"/>
          <p:cNvSpPr/>
          <p:nvPr/>
        </p:nvSpPr>
        <p:spPr>
          <a:xfrm>
            <a:off x="7458761" y="5175504"/>
            <a:ext cx="6675120" cy="1207008"/>
          </a:xfrm>
          <a:prstGeom prst="roundRect">
            <a:avLst>
              <a:gd name="adj" fmla="val 4545"/>
            </a:avLst>
          </a:prstGeom>
          <a:solidFill>
            <a:srgbClr val="F5F8FC"/>
          </a:solidFill>
          <a:ln w="12700">
            <a:solidFill>
              <a:srgbClr val="D9E0EC"/>
            </a:solidFill>
            <a:prstDash val="solid"/>
          </a:ln>
        </p:spPr>
        <p:txBody>
          <a:bodyPr/>
          <a:lstStyle/>
          <a:p>
            <a:endParaRPr/>
          </a:p>
        </p:txBody>
      </p:sp>
      <p:sp>
        <p:nvSpPr>
          <p:cNvPr id="57" name="Text 54"/>
          <p:cNvSpPr txBox="1"/>
          <p:nvPr/>
        </p:nvSpPr>
        <p:spPr>
          <a:xfrm>
            <a:off x="7595921" y="5175504"/>
            <a:ext cx="6400800" cy="12070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남은 문제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응답 엄격 일치 37 / 48: 제안이 여럿이면 다른 안내를 고름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불만 오탐 4건: '종이 영수증이 없어 불편'처럼 실제 불편 발화 → 정답 기준을 다시 볼 대상</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②에서 안 본 18건만 보면 불만 오탐 3 / 9(본 30건은 1 / 15) → 설명을 더 좁힐 여지</a:t>
            </a:r>
            <a:endParaRPr lang="en-US" sz="1400" dirty="0"/>
          </a:p>
        </p:txBody>
      </p:sp>
      <p:sp>
        <p:nvSpPr>
          <p:cNvPr id="58" name="Shape 5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9" name="Shape 56"/>
          <p:cNvSpPr/>
          <p:nvPr/>
        </p:nvSpPr>
        <p:spPr>
          <a:xfrm>
            <a:off x="509321" y="6510528"/>
            <a:ext cx="82296" cy="658368"/>
          </a:xfrm>
          <a:prstGeom prst="rect">
            <a:avLst/>
          </a:prstGeom>
          <a:solidFill>
            <a:srgbClr val="2E74C6"/>
          </a:solidFill>
          <a:ln/>
        </p:spPr>
        <p:txBody>
          <a:bodyPr/>
          <a:lstStyle/>
          <a:p>
            <a:endParaRPr/>
          </a:p>
        </p:txBody>
      </p:sp>
      <p:sp>
        <p:nvSpPr>
          <p:cNvPr id="60" name="Text 5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이름보다 설명이 추출 품질을 좌우함. 지표가 기준에 닿을 때까지 ③과 ④를 되풀이</a:t>
            </a:r>
            <a:endParaRPr lang="en-US" sz="1600" dirty="0"/>
          </a:p>
        </p:txBody>
      </p:sp>
      <p:sp>
        <p:nvSpPr>
          <p:cNvPr id="61" name="Shape 5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2" name="Text 5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⑤ 고정과 그 뒤</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시험을 통과한 스키마 초안을 GraphSchema.save()로 파일에 고정하고, 인덱싱은 그 파일만 읽음</a:t>
            </a:r>
            <a:endParaRPr lang="en-US" sz="1800" dirty="0"/>
          </a:p>
        </p:txBody>
      </p:sp>
      <p:sp>
        <p:nvSpPr>
          <p:cNvPr id="5" name="Shape 2"/>
          <p:cNvSpPr/>
          <p:nvPr/>
        </p:nvSpPr>
        <p:spPr>
          <a:xfrm>
            <a:off x="509321" y="1737360"/>
            <a:ext cx="51206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51206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저장과 다시 읽기(실측)</a:t>
            </a:r>
            <a:endParaRPr lang="en-US" sz="1600" dirty="0"/>
          </a:p>
        </p:txBody>
      </p:sp>
      <p:sp>
        <p:nvSpPr>
          <p:cNvPr id="7" name="Shape 4"/>
          <p:cNvSpPr/>
          <p:nvPr/>
        </p:nvSpPr>
        <p:spPr>
          <a:xfrm>
            <a:off x="509321" y="2212848"/>
            <a:ext cx="5120640" cy="1700784"/>
          </a:xfrm>
          <a:prstGeom prst="roundRect">
            <a:avLst>
              <a:gd name="adj" fmla="val 3226"/>
            </a:avLst>
          </a:prstGeom>
          <a:solidFill>
            <a:srgbClr val="F5F8FC"/>
          </a:solidFill>
          <a:ln w="12700">
            <a:solidFill>
              <a:srgbClr val="D9E0EC"/>
            </a:solidFill>
            <a:prstDash val="solid"/>
          </a:ln>
        </p:spPr>
        <p:txBody>
          <a:bodyPr/>
          <a:lstStyle/>
          <a:p>
            <a:endParaRPr/>
          </a:p>
        </p:txBody>
      </p:sp>
      <p:sp>
        <p:nvSpPr>
          <p:cNvPr id="8" name="Text 5"/>
          <p:cNvSpPr txBox="1"/>
          <p:nvPr/>
        </p:nvSpPr>
        <p:spPr>
          <a:xfrm>
            <a:off x="619049" y="2286000"/>
            <a:ext cx="490118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GraphSchema.model_validate(초안)</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schema.save("graph_schema_consult.json")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GraphSchema.from_file(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schema        # True</a:t>
            </a:r>
            <a:endParaRPr lang="en-US" sz="1400" dirty="0"/>
          </a:p>
        </p:txBody>
      </p:sp>
      <p:sp>
        <p:nvSpPr>
          <p:cNvPr id="9" name="Shape 6"/>
          <p:cNvSpPr/>
          <p:nvPr/>
        </p:nvSpPr>
        <p:spPr>
          <a:xfrm>
            <a:off x="509321" y="4041648"/>
            <a:ext cx="1106424" cy="329184"/>
          </a:xfrm>
          <a:prstGeom prst="roundRect">
            <a:avLst>
              <a:gd name="adj" fmla="val 22222"/>
            </a:avLst>
          </a:prstGeom>
          <a:solidFill>
            <a:srgbClr val="EEF3FA"/>
          </a:solidFill>
          <a:ln/>
        </p:spPr>
        <p:txBody>
          <a:bodyPr/>
          <a:lstStyle/>
          <a:p>
            <a:endParaRPr/>
          </a:p>
        </p:txBody>
      </p:sp>
      <p:sp>
        <p:nvSpPr>
          <p:cNvPr id="10" name="Text 7"/>
          <p:cNvSpPr txBox="1"/>
          <p:nvPr/>
        </p:nvSpPr>
        <p:spPr>
          <a:xfrm>
            <a:off x="509321" y="4041648"/>
            <a:ext cx="1106424"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노드 타입 4</a:t>
            </a:r>
            <a:endParaRPr lang="en-US" sz="1400" dirty="0"/>
          </a:p>
        </p:txBody>
      </p:sp>
      <p:sp>
        <p:nvSpPr>
          <p:cNvPr id="11" name="Shape 8"/>
          <p:cNvSpPr/>
          <p:nvPr/>
        </p:nvSpPr>
        <p:spPr>
          <a:xfrm>
            <a:off x="1707185" y="4041648"/>
            <a:ext cx="749808" cy="329184"/>
          </a:xfrm>
          <a:prstGeom prst="roundRect">
            <a:avLst>
              <a:gd name="adj" fmla="val 22222"/>
            </a:avLst>
          </a:prstGeom>
          <a:solidFill>
            <a:srgbClr val="EEF3FA"/>
          </a:solidFill>
          <a:ln/>
        </p:spPr>
        <p:txBody>
          <a:bodyPr/>
          <a:lstStyle/>
          <a:p>
            <a:endParaRPr/>
          </a:p>
        </p:txBody>
      </p:sp>
      <p:sp>
        <p:nvSpPr>
          <p:cNvPr id="12" name="Text 9"/>
          <p:cNvSpPr txBox="1"/>
          <p:nvPr/>
        </p:nvSpPr>
        <p:spPr>
          <a:xfrm>
            <a:off x="1707185"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관계 5</a:t>
            </a:r>
            <a:endParaRPr lang="en-US" sz="1400" dirty="0"/>
          </a:p>
        </p:txBody>
      </p:sp>
      <p:sp>
        <p:nvSpPr>
          <p:cNvPr id="13" name="Shape 10"/>
          <p:cNvSpPr/>
          <p:nvPr/>
        </p:nvSpPr>
        <p:spPr>
          <a:xfrm>
            <a:off x="2548433" y="4041648"/>
            <a:ext cx="749808" cy="329184"/>
          </a:xfrm>
          <a:prstGeom prst="roundRect">
            <a:avLst>
              <a:gd name="adj" fmla="val 22222"/>
            </a:avLst>
          </a:prstGeom>
          <a:solidFill>
            <a:srgbClr val="EEF3FA"/>
          </a:solidFill>
          <a:ln/>
        </p:spPr>
        <p:txBody>
          <a:bodyPr/>
          <a:lstStyle/>
          <a:p>
            <a:endParaRPr/>
          </a:p>
        </p:txBody>
      </p:sp>
      <p:sp>
        <p:nvSpPr>
          <p:cNvPr id="14" name="Text 11"/>
          <p:cNvSpPr txBox="1"/>
          <p:nvPr/>
        </p:nvSpPr>
        <p:spPr>
          <a:xfrm>
            <a:off x="2548433"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패턴 5</a:t>
            </a:r>
            <a:endParaRPr lang="en-US" sz="1400" dirty="0"/>
          </a:p>
        </p:txBody>
      </p:sp>
      <p:sp>
        <p:nvSpPr>
          <p:cNvPr id="15" name="Shape 12"/>
          <p:cNvSpPr/>
          <p:nvPr/>
        </p:nvSpPr>
        <p:spPr>
          <a:xfrm>
            <a:off x="3389681" y="4041648"/>
            <a:ext cx="749808" cy="329184"/>
          </a:xfrm>
          <a:prstGeom prst="roundRect">
            <a:avLst>
              <a:gd name="adj" fmla="val 22222"/>
            </a:avLst>
          </a:prstGeom>
          <a:solidFill>
            <a:srgbClr val="EEF3FA"/>
          </a:solidFill>
          <a:ln/>
        </p:spPr>
        <p:txBody>
          <a:bodyPr/>
          <a:lstStyle/>
          <a:p>
            <a:endParaRPr/>
          </a:p>
        </p:txBody>
      </p:sp>
      <p:sp>
        <p:nvSpPr>
          <p:cNvPr id="16" name="Text 13"/>
          <p:cNvSpPr txBox="1"/>
          <p:nvPr/>
        </p:nvSpPr>
        <p:spPr>
          <a:xfrm>
            <a:off x="3389681"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제약 1</a:t>
            </a:r>
            <a:endParaRPr lang="en-US" sz="1400" dirty="0"/>
          </a:p>
        </p:txBody>
      </p:sp>
      <p:sp>
        <p:nvSpPr>
          <p:cNvPr id="17" name="Shape 14"/>
          <p:cNvSpPr/>
          <p:nvPr/>
        </p:nvSpPr>
        <p:spPr>
          <a:xfrm>
            <a:off x="509321" y="4443984"/>
            <a:ext cx="3127248" cy="329184"/>
          </a:xfrm>
          <a:prstGeom prst="roundRect">
            <a:avLst>
              <a:gd name="adj" fmla="val 22222"/>
            </a:avLst>
          </a:prstGeom>
          <a:solidFill>
            <a:srgbClr val="EEF3FA"/>
          </a:solidFill>
          <a:ln/>
        </p:spPr>
        <p:txBody>
          <a:bodyPr/>
          <a:lstStyle/>
          <a:p>
            <a:endParaRPr/>
          </a:p>
        </p:txBody>
      </p:sp>
      <p:sp>
        <p:nvSpPr>
          <p:cNvPr id="18" name="Text 15"/>
          <p:cNvSpPr txBox="1"/>
          <p:nvPr/>
        </p:nvSpPr>
        <p:spPr>
          <a:xfrm>
            <a:off x="509321" y="4443984"/>
            <a:ext cx="312724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additional_* 3개 모두 False</a:t>
            </a:r>
            <a:endParaRPr lang="en-US" sz="1400" dirty="0"/>
          </a:p>
        </p:txBody>
      </p:sp>
      <p:sp>
        <p:nvSpPr>
          <p:cNvPr id="19" name="Text 16"/>
          <p:cNvSpPr txBox="1"/>
          <p:nvPr/>
        </p:nvSpPr>
        <p:spPr>
          <a:xfrm>
            <a:off x="509321" y="4919472"/>
            <a:ext cx="5120640" cy="566928"/>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Neo4j 서버 없이 됨. </a:t>
            </a:r>
            <a:endParaRPr lang="en-US" sz="1400" dirty="0"/>
          </a:p>
        </p:txBody>
      </p:sp>
      <p:sp>
        <p:nvSpPr>
          <p:cNvPr id="20" name="Shape 17"/>
          <p:cNvSpPr/>
          <p:nvPr/>
        </p:nvSpPr>
        <p:spPr>
          <a:xfrm>
            <a:off x="5904281" y="1737360"/>
            <a:ext cx="434340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5904281" y="1737360"/>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고정의 뜻</a:t>
            </a:r>
            <a:endParaRPr lang="en-US" sz="1600" dirty="0"/>
          </a:p>
        </p:txBody>
      </p:sp>
      <p:sp>
        <p:nvSpPr>
          <p:cNvPr id="22" name="Shape 19"/>
          <p:cNvSpPr/>
          <p:nvPr/>
        </p:nvSpPr>
        <p:spPr>
          <a:xfrm>
            <a:off x="5904281" y="2212848"/>
            <a:ext cx="4343400" cy="2697480"/>
          </a:xfrm>
          <a:prstGeom prst="roundRect">
            <a:avLst>
              <a:gd name="adj" fmla="val 2034"/>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41441" y="2340864"/>
            <a:ext cx="4069080" cy="246888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목록 밖 노드 타입과 </a:t>
            </a:r>
            <a:r>
              <a:rPr lang="en-US" sz="1400" dirty="0" err="1">
                <a:solidFill>
                  <a:srgbClr val="2B3242"/>
                </a:solidFill>
                <a:latin typeface="Pretendard" pitchFamily="34" charset="0"/>
                <a:ea typeface="Pretendard" pitchFamily="34" charset="-122"/>
                <a:cs typeface="Pretendard" pitchFamily="34" charset="-120"/>
              </a:rPr>
              <a:t>관계는</a:t>
            </a:r>
            <a:r>
              <a:rPr lang="en-US" sz="1400" dirty="0">
                <a:solidFill>
                  <a:srgbClr val="2B3242"/>
                </a:solidFill>
                <a:latin typeface="Pretendard" pitchFamily="34" charset="0"/>
                <a:ea typeface="Pretendard" pitchFamily="34" charset="-122"/>
                <a:cs typeface="Pretendard" pitchFamily="34" charset="-120"/>
              </a:rPr>
              <a:t> </a:t>
            </a:r>
            <a:r>
              <a:rPr lang="en-US" sz="1400" dirty="0" err="1">
                <a:solidFill>
                  <a:srgbClr val="2B3242"/>
                </a:solidFill>
                <a:latin typeface="Pretendard" pitchFamily="34" charset="0"/>
                <a:ea typeface="Pretendard" pitchFamily="34" charset="-122"/>
                <a:cs typeface="Pretendard" pitchFamily="34" charset="-120"/>
              </a:rPr>
              <a:t>가지치기</a:t>
            </a:r>
            <a:r>
              <a:rPr lang="en-US" sz="1400" dirty="0">
                <a:solidFill>
                  <a:srgbClr val="2B3242"/>
                </a:solidFill>
                <a:latin typeface="Pretendard" pitchFamily="34" charset="0"/>
                <a:ea typeface="Pretendard" pitchFamily="34" charset="-122"/>
                <a:cs typeface="Pretendard" pitchFamily="34" charset="-120"/>
              </a:rPr>
              <a:t>(Pruning)가 지움(additional_* False)</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스키마나 원천이 바뀌면 새 세대로 다시 인덱싱</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고정 뒤 인덱싱이 전체 청크를 추출하고, 결과 일부를 무작위로 골라 사람이 점검(가지치기 통계 함께)</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실제 예: 상담 원문 v3를 반영할 때 새 세대 gen-d3v3-20261018을 만들고 상담 48청크만 새로 임베딩, </a:t>
            </a:r>
            <a:r>
              <a:rPr lang="ko-KR" altLang="en-US" sz="1400" dirty="0">
                <a:solidFill>
                  <a:srgbClr val="2B3242"/>
                </a:solidFill>
                <a:latin typeface="Pretendard" pitchFamily="34" charset="0"/>
                <a:ea typeface="Pretendard" pitchFamily="34" charset="-122"/>
                <a:cs typeface="Pretendard" pitchFamily="34" charset="-120"/>
              </a:rPr>
              <a:t>혜택과 약관 </a:t>
            </a:r>
            <a:r>
              <a:rPr lang="en-US" sz="1400" dirty="0">
                <a:solidFill>
                  <a:srgbClr val="2B3242"/>
                </a:solidFill>
                <a:latin typeface="Pretendard" pitchFamily="34" charset="0"/>
                <a:ea typeface="Pretendard" pitchFamily="34" charset="-122"/>
                <a:cs typeface="Pretendard" pitchFamily="34" charset="-120"/>
              </a:rPr>
              <a:t>170청크는 재사용</a:t>
            </a:r>
            <a:endParaRPr lang="en-US" sz="1400" dirty="0"/>
          </a:p>
        </p:txBody>
      </p:sp>
      <p:sp>
        <p:nvSpPr>
          <p:cNvPr id="24" name="Text 21"/>
          <p:cNvSpPr txBox="1"/>
          <p:nvPr/>
        </p:nvSpPr>
        <p:spPr>
          <a:xfrm>
            <a:off x="5904281" y="5029200"/>
            <a:ext cx="43434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인덱싱이 이 파일을 읽는 곳</a:t>
            </a:r>
            <a:endParaRPr lang="en-US" sz="1400" dirty="0"/>
          </a:p>
        </p:txBody>
      </p:sp>
      <p:sp>
        <p:nvSpPr>
          <p:cNvPr id="25" name="Shape 22"/>
          <p:cNvSpPr/>
          <p:nvPr/>
        </p:nvSpPr>
        <p:spPr>
          <a:xfrm>
            <a:off x="5904281" y="5358384"/>
            <a:ext cx="1264920" cy="658368"/>
          </a:xfrm>
          <a:prstGeom prst="roundRect">
            <a:avLst>
              <a:gd name="adj" fmla="val 11111"/>
            </a:avLst>
          </a:prstGeom>
          <a:solidFill>
            <a:srgbClr val="EEF3FA"/>
          </a:solidFill>
          <a:ln w="15875">
            <a:solidFill>
              <a:srgbClr val="2E74C6"/>
            </a:solidFill>
            <a:prstDash val="solid"/>
          </a:ln>
        </p:spPr>
        <p:txBody>
          <a:bodyPr/>
          <a:lstStyle/>
          <a:p>
            <a:endParaRPr/>
          </a:p>
        </p:txBody>
      </p:sp>
      <p:sp>
        <p:nvSpPr>
          <p:cNvPr id="26" name="Text 23"/>
          <p:cNvSpPr txBox="1"/>
          <p:nvPr/>
        </p:nvSpPr>
        <p:spPr>
          <a:xfrm>
            <a:off x="590428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파일</a:t>
            </a:r>
            <a:endParaRPr lang="en-US" sz="1400" dirty="0"/>
          </a:p>
        </p:txBody>
      </p:sp>
      <p:sp>
        <p:nvSpPr>
          <p:cNvPr id="27" name="Shape 24"/>
          <p:cNvSpPr/>
          <p:nvPr/>
        </p:nvSpPr>
        <p:spPr>
          <a:xfrm>
            <a:off x="7196633" y="5687568"/>
            <a:ext cx="219456" cy="0"/>
          </a:xfrm>
          <a:prstGeom prst="line">
            <a:avLst/>
          </a:prstGeom>
          <a:noFill/>
          <a:ln w="22225">
            <a:solidFill>
              <a:srgbClr val="4A5364"/>
            </a:solidFill>
            <a:prstDash val="solid"/>
            <a:tailEnd type="triangle"/>
          </a:ln>
        </p:spPr>
        <p:txBody>
          <a:bodyPr/>
          <a:lstStyle/>
          <a:p>
            <a:endParaRPr/>
          </a:p>
        </p:txBody>
      </p:sp>
      <p:sp>
        <p:nvSpPr>
          <p:cNvPr id="28" name="Shape 25"/>
          <p:cNvSpPr/>
          <p:nvPr/>
        </p:nvSpPr>
        <p:spPr>
          <a:xfrm>
            <a:off x="7443521" y="5358384"/>
            <a:ext cx="1264920" cy="658368"/>
          </a:xfrm>
          <a:prstGeom prst="roundRect">
            <a:avLst>
              <a:gd name="adj" fmla="val 11111"/>
            </a:avLst>
          </a:prstGeom>
          <a:solidFill>
            <a:srgbClr val="1E2A5C"/>
          </a:solidFill>
          <a:ln/>
        </p:spPr>
        <p:txBody>
          <a:bodyPr/>
          <a:lstStyle/>
          <a:p>
            <a:endParaRPr/>
          </a:p>
        </p:txBody>
      </p:sp>
      <p:sp>
        <p:nvSpPr>
          <p:cNvPr id="29" name="Text 26"/>
          <p:cNvSpPr txBox="1"/>
          <p:nvPr/>
        </p:nvSpPr>
        <p:spPr>
          <a:xfrm>
            <a:off x="744352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0" name="Shape 27"/>
          <p:cNvSpPr/>
          <p:nvPr/>
        </p:nvSpPr>
        <p:spPr>
          <a:xfrm>
            <a:off x="8735873" y="5687568"/>
            <a:ext cx="219456" cy="0"/>
          </a:xfrm>
          <a:prstGeom prst="line">
            <a:avLst/>
          </a:prstGeom>
          <a:noFill/>
          <a:ln w="22225">
            <a:solidFill>
              <a:srgbClr val="4A5364"/>
            </a:solidFill>
            <a:prstDash val="solid"/>
            <a:tailEnd type="triangle"/>
          </a:ln>
        </p:spPr>
        <p:txBody>
          <a:bodyPr/>
          <a:lstStyle/>
          <a:p>
            <a:endParaRPr/>
          </a:p>
        </p:txBody>
      </p:sp>
      <p:sp>
        <p:nvSpPr>
          <p:cNvPr id="31" name="Shape 28"/>
          <p:cNvSpPr/>
          <p:nvPr/>
        </p:nvSpPr>
        <p:spPr>
          <a:xfrm>
            <a:off x="8982761" y="5358384"/>
            <a:ext cx="1264920" cy="658368"/>
          </a:xfrm>
          <a:prstGeom prst="roundRect">
            <a:avLst>
              <a:gd name="adj" fmla="val 11111"/>
            </a:avLst>
          </a:prstGeom>
          <a:solidFill>
            <a:srgbClr val="1E2A5C"/>
          </a:solidFill>
          <a:ln/>
        </p:spPr>
        <p:txBody>
          <a:bodyPr/>
          <a:lstStyle/>
          <a:p>
            <a:endParaRPr/>
          </a:p>
        </p:txBody>
      </p:sp>
      <p:sp>
        <p:nvSpPr>
          <p:cNvPr id="32" name="Text 29"/>
          <p:cNvSpPr txBox="1"/>
          <p:nvPr/>
        </p:nvSpPr>
        <p:spPr>
          <a:xfrm>
            <a:off x="898276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p:txBody>
      </p:sp>
      <p:sp>
        <p:nvSpPr>
          <p:cNvPr id="33" name="Text 30"/>
          <p:cNvSpPr txBox="1"/>
          <p:nvPr/>
        </p:nvSpPr>
        <p:spPr>
          <a:xfrm>
            <a:off x="5904281" y="6053328"/>
            <a:ext cx="4343400" cy="32918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추출 프롬프트의 허용 목록과 가지치기 기준으로 함께 씀</a:t>
            </a:r>
            <a:endParaRPr lang="en-US" sz="1400" dirty="0"/>
          </a:p>
        </p:txBody>
      </p:sp>
      <p:sp>
        <p:nvSpPr>
          <p:cNvPr id="34" name="Shape 31"/>
          <p:cNvSpPr/>
          <p:nvPr/>
        </p:nvSpPr>
        <p:spPr>
          <a:xfrm>
            <a:off x="10522001" y="1737360"/>
            <a:ext cx="3611880" cy="365760"/>
          </a:xfrm>
          <a:prstGeom prst="roundRect">
            <a:avLst>
              <a:gd name="adj" fmla="val 12500"/>
            </a:avLst>
          </a:prstGeom>
          <a:solidFill>
            <a:srgbClr val="1E2A5C"/>
          </a:solidFill>
          <a:ln/>
        </p:spPr>
        <p:txBody>
          <a:bodyPr/>
          <a:lstStyle/>
          <a:p>
            <a:endParaRPr/>
          </a:p>
        </p:txBody>
      </p:sp>
      <p:sp>
        <p:nvSpPr>
          <p:cNvPr id="35" name="Text 32"/>
          <p:cNvSpPr txBox="1"/>
          <p:nvPr/>
        </p:nvSpPr>
        <p:spPr>
          <a:xfrm>
            <a:off x="10522001" y="1737360"/>
            <a:ext cx="36118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문서 종류별 진행</a:t>
            </a:r>
            <a:endParaRPr lang="en-US" sz="1600" dirty="0"/>
          </a:p>
        </p:txBody>
      </p:sp>
      <p:sp>
        <p:nvSpPr>
          <p:cNvPr id="36" name="Shape 33"/>
          <p:cNvSpPr/>
          <p:nvPr/>
        </p:nvSpPr>
        <p:spPr>
          <a:xfrm>
            <a:off x="10522001" y="2212848"/>
            <a:ext cx="3611880" cy="1316736"/>
          </a:xfrm>
          <a:prstGeom prst="roundRect">
            <a:avLst>
              <a:gd name="adj" fmla="val 4167"/>
            </a:avLst>
          </a:prstGeom>
          <a:solidFill>
            <a:srgbClr val="EEF3FA"/>
          </a:solidFill>
          <a:ln w="12700">
            <a:solidFill>
              <a:srgbClr val="2E74C6"/>
            </a:solidFill>
            <a:prstDash val="solid"/>
          </a:ln>
        </p:spPr>
        <p:txBody>
          <a:bodyPr/>
          <a:lstStyle/>
          <a:p>
            <a:endParaRPr/>
          </a:p>
        </p:txBody>
      </p:sp>
      <p:sp>
        <p:nvSpPr>
          <p:cNvPr id="37" name="Shape 34"/>
          <p:cNvSpPr/>
          <p:nvPr/>
        </p:nvSpPr>
        <p:spPr>
          <a:xfrm>
            <a:off x="10613441" y="2304288"/>
            <a:ext cx="731520" cy="292608"/>
          </a:xfrm>
          <a:prstGeom prst="roundRect">
            <a:avLst>
              <a:gd name="adj" fmla="val 25000"/>
            </a:avLst>
          </a:prstGeom>
          <a:solidFill>
            <a:srgbClr val="1E2A5C"/>
          </a:solidFill>
          <a:ln/>
        </p:spPr>
        <p:txBody>
          <a:bodyPr/>
          <a:lstStyle/>
          <a:p>
            <a:endParaRPr/>
          </a:p>
        </p:txBody>
      </p:sp>
      <p:sp>
        <p:nvSpPr>
          <p:cNvPr id="38" name="Text 35"/>
          <p:cNvSpPr txBox="1"/>
          <p:nvPr/>
        </p:nvSpPr>
        <p:spPr>
          <a:xfrm>
            <a:off x="10613441" y="2304288"/>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상담</a:t>
            </a:r>
            <a:endParaRPr lang="en-US" sz="1400" dirty="0"/>
          </a:p>
        </p:txBody>
      </p:sp>
      <p:sp>
        <p:nvSpPr>
          <p:cNvPr id="39" name="Text 36"/>
          <p:cNvSpPr txBox="1"/>
          <p:nvPr/>
        </p:nvSpPr>
        <p:spPr>
          <a:xfrm>
            <a:off x="10631729" y="2651760"/>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① ~ ④ 완료(④는 정답표가 있는 48건 전체로 시험, 실무는 별도 표본), ⑤는 사람의 최종 승인 남음</a:t>
            </a:r>
            <a:endParaRPr lang="en-US" sz="1400" dirty="0"/>
          </a:p>
        </p:txBody>
      </p:sp>
      <p:sp>
        <p:nvSpPr>
          <p:cNvPr id="40" name="Shape 37"/>
          <p:cNvSpPr/>
          <p:nvPr/>
        </p:nvSpPr>
        <p:spPr>
          <a:xfrm>
            <a:off x="10522001" y="3639312"/>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1" name="Shape 38"/>
          <p:cNvSpPr/>
          <p:nvPr/>
        </p:nvSpPr>
        <p:spPr>
          <a:xfrm>
            <a:off x="10613441" y="3730752"/>
            <a:ext cx="731520" cy="292608"/>
          </a:xfrm>
          <a:prstGeom prst="roundRect">
            <a:avLst>
              <a:gd name="adj" fmla="val 25000"/>
            </a:avLst>
          </a:prstGeom>
          <a:solidFill>
            <a:srgbClr val="1E2A5C"/>
          </a:solidFill>
          <a:ln/>
        </p:spPr>
        <p:txBody>
          <a:bodyPr/>
          <a:lstStyle/>
          <a:p>
            <a:endParaRPr/>
          </a:p>
        </p:txBody>
      </p:sp>
      <p:sp>
        <p:nvSpPr>
          <p:cNvPr id="42" name="Text 39"/>
          <p:cNvSpPr txBox="1"/>
          <p:nvPr/>
        </p:nvSpPr>
        <p:spPr>
          <a:xfrm>
            <a:off x="10613441" y="3730752"/>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혜택</a:t>
            </a:r>
            <a:endParaRPr lang="en-US" sz="1400" dirty="0"/>
          </a:p>
        </p:txBody>
      </p:sp>
      <p:sp>
        <p:nvSpPr>
          <p:cNvPr id="43" name="Text 40"/>
          <p:cNvSpPr txBox="1"/>
          <p:nvPr/>
        </p:nvSpPr>
        <p:spPr>
          <a:xfrm>
            <a:off x="10631729" y="4078224"/>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질문을 넣자 Exclusion 3 → 25건, 후보가 거의 그대로 초안</a:t>
            </a:r>
            <a:endParaRPr lang="en-US" sz="1400" dirty="0"/>
          </a:p>
        </p:txBody>
      </p:sp>
      <p:sp>
        <p:nvSpPr>
          <p:cNvPr id="44" name="Shape 41"/>
          <p:cNvSpPr/>
          <p:nvPr/>
        </p:nvSpPr>
        <p:spPr>
          <a:xfrm>
            <a:off x="10522001" y="5065776"/>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5" name="Shape 42"/>
          <p:cNvSpPr/>
          <p:nvPr/>
        </p:nvSpPr>
        <p:spPr>
          <a:xfrm>
            <a:off x="10613441" y="5157216"/>
            <a:ext cx="731520" cy="292608"/>
          </a:xfrm>
          <a:prstGeom prst="roundRect">
            <a:avLst>
              <a:gd name="adj" fmla="val 25000"/>
            </a:avLst>
          </a:prstGeom>
          <a:solidFill>
            <a:srgbClr val="1E2A5C"/>
          </a:solidFill>
          <a:ln/>
        </p:spPr>
        <p:txBody>
          <a:bodyPr/>
          <a:lstStyle/>
          <a:p>
            <a:endParaRPr/>
          </a:p>
        </p:txBody>
      </p:sp>
      <p:sp>
        <p:nvSpPr>
          <p:cNvPr id="46" name="Text 43"/>
          <p:cNvSpPr txBox="1"/>
          <p:nvPr/>
        </p:nvSpPr>
        <p:spPr>
          <a:xfrm>
            <a:off x="10613441" y="5157216"/>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약관</a:t>
            </a:r>
            <a:endParaRPr lang="en-US" sz="1400" dirty="0"/>
          </a:p>
        </p:txBody>
      </p:sp>
      <p:sp>
        <p:nvSpPr>
          <p:cNvPr id="47" name="Text 44"/>
          <p:cNvSpPr txBox="1"/>
          <p:nvPr/>
        </p:nvSpPr>
        <p:spPr>
          <a:xfrm>
            <a:off x="10631729" y="5504688"/>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이름 76%가 1건에서만 나옴 → 조항 구조 초안을 사람이 먼저</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다섯 단계는 문서와 상관없이 같고, 문서 성격에 따라 LLM 후보를 그대로 쓰는 비중과 사람 판단의 비중이 달라짐</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인덱서 세대 gen-d3v3-20261018(청크 218개 중 48개 새 임베딩)</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a:t>
            </a:r>
            <a:r>
              <a:rPr lang="en-US" sz="3200" b="1" dirty="0" err="1">
                <a:solidFill>
                  <a:srgbClr val="2C2926"/>
                </a:solidFill>
                <a:latin typeface="Pretendard" pitchFamily="34" charset="0"/>
                <a:ea typeface="Pretendard" pitchFamily="34" charset="-122"/>
                <a:cs typeface="Pretendard" pitchFamily="34" charset="-120"/>
              </a:rPr>
              <a:t>프롬프트로</a:t>
            </a:r>
            <a:r>
              <a:rPr lang="en-US" sz="3200" b="1"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비정형</a:t>
            </a:r>
            <a:r>
              <a:rPr lang="en-US" sz="3200" b="1" dirty="0">
                <a:solidFill>
                  <a:srgbClr val="2C2926"/>
                </a:solidFill>
                <a:latin typeface="Pretendard" pitchFamily="34" charset="0"/>
                <a:ea typeface="Pretendard" pitchFamily="34" charset="-122"/>
                <a:cs typeface="Pretendard" pitchFamily="34" charset="-120"/>
              </a:rPr>
              <a:t> 문서의 스키마 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앞의 다섯 단계를 프롬프트에 담아 바이브 코딩 도구에 맡김 — AI는 초안을 내고 시험하며, 사람은 여섯 번 확정함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2" name="Text 9"/>
          <p:cNvSpPr txBox="1"/>
          <p:nvPr/>
        </p:nvSpPr>
        <p:spPr>
          <a:xfrm>
            <a:off x="2200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2200961" y="1755648"/>
            <a:ext cx="1163320" cy="640080"/>
          </a:xfrm>
          <a:prstGeom prst="roundRect">
            <a:avLst>
              <a:gd name="adj" fmla="val 11429"/>
            </a:avLst>
          </a:prstGeom>
          <a:solidFill>
            <a:srgbClr val="2E74C6"/>
          </a:solidFill>
          <a:ln/>
        </p:spPr>
        <p:txBody>
          <a:bodyPr/>
          <a:lstStyle/>
          <a:p>
            <a:endParaRPr/>
          </a:p>
        </p:txBody>
      </p:sp>
      <p:sp>
        <p:nvSpPr>
          <p:cNvPr id="14" name="Text 11"/>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입력값</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확인</a:t>
            </a:r>
            <a:endParaRPr lang="en-US" sz="1400" dirty="0"/>
          </a:p>
        </p:txBody>
      </p:sp>
      <p:sp>
        <p:nvSpPr>
          <p:cNvPr id="15" name="Shape 12"/>
          <p:cNvSpPr/>
          <p:nvPr/>
        </p:nvSpPr>
        <p:spPr>
          <a:xfrm flipV="1">
            <a:off x="2782621" y="2414016"/>
            <a:ext cx="0" cy="237744"/>
          </a:xfrm>
          <a:prstGeom prst="line">
            <a:avLst/>
          </a:prstGeom>
          <a:noFill/>
          <a:ln w="19050">
            <a:solidFill>
              <a:srgbClr val="2E74C6"/>
            </a:solidFill>
            <a:prstDash val="solid"/>
            <a:tailEnd type="triangle"/>
          </a:ln>
        </p:spPr>
        <p:txBody>
          <a:bodyPr/>
          <a:lstStyle/>
          <a:p>
            <a:endParaRPr/>
          </a:p>
        </p:txBody>
      </p:sp>
      <p:sp>
        <p:nvSpPr>
          <p:cNvPr id="16" name="Shape 13"/>
          <p:cNvSpPr/>
          <p:nvPr/>
        </p:nvSpPr>
        <p:spPr>
          <a:xfrm>
            <a:off x="3391713" y="2990088"/>
            <a:ext cx="128016" cy="0"/>
          </a:xfrm>
          <a:prstGeom prst="line">
            <a:avLst/>
          </a:prstGeom>
          <a:noFill/>
          <a:ln w="22225">
            <a:solidFill>
              <a:srgbClr val="4A5364"/>
            </a:solidFill>
            <a:prstDash val="solid"/>
            <a:tailEnd type="triangle"/>
          </a:ln>
        </p:spPr>
        <p:txBody>
          <a:bodyPr/>
          <a:lstStyle/>
          <a:p>
            <a:endParaRPr/>
          </a:p>
        </p:txBody>
      </p:sp>
      <p:sp>
        <p:nvSpPr>
          <p:cNvPr id="17" name="Shape 14"/>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8" name="Text 15"/>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역량 질문</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19" name="Shape 16"/>
          <p:cNvSpPr/>
          <p:nvPr/>
        </p:nvSpPr>
        <p:spPr>
          <a:xfrm>
            <a:off x="3547161" y="1755648"/>
            <a:ext cx="1163320" cy="640080"/>
          </a:xfrm>
          <a:prstGeom prst="roundRect">
            <a:avLst>
              <a:gd name="adj" fmla="val 11429"/>
            </a:avLst>
          </a:prstGeom>
          <a:solidFill>
            <a:srgbClr val="2E74C6"/>
          </a:solidFill>
          <a:ln/>
        </p:spPr>
        <p:txBody>
          <a:bodyPr/>
          <a:lstStyle/>
          <a:p>
            <a:endParaRPr/>
          </a:p>
        </p:txBody>
      </p:sp>
      <p:sp>
        <p:nvSpPr>
          <p:cNvPr id="20" name="Text 17"/>
          <p:cNvSpPr txBox="1"/>
          <p:nvPr/>
        </p:nvSpPr>
        <p:spPr>
          <a:xfrm>
            <a:off x="3547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질문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21" name="Shape 18"/>
          <p:cNvSpPr/>
          <p:nvPr/>
        </p:nvSpPr>
        <p:spPr>
          <a:xfrm flipV="1">
            <a:off x="4128821" y="2414016"/>
            <a:ext cx="0" cy="237744"/>
          </a:xfrm>
          <a:prstGeom prst="line">
            <a:avLst/>
          </a:prstGeom>
          <a:noFill/>
          <a:ln w="19050">
            <a:solidFill>
              <a:srgbClr val="2E74C6"/>
            </a:solidFill>
            <a:prstDash val="solid"/>
            <a:tailEnd type="triangle"/>
          </a:ln>
        </p:spPr>
        <p:txBody>
          <a:bodyPr/>
          <a:lstStyle/>
          <a:p>
            <a:endParaRPr/>
          </a:p>
        </p:txBody>
      </p:sp>
      <p:sp>
        <p:nvSpPr>
          <p:cNvPr id="22" name="Shape 19"/>
          <p:cNvSpPr/>
          <p:nvPr/>
        </p:nvSpPr>
        <p:spPr>
          <a:xfrm>
            <a:off x="4737913" y="2990088"/>
            <a:ext cx="128016" cy="0"/>
          </a:xfrm>
          <a:prstGeom prst="line">
            <a:avLst/>
          </a:prstGeom>
          <a:noFill/>
          <a:ln w="22225">
            <a:solidFill>
              <a:srgbClr val="4A5364"/>
            </a:solidFill>
            <a:prstDash val="solid"/>
            <a:tailEnd type="triangle"/>
          </a:ln>
        </p:spPr>
        <p:txBody>
          <a:bodyPr/>
          <a:lstStyle/>
          <a:p>
            <a:endParaRPr/>
          </a:p>
        </p:txBody>
      </p:sp>
      <p:sp>
        <p:nvSpPr>
          <p:cNvPr id="23" name="Shape 20"/>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24" name="Text 21"/>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추출 단위,</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표본 계획</a:t>
            </a:r>
            <a:endParaRPr lang="en-US" sz="1400" dirty="0"/>
          </a:p>
        </p:txBody>
      </p:sp>
      <p:sp>
        <p:nvSpPr>
          <p:cNvPr id="25" name="Shape 22"/>
          <p:cNvSpPr/>
          <p:nvPr/>
        </p:nvSpPr>
        <p:spPr>
          <a:xfrm>
            <a:off x="4893361" y="1755648"/>
            <a:ext cx="1163320" cy="640080"/>
          </a:xfrm>
          <a:prstGeom prst="roundRect">
            <a:avLst>
              <a:gd name="adj" fmla="val 11429"/>
            </a:avLst>
          </a:prstGeom>
          <a:solidFill>
            <a:srgbClr val="2E74C6"/>
          </a:solidFill>
          <a:ln/>
        </p:spPr>
        <p:txBody>
          <a:bodyPr/>
          <a:lstStyle/>
          <a:p>
            <a:endParaRPr/>
          </a:p>
        </p:txBody>
      </p:sp>
      <p:sp>
        <p:nvSpPr>
          <p:cNvPr id="26" name="Text 23"/>
          <p:cNvSpPr txBox="1"/>
          <p:nvPr/>
        </p:nvSpPr>
        <p:spPr>
          <a:xfrm>
            <a:off x="4893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단위, 표본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27" name="Shape 24"/>
          <p:cNvSpPr/>
          <p:nvPr/>
        </p:nvSpPr>
        <p:spPr>
          <a:xfrm flipV="1">
            <a:off x="5475021" y="2414016"/>
            <a:ext cx="0" cy="237744"/>
          </a:xfrm>
          <a:prstGeom prst="line">
            <a:avLst/>
          </a:prstGeom>
          <a:noFill/>
          <a:ln w="19050">
            <a:solidFill>
              <a:srgbClr val="2E74C6"/>
            </a:solidFill>
            <a:prstDash val="solid"/>
            <a:tailEnd type="triangle"/>
          </a:ln>
        </p:spPr>
        <p:txBody>
          <a:bodyPr/>
          <a:lstStyle/>
          <a:p>
            <a:endParaRPr/>
          </a:p>
        </p:txBody>
      </p:sp>
      <p:sp>
        <p:nvSpPr>
          <p:cNvPr id="28" name="Shape 25"/>
          <p:cNvSpPr/>
          <p:nvPr/>
        </p:nvSpPr>
        <p:spPr>
          <a:xfrm>
            <a:off x="6084113" y="2990088"/>
            <a:ext cx="128016" cy="0"/>
          </a:xfrm>
          <a:prstGeom prst="line">
            <a:avLst/>
          </a:prstGeom>
          <a:noFill/>
          <a:ln w="22225">
            <a:solidFill>
              <a:srgbClr val="4A5364"/>
            </a:solidFill>
            <a:prstDash val="solid"/>
            <a:tailEnd type="triangle"/>
          </a:ln>
        </p:spPr>
        <p:txBody>
          <a:bodyPr/>
          <a:lstStyle/>
          <a:p>
            <a:endParaRPr/>
          </a:p>
        </p:txBody>
      </p:sp>
      <p:sp>
        <p:nvSpPr>
          <p:cNvPr id="29" name="Shape 26"/>
          <p:cNvSpPr/>
          <p:nvPr/>
        </p:nvSpPr>
        <p:spPr>
          <a:xfrm>
            <a:off x="6239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0" name="Text 27"/>
          <p:cNvSpPr txBox="1"/>
          <p:nvPr/>
        </p:nvSpPr>
        <p:spPr>
          <a:xfrm>
            <a:off x="6239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4. 후보</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넓게 뽑기</a:t>
            </a:r>
            <a:endParaRPr lang="en-US" sz="1400" dirty="0"/>
          </a:p>
        </p:txBody>
      </p:sp>
      <p:sp>
        <p:nvSpPr>
          <p:cNvPr id="31" name="Shape 28"/>
          <p:cNvSpPr/>
          <p:nvPr/>
        </p:nvSpPr>
        <p:spPr>
          <a:xfrm>
            <a:off x="7430313" y="2990088"/>
            <a:ext cx="128016" cy="0"/>
          </a:xfrm>
          <a:prstGeom prst="line">
            <a:avLst/>
          </a:prstGeom>
          <a:noFill/>
          <a:ln w="22225">
            <a:solidFill>
              <a:srgbClr val="4A5364"/>
            </a:solidFill>
            <a:prstDash val="solid"/>
            <a:tailEnd type="triangle"/>
          </a:ln>
        </p:spPr>
        <p:txBody>
          <a:bodyPr/>
          <a:lstStyle/>
          <a:p>
            <a:endParaRPr/>
          </a:p>
        </p:txBody>
      </p:sp>
      <p:sp>
        <p:nvSpPr>
          <p:cNvPr id="32" name="Shape 29"/>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3" name="Text 30"/>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 추천</a:t>
            </a:r>
            <a:endParaRPr lang="en-US" sz="1400" dirty="0"/>
          </a:p>
        </p:txBody>
      </p:sp>
      <p:sp>
        <p:nvSpPr>
          <p:cNvPr id="34" name="Shape 31"/>
          <p:cNvSpPr/>
          <p:nvPr/>
        </p:nvSpPr>
        <p:spPr>
          <a:xfrm>
            <a:off x="7585761" y="1755648"/>
            <a:ext cx="1163320" cy="640080"/>
          </a:xfrm>
          <a:prstGeom prst="roundRect">
            <a:avLst>
              <a:gd name="adj" fmla="val 11429"/>
            </a:avLst>
          </a:prstGeom>
          <a:solidFill>
            <a:srgbClr val="2E74C6"/>
          </a:solidFill>
          <a:ln/>
        </p:spPr>
        <p:txBody>
          <a:bodyPr/>
          <a:lstStyle/>
          <a:p>
            <a:endParaRPr/>
          </a:p>
        </p:txBody>
      </p:sp>
      <p:sp>
        <p:nvSpPr>
          <p:cNvPr id="35" name="Text 32"/>
          <p:cNvSpPr txBox="1"/>
          <p:nvPr/>
        </p:nvSpPr>
        <p:spPr>
          <a:xfrm>
            <a:off x="75857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초안, 제약</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36" name="Shape 33"/>
          <p:cNvSpPr/>
          <p:nvPr/>
        </p:nvSpPr>
        <p:spPr>
          <a:xfrm flipV="1">
            <a:off x="8167421" y="2414016"/>
            <a:ext cx="0" cy="237744"/>
          </a:xfrm>
          <a:prstGeom prst="line">
            <a:avLst/>
          </a:prstGeom>
          <a:noFill/>
          <a:ln w="19050">
            <a:solidFill>
              <a:srgbClr val="2E74C6"/>
            </a:solidFill>
            <a:prstDash val="solid"/>
            <a:tailEnd type="triangle"/>
          </a:ln>
        </p:spPr>
        <p:txBody>
          <a:bodyPr/>
          <a:lstStyle/>
          <a:p>
            <a:endParaRPr/>
          </a:p>
        </p:txBody>
      </p:sp>
      <p:sp>
        <p:nvSpPr>
          <p:cNvPr id="37" name="Shape 34"/>
          <p:cNvSpPr/>
          <p:nvPr/>
        </p:nvSpPr>
        <p:spPr>
          <a:xfrm>
            <a:off x="8776513" y="2990088"/>
            <a:ext cx="128016" cy="0"/>
          </a:xfrm>
          <a:prstGeom prst="line">
            <a:avLst/>
          </a:prstGeom>
          <a:noFill/>
          <a:ln w="22225">
            <a:solidFill>
              <a:srgbClr val="4A5364"/>
            </a:solidFill>
            <a:prstDash val="solid"/>
            <a:tailEnd type="triangle"/>
          </a:ln>
        </p:spPr>
        <p:txBody>
          <a:bodyPr/>
          <a:lstStyle/>
          <a:p>
            <a:endParaRPr/>
          </a:p>
        </p:txBody>
      </p:sp>
      <p:sp>
        <p:nvSpPr>
          <p:cNvPr id="38" name="Shape 35"/>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9" name="Text 36"/>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40" name="Shape 37"/>
          <p:cNvSpPr/>
          <p:nvPr/>
        </p:nvSpPr>
        <p:spPr>
          <a:xfrm>
            <a:off x="10122713" y="2990088"/>
            <a:ext cx="128016" cy="0"/>
          </a:xfrm>
          <a:prstGeom prst="line">
            <a:avLst/>
          </a:prstGeom>
          <a:noFill/>
          <a:ln w="22225">
            <a:solidFill>
              <a:srgbClr val="4A5364"/>
            </a:solidFill>
            <a:prstDash val="solid"/>
            <a:tailEnd type="triangle"/>
          </a:ln>
        </p:spPr>
        <p:txBody>
          <a:bodyPr/>
          <a:lstStyle/>
          <a:p>
            <a:endParaRPr/>
          </a:p>
        </p:txBody>
      </p:sp>
      <p:sp>
        <p:nvSpPr>
          <p:cNvPr id="41" name="Shape 38"/>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2" name="Text 39"/>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기대 답</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43" name="Shape 40"/>
          <p:cNvSpPr/>
          <p:nvPr/>
        </p:nvSpPr>
        <p:spPr>
          <a:xfrm>
            <a:off x="10278161" y="1755648"/>
            <a:ext cx="1163320" cy="640080"/>
          </a:xfrm>
          <a:prstGeom prst="roundRect">
            <a:avLst>
              <a:gd name="adj" fmla="val 11429"/>
            </a:avLst>
          </a:prstGeom>
          <a:solidFill>
            <a:srgbClr val="2E74C6"/>
          </a:solidFill>
          <a:ln/>
        </p:spPr>
        <p:txBody>
          <a:bodyPr/>
          <a:lstStyle/>
          <a:p>
            <a:endParaRPr/>
          </a:p>
        </p:txBody>
      </p:sp>
      <p:sp>
        <p:nvSpPr>
          <p:cNvPr id="44" name="Text 41"/>
          <p:cNvSpPr txBox="1"/>
          <p:nvPr/>
        </p:nvSpPr>
        <p:spPr>
          <a:xfrm>
            <a:off x="10278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기대 답,</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기준 확정</a:t>
            </a:r>
            <a:endParaRPr lang="en-US" sz="1400" dirty="0"/>
          </a:p>
        </p:txBody>
      </p:sp>
      <p:sp>
        <p:nvSpPr>
          <p:cNvPr id="45" name="Shape 42"/>
          <p:cNvSpPr/>
          <p:nvPr/>
        </p:nvSpPr>
        <p:spPr>
          <a:xfrm flipV="1">
            <a:off x="10859821" y="2414016"/>
            <a:ext cx="0" cy="237744"/>
          </a:xfrm>
          <a:prstGeom prst="line">
            <a:avLst/>
          </a:prstGeom>
          <a:noFill/>
          <a:ln w="19050">
            <a:solidFill>
              <a:srgbClr val="2E74C6"/>
            </a:solidFill>
            <a:prstDash val="solid"/>
            <a:tailEnd type="triangle"/>
          </a:ln>
        </p:spPr>
        <p:txBody>
          <a:bodyPr/>
          <a:lstStyle/>
          <a:p>
            <a:endParaRPr/>
          </a:p>
        </p:txBody>
      </p:sp>
      <p:sp>
        <p:nvSpPr>
          <p:cNvPr id="46" name="Shape 43"/>
          <p:cNvSpPr/>
          <p:nvPr/>
        </p:nvSpPr>
        <p:spPr>
          <a:xfrm>
            <a:off x="11468913" y="2990088"/>
            <a:ext cx="128016" cy="0"/>
          </a:xfrm>
          <a:prstGeom prst="line">
            <a:avLst/>
          </a:prstGeom>
          <a:noFill/>
          <a:ln w="22225">
            <a:solidFill>
              <a:srgbClr val="4A5364"/>
            </a:solidFill>
            <a:prstDash val="solid"/>
            <a:tailEnd type="triangle"/>
          </a:ln>
        </p:spPr>
        <p:txBody>
          <a:bodyPr/>
          <a:lstStyle/>
          <a:p>
            <a:endParaRPr/>
          </a:p>
        </p:txBody>
      </p:sp>
      <p:sp>
        <p:nvSpPr>
          <p:cNvPr id="47" name="Shape 44"/>
          <p:cNvSpPr/>
          <p:nvPr/>
        </p:nvSpPr>
        <p:spPr>
          <a:xfrm>
            <a:off x="11624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8" name="Text 45"/>
          <p:cNvSpPr txBox="1"/>
          <p:nvPr/>
        </p:nvSpPr>
        <p:spPr>
          <a:xfrm>
            <a:off x="11624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8. 채우기</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시험</a:t>
            </a:r>
            <a:endParaRPr lang="en-US" sz="1400" dirty="0"/>
          </a:p>
        </p:txBody>
      </p:sp>
      <p:sp>
        <p:nvSpPr>
          <p:cNvPr id="49" name="Shape 46"/>
          <p:cNvSpPr/>
          <p:nvPr/>
        </p:nvSpPr>
        <p:spPr>
          <a:xfrm>
            <a:off x="11624361" y="1755648"/>
            <a:ext cx="1163320" cy="640080"/>
          </a:xfrm>
          <a:prstGeom prst="roundRect">
            <a:avLst>
              <a:gd name="adj" fmla="val 11429"/>
            </a:avLst>
          </a:prstGeom>
          <a:solidFill>
            <a:srgbClr val="2E74C6"/>
          </a:solidFill>
          <a:ln/>
        </p:spPr>
        <p:txBody>
          <a:bodyPr/>
          <a:lstStyle/>
          <a:p>
            <a:endParaRPr/>
          </a:p>
        </p:txBody>
      </p:sp>
      <p:sp>
        <p:nvSpPr>
          <p:cNvPr id="50" name="Text 47"/>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통과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판정</a:t>
            </a:r>
            <a:endParaRPr lang="en-US" sz="1400" dirty="0"/>
          </a:p>
        </p:txBody>
      </p:sp>
      <p:sp>
        <p:nvSpPr>
          <p:cNvPr id="51" name="Shape 48"/>
          <p:cNvSpPr/>
          <p:nvPr/>
        </p:nvSpPr>
        <p:spPr>
          <a:xfrm flipV="1">
            <a:off x="12206021" y="2414016"/>
            <a:ext cx="0" cy="237744"/>
          </a:xfrm>
          <a:prstGeom prst="line">
            <a:avLst/>
          </a:prstGeom>
          <a:noFill/>
          <a:ln w="19050">
            <a:solidFill>
              <a:srgbClr val="2E74C6"/>
            </a:solidFill>
            <a:prstDash val="solid"/>
            <a:tailEnd type="triangle"/>
          </a:ln>
        </p:spPr>
        <p:txBody>
          <a:bodyPr/>
          <a:lstStyle/>
          <a:p>
            <a:endParaRPr/>
          </a:p>
        </p:txBody>
      </p:sp>
      <p:sp>
        <p:nvSpPr>
          <p:cNvPr id="52" name="Shape 49"/>
          <p:cNvSpPr/>
          <p:nvPr/>
        </p:nvSpPr>
        <p:spPr>
          <a:xfrm>
            <a:off x="12815113" y="2990088"/>
            <a:ext cx="128016" cy="0"/>
          </a:xfrm>
          <a:prstGeom prst="line">
            <a:avLst/>
          </a:prstGeom>
          <a:noFill/>
          <a:ln w="22225">
            <a:solidFill>
              <a:srgbClr val="4A5364"/>
            </a:solidFill>
            <a:prstDash val="solid"/>
            <a:tailEnd type="triangle"/>
          </a:ln>
        </p:spPr>
        <p:txBody>
          <a:bodyPr/>
          <a:lstStyle/>
          <a:p>
            <a:endParaRPr/>
          </a:p>
        </p:txBody>
      </p:sp>
      <p:sp>
        <p:nvSpPr>
          <p:cNvPr id="53" name="Shape 50"/>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54" name="Text 51"/>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55" name="Shape 52"/>
          <p:cNvSpPr/>
          <p:nvPr/>
        </p:nvSpPr>
        <p:spPr>
          <a:xfrm>
            <a:off x="12206021" y="3328416"/>
            <a:ext cx="0" cy="164592"/>
          </a:xfrm>
          <a:prstGeom prst="line">
            <a:avLst/>
          </a:prstGeom>
          <a:noFill/>
          <a:ln w="19050">
            <a:solidFill>
              <a:srgbClr val="2E74C6"/>
            </a:solidFill>
            <a:prstDash val="dash"/>
            <a:tailEnd type="none"/>
          </a:ln>
        </p:spPr>
        <p:txBody>
          <a:bodyPr/>
          <a:lstStyle/>
          <a:p>
            <a:endParaRPr/>
          </a:p>
        </p:txBody>
      </p:sp>
      <p:sp>
        <p:nvSpPr>
          <p:cNvPr id="56" name="Shape 53"/>
          <p:cNvSpPr/>
          <p:nvPr/>
        </p:nvSpPr>
        <p:spPr>
          <a:xfrm>
            <a:off x="8167421" y="3493008"/>
            <a:ext cx="4038600" cy="0"/>
          </a:xfrm>
          <a:prstGeom prst="line">
            <a:avLst/>
          </a:prstGeom>
          <a:noFill/>
          <a:ln w="19050">
            <a:solidFill>
              <a:srgbClr val="2E74C6"/>
            </a:solidFill>
            <a:prstDash val="dash"/>
          </a:ln>
        </p:spPr>
        <p:txBody>
          <a:bodyPr/>
          <a:lstStyle/>
          <a:p>
            <a:endParaRPr/>
          </a:p>
        </p:txBody>
      </p:sp>
      <p:sp>
        <p:nvSpPr>
          <p:cNvPr id="57" name="Shape 54"/>
          <p:cNvSpPr/>
          <p:nvPr/>
        </p:nvSpPr>
        <p:spPr>
          <a:xfrm flipV="1">
            <a:off x="8167421" y="3328416"/>
            <a:ext cx="0" cy="164592"/>
          </a:xfrm>
          <a:prstGeom prst="line">
            <a:avLst/>
          </a:prstGeom>
          <a:noFill/>
          <a:ln w="19050">
            <a:solidFill>
              <a:srgbClr val="2E74C6"/>
            </a:solidFill>
            <a:prstDash val="dash"/>
            <a:tailEnd type="triangle"/>
          </a:ln>
        </p:spPr>
        <p:txBody>
          <a:bodyPr/>
          <a:lstStyle/>
          <a:p>
            <a:endParaRPr/>
          </a:p>
        </p:txBody>
      </p:sp>
      <p:sp>
        <p:nvSpPr>
          <p:cNvPr id="58" name="Text 55"/>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고치기 시 5단계부터 다시(최대 5회)</a:t>
            </a:r>
            <a:endParaRPr lang="en-US" sz="1400" dirty="0"/>
          </a:p>
        </p:txBody>
      </p:sp>
      <p:sp>
        <p:nvSpPr>
          <p:cNvPr id="104" name="Shape 101"/>
          <p:cNvSpPr/>
          <p:nvPr/>
        </p:nvSpPr>
        <p:spPr>
          <a:xfrm>
            <a:off x="509321" y="6601968"/>
            <a:ext cx="13624560" cy="694944"/>
          </a:xfrm>
          <a:prstGeom prst="roundRect">
            <a:avLst>
              <a:gd name="adj" fmla="val 10526"/>
            </a:avLst>
          </a:prstGeom>
          <a:solidFill>
            <a:srgbClr val="EEF3FA"/>
          </a:solidFill>
          <a:ln w="19050">
            <a:solidFill>
              <a:srgbClr val="2E74C6"/>
            </a:solidFill>
            <a:prstDash val="solid"/>
          </a:ln>
        </p:spPr>
        <p:txBody>
          <a:bodyPr/>
          <a:lstStyle/>
          <a:p>
            <a:endParaRPr/>
          </a:p>
        </p:txBody>
      </p:sp>
      <p:sp>
        <p:nvSpPr>
          <p:cNvPr id="105" name="Shape 102"/>
          <p:cNvSpPr/>
          <p:nvPr/>
        </p:nvSpPr>
        <p:spPr>
          <a:xfrm>
            <a:off x="509321" y="6601968"/>
            <a:ext cx="82296" cy="694944"/>
          </a:xfrm>
          <a:prstGeom prst="rect">
            <a:avLst/>
          </a:prstGeom>
          <a:solidFill>
            <a:srgbClr val="2E74C6"/>
          </a:solidFill>
          <a:ln/>
        </p:spPr>
        <p:txBody>
          <a:bodyPr/>
          <a:lstStyle/>
          <a:p>
            <a:endParaRPr/>
          </a:p>
        </p:txBody>
      </p:sp>
      <p:sp>
        <p:nvSpPr>
          <p:cNvPr id="106" name="Text 103"/>
          <p:cNvSpPr txBox="1"/>
          <p:nvPr/>
        </p:nvSpPr>
        <p:spPr>
          <a:xfrm>
            <a:off x="737921" y="660196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문서 종류마다 graph_schema.json과 approval.json(승인자, 일시, 입력 SHA-256, 마지막 시험 지표, 추출 단위)</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시험 보고서 fill_report.md는 질문마다 뽑음, 잘못 뽑음, 값 같음과 합격 판정을 보여 줌. 인덱싱은 승인 파일을 읽기만 함</a:t>
            </a:r>
            <a:endParaRPr lang="en-US" sz="1500" dirty="0"/>
          </a:p>
        </p:txBody>
      </p:sp>
      <p:sp>
        <p:nvSpPr>
          <p:cNvPr id="107" name="Text 104"/>
          <p:cNvSpPr txBox="1"/>
          <p:nvPr/>
        </p:nvSpPr>
        <p:spPr>
          <a:xfrm>
            <a:off x="470916" y="743315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기대 답을 LLM이 쓰면 시험하는 모델과 같아 점수가 후해질 수 있음 → 7단계에서 사람이 반드시 검토함</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27</a:t>
            </a:fld>
            <a:endParaRPr lang="en-US"/>
          </a:p>
        </p:txBody>
      </p:sp>
      <p:sp>
        <p:nvSpPr>
          <p:cNvPr id="85" name="Shape 82"/>
          <p:cNvSpPr/>
          <p:nvPr/>
        </p:nvSpPr>
        <p:spPr>
          <a:xfrm>
            <a:off x="512064" y="3858768"/>
            <a:ext cx="1600200"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512064" y="3858768"/>
            <a:ext cx="16002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단계</a:t>
            </a:r>
            <a:endParaRPr lang="en-US" sz="1600" dirty="0"/>
          </a:p>
        </p:txBody>
      </p:sp>
      <p:sp>
        <p:nvSpPr>
          <p:cNvPr id="85" name="Shape 82"/>
          <p:cNvSpPr/>
          <p:nvPr/>
        </p:nvSpPr>
        <p:spPr>
          <a:xfrm>
            <a:off x="2139696" y="3858768"/>
            <a:ext cx="4818888"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2139696" y="3858768"/>
            <a:ext cx="4818888"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하는 일</a:t>
            </a:r>
            <a:endParaRPr lang="en-US" sz="1600" dirty="0"/>
          </a:p>
        </p:txBody>
      </p:sp>
      <p:sp>
        <p:nvSpPr>
          <p:cNvPr id="59" name="Shape 56"/>
          <p:cNvSpPr/>
          <p:nvPr/>
        </p:nvSpPr>
        <p:spPr>
          <a:xfrm>
            <a:off x="6986016" y="3858768"/>
            <a:ext cx="2743200" cy="365760"/>
          </a:xfrm>
          <a:prstGeom prst="roundRect">
            <a:avLst>
              <a:gd name="adj" fmla="val 12500"/>
            </a:avLst>
          </a:prstGeom>
          <a:solidFill>
            <a:srgbClr val="2E74C6"/>
          </a:solidFill>
          <a:ln/>
        </p:spPr>
        <p:txBody>
          <a:bodyPr/>
          <a:lstStyle/>
          <a:p>
            <a:endParaRPr/>
          </a:p>
        </p:txBody>
      </p:sp>
      <p:sp>
        <p:nvSpPr>
          <p:cNvPr id="60" name="Text 57"/>
          <p:cNvSpPr txBox="1"/>
          <p:nvPr/>
        </p:nvSpPr>
        <p:spPr>
          <a:xfrm>
            <a:off x="6986016" y="3858768"/>
            <a:ext cx="27432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판단할 일</a:t>
            </a:r>
            <a:endParaRPr lang="en-US" sz="1600" dirty="0"/>
          </a:p>
        </p:txBody>
      </p:sp>
      <p:sp>
        <p:nvSpPr>
          <p:cNvPr id="61" name="Shape 58"/>
          <p:cNvSpPr/>
          <p:nvPr/>
        </p:nvSpPr>
        <p:spPr>
          <a:xfrm>
            <a:off x="512064" y="427939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27939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1. 입력 받기</a:t>
            </a:r>
            <a:endParaRPr lang="en-US" sz="1400" dirty="0"/>
          </a:p>
        </p:txBody>
      </p:sp>
      <p:sp>
        <p:nvSpPr>
          <p:cNvPr id="64" name="Text 61"/>
          <p:cNvSpPr txBox="1"/>
          <p:nvPr/>
        </p:nvSpPr>
        <p:spPr>
          <a:xfrm>
            <a:off x="2139696" y="427939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청크, 질문 출처, 키를 찾아 추천하고 개인정보 점검</a:t>
            </a:r>
            <a:endParaRPr lang="en-US" sz="1400" dirty="0"/>
          </a:p>
        </p:txBody>
      </p:sp>
      <p:sp>
        <p:nvSpPr>
          <p:cNvPr id="64" name="Text 61"/>
          <p:cNvSpPr txBox="1"/>
          <p:nvPr/>
        </p:nvSpPr>
        <p:spPr>
          <a:xfrm>
            <a:off x="6986016" y="427939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추천 입력값 확인</a:t>
            </a:r>
            <a:endParaRPr lang="en-US" sz="1400" dirty="0"/>
          </a:p>
        </p:txBody>
      </p:sp>
      <p:sp>
        <p:nvSpPr>
          <p:cNvPr id="61" name="Shape 58"/>
          <p:cNvSpPr/>
          <p:nvPr/>
        </p:nvSpPr>
        <p:spPr>
          <a:xfrm>
            <a:off x="512064" y="453085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53085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2. 역량 질문</a:t>
            </a:r>
            <a:endParaRPr lang="en-US" sz="1400" dirty="0"/>
          </a:p>
        </p:txBody>
      </p:sp>
      <p:sp>
        <p:nvSpPr>
          <p:cNvPr id="64" name="Text 61"/>
          <p:cNvSpPr txBox="1"/>
          <p:nvPr/>
        </p:nvSpPr>
        <p:spPr>
          <a:xfrm>
            <a:off x="2139696" y="453085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사용자 질문을 틀로 묶어 범위별 질문 초안 작성</a:t>
            </a:r>
            <a:endParaRPr lang="en-US" sz="1400" dirty="0"/>
          </a:p>
        </p:txBody>
      </p:sp>
      <p:sp>
        <p:nvSpPr>
          <p:cNvPr id="64" name="Text 61"/>
          <p:cNvSpPr txBox="1"/>
          <p:nvPr/>
        </p:nvSpPr>
        <p:spPr>
          <a:xfrm>
            <a:off x="6986016" y="453085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질문과 범위 확정</a:t>
            </a:r>
            <a:endParaRPr lang="en-US" sz="1400" dirty="0"/>
          </a:p>
        </p:txBody>
      </p:sp>
      <p:sp>
        <p:nvSpPr>
          <p:cNvPr id="61" name="Shape 58"/>
          <p:cNvSpPr/>
          <p:nvPr/>
        </p:nvSpPr>
        <p:spPr>
          <a:xfrm>
            <a:off x="512064" y="478231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78231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3. 단위와 표본</a:t>
            </a:r>
            <a:endParaRPr lang="en-US" sz="1400" dirty="0"/>
          </a:p>
        </p:txBody>
      </p:sp>
      <p:sp>
        <p:nvSpPr>
          <p:cNvPr id="64" name="Text 61"/>
          <p:cNvSpPr txBox="1"/>
          <p:nvPr/>
        </p:nvSpPr>
        <p:spPr>
          <a:xfrm>
            <a:off x="2139696" y="478231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추출 단위 규칙, 묶음, 발견용과 시험용 표본 제안</a:t>
            </a:r>
            <a:endParaRPr lang="en-US" sz="1400" dirty="0"/>
          </a:p>
        </p:txBody>
      </p:sp>
      <p:sp>
        <p:nvSpPr>
          <p:cNvPr id="64" name="Text 61"/>
          <p:cNvSpPr txBox="1"/>
          <p:nvPr/>
        </p:nvSpPr>
        <p:spPr>
          <a:xfrm>
            <a:off x="6986016" y="478231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단위, 묶음, 표본 승인</a:t>
            </a:r>
            <a:endParaRPr lang="en-US" sz="1400" dirty="0"/>
          </a:p>
        </p:txBody>
      </p:sp>
      <p:sp>
        <p:nvSpPr>
          <p:cNvPr id="61" name="Shape 58"/>
          <p:cNvSpPr/>
          <p:nvPr/>
        </p:nvSpPr>
        <p:spPr>
          <a:xfrm>
            <a:off x="512064" y="503377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03377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4. 후보 뽑기</a:t>
            </a:r>
            <a:endParaRPr lang="en-US" sz="1400" dirty="0"/>
          </a:p>
        </p:txBody>
      </p:sp>
      <p:sp>
        <p:nvSpPr>
          <p:cNvPr id="64" name="Text 61"/>
          <p:cNvSpPr txBox="1"/>
          <p:nvPr/>
        </p:nvSpPr>
        <p:spPr>
          <a:xfrm>
            <a:off x="2139696" y="503377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발견용 표본을 LLM에 넣어 노드, 관계 후보 수집</a:t>
            </a:r>
            <a:endParaRPr lang="en-US" sz="1400" dirty="0"/>
          </a:p>
        </p:txBody>
      </p:sp>
      <p:sp>
        <p:nvSpPr>
          <p:cNvPr id="64" name="Text 61"/>
          <p:cNvSpPr txBox="1"/>
          <p:nvPr/>
        </p:nvSpPr>
        <p:spPr>
          <a:xfrm>
            <a:off x="6986016" y="503377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61" name="Shape 58"/>
          <p:cNvSpPr/>
          <p:nvPr/>
        </p:nvSpPr>
        <p:spPr>
          <a:xfrm>
            <a:off x="512064" y="5285231"/>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285231"/>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5. 스키마 초안</a:t>
            </a:r>
            <a:endParaRPr lang="en-US" sz="1400" dirty="0"/>
          </a:p>
        </p:txBody>
      </p:sp>
      <p:sp>
        <p:nvSpPr>
          <p:cNvPr id="64" name="Text 61"/>
          <p:cNvSpPr txBox="1"/>
          <p:nvPr/>
        </p:nvSpPr>
        <p:spPr>
          <a:xfrm>
            <a:off x="2139696" y="5285231"/>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공통 개념을 먼저 정하고 병합, 제거, 참조, 추가 추천</a:t>
            </a:r>
            <a:endParaRPr lang="en-US" sz="1400" dirty="0"/>
          </a:p>
        </p:txBody>
      </p:sp>
      <p:sp>
        <p:nvSpPr>
          <p:cNvPr id="64" name="Text 61"/>
          <p:cNvSpPr txBox="1"/>
          <p:nvPr/>
        </p:nvSpPr>
        <p:spPr>
          <a:xfrm>
            <a:off x="6986016" y="5285231"/>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초안과 제약 확정</a:t>
            </a:r>
            <a:endParaRPr lang="en-US" sz="1400" dirty="0"/>
          </a:p>
        </p:txBody>
      </p:sp>
      <p:sp>
        <p:nvSpPr>
          <p:cNvPr id="61" name="Shape 58"/>
          <p:cNvSpPr/>
          <p:nvPr/>
        </p:nvSpPr>
        <p:spPr>
          <a:xfrm>
            <a:off x="512064" y="553669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53669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6. 기계 검증</a:t>
            </a:r>
            <a:endParaRPr lang="en-US" sz="1400" dirty="0"/>
          </a:p>
        </p:txBody>
      </p:sp>
      <p:sp>
        <p:nvSpPr>
          <p:cNvPr id="64" name="Text 61"/>
          <p:cNvSpPr txBox="1"/>
          <p:nvPr/>
        </p:nvSpPr>
        <p:spPr>
          <a:xfrm>
            <a:off x="2139696" y="553669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스키마 꼴, 이름 규칙, 공통 노드 일치, 그림 확인</a:t>
            </a:r>
            <a:endParaRPr lang="en-US" sz="1400" dirty="0"/>
          </a:p>
        </p:txBody>
      </p:sp>
      <p:sp>
        <p:nvSpPr>
          <p:cNvPr id="64" name="Text 61"/>
          <p:cNvSpPr txBox="1"/>
          <p:nvPr/>
        </p:nvSpPr>
        <p:spPr>
          <a:xfrm>
            <a:off x="6986016" y="553669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61" name="Shape 58"/>
          <p:cNvSpPr/>
          <p:nvPr/>
        </p:nvSpPr>
        <p:spPr>
          <a:xfrm>
            <a:off x="512064" y="578815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78815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7. 기대 답</a:t>
            </a:r>
            <a:endParaRPr lang="en-US" sz="1400" dirty="0"/>
          </a:p>
        </p:txBody>
      </p:sp>
      <p:sp>
        <p:nvSpPr>
          <p:cNvPr id="64" name="Text 61"/>
          <p:cNvSpPr txBox="1"/>
          <p:nvPr/>
        </p:nvSpPr>
        <p:spPr>
          <a:xfrm>
            <a:off x="2139696" y="578815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시험용 표본마다 질문별 정답을 원문 그대로 초안</a:t>
            </a:r>
            <a:endParaRPr lang="en-US" sz="1400" dirty="0"/>
          </a:p>
        </p:txBody>
      </p:sp>
      <p:sp>
        <p:nvSpPr>
          <p:cNvPr id="64" name="Text 61"/>
          <p:cNvSpPr txBox="1"/>
          <p:nvPr/>
        </p:nvSpPr>
        <p:spPr>
          <a:xfrm>
            <a:off x="6986016" y="578815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기대 답, 합격 기준 확정</a:t>
            </a:r>
            <a:endParaRPr lang="en-US" sz="1400" dirty="0"/>
          </a:p>
        </p:txBody>
      </p:sp>
      <p:sp>
        <p:nvSpPr>
          <p:cNvPr id="61" name="Shape 58"/>
          <p:cNvSpPr/>
          <p:nvPr/>
        </p:nvSpPr>
        <p:spPr>
          <a:xfrm>
            <a:off x="512064" y="603961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603961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8. 채우기 시험</a:t>
            </a:r>
            <a:endParaRPr lang="en-US" sz="1400" dirty="0"/>
          </a:p>
        </p:txBody>
      </p:sp>
      <p:sp>
        <p:nvSpPr>
          <p:cNvPr id="64" name="Text 61"/>
          <p:cNvSpPr txBox="1"/>
          <p:nvPr/>
        </p:nvSpPr>
        <p:spPr>
          <a:xfrm>
            <a:off x="2139696" y="603961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초안으로 추출해 질문별 점수와 연결 검사</a:t>
            </a:r>
            <a:endParaRPr lang="en-US" sz="1400" dirty="0"/>
          </a:p>
        </p:txBody>
      </p:sp>
      <p:sp>
        <p:nvSpPr>
          <p:cNvPr id="64" name="Text 61"/>
          <p:cNvSpPr txBox="1"/>
          <p:nvPr/>
        </p:nvSpPr>
        <p:spPr>
          <a:xfrm>
            <a:off x="6986016" y="603961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통과 판정 또는 설명 고치기</a:t>
            </a:r>
            <a:endParaRPr lang="en-US" sz="1400" dirty="0"/>
          </a:p>
        </p:txBody>
      </p:sp>
      <p:sp>
        <p:nvSpPr>
          <p:cNvPr id="61" name="Shape 58"/>
          <p:cNvSpPr/>
          <p:nvPr/>
        </p:nvSpPr>
        <p:spPr>
          <a:xfrm>
            <a:off x="512064" y="629107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629107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9. 저장</a:t>
            </a:r>
            <a:endParaRPr lang="en-US" sz="1400" dirty="0"/>
          </a:p>
        </p:txBody>
      </p:sp>
      <p:sp>
        <p:nvSpPr>
          <p:cNvPr id="64" name="Text 61"/>
          <p:cNvSpPr txBox="1"/>
          <p:nvPr/>
        </p:nvSpPr>
        <p:spPr>
          <a:xfrm>
            <a:off x="2139696" y="629107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스키마 파일 저장 후 다시 읽어 비교, 승인 기록</a:t>
            </a:r>
            <a:endParaRPr lang="en-US" sz="1400" dirty="0"/>
          </a:p>
        </p:txBody>
      </p:sp>
      <p:sp>
        <p:nvSpPr>
          <p:cNvPr id="64" name="Text 61"/>
          <p:cNvSpPr txBox="1"/>
          <p:nvPr/>
        </p:nvSpPr>
        <p:spPr>
          <a:xfrm>
            <a:off x="6986016" y="629107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85" name="Shape 82"/>
          <p:cNvSpPr/>
          <p:nvPr/>
        </p:nvSpPr>
        <p:spPr>
          <a:xfrm>
            <a:off x="9884664" y="3858768"/>
            <a:ext cx="4251960"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9884664"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87" name="Shape 84"/>
          <p:cNvSpPr/>
          <p:nvPr/>
        </p:nvSpPr>
        <p:spPr>
          <a:xfrm>
            <a:off x="9884664" y="4279392"/>
            <a:ext cx="4251960" cy="2249424"/>
          </a:xfrm>
          <a:prstGeom prst="roundRect">
            <a:avLst>
              <a:gd name="adj" fmla="val 3478"/>
            </a:avLst>
          </a:prstGeom>
          <a:solidFill>
            <a:srgbClr val="FFFFFF"/>
          </a:solidFill>
          <a:ln w="12700">
            <a:solidFill>
              <a:srgbClr val="D9E0EC"/>
            </a:solidFill>
            <a:prstDash val="solid"/>
          </a:ln>
        </p:spPr>
        <p:txBody>
          <a:bodyPr/>
          <a:lstStyle/>
          <a:p>
            <a:endParaRPr/>
          </a:p>
        </p:txBody>
      </p:sp>
      <p:sp>
        <p:nvSpPr>
          <p:cNvPr id="88" name="Text 85"/>
          <p:cNvSpPr txBox="1"/>
          <p:nvPr/>
        </p:nvSpPr>
        <p:spPr>
          <a:xfrm>
            <a:off x="10049256" y="4325112"/>
            <a:ext cx="3977640" cy="2157984"/>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뽑기에는 역량 질문만 넘김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판단은 빈도 아닌 역량 질문 기준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시험은 안 쓴 표본, 답 없는 문서 포함</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청크는 표본만 추출 단위로 나눔</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키는 .env에서 읽기만 함</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승인은 검토 파일로 받음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Neo4j 판이 지원하는 제약만 씀</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2. </a:t>
            </a:r>
            <a:r>
              <a:rPr lang="ko-KR" altLang="en-US" sz="3200" b="1" dirty="0">
                <a:solidFill>
                  <a:srgbClr val="2C2926"/>
                </a:solidFill>
                <a:latin typeface="Pretendard" pitchFamily="34" charset="0"/>
                <a:ea typeface="Pretendard" pitchFamily="34" charset="-122"/>
                <a:cs typeface="Pretendard" pitchFamily="34" charset="-120"/>
              </a:rPr>
              <a:t>인덱싱</a:t>
            </a:r>
            <a:r>
              <a:rPr lang="en-US" altLang="ko-KR"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저장소</a:t>
            </a:r>
            <a:r>
              <a:rPr lang="en-US" sz="3200" b="1" dirty="0">
                <a:solidFill>
                  <a:srgbClr val="2C2926"/>
                </a:solidFill>
                <a:latin typeface="Pretendard" pitchFamily="34" charset="0"/>
                <a:ea typeface="Pretendard" pitchFamily="34" charset="-122"/>
                <a:cs typeface="Pretendard" pitchFamily="34" charset="-120"/>
              </a:rPr>
              <a:t> 구성 4가지 안 비교</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벡터, 키워드, 그래프를 어디에 두느냐로 갈림 — 한국어 키워드 품질과 운영 부담이 선택을 가름</a:t>
            </a:r>
            <a:endParaRPr lang="en-US" sz="1800" dirty="0"/>
          </a:p>
        </p:txBody>
      </p:sp>
      <p:sp>
        <p:nvSpPr>
          <p:cNvPr id="5" name="Shape 2"/>
          <p:cNvSpPr/>
          <p:nvPr/>
        </p:nvSpPr>
        <p:spPr>
          <a:xfrm>
            <a:off x="2063801" y="1655064"/>
            <a:ext cx="2994660" cy="4700016"/>
          </a:xfrm>
          <a:prstGeom prst="roundRect">
            <a:avLst>
              <a:gd name="adj" fmla="val 2443"/>
            </a:avLst>
          </a:prstGeom>
          <a:solidFill>
            <a:srgbClr val="F5F8FC"/>
          </a:solidFill>
          <a:ln/>
        </p:spPr>
        <p:txBody>
          <a:bodyPr/>
          <a:lstStyle/>
          <a:p>
            <a:endParaRPr lang="ko-KR" altLang="en-US"/>
          </a:p>
        </p:txBody>
      </p:sp>
      <p:sp>
        <p:nvSpPr>
          <p:cNvPr id="6" name="Shape 3"/>
          <p:cNvSpPr/>
          <p:nvPr/>
        </p:nvSpPr>
        <p:spPr>
          <a:xfrm>
            <a:off x="2109521" y="1700784"/>
            <a:ext cx="2903220" cy="384048"/>
          </a:xfrm>
          <a:prstGeom prst="roundRect">
            <a:avLst>
              <a:gd name="adj" fmla="val 14286"/>
            </a:avLst>
          </a:prstGeom>
          <a:solidFill>
            <a:srgbClr val="1E2A5C"/>
          </a:solidFill>
          <a:ln/>
        </p:spPr>
        <p:txBody>
          <a:bodyPr/>
          <a:lstStyle/>
          <a:p>
            <a:endParaRPr lang="ko-KR" altLang="en-US"/>
          </a:p>
        </p:txBody>
      </p:sp>
      <p:sp>
        <p:nvSpPr>
          <p:cNvPr id="7" name="Text 4"/>
          <p:cNvSpPr txBox="1"/>
          <p:nvPr/>
        </p:nvSpPr>
        <p:spPr>
          <a:xfrm>
            <a:off x="2109521" y="1700784"/>
            <a:ext cx="290322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 분리형(저장소 따로)</a:t>
            </a:r>
            <a:endParaRPr lang="en-US" sz="1500" dirty="0"/>
          </a:p>
        </p:txBody>
      </p:sp>
      <p:sp>
        <p:nvSpPr>
          <p:cNvPr id="8" name="Shape 5"/>
          <p:cNvSpPr/>
          <p:nvPr/>
        </p:nvSpPr>
        <p:spPr>
          <a:xfrm>
            <a:off x="2109521" y="2157984"/>
            <a:ext cx="918972"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9" name="Text 6"/>
          <p:cNvSpPr txBox="1"/>
          <p:nvPr/>
        </p:nvSpPr>
        <p:spPr>
          <a:xfrm>
            <a:off x="2109521" y="2194560"/>
            <a:ext cx="918972" cy="310896"/>
          </a:xfrm>
          <a:prstGeom prst="rect">
            <a:avLst/>
          </a:prstGeom>
          <a:no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벡터 DB</a:t>
            </a:r>
            <a:endParaRPr lang="en-US" sz="1400" dirty="0"/>
          </a:p>
        </p:txBody>
      </p:sp>
      <p:sp>
        <p:nvSpPr>
          <p:cNvPr id="10" name="Shape 7"/>
          <p:cNvSpPr/>
          <p:nvPr/>
        </p:nvSpPr>
        <p:spPr>
          <a:xfrm>
            <a:off x="2164385" y="2560320"/>
            <a:ext cx="809244" cy="310896"/>
          </a:xfrm>
          <a:prstGeom prst="roundRect">
            <a:avLst>
              <a:gd name="adj" fmla="val 14706"/>
            </a:avLst>
          </a:prstGeom>
          <a:solidFill>
            <a:srgbClr val="2E74C6"/>
          </a:solidFill>
          <a:ln/>
        </p:spPr>
        <p:txBody>
          <a:bodyPr/>
          <a:lstStyle/>
          <a:p>
            <a:endParaRPr lang="ko-KR" altLang="en-US"/>
          </a:p>
        </p:txBody>
      </p:sp>
      <p:sp>
        <p:nvSpPr>
          <p:cNvPr id="11" name="Text 8"/>
          <p:cNvSpPr txBox="1"/>
          <p:nvPr/>
        </p:nvSpPr>
        <p:spPr>
          <a:xfrm>
            <a:off x="2164385" y="2560320"/>
            <a:ext cx="809244"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12" name="Shape 9"/>
          <p:cNvSpPr/>
          <p:nvPr/>
        </p:nvSpPr>
        <p:spPr>
          <a:xfrm>
            <a:off x="3101645" y="2157984"/>
            <a:ext cx="918972"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13" name="Text 10"/>
          <p:cNvSpPr txBox="1"/>
          <p:nvPr/>
        </p:nvSpPr>
        <p:spPr>
          <a:xfrm>
            <a:off x="3101645" y="2194560"/>
            <a:ext cx="918972" cy="310896"/>
          </a:xfrm>
          <a:prstGeom prst="rect">
            <a:avLst/>
          </a:prstGeom>
          <a:no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키워드 색인</a:t>
            </a:r>
            <a:endParaRPr lang="en-US" sz="1400" dirty="0"/>
          </a:p>
        </p:txBody>
      </p:sp>
      <p:sp>
        <p:nvSpPr>
          <p:cNvPr id="14" name="Shape 11"/>
          <p:cNvSpPr/>
          <p:nvPr/>
        </p:nvSpPr>
        <p:spPr>
          <a:xfrm>
            <a:off x="3156509" y="2560320"/>
            <a:ext cx="809244" cy="310896"/>
          </a:xfrm>
          <a:prstGeom prst="roundRect">
            <a:avLst>
              <a:gd name="adj" fmla="val 14706"/>
            </a:avLst>
          </a:prstGeom>
          <a:solidFill>
            <a:srgbClr val="1E2A5C"/>
          </a:solidFill>
          <a:ln/>
        </p:spPr>
        <p:txBody>
          <a:bodyPr/>
          <a:lstStyle/>
          <a:p>
            <a:endParaRPr lang="ko-KR" altLang="en-US"/>
          </a:p>
        </p:txBody>
      </p:sp>
      <p:sp>
        <p:nvSpPr>
          <p:cNvPr id="15" name="Text 12"/>
          <p:cNvSpPr txBox="1"/>
          <p:nvPr/>
        </p:nvSpPr>
        <p:spPr>
          <a:xfrm>
            <a:off x="3156509" y="2560320"/>
            <a:ext cx="809244"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16" name="Shape 13"/>
          <p:cNvSpPr/>
          <p:nvPr/>
        </p:nvSpPr>
        <p:spPr>
          <a:xfrm>
            <a:off x="4093769" y="2157984"/>
            <a:ext cx="918972"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17" name="Text 14"/>
          <p:cNvSpPr txBox="1"/>
          <p:nvPr/>
        </p:nvSpPr>
        <p:spPr>
          <a:xfrm>
            <a:off x="4093769" y="2194560"/>
            <a:ext cx="918972" cy="310896"/>
          </a:xfrm>
          <a:prstGeom prst="rect">
            <a:avLst/>
          </a:prstGeom>
          <a:no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18" name="Shape 15"/>
          <p:cNvSpPr/>
          <p:nvPr/>
        </p:nvSpPr>
        <p:spPr>
          <a:xfrm>
            <a:off x="4148633" y="2560320"/>
            <a:ext cx="809244" cy="310896"/>
          </a:xfrm>
          <a:prstGeom prst="roundRect">
            <a:avLst>
              <a:gd name="adj" fmla="val 14706"/>
            </a:avLst>
          </a:prstGeom>
          <a:solidFill>
            <a:srgbClr val="404155"/>
          </a:solidFill>
          <a:ln/>
        </p:spPr>
        <p:txBody>
          <a:bodyPr/>
          <a:lstStyle/>
          <a:p>
            <a:endParaRPr lang="ko-KR" altLang="en-US"/>
          </a:p>
        </p:txBody>
      </p:sp>
      <p:sp>
        <p:nvSpPr>
          <p:cNvPr id="19" name="Text 16"/>
          <p:cNvSpPr txBox="1"/>
          <p:nvPr/>
        </p:nvSpPr>
        <p:spPr>
          <a:xfrm>
            <a:off x="4148633" y="2560320"/>
            <a:ext cx="809244"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20" name="Shape 17"/>
          <p:cNvSpPr/>
          <p:nvPr/>
        </p:nvSpPr>
        <p:spPr>
          <a:xfrm>
            <a:off x="5104181" y="1655064"/>
            <a:ext cx="2994660" cy="4700016"/>
          </a:xfrm>
          <a:prstGeom prst="roundRect">
            <a:avLst>
              <a:gd name="adj" fmla="val 2443"/>
            </a:avLst>
          </a:prstGeom>
          <a:solidFill>
            <a:srgbClr val="F5F8FC"/>
          </a:solidFill>
          <a:ln w="19050">
            <a:solidFill>
              <a:srgbClr val="2E74C6"/>
            </a:solidFill>
            <a:prstDash val="solid"/>
          </a:ln>
        </p:spPr>
        <p:txBody>
          <a:bodyPr/>
          <a:lstStyle/>
          <a:p>
            <a:endParaRPr lang="ko-KR" altLang="en-US"/>
          </a:p>
        </p:txBody>
      </p:sp>
      <p:sp>
        <p:nvSpPr>
          <p:cNvPr id="21" name="Shape 18"/>
          <p:cNvSpPr/>
          <p:nvPr/>
        </p:nvSpPr>
        <p:spPr>
          <a:xfrm>
            <a:off x="5149901" y="1700784"/>
            <a:ext cx="2903220" cy="384048"/>
          </a:xfrm>
          <a:prstGeom prst="roundRect">
            <a:avLst>
              <a:gd name="adj" fmla="val 14286"/>
            </a:avLst>
          </a:prstGeom>
          <a:solidFill>
            <a:srgbClr val="2E74C6"/>
          </a:solidFill>
          <a:ln/>
        </p:spPr>
        <p:txBody>
          <a:bodyPr/>
          <a:lstStyle/>
          <a:p>
            <a:endParaRPr lang="ko-KR" altLang="en-US"/>
          </a:p>
        </p:txBody>
      </p:sp>
      <p:sp>
        <p:nvSpPr>
          <p:cNvPr id="22" name="Text 19"/>
          <p:cNvSpPr txBox="1"/>
          <p:nvPr/>
        </p:nvSpPr>
        <p:spPr>
          <a:xfrm>
            <a:off x="5149901" y="1700784"/>
            <a:ext cx="290322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1-b 분리형(검색 엔진)</a:t>
            </a:r>
            <a:endParaRPr lang="en-US" sz="1500" dirty="0"/>
          </a:p>
        </p:txBody>
      </p:sp>
      <p:sp>
        <p:nvSpPr>
          <p:cNvPr id="23" name="Shape 20"/>
          <p:cNvSpPr/>
          <p:nvPr/>
        </p:nvSpPr>
        <p:spPr>
          <a:xfrm>
            <a:off x="5149901" y="2157984"/>
            <a:ext cx="1886712"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24" name="Text 21"/>
          <p:cNvSpPr txBox="1"/>
          <p:nvPr/>
        </p:nvSpPr>
        <p:spPr>
          <a:xfrm>
            <a:off x="5149901" y="2194560"/>
            <a:ext cx="1886712" cy="310896"/>
          </a:xfrm>
          <a:prstGeom prst="rect">
            <a:avLst/>
          </a:prstGeom>
          <a:noFill/>
          <a:ln/>
        </p:spPr>
        <p:txBody>
          <a:bodyPr wrap="square" lIns="0" tIns="0" rIns="0" bIns="0" rtlCol="0" anchor="ctr"/>
          <a:lstStyle/>
          <a:p>
            <a:pPr marL="0" indent="0" algn="ctr">
              <a:buNone/>
            </a:pPr>
            <a:r>
              <a:rPr lang="en-US" sz="1400" b="1" dirty="0" err="1">
                <a:solidFill>
                  <a:srgbClr val="2B3242"/>
                </a:solidFill>
                <a:latin typeface="Pretendard" pitchFamily="34" charset="0"/>
                <a:ea typeface="Pretendard" pitchFamily="34" charset="-122"/>
                <a:cs typeface="Pretendard" pitchFamily="34" charset="-120"/>
              </a:rPr>
              <a:t>검색</a:t>
            </a:r>
            <a:r>
              <a:rPr lang="en-US" sz="1400" b="1" dirty="0">
                <a:solidFill>
                  <a:srgbClr val="2B3242"/>
                </a:solidFill>
                <a:latin typeface="Pretendard" pitchFamily="34" charset="0"/>
                <a:ea typeface="Pretendard" pitchFamily="34" charset="-122"/>
                <a:cs typeface="Pretendard" pitchFamily="34" charset="-120"/>
              </a:rPr>
              <a:t> </a:t>
            </a:r>
            <a:r>
              <a:rPr lang="en-US" sz="1400" b="1" dirty="0" err="1">
                <a:solidFill>
                  <a:srgbClr val="2B3242"/>
                </a:solidFill>
                <a:latin typeface="Pretendard" pitchFamily="34" charset="0"/>
                <a:ea typeface="Pretendard" pitchFamily="34" charset="-122"/>
                <a:cs typeface="Pretendard" pitchFamily="34" charset="-120"/>
              </a:rPr>
              <a:t>엔진</a:t>
            </a:r>
            <a:r>
              <a:rPr lang="en-US" sz="1400" b="1" dirty="0">
                <a:solidFill>
                  <a:srgbClr val="2B3242"/>
                </a:solidFill>
                <a:latin typeface="Pretendard" pitchFamily="34" charset="0"/>
                <a:ea typeface="Pretendard" pitchFamily="34" charset="-122"/>
                <a:cs typeface="Pretendard" pitchFamily="34" charset="-120"/>
              </a:rPr>
              <a:t>(</a:t>
            </a:r>
            <a:r>
              <a:rPr lang="en-US" sz="1400" b="1" dirty="0" err="1">
                <a:solidFill>
                  <a:srgbClr val="2B3242"/>
                </a:solidFill>
                <a:latin typeface="Pretendard" pitchFamily="34" charset="0"/>
                <a:ea typeface="Pretendard" pitchFamily="34" charset="-122"/>
                <a:cs typeface="Pretendard" pitchFamily="34" charset="-120"/>
              </a:rPr>
              <a:t>opensearch</a:t>
            </a:r>
            <a:r>
              <a:rPr lang="en-US" sz="1400" b="1" dirty="0">
                <a:solidFill>
                  <a:srgbClr val="2B3242"/>
                </a:solidFill>
                <a:latin typeface="Pretendard" pitchFamily="34" charset="0"/>
                <a:ea typeface="Pretendard" pitchFamily="34" charset="-122"/>
                <a:cs typeface="Pretendard" pitchFamily="34" charset="-120"/>
              </a:rPr>
              <a:t>)</a:t>
            </a:r>
            <a:endParaRPr lang="en-US" sz="1400" dirty="0"/>
          </a:p>
        </p:txBody>
      </p:sp>
      <p:sp>
        <p:nvSpPr>
          <p:cNvPr id="25" name="Shape 22"/>
          <p:cNvSpPr/>
          <p:nvPr/>
        </p:nvSpPr>
        <p:spPr>
          <a:xfrm>
            <a:off x="5204765" y="2560320"/>
            <a:ext cx="861060" cy="310896"/>
          </a:xfrm>
          <a:prstGeom prst="roundRect">
            <a:avLst>
              <a:gd name="adj" fmla="val 14706"/>
            </a:avLst>
          </a:prstGeom>
          <a:solidFill>
            <a:srgbClr val="2E74C6"/>
          </a:solidFill>
          <a:ln/>
        </p:spPr>
        <p:txBody>
          <a:bodyPr/>
          <a:lstStyle/>
          <a:p>
            <a:endParaRPr lang="ko-KR" altLang="en-US"/>
          </a:p>
        </p:txBody>
      </p:sp>
      <p:sp>
        <p:nvSpPr>
          <p:cNvPr id="26" name="Text 23"/>
          <p:cNvSpPr txBox="1"/>
          <p:nvPr/>
        </p:nvSpPr>
        <p:spPr>
          <a:xfrm>
            <a:off x="5204765" y="2560320"/>
            <a:ext cx="861060"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27" name="Shape 24"/>
          <p:cNvSpPr/>
          <p:nvPr/>
        </p:nvSpPr>
        <p:spPr>
          <a:xfrm>
            <a:off x="6120689" y="2560320"/>
            <a:ext cx="861060" cy="310896"/>
          </a:xfrm>
          <a:prstGeom prst="roundRect">
            <a:avLst>
              <a:gd name="adj" fmla="val 14706"/>
            </a:avLst>
          </a:prstGeom>
          <a:solidFill>
            <a:srgbClr val="1E2A5C"/>
          </a:solidFill>
          <a:ln/>
        </p:spPr>
        <p:txBody>
          <a:bodyPr/>
          <a:lstStyle/>
          <a:p>
            <a:endParaRPr lang="ko-KR" altLang="en-US"/>
          </a:p>
        </p:txBody>
      </p:sp>
      <p:sp>
        <p:nvSpPr>
          <p:cNvPr id="28" name="Text 25"/>
          <p:cNvSpPr txBox="1"/>
          <p:nvPr/>
        </p:nvSpPr>
        <p:spPr>
          <a:xfrm>
            <a:off x="6120689" y="2560320"/>
            <a:ext cx="861060"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29" name="Shape 26"/>
          <p:cNvSpPr/>
          <p:nvPr/>
        </p:nvSpPr>
        <p:spPr>
          <a:xfrm>
            <a:off x="7109765" y="2157984"/>
            <a:ext cx="943356"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30" name="Text 27"/>
          <p:cNvSpPr txBox="1"/>
          <p:nvPr/>
        </p:nvSpPr>
        <p:spPr>
          <a:xfrm>
            <a:off x="7109765" y="2194560"/>
            <a:ext cx="943356" cy="310896"/>
          </a:xfrm>
          <a:prstGeom prst="rect">
            <a:avLst/>
          </a:prstGeom>
          <a:no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31" name="Shape 28"/>
          <p:cNvSpPr/>
          <p:nvPr/>
        </p:nvSpPr>
        <p:spPr>
          <a:xfrm>
            <a:off x="7164629" y="2560320"/>
            <a:ext cx="833628" cy="310896"/>
          </a:xfrm>
          <a:prstGeom prst="roundRect">
            <a:avLst>
              <a:gd name="adj" fmla="val 14706"/>
            </a:avLst>
          </a:prstGeom>
          <a:solidFill>
            <a:srgbClr val="404155"/>
          </a:solidFill>
          <a:ln/>
        </p:spPr>
        <p:txBody>
          <a:bodyPr/>
          <a:lstStyle/>
          <a:p>
            <a:endParaRPr lang="ko-KR" altLang="en-US"/>
          </a:p>
        </p:txBody>
      </p:sp>
      <p:sp>
        <p:nvSpPr>
          <p:cNvPr id="32" name="Text 29"/>
          <p:cNvSpPr txBox="1"/>
          <p:nvPr/>
        </p:nvSpPr>
        <p:spPr>
          <a:xfrm>
            <a:off x="7164629" y="2560320"/>
            <a:ext cx="83362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33" name="Shape 30"/>
          <p:cNvSpPr/>
          <p:nvPr/>
        </p:nvSpPr>
        <p:spPr>
          <a:xfrm>
            <a:off x="8144561" y="1655064"/>
            <a:ext cx="2994660" cy="4700016"/>
          </a:xfrm>
          <a:prstGeom prst="roundRect">
            <a:avLst>
              <a:gd name="adj" fmla="val 2443"/>
            </a:avLst>
          </a:prstGeom>
          <a:solidFill>
            <a:srgbClr val="F5F8FC"/>
          </a:solidFill>
          <a:ln w="19050">
            <a:solidFill>
              <a:srgbClr val="2E74C6"/>
            </a:solidFill>
            <a:prstDash val="solid"/>
          </a:ln>
        </p:spPr>
        <p:txBody>
          <a:bodyPr/>
          <a:lstStyle/>
          <a:p>
            <a:endParaRPr lang="ko-KR" altLang="en-US"/>
          </a:p>
        </p:txBody>
      </p:sp>
      <p:sp>
        <p:nvSpPr>
          <p:cNvPr id="34" name="Shape 31"/>
          <p:cNvSpPr/>
          <p:nvPr/>
        </p:nvSpPr>
        <p:spPr>
          <a:xfrm>
            <a:off x="8190281" y="1700784"/>
            <a:ext cx="2903220" cy="384048"/>
          </a:xfrm>
          <a:prstGeom prst="roundRect">
            <a:avLst>
              <a:gd name="adj" fmla="val 14286"/>
            </a:avLst>
          </a:prstGeom>
          <a:solidFill>
            <a:srgbClr val="2E74C6"/>
          </a:solidFill>
          <a:ln/>
        </p:spPr>
        <p:txBody>
          <a:bodyPr/>
          <a:lstStyle/>
          <a:p>
            <a:endParaRPr lang="ko-KR" altLang="en-US"/>
          </a:p>
        </p:txBody>
      </p:sp>
      <p:sp>
        <p:nvSpPr>
          <p:cNvPr id="35" name="Text 32"/>
          <p:cNvSpPr txBox="1"/>
          <p:nvPr/>
        </p:nvSpPr>
        <p:spPr>
          <a:xfrm>
            <a:off x="8190281" y="1700784"/>
            <a:ext cx="290322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2 벡터 통합형</a:t>
            </a:r>
            <a:endParaRPr lang="en-US" sz="1500" dirty="0"/>
          </a:p>
        </p:txBody>
      </p:sp>
      <p:sp>
        <p:nvSpPr>
          <p:cNvPr id="36" name="Shape 33"/>
          <p:cNvSpPr/>
          <p:nvPr/>
        </p:nvSpPr>
        <p:spPr>
          <a:xfrm>
            <a:off x="8190281" y="2157984"/>
            <a:ext cx="1886712"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37" name="Text 34"/>
          <p:cNvSpPr txBox="1"/>
          <p:nvPr/>
        </p:nvSpPr>
        <p:spPr>
          <a:xfrm>
            <a:off x="8190281" y="2194560"/>
            <a:ext cx="1886712" cy="310896"/>
          </a:xfrm>
          <a:prstGeom prst="rect">
            <a:avLst/>
          </a:prstGeom>
          <a:no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38" name="Shape 35"/>
          <p:cNvSpPr/>
          <p:nvPr/>
        </p:nvSpPr>
        <p:spPr>
          <a:xfrm>
            <a:off x="8245145" y="2560320"/>
            <a:ext cx="861060" cy="310896"/>
          </a:xfrm>
          <a:prstGeom prst="roundRect">
            <a:avLst>
              <a:gd name="adj" fmla="val 14706"/>
            </a:avLst>
          </a:prstGeom>
          <a:solidFill>
            <a:srgbClr val="2E74C6"/>
          </a:solidFill>
          <a:ln/>
        </p:spPr>
        <p:txBody>
          <a:bodyPr/>
          <a:lstStyle/>
          <a:p>
            <a:endParaRPr lang="ko-KR" altLang="en-US"/>
          </a:p>
        </p:txBody>
      </p:sp>
      <p:sp>
        <p:nvSpPr>
          <p:cNvPr id="39" name="Text 36"/>
          <p:cNvSpPr txBox="1"/>
          <p:nvPr/>
        </p:nvSpPr>
        <p:spPr>
          <a:xfrm>
            <a:off x="8245145" y="2560320"/>
            <a:ext cx="861060"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40" name="Shape 37"/>
          <p:cNvSpPr/>
          <p:nvPr/>
        </p:nvSpPr>
        <p:spPr>
          <a:xfrm>
            <a:off x="9161069" y="2560320"/>
            <a:ext cx="861060" cy="310896"/>
          </a:xfrm>
          <a:prstGeom prst="roundRect">
            <a:avLst>
              <a:gd name="adj" fmla="val 14706"/>
            </a:avLst>
          </a:prstGeom>
          <a:solidFill>
            <a:srgbClr val="404155"/>
          </a:solidFill>
          <a:ln/>
        </p:spPr>
        <p:txBody>
          <a:bodyPr/>
          <a:lstStyle/>
          <a:p>
            <a:endParaRPr lang="ko-KR" altLang="en-US"/>
          </a:p>
        </p:txBody>
      </p:sp>
      <p:sp>
        <p:nvSpPr>
          <p:cNvPr id="41" name="Text 38"/>
          <p:cNvSpPr txBox="1"/>
          <p:nvPr/>
        </p:nvSpPr>
        <p:spPr>
          <a:xfrm>
            <a:off x="9161069" y="2560320"/>
            <a:ext cx="861060"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42" name="Shape 39"/>
          <p:cNvSpPr/>
          <p:nvPr/>
        </p:nvSpPr>
        <p:spPr>
          <a:xfrm>
            <a:off x="10150145" y="2157984"/>
            <a:ext cx="943356"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43" name="Text 40"/>
          <p:cNvSpPr txBox="1"/>
          <p:nvPr/>
        </p:nvSpPr>
        <p:spPr>
          <a:xfrm>
            <a:off x="10150145" y="2194560"/>
            <a:ext cx="943356" cy="310896"/>
          </a:xfrm>
          <a:prstGeom prst="rect">
            <a:avLst/>
          </a:prstGeom>
          <a:no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키워드 색인</a:t>
            </a:r>
            <a:endParaRPr lang="en-US" sz="1400" dirty="0"/>
          </a:p>
        </p:txBody>
      </p:sp>
      <p:sp>
        <p:nvSpPr>
          <p:cNvPr id="44" name="Shape 41"/>
          <p:cNvSpPr/>
          <p:nvPr/>
        </p:nvSpPr>
        <p:spPr>
          <a:xfrm>
            <a:off x="10205009" y="2560320"/>
            <a:ext cx="833628" cy="310896"/>
          </a:xfrm>
          <a:prstGeom prst="roundRect">
            <a:avLst>
              <a:gd name="adj" fmla="val 14706"/>
            </a:avLst>
          </a:prstGeom>
          <a:solidFill>
            <a:srgbClr val="1E2A5C"/>
          </a:solidFill>
          <a:ln/>
        </p:spPr>
        <p:txBody>
          <a:bodyPr/>
          <a:lstStyle/>
          <a:p>
            <a:endParaRPr lang="ko-KR" altLang="en-US"/>
          </a:p>
        </p:txBody>
      </p:sp>
      <p:sp>
        <p:nvSpPr>
          <p:cNvPr id="45" name="Text 42"/>
          <p:cNvSpPr txBox="1"/>
          <p:nvPr/>
        </p:nvSpPr>
        <p:spPr>
          <a:xfrm>
            <a:off x="10205009" y="2560320"/>
            <a:ext cx="83362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46" name="Shape 43"/>
          <p:cNvSpPr/>
          <p:nvPr/>
        </p:nvSpPr>
        <p:spPr>
          <a:xfrm>
            <a:off x="11184941" y="1655064"/>
            <a:ext cx="2994660" cy="4700016"/>
          </a:xfrm>
          <a:prstGeom prst="roundRect">
            <a:avLst>
              <a:gd name="adj" fmla="val 2443"/>
            </a:avLst>
          </a:prstGeom>
          <a:solidFill>
            <a:srgbClr val="F5F8FC"/>
          </a:solidFill>
          <a:ln/>
        </p:spPr>
        <p:txBody>
          <a:bodyPr/>
          <a:lstStyle/>
          <a:p>
            <a:endParaRPr lang="ko-KR" altLang="en-US"/>
          </a:p>
        </p:txBody>
      </p:sp>
      <p:sp>
        <p:nvSpPr>
          <p:cNvPr id="47" name="Shape 44"/>
          <p:cNvSpPr/>
          <p:nvPr/>
        </p:nvSpPr>
        <p:spPr>
          <a:xfrm>
            <a:off x="11230661" y="1700784"/>
            <a:ext cx="2903220" cy="384048"/>
          </a:xfrm>
          <a:prstGeom prst="roundRect">
            <a:avLst>
              <a:gd name="adj" fmla="val 14286"/>
            </a:avLst>
          </a:prstGeom>
          <a:solidFill>
            <a:srgbClr val="1E2A5C"/>
          </a:solidFill>
          <a:ln/>
        </p:spPr>
        <p:txBody>
          <a:bodyPr/>
          <a:lstStyle/>
          <a:p>
            <a:endParaRPr lang="ko-KR" altLang="en-US"/>
          </a:p>
        </p:txBody>
      </p:sp>
      <p:sp>
        <p:nvSpPr>
          <p:cNvPr id="48" name="Text 45"/>
          <p:cNvSpPr txBox="1"/>
          <p:nvPr/>
        </p:nvSpPr>
        <p:spPr>
          <a:xfrm>
            <a:off x="11230661" y="1700784"/>
            <a:ext cx="290322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 전부 통합형</a:t>
            </a:r>
            <a:endParaRPr lang="en-US" sz="1500" dirty="0"/>
          </a:p>
        </p:txBody>
      </p:sp>
      <p:sp>
        <p:nvSpPr>
          <p:cNvPr id="49" name="Shape 46"/>
          <p:cNvSpPr/>
          <p:nvPr/>
        </p:nvSpPr>
        <p:spPr>
          <a:xfrm>
            <a:off x="11230661" y="2157984"/>
            <a:ext cx="2903220" cy="786384"/>
          </a:xfrm>
          <a:prstGeom prst="roundRect">
            <a:avLst>
              <a:gd name="adj" fmla="val 6977"/>
            </a:avLst>
          </a:prstGeom>
          <a:solidFill>
            <a:srgbClr val="FFFFFF"/>
          </a:solidFill>
          <a:ln w="12700">
            <a:solidFill>
              <a:srgbClr val="4A5364"/>
            </a:solidFill>
            <a:prstDash val="solid"/>
          </a:ln>
        </p:spPr>
        <p:txBody>
          <a:bodyPr/>
          <a:lstStyle/>
          <a:p>
            <a:endParaRPr lang="ko-KR" altLang="en-US"/>
          </a:p>
        </p:txBody>
      </p:sp>
      <p:sp>
        <p:nvSpPr>
          <p:cNvPr id="50" name="Text 47"/>
          <p:cNvSpPr txBox="1"/>
          <p:nvPr/>
        </p:nvSpPr>
        <p:spPr>
          <a:xfrm>
            <a:off x="11230661" y="2194560"/>
            <a:ext cx="2903220" cy="310896"/>
          </a:xfrm>
          <a:prstGeom prst="rect">
            <a:avLst/>
          </a:prstGeom>
          <a:no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51" name="Shape 48"/>
          <p:cNvSpPr/>
          <p:nvPr/>
        </p:nvSpPr>
        <p:spPr>
          <a:xfrm>
            <a:off x="11285525" y="2560320"/>
            <a:ext cx="894588" cy="310896"/>
          </a:xfrm>
          <a:prstGeom prst="roundRect">
            <a:avLst>
              <a:gd name="adj" fmla="val 14706"/>
            </a:avLst>
          </a:prstGeom>
          <a:solidFill>
            <a:srgbClr val="2E74C6"/>
          </a:solidFill>
          <a:ln/>
        </p:spPr>
        <p:txBody>
          <a:bodyPr/>
          <a:lstStyle/>
          <a:p>
            <a:endParaRPr lang="ko-KR" altLang="en-US"/>
          </a:p>
        </p:txBody>
      </p:sp>
      <p:sp>
        <p:nvSpPr>
          <p:cNvPr id="52" name="Text 49"/>
          <p:cNvSpPr txBox="1"/>
          <p:nvPr/>
        </p:nvSpPr>
        <p:spPr>
          <a:xfrm>
            <a:off x="11285525" y="2560320"/>
            <a:ext cx="89458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53" name="Shape 50"/>
          <p:cNvSpPr/>
          <p:nvPr/>
        </p:nvSpPr>
        <p:spPr>
          <a:xfrm>
            <a:off x="12234977" y="2560320"/>
            <a:ext cx="894588" cy="310896"/>
          </a:xfrm>
          <a:prstGeom prst="roundRect">
            <a:avLst>
              <a:gd name="adj" fmla="val 14706"/>
            </a:avLst>
          </a:prstGeom>
          <a:solidFill>
            <a:srgbClr val="1E2A5C"/>
          </a:solidFill>
          <a:ln/>
        </p:spPr>
        <p:txBody>
          <a:bodyPr/>
          <a:lstStyle/>
          <a:p>
            <a:endParaRPr lang="ko-KR" altLang="en-US"/>
          </a:p>
        </p:txBody>
      </p:sp>
      <p:sp>
        <p:nvSpPr>
          <p:cNvPr id="54" name="Text 51"/>
          <p:cNvSpPr txBox="1"/>
          <p:nvPr/>
        </p:nvSpPr>
        <p:spPr>
          <a:xfrm>
            <a:off x="12234977" y="2560320"/>
            <a:ext cx="89458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55" name="Shape 52"/>
          <p:cNvSpPr/>
          <p:nvPr/>
        </p:nvSpPr>
        <p:spPr>
          <a:xfrm>
            <a:off x="13184429" y="2560320"/>
            <a:ext cx="894588" cy="310896"/>
          </a:xfrm>
          <a:prstGeom prst="roundRect">
            <a:avLst>
              <a:gd name="adj" fmla="val 14706"/>
            </a:avLst>
          </a:prstGeom>
          <a:solidFill>
            <a:srgbClr val="404155"/>
          </a:solidFill>
          <a:ln/>
        </p:spPr>
        <p:txBody>
          <a:bodyPr/>
          <a:lstStyle/>
          <a:p>
            <a:endParaRPr lang="ko-KR" altLang="en-US"/>
          </a:p>
        </p:txBody>
      </p:sp>
      <p:sp>
        <p:nvSpPr>
          <p:cNvPr id="56" name="Text 53"/>
          <p:cNvSpPr txBox="1"/>
          <p:nvPr/>
        </p:nvSpPr>
        <p:spPr>
          <a:xfrm>
            <a:off x="13184429" y="2560320"/>
            <a:ext cx="89458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57" name="Shape 54"/>
          <p:cNvSpPr/>
          <p:nvPr/>
        </p:nvSpPr>
        <p:spPr>
          <a:xfrm>
            <a:off x="509321" y="3072384"/>
            <a:ext cx="1463040" cy="530352"/>
          </a:xfrm>
          <a:prstGeom prst="roundRect">
            <a:avLst>
              <a:gd name="adj" fmla="val 10345"/>
            </a:avLst>
          </a:prstGeom>
          <a:solidFill>
            <a:srgbClr val="2E74C6"/>
          </a:solidFill>
          <a:ln/>
        </p:spPr>
        <p:txBody>
          <a:bodyPr/>
          <a:lstStyle/>
          <a:p>
            <a:endParaRPr lang="ko-KR" altLang="en-US"/>
          </a:p>
        </p:txBody>
      </p:sp>
      <p:sp>
        <p:nvSpPr>
          <p:cNvPr id="58" name="Text 55"/>
          <p:cNvSpPr txBox="1"/>
          <p:nvPr/>
        </p:nvSpPr>
        <p:spPr>
          <a:xfrm>
            <a:off x="509321" y="3072384"/>
            <a:ext cx="1463040" cy="53035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한국어 키워드</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품질</a:t>
            </a:r>
            <a:endParaRPr lang="en-US" sz="1400" dirty="0"/>
          </a:p>
        </p:txBody>
      </p:sp>
      <p:sp>
        <p:nvSpPr>
          <p:cNvPr id="59" name="Shape 56"/>
          <p:cNvSpPr/>
          <p:nvPr/>
        </p:nvSpPr>
        <p:spPr>
          <a:xfrm>
            <a:off x="2109521" y="3072384"/>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60" name="Shape 57"/>
          <p:cNvSpPr/>
          <p:nvPr/>
        </p:nvSpPr>
        <p:spPr>
          <a:xfrm>
            <a:off x="2173529" y="3191256"/>
            <a:ext cx="566928" cy="292608"/>
          </a:xfrm>
          <a:prstGeom prst="roundRect">
            <a:avLst>
              <a:gd name="adj" fmla="val 15625"/>
            </a:avLst>
          </a:prstGeom>
          <a:solidFill>
            <a:srgbClr val="2E74C6"/>
          </a:solidFill>
          <a:ln/>
        </p:spPr>
        <p:txBody>
          <a:bodyPr/>
          <a:lstStyle/>
          <a:p>
            <a:endParaRPr lang="ko-KR" altLang="en-US"/>
          </a:p>
        </p:txBody>
      </p:sp>
      <p:sp>
        <p:nvSpPr>
          <p:cNvPr id="61" name="Text 58"/>
          <p:cNvSpPr txBox="1"/>
          <p:nvPr/>
        </p:nvSpPr>
        <p:spPr>
          <a:xfrm>
            <a:off x="2173529" y="3191256"/>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62" name="Text 59"/>
          <p:cNvSpPr txBox="1"/>
          <p:nvPr/>
        </p:nvSpPr>
        <p:spPr>
          <a:xfrm>
            <a:off x="2804465" y="3072384"/>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형태소 분석기를</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골라 씀(예: Kiwi)</a:t>
            </a:r>
            <a:endParaRPr lang="en-US" sz="1400" dirty="0"/>
          </a:p>
        </p:txBody>
      </p:sp>
      <p:sp>
        <p:nvSpPr>
          <p:cNvPr id="63" name="Shape 60"/>
          <p:cNvSpPr/>
          <p:nvPr/>
        </p:nvSpPr>
        <p:spPr>
          <a:xfrm>
            <a:off x="5149901" y="3072384"/>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64" name="Shape 61"/>
          <p:cNvSpPr/>
          <p:nvPr/>
        </p:nvSpPr>
        <p:spPr>
          <a:xfrm>
            <a:off x="5213909" y="3191256"/>
            <a:ext cx="566928" cy="292608"/>
          </a:xfrm>
          <a:prstGeom prst="roundRect">
            <a:avLst>
              <a:gd name="adj" fmla="val 15625"/>
            </a:avLst>
          </a:prstGeom>
          <a:solidFill>
            <a:srgbClr val="2E74C6"/>
          </a:solidFill>
          <a:ln/>
        </p:spPr>
        <p:txBody>
          <a:bodyPr/>
          <a:lstStyle/>
          <a:p>
            <a:endParaRPr lang="ko-KR" altLang="en-US"/>
          </a:p>
        </p:txBody>
      </p:sp>
      <p:sp>
        <p:nvSpPr>
          <p:cNvPr id="65" name="Text 62"/>
          <p:cNvSpPr txBox="1"/>
          <p:nvPr/>
        </p:nvSpPr>
        <p:spPr>
          <a:xfrm>
            <a:off x="5213909" y="3191256"/>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66" name="Text 63"/>
          <p:cNvSpPr txBox="1"/>
          <p:nvPr/>
        </p:nvSpPr>
        <p:spPr>
          <a:xfrm>
            <a:off x="5844845" y="3072384"/>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nori 공식 플러그인과</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사용자 사전</a:t>
            </a:r>
            <a:endParaRPr lang="en-US" sz="1400" dirty="0"/>
          </a:p>
        </p:txBody>
      </p:sp>
      <p:sp>
        <p:nvSpPr>
          <p:cNvPr id="67" name="Shape 64"/>
          <p:cNvSpPr/>
          <p:nvPr/>
        </p:nvSpPr>
        <p:spPr>
          <a:xfrm>
            <a:off x="8190281" y="3072384"/>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68" name="Shape 65"/>
          <p:cNvSpPr/>
          <p:nvPr/>
        </p:nvSpPr>
        <p:spPr>
          <a:xfrm>
            <a:off x="8254289" y="3191256"/>
            <a:ext cx="566928" cy="292608"/>
          </a:xfrm>
          <a:prstGeom prst="roundRect">
            <a:avLst>
              <a:gd name="adj" fmla="val 15625"/>
            </a:avLst>
          </a:prstGeom>
          <a:solidFill>
            <a:srgbClr val="2E74C6"/>
          </a:solidFill>
          <a:ln/>
        </p:spPr>
        <p:txBody>
          <a:bodyPr/>
          <a:lstStyle/>
          <a:p>
            <a:endParaRPr lang="ko-KR" altLang="en-US"/>
          </a:p>
        </p:txBody>
      </p:sp>
      <p:sp>
        <p:nvSpPr>
          <p:cNvPr id="69" name="Text 66"/>
          <p:cNvSpPr txBox="1"/>
          <p:nvPr/>
        </p:nvSpPr>
        <p:spPr>
          <a:xfrm>
            <a:off x="8254289" y="3191256"/>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70" name="Text 67"/>
          <p:cNvSpPr txBox="1"/>
          <p:nvPr/>
        </p:nvSpPr>
        <p:spPr>
          <a:xfrm>
            <a:off x="8885225" y="3072384"/>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형태소 분석기를</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골라 씀</a:t>
            </a:r>
            <a:endParaRPr lang="en-US" sz="1400" dirty="0"/>
          </a:p>
        </p:txBody>
      </p:sp>
      <p:sp>
        <p:nvSpPr>
          <p:cNvPr id="71" name="Shape 68"/>
          <p:cNvSpPr/>
          <p:nvPr/>
        </p:nvSpPr>
        <p:spPr>
          <a:xfrm>
            <a:off x="11230661" y="3072384"/>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72" name="Shape 69"/>
          <p:cNvSpPr/>
          <p:nvPr/>
        </p:nvSpPr>
        <p:spPr>
          <a:xfrm>
            <a:off x="11294669" y="3191256"/>
            <a:ext cx="566928" cy="292608"/>
          </a:xfrm>
          <a:prstGeom prst="roundRect">
            <a:avLst>
              <a:gd name="adj" fmla="val 15625"/>
            </a:avLst>
          </a:prstGeom>
          <a:solidFill>
            <a:srgbClr val="404155"/>
          </a:solidFill>
          <a:ln/>
        </p:spPr>
        <p:txBody>
          <a:bodyPr/>
          <a:lstStyle/>
          <a:p>
            <a:endParaRPr lang="ko-KR" altLang="en-US"/>
          </a:p>
        </p:txBody>
      </p:sp>
      <p:sp>
        <p:nvSpPr>
          <p:cNvPr id="73" name="Text 70"/>
          <p:cNvSpPr txBox="1"/>
          <p:nvPr/>
        </p:nvSpPr>
        <p:spPr>
          <a:xfrm>
            <a:off x="11294669" y="3191256"/>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74" name="Text 71"/>
          <p:cNvSpPr txBox="1"/>
          <p:nvPr/>
        </p:nvSpPr>
        <p:spPr>
          <a:xfrm>
            <a:off x="11925605" y="3072384"/>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한국어 분석기 없음,</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미리 나누거나 직접 개발</a:t>
            </a:r>
            <a:endParaRPr lang="en-US" sz="1400" dirty="0"/>
          </a:p>
        </p:txBody>
      </p:sp>
      <p:sp>
        <p:nvSpPr>
          <p:cNvPr id="75" name="Shape 72"/>
          <p:cNvSpPr/>
          <p:nvPr/>
        </p:nvSpPr>
        <p:spPr>
          <a:xfrm>
            <a:off x="509321" y="3657600"/>
            <a:ext cx="1463040" cy="530352"/>
          </a:xfrm>
          <a:prstGeom prst="roundRect">
            <a:avLst>
              <a:gd name="adj" fmla="val 10345"/>
            </a:avLst>
          </a:prstGeom>
          <a:solidFill>
            <a:srgbClr val="2E74C6"/>
          </a:solidFill>
          <a:ln/>
        </p:spPr>
        <p:txBody>
          <a:bodyPr/>
          <a:lstStyle/>
          <a:p>
            <a:endParaRPr lang="ko-KR" altLang="en-US"/>
          </a:p>
        </p:txBody>
      </p:sp>
      <p:sp>
        <p:nvSpPr>
          <p:cNvPr id="76" name="Text 73"/>
          <p:cNvSpPr txBox="1"/>
          <p:nvPr/>
        </p:nvSpPr>
        <p:spPr>
          <a:xfrm>
            <a:off x="509321" y="3657600"/>
            <a:ext cx="1463040" cy="53035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운영:</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저장소와 장애</a:t>
            </a:r>
            <a:endParaRPr lang="en-US" sz="1400" dirty="0"/>
          </a:p>
        </p:txBody>
      </p:sp>
      <p:sp>
        <p:nvSpPr>
          <p:cNvPr id="77" name="Shape 74"/>
          <p:cNvSpPr/>
          <p:nvPr/>
        </p:nvSpPr>
        <p:spPr>
          <a:xfrm>
            <a:off x="2109521" y="3657600"/>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78" name="Shape 75"/>
          <p:cNvSpPr/>
          <p:nvPr/>
        </p:nvSpPr>
        <p:spPr>
          <a:xfrm>
            <a:off x="2173529" y="3776472"/>
            <a:ext cx="566928" cy="292608"/>
          </a:xfrm>
          <a:prstGeom prst="roundRect">
            <a:avLst>
              <a:gd name="adj" fmla="val 15625"/>
            </a:avLst>
          </a:prstGeom>
          <a:solidFill>
            <a:srgbClr val="4A5364"/>
          </a:solidFill>
          <a:ln/>
        </p:spPr>
        <p:txBody>
          <a:bodyPr/>
          <a:lstStyle/>
          <a:p>
            <a:endParaRPr lang="ko-KR" altLang="en-US"/>
          </a:p>
        </p:txBody>
      </p:sp>
      <p:sp>
        <p:nvSpPr>
          <p:cNvPr id="79" name="Text 76"/>
          <p:cNvSpPr txBox="1"/>
          <p:nvPr/>
        </p:nvSpPr>
        <p:spPr>
          <a:xfrm>
            <a:off x="2173529" y="3776472"/>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80" name="Text 77"/>
          <p:cNvSpPr txBox="1"/>
          <p:nvPr/>
        </p:nvSpPr>
        <p:spPr>
          <a:xfrm>
            <a:off x="2804465" y="3657600"/>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3곳 운영,</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한 곳 멈춰도 나머지 검색</a:t>
            </a:r>
            <a:endParaRPr lang="en-US" sz="1400" dirty="0"/>
          </a:p>
        </p:txBody>
      </p:sp>
      <p:sp>
        <p:nvSpPr>
          <p:cNvPr id="81" name="Shape 78"/>
          <p:cNvSpPr/>
          <p:nvPr/>
        </p:nvSpPr>
        <p:spPr>
          <a:xfrm>
            <a:off x="5149901" y="3657600"/>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82" name="Shape 79"/>
          <p:cNvSpPr/>
          <p:nvPr/>
        </p:nvSpPr>
        <p:spPr>
          <a:xfrm>
            <a:off x="5213909" y="3776472"/>
            <a:ext cx="566928" cy="292608"/>
          </a:xfrm>
          <a:prstGeom prst="roundRect">
            <a:avLst>
              <a:gd name="adj" fmla="val 15625"/>
            </a:avLst>
          </a:prstGeom>
          <a:solidFill>
            <a:srgbClr val="2E74C6"/>
          </a:solidFill>
          <a:ln/>
        </p:spPr>
        <p:txBody>
          <a:bodyPr/>
          <a:lstStyle/>
          <a:p>
            <a:endParaRPr lang="ko-KR" altLang="en-US"/>
          </a:p>
        </p:txBody>
      </p:sp>
      <p:sp>
        <p:nvSpPr>
          <p:cNvPr id="83" name="Text 80"/>
          <p:cNvSpPr txBox="1"/>
          <p:nvPr/>
        </p:nvSpPr>
        <p:spPr>
          <a:xfrm>
            <a:off x="5213909" y="3776472"/>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84" name="Text 81"/>
          <p:cNvSpPr txBox="1"/>
          <p:nvPr/>
        </p:nvSpPr>
        <p:spPr>
          <a:xfrm>
            <a:off x="5844845" y="3657600"/>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2곳, 검색 엔진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복제로 장애 대비</a:t>
            </a:r>
            <a:endParaRPr lang="en-US" sz="1400" dirty="0"/>
          </a:p>
        </p:txBody>
      </p:sp>
      <p:sp>
        <p:nvSpPr>
          <p:cNvPr id="85" name="Shape 82"/>
          <p:cNvSpPr/>
          <p:nvPr/>
        </p:nvSpPr>
        <p:spPr>
          <a:xfrm>
            <a:off x="8190281" y="3657600"/>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86" name="Shape 83"/>
          <p:cNvSpPr/>
          <p:nvPr/>
        </p:nvSpPr>
        <p:spPr>
          <a:xfrm>
            <a:off x="8254289" y="3776472"/>
            <a:ext cx="566928" cy="292608"/>
          </a:xfrm>
          <a:prstGeom prst="roundRect">
            <a:avLst>
              <a:gd name="adj" fmla="val 15625"/>
            </a:avLst>
          </a:prstGeom>
          <a:solidFill>
            <a:srgbClr val="4A5364"/>
          </a:solidFill>
          <a:ln/>
        </p:spPr>
        <p:txBody>
          <a:bodyPr/>
          <a:lstStyle/>
          <a:p>
            <a:endParaRPr lang="ko-KR" altLang="en-US"/>
          </a:p>
        </p:txBody>
      </p:sp>
      <p:sp>
        <p:nvSpPr>
          <p:cNvPr id="87" name="Text 84"/>
          <p:cNvSpPr txBox="1"/>
          <p:nvPr/>
        </p:nvSpPr>
        <p:spPr>
          <a:xfrm>
            <a:off x="8254289" y="3776472"/>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88" name="Text 85"/>
          <p:cNvSpPr txBox="1"/>
          <p:nvPr/>
        </p:nvSpPr>
        <p:spPr>
          <a:xfrm>
            <a:off x="8885225" y="3657600"/>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2곳, Neo4j 멈추면</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벡터와 그래프 함께 멈춤</a:t>
            </a:r>
            <a:endParaRPr lang="en-US" sz="1400" dirty="0"/>
          </a:p>
        </p:txBody>
      </p:sp>
      <p:sp>
        <p:nvSpPr>
          <p:cNvPr id="89" name="Shape 86"/>
          <p:cNvSpPr/>
          <p:nvPr/>
        </p:nvSpPr>
        <p:spPr>
          <a:xfrm>
            <a:off x="11230661" y="3657600"/>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90" name="Shape 87"/>
          <p:cNvSpPr/>
          <p:nvPr/>
        </p:nvSpPr>
        <p:spPr>
          <a:xfrm>
            <a:off x="11294669" y="3776472"/>
            <a:ext cx="566928" cy="292608"/>
          </a:xfrm>
          <a:prstGeom prst="roundRect">
            <a:avLst>
              <a:gd name="adj" fmla="val 15625"/>
            </a:avLst>
          </a:prstGeom>
          <a:solidFill>
            <a:srgbClr val="404155"/>
          </a:solidFill>
          <a:ln/>
        </p:spPr>
        <p:txBody>
          <a:bodyPr/>
          <a:lstStyle/>
          <a:p>
            <a:endParaRPr lang="ko-KR" altLang="en-US"/>
          </a:p>
        </p:txBody>
      </p:sp>
      <p:sp>
        <p:nvSpPr>
          <p:cNvPr id="91" name="Text 88"/>
          <p:cNvSpPr txBox="1"/>
          <p:nvPr/>
        </p:nvSpPr>
        <p:spPr>
          <a:xfrm>
            <a:off x="11294669" y="3776472"/>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92" name="Text 89"/>
          <p:cNvSpPr txBox="1"/>
          <p:nvPr/>
        </p:nvSpPr>
        <p:spPr>
          <a:xfrm>
            <a:off x="11925605" y="3657600"/>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1곳으로 단순,</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멈추면 검색 전부 멈춤</a:t>
            </a:r>
            <a:endParaRPr lang="en-US" sz="1400" dirty="0"/>
          </a:p>
        </p:txBody>
      </p:sp>
      <p:sp>
        <p:nvSpPr>
          <p:cNvPr id="93" name="Shape 90"/>
          <p:cNvSpPr/>
          <p:nvPr/>
        </p:nvSpPr>
        <p:spPr>
          <a:xfrm>
            <a:off x="509321" y="4242816"/>
            <a:ext cx="1463040" cy="530352"/>
          </a:xfrm>
          <a:prstGeom prst="roundRect">
            <a:avLst>
              <a:gd name="adj" fmla="val 10345"/>
            </a:avLst>
          </a:prstGeom>
          <a:solidFill>
            <a:srgbClr val="2E74C6"/>
          </a:solidFill>
          <a:ln/>
        </p:spPr>
        <p:txBody>
          <a:bodyPr/>
          <a:lstStyle/>
          <a:p>
            <a:endParaRPr lang="ko-KR" altLang="en-US"/>
          </a:p>
        </p:txBody>
      </p:sp>
      <p:sp>
        <p:nvSpPr>
          <p:cNvPr id="94" name="Text 91"/>
          <p:cNvSpPr txBox="1"/>
          <p:nvPr/>
        </p:nvSpPr>
        <p:spPr>
          <a:xfrm>
            <a:off x="509321" y="4242816"/>
            <a:ext cx="1463040" cy="53035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운영:</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규모와 백업</a:t>
            </a:r>
            <a:endParaRPr lang="en-US" sz="1400" dirty="0"/>
          </a:p>
        </p:txBody>
      </p:sp>
      <p:sp>
        <p:nvSpPr>
          <p:cNvPr id="95" name="Shape 92"/>
          <p:cNvSpPr/>
          <p:nvPr/>
        </p:nvSpPr>
        <p:spPr>
          <a:xfrm>
            <a:off x="2109521" y="4242816"/>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96" name="Shape 93"/>
          <p:cNvSpPr/>
          <p:nvPr/>
        </p:nvSpPr>
        <p:spPr>
          <a:xfrm>
            <a:off x="2173529" y="4361688"/>
            <a:ext cx="566928" cy="292608"/>
          </a:xfrm>
          <a:prstGeom prst="roundRect">
            <a:avLst>
              <a:gd name="adj" fmla="val 15625"/>
            </a:avLst>
          </a:prstGeom>
          <a:solidFill>
            <a:srgbClr val="4A5364"/>
          </a:solidFill>
          <a:ln/>
        </p:spPr>
        <p:txBody>
          <a:bodyPr/>
          <a:lstStyle/>
          <a:p>
            <a:endParaRPr lang="ko-KR" altLang="en-US"/>
          </a:p>
        </p:txBody>
      </p:sp>
      <p:sp>
        <p:nvSpPr>
          <p:cNvPr id="97" name="Text 94"/>
          <p:cNvSpPr txBox="1"/>
          <p:nvPr/>
        </p:nvSpPr>
        <p:spPr>
          <a:xfrm>
            <a:off x="2173529" y="4361688"/>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98" name="Text 95"/>
          <p:cNvSpPr txBox="1"/>
          <p:nvPr/>
        </p:nvSpPr>
        <p:spPr>
          <a:xfrm>
            <a:off x="2804465" y="4242816"/>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저장소마다 확장과</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백업을 따로 함</a:t>
            </a:r>
            <a:endParaRPr lang="en-US" sz="1400" dirty="0"/>
          </a:p>
        </p:txBody>
      </p:sp>
      <p:sp>
        <p:nvSpPr>
          <p:cNvPr id="99" name="Shape 96"/>
          <p:cNvSpPr/>
          <p:nvPr/>
        </p:nvSpPr>
        <p:spPr>
          <a:xfrm>
            <a:off x="5149901" y="4242816"/>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100" name="Shape 97"/>
          <p:cNvSpPr/>
          <p:nvPr/>
        </p:nvSpPr>
        <p:spPr>
          <a:xfrm>
            <a:off x="5213909" y="4361688"/>
            <a:ext cx="566928" cy="292608"/>
          </a:xfrm>
          <a:prstGeom prst="roundRect">
            <a:avLst>
              <a:gd name="adj" fmla="val 15625"/>
            </a:avLst>
          </a:prstGeom>
          <a:solidFill>
            <a:srgbClr val="2E74C6"/>
          </a:solidFill>
          <a:ln/>
        </p:spPr>
        <p:txBody>
          <a:bodyPr/>
          <a:lstStyle/>
          <a:p>
            <a:endParaRPr lang="ko-KR" altLang="en-US"/>
          </a:p>
        </p:txBody>
      </p:sp>
      <p:sp>
        <p:nvSpPr>
          <p:cNvPr id="101" name="Text 98"/>
          <p:cNvSpPr txBox="1"/>
          <p:nvPr/>
        </p:nvSpPr>
        <p:spPr>
          <a:xfrm>
            <a:off x="5213909" y="4361688"/>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02" name="Text 99"/>
          <p:cNvSpPr txBox="1"/>
          <p:nvPr/>
        </p:nvSpPr>
        <p:spPr>
          <a:xfrm>
            <a:off x="5844845" y="4242816"/>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대규모, 필터,</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백업 기능 갖춤</a:t>
            </a:r>
            <a:endParaRPr lang="en-US" sz="1400" dirty="0"/>
          </a:p>
        </p:txBody>
      </p:sp>
      <p:sp>
        <p:nvSpPr>
          <p:cNvPr id="103" name="Shape 100"/>
          <p:cNvSpPr/>
          <p:nvPr/>
        </p:nvSpPr>
        <p:spPr>
          <a:xfrm>
            <a:off x="8190281" y="4242816"/>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104" name="Shape 101"/>
          <p:cNvSpPr/>
          <p:nvPr/>
        </p:nvSpPr>
        <p:spPr>
          <a:xfrm>
            <a:off x="8254289" y="4361688"/>
            <a:ext cx="566928" cy="292608"/>
          </a:xfrm>
          <a:prstGeom prst="roundRect">
            <a:avLst>
              <a:gd name="adj" fmla="val 15625"/>
            </a:avLst>
          </a:prstGeom>
          <a:solidFill>
            <a:srgbClr val="4A5364"/>
          </a:solidFill>
          <a:ln/>
        </p:spPr>
        <p:txBody>
          <a:bodyPr/>
          <a:lstStyle/>
          <a:p>
            <a:endParaRPr lang="ko-KR" altLang="en-US"/>
          </a:p>
        </p:txBody>
      </p:sp>
      <p:sp>
        <p:nvSpPr>
          <p:cNvPr id="105" name="Text 102"/>
          <p:cNvSpPr txBox="1"/>
          <p:nvPr/>
        </p:nvSpPr>
        <p:spPr>
          <a:xfrm>
            <a:off x="8254289" y="4361688"/>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06" name="Text 103"/>
          <p:cNvSpPr txBox="1"/>
          <p:nvPr/>
        </p:nvSpPr>
        <p:spPr>
          <a:xfrm>
            <a:off x="8885225" y="4242816"/>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Community는 온라인</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백업과 클러스터 없음</a:t>
            </a:r>
            <a:endParaRPr lang="en-US" sz="1400" dirty="0"/>
          </a:p>
        </p:txBody>
      </p:sp>
      <p:sp>
        <p:nvSpPr>
          <p:cNvPr id="107" name="Shape 104"/>
          <p:cNvSpPr/>
          <p:nvPr/>
        </p:nvSpPr>
        <p:spPr>
          <a:xfrm>
            <a:off x="11230661" y="4242816"/>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108" name="Shape 105"/>
          <p:cNvSpPr/>
          <p:nvPr/>
        </p:nvSpPr>
        <p:spPr>
          <a:xfrm>
            <a:off x="11294669" y="4361688"/>
            <a:ext cx="566928" cy="292608"/>
          </a:xfrm>
          <a:prstGeom prst="roundRect">
            <a:avLst>
              <a:gd name="adj" fmla="val 15625"/>
            </a:avLst>
          </a:prstGeom>
          <a:solidFill>
            <a:srgbClr val="404155"/>
          </a:solidFill>
          <a:ln/>
        </p:spPr>
        <p:txBody>
          <a:bodyPr/>
          <a:lstStyle/>
          <a:p>
            <a:endParaRPr lang="ko-KR" altLang="en-US"/>
          </a:p>
        </p:txBody>
      </p:sp>
      <p:sp>
        <p:nvSpPr>
          <p:cNvPr id="109" name="Text 106"/>
          <p:cNvSpPr txBox="1"/>
          <p:nvPr/>
        </p:nvSpPr>
        <p:spPr>
          <a:xfrm>
            <a:off x="11294669" y="4361688"/>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110" name="Text 107"/>
          <p:cNvSpPr txBox="1"/>
          <p:nvPr/>
        </p:nvSpPr>
        <p:spPr>
          <a:xfrm>
            <a:off x="11925605" y="4242816"/>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같은 제약에 키워드</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색인까지 몰림</a:t>
            </a:r>
            <a:endParaRPr lang="en-US" sz="1400" dirty="0"/>
          </a:p>
        </p:txBody>
      </p:sp>
      <p:sp>
        <p:nvSpPr>
          <p:cNvPr id="111" name="Shape 108"/>
          <p:cNvSpPr/>
          <p:nvPr/>
        </p:nvSpPr>
        <p:spPr>
          <a:xfrm>
            <a:off x="509321" y="4828032"/>
            <a:ext cx="1463040" cy="896112"/>
          </a:xfrm>
          <a:prstGeom prst="roundRect">
            <a:avLst>
              <a:gd name="adj" fmla="val 6122"/>
            </a:avLst>
          </a:prstGeom>
          <a:solidFill>
            <a:srgbClr val="2E74C6"/>
          </a:solidFill>
          <a:ln/>
        </p:spPr>
        <p:txBody>
          <a:bodyPr/>
          <a:lstStyle/>
          <a:p>
            <a:endParaRPr lang="ko-KR" altLang="en-US"/>
          </a:p>
        </p:txBody>
      </p:sp>
      <p:sp>
        <p:nvSpPr>
          <p:cNvPr id="112" name="Text 109"/>
          <p:cNvSpPr txBox="1"/>
          <p:nvPr/>
        </p:nvSpPr>
        <p:spPr>
          <a:xfrm>
            <a:off x="509321" y="4828032"/>
            <a:ext cx="1463040" cy="89611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운영:</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증분 색인</a:t>
            </a:r>
            <a:endParaRPr lang="en-US" sz="1400" dirty="0"/>
          </a:p>
        </p:txBody>
      </p:sp>
      <p:sp>
        <p:nvSpPr>
          <p:cNvPr id="113" name="Shape 110"/>
          <p:cNvSpPr/>
          <p:nvPr/>
        </p:nvSpPr>
        <p:spPr>
          <a:xfrm>
            <a:off x="2109521" y="4828032"/>
            <a:ext cx="2903220" cy="896112"/>
          </a:xfrm>
          <a:prstGeom prst="roundRect">
            <a:avLst>
              <a:gd name="adj" fmla="val 5102"/>
            </a:avLst>
          </a:prstGeom>
          <a:solidFill>
            <a:srgbClr val="FFFFFF"/>
          </a:solidFill>
          <a:ln w="12700">
            <a:solidFill>
              <a:srgbClr val="D9E0EC"/>
            </a:solidFill>
            <a:prstDash val="solid"/>
          </a:ln>
        </p:spPr>
        <p:txBody>
          <a:bodyPr/>
          <a:lstStyle/>
          <a:p>
            <a:endParaRPr lang="ko-KR" altLang="en-US"/>
          </a:p>
        </p:txBody>
      </p:sp>
      <p:sp>
        <p:nvSpPr>
          <p:cNvPr id="114" name="Shape 111"/>
          <p:cNvSpPr/>
          <p:nvPr/>
        </p:nvSpPr>
        <p:spPr>
          <a:xfrm>
            <a:off x="2173529" y="5129784"/>
            <a:ext cx="566928" cy="292608"/>
          </a:xfrm>
          <a:prstGeom prst="roundRect">
            <a:avLst>
              <a:gd name="adj" fmla="val 15625"/>
            </a:avLst>
          </a:prstGeom>
          <a:solidFill>
            <a:srgbClr val="404155"/>
          </a:solidFill>
          <a:ln/>
        </p:spPr>
        <p:txBody>
          <a:bodyPr/>
          <a:lstStyle/>
          <a:p>
            <a:endParaRPr lang="ko-KR" altLang="en-US"/>
          </a:p>
        </p:txBody>
      </p:sp>
      <p:sp>
        <p:nvSpPr>
          <p:cNvPr id="115" name="Text 112"/>
          <p:cNvSpPr txBox="1"/>
          <p:nvPr/>
        </p:nvSpPr>
        <p:spPr>
          <a:xfrm>
            <a:off x="2173529" y="5129784"/>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116" name="Text 113"/>
          <p:cNvSpPr txBox="1"/>
          <p:nvPr/>
        </p:nvSpPr>
        <p:spPr>
          <a:xfrm>
            <a:off x="2804465" y="4828032"/>
            <a:ext cx="2171700" cy="89611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지원: 벡터와 그래프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키워드는 도구 따라 다름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3곳에 따로 쓰고 맞춤</a:t>
            </a:r>
            <a:endParaRPr lang="en-US" sz="1400" dirty="0"/>
          </a:p>
        </p:txBody>
      </p:sp>
      <p:sp>
        <p:nvSpPr>
          <p:cNvPr id="117" name="Shape 114"/>
          <p:cNvSpPr/>
          <p:nvPr/>
        </p:nvSpPr>
        <p:spPr>
          <a:xfrm>
            <a:off x="5149901" y="4828032"/>
            <a:ext cx="2903220" cy="896112"/>
          </a:xfrm>
          <a:prstGeom prst="roundRect">
            <a:avLst>
              <a:gd name="adj" fmla="val 5102"/>
            </a:avLst>
          </a:prstGeom>
          <a:solidFill>
            <a:srgbClr val="FFFFFF"/>
          </a:solidFill>
          <a:ln w="12700">
            <a:solidFill>
              <a:srgbClr val="D9E0EC"/>
            </a:solidFill>
            <a:prstDash val="solid"/>
          </a:ln>
        </p:spPr>
        <p:txBody>
          <a:bodyPr/>
          <a:lstStyle/>
          <a:p>
            <a:endParaRPr lang="ko-KR" altLang="en-US"/>
          </a:p>
        </p:txBody>
      </p:sp>
      <p:sp>
        <p:nvSpPr>
          <p:cNvPr id="118" name="Shape 115"/>
          <p:cNvSpPr/>
          <p:nvPr/>
        </p:nvSpPr>
        <p:spPr>
          <a:xfrm>
            <a:off x="5213909" y="5129784"/>
            <a:ext cx="566928" cy="292608"/>
          </a:xfrm>
          <a:prstGeom prst="roundRect">
            <a:avLst>
              <a:gd name="adj" fmla="val 15625"/>
            </a:avLst>
          </a:prstGeom>
          <a:solidFill>
            <a:srgbClr val="4A5364"/>
          </a:solidFill>
          <a:ln/>
        </p:spPr>
        <p:txBody>
          <a:bodyPr/>
          <a:lstStyle/>
          <a:p>
            <a:endParaRPr lang="ko-KR" altLang="en-US"/>
          </a:p>
        </p:txBody>
      </p:sp>
      <p:sp>
        <p:nvSpPr>
          <p:cNvPr id="119" name="Text 116"/>
          <p:cNvSpPr txBox="1"/>
          <p:nvPr/>
        </p:nvSpPr>
        <p:spPr>
          <a:xfrm>
            <a:off x="5213909" y="5129784"/>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20" name="Text 117"/>
          <p:cNvSpPr txBox="1"/>
          <p:nvPr/>
        </p:nvSpPr>
        <p:spPr>
          <a:xfrm>
            <a:off x="5844845" y="4828032"/>
            <a:ext cx="2171700" cy="89611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지원: 모두</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2곳, 검색 엔진은 벡터와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키워드를 한 문서로 갱신</a:t>
            </a:r>
            <a:endParaRPr lang="en-US" sz="1400" dirty="0"/>
          </a:p>
        </p:txBody>
      </p:sp>
      <p:sp>
        <p:nvSpPr>
          <p:cNvPr id="121" name="Shape 118"/>
          <p:cNvSpPr/>
          <p:nvPr/>
        </p:nvSpPr>
        <p:spPr>
          <a:xfrm>
            <a:off x="8190281" y="4828032"/>
            <a:ext cx="2903220" cy="896112"/>
          </a:xfrm>
          <a:prstGeom prst="roundRect">
            <a:avLst>
              <a:gd name="adj" fmla="val 5102"/>
            </a:avLst>
          </a:prstGeom>
          <a:solidFill>
            <a:srgbClr val="FFFFFF"/>
          </a:solidFill>
          <a:ln w="12700">
            <a:solidFill>
              <a:srgbClr val="D9E0EC"/>
            </a:solidFill>
            <a:prstDash val="solid"/>
          </a:ln>
        </p:spPr>
        <p:txBody>
          <a:bodyPr/>
          <a:lstStyle/>
          <a:p>
            <a:endParaRPr lang="ko-KR" altLang="en-US"/>
          </a:p>
        </p:txBody>
      </p:sp>
      <p:sp>
        <p:nvSpPr>
          <p:cNvPr id="122" name="Shape 119"/>
          <p:cNvSpPr/>
          <p:nvPr/>
        </p:nvSpPr>
        <p:spPr>
          <a:xfrm>
            <a:off x="8254289" y="5129784"/>
            <a:ext cx="566928" cy="292608"/>
          </a:xfrm>
          <a:prstGeom prst="roundRect">
            <a:avLst>
              <a:gd name="adj" fmla="val 15625"/>
            </a:avLst>
          </a:prstGeom>
          <a:solidFill>
            <a:srgbClr val="4A5364"/>
          </a:solidFill>
          <a:ln/>
        </p:spPr>
        <p:txBody>
          <a:bodyPr/>
          <a:lstStyle/>
          <a:p>
            <a:endParaRPr lang="ko-KR" altLang="en-US"/>
          </a:p>
        </p:txBody>
      </p:sp>
      <p:sp>
        <p:nvSpPr>
          <p:cNvPr id="123" name="Text 120"/>
          <p:cNvSpPr txBox="1"/>
          <p:nvPr/>
        </p:nvSpPr>
        <p:spPr>
          <a:xfrm>
            <a:off x="8254289" y="5129784"/>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24" name="Text 121"/>
          <p:cNvSpPr txBox="1"/>
          <p:nvPr/>
        </p:nvSpPr>
        <p:spPr>
          <a:xfrm>
            <a:off x="8885225" y="4828032"/>
            <a:ext cx="2171700" cy="89611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지원: 벡터와 그래프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키워드는 도구 따라 다름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2곳, Neo4j와 키워드 맞춤</a:t>
            </a:r>
            <a:endParaRPr lang="en-US" sz="1400" dirty="0"/>
          </a:p>
        </p:txBody>
      </p:sp>
      <p:sp>
        <p:nvSpPr>
          <p:cNvPr id="125" name="Shape 122"/>
          <p:cNvSpPr/>
          <p:nvPr/>
        </p:nvSpPr>
        <p:spPr>
          <a:xfrm>
            <a:off x="11230661" y="4828032"/>
            <a:ext cx="2903220" cy="896112"/>
          </a:xfrm>
          <a:prstGeom prst="roundRect">
            <a:avLst>
              <a:gd name="adj" fmla="val 5102"/>
            </a:avLst>
          </a:prstGeom>
          <a:solidFill>
            <a:srgbClr val="FFFFFF"/>
          </a:solidFill>
          <a:ln w="12700">
            <a:solidFill>
              <a:srgbClr val="D9E0EC"/>
            </a:solidFill>
            <a:prstDash val="solid"/>
          </a:ln>
        </p:spPr>
        <p:txBody>
          <a:bodyPr/>
          <a:lstStyle/>
          <a:p>
            <a:endParaRPr lang="ko-KR" altLang="en-US"/>
          </a:p>
        </p:txBody>
      </p:sp>
      <p:sp>
        <p:nvSpPr>
          <p:cNvPr id="126" name="Shape 123"/>
          <p:cNvSpPr/>
          <p:nvPr/>
        </p:nvSpPr>
        <p:spPr>
          <a:xfrm>
            <a:off x="11294669" y="5129784"/>
            <a:ext cx="566928" cy="292608"/>
          </a:xfrm>
          <a:prstGeom prst="roundRect">
            <a:avLst>
              <a:gd name="adj" fmla="val 15625"/>
            </a:avLst>
          </a:prstGeom>
          <a:solidFill>
            <a:srgbClr val="2E74C6"/>
          </a:solidFill>
          <a:ln/>
        </p:spPr>
        <p:txBody>
          <a:bodyPr/>
          <a:lstStyle/>
          <a:p>
            <a:endParaRPr lang="ko-KR" altLang="en-US"/>
          </a:p>
        </p:txBody>
      </p:sp>
      <p:sp>
        <p:nvSpPr>
          <p:cNvPr id="127" name="Text 124"/>
          <p:cNvSpPr txBox="1"/>
          <p:nvPr/>
        </p:nvSpPr>
        <p:spPr>
          <a:xfrm>
            <a:off x="11294669" y="5129784"/>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28" name="Text 125"/>
          <p:cNvSpPr txBox="1"/>
          <p:nvPr/>
        </p:nvSpPr>
        <p:spPr>
          <a:xfrm>
            <a:off x="11925605" y="4828032"/>
            <a:ext cx="2171700" cy="89611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지원: 모두</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1곳, 한 트랜잭션에서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벡터와 키워드 함께 갱신</a:t>
            </a:r>
            <a:endParaRPr lang="en-US" sz="1400" dirty="0"/>
          </a:p>
        </p:txBody>
      </p:sp>
      <p:sp>
        <p:nvSpPr>
          <p:cNvPr id="129" name="Shape 126"/>
          <p:cNvSpPr/>
          <p:nvPr/>
        </p:nvSpPr>
        <p:spPr>
          <a:xfrm>
            <a:off x="509321" y="5779008"/>
            <a:ext cx="1463040" cy="530352"/>
          </a:xfrm>
          <a:prstGeom prst="roundRect">
            <a:avLst>
              <a:gd name="adj" fmla="val 10345"/>
            </a:avLst>
          </a:prstGeom>
          <a:solidFill>
            <a:srgbClr val="EEF3FA"/>
          </a:solidFill>
          <a:ln w="12700">
            <a:solidFill>
              <a:srgbClr val="2E74C6"/>
            </a:solidFill>
            <a:prstDash val="solid"/>
          </a:ln>
        </p:spPr>
        <p:txBody>
          <a:bodyPr/>
          <a:lstStyle/>
          <a:p>
            <a:endParaRPr lang="ko-KR" altLang="en-US"/>
          </a:p>
        </p:txBody>
      </p:sp>
      <p:sp>
        <p:nvSpPr>
          <p:cNvPr id="130" name="Text 127"/>
          <p:cNvSpPr txBox="1"/>
          <p:nvPr/>
        </p:nvSpPr>
        <p:spPr>
          <a:xfrm>
            <a:off x="509321" y="5779008"/>
            <a:ext cx="1463040" cy="530352"/>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그래프 연결</a:t>
            </a:r>
            <a:endParaRPr lang="en-US" sz="1400" dirty="0"/>
          </a:p>
        </p:txBody>
      </p:sp>
      <p:sp>
        <p:nvSpPr>
          <p:cNvPr id="131" name="Shape 128"/>
          <p:cNvSpPr/>
          <p:nvPr/>
        </p:nvSpPr>
        <p:spPr>
          <a:xfrm>
            <a:off x="2109521" y="5779008"/>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132" name="Shape 129"/>
          <p:cNvSpPr/>
          <p:nvPr/>
        </p:nvSpPr>
        <p:spPr>
          <a:xfrm>
            <a:off x="2173529" y="5897880"/>
            <a:ext cx="566928" cy="292608"/>
          </a:xfrm>
          <a:prstGeom prst="roundRect">
            <a:avLst>
              <a:gd name="adj" fmla="val 15625"/>
            </a:avLst>
          </a:prstGeom>
          <a:solidFill>
            <a:srgbClr val="4A5364"/>
          </a:solidFill>
          <a:ln/>
        </p:spPr>
        <p:txBody>
          <a:bodyPr/>
          <a:lstStyle/>
          <a:p>
            <a:endParaRPr lang="ko-KR" altLang="en-US"/>
          </a:p>
        </p:txBody>
      </p:sp>
      <p:sp>
        <p:nvSpPr>
          <p:cNvPr id="133" name="Text 130"/>
          <p:cNvSpPr txBox="1"/>
          <p:nvPr/>
        </p:nvSpPr>
        <p:spPr>
          <a:xfrm>
            <a:off x="2173529" y="5897880"/>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34" name="Text 131"/>
          <p:cNvSpPr txBox="1"/>
          <p:nvPr/>
        </p:nvSpPr>
        <p:spPr>
          <a:xfrm>
            <a:off x="2804465" y="5779008"/>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저장소 사이를</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ID로 이어 조회</a:t>
            </a:r>
            <a:endParaRPr lang="en-US" sz="1400" dirty="0"/>
          </a:p>
        </p:txBody>
      </p:sp>
      <p:sp>
        <p:nvSpPr>
          <p:cNvPr id="135" name="Shape 132"/>
          <p:cNvSpPr/>
          <p:nvPr/>
        </p:nvSpPr>
        <p:spPr>
          <a:xfrm>
            <a:off x="5149901" y="5779008"/>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136" name="Shape 133"/>
          <p:cNvSpPr/>
          <p:nvPr/>
        </p:nvSpPr>
        <p:spPr>
          <a:xfrm>
            <a:off x="5213909" y="5897880"/>
            <a:ext cx="566928" cy="292608"/>
          </a:xfrm>
          <a:prstGeom prst="roundRect">
            <a:avLst>
              <a:gd name="adj" fmla="val 15625"/>
            </a:avLst>
          </a:prstGeom>
          <a:solidFill>
            <a:srgbClr val="4A5364"/>
          </a:solidFill>
          <a:ln/>
        </p:spPr>
        <p:txBody>
          <a:bodyPr/>
          <a:lstStyle/>
          <a:p>
            <a:endParaRPr lang="ko-KR" altLang="en-US"/>
          </a:p>
        </p:txBody>
      </p:sp>
      <p:sp>
        <p:nvSpPr>
          <p:cNvPr id="137" name="Text 134"/>
          <p:cNvSpPr txBox="1"/>
          <p:nvPr/>
        </p:nvSpPr>
        <p:spPr>
          <a:xfrm>
            <a:off x="5213909" y="5897880"/>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38" name="Text 135"/>
          <p:cNvSpPr txBox="1"/>
          <p:nvPr/>
        </p:nvSpPr>
        <p:spPr>
          <a:xfrm>
            <a:off x="5844845" y="5779008"/>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같음(검색 결과 ID로</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Neo4j 조회)</a:t>
            </a:r>
            <a:endParaRPr lang="en-US" sz="1400" dirty="0"/>
          </a:p>
        </p:txBody>
      </p:sp>
      <p:sp>
        <p:nvSpPr>
          <p:cNvPr id="139" name="Shape 136"/>
          <p:cNvSpPr/>
          <p:nvPr/>
        </p:nvSpPr>
        <p:spPr>
          <a:xfrm>
            <a:off x="8190281" y="5779008"/>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140" name="Shape 137"/>
          <p:cNvSpPr/>
          <p:nvPr/>
        </p:nvSpPr>
        <p:spPr>
          <a:xfrm>
            <a:off x="8254289" y="5897880"/>
            <a:ext cx="566928" cy="292608"/>
          </a:xfrm>
          <a:prstGeom prst="roundRect">
            <a:avLst>
              <a:gd name="adj" fmla="val 15625"/>
            </a:avLst>
          </a:prstGeom>
          <a:solidFill>
            <a:srgbClr val="2E74C6"/>
          </a:solidFill>
          <a:ln/>
        </p:spPr>
        <p:txBody>
          <a:bodyPr/>
          <a:lstStyle/>
          <a:p>
            <a:endParaRPr lang="ko-KR" altLang="en-US"/>
          </a:p>
        </p:txBody>
      </p:sp>
      <p:sp>
        <p:nvSpPr>
          <p:cNvPr id="141" name="Text 138"/>
          <p:cNvSpPr txBox="1"/>
          <p:nvPr/>
        </p:nvSpPr>
        <p:spPr>
          <a:xfrm>
            <a:off x="8254289" y="5897880"/>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42" name="Text 139"/>
          <p:cNvSpPr txBox="1"/>
          <p:nvPr/>
        </p:nvSpPr>
        <p:spPr>
          <a:xfrm>
            <a:off x="8885225" y="5779008"/>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관계 선 하나,</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쿼리 한 번</a:t>
            </a:r>
            <a:endParaRPr lang="en-US" sz="1400" dirty="0"/>
          </a:p>
        </p:txBody>
      </p:sp>
      <p:sp>
        <p:nvSpPr>
          <p:cNvPr id="143" name="Shape 140"/>
          <p:cNvSpPr/>
          <p:nvPr/>
        </p:nvSpPr>
        <p:spPr>
          <a:xfrm>
            <a:off x="11230661" y="5779008"/>
            <a:ext cx="2903220" cy="530352"/>
          </a:xfrm>
          <a:prstGeom prst="roundRect">
            <a:avLst>
              <a:gd name="adj" fmla="val 8621"/>
            </a:avLst>
          </a:prstGeom>
          <a:solidFill>
            <a:srgbClr val="FFFFFF"/>
          </a:solidFill>
          <a:ln w="12700">
            <a:solidFill>
              <a:srgbClr val="D9E0EC"/>
            </a:solidFill>
            <a:prstDash val="solid"/>
          </a:ln>
        </p:spPr>
        <p:txBody>
          <a:bodyPr/>
          <a:lstStyle/>
          <a:p>
            <a:endParaRPr lang="ko-KR" altLang="en-US"/>
          </a:p>
        </p:txBody>
      </p:sp>
      <p:sp>
        <p:nvSpPr>
          <p:cNvPr id="144" name="Shape 141"/>
          <p:cNvSpPr/>
          <p:nvPr/>
        </p:nvSpPr>
        <p:spPr>
          <a:xfrm>
            <a:off x="11294669" y="5897880"/>
            <a:ext cx="566928" cy="292608"/>
          </a:xfrm>
          <a:prstGeom prst="roundRect">
            <a:avLst>
              <a:gd name="adj" fmla="val 15625"/>
            </a:avLst>
          </a:prstGeom>
          <a:solidFill>
            <a:srgbClr val="2E74C6"/>
          </a:solidFill>
          <a:ln/>
        </p:spPr>
        <p:txBody>
          <a:bodyPr/>
          <a:lstStyle/>
          <a:p>
            <a:endParaRPr lang="ko-KR" altLang="en-US"/>
          </a:p>
        </p:txBody>
      </p:sp>
      <p:sp>
        <p:nvSpPr>
          <p:cNvPr id="145" name="Text 142"/>
          <p:cNvSpPr txBox="1"/>
          <p:nvPr/>
        </p:nvSpPr>
        <p:spPr>
          <a:xfrm>
            <a:off x="11294669" y="5897880"/>
            <a:ext cx="566928"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46" name="Text 143"/>
          <p:cNvSpPr txBox="1"/>
          <p:nvPr/>
        </p:nvSpPr>
        <p:spPr>
          <a:xfrm>
            <a:off x="11925605" y="5779008"/>
            <a:ext cx="2171700" cy="530352"/>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관계 선 하나,</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쿼리 한 번</a:t>
            </a:r>
            <a:endParaRPr lang="en-US" sz="1400" dirty="0"/>
          </a:p>
        </p:txBody>
      </p:sp>
      <p:sp>
        <p:nvSpPr>
          <p:cNvPr id="147" name="Shape 144"/>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lang="ko-KR" altLang="en-US"/>
          </a:p>
        </p:txBody>
      </p:sp>
      <p:sp>
        <p:nvSpPr>
          <p:cNvPr id="148" name="Shape 145"/>
          <p:cNvSpPr/>
          <p:nvPr/>
        </p:nvSpPr>
        <p:spPr>
          <a:xfrm>
            <a:off x="509321" y="6510528"/>
            <a:ext cx="82296" cy="694944"/>
          </a:xfrm>
          <a:prstGeom prst="rect">
            <a:avLst/>
          </a:prstGeom>
          <a:solidFill>
            <a:srgbClr val="2E74C6"/>
          </a:solidFill>
          <a:ln/>
        </p:spPr>
        <p:txBody>
          <a:bodyPr/>
          <a:lstStyle/>
          <a:p>
            <a:endParaRPr lang="ko-KR" altLang="en-US"/>
          </a:p>
        </p:txBody>
      </p:sp>
      <p:sp>
        <p:nvSpPr>
          <p:cNvPr id="149" name="Text 146"/>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권고: 한국어 실서비스는 1-b 분리형(검색 엔진)이 정석, 그래프 비중이 크고 규모가 작으면 2 벡터 통합형</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3 전부 통합형은 증분 색인이 가장 단순하지만 한국어 분석기와 필터를 Neo4j에서 직접 만들어야 해 한국어에서는 마지막 선택지</a:t>
            </a:r>
            <a:endParaRPr lang="en-US" sz="1500" dirty="0"/>
          </a:p>
        </p:txBody>
      </p:sp>
      <p:sp>
        <p:nvSpPr>
          <p:cNvPr id="150" name="Text 147"/>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키워드 색인을 추가와 삭제가 없는 정적 라이브러리(예: bm25s)로 만들면 바뀔 때마다 전체를 다시 </a:t>
            </a:r>
            <a:r>
              <a:rPr lang="en-US" sz="1600" dirty="0" err="1">
                <a:solidFill>
                  <a:srgbClr val="2B3242"/>
                </a:solidFill>
                <a:latin typeface="Pretendard" pitchFamily="34" charset="0"/>
                <a:ea typeface="Pretendard" pitchFamily="34" charset="-122"/>
                <a:cs typeface="Pretendard" pitchFamily="34" charset="-120"/>
              </a:rPr>
              <a:t>만들어야</a:t>
            </a:r>
            <a:r>
              <a:rPr lang="en-US" sz="1600" dirty="0">
                <a:solidFill>
                  <a:srgbClr val="2B3242"/>
                </a:solidFill>
                <a:latin typeface="Pretendard" pitchFamily="34" charset="0"/>
                <a:ea typeface="Pretendard" pitchFamily="34" charset="-122"/>
                <a:cs typeface="Pretendard" pitchFamily="34" charset="-120"/>
              </a:rPr>
              <a:t> 함</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2. </a:t>
            </a:r>
            <a:r>
              <a:rPr lang="ko-KR" altLang="en-US" sz="3200" b="1" dirty="0">
                <a:solidFill>
                  <a:srgbClr val="2C2926"/>
                </a:solidFill>
                <a:latin typeface="Pretendard" pitchFamily="34" charset="0"/>
                <a:ea typeface="Pretendard" pitchFamily="34" charset="-122"/>
                <a:cs typeface="Pretendard" pitchFamily="34" charset="-120"/>
              </a:rPr>
              <a:t>인덱싱</a:t>
            </a:r>
            <a:r>
              <a:rPr lang="en-US" altLang="ko-KR" sz="3200" b="1" dirty="0">
                <a:solidFill>
                  <a:srgbClr val="2C2926"/>
                </a:solidFill>
                <a:latin typeface="Pretendard" pitchFamily="34" charset="0"/>
                <a:ea typeface="Pretendard" pitchFamily="34" charset="-122"/>
                <a:cs typeface="Pretendard" pitchFamily="34" charset="-120"/>
              </a:rPr>
              <a:t>: </a:t>
            </a:r>
            <a:r>
              <a:rPr lang="en-US" sz="3200" b="1" dirty="0">
                <a:solidFill>
                  <a:srgbClr val="2C2926"/>
                </a:solidFill>
                <a:latin typeface="Pretendard" pitchFamily="34" charset="0"/>
                <a:ea typeface="Pretendard" pitchFamily="34" charset="-122"/>
                <a:cs typeface="Pretendard" pitchFamily="34" charset="-120"/>
              </a:rPr>
              <a:t>1-b 분리형(검색 엔진)의 인덱싱 파이프라인</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청킹까지 함께 쓰고 두 갈래로 나눔 — 검색 갈래는 검색 엔진에 문서 단위로 쓰고, KG 갈래는 지금과 같음</a:t>
            </a:r>
            <a:endParaRPr lang="en-US" sz="1800" dirty="0"/>
          </a:p>
        </p:txBody>
      </p:sp>
      <p:sp>
        <p:nvSpPr>
          <p:cNvPr id="5" name="Shape 2"/>
          <p:cNvSpPr/>
          <p:nvPr/>
        </p:nvSpPr>
        <p:spPr>
          <a:xfrm>
            <a:off x="2127809" y="1645920"/>
            <a:ext cx="12006072" cy="621792"/>
          </a:xfrm>
          <a:prstGeom prst="roundRect">
            <a:avLst>
              <a:gd name="adj" fmla="val 8824"/>
            </a:avLst>
          </a:prstGeom>
          <a:solidFill>
            <a:srgbClr val="F5F8FC"/>
          </a:solidFill>
          <a:ln/>
        </p:spPr>
        <p:txBody>
          <a:bodyPr/>
          <a:lstStyle/>
          <a:p>
            <a:endParaRPr lang="ko-KR" altLang="en-US"/>
          </a:p>
        </p:txBody>
      </p:sp>
      <p:sp>
        <p:nvSpPr>
          <p:cNvPr id="6" name="Shape 3"/>
          <p:cNvSpPr/>
          <p:nvPr/>
        </p:nvSpPr>
        <p:spPr>
          <a:xfrm>
            <a:off x="509321" y="1645920"/>
            <a:ext cx="1554480" cy="621792"/>
          </a:xfrm>
          <a:prstGeom prst="roundRect">
            <a:avLst>
              <a:gd name="adj" fmla="val 8824"/>
            </a:avLst>
          </a:prstGeom>
          <a:solidFill>
            <a:srgbClr val="404155"/>
          </a:solidFill>
          <a:ln/>
        </p:spPr>
        <p:txBody>
          <a:bodyPr/>
          <a:lstStyle/>
          <a:p>
            <a:endParaRPr lang="ko-KR" altLang="en-US"/>
          </a:p>
        </p:txBody>
      </p:sp>
      <p:sp>
        <p:nvSpPr>
          <p:cNvPr id="7" name="Text 4"/>
          <p:cNvSpPr txBox="1"/>
          <p:nvPr/>
        </p:nvSpPr>
        <p:spPr>
          <a:xfrm>
            <a:off x="509321" y="1645920"/>
            <a:ext cx="1554480"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설계 시</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(사전 1회)</a:t>
            </a:r>
            <a:endParaRPr lang="en-US" sz="1400" dirty="0"/>
          </a:p>
        </p:txBody>
      </p:sp>
      <p:sp>
        <p:nvSpPr>
          <p:cNvPr id="8" name="Shape 5"/>
          <p:cNvSpPr/>
          <p:nvPr/>
        </p:nvSpPr>
        <p:spPr>
          <a:xfrm>
            <a:off x="2127809" y="2286000"/>
            <a:ext cx="12006072" cy="621792"/>
          </a:xfrm>
          <a:prstGeom prst="roundRect">
            <a:avLst>
              <a:gd name="adj" fmla="val 8824"/>
            </a:avLst>
          </a:prstGeom>
          <a:solidFill>
            <a:srgbClr val="F5F8FC"/>
          </a:solidFill>
          <a:ln/>
        </p:spPr>
        <p:txBody>
          <a:bodyPr/>
          <a:lstStyle/>
          <a:p>
            <a:endParaRPr lang="ko-KR" altLang="en-US"/>
          </a:p>
        </p:txBody>
      </p:sp>
      <p:sp>
        <p:nvSpPr>
          <p:cNvPr id="9" name="Shape 6"/>
          <p:cNvSpPr/>
          <p:nvPr/>
        </p:nvSpPr>
        <p:spPr>
          <a:xfrm>
            <a:off x="509321" y="2286000"/>
            <a:ext cx="1554480" cy="621792"/>
          </a:xfrm>
          <a:prstGeom prst="roundRect">
            <a:avLst>
              <a:gd name="adj" fmla="val 8824"/>
            </a:avLst>
          </a:prstGeom>
          <a:solidFill>
            <a:srgbClr val="1E2A5C"/>
          </a:solidFill>
          <a:ln/>
        </p:spPr>
        <p:txBody>
          <a:bodyPr/>
          <a:lstStyle/>
          <a:p>
            <a:endParaRPr lang="ko-KR" altLang="en-US"/>
          </a:p>
        </p:txBody>
      </p:sp>
      <p:sp>
        <p:nvSpPr>
          <p:cNvPr id="10" name="Text 7"/>
          <p:cNvSpPr txBox="1"/>
          <p:nvPr/>
        </p:nvSpPr>
        <p:spPr>
          <a:xfrm>
            <a:off x="509321" y="2286000"/>
            <a:ext cx="1554480"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인덱싱 공통</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(매 실행)</a:t>
            </a:r>
            <a:endParaRPr lang="en-US" sz="1400" dirty="0"/>
          </a:p>
        </p:txBody>
      </p:sp>
      <p:sp>
        <p:nvSpPr>
          <p:cNvPr id="11" name="Shape 8"/>
          <p:cNvSpPr/>
          <p:nvPr/>
        </p:nvSpPr>
        <p:spPr>
          <a:xfrm>
            <a:off x="2127809" y="2926080"/>
            <a:ext cx="12006072" cy="676656"/>
          </a:xfrm>
          <a:prstGeom prst="roundRect">
            <a:avLst>
              <a:gd name="adj" fmla="val 8108"/>
            </a:avLst>
          </a:prstGeom>
          <a:solidFill>
            <a:srgbClr val="F5F8FC"/>
          </a:solidFill>
          <a:ln/>
        </p:spPr>
        <p:txBody>
          <a:bodyPr/>
          <a:lstStyle/>
          <a:p>
            <a:endParaRPr lang="ko-KR" altLang="en-US"/>
          </a:p>
        </p:txBody>
      </p:sp>
      <p:sp>
        <p:nvSpPr>
          <p:cNvPr id="12" name="Shape 9"/>
          <p:cNvSpPr/>
          <p:nvPr/>
        </p:nvSpPr>
        <p:spPr>
          <a:xfrm>
            <a:off x="509321" y="2926080"/>
            <a:ext cx="1554480" cy="676656"/>
          </a:xfrm>
          <a:prstGeom prst="roundRect">
            <a:avLst>
              <a:gd name="adj" fmla="val 8108"/>
            </a:avLst>
          </a:prstGeom>
          <a:solidFill>
            <a:srgbClr val="1E2A5C"/>
          </a:solidFill>
          <a:ln/>
        </p:spPr>
        <p:txBody>
          <a:bodyPr/>
          <a:lstStyle/>
          <a:p>
            <a:endParaRPr lang="ko-KR" altLang="en-US"/>
          </a:p>
        </p:txBody>
      </p:sp>
      <p:sp>
        <p:nvSpPr>
          <p:cNvPr id="13" name="Text 10"/>
          <p:cNvSpPr txBox="1"/>
          <p:nvPr/>
        </p:nvSpPr>
        <p:spPr>
          <a:xfrm>
            <a:off x="509321" y="2926080"/>
            <a:ext cx="1554480" cy="67665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KG </a:t>
            </a:r>
            <a:r>
              <a:rPr lang="ko-KR" altLang="en-US" sz="1400" b="1" dirty="0">
                <a:solidFill>
                  <a:srgbClr val="FFFFFF"/>
                </a:solidFill>
                <a:latin typeface="Pretendard" pitchFamily="34" charset="0"/>
                <a:ea typeface="Pretendard" pitchFamily="34" charset="-122"/>
                <a:cs typeface="Pretendard" pitchFamily="34" charset="-120"/>
              </a:rPr>
              <a:t>구축</a:t>
            </a:r>
            <a:endParaRPr lang="en-US" sz="1400" dirty="0"/>
          </a:p>
        </p:txBody>
      </p:sp>
      <p:sp>
        <p:nvSpPr>
          <p:cNvPr id="14" name="Shape 11"/>
          <p:cNvSpPr/>
          <p:nvPr/>
        </p:nvSpPr>
        <p:spPr>
          <a:xfrm>
            <a:off x="2127809" y="3621024"/>
            <a:ext cx="12006072" cy="676656"/>
          </a:xfrm>
          <a:prstGeom prst="roundRect">
            <a:avLst>
              <a:gd name="adj" fmla="val 8108"/>
            </a:avLst>
          </a:prstGeom>
          <a:solidFill>
            <a:srgbClr val="F5F8FC"/>
          </a:solidFill>
          <a:ln/>
        </p:spPr>
        <p:txBody>
          <a:bodyPr/>
          <a:lstStyle/>
          <a:p>
            <a:endParaRPr lang="ko-KR" altLang="en-US"/>
          </a:p>
        </p:txBody>
      </p:sp>
      <p:sp>
        <p:nvSpPr>
          <p:cNvPr id="15" name="Shape 12"/>
          <p:cNvSpPr/>
          <p:nvPr/>
        </p:nvSpPr>
        <p:spPr>
          <a:xfrm>
            <a:off x="509321" y="3621024"/>
            <a:ext cx="1554480" cy="676656"/>
          </a:xfrm>
          <a:prstGeom prst="roundRect">
            <a:avLst>
              <a:gd name="adj" fmla="val 8108"/>
            </a:avLst>
          </a:prstGeom>
          <a:solidFill>
            <a:srgbClr val="2E74C6"/>
          </a:solidFill>
          <a:ln/>
        </p:spPr>
        <p:txBody>
          <a:bodyPr/>
          <a:lstStyle/>
          <a:p>
            <a:endParaRPr lang="ko-KR" altLang="en-US"/>
          </a:p>
        </p:txBody>
      </p:sp>
      <p:sp>
        <p:nvSpPr>
          <p:cNvPr id="16" name="Text 13"/>
          <p:cNvSpPr txBox="1"/>
          <p:nvPr/>
        </p:nvSpPr>
        <p:spPr>
          <a:xfrm>
            <a:off x="509321" y="3621024"/>
            <a:ext cx="1554480" cy="676656"/>
          </a:xfrm>
          <a:prstGeom prst="rect">
            <a:avLst/>
          </a:prstGeom>
          <a:noFill/>
          <a:ln/>
        </p:spPr>
        <p:txBody>
          <a:bodyPr wrap="square" lIns="1016" tIns="1016" rIns="1016" bIns="1016" rtlCol="0" anchor="ctr"/>
          <a:lstStyle/>
          <a:p>
            <a:pPr algn="ctr"/>
            <a:r>
              <a:rPr lang="ko-KR" altLang="en-US" sz="1400" b="1" dirty="0">
                <a:solidFill>
                  <a:srgbClr val="FFFFFF"/>
                </a:solidFill>
                <a:latin typeface="Pretendard" pitchFamily="34" charset="0"/>
                <a:ea typeface="Pretendard" pitchFamily="34" charset="-122"/>
                <a:cs typeface="Pretendard" pitchFamily="34" charset="-120"/>
              </a:rPr>
              <a:t>검색엔진</a:t>
            </a:r>
            <a:r>
              <a:rPr lang="en-US" altLang="ko-KR" sz="1400" b="1" dirty="0">
                <a:solidFill>
                  <a:srgbClr val="FFFFFF"/>
                </a:solidFill>
                <a:latin typeface="Pretendard" pitchFamily="34" charset="0"/>
                <a:ea typeface="Pretendard" pitchFamily="34" charset="-122"/>
                <a:cs typeface="Pretendard" pitchFamily="34" charset="-120"/>
              </a:rPr>
              <a:t> </a:t>
            </a:r>
            <a:r>
              <a:rPr lang="ko-KR" altLang="en-US" sz="1400" b="1" dirty="0">
                <a:solidFill>
                  <a:srgbClr val="FFFFFF"/>
                </a:solidFill>
                <a:latin typeface="Pretendard" pitchFamily="34" charset="0"/>
                <a:ea typeface="Pretendard" pitchFamily="34" charset="-122"/>
                <a:cs typeface="Pretendard" pitchFamily="34" charset="-120"/>
              </a:rPr>
              <a:t>인덱싱</a:t>
            </a:r>
            <a:br>
              <a:rPr lang="en-US" altLang="ko-KR" sz="1400" b="1" dirty="0">
                <a:solidFill>
                  <a:srgbClr val="FFFFFF"/>
                </a:solidFill>
                <a:latin typeface="Pretendard" pitchFamily="34" charset="0"/>
                <a:ea typeface="Pretendard" pitchFamily="34" charset="-122"/>
                <a:cs typeface="Pretendard" pitchFamily="34" charset="-120"/>
              </a:rPr>
            </a:br>
            <a:r>
              <a:rPr lang="en-US" altLang="ko-KR" sz="1400" b="1" dirty="0">
                <a:solidFill>
                  <a:srgbClr val="FFFFFF"/>
                </a:solidFill>
                <a:latin typeface="Pretendard" pitchFamily="34" charset="0"/>
                <a:ea typeface="Pretendard" pitchFamily="34" charset="-122"/>
                <a:cs typeface="Pretendard" pitchFamily="34" charset="-120"/>
              </a:rPr>
              <a:t>(Vector+</a:t>
            </a:r>
            <a:r>
              <a:rPr lang="ko-KR" altLang="en-US" sz="1400" b="1" dirty="0">
                <a:solidFill>
                  <a:srgbClr val="FFFFFF"/>
                </a:solidFill>
                <a:latin typeface="Pretendard" pitchFamily="34" charset="0"/>
                <a:ea typeface="Pretendard" pitchFamily="34" charset="-122"/>
                <a:cs typeface="Pretendard" pitchFamily="34" charset="-120"/>
              </a:rPr>
              <a:t>키워드</a:t>
            </a:r>
            <a:r>
              <a:rPr lang="en-US" altLang="ko-KR" sz="1400" b="1" dirty="0">
                <a:solidFill>
                  <a:srgbClr val="FFFFFF"/>
                </a:solidFill>
                <a:latin typeface="Pretendard" pitchFamily="34" charset="0"/>
                <a:ea typeface="Pretendard" pitchFamily="34" charset="-122"/>
                <a:cs typeface="Pretendard" pitchFamily="34" charset="-120"/>
              </a:rPr>
              <a:t>)</a:t>
            </a:r>
            <a:endParaRPr lang="en-US" sz="1400" dirty="0"/>
          </a:p>
        </p:txBody>
      </p:sp>
      <p:sp>
        <p:nvSpPr>
          <p:cNvPr id="17" name="Shape 14"/>
          <p:cNvSpPr/>
          <p:nvPr/>
        </p:nvSpPr>
        <p:spPr>
          <a:xfrm>
            <a:off x="2200961" y="1700784"/>
            <a:ext cx="1203960" cy="512064"/>
          </a:xfrm>
          <a:prstGeom prst="roundRect">
            <a:avLst>
              <a:gd name="adj" fmla="val 14286"/>
            </a:avLst>
          </a:prstGeom>
          <a:solidFill>
            <a:srgbClr val="FFFFFF"/>
          </a:solidFill>
          <a:ln w="15875">
            <a:solidFill>
              <a:srgbClr val="4A5364"/>
            </a:solidFill>
            <a:prstDash val="solid"/>
          </a:ln>
        </p:spPr>
        <p:txBody>
          <a:bodyPr/>
          <a:lstStyle/>
          <a:p>
            <a:endParaRPr lang="ko-KR" altLang="en-US"/>
          </a:p>
        </p:txBody>
      </p:sp>
      <p:sp>
        <p:nvSpPr>
          <p:cNvPr id="18" name="Text 15"/>
          <p:cNvSpPr txBox="1"/>
          <p:nvPr/>
        </p:nvSpPr>
        <p:spPr>
          <a:xfrm>
            <a:off x="2200961" y="1700784"/>
            <a:ext cx="1203960" cy="51206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9" name="Shape 16"/>
          <p:cNvSpPr/>
          <p:nvPr/>
        </p:nvSpPr>
        <p:spPr>
          <a:xfrm>
            <a:off x="3542081" y="1700784"/>
            <a:ext cx="1203960" cy="512064"/>
          </a:xfrm>
          <a:prstGeom prst="roundRect">
            <a:avLst>
              <a:gd name="adj" fmla="val 14286"/>
            </a:avLst>
          </a:prstGeom>
          <a:solidFill>
            <a:srgbClr val="FFFFFF"/>
          </a:solidFill>
          <a:ln w="15875">
            <a:solidFill>
              <a:srgbClr val="4A5364"/>
            </a:solidFill>
            <a:prstDash val="solid"/>
          </a:ln>
        </p:spPr>
        <p:txBody>
          <a:bodyPr/>
          <a:lstStyle/>
          <a:p>
            <a:endParaRPr lang="ko-KR" altLang="en-US"/>
          </a:p>
        </p:txBody>
      </p:sp>
      <p:sp>
        <p:nvSpPr>
          <p:cNvPr id="20" name="Text 17"/>
          <p:cNvSpPr txBox="1"/>
          <p:nvPr/>
        </p:nvSpPr>
        <p:spPr>
          <a:xfrm>
            <a:off x="3542081" y="1700784"/>
            <a:ext cx="1203960" cy="51206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21" name="Shape 18"/>
          <p:cNvSpPr/>
          <p:nvPr/>
        </p:nvSpPr>
        <p:spPr>
          <a:xfrm>
            <a:off x="4883201" y="1700784"/>
            <a:ext cx="1203960" cy="512064"/>
          </a:xfrm>
          <a:prstGeom prst="roundRect">
            <a:avLst>
              <a:gd name="adj" fmla="val 14286"/>
            </a:avLst>
          </a:prstGeom>
          <a:solidFill>
            <a:srgbClr val="FFFFFF"/>
          </a:solidFill>
          <a:ln w="15875">
            <a:solidFill>
              <a:srgbClr val="4A5364"/>
            </a:solidFill>
            <a:prstDash val="solid"/>
          </a:ln>
        </p:spPr>
        <p:txBody>
          <a:bodyPr/>
          <a:lstStyle/>
          <a:p>
            <a:endParaRPr lang="ko-KR" altLang="en-US"/>
          </a:p>
        </p:txBody>
      </p:sp>
      <p:sp>
        <p:nvSpPr>
          <p:cNvPr id="22" name="Text 19"/>
          <p:cNvSpPr txBox="1"/>
          <p:nvPr/>
        </p:nvSpPr>
        <p:spPr>
          <a:xfrm>
            <a:off x="4883201" y="1700784"/>
            <a:ext cx="1203960" cy="51206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3단계 확정</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(사람)</a:t>
            </a:r>
            <a:endParaRPr lang="en-US" sz="1400" dirty="0"/>
          </a:p>
        </p:txBody>
      </p:sp>
      <p:sp>
        <p:nvSpPr>
          <p:cNvPr id="23" name="Shape 20"/>
          <p:cNvSpPr/>
          <p:nvPr/>
        </p:nvSpPr>
        <p:spPr>
          <a:xfrm>
            <a:off x="7565441" y="1700784"/>
            <a:ext cx="2545080" cy="512064"/>
          </a:xfrm>
          <a:prstGeom prst="roundRect">
            <a:avLst>
              <a:gd name="adj" fmla="val 14286"/>
            </a:avLst>
          </a:prstGeom>
          <a:solidFill>
            <a:srgbClr val="EEF3FA"/>
          </a:solidFill>
          <a:ln w="15875">
            <a:solidFill>
              <a:srgbClr val="2E74C6"/>
            </a:solidFill>
            <a:prstDash val="solid"/>
          </a:ln>
        </p:spPr>
        <p:txBody>
          <a:bodyPr/>
          <a:lstStyle/>
          <a:p>
            <a:endParaRPr lang="ko-KR" altLang="en-US"/>
          </a:p>
        </p:txBody>
      </p:sp>
      <p:sp>
        <p:nvSpPr>
          <p:cNvPr id="24" name="Text 21"/>
          <p:cNvSpPr txBox="1"/>
          <p:nvPr/>
        </p:nvSpPr>
        <p:spPr>
          <a:xfrm>
            <a:off x="7565441" y="1700784"/>
            <a:ext cx="2545080" cy="51206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5" name="Shape 22"/>
          <p:cNvSpPr/>
          <p:nvPr/>
        </p:nvSpPr>
        <p:spPr>
          <a:xfrm>
            <a:off x="3432353" y="1956816"/>
            <a:ext cx="82296" cy="0"/>
          </a:xfrm>
          <a:prstGeom prst="line">
            <a:avLst/>
          </a:prstGeom>
          <a:noFill/>
          <a:ln w="22225">
            <a:solidFill>
              <a:srgbClr val="4A5364"/>
            </a:solidFill>
            <a:prstDash val="solid"/>
            <a:tailEnd type="triangle"/>
          </a:ln>
        </p:spPr>
        <p:txBody>
          <a:bodyPr/>
          <a:lstStyle/>
          <a:p>
            <a:endParaRPr lang="ko-KR" altLang="en-US"/>
          </a:p>
        </p:txBody>
      </p:sp>
      <p:sp>
        <p:nvSpPr>
          <p:cNvPr id="26" name="Shape 23"/>
          <p:cNvSpPr/>
          <p:nvPr/>
        </p:nvSpPr>
        <p:spPr>
          <a:xfrm>
            <a:off x="4773473" y="1956816"/>
            <a:ext cx="82296" cy="0"/>
          </a:xfrm>
          <a:prstGeom prst="line">
            <a:avLst/>
          </a:prstGeom>
          <a:noFill/>
          <a:ln w="22225">
            <a:solidFill>
              <a:srgbClr val="4A5364"/>
            </a:solidFill>
            <a:prstDash val="solid"/>
            <a:tailEnd type="triangle"/>
          </a:ln>
        </p:spPr>
        <p:txBody>
          <a:bodyPr/>
          <a:lstStyle/>
          <a:p>
            <a:endParaRPr lang="ko-KR" altLang="en-US"/>
          </a:p>
        </p:txBody>
      </p:sp>
      <p:sp>
        <p:nvSpPr>
          <p:cNvPr id="27" name="Shape 24"/>
          <p:cNvSpPr/>
          <p:nvPr/>
        </p:nvSpPr>
        <p:spPr>
          <a:xfrm>
            <a:off x="6114593" y="1956816"/>
            <a:ext cx="1423416" cy="0"/>
          </a:xfrm>
          <a:prstGeom prst="line">
            <a:avLst/>
          </a:prstGeom>
          <a:noFill/>
          <a:ln w="22225">
            <a:solidFill>
              <a:srgbClr val="4A5364"/>
            </a:solidFill>
            <a:prstDash val="solid"/>
            <a:tailEnd type="triangle"/>
          </a:ln>
        </p:spPr>
        <p:txBody>
          <a:bodyPr/>
          <a:lstStyle/>
          <a:p>
            <a:endParaRPr lang="ko-KR" altLang="en-US"/>
          </a:p>
        </p:txBody>
      </p:sp>
      <p:sp>
        <p:nvSpPr>
          <p:cNvPr id="28" name="Shape 25"/>
          <p:cNvSpPr/>
          <p:nvPr/>
        </p:nvSpPr>
        <p:spPr>
          <a:xfrm>
            <a:off x="2200961" y="2340864"/>
            <a:ext cx="1203960" cy="512064"/>
          </a:xfrm>
          <a:prstGeom prst="roundRect">
            <a:avLst>
              <a:gd name="adj" fmla="val 14286"/>
            </a:avLst>
          </a:prstGeom>
          <a:solidFill>
            <a:srgbClr val="FFFFFF"/>
          </a:solidFill>
          <a:ln w="15875">
            <a:solidFill>
              <a:srgbClr val="4A5364"/>
            </a:solidFill>
            <a:prstDash val="solid"/>
          </a:ln>
        </p:spPr>
        <p:txBody>
          <a:bodyPr/>
          <a:lstStyle/>
          <a:p>
            <a:endParaRPr lang="ko-KR" altLang="en-US"/>
          </a:p>
        </p:txBody>
      </p:sp>
      <p:sp>
        <p:nvSpPr>
          <p:cNvPr id="29" name="Text 26"/>
          <p:cNvSpPr txBox="1"/>
          <p:nvPr/>
        </p:nvSpPr>
        <p:spPr>
          <a:xfrm>
            <a:off x="2200961" y="2340864"/>
            <a:ext cx="1203960" cy="51206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30" name="Shape 27"/>
          <p:cNvSpPr/>
          <p:nvPr/>
        </p:nvSpPr>
        <p:spPr>
          <a:xfrm>
            <a:off x="3542081" y="2340864"/>
            <a:ext cx="1203960" cy="512064"/>
          </a:xfrm>
          <a:prstGeom prst="roundRect">
            <a:avLst>
              <a:gd name="adj" fmla="val 14286"/>
            </a:avLst>
          </a:prstGeom>
          <a:solidFill>
            <a:srgbClr val="FFFFFF"/>
          </a:solidFill>
          <a:ln w="15875">
            <a:solidFill>
              <a:srgbClr val="4A5364"/>
            </a:solidFill>
            <a:prstDash val="solid"/>
          </a:ln>
        </p:spPr>
        <p:txBody>
          <a:bodyPr/>
          <a:lstStyle/>
          <a:p>
            <a:endParaRPr lang="ko-KR" altLang="en-US"/>
          </a:p>
        </p:txBody>
      </p:sp>
      <p:sp>
        <p:nvSpPr>
          <p:cNvPr id="31" name="Text 28"/>
          <p:cNvSpPr txBox="1"/>
          <p:nvPr/>
        </p:nvSpPr>
        <p:spPr>
          <a:xfrm>
            <a:off x="3542081" y="2340864"/>
            <a:ext cx="1203960" cy="51206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32" name="Shape 29"/>
          <p:cNvSpPr/>
          <p:nvPr/>
        </p:nvSpPr>
        <p:spPr>
          <a:xfrm>
            <a:off x="4883201" y="2340864"/>
            <a:ext cx="1203960" cy="512064"/>
          </a:xfrm>
          <a:prstGeom prst="roundRect">
            <a:avLst>
              <a:gd name="adj" fmla="val 14286"/>
            </a:avLst>
          </a:prstGeom>
          <a:solidFill>
            <a:srgbClr val="FFFFFF"/>
          </a:solidFill>
          <a:ln w="15875">
            <a:solidFill>
              <a:srgbClr val="4A5364"/>
            </a:solidFill>
            <a:prstDash val="solid"/>
          </a:ln>
        </p:spPr>
        <p:txBody>
          <a:bodyPr/>
          <a:lstStyle/>
          <a:p>
            <a:endParaRPr lang="ko-KR" altLang="en-US"/>
          </a:p>
        </p:txBody>
      </p:sp>
      <p:sp>
        <p:nvSpPr>
          <p:cNvPr id="33" name="Text 30"/>
          <p:cNvSpPr txBox="1"/>
          <p:nvPr/>
        </p:nvSpPr>
        <p:spPr>
          <a:xfrm>
            <a:off x="4883201" y="2340864"/>
            <a:ext cx="1203960" cy="512064"/>
          </a:xfrm>
          <a:prstGeom prst="rect">
            <a:avLst/>
          </a:prstGeom>
          <a:noFill/>
          <a:ln/>
        </p:spPr>
        <p:txBody>
          <a:bodyPr wrap="square" lIns="1016" tIns="1016" rIns="1016" bIns="1016" rtlCol="0" anchor="ctr"/>
          <a:lstStyle/>
          <a:p>
            <a:pPr marL="0" indent="0" algn="ctr">
              <a:buNone/>
            </a:pPr>
            <a:r>
              <a:rPr lang="en-US" sz="1400" b="1" dirty="0" err="1">
                <a:solidFill>
                  <a:srgbClr val="2B3242"/>
                </a:solidFill>
                <a:latin typeface="Pretendard" pitchFamily="34" charset="0"/>
                <a:ea typeface="Pretendard" pitchFamily="34" charset="-122"/>
                <a:cs typeface="Pretendard" pitchFamily="34" charset="-120"/>
              </a:rPr>
              <a:t>청킹</a:t>
            </a:r>
            <a:endParaRPr lang="en-US" sz="1400" dirty="0"/>
          </a:p>
        </p:txBody>
      </p:sp>
      <p:sp>
        <p:nvSpPr>
          <p:cNvPr id="34" name="Shape 31"/>
          <p:cNvSpPr/>
          <p:nvPr/>
        </p:nvSpPr>
        <p:spPr>
          <a:xfrm>
            <a:off x="3432353" y="2596896"/>
            <a:ext cx="82296" cy="0"/>
          </a:xfrm>
          <a:prstGeom prst="line">
            <a:avLst/>
          </a:prstGeom>
          <a:noFill/>
          <a:ln w="22225">
            <a:solidFill>
              <a:srgbClr val="4A5364"/>
            </a:solidFill>
            <a:prstDash val="solid"/>
            <a:tailEnd type="triangle"/>
          </a:ln>
        </p:spPr>
        <p:txBody>
          <a:bodyPr/>
          <a:lstStyle/>
          <a:p>
            <a:endParaRPr lang="ko-KR" altLang="en-US"/>
          </a:p>
        </p:txBody>
      </p:sp>
      <p:sp>
        <p:nvSpPr>
          <p:cNvPr id="35" name="Shape 32"/>
          <p:cNvSpPr/>
          <p:nvPr/>
        </p:nvSpPr>
        <p:spPr>
          <a:xfrm>
            <a:off x="4773473" y="2596896"/>
            <a:ext cx="82296" cy="0"/>
          </a:xfrm>
          <a:prstGeom prst="line">
            <a:avLst/>
          </a:prstGeom>
          <a:noFill/>
          <a:ln w="22225">
            <a:solidFill>
              <a:srgbClr val="4A5364"/>
            </a:solidFill>
            <a:prstDash val="solid"/>
            <a:tailEnd type="triangle"/>
          </a:ln>
        </p:spPr>
        <p:txBody>
          <a:bodyPr/>
          <a:lstStyle/>
          <a:p>
            <a:endParaRPr lang="ko-KR" altLang="en-US"/>
          </a:p>
        </p:txBody>
      </p:sp>
      <p:sp>
        <p:nvSpPr>
          <p:cNvPr id="36" name="Shape 33"/>
          <p:cNvSpPr/>
          <p:nvPr/>
        </p:nvSpPr>
        <p:spPr>
          <a:xfrm>
            <a:off x="6227064" y="2980944"/>
            <a:ext cx="1016290" cy="566928"/>
          </a:xfrm>
          <a:prstGeom prst="roundRect">
            <a:avLst>
              <a:gd name="adj" fmla="val 12903"/>
            </a:avLst>
          </a:prstGeom>
          <a:solidFill>
            <a:srgbClr val="FFFFFF"/>
          </a:solidFill>
          <a:ln w="15875">
            <a:solidFill>
              <a:srgbClr val="4A5364"/>
            </a:solidFill>
            <a:prstDash val="solid"/>
          </a:ln>
        </p:spPr>
        <p:txBody>
          <a:bodyPr/>
          <a:lstStyle/>
          <a:p>
            <a:endParaRPr lang="ko-KR" altLang="en-US"/>
          </a:p>
        </p:txBody>
      </p:sp>
      <p:sp>
        <p:nvSpPr>
          <p:cNvPr id="37" name="Text 34"/>
          <p:cNvSpPr txBox="1"/>
          <p:nvPr/>
        </p:nvSpPr>
        <p:spPr>
          <a:xfrm>
            <a:off x="6227064" y="2980944"/>
            <a:ext cx="1016290" cy="566928"/>
          </a:xfrm>
          <a:prstGeom prst="rect">
            <a:avLst/>
          </a:prstGeom>
          <a:noFill/>
          <a:ln/>
        </p:spPr>
        <p:txBody>
          <a:bodyPr wrap="square" lIns="18288" tIns="1016" rIns="18288" bIns="1016" rtlCol="0" anchor="ctr"/>
          <a:lstStyle/>
          <a:p>
            <a:pPr marL="0" indent="0" algn="ctr">
              <a:buNone/>
            </a:pPr>
            <a:r>
              <a:rPr lang="en-US" sz="1400" b="1" dirty="0" err="1">
                <a:solidFill>
                  <a:srgbClr val="2B3242"/>
                </a:solidFill>
                <a:latin typeface="Pretendard" pitchFamily="34" charset="0"/>
                <a:ea typeface="Pretendard" pitchFamily="34" charset="-122"/>
                <a:cs typeface="Pretendard" pitchFamily="34" charset="-120"/>
              </a:rPr>
              <a:t>추출</a:t>
            </a:r>
            <a:r>
              <a:rPr lang="en-US" sz="1400" b="1" dirty="0">
                <a:solidFill>
                  <a:srgbClr val="2B3242"/>
                </a:solidFill>
                <a:latin typeface="Pretendard" pitchFamily="34" charset="0"/>
                <a:ea typeface="Pretendard" pitchFamily="34" charset="-122"/>
                <a:cs typeface="Pretendard" pitchFamily="34" charset="-120"/>
              </a:rPr>
              <a:t> 단위</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나누기</a:t>
            </a:r>
            <a:endParaRPr lang="en-US" sz="1400" dirty="0"/>
          </a:p>
        </p:txBody>
      </p:sp>
      <p:sp>
        <p:nvSpPr>
          <p:cNvPr id="38" name="Shape 35"/>
          <p:cNvSpPr/>
          <p:nvPr/>
        </p:nvSpPr>
        <p:spPr>
          <a:xfrm>
            <a:off x="7375942" y="2980944"/>
            <a:ext cx="1016290" cy="566928"/>
          </a:xfrm>
          <a:prstGeom prst="roundRect">
            <a:avLst>
              <a:gd name="adj" fmla="val 12903"/>
            </a:avLst>
          </a:prstGeom>
          <a:solidFill>
            <a:srgbClr val="1E2A5C"/>
          </a:solidFill>
          <a:ln/>
        </p:spPr>
        <p:txBody>
          <a:bodyPr/>
          <a:lstStyle/>
          <a:p>
            <a:endParaRPr lang="ko-KR" altLang="en-US"/>
          </a:p>
        </p:txBody>
      </p:sp>
      <p:sp>
        <p:nvSpPr>
          <p:cNvPr id="39" name="Text 36"/>
          <p:cNvSpPr txBox="1"/>
          <p:nvPr/>
        </p:nvSpPr>
        <p:spPr>
          <a:xfrm>
            <a:off x="7375942" y="2980944"/>
            <a:ext cx="1016290" cy="566928"/>
          </a:xfrm>
          <a:prstGeom prst="rect">
            <a:avLst/>
          </a:prstGeom>
          <a:noFill/>
          <a:ln/>
        </p:spPr>
        <p:txBody>
          <a:bodyPr wrap="square" lIns="18288" tIns="1016" rIns="18288" bIns="1016" rtlCol="0" anchor="ctr"/>
          <a:lstStyle/>
          <a:p>
            <a:pPr marL="0" indent="0" algn="ctr">
              <a:buNone/>
            </a:pPr>
            <a:r>
              <a:rPr lang="en-US" sz="1400" b="1" dirty="0" err="1">
                <a:solidFill>
                  <a:srgbClr val="FFFFFF"/>
                </a:solidFill>
                <a:latin typeface="Pretendard" pitchFamily="34" charset="0"/>
                <a:ea typeface="Pretendard" pitchFamily="34" charset="-122"/>
                <a:cs typeface="Pretendard" pitchFamily="34" charset="-120"/>
              </a:rPr>
              <a:t>추출</a:t>
            </a:r>
            <a:endParaRPr lang="en-US" sz="1400" dirty="0"/>
          </a:p>
        </p:txBody>
      </p:sp>
      <p:sp>
        <p:nvSpPr>
          <p:cNvPr id="40" name="Shape 37"/>
          <p:cNvSpPr/>
          <p:nvPr/>
        </p:nvSpPr>
        <p:spPr>
          <a:xfrm>
            <a:off x="8524820" y="2980944"/>
            <a:ext cx="1016290" cy="566928"/>
          </a:xfrm>
          <a:prstGeom prst="roundRect">
            <a:avLst>
              <a:gd name="adj" fmla="val 12903"/>
            </a:avLst>
          </a:prstGeom>
          <a:solidFill>
            <a:srgbClr val="1E2A5C"/>
          </a:solidFill>
          <a:ln/>
        </p:spPr>
        <p:txBody>
          <a:bodyPr/>
          <a:lstStyle/>
          <a:p>
            <a:endParaRPr lang="ko-KR" altLang="en-US"/>
          </a:p>
        </p:txBody>
      </p:sp>
      <p:sp>
        <p:nvSpPr>
          <p:cNvPr id="41" name="Text 38"/>
          <p:cNvSpPr txBox="1"/>
          <p:nvPr/>
        </p:nvSpPr>
        <p:spPr>
          <a:xfrm>
            <a:off x="8524820" y="2980944"/>
            <a:ext cx="1016290" cy="566928"/>
          </a:xfrm>
          <a:prstGeom prst="rect">
            <a:avLst/>
          </a:prstGeom>
          <a:noFill/>
          <a:ln/>
        </p:spPr>
        <p:txBody>
          <a:bodyPr wrap="square" lIns="18288" tIns="1016" rIns="18288" bIns="1016" rtlCol="0" anchor="ctr"/>
          <a:lstStyle/>
          <a:p>
            <a:pPr algn="ctr"/>
            <a:r>
              <a:rPr lang="en-US" sz="1400" b="1" dirty="0" err="1">
                <a:solidFill>
                  <a:srgbClr val="FFFFFF"/>
                </a:solidFill>
                <a:latin typeface="Pretendard" pitchFamily="34" charset="0"/>
                <a:ea typeface="Pretendard" pitchFamily="34" charset="-122"/>
                <a:cs typeface="Pretendard" pitchFamily="34" charset="-120"/>
              </a:rPr>
              <a:t>가지치기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42" name="Shape 39"/>
          <p:cNvSpPr/>
          <p:nvPr/>
        </p:nvSpPr>
        <p:spPr>
          <a:xfrm>
            <a:off x="9673698" y="2980944"/>
            <a:ext cx="1016290" cy="566928"/>
          </a:xfrm>
          <a:prstGeom prst="roundRect">
            <a:avLst>
              <a:gd name="adj" fmla="val 12903"/>
            </a:avLst>
          </a:prstGeom>
          <a:solidFill>
            <a:srgbClr val="FFFFFF"/>
          </a:solidFill>
          <a:ln w="15875">
            <a:solidFill>
              <a:srgbClr val="4A5364"/>
            </a:solidFill>
            <a:prstDash val="solid"/>
          </a:ln>
        </p:spPr>
        <p:txBody>
          <a:bodyPr/>
          <a:lstStyle/>
          <a:p>
            <a:endParaRPr lang="ko-KR" altLang="en-US"/>
          </a:p>
        </p:txBody>
      </p:sp>
      <p:sp>
        <p:nvSpPr>
          <p:cNvPr id="43" name="Text 40"/>
          <p:cNvSpPr txBox="1"/>
          <p:nvPr/>
        </p:nvSpPr>
        <p:spPr>
          <a:xfrm>
            <a:off x="9673698" y="2980944"/>
            <a:ext cx="1016290" cy="566928"/>
          </a:xfrm>
          <a:prstGeom prst="rect">
            <a:avLst/>
          </a:prstGeom>
          <a:noFill/>
          <a:ln/>
        </p:spPr>
        <p:txBody>
          <a:bodyPr wrap="square" lIns="18288" tIns="1016" rIns="18288"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44" name="Shape 41"/>
          <p:cNvSpPr/>
          <p:nvPr/>
        </p:nvSpPr>
        <p:spPr>
          <a:xfrm>
            <a:off x="10822577" y="2980944"/>
            <a:ext cx="1016290" cy="566928"/>
          </a:xfrm>
          <a:prstGeom prst="roundRect">
            <a:avLst>
              <a:gd name="adj" fmla="val 12903"/>
            </a:avLst>
          </a:prstGeom>
          <a:solidFill>
            <a:srgbClr val="FFFFFF"/>
          </a:solidFill>
          <a:ln w="15875">
            <a:solidFill>
              <a:srgbClr val="4A5364"/>
            </a:solidFill>
            <a:prstDash val="solid"/>
          </a:ln>
        </p:spPr>
        <p:txBody>
          <a:bodyPr/>
          <a:lstStyle/>
          <a:p>
            <a:endParaRPr lang="ko-KR" altLang="en-US"/>
          </a:p>
        </p:txBody>
      </p:sp>
      <p:sp>
        <p:nvSpPr>
          <p:cNvPr id="45" name="Text 42"/>
          <p:cNvSpPr txBox="1"/>
          <p:nvPr/>
        </p:nvSpPr>
        <p:spPr>
          <a:xfrm>
            <a:off x="10822577" y="2980944"/>
            <a:ext cx="1016290" cy="566928"/>
          </a:xfrm>
          <a:prstGeom prst="rect">
            <a:avLst/>
          </a:prstGeom>
          <a:noFill/>
          <a:ln/>
        </p:spPr>
        <p:txBody>
          <a:bodyPr wrap="square" lIns="18288" tIns="1016" rIns="18288"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6" name="Shape 43"/>
          <p:cNvSpPr/>
          <p:nvPr/>
        </p:nvSpPr>
        <p:spPr>
          <a:xfrm>
            <a:off x="11971455" y="2980944"/>
            <a:ext cx="1016290" cy="566928"/>
          </a:xfrm>
          <a:prstGeom prst="roundRect">
            <a:avLst>
              <a:gd name="adj" fmla="val 12903"/>
            </a:avLst>
          </a:prstGeom>
          <a:solidFill>
            <a:srgbClr val="FFFFFF"/>
          </a:solidFill>
          <a:ln w="15875">
            <a:solidFill>
              <a:srgbClr val="4A5364"/>
            </a:solidFill>
            <a:prstDash val="solid"/>
          </a:ln>
        </p:spPr>
        <p:txBody>
          <a:bodyPr/>
          <a:lstStyle/>
          <a:p>
            <a:endParaRPr lang="ko-KR" altLang="en-US"/>
          </a:p>
        </p:txBody>
      </p:sp>
      <p:sp>
        <p:nvSpPr>
          <p:cNvPr id="47" name="Text 44"/>
          <p:cNvSpPr txBox="1"/>
          <p:nvPr/>
        </p:nvSpPr>
        <p:spPr>
          <a:xfrm>
            <a:off x="11971455" y="2980944"/>
            <a:ext cx="1016290" cy="566928"/>
          </a:xfrm>
          <a:prstGeom prst="rect">
            <a:avLst/>
          </a:prstGeom>
          <a:noFill/>
          <a:ln/>
        </p:spPr>
        <p:txBody>
          <a:bodyPr wrap="square" lIns="18288" tIns="1016" rIns="18288"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엔티티 설명</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p:txBody>
      </p:sp>
      <p:sp>
        <p:nvSpPr>
          <p:cNvPr id="113" name="Shape 43"/>
          <p:cNvSpPr/>
          <p:nvPr/>
        </p:nvSpPr>
        <p:spPr>
          <a:xfrm>
            <a:off x="13120333" y="2980944"/>
            <a:ext cx="1016290" cy="566928"/>
          </a:xfrm>
          <a:prstGeom prst="roundRect">
            <a:avLst>
              <a:gd name="adj" fmla="val 12903"/>
            </a:avLst>
          </a:prstGeom>
          <a:solidFill>
            <a:srgbClr val="FFFFFF"/>
          </a:solidFill>
          <a:ln w="15875">
            <a:solidFill>
              <a:srgbClr val="4A5364"/>
            </a:solidFill>
            <a:prstDash val="dash"/>
          </a:ln>
        </p:spPr>
        <p:txBody>
          <a:bodyPr/>
          <a:lstStyle/>
          <a:p>
            <a:endParaRPr lang="ko-KR" altLang="en-US"/>
          </a:p>
        </p:txBody>
      </p:sp>
      <p:sp>
        <p:nvSpPr>
          <p:cNvPr id="114" name="Text 44"/>
          <p:cNvSpPr txBox="1"/>
          <p:nvPr/>
        </p:nvSpPr>
        <p:spPr>
          <a:xfrm>
            <a:off x="13120333" y="2980944"/>
            <a:ext cx="1016290" cy="566928"/>
          </a:xfrm>
          <a:prstGeom prst="rect">
            <a:avLst/>
          </a:prstGeom>
          <a:noFill/>
          <a:ln/>
        </p:spPr>
        <p:txBody>
          <a:bodyPr wrap="square" lIns="18288" tIns="1016" rIns="18288"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커뮤니티</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요약 (선택)</a:t>
            </a:r>
            <a:endParaRPr lang="en-US" sz="1400" dirty="0"/>
          </a:p>
        </p:txBody>
      </p:sp>
      <p:sp>
        <p:nvSpPr>
          <p:cNvPr id="115" name="Shape 49"/>
          <p:cNvSpPr/>
          <p:nvPr/>
        </p:nvSpPr>
        <p:spPr>
          <a:xfrm>
            <a:off x="13006033" y="3264408"/>
            <a:ext cx="82296" cy="0"/>
          </a:xfrm>
          <a:prstGeom prst="line">
            <a:avLst/>
          </a:prstGeom>
          <a:noFill/>
          <a:ln w="22225">
            <a:solidFill>
              <a:srgbClr val="4A5364"/>
            </a:solidFill>
            <a:prstDash val="solid"/>
            <a:tailEnd type="triangle"/>
          </a:ln>
        </p:spPr>
        <p:txBody>
          <a:bodyPr/>
          <a:lstStyle/>
          <a:p>
            <a:endParaRPr lang="ko-KR" altLang="en-US"/>
          </a:p>
        </p:txBody>
      </p:sp>
      <p:sp>
        <p:nvSpPr>
          <p:cNvPr id="48" name="Shape 45"/>
          <p:cNvSpPr/>
          <p:nvPr/>
        </p:nvSpPr>
        <p:spPr>
          <a:xfrm>
            <a:off x="7261642" y="3264408"/>
            <a:ext cx="82296" cy="0"/>
          </a:xfrm>
          <a:prstGeom prst="line">
            <a:avLst/>
          </a:prstGeom>
          <a:noFill/>
          <a:ln w="22225">
            <a:solidFill>
              <a:srgbClr val="4A5364"/>
            </a:solidFill>
            <a:prstDash val="solid"/>
            <a:tailEnd type="triangle"/>
          </a:ln>
        </p:spPr>
        <p:txBody>
          <a:bodyPr/>
          <a:lstStyle/>
          <a:p>
            <a:endParaRPr lang="ko-KR" altLang="en-US"/>
          </a:p>
        </p:txBody>
      </p:sp>
      <p:sp>
        <p:nvSpPr>
          <p:cNvPr id="49" name="Shape 46"/>
          <p:cNvSpPr/>
          <p:nvPr/>
        </p:nvSpPr>
        <p:spPr>
          <a:xfrm>
            <a:off x="8410520" y="3264408"/>
            <a:ext cx="82296" cy="0"/>
          </a:xfrm>
          <a:prstGeom prst="line">
            <a:avLst/>
          </a:prstGeom>
          <a:noFill/>
          <a:ln w="22225">
            <a:solidFill>
              <a:srgbClr val="4A5364"/>
            </a:solidFill>
            <a:prstDash val="solid"/>
            <a:tailEnd type="triangle"/>
          </a:ln>
        </p:spPr>
        <p:txBody>
          <a:bodyPr/>
          <a:lstStyle/>
          <a:p>
            <a:endParaRPr lang="ko-KR" altLang="en-US"/>
          </a:p>
        </p:txBody>
      </p:sp>
      <p:sp>
        <p:nvSpPr>
          <p:cNvPr id="50" name="Shape 47"/>
          <p:cNvSpPr/>
          <p:nvPr/>
        </p:nvSpPr>
        <p:spPr>
          <a:xfrm>
            <a:off x="9559398" y="3264408"/>
            <a:ext cx="82296" cy="0"/>
          </a:xfrm>
          <a:prstGeom prst="line">
            <a:avLst/>
          </a:prstGeom>
          <a:noFill/>
          <a:ln w="22225">
            <a:solidFill>
              <a:srgbClr val="4A5364"/>
            </a:solidFill>
            <a:prstDash val="solid"/>
            <a:tailEnd type="triangle"/>
          </a:ln>
        </p:spPr>
        <p:txBody>
          <a:bodyPr/>
          <a:lstStyle/>
          <a:p>
            <a:endParaRPr lang="ko-KR" altLang="en-US"/>
          </a:p>
        </p:txBody>
      </p:sp>
      <p:sp>
        <p:nvSpPr>
          <p:cNvPr id="51" name="Shape 48"/>
          <p:cNvSpPr/>
          <p:nvPr/>
        </p:nvSpPr>
        <p:spPr>
          <a:xfrm>
            <a:off x="10708277" y="3264408"/>
            <a:ext cx="82296" cy="0"/>
          </a:xfrm>
          <a:prstGeom prst="line">
            <a:avLst/>
          </a:prstGeom>
          <a:noFill/>
          <a:ln w="22225">
            <a:solidFill>
              <a:srgbClr val="4A5364"/>
            </a:solidFill>
            <a:prstDash val="solid"/>
            <a:tailEnd type="triangle"/>
          </a:ln>
        </p:spPr>
        <p:txBody>
          <a:bodyPr/>
          <a:lstStyle/>
          <a:p>
            <a:endParaRPr lang="ko-KR" altLang="en-US"/>
          </a:p>
        </p:txBody>
      </p:sp>
      <p:sp>
        <p:nvSpPr>
          <p:cNvPr id="52" name="Shape 49"/>
          <p:cNvSpPr/>
          <p:nvPr/>
        </p:nvSpPr>
        <p:spPr>
          <a:xfrm>
            <a:off x="11857155" y="3264408"/>
            <a:ext cx="82296" cy="0"/>
          </a:xfrm>
          <a:prstGeom prst="line">
            <a:avLst/>
          </a:prstGeom>
          <a:noFill/>
          <a:ln w="22225">
            <a:solidFill>
              <a:srgbClr val="4A5364"/>
            </a:solidFill>
            <a:prstDash val="solid"/>
            <a:tailEnd type="triangle"/>
          </a:ln>
        </p:spPr>
        <p:txBody>
          <a:bodyPr/>
          <a:lstStyle/>
          <a:p>
            <a:endParaRPr lang="ko-KR" altLang="en-US"/>
          </a:p>
        </p:txBody>
      </p:sp>
      <p:sp>
        <p:nvSpPr>
          <p:cNvPr id="53" name="Shape 50"/>
          <p:cNvSpPr/>
          <p:nvPr/>
        </p:nvSpPr>
        <p:spPr>
          <a:xfrm>
            <a:off x="6224321" y="3675888"/>
            <a:ext cx="1203960" cy="566928"/>
          </a:xfrm>
          <a:prstGeom prst="roundRect">
            <a:avLst>
              <a:gd name="adj" fmla="val 12903"/>
            </a:avLst>
          </a:prstGeom>
          <a:solidFill>
            <a:srgbClr val="2E74C6"/>
          </a:solidFill>
          <a:ln/>
        </p:spPr>
        <p:txBody>
          <a:bodyPr/>
          <a:lstStyle/>
          <a:p>
            <a:endParaRPr lang="ko-KR" altLang="en-US"/>
          </a:p>
        </p:txBody>
      </p:sp>
      <p:sp>
        <p:nvSpPr>
          <p:cNvPr id="54" name="Text 51"/>
          <p:cNvSpPr txBox="1"/>
          <p:nvPr/>
        </p:nvSpPr>
        <p:spPr>
          <a:xfrm>
            <a:off x="6224321" y="3675888"/>
            <a:ext cx="1203960" cy="56692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청크 임베딩</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(바뀐 것만)</a:t>
            </a:r>
            <a:endParaRPr lang="en-US" sz="1400" dirty="0"/>
          </a:p>
        </p:txBody>
      </p:sp>
      <p:sp>
        <p:nvSpPr>
          <p:cNvPr id="55" name="Shape 52"/>
          <p:cNvSpPr/>
          <p:nvPr/>
        </p:nvSpPr>
        <p:spPr>
          <a:xfrm>
            <a:off x="7565441" y="3675888"/>
            <a:ext cx="2545080" cy="566928"/>
          </a:xfrm>
          <a:prstGeom prst="roundRect">
            <a:avLst>
              <a:gd name="adj" fmla="val 12903"/>
            </a:avLst>
          </a:prstGeom>
          <a:solidFill>
            <a:srgbClr val="2E74C6"/>
          </a:solidFill>
          <a:ln/>
        </p:spPr>
        <p:txBody>
          <a:bodyPr/>
          <a:lstStyle/>
          <a:p>
            <a:endParaRPr lang="ko-KR" altLang="en-US"/>
          </a:p>
        </p:txBody>
      </p:sp>
      <p:sp>
        <p:nvSpPr>
          <p:cNvPr id="56" name="Text 53"/>
          <p:cNvSpPr txBox="1"/>
          <p:nvPr/>
        </p:nvSpPr>
        <p:spPr>
          <a:xfrm>
            <a:off x="7565441" y="3675888"/>
            <a:ext cx="2545080" cy="56692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키워드 분석</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(nori 또는 Kiwi 낱말)</a:t>
            </a:r>
            <a:endParaRPr lang="en-US" sz="1400" dirty="0"/>
          </a:p>
        </p:txBody>
      </p:sp>
      <p:sp>
        <p:nvSpPr>
          <p:cNvPr id="57" name="Shape 54"/>
          <p:cNvSpPr/>
          <p:nvPr/>
        </p:nvSpPr>
        <p:spPr>
          <a:xfrm>
            <a:off x="10247681" y="3675888"/>
            <a:ext cx="2545080" cy="566928"/>
          </a:xfrm>
          <a:prstGeom prst="roundRect">
            <a:avLst>
              <a:gd name="adj" fmla="val 12903"/>
            </a:avLst>
          </a:prstGeom>
          <a:solidFill>
            <a:srgbClr val="2E74C6"/>
          </a:solidFill>
          <a:ln/>
        </p:spPr>
        <p:txBody>
          <a:bodyPr/>
          <a:lstStyle/>
          <a:p>
            <a:endParaRPr lang="ko-KR" altLang="en-US"/>
          </a:p>
        </p:txBody>
      </p:sp>
      <p:sp>
        <p:nvSpPr>
          <p:cNvPr id="58" name="Text 55"/>
          <p:cNvSpPr txBox="1"/>
          <p:nvPr/>
        </p:nvSpPr>
        <p:spPr>
          <a:xfrm>
            <a:off x="10247681" y="3675888"/>
            <a:ext cx="2545080" cy="56692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검색 엔진에 쓰기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(문서 단위로 넣고 지움)</a:t>
            </a:r>
            <a:endParaRPr lang="en-US" sz="1400" dirty="0"/>
          </a:p>
        </p:txBody>
      </p:sp>
      <p:sp>
        <p:nvSpPr>
          <p:cNvPr id="59" name="Shape 56"/>
          <p:cNvSpPr/>
          <p:nvPr/>
        </p:nvSpPr>
        <p:spPr>
          <a:xfrm>
            <a:off x="12929921" y="3675888"/>
            <a:ext cx="1203960" cy="566928"/>
          </a:xfrm>
          <a:prstGeom prst="roundRect">
            <a:avLst>
              <a:gd name="adj" fmla="val 12903"/>
            </a:avLst>
          </a:prstGeom>
          <a:solidFill>
            <a:srgbClr val="2E74C6"/>
          </a:solidFill>
          <a:ln/>
        </p:spPr>
        <p:txBody>
          <a:bodyPr/>
          <a:lstStyle/>
          <a:p>
            <a:endParaRPr lang="ko-KR" altLang="en-US"/>
          </a:p>
        </p:txBody>
      </p:sp>
      <p:sp>
        <p:nvSpPr>
          <p:cNvPr id="60" name="Text 57"/>
          <p:cNvSpPr txBox="1"/>
          <p:nvPr/>
        </p:nvSpPr>
        <p:spPr>
          <a:xfrm>
            <a:off x="12929921" y="3675888"/>
            <a:ext cx="1203960" cy="56692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별칭 전환</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(세대)</a:t>
            </a:r>
            <a:endParaRPr lang="en-US" sz="1400" dirty="0"/>
          </a:p>
        </p:txBody>
      </p:sp>
      <p:sp>
        <p:nvSpPr>
          <p:cNvPr id="61" name="Shape 58"/>
          <p:cNvSpPr/>
          <p:nvPr/>
        </p:nvSpPr>
        <p:spPr>
          <a:xfrm>
            <a:off x="7455713" y="3959352"/>
            <a:ext cx="82296" cy="0"/>
          </a:xfrm>
          <a:prstGeom prst="line">
            <a:avLst/>
          </a:prstGeom>
          <a:noFill/>
          <a:ln w="22225">
            <a:solidFill>
              <a:srgbClr val="4A5364"/>
            </a:solidFill>
            <a:prstDash val="solid"/>
            <a:tailEnd type="triangle"/>
          </a:ln>
        </p:spPr>
        <p:txBody>
          <a:bodyPr/>
          <a:lstStyle/>
          <a:p>
            <a:endParaRPr lang="ko-KR" altLang="en-US"/>
          </a:p>
        </p:txBody>
      </p:sp>
      <p:sp>
        <p:nvSpPr>
          <p:cNvPr id="62" name="Shape 59"/>
          <p:cNvSpPr/>
          <p:nvPr/>
        </p:nvSpPr>
        <p:spPr>
          <a:xfrm>
            <a:off x="10137953" y="3959352"/>
            <a:ext cx="82296" cy="0"/>
          </a:xfrm>
          <a:prstGeom prst="line">
            <a:avLst/>
          </a:prstGeom>
          <a:noFill/>
          <a:ln w="22225">
            <a:solidFill>
              <a:srgbClr val="4A5364"/>
            </a:solidFill>
            <a:prstDash val="solid"/>
            <a:tailEnd type="triangle"/>
          </a:ln>
        </p:spPr>
        <p:txBody>
          <a:bodyPr/>
          <a:lstStyle/>
          <a:p>
            <a:endParaRPr lang="ko-KR" altLang="en-US"/>
          </a:p>
        </p:txBody>
      </p:sp>
      <p:sp>
        <p:nvSpPr>
          <p:cNvPr id="63" name="Shape 60"/>
          <p:cNvSpPr/>
          <p:nvPr/>
        </p:nvSpPr>
        <p:spPr>
          <a:xfrm>
            <a:off x="12820193" y="3959352"/>
            <a:ext cx="82296" cy="0"/>
          </a:xfrm>
          <a:prstGeom prst="line">
            <a:avLst/>
          </a:prstGeom>
          <a:noFill/>
          <a:ln w="22225">
            <a:solidFill>
              <a:srgbClr val="4A5364"/>
            </a:solidFill>
            <a:prstDash val="solid"/>
            <a:tailEnd type="triangle"/>
          </a:ln>
        </p:spPr>
        <p:txBody>
          <a:bodyPr/>
          <a:lstStyle/>
          <a:p>
            <a:endParaRPr lang="ko-KR" altLang="en-US"/>
          </a:p>
        </p:txBody>
      </p:sp>
      <p:sp>
        <p:nvSpPr>
          <p:cNvPr id="64" name="Shape 61"/>
          <p:cNvSpPr/>
          <p:nvPr/>
        </p:nvSpPr>
        <p:spPr>
          <a:xfrm>
            <a:off x="8167421" y="2231136"/>
            <a:ext cx="0" cy="731520"/>
          </a:xfrm>
          <a:prstGeom prst="line">
            <a:avLst/>
          </a:prstGeom>
          <a:noFill/>
          <a:ln w="19050">
            <a:solidFill>
              <a:srgbClr val="2E74C6"/>
            </a:solidFill>
            <a:prstDash val="dash"/>
            <a:tailEnd type="triangle"/>
          </a:ln>
        </p:spPr>
        <p:txBody>
          <a:bodyPr/>
          <a:lstStyle/>
          <a:p>
            <a:endParaRPr lang="ko-KR" altLang="en-US"/>
          </a:p>
        </p:txBody>
      </p:sp>
      <p:sp>
        <p:nvSpPr>
          <p:cNvPr id="65" name="Shape 62"/>
          <p:cNvSpPr/>
          <p:nvPr/>
        </p:nvSpPr>
        <p:spPr>
          <a:xfrm>
            <a:off x="9508541" y="2231136"/>
            <a:ext cx="0" cy="731520"/>
          </a:xfrm>
          <a:prstGeom prst="line">
            <a:avLst/>
          </a:prstGeom>
          <a:noFill/>
          <a:ln w="19050">
            <a:solidFill>
              <a:srgbClr val="2E74C6"/>
            </a:solidFill>
            <a:prstDash val="dash"/>
            <a:tailEnd type="triangle"/>
          </a:ln>
        </p:spPr>
        <p:txBody>
          <a:bodyPr/>
          <a:lstStyle/>
          <a:p>
            <a:endParaRPr lang="ko-KR" altLang="en-US"/>
          </a:p>
        </p:txBody>
      </p:sp>
      <p:sp>
        <p:nvSpPr>
          <p:cNvPr id="66" name="Text 63"/>
          <p:cNvSpPr txBox="1"/>
          <p:nvPr/>
        </p:nvSpPr>
        <p:spPr>
          <a:xfrm>
            <a:off x="8222285" y="2450592"/>
            <a:ext cx="822960" cy="274320"/>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67" name="Text 64"/>
          <p:cNvSpPr txBox="1"/>
          <p:nvPr/>
        </p:nvSpPr>
        <p:spPr>
          <a:xfrm>
            <a:off x="10339121" y="1700784"/>
            <a:ext cx="3794760" cy="51206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68" name="Text 65"/>
          <p:cNvSpPr txBox="1"/>
          <p:nvPr/>
        </p:nvSpPr>
        <p:spPr>
          <a:xfrm>
            <a:off x="10339121" y="2340864"/>
            <a:ext cx="3794760" cy="51206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청크는 검색용 크기 그대로</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두 갈래가 함께 씀</a:t>
            </a:r>
            <a:endParaRPr lang="en-US" sz="1400" dirty="0"/>
          </a:p>
        </p:txBody>
      </p:sp>
      <p:sp>
        <p:nvSpPr>
          <p:cNvPr id="69" name="Shape 66"/>
          <p:cNvSpPr/>
          <p:nvPr/>
        </p:nvSpPr>
        <p:spPr>
          <a:xfrm>
            <a:off x="6114593" y="2596896"/>
            <a:ext cx="22860" cy="0"/>
          </a:xfrm>
          <a:prstGeom prst="line">
            <a:avLst/>
          </a:prstGeom>
          <a:noFill/>
          <a:ln w="22225">
            <a:solidFill>
              <a:srgbClr val="4A5364"/>
            </a:solidFill>
            <a:prstDash val="solid"/>
          </a:ln>
        </p:spPr>
        <p:txBody>
          <a:bodyPr/>
          <a:lstStyle/>
          <a:p>
            <a:endParaRPr lang="ko-KR" altLang="en-US"/>
          </a:p>
        </p:txBody>
      </p:sp>
      <p:sp>
        <p:nvSpPr>
          <p:cNvPr id="70" name="Shape 67"/>
          <p:cNvSpPr/>
          <p:nvPr/>
        </p:nvSpPr>
        <p:spPr>
          <a:xfrm>
            <a:off x="6137453" y="2596896"/>
            <a:ext cx="0" cy="1362456"/>
          </a:xfrm>
          <a:prstGeom prst="line">
            <a:avLst/>
          </a:prstGeom>
          <a:noFill/>
          <a:ln w="22225">
            <a:solidFill>
              <a:srgbClr val="4A5364"/>
            </a:solidFill>
            <a:prstDash val="solid"/>
            <a:tailEnd type="none"/>
          </a:ln>
        </p:spPr>
        <p:txBody>
          <a:bodyPr/>
          <a:lstStyle/>
          <a:p>
            <a:endParaRPr lang="ko-KR" altLang="en-US"/>
          </a:p>
        </p:txBody>
      </p:sp>
      <p:sp>
        <p:nvSpPr>
          <p:cNvPr id="71" name="Shape 68"/>
          <p:cNvSpPr/>
          <p:nvPr/>
        </p:nvSpPr>
        <p:spPr>
          <a:xfrm>
            <a:off x="6137453" y="3264408"/>
            <a:ext cx="59436" cy="0"/>
          </a:xfrm>
          <a:prstGeom prst="line">
            <a:avLst/>
          </a:prstGeom>
          <a:noFill/>
          <a:ln w="22225">
            <a:solidFill>
              <a:srgbClr val="4A5364"/>
            </a:solidFill>
            <a:prstDash val="solid"/>
            <a:tailEnd type="triangle"/>
          </a:ln>
        </p:spPr>
        <p:txBody>
          <a:bodyPr/>
          <a:lstStyle/>
          <a:p>
            <a:endParaRPr lang="ko-KR" altLang="en-US"/>
          </a:p>
        </p:txBody>
      </p:sp>
      <p:sp>
        <p:nvSpPr>
          <p:cNvPr id="72" name="Shape 69"/>
          <p:cNvSpPr/>
          <p:nvPr/>
        </p:nvSpPr>
        <p:spPr>
          <a:xfrm>
            <a:off x="6137453" y="3959352"/>
            <a:ext cx="59436" cy="0"/>
          </a:xfrm>
          <a:prstGeom prst="line">
            <a:avLst/>
          </a:prstGeom>
          <a:noFill/>
          <a:ln w="22225">
            <a:solidFill>
              <a:srgbClr val="4A5364"/>
            </a:solidFill>
            <a:prstDash val="solid"/>
            <a:tailEnd type="triangle"/>
          </a:ln>
        </p:spPr>
        <p:txBody>
          <a:bodyPr/>
          <a:lstStyle/>
          <a:p>
            <a:endParaRPr lang="ko-KR" altLang="en-US"/>
          </a:p>
        </p:txBody>
      </p:sp>
      <p:sp>
        <p:nvSpPr>
          <p:cNvPr id="73" name="Shape 70"/>
          <p:cNvSpPr/>
          <p:nvPr/>
        </p:nvSpPr>
        <p:spPr>
          <a:xfrm>
            <a:off x="509321" y="4498848"/>
            <a:ext cx="3794760" cy="365760"/>
          </a:xfrm>
          <a:prstGeom prst="roundRect">
            <a:avLst>
              <a:gd name="adj" fmla="val 12500"/>
            </a:avLst>
          </a:prstGeom>
          <a:solidFill>
            <a:srgbClr val="1E2A5C"/>
          </a:solidFill>
          <a:ln/>
        </p:spPr>
        <p:txBody>
          <a:bodyPr/>
          <a:lstStyle/>
          <a:p>
            <a:endParaRPr lang="ko-KR" altLang="en-US"/>
          </a:p>
        </p:txBody>
      </p:sp>
      <p:sp>
        <p:nvSpPr>
          <p:cNvPr id="74" name="Text 71"/>
          <p:cNvSpPr txBox="1"/>
          <p:nvPr/>
        </p:nvSpPr>
        <p:spPr>
          <a:xfrm>
            <a:off x="509321" y="4498848"/>
            <a:ext cx="3794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세대 전환을 함께</a:t>
            </a:r>
            <a:endParaRPr lang="en-US" sz="1600" dirty="0"/>
          </a:p>
        </p:txBody>
      </p:sp>
      <p:sp>
        <p:nvSpPr>
          <p:cNvPr id="75" name="Shape 72"/>
          <p:cNvSpPr/>
          <p:nvPr/>
        </p:nvSpPr>
        <p:spPr>
          <a:xfrm>
            <a:off x="509321" y="4937760"/>
            <a:ext cx="3794760" cy="1572768"/>
          </a:xfrm>
          <a:prstGeom prst="roundRect">
            <a:avLst>
              <a:gd name="adj" fmla="val 4651"/>
            </a:avLst>
          </a:prstGeom>
          <a:solidFill>
            <a:srgbClr val="FFFFFF"/>
          </a:solidFill>
          <a:ln w="12700">
            <a:solidFill>
              <a:srgbClr val="D9E0EC"/>
            </a:solidFill>
            <a:prstDash val="solid"/>
          </a:ln>
        </p:spPr>
        <p:txBody>
          <a:bodyPr/>
          <a:lstStyle/>
          <a:p>
            <a:endParaRPr lang="ko-KR" altLang="en-US"/>
          </a:p>
        </p:txBody>
      </p:sp>
      <p:sp>
        <p:nvSpPr>
          <p:cNvPr id="76" name="Text 73"/>
          <p:cNvSpPr txBox="1"/>
          <p:nvPr/>
        </p:nvSpPr>
        <p:spPr>
          <a:xfrm>
            <a:off x="673913" y="5065776"/>
            <a:ext cx="3520440" cy="1353312"/>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새 세대 인덱스를 다 만든 뒤 검색 엔진 별칭과 Neo4j 세대를 같은 순간에 바꿈</a:t>
            </a:r>
            <a:endParaRPr lang="en-US" sz="1400" dirty="0"/>
          </a:p>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한쪽만 바뀌면 검색 결과의 chunk_id가 그래프에 없게 됨</a:t>
            </a:r>
            <a:endParaRPr lang="en-US" sz="1400" dirty="0"/>
          </a:p>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증분 색인은 바뀐 문서만 두 곳에 쓰고 맞춤</a:t>
            </a:r>
            <a:endParaRPr lang="en-US" sz="1400" dirty="0"/>
          </a:p>
        </p:txBody>
      </p:sp>
      <p:sp>
        <p:nvSpPr>
          <p:cNvPr id="77" name="Shape 74"/>
          <p:cNvSpPr/>
          <p:nvPr/>
        </p:nvSpPr>
        <p:spPr>
          <a:xfrm>
            <a:off x="4532681" y="4498848"/>
            <a:ext cx="3794760" cy="365760"/>
          </a:xfrm>
          <a:prstGeom prst="roundRect">
            <a:avLst>
              <a:gd name="adj" fmla="val 12500"/>
            </a:avLst>
          </a:prstGeom>
          <a:solidFill>
            <a:srgbClr val="1E2A5C"/>
          </a:solidFill>
          <a:ln/>
        </p:spPr>
        <p:txBody>
          <a:bodyPr/>
          <a:lstStyle/>
          <a:p>
            <a:endParaRPr lang="ko-KR" altLang="en-US"/>
          </a:p>
        </p:txBody>
      </p:sp>
      <p:sp>
        <p:nvSpPr>
          <p:cNvPr id="78" name="Text 75"/>
          <p:cNvSpPr txBox="1"/>
          <p:nvPr/>
        </p:nvSpPr>
        <p:spPr>
          <a:xfrm>
            <a:off x="4532681" y="4498848"/>
            <a:ext cx="3794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검색 때 그래프로 건너감</a:t>
            </a:r>
            <a:endParaRPr lang="en-US" sz="1600" dirty="0"/>
          </a:p>
        </p:txBody>
      </p:sp>
      <p:sp>
        <p:nvSpPr>
          <p:cNvPr id="79" name="Shape 76"/>
          <p:cNvSpPr/>
          <p:nvPr/>
        </p:nvSpPr>
        <p:spPr>
          <a:xfrm>
            <a:off x="4532681" y="4937760"/>
            <a:ext cx="3794760" cy="1572768"/>
          </a:xfrm>
          <a:prstGeom prst="roundRect">
            <a:avLst>
              <a:gd name="adj" fmla="val 4651"/>
            </a:avLst>
          </a:prstGeom>
          <a:solidFill>
            <a:srgbClr val="FFFFFF"/>
          </a:solidFill>
          <a:ln w="12700">
            <a:solidFill>
              <a:srgbClr val="D9E0EC"/>
            </a:solidFill>
            <a:prstDash val="solid"/>
          </a:ln>
        </p:spPr>
        <p:txBody>
          <a:bodyPr/>
          <a:lstStyle/>
          <a:p>
            <a:endParaRPr lang="ko-KR" altLang="en-US"/>
          </a:p>
        </p:txBody>
      </p:sp>
      <p:sp>
        <p:nvSpPr>
          <p:cNvPr id="80" name="Text 77"/>
          <p:cNvSpPr txBox="1"/>
          <p:nvPr/>
        </p:nvSpPr>
        <p:spPr>
          <a:xfrm>
            <a:off x="4697273" y="5065776"/>
            <a:ext cx="3520440" cy="1353312"/>
          </a:xfrm>
          <a:prstGeom prst="rect">
            <a:avLst/>
          </a:prstGeom>
          <a:noFill/>
          <a:ln/>
        </p:spPr>
        <p:txBody>
          <a:bodyPr wrap="square" lIns="0" tIns="0" rIns="0" bIns="0" rtlCol="0" anchor="t"/>
          <a:lstStyle/>
          <a:p>
            <a:pPr marL="152400" indent="-152400">
              <a:spcAft>
                <a:spcPts val="800"/>
              </a:spcAft>
              <a:buSzPct val="100000"/>
              <a:buChar char="•"/>
            </a:pPr>
            <a:r>
              <a:rPr lang="en-US" sz="1400" b="1" dirty="0">
                <a:solidFill>
                  <a:srgbClr val="2B3242"/>
                </a:solidFill>
                <a:latin typeface="Pretendard" pitchFamily="34" charset="0"/>
                <a:ea typeface="Pretendard" pitchFamily="34" charset="-122"/>
                <a:cs typeface="Pretendard" pitchFamily="34" charset="-120"/>
              </a:rPr>
              <a:t>검색 엔진이 하이브리드로 청크를 찾음(BM25와 벡터, 회원 필터)</a:t>
            </a:r>
            <a:endParaRPr lang="en-US" sz="1400" b="1" dirty="0"/>
          </a:p>
          <a:p>
            <a:pPr marL="152400" indent="-152400">
              <a:spcAft>
                <a:spcPts val="800"/>
              </a:spcAft>
              <a:buSzPct val="100000"/>
              <a:buChar char="•"/>
            </a:pPr>
            <a:r>
              <a:rPr lang="en-US" sz="1400" b="1" dirty="0">
                <a:solidFill>
                  <a:srgbClr val="FF0000"/>
                </a:solidFill>
                <a:latin typeface="Pretendard" pitchFamily="34" charset="0"/>
                <a:ea typeface="Pretendard" pitchFamily="34" charset="-122"/>
                <a:cs typeface="Pretendard" pitchFamily="34" charset="-120"/>
              </a:rPr>
              <a:t>돌려받은 chunk_id와 같은 ID의 Neo4j 청크 노드를 찾음</a:t>
            </a:r>
            <a:endParaRPr lang="en-US" sz="1400" b="1" dirty="0">
              <a:solidFill>
                <a:srgbClr val="FF0000"/>
              </a:solidFill>
            </a:endParaRPr>
          </a:p>
          <a:p>
            <a:pPr marL="152400" indent="-152400">
              <a:spcAft>
                <a:spcPts val="800"/>
              </a:spcAft>
              <a:buSzPct val="100000"/>
              <a:buChar char="•"/>
            </a:pPr>
            <a:r>
              <a:rPr lang="en-US" sz="1400" b="1" dirty="0">
                <a:solidFill>
                  <a:srgbClr val="2B3242"/>
                </a:solidFill>
                <a:latin typeface="Pretendard" pitchFamily="34" charset="0"/>
                <a:ea typeface="Pretendard" pitchFamily="34" charset="-122"/>
                <a:cs typeface="Pretendard" pitchFamily="34" charset="-120"/>
              </a:rPr>
              <a:t>관계를 따라 질문에 필요한 근거 노드를 얻음</a:t>
            </a:r>
            <a:endParaRPr lang="en-US" sz="1400" b="1" dirty="0"/>
          </a:p>
        </p:txBody>
      </p:sp>
      <p:sp>
        <p:nvSpPr>
          <p:cNvPr id="81" name="Shape 78"/>
          <p:cNvSpPr/>
          <p:nvPr/>
        </p:nvSpPr>
        <p:spPr>
          <a:xfrm>
            <a:off x="8556041" y="4498848"/>
            <a:ext cx="5577840" cy="365760"/>
          </a:xfrm>
          <a:prstGeom prst="roundRect">
            <a:avLst>
              <a:gd name="adj" fmla="val 12500"/>
            </a:avLst>
          </a:prstGeom>
          <a:solidFill>
            <a:srgbClr val="404155"/>
          </a:solidFill>
          <a:ln/>
        </p:spPr>
        <p:txBody>
          <a:bodyPr/>
          <a:lstStyle/>
          <a:p>
            <a:endParaRPr lang="ko-KR" altLang="en-US"/>
          </a:p>
        </p:txBody>
      </p:sp>
      <p:sp>
        <p:nvSpPr>
          <p:cNvPr id="82" name="Text 79"/>
          <p:cNvSpPr txBox="1"/>
          <p:nvPr/>
        </p:nvSpPr>
        <p:spPr>
          <a:xfrm>
            <a:off x="8556041" y="4498848"/>
            <a:ext cx="55778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검색 엔진 라이선스(2026-10 기준, 둘 다 nori 지원)</a:t>
            </a:r>
            <a:endParaRPr lang="en-US" sz="1600" dirty="0"/>
          </a:p>
        </p:txBody>
      </p:sp>
      <p:sp>
        <p:nvSpPr>
          <p:cNvPr id="83" name="Shape 80"/>
          <p:cNvSpPr/>
          <p:nvPr/>
        </p:nvSpPr>
        <p:spPr>
          <a:xfrm>
            <a:off x="8556041" y="4937760"/>
            <a:ext cx="5577840" cy="731520"/>
          </a:xfrm>
          <a:prstGeom prst="roundRect">
            <a:avLst>
              <a:gd name="adj" fmla="val 7500"/>
            </a:avLst>
          </a:prstGeom>
          <a:solidFill>
            <a:srgbClr val="FFFFFF"/>
          </a:solidFill>
          <a:ln w="12700">
            <a:solidFill>
              <a:srgbClr val="D9E0EC"/>
            </a:solidFill>
            <a:prstDash val="solid"/>
          </a:ln>
        </p:spPr>
        <p:txBody>
          <a:bodyPr/>
          <a:lstStyle/>
          <a:p>
            <a:endParaRPr lang="ko-KR" altLang="en-US"/>
          </a:p>
        </p:txBody>
      </p:sp>
      <p:sp>
        <p:nvSpPr>
          <p:cNvPr id="84" name="Shape 81"/>
          <p:cNvSpPr/>
          <p:nvPr/>
        </p:nvSpPr>
        <p:spPr>
          <a:xfrm>
            <a:off x="8629193" y="5138928"/>
            <a:ext cx="1417320" cy="329184"/>
          </a:xfrm>
          <a:prstGeom prst="roundRect">
            <a:avLst>
              <a:gd name="adj" fmla="val 13889"/>
            </a:avLst>
          </a:prstGeom>
          <a:solidFill>
            <a:srgbClr val="1E2A5C"/>
          </a:solidFill>
          <a:ln/>
        </p:spPr>
        <p:txBody>
          <a:bodyPr/>
          <a:lstStyle/>
          <a:p>
            <a:endParaRPr lang="ko-KR" altLang="en-US"/>
          </a:p>
        </p:txBody>
      </p:sp>
      <p:sp>
        <p:nvSpPr>
          <p:cNvPr id="85" name="Text 82"/>
          <p:cNvSpPr txBox="1"/>
          <p:nvPr/>
        </p:nvSpPr>
        <p:spPr>
          <a:xfrm>
            <a:off x="8629193" y="5138928"/>
            <a:ext cx="141732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Elasticsearch</a:t>
            </a:r>
            <a:endParaRPr lang="en-US" sz="1400" dirty="0"/>
          </a:p>
        </p:txBody>
      </p:sp>
      <p:sp>
        <p:nvSpPr>
          <p:cNvPr id="86" name="Text 83"/>
          <p:cNvSpPr txBox="1"/>
          <p:nvPr/>
        </p:nvSpPr>
        <p:spPr>
          <a:xfrm>
            <a:off x="10128809" y="4937760"/>
            <a:ext cx="393192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AGPL v3, SSPL, ELv2 중 선택</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2024-08 AGPL 추가로 다시 오픈소스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AGPL로 고쳐서 서비스하면 소스 공개</a:t>
            </a:r>
            <a:endParaRPr lang="en-US" sz="1400" dirty="0"/>
          </a:p>
        </p:txBody>
      </p:sp>
      <p:sp>
        <p:nvSpPr>
          <p:cNvPr id="87" name="Shape 84"/>
          <p:cNvSpPr/>
          <p:nvPr/>
        </p:nvSpPr>
        <p:spPr>
          <a:xfrm>
            <a:off x="8556041" y="5724144"/>
            <a:ext cx="5577840" cy="731520"/>
          </a:xfrm>
          <a:prstGeom prst="roundRect">
            <a:avLst>
              <a:gd name="adj" fmla="val 7500"/>
            </a:avLst>
          </a:prstGeom>
          <a:solidFill>
            <a:srgbClr val="FFFFFF"/>
          </a:solidFill>
          <a:ln w="12700">
            <a:solidFill>
              <a:srgbClr val="D9E0EC"/>
            </a:solidFill>
            <a:prstDash val="solid"/>
          </a:ln>
        </p:spPr>
        <p:txBody>
          <a:bodyPr/>
          <a:lstStyle/>
          <a:p>
            <a:endParaRPr lang="ko-KR" altLang="en-US"/>
          </a:p>
        </p:txBody>
      </p:sp>
      <p:sp>
        <p:nvSpPr>
          <p:cNvPr id="88" name="Shape 85"/>
          <p:cNvSpPr/>
          <p:nvPr/>
        </p:nvSpPr>
        <p:spPr>
          <a:xfrm>
            <a:off x="8629193" y="5925312"/>
            <a:ext cx="1417320" cy="329184"/>
          </a:xfrm>
          <a:prstGeom prst="roundRect">
            <a:avLst>
              <a:gd name="adj" fmla="val 13889"/>
            </a:avLst>
          </a:prstGeom>
          <a:solidFill>
            <a:srgbClr val="1E2A5C"/>
          </a:solidFill>
          <a:ln/>
        </p:spPr>
        <p:txBody>
          <a:bodyPr/>
          <a:lstStyle/>
          <a:p>
            <a:endParaRPr lang="ko-KR" altLang="en-US"/>
          </a:p>
        </p:txBody>
      </p:sp>
      <p:sp>
        <p:nvSpPr>
          <p:cNvPr id="89" name="Text 86"/>
          <p:cNvSpPr txBox="1"/>
          <p:nvPr/>
        </p:nvSpPr>
        <p:spPr>
          <a:xfrm>
            <a:off x="8629193" y="5925312"/>
            <a:ext cx="141732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OpenSearch</a:t>
            </a:r>
            <a:endParaRPr lang="en-US" sz="1400" dirty="0"/>
          </a:p>
        </p:txBody>
      </p:sp>
      <p:sp>
        <p:nvSpPr>
          <p:cNvPr id="90" name="Text 87"/>
          <p:cNvSpPr txBox="1"/>
          <p:nvPr/>
        </p:nvSpPr>
        <p:spPr>
          <a:xfrm>
            <a:off x="10128809" y="5724144"/>
            <a:ext cx="393192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Apache 2.0(7.10.2에서 갈라짐)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2024-09부터 리눅스 재단 산하 재단 관리</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고쳐 써도 소스 공개 의무 없음</a:t>
            </a:r>
            <a:endParaRPr lang="en-US" sz="1400" dirty="0"/>
          </a:p>
        </p:txBody>
      </p:sp>
      <p:sp>
        <p:nvSpPr>
          <p:cNvPr id="91" name="Shape 88"/>
          <p:cNvSpPr/>
          <p:nvPr/>
        </p:nvSpPr>
        <p:spPr>
          <a:xfrm>
            <a:off x="509321" y="6601968"/>
            <a:ext cx="13624560" cy="658368"/>
          </a:xfrm>
          <a:prstGeom prst="roundRect">
            <a:avLst>
              <a:gd name="adj" fmla="val 8333"/>
            </a:avLst>
          </a:prstGeom>
          <a:solidFill>
            <a:srgbClr val="F5F8FC"/>
          </a:solidFill>
          <a:ln/>
        </p:spPr>
        <p:txBody>
          <a:bodyPr/>
          <a:lstStyle/>
          <a:p>
            <a:endParaRPr lang="ko-KR" altLang="en-US"/>
          </a:p>
        </p:txBody>
      </p:sp>
      <p:sp>
        <p:nvSpPr>
          <p:cNvPr id="92" name="Text 89"/>
          <p:cNvSpPr txBox="1"/>
          <p:nvPr/>
        </p:nvSpPr>
        <p:spPr>
          <a:xfrm>
            <a:off x="619049" y="6638544"/>
            <a:ext cx="2331720" cy="585216"/>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추출 단위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LLM에 한 번에 넣는 글 조각</a:t>
            </a:r>
            <a:endParaRPr lang="en-US" sz="1400" dirty="0"/>
          </a:p>
        </p:txBody>
      </p:sp>
      <p:sp>
        <p:nvSpPr>
          <p:cNvPr id="93" name="Shape 90"/>
          <p:cNvSpPr/>
          <p:nvPr/>
        </p:nvSpPr>
        <p:spPr>
          <a:xfrm>
            <a:off x="3023921" y="6729984"/>
            <a:ext cx="1874520" cy="402336"/>
          </a:xfrm>
          <a:prstGeom prst="roundRect">
            <a:avLst>
              <a:gd name="adj" fmla="val 11364"/>
            </a:avLst>
          </a:prstGeom>
          <a:solidFill>
            <a:srgbClr val="FFFFFF"/>
          </a:solidFill>
          <a:ln w="15875">
            <a:solidFill>
              <a:srgbClr val="4A5364"/>
            </a:solidFill>
            <a:prstDash val="solid"/>
          </a:ln>
        </p:spPr>
        <p:txBody>
          <a:bodyPr/>
          <a:lstStyle/>
          <a:p>
            <a:endParaRPr lang="ko-KR" altLang="en-US"/>
          </a:p>
        </p:txBody>
      </p:sp>
      <p:sp>
        <p:nvSpPr>
          <p:cNvPr id="94" name="Text 91"/>
          <p:cNvSpPr txBox="1"/>
          <p:nvPr/>
        </p:nvSpPr>
        <p:spPr>
          <a:xfrm>
            <a:off x="3023921" y="6729984"/>
            <a:ext cx="1874520" cy="402336"/>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예 1) 약관 청크 A</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조항 3개가 함께 듦</a:t>
            </a:r>
            <a:endParaRPr lang="en-US" sz="1400" dirty="0"/>
          </a:p>
        </p:txBody>
      </p:sp>
      <p:sp>
        <p:nvSpPr>
          <p:cNvPr id="95" name="Shape 92"/>
          <p:cNvSpPr/>
          <p:nvPr/>
        </p:nvSpPr>
        <p:spPr>
          <a:xfrm>
            <a:off x="4925873" y="6931152"/>
            <a:ext cx="201168" cy="0"/>
          </a:xfrm>
          <a:prstGeom prst="line">
            <a:avLst/>
          </a:prstGeom>
          <a:noFill/>
          <a:ln w="22225">
            <a:solidFill>
              <a:srgbClr val="4A5364"/>
            </a:solidFill>
            <a:prstDash val="solid"/>
            <a:tailEnd type="triangle"/>
          </a:ln>
        </p:spPr>
        <p:txBody>
          <a:bodyPr/>
          <a:lstStyle/>
          <a:p>
            <a:endParaRPr lang="ko-KR" altLang="en-US"/>
          </a:p>
        </p:txBody>
      </p:sp>
      <p:sp>
        <p:nvSpPr>
          <p:cNvPr id="96" name="Shape 93"/>
          <p:cNvSpPr/>
          <p:nvPr/>
        </p:nvSpPr>
        <p:spPr>
          <a:xfrm>
            <a:off x="5154473" y="6729984"/>
            <a:ext cx="914400" cy="402336"/>
          </a:xfrm>
          <a:prstGeom prst="roundRect">
            <a:avLst>
              <a:gd name="adj" fmla="val 11364"/>
            </a:avLst>
          </a:prstGeom>
          <a:solidFill>
            <a:srgbClr val="EEF3FA"/>
          </a:solidFill>
          <a:ln w="15875">
            <a:solidFill>
              <a:srgbClr val="2E74C6"/>
            </a:solidFill>
            <a:prstDash val="solid"/>
          </a:ln>
        </p:spPr>
        <p:txBody>
          <a:bodyPr/>
          <a:lstStyle/>
          <a:p>
            <a:endParaRPr lang="ko-KR" altLang="en-US"/>
          </a:p>
        </p:txBody>
      </p:sp>
      <p:sp>
        <p:nvSpPr>
          <p:cNvPr id="97" name="Text 94"/>
          <p:cNvSpPr txBox="1"/>
          <p:nvPr/>
        </p:nvSpPr>
        <p:spPr>
          <a:xfrm>
            <a:off x="5154473" y="6729984"/>
            <a:ext cx="914400" cy="40233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제33조</a:t>
            </a:r>
            <a:endParaRPr lang="en-US" sz="1400" dirty="0"/>
          </a:p>
        </p:txBody>
      </p:sp>
      <p:sp>
        <p:nvSpPr>
          <p:cNvPr id="98" name="Shape 95"/>
          <p:cNvSpPr/>
          <p:nvPr/>
        </p:nvSpPr>
        <p:spPr>
          <a:xfrm>
            <a:off x="6123737" y="6729984"/>
            <a:ext cx="914400" cy="402336"/>
          </a:xfrm>
          <a:prstGeom prst="roundRect">
            <a:avLst>
              <a:gd name="adj" fmla="val 11364"/>
            </a:avLst>
          </a:prstGeom>
          <a:solidFill>
            <a:srgbClr val="EEF3FA"/>
          </a:solidFill>
          <a:ln w="15875">
            <a:solidFill>
              <a:srgbClr val="2E74C6"/>
            </a:solidFill>
            <a:prstDash val="solid"/>
          </a:ln>
        </p:spPr>
        <p:txBody>
          <a:bodyPr/>
          <a:lstStyle/>
          <a:p>
            <a:endParaRPr lang="ko-KR" altLang="en-US"/>
          </a:p>
        </p:txBody>
      </p:sp>
      <p:sp>
        <p:nvSpPr>
          <p:cNvPr id="99" name="Text 96"/>
          <p:cNvSpPr txBox="1"/>
          <p:nvPr/>
        </p:nvSpPr>
        <p:spPr>
          <a:xfrm>
            <a:off x="6123737" y="6729984"/>
            <a:ext cx="914400" cy="40233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제34조</a:t>
            </a:r>
            <a:endParaRPr lang="en-US" sz="1400" dirty="0"/>
          </a:p>
        </p:txBody>
      </p:sp>
      <p:sp>
        <p:nvSpPr>
          <p:cNvPr id="100" name="Shape 97"/>
          <p:cNvSpPr/>
          <p:nvPr/>
        </p:nvSpPr>
        <p:spPr>
          <a:xfrm>
            <a:off x="7093001" y="6729984"/>
            <a:ext cx="914400" cy="402336"/>
          </a:xfrm>
          <a:prstGeom prst="roundRect">
            <a:avLst>
              <a:gd name="adj" fmla="val 11364"/>
            </a:avLst>
          </a:prstGeom>
          <a:solidFill>
            <a:srgbClr val="EEF3FA"/>
          </a:solidFill>
          <a:ln w="15875">
            <a:solidFill>
              <a:srgbClr val="2E74C6"/>
            </a:solidFill>
            <a:prstDash val="solid"/>
          </a:ln>
        </p:spPr>
        <p:txBody>
          <a:bodyPr/>
          <a:lstStyle/>
          <a:p>
            <a:endParaRPr lang="ko-KR" altLang="en-US"/>
          </a:p>
        </p:txBody>
      </p:sp>
      <p:sp>
        <p:nvSpPr>
          <p:cNvPr id="101" name="Text 98"/>
          <p:cNvSpPr txBox="1"/>
          <p:nvPr/>
        </p:nvSpPr>
        <p:spPr>
          <a:xfrm>
            <a:off x="7093001" y="6729984"/>
            <a:ext cx="914400" cy="40233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제34조의2</a:t>
            </a:r>
            <a:endParaRPr lang="en-US" sz="1400" dirty="0"/>
          </a:p>
        </p:txBody>
      </p:sp>
      <p:sp>
        <p:nvSpPr>
          <p:cNvPr id="102" name="Shape 99"/>
          <p:cNvSpPr/>
          <p:nvPr/>
        </p:nvSpPr>
        <p:spPr>
          <a:xfrm>
            <a:off x="8034833" y="6931152"/>
            <a:ext cx="201168" cy="0"/>
          </a:xfrm>
          <a:prstGeom prst="line">
            <a:avLst/>
          </a:prstGeom>
          <a:noFill/>
          <a:ln w="22225">
            <a:solidFill>
              <a:srgbClr val="4A5364"/>
            </a:solidFill>
            <a:prstDash val="solid"/>
            <a:tailEnd type="triangle"/>
          </a:ln>
        </p:spPr>
        <p:txBody>
          <a:bodyPr/>
          <a:lstStyle/>
          <a:p>
            <a:endParaRPr lang="ko-KR" altLang="en-US"/>
          </a:p>
        </p:txBody>
      </p:sp>
      <p:sp>
        <p:nvSpPr>
          <p:cNvPr id="103" name="Shape 100"/>
          <p:cNvSpPr/>
          <p:nvPr/>
        </p:nvSpPr>
        <p:spPr>
          <a:xfrm>
            <a:off x="8263433" y="6729984"/>
            <a:ext cx="1234440" cy="402336"/>
          </a:xfrm>
          <a:prstGeom prst="roundRect">
            <a:avLst>
              <a:gd name="adj" fmla="val 11364"/>
            </a:avLst>
          </a:prstGeom>
          <a:solidFill>
            <a:srgbClr val="1E2A5C"/>
          </a:solidFill>
          <a:ln/>
        </p:spPr>
        <p:txBody>
          <a:bodyPr/>
          <a:lstStyle/>
          <a:p>
            <a:endParaRPr lang="ko-KR" altLang="en-US"/>
          </a:p>
        </p:txBody>
      </p:sp>
      <p:sp>
        <p:nvSpPr>
          <p:cNvPr id="104" name="Text 101"/>
          <p:cNvSpPr txBox="1"/>
          <p:nvPr/>
        </p:nvSpPr>
        <p:spPr>
          <a:xfrm>
            <a:off x="8263433" y="6729984"/>
            <a:ext cx="1234440" cy="40233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LLM 3번 추출</a:t>
            </a:r>
            <a:endParaRPr lang="en-US" sz="1400" dirty="0"/>
          </a:p>
        </p:txBody>
      </p:sp>
      <p:sp>
        <p:nvSpPr>
          <p:cNvPr id="105" name="Shape 102"/>
          <p:cNvSpPr/>
          <p:nvPr/>
        </p:nvSpPr>
        <p:spPr>
          <a:xfrm>
            <a:off x="9726473" y="6729984"/>
            <a:ext cx="1645920" cy="402336"/>
          </a:xfrm>
          <a:prstGeom prst="roundRect">
            <a:avLst>
              <a:gd name="adj" fmla="val 11364"/>
            </a:avLst>
          </a:prstGeom>
          <a:solidFill>
            <a:srgbClr val="FFFFFF"/>
          </a:solidFill>
          <a:ln w="15875">
            <a:solidFill>
              <a:srgbClr val="4A5364"/>
            </a:solidFill>
            <a:prstDash val="solid"/>
          </a:ln>
        </p:spPr>
        <p:txBody>
          <a:bodyPr/>
          <a:lstStyle/>
          <a:p>
            <a:endParaRPr lang="ko-KR" altLang="en-US"/>
          </a:p>
        </p:txBody>
      </p:sp>
      <p:sp>
        <p:nvSpPr>
          <p:cNvPr id="106" name="Text 103"/>
          <p:cNvSpPr txBox="1"/>
          <p:nvPr/>
        </p:nvSpPr>
        <p:spPr>
          <a:xfrm>
            <a:off x="9726473" y="6729984"/>
            <a:ext cx="1645920" cy="402336"/>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예 2) 상담 청크 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상담 1건</a:t>
            </a:r>
            <a:endParaRPr lang="en-US" sz="1400" dirty="0"/>
          </a:p>
        </p:txBody>
      </p:sp>
      <p:sp>
        <p:nvSpPr>
          <p:cNvPr id="107" name="Shape 104"/>
          <p:cNvSpPr/>
          <p:nvPr/>
        </p:nvSpPr>
        <p:spPr>
          <a:xfrm>
            <a:off x="11399825" y="6931152"/>
            <a:ext cx="201168" cy="0"/>
          </a:xfrm>
          <a:prstGeom prst="line">
            <a:avLst/>
          </a:prstGeom>
          <a:noFill/>
          <a:ln w="22225">
            <a:solidFill>
              <a:srgbClr val="4A5364"/>
            </a:solidFill>
            <a:prstDash val="solid"/>
            <a:tailEnd type="triangle"/>
          </a:ln>
        </p:spPr>
        <p:txBody>
          <a:bodyPr/>
          <a:lstStyle/>
          <a:p>
            <a:endParaRPr lang="ko-KR" altLang="en-US"/>
          </a:p>
        </p:txBody>
      </p:sp>
      <p:sp>
        <p:nvSpPr>
          <p:cNvPr id="108" name="Shape 105"/>
          <p:cNvSpPr/>
          <p:nvPr/>
        </p:nvSpPr>
        <p:spPr>
          <a:xfrm>
            <a:off x="11628425" y="6729984"/>
            <a:ext cx="731520" cy="402336"/>
          </a:xfrm>
          <a:prstGeom prst="roundRect">
            <a:avLst>
              <a:gd name="adj" fmla="val 11364"/>
            </a:avLst>
          </a:prstGeom>
          <a:solidFill>
            <a:srgbClr val="EEF3FA"/>
          </a:solidFill>
          <a:ln w="15875">
            <a:solidFill>
              <a:srgbClr val="2E74C6"/>
            </a:solidFill>
            <a:prstDash val="solid"/>
          </a:ln>
        </p:spPr>
        <p:txBody>
          <a:bodyPr/>
          <a:lstStyle/>
          <a:p>
            <a:endParaRPr lang="ko-KR" altLang="en-US"/>
          </a:p>
        </p:txBody>
      </p:sp>
      <p:sp>
        <p:nvSpPr>
          <p:cNvPr id="109" name="Text 106"/>
          <p:cNvSpPr txBox="1"/>
          <p:nvPr/>
        </p:nvSpPr>
        <p:spPr>
          <a:xfrm>
            <a:off x="11628425" y="6729984"/>
            <a:ext cx="731520" cy="40233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그대로</a:t>
            </a:r>
            <a:endParaRPr lang="en-US" sz="1400" dirty="0"/>
          </a:p>
        </p:txBody>
      </p:sp>
      <p:sp>
        <p:nvSpPr>
          <p:cNvPr id="110" name="Shape 107"/>
          <p:cNvSpPr/>
          <p:nvPr/>
        </p:nvSpPr>
        <p:spPr>
          <a:xfrm>
            <a:off x="12387377" y="6931152"/>
            <a:ext cx="201168" cy="0"/>
          </a:xfrm>
          <a:prstGeom prst="line">
            <a:avLst/>
          </a:prstGeom>
          <a:noFill/>
          <a:ln w="22225">
            <a:solidFill>
              <a:srgbClr val="4A5364"/>
            </a:solidFill>
            <a:prstDash val="solid"/>
            <a:tailEnd type="triangle"/>
          </a:ln>
        </p:spPr>
        <p:txBody>
          <a:bodyPr/>
          <a:lstStyle/>
          <a:p>
            <a:endParaRPr lang="ko-KR" altLang="en-US"/>
          </a:p>
        </p:txBody>
      </p:sp>
      <p:sp>
        <p:nvSpPr>
          <p:cNvPr id="111" name="Shape 108"/>
          <p:cNvSpPr/>
          <p:nvPr/>
        </p:nvSpPr>
        <p:spPr>
          <a:xfrm>
            <a:off x="12615977" y="6729984"/>
            <a:ext cx="1426464" cy="402336"/>
          </a:xfrm>
          <a:prstGeom prst="roundRect">
            <a:avLst>
              <a:gd name="adj" fmla="val 11364"/>
            </a:avLst>
          </a:prstGeom>
          <a:solidFill>
            <a:srgbClr val="1E2A5C"/>
          </a:solidFill>
          <a:ln/>
        </p:spPr>
        <p:txBody>
          <a:bodyPr/>
          <a:lstStyle/>
          <a:p>
            <a:endParaRPr lang="ko-KR" altLang="en-US"/>
          </a:p>
        </p:txBody>
      </p:sp>
      <p:sp>
        <p:nvSpPr>
          <p:cNvPr id="112" name="Text 109"/>
          <p:cNvSpPr txBox="1"/>
          <p:nvPr/>
        </p:nvSpPr>
        <p:spPr>
          <a:xfrm>
            <a:off x="12615977" y="6729984"/>
            <a:ext cx="1426464" cy="40233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LLM 1번 추출</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인덱싱</a:t>
            </a:r>
            <a:r>
              <a:rPr lang="en-US" sz="3200" b="1" dirty="0">
                <a:solidFill>
                  <a:srgbClr val="2C2926"/>
                </a:solidFill>
                <a:latin typeface="Pretendard" pitchFamily="34" charset="0"/>
                <a:ea typeface="Pretendard" pitchFamily="34" charset="-122"/>
                <a:cs typeface="Pretendard" pitchFamily="34" charset="-120"/>
              </a:rPr>
              <a:t> 워크플로우 구성안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서브 워크플로우는 준비, 반영, 정리를 따로 제공하고, 언제 부를지와 게시는 오케스트레이터가 정함</a:t>
            </a:r>
            <a:endParaRPr lang="en-US" sz="1800" dirty="0"/>
          </a:p>
        </p:txBody>
      </p:sp>
      <p:sp>
        <p:nvSpPr>
          <p:cNvPr id="5" name="Shape 2"/>
          <p:cNvSpPr/>
          <p:nvPr/>
        </p:nvSpPr>
        <p:spPr>
          <a:xfrm>
            <a:off x="509321" y="1737360"/>
            <a:ext cx="1828800" cy="658368"/>
          </a:xfrm>
          <a:prstGeom prst="roundRect">
            <a:avLst>
              <a:gd name="adj" fmla="val 6944"/>
            </a:avLst>
          </a:prstGeom>
          <a:solidFill>
            <a:srgbClr val="1E2A5C"/>
          </a:solidFill>
          <a:ln/>
        </p:spPr>
        <p:txBody>
          <a:bodyPr/>
          <a:lstStyle/>
          <a:p>
            <a:endParaRPr lang="ko-KR" altLang="en-US"/>
          </a:p>
        </p:txBody>
      </p:sp>
      <p:sp>
        <p:nvSpPr>
          <p:cNvPr id="6" name="Text 3"/>
          <p:cNvSpPr txBox="1"/>
          <p:nvPr/>
        </p:nvSpPr>
        <p:spPr>
          <a:xfrm>
            <a:off x="509321" y="1737360"/>
            <a:ext cx="1828800" cy="65836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오케스트레이터</a:t>
            </a:r>
            <a:endParaRPr lang="en-US" sz="1600" dirty="0"/>
          </a:p>
        </p:txBody>
      </p:sp>
      <p:sp>
        <p:nvSpPr>
          <p:cNvPr id="7" name="Shape 4"/>
          <p:cNvSpPr/>
          <p:nvPr/>
        </p:nvSpPr>
        <p:spPr>
          <a:xfrm>
            <a:off x="2475281" y="1737360"/>
            <a:ext cx="2112264" cy="658368"/>
          </a:xfrm>
          <a:prstGeom prst="roundRect">
            <a:avLst>
              <a:gd name="adj" fmla="val 11111"/>
            </a:avLst>
          </a:prstGeom>
          <a:solidFill>
            <a:srgbClr val="EEF3FA"/>
          </a:solidFill>
          <a:ln w="12700">
            <a:solidFill>
              <a:srgbClr val="2E74C6"/>
            </a:solidFill>
            <a:prstDash val="solid"/>
          </a:ln>
        </p:spPr>
        <p:txBody>
          <a:bodyPr/>
          <a:lstStyle/>
          <a:p>
            <a:endParaRPr lang="ko-KR" altLang="en-US"/>
          </a:p>
        </p:txBody>
      </p:sp>
      <p:sp>
        <p:nvSpPr>
          <p:cNvPr id="8" name="Text 5"/>
          <p:cNvSpPr txBox="1"/>
          <p:nvPr/>
        </p:nvSpPr>
        <p:spPr>
          <a:xfrm>
            <a:off x="2475281" y="1737360"/>
            <a:ext cx="2112264"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① 세대 ID 발급</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gen-X</a:t>
            </a:r>
            <a:endParaRPr lang="en-US" sz="1500" dirty="0"/>
          </a:p>
        </p:txBody>
      </p:sp>
      <p:sp>
        <p:nvSpPr>
          <p:cNvPr id="9" name="Shape 6"/>
          <p:cNvSpPr/>
          <p:nvPr/>
        </p:nvSpPr>
        <p:spPr>
          <a:xfrm>
            <a:off x="4614977" y="2066544"/>
            <a:ext cx="219456" cy="0"/>
          </a:xfrm>
          <a:prstGeom prst="line">
            <a:avLst/>
          </a:prstGeom>
          <a:noFill/>
          <a:ln w="19050">
            <a:solidFill>
              <a:srgbClr val="4A5364"/>
            </a:solidFill>
            <a:prstDash val="solid"/>
            <a:tailEnd type="triangle"/>
          </a:ln>
        </p:spPr>
        <p:txBody>
          <a:bodyPr/>
          <a:lstStyle/>
          <a:p>
            <a:endParaRPr lang="ko-KR" altLang="en-US"/>
          </a:p>
        </p:txBody>
      </p:sp>
      <p:sp>
        <p:nvSpPr>
          <p:cNvPr id="10" name="Shape 7"/>
          <p:cNvSpPr/>
          <p:nvPr/>
        </p:nvSpPr>
        <p:spPr>
          <a:xfrm>
            <a:off x="4861865" y="1737360"/>
            <a:ext cx="2112264" cy="658368"/>
          </a:xfrm>
          <a:prstGeom prst="roundRect">
            <a:avLst>
              <a:gd name="adj" fmla="val 11111"/>
            </a:avLst>
          </a:prstGeom>
          <a:solidFill>
            <a:srgbClr val="EEF3FA"/>
          </a:solidFill>
          <a:ln w="12700">
            <a:solidFill>
              <a:srgbClr val="2E74C6"/>
            </a:solidFill>
            <a:prstDash val="solid"/>
          </a:ln>
        </p:spPr>
        <p:txBody>
          <a:bodyPr/>
          <a:lstStyle/>
          <a:p>
            <a:endParaRPr lang="ko-KR" altLang="en-US"/>
          </a:p>
        </p:txBody>
      </p:sp>
      <p:sp>
        <p:nvSpPr>
          <p:cNvPr id="11" name="Text 8"/>
          <p:cNvSpPr txBox="1"/>
          <p:nvPr/>
        </p:nvSpPr>
        <p:spPr>
          <a:xfrm>
            <a:off x="4861865" y="1737360"/>
            <a:ext cx="2112264"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② 공통 단계</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청킹 결과 파일 생성</a:t>
            </a:r>
            <a:endParaRPr lang="en-US" sz="1500" dirty="0"/>
          </a:p>
        </p:txBody>
      </p:sp>
      <p:sp>
        <p:nvSpPr>
          <p:cNvPr id="12" name="Shape 9"/>
          <p:cNvSpPr/>
          <p:nvPr/>
        </p:nvSpPr>
        <p:spPr>
          <a:xfrm>
            <a:off x="7001561" y="2066544"/>
            <a:ext cx="219456" cy="0"/>
          </a:xfrm>
          <a:prstGeom prst="line">
            <a:avLst/>
          </a:prstGeom>
          <a:noFill/>
          <a:ln w="19050">
            <a:solidFill>
              <a:srgbClr val="4A5364"/>
            </a:solidFill>
            <a:prstDash val="solid"/>
            <a:tailEnd type="triangle"/>
          </a:ln>
        </p:spPr>
        <p:txBody>
          <a:bodyPr/>
          <a:lstStyle/>
          <a:p>
            <a:endParaRPr lang="ko-KR" altLang="en-US"/>
          </a:p>
        </p:txBody>
      </p:sp>
      <p:sp>
        <p:nvSpPr>
          <p:cNvPr id="13" name="Shape 10"/>
          <p:cNvSpPr/>
          <p:nvPr/>
        </p:nvSpPr>
        <p:spPr>
          <a:xfrm>
            <a:off x="7248449" y="1737360"/>
            <a:ext cx="2112264" cy="658368"/>
          </a:xfrm>
          <a:prstGeom prst="roundRect">
            <a:avLst>
              <a:gd name="adj" fmla="val 11111"/>
            </a:avLst>
          </a:prstGeom>
          <a:solidFill>
            <a:srgbClr val="FFFFFF"/>
          </a:solidFill>
          <a:ln w="12700">
            <a:solidFill>
              <a:srgbClr val="2E74C6"/>
            </a:solidFill>
            <a:prstDash val="solid"/>
          </a:ln>
        </p:spPr>
        <p:txBody>
          <a:bodyPr/>
          <a:lstStyle/>
          <a:p>
            <a:endParaRPr lang="ko-KR" altLang="en-US"/>
          </a:p>
        </p:txBody>
      </p:sp>
      <p:sp>
        <p:nvSpPr>
          <p:cNvPr id="14" name="Text 11"/>
          <p:cNvSpPr txBox="1"/>
          <p:nvPr/>
        </p:nvSpPr>
        <p:spPr>
          <a:xfrm>
            <a:off x="7248449" y="1737360"/>
            <a:ext cx="2112264"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③ 인덱스 구축</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서브 워크플로우 호출</a:t>
            </a:r>
            <a:endParaRPr lang="en-US" sz="1500" dirty="0"/>
          </a:p>
        </p:txBody>
      </p:sp>
      <p:sp>
        <p:nvSpPr>
          <p:cNvPr id="15" name="Shape 12"/>
          <p:cNvSpPr/>
          <p:nvPr/>
        </p:nvSpPr>
        <p:spPr>
          <a:xfrm>
            <a:off x="9388145" y="2066544"/>
            <a:ext cx="219456" cy="0"/>
          </a:xfrm>
          <a:prstGeom prst="line">
            <a:avLst/>
          </a:prstGeom>
          <a:noFill/>
          <a:ln w="19050">
            <a:solidFill>
              <a:srgbClr val="4A5364"/>
            </a:solidFill>
            <a:prstDash val="solid"/>
            <a:tailEnd type="triangle"/>
          </a:ln>
        </p:spPr>
        <p:txBody>
          <a:bodyPr/>
          <a:lstStyle/>
          <a:p>
            <a:endParaRPr lang="ko-KR" altLang="en-US"/>
          </a:p>
        </p:txBody>
      </p:sp>
      <p:sp>
        <p:nvSpPr>
          <p:cNvPr id="16" name="Shape 13"/>
          <p:cNvSpPr/>
          <p:nvPr/>
        </p:nvSpPr>
        <p:spPr>
          <a:xfrm>
            <a:off x="9635033" y="1737360"/>
            <a:ext cx="2112264" cy="658368"/>
          </a:xfrm>
          <a:prstGeom prst="roundRect">
            <a:avLst>
              <a:gd name="adj" fmla="val 11111"/>
            </a:avLst>
          </a:prstGeom>
          <a:solidFill>
            <a:srgbClr val="EEF3FA"/>
          </a:solidFill>
          <a:ln w="12700">
            <a:solidFill>
              <a:srgbClr val="2E74C6"/>
            </a:solidFill>
            <a:prstDash val="solid"/>
          </a:ln>
        </p:spPr>
        <p:txBody>
          <a:bodyPr/>
          <a:lstStyle/>
          <a:p>
            <a:endParaRPr lang="ko-KR" altLang="en-US"/>
          </a:p>
        </p:txBody>
      </p:sp>
      <p:sp>
        <p:nvSpPr>
          <p:cNvPr id="17" name="Text 14"/>
          <p:cNvSpPr txBox="1"/>
          <p:nvPr/>
        </p:nvSpPr>
        <p:spPr>
          <a:xfrm>
            <a:off x="9635033" y="1737360"/>
            <a:ext cx="2112264"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④ 검증</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chunk_id 목록 비교</a:t>
            </a:r>
            <a:endParaRPr lang="en-US" sz="1500" dirty="0"/>
          </a:p>
        </p:txBody>
      </p:sp>
      <p:sp>
        <p:nvSpPr>
          <p:cNvPr id="18" name="Shape 15"/>
          <p:cNvSpPr/>
          <p:nvPr/>
        </p:nvSpPr>
        <p:spPr>
          <a:xfrm>
            <a:off x="11774729" y="2066544"/>
            <a:ext cx="219456" cy="0"/>
          </a:xfrm>
          <a:prstGeom prst="line">
            <a:avLst/>
          </a:prstGeom>
          <a:noFill/>
          <a:ln w="19050">
            <a:solidFill>
              <a:srgbClr val="4A5364"/>
            </a:solidFill>
            <a:prstDash val="solid"/>
            <a:tailEnd type="triangle"/>
          </a:ln>
        </p:spPr>
        <p:txBody>
          <a:bodyPr/>
          <a:lstStyle/>
          <a:p>
            <a:endParaRPr lang="ko-KR" altLang="en-US"/>
          </a:p>
        </p:txBody>
      </p:sp>
      <p:sp>
        <p:nvSpPr>
          <p:cNvPr id="19" name="Shape 16"/>
          <p:cNvSpPr/>
          <p:nvPr/>
        </p:nvSpPr>
        <p:spPr>
          <a:xfrm>
            <a:off x="12021617" y="1737360"/>
            <a:ext cx="2112264" cy="658368"/>
          </a:xfrm>
          <a:prstGeom prst="roundRect">
            <a:avLst>
              <a:gd name="adj" fmla="val 11111"/>
            </a:avLst>
          </a:prstGeom>
          <a:solidFill>
            <a:srgbClr val="1E2A5C"/>
          </a:solidFill>
          <a:ln/>
        </p:spPr>
        <p:txBody>
          <a:bodyPr/>
          <a:lstStyle/>
          <a:p>
            <a:endParaRPr lang="ko-KR" altLang="en-US"/>
          </a:p>
        </p:txBody>
      </p:sp>
      <p:sp>
        <p:nvSpPr>
          <p:cNvPr id="20" name="Text 17"/>
          <p:cNvSpPr txBox="1"/>
          <p:nvPr/>
        </p:nvSpPr>
        <p:spPr>
          <a:xfrm>
            <a:off x="12021617" y="1737360"/>
            <a:ext cx="2112264"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⑤ 게시</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활성 세대 파일 교체</a:t>
            </a:r>
            <a:endParaRPr lang="en-US" sz="1500" dirty="0"/>
          </a:p>
        </p:txBody>
      </p:sp>
      <p:sp>
        <p:nvSpPr>
          <p:cNvPr id="21" name="Shape 18"/>
          <p:cNvSpPr/>
          <p:nvPr/>
        </p:nvSpPr>
        <p:spPr>
          <a:xfrm>
            <a:off x="509321" y="2542032"/>
            <a:ext cx="13624560" cy="1755648"/>
          </a:xfrm>
          <a:prstGeom prst="roundRect">
            <a:avLst>
              <a:gd name="adj" fmla="val 4167"/>
            </a:avLst>
          </a:prstGeom>
          <a:solidFill>
            <a:srgbClr val="FFFFFF"/>
          </a:solidFill>
          <a:ln w="19050">
            <a:solidFill>
              <a:srgbClr val="2E74C6"/>
            </a:solidFill>
            <a:prstDash val="solid"/>
          </a:ln>
        </p:spPr>
        <p:txBody>
          <a:bodyPr/>
          <a:lstStyle/>
          <a:p>
            <a:endParaRPr lang="ko-KR" altLang="en-US"/>
          </a:p>
        </p:txBody>
      </p:sp>
      <p:sp>
        <p:nvSpPr>
          <p:cNvPr id="22" name="Shape 19"/>
          <p:cNvSpPr/>
          <p:nvPr/>
        </p:nvSpPr>
        <p:spPr>
          <a:xfrm>
            <a:off x="8304581" y="2414016"/>
            <a:ext cx="0" cy="109728"/>
          </a:xfrm>
          <a:prstGeom prst="line">
            <a:avLst/>
          </a:prstGeom>
          <a:noFill/>
          <a:ln w="25400">
            <a:solidFill>
              <a:srgbClr val="2E74C6"/>
            </a:solidFill>
            <a:prstDash val="solid"/>
            <a:tailEnd type="triangle"/>
          </a:ln>
        </p:spPr>
        <p:txBody>
          <a:bodyPr/>
          <a:lstStyle/>
          <a:p>
            <a:endParaRPr lang="ko-KR" altLang="en-US"/>
          </a:p>
        </p:txBody>
      </p:sp>
      <p:sp>
        <p:nvSpPr>
          <p:cNvPr id="23" name="Shape 20"/>
          <p:cNvSpPr/>
          <p:nvPr/>
        </p:nvSpPr>
        <p:spPr>
          <a:xfrm flipV="1">
            <a:off x="10691165" y="2414016"/>
            <a:ext cx="0" cy="109728"/>
          </a:xfrm>
          <a:prstGeom prst="line">
            <a:avLst/>
          </a:prstGeom>
          <a:noFill/>
          <a:ln w="25400">
            <a:solidFill>
              <a:srgbClr val="2E74C6"/>
            </a:solidFill>
            <a:prstDash val="solid"/>
            <a:tailEnd type="triangle"/>
          </a:ln>
        </p:spPr>
        <p:txBody>
          <a:bodyPr/>
          <a:lstStyle/>
          <a:p>
            <a:endParaRPr lang="ko-KR" altLang="en-US"/>
          </a:p>
        </p:txBody>
      </p:sp>
      <p:sp>
        <p:nvSpPr>
          <p:cNvPr id="24" name="Text 21"/>
          <p:cNvSpPr txBox="1"/>
          <p:nvPr/>
        </p:nvSpPr>
        <p:spPr>
          <a:xfrm>
            <a:off x="10782605" y="2569464"/>
            <a:ext cx="2011680" cy="292608"/>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준비 보고를 ④로</a:t>
            </a:r>
            <a:endParaRPr lang="en-US" sz="1400" dirty="0"/>
          </a:p>
        </p:txBody>
      </p:sp>
      <p:sp>
        <p:nvSpPr>
          <p:cNvPr id="25" name="Text 22"/>
          <p:cNvSpPr txBox="1"/>
          <p:nvPr/>
        </p:nvSpPr>
        <p:spPr>
          <a:xfrm>
            <a:off x="646481" y="2569464"/>
            <a:ext cx="5943600" cy="292608"/>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③ 서브 워크플로우 (활성 세대 파일은 안 바꿈)</a:t>
            </a:r>
            <a:endParaRPr lang="en-US" sz="1500" dirty="0"/>
          </a:p>
        </p:txBody>
      </p:sp>
      <p:sp>
        <p:nvSpPr>
          <p:cNvPr id="26" name="Shape 23"/>
          <p:cNvSpPr/>
          <p:nvPr/>
        </p:nvSpPr>
        <p:spPr>
          <a:xfrm>
            <a:off x="646481" y="2926080"/>
            <a:ext cx="1828800" cy="621792"/>
          </a:xfrm>
          <a:prstGeom prst="roundRect">
            <a:avLst>
              <a:gd name="adj" fmla="val 11765"/>
            </a:avLst>
          </a:prstGeom>
          <a:solidFill>
            <a:srgbClr val="1E2A5C"/>
          </a:solidFill>
          <a:ln/>
        </p:spPr>
        <p:txBody>
          <a:bodyPr/>
          <a:lstStyle/>
          <a:p>
            <a:endParaRPr lang="ko-KR" altLang="en-US"/>
          </a:p>
        </p:txBody>
      </p:sp>
      <p:sp>
        <p:nvSpPr>
          <p:cNvPr id="27" name="Text 24"/>
          <p:cNvSpPr txBox="1"/>
          <p:nvPr/>
        </p:nvSpPr>
        <p:spPr>
          <a:xfrm>
            <a:off x="646481" y="2926080"/>
            <a:ext cx="1828800" cy="62179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KG 구축</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워크플로우</a:t>
            </a:r>
            <a:endParaRPr lang="en-US" sz="1500" dirty="0"/>
          </a:p>
        </p:txBody>
      </p:sp>
      <p:sp>
        <p:nvSpPr>
          <p:cNvPr id="28" name="Shape 25"/>
          <p:cNvSpPr/>
          <p:nvPr/>
        </p:nvSpPr>
        <p:spPr>
          <a:xfrm>
            <a:off x="2612441" y="2926080"/>
            <a:ext cx="566928" cy="621792"/>
          </a:xfrm>
          <a:prstGeom prst="roundRect">
            <a:avLst>
              <a:gd name="adj" fmla="val 8065"/>
            </a:avLst>
          </a:prstGeom>
          <a:solidFill>
            <a:srgbClr val="404155"/>
          </a:solidFill>
          <a:ln/>
        </p:spPr>
        <p:txBody>
          <a:bodyPr/>
          <a:lstStyle/>
          <a:p>
            <a:endParaRPr lang="ko-KR" altLang="en-US"/>
          </a:p>
        </p:txBody>
      </p:sp>
      <p:sp>
        <p:nvSpPr>
          <p:cNvPr id="29" name="Text 26"/>
          <p:cNvSpPr txBox="1"/>
          <p:nvPr/>
        </p:nvSpPr>
        <p:spPr>
          <a:xfrm>
            <a:off x="2612441" y="2926080"/>
            <a:ext cx="566928"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준비</a:t>
            </a:r>
            <a:endParaRPr lang="en-US" sz="1400" dirty="0"/>
          </a:p>
        </p:txBody>
      </p:sp>
      <p:sp>
        <p:nvSpPr>
          <p:cNvPr id="30" name="Shape 27"/>
          <p:cNvSpPr/>
          <p:nvPr/>
        </p:nvSpPr>
        <p:spPr>
          <a:xfrm>
            <a:off x="3252521" y="2926080"/>
            <a:ext cx="1153828" cy="621792"/>
          </a:xfrm>
          <a:prstGeom prst="roundRect">
            <a:avLst>
              <a:gd name="adj" fmla="val 11765"/>
            </a:avLst>
          </a:prstGeom>
          <a:solidFill>
            <a:srgbClr val="F5F8FC"/>
          </a:solidFill>
          <a:ln w="12700">
            <a:solidFill>
              <a:srgbClr val="D9E0EC"/>
            </a:solidFill>
            <a:prstDash val="solid"/>
          </a:ln>
        </p:spPr>
        <p:txBody>
          <a:bodyPr/>
          <a:lstStyle/>
          <a:p>
            <a:endParaRPr lang="ko-KR" altLang="en-US"/>
          </a:p>
        </p:txBody>
      </p:sp>
      <p:sp>
        <p:nvSpPr>
          <p:cNvPr id="31" name="Text 28"/>
          <p:cNvSpPr txBox="1"/>
          <p:nvPr/>
        </p:nvSpPr>
        <p:spPr>
          <a:xfrm>
            <a:off x="3252521" y="2926080"/>
            <a:ext cx="1153828"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K1. 추출 단위</a:t>
            </a:r>
            <a:endParaRPr lang="en-US" sz="1400" b="1" dirty="0"/>
          </a:p>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나누기</a:t>
            </a:r>
            <a:endParaRPr lang="en-US" sz="1400" b="1" dirty="0"/>
          </a:p>
        </p:txBody>
      </p:sp>
      <p:sp>
        <p:nvSpPr>
          <p:cNvPr id="32" name="Shape 29"/>
          <p:cNvSpPr/>
          <p:nvPr/>
        </p:nvSpPr>
        <p:spPr>
          <a:xfrm>
            <a:off x="4479501" y="2926080"/>
            <a:ext cx="1153828" cy="621792"/>
          </a:xfrm>
          <a:prstGeom prst="roundRect">
            <a:avLst>
              <a:gd name="adj" fmla="val 11765"/>
            </a:avLst>
          </a:prstGeom>
          <a:solidFill>
            <a:srgbClr val="F5F8FC"/>
          </a:solidFill>
          <a:ln w="12700">
            <a:solidFill>
              <a:srgbClr val="D9E0EC"/>
            </a:solidFill>
            <a:prstDash val="solid"/>
          </a:ln>
        </p:spPr>
        <p:txBody>
          <a:bodyPr/>
          <a:lstStyle/>
          <a:p>
            <a:endParaRPr lang="ko-KR" altLang="en-US"/>
          </a:p>
        </p:txBody>
      </p:sp>
      <p:sp>
        <p:nvSpPr>
          <p:cNvPr id="33" name="Text 30"/>
          <p:cNvSpPr txBox="1"/>
          <p:nvPr/>
        </p:nvSpPr>
        <p:spPr>
          <a:xfrm>
            <a:off x="4479501" y="2926080"/>
            <a:ext cx="1153828"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K2. </a:t>
            </a:r>
            <a:r>
              <a:rPr lang="ko-KR" altLang="en-US" sz="1400" b="1" dirty="0">
                <a:solidFill>
                  <a:srgbClr val="2B3242"/>
                </a:solidFill>
                <a:latin typeface="Pretendard" pitchFamily="34" charset="0"/>
                <a:ea typeface="Pretendard" pitchFamily="34" charset="-122"/>
                <a:cs typeface="Pretendard" pitchFamily="34" charset="-120"/>
              </a:rPr>
              <a:t>추출</a:t>
            </a:r>
            <a:endParaRPr lang="en-US" altLang="ko-KR" sz="1400" b="1" dirty="0">
              <a:solidFill>
                <a:srgbClr val="2B3242"/>
              </a:solidFill>
              <a:latin typeface="Pretendard" pitchFamily="34" charset="0"/>
              <a:ea typeface="Pretendard" pitchFamily="34" charset="-122"/>
              <a:cs typeface="Pretendard" pitchFamily="34" charset="-120"/>
            </a:endParaRPr>
          </a:p>
          <a:p>
            <a:pPr marL="0" indent="0" algn="ctr">
              <a:spcAft>
                <a:spcPts val="100"/>
              </a:spcAft>
              <a:buNone/>
            </a:pPr>
            <a:r>
              <a:rPr lang="en-US" sz="1400" dirty="0" err="1">
                <a:solidFill>
                  <a:srgbClr val="2B3242"/>
                </a:solidFill>
                <a:latin typeface="Pretendard" pitchFamily="34" charset="0"/>
                <a:ea typeface="Pretendard" pitchFamily="34" charset="-122"/>
                <a:cs typeface="Pretendard" pitchFamily="34" charset="-120"/>
              </a:rPr>
              <a:t>엔티티와</a:t>
            </a:r>
            <a:endParaRPr lang="en-US" sz="14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관계 추출</a:t>
            </a:r>
            <a:endParaRPr lang="en-US" sz="1400" dirty="0"/>
          </a:p>
        </p:txBody>
      </p:sp>
      <p:sp>
        <p:nvSpPr>
          <p:cNvPr id="34" name="Shape 31"/>
          <p:cNvSpPr/>
          <p:nvPr/>
        </p:nvSpPr>
        <p:spPr>
          <a:xfrm>
            <a:off x="5706482" y="2926080"/>
            <a:ext cx="1153828" cy="621792"/>
          </a:xfrm>
          <a:prstGeom prst="roundRect">
            <a:avLst>
              <a:gd name="adj" fmla="val 11765"/>
            </a:avLst>
          </a:prstGeom>
          <a:solidFill>
            <a:srgbClr val="F5F8FC"/>
          </a:solidFill>
          <a:ln w="12700">
            <a:solidFill>
              <a:srgbClr val="D9E0EC"/>
            </a:solidFill>
            <a:prstDash val="solid"/>
          </a:ln>
        </p:spPr>
        <p:txBody>
          <a:bodyPr/>
          <a:lstStyle/>
          <a:p>
            <a:endParaRPr lang="ko-KR" altLang="en-US"/>
          </a:p>
        </p:txBody>
      </p:sp>
      <p:sp>
        <p:nvSpPr>
          <p:cNvPr id="35" name="Text 32"/>
          <p:cNvSpPr txBox="1"/>
          <p:nvPr/>
        </p:nvSpPr>
        <p:spPr>
          <a:xfrm>
            <a:off x="5706482" y="2926080"/>
            <a:ext cx="1153828"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K3. 가지치기</a:t>
            </a:r>
            <a:endParaRPr lang="en-US" sz="14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결과 보관</a:t>
            </a:r>
            <a:endParaRPr lang="en-US" sz="1400" dirty="0"/>
          </a:p>
        </p:txBody>
      </p:sp>
      <p:sp>
        <p:nvSpPr>
          <p:cNvPr id="36" name="Shape 33"/>
          <p:cNvSpPr/>
          <p:nvPr/>
        </p:nvSpPr>
        <p:spPr>
          <a:xfrm>
            <a:off x="7061478" y="2926080"/>
            <a:ext cx="566928" cy="621792"/>
          </a:xfrm>
          <a:prstGeom prst="roundRect">
            <a:avLst>
              <a:gd name="adj" fmla="val 8065"/>
            </a:avLst>
          </a:prstGeom>
          <a:solidFill>
            <a:srgbClr val="2E74C6"/>
          </a:solidFill>
          <a:ln/>
        </p:spPr>
        <p:txBody>
          <a:bodyPr/>
          <a:lstStyle/>
          <a:p>
            <a:endParaRPr lang="ko-KR" altLang="en-US"/>
          </a:p>
        </p:txBody>
      </p:sp>
      <p:sp>
        <p:nvSpPr>
          <p:cNvPr id="37" name="Text 34"/>
          <p:cNvSpPr txBox="1"/>
          <p:nvPr/>
        </p:nvSpPr>
        <p:spPr>
          <a:xfrm>
            <a:off x="7061478" y="2926080"/>
            <a:ext cx="566928"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반영</a:t>
            </a:r>
            <a:endParaRPr lang="en-US" sz="1400" dirty="0"/>
          </a:p>
        </p:txBody>
      </p:sp>
      <p:sp>
        <p:nvSpPr>
          <p:cNvPr id="38" name="Shape 35"/>
          <p:cNvSpPr/>
          <p:nvPr/>
        </p:nvSpPr>
        <p:spPr>
          <a:xfrm>
            <a:off x="7701558" y="2926080"/>
            <a:ext cx="1153828" cy="621792"/>
          </a:xfrm>
          <a:prstGeom prst="roundRect">
            <a:avLst>
              <a:gd name="adj" fmla="val 11765"/>
            </a:avLst>
          </a:prstGeom>
          <a:solidFill>
            <a:srgbClr val="EEF3FA"/>
          </a:solidFill>
          <a:ln w="12700">
            <a:solidFill>
              <a:srgbClr val="D9E0EC"/>
            </a:solidFill>
            <a:prstDash val="solid"/>
          </a:ln>
        </p:spPr>
        <p:txBody>
          <a:bodyPr/>
          <a:lstStyle/>
          <a:p>
            <a:endParaRPr lang="ko-KR" altLang="en-US"/>
          </a:p>
        </p:txBody>
      </p:sp>
      <p:sp>
        <p:nvSpPr>
          <p:cNvPr id="39" name="Text 36"/>
          <p:cNvSpPr txBox="1"/>
          <p:nvPr/>
        </p:nvSpPr>
        <p:spPr>
          <a:xfrm>
            <a:off x="7701558" y="2926080"/>
            <a:ext cx="1153828" cy="621792"/>
          </a:xfrm>
          <a:prstGeom prst="rect">
            <a:avLst/>
          </a:prstGeom>
          <a:noFill/>
          <a:ln/>
        </p:spPr>
        <p:txBody>
          <a:bodyPr wrap="square" lIns="635" tIns="635" rIns="635" bIns="635" rtlCol="0" anchor="ctr"/>
          <a:lstStyle/>
          <a:p>
            <a:pPr marL="0" indent="0" algn="ctr">
              <a:spcAft>
                <a:spcPts val="100"/>
              </a:spcAft>
              <a:buNone/>
            </a:pPr>
            <a:r>
              <a:rPr lang="en-US" sz="1300" b="1" dirty="0">
                <a:solidFill>
                  <a:srgbClr val="1E2A5C"/>
                </a:solidFill>
                <a:latin typeface="Pretendard" pitchFamily="34" charset="0"/>
                <a:ea typeface="Pretendard" pitchFamily="34" charset="-122"/>
                <a:cs typeface="Pretendard" pitchFamily="34" charset="-120"/>
              </a:rPr>
              <a:t>K4. </a:t>
            </a:r>
            <a:r>
              <a:rPr lang="ko-KR" altLang="en-US" sz="1300" b="1" dirty="0">
                <a:solidFill>
                  <a:srgbClr val="1E2A5C"/>
                </a:solidFill>
                <a:latin typeface="Pretendard" pitchFamily="34" charset="0"/>
                <a:ea typeface="Pretendard" pitchFamily="34" charset="-122"/>
                <a:cs typeface="Pretendard" pitchFamily="34" charset="-120"/>
              </a:rPr>
              <a:t>적재</a:t>
            </a:r>
            <a:endParaRPr lang="en-US" sz="13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Neo4j</a:t>
            </a:r>
            <a:r>
              <a:rPr lang="ko-KR" altLang="en-US" sz="1400" dirty="0">
                <a:solidFill>
                  <a:srgbClr val="1E2A5C"/>
                </a:solidFill>
                <a:latin typeface="Pretendard" pitchFamily="34" charset="0"/>
                <a:ea typeface="Pretendard" pitchFamily="34" charset="-122"/>
                <a:cs typeface="Pretendard" pitchFamily="34" charset="-120"/>
              </a:rPr>
              <a:t>에 </a:t>
            </a:r>
            <a:br>
              <a:rPr lang="en-US" altLang="ko-KR" sz="1400" dirty="0">
                <a:solidFill>
                  <a:srgbClr val="1E2A5C"/>
                </a:solidFill>
                <a:latin typeface="Pretendard" pitchFamily="34" charset="0"/>
                <a:ea typeface="Pretendard" pitchFamily="34" charset="-122"/>
                <a:cs typeface="Pretendard" pitchFamily="34" charset="-120"/>
              </a:rPr>
            </a:br>
            <a:r>
              <a:rPr lang="en-US" sz="1400" dirty="0">
                <a:solidFill>
                  <a:srgbClr val="1E2A5C"/>
                </a:solidFill>
                <a:latin typeface="Pretendard" pitchFamily="34" charset="0"/>
                <a:ea typeface="Pretendard" pitchFamily="34" charset="-122"/>
                <a:cs typeface="Pretendard" pitchFamily="34" charset="-120"/>
              </a:rPr>
              <a:t>새 청크 넣기</a:t>
            </a:r>
            <a:endParaRPr lang="en-US" sz="1400" dirty="0"/>
          </a:p>
        </p:txBody>
      </p:sp>
      <p:sp>
        <p:nvSpPr>
          <p:cNvPr id="40" name="Shape 37"/>
          <p:cNvSpPr/>
          <p:nvPr/>
        </p:nvSpPr>
        <p:spPr>
          <a:xfrm>
            <a:off x="8928538" y="2926080"/>
            <a:ext cx="1153828" cy="621792"/>
          </a:xfrm>
          <a:prstGeom prst="roundRect">
            <a:avLst>
              <a:gd name="adj" fmla="val 11765"/>
            </a:avLst>
          </a:prstGeom>
          <a:solidFill>
            <a:srgbClr val="EEF3FA"/>
          </a:solidFill>
          <a:ln w="12700">
            <a:solidFill>
              <a:srgbClr val="D9E0EC"/>
            </a:solidFill>
            <a:prstDash val="solid"/>
          </a:ln>
        </p:spPr>
        <p:txBody>
          <a:bodyPr/>
          <a:lstStyle/>
          <a:p>
            <a:endParaRPr lang="ko-KR" altLang="en-US"/>
          </a:p>
        </p:txBody>
      </p:sp>
      <p:sp>
        <p:nvSpPr>
          <p:cNvPr id="41" name="Text 38"/>
          <p:cNvSpPr txBox="1"/>
          <p:nvPr/>
        </p:nvSpPr>
        <p:spPr>
          <a:xfrm>
            <a:off x="8928538" y="2926080"/>
            <a:ext cx="1153828"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1E2A5C"/>
                </a:solidFill>
                <a:latin typeface="Pretendard" pitchFamily="34" charset="0"/>
                <a:ea typeface="Pretendard" pitchFamily="34" charset="-122"/>
                <a:cs typeface="Pretendard" pitchFamily="34" charset="-120"/>
              </a:rPr>
              <a:t>K5. 병합</a:t>
            </a:r>
            <a:endParaRPr lang="en-US" sz="14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관련 엔티티만</a:t>
            </a:r>
            <a:endParaRPr lang="en-US" sz="1400" dirty="0"/>
          </a:p>
        </p:txBody>
      </p:sp>
      <p:sp>
        <p:nvSpPr>
          <p:cNvPr id="42" name="Shape 39"/>
          <p:cNvSpPr/>
          <p:nvPr/>
        </p:nvSpPr>
        <p:spPr>
          <a:xfrm>
            <a:off x="10155519" y="2926080"/>
            <a:ext cx="1153828" cy="621792"/>
          </a:xfrm>
          <a:prstGeom prst="roundRect">
            <a:avLst>
              <a:gd name="adj" fmla="val 11765"/>
            </a:avLst>
          </a:prstGeom>
          <a:solidFill>
            <a:srgbClr val="EEF3FA"/>
          </a:solidFill>
          <a:ln w="12700">
            <a:solidFill>
              <a:srgbClr val="D9E0EC"/>
            </a:solidFill>
            <a:prstDash val="solid"/>
          </a:ln>
        </p:spPr>
        <p:txBody>
          <a:bodyPr/>
          <a:lstStyle/>
          <a:p>
            <a:endParaRPr lang="ko-KR" altLang="en-US"/>
          </a:p>
        </p:txBody>
      </p:sp>
      <p:sp>
        <p:nvSpPr>
          <p:cNvPr id="43" name="Text 40"/>
          <p:cNvSpPr txBox="1"/>
          <p:nvPr/>
        </p:nvSpPr>
        <p:spPr>
          <a:xfrm>
            <a:off x="10155519" y="2926080"/>
            <a:ext cx="1153828"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1E2A5C"/>
                </a:solidFill>
                <a:latin typeface="Pretendard" pitchFamily="34" charset="0"/>
                <a:ea typeface="Pretendard" pitchFamily="34" charset="-122"/>
                <a:cs typeface="Pretendard" pitchFamily="34" charset="-120"/>
              </a:rPr>
              <a:t>K6. </a:t>
            </a:r>
            <a:r>
              <a:rPr lang="ko-KR" altLang="en-US" sz="1400" b="1" dirty="0">
                <a:solidFill>
                  <a:srgbClr val="1E2A5C"/>
                </a:solidFill>
                <a:latin typeface="Pretendard" pitchFamily="34" charset="0"/>
                <a:ea typeface="Pretendard" pitchFamily="34" charset="-122"/>
                <a:cs typeface="Pretendard" pitchFamily="34" charset="-120"/>
              </a:rPr>
              <a:t>엔티티</a:t>
            </a:r>
            <a:r>
              <a:rPr lang="en-US" sz="1400" b="1" dirty="0">
                <a:solidFill>
                  <a:srgbClr val="1E2A5C"/>
                </a:solidFill>
                <a:latin typeface="Pretendard" pitchFamily="34" charset="0"/>
                <a:ea typeface="Pretendard" pitchFamily="34" charset="-122"/>
                <a:cs typeface="Pretendard" pitchFamily="34" charset="-120"/>
              </a:rPr>
              <a:t> 설명</a:t>
            </a:r>
            <a:endParaRPr lang="en-US" sz="1400" b="1" dirty="0"/>
          </a:p>
          <a:p>
            <a:pPr marL="0" indent="0" algn="ctr">
              <a:spcAft>
                <a:spcPts val="100"/>
              </a:spcAft>
              <a:buNone/>
            </a:pPr>
            <a:r>
              <a:rPr lang="en-US" sz="1400" b="1" dirty="0">
                <a:solidFill>
                  <a:srgbClr val="1E2A5C"/>
                </a:solidFill>
                <a:latin typeface="Pretendard" pitchFamily="34" charset="0"/>
                <a:ea typeface="Pretendard" pitchFamily="34" charset="-122"/>
                <a:cs typeface="Pretendard" pitchFamily="34" charset="-120"/>
              </a:rPr>
              <a:t>임베딩</a:t>
            </a:r>
            <a:endParaRPr lang="en-US" sz="1400" b="1" dirty="0"/>
          </a:p>
        </p:txBody>
      </p:sp>
      <p:sp>
        <p:nvSpPr>
          <p:cNvPr id="44" name="Shape 41"/>
          <p:cNvSpPr/>
          <p:nvPr/>
        </p:nvSpPr>
        <p:spPr>
          <a:xfrm>
            <a:off x="11510515" y="2926080"/>
            <a:ext cx="566928" cy="621792"/>
          </a:xfrm>
          <a:prstGeom prst="roundRect">
            <a:avLst>
              <a:gd name="adj" fmla="val 8065"/>
            </a:avLst>
          </a:prstGeom>
          <a:solidFill>
            <a:srgbClr val="404155"/>
          </a:solidFill>
          <a:ln/>
        </p:spPr>
        <p:txBody>
          <a:bodyPr/>
          <a:lstStyle/>
          <a:p>
            <a:endParaRPr lang="ko-KR" altLang="en-US"/>
          </a:p>
        </p:txBody>
      </p:sp>
      <p:sp>
        <p:nvSpPr>
          <p:cNvPr id="45" name="Text 42"/>
          <p:cNvSpPr txBox="1"/>
          <p:nvPr/>
        </p:nvSpPr>
        <p:spPr>
          <a:xfrm>
            <a:off x="11510515" y="2926080"/>
            <a:ext cx="566928"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정리</a:t>
            </a:r>
            <a:endParaRPr lang="en-US" sz="1400" dirty="0"/>
          </a:p>
        </p:txBody>
      </p:sp>
      <p:sp>
        <p:nvSpPr>
          <p:cNvPr id="46" name="Shape 43"/>
          <p:cNvSpPr/>
          <p:nvPr/>
        </p:nvSpPr>
        <p:spPr>
          <a:xfrm>
            <a:off x="12150595" y="2926080"/>
            <a:ext cx="1846125" cy="283464"/>
          </a:xfrm>
          <a:prstGeom prst="roundRect">
            <a:avLst>
              <a:gd name="adj" fmla="val 11765"/>
            </a:avLst>
          </a:prstGeom>
          <a:solidFill>
            <a:srgbClr val="F5F8FC"/>
          </a:solidFill>
          <a:ln w="12700">
            <a:solidFill>
              <a:srgbClr val="D9E0EC"/>
            </a:solidFill>
            <a:prstDash val="solid"/>
          </a:ln>
        </p:spPr>
        <p:txBody>
          <a:bodyPr/>
          <a:lstStyle/>
          <a:p>
            <a:endParaRPr lang="ko-KR" altLang="en-US"/>
          </a:p>
        </p:txBody>
      </p:sp>
      <p:sp>
        <p:nvSpPr>
          <p:cNvPr id="47" name="Text 44"/>
          <p:cNvSpPr txBox="1"/>
          <p:nvPr/>
        </p:nvSpPr>
        <p:spPr>
          <a:xfrm>
            <a:off x="12150595" y="2926080"/>
            <a:ext cx="1846125" cy="283464"/>
          </a:xfrm>
          <a:prstGeom prst="rect">
            <a:avLst/>
          </a:prstGeom>
          <a:noFill/>
          <a:ln/>
        </p:spPr>
        <p:txBody>
          <a:bodyPr wrap="square" lIns="635" tIns="635" rIns="635" bIns="635" rtlCol="0" anchor="ctr"/>
          <a:lstStyle/>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K7. 청크 정리</a:t>
            </a:r>
            <a:endParaRPr lang="en-US" sz="1400" dirty="0"/>
          </a:p>
        </p:txBody>
      </p:sp>
      <p:sp>
        <p:nvSpPr>
          <p:cNvPr id="110" name="Shape 43"/>
          <p:cNvSpPr/>
          <p:nvPr/>
        </p:nvSpPr>
        <p:spPr>
          <a:xfrm>
            <a:off x="12150595" y="3264408"/>
            <a:ext cx="1846125" cy="283464"/>
          </a:xfrm>
          <a:prstGeom prst="roundRect">
            <a:avLst>
              <a:gd name="adj" fmla="val 11765"/>
            </a:avLst>
          </a:prstGeom>
          <a:solidFill>
            <a:srgbClr val="F5F8FC"/>
          </a:solidFill>
          <a:ln w="12700">
            <a:solidFill>
              <a:srgbClr val="D9E0EC"/>
            </a:solidFill>
            <a:prstDash val="dash"/>
          </a:ln>
        </p:spPr>
        <p:txBody>
          <a:bodyPr/>
          <a:lstStyle/>
          <a:p>
            <a:endParaRPr lang="ko-KR" altLang="en-US"/>
          </a:p>
        </p:txBody>
      </p:sp>
      <p:sp>
        <p:nvSpPr>
          <p:cNvPr id="111" name="Text 44"/>
          <p:cNvSpPr txBox="1"/>
          <p:nvPr/>
        </p:nvSpPr>
        <p:spPr>
          <a:xfrm>
            <a:off x="12150595" y="3264408"/>
            <a:ext cx="1846125" cy="283464"/>
          </a:xfrm>
          <a:prstGeom prst="rect">
            <a:avLst/>
          </a:prstGeom>
          <a:noFill/>
          <a:ln/>
        </p:spPr>
        <p:txBody>
          <a:bodyPr wrap="square" lIns="635" tIns="635" rIns="635" bIns="635" rtlCol="0" anchor="ctr"/>
          <a:lstStyle/>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K8. 커뮤니티 요약</a:t>
            </a:r>
            <a:endParaRPr lang="en-US" sz="1400" dirty="0"/>
          </a:p>
        </p:txBody>
      </p:sp>
      <p:sp>
        <p:nvSpPr>
          <p:cNvPr id="48" name="Shape 45"/>
          <p:cNvSpPr/>
          <p:nvPr/>
        </p:nvSpPr>
        <p:spPr>
          <a:xfrm>
            <a:off x="646481" y="3611880"/>
            <a:ext cx="1828800" cy="621792"/>
          </a:xfrm>
          <a:prstGeom prst="roundRect">
            <a:avLst>
              <a:gd name="adj" fmla="val 11765"/>
            </a:avLst>
          </a:prstGeom>
          <a:solidFill>
            <a:srgbClr val="1E2A5C"/>
          </a:solidFill>
          <a:ln/>
        </p:spPr>
        <p:txBody>
          <a:bodyPr/>
          <a:lstStyle/>
          <a:p>
            <a:endParaRPr lang="ko-KR" altLang="en-US"/>
          </a:p>
        </p:txBody>
      </p:sp>
      <p:sp>
        <p:nvSpPr>
          <p:cNvPr id="49" name="Text 46"/>
          <p:cNvSpPr txBox="1"/>
          <p:nvPr/>
        </p:nvSpPr>
        <p:spPr>
          <a:xfrm>
            <a:off x="646481" y="3611880"/>
            <a:ext cx="1828800" cy="62179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검색엔진 인덱싱</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워크플로우</a:t>
            </a:r>
            <a:endParaRPr lang="en-US" sz="1500" dirty="0"/>
          </a:p>
        </p:txBody>
      </p:sp>
      <p:sp>
        <p:nvSpPr>
          <p:cNvPr id="50" name="Shape 47"/>
          <p:cNvSpPr/>
          <p:nvPr/>
        </p:nvSpPr>
        <p:spPr>
          <a:xfrm>
            <a:off x="2612441" y="3611880"/>
            <a:ext cx="566928" cy="621792"/>
          </a:xfrm>
          <a:prstGeom prst="roundRect">
            <a:avLst>
              <a:gd name="adj" fmla="val 8065"/>
            </a:avLst>
          </a:prstGeom>
          <a:solidFill>
            <a:srgbClr val="404155"/>
          </a:solidFill>
          <a:ln/>
        </p:spPr>
        <p:txBody>
          <a:bodyPr/>
          <a:lstStyle/>
          <a:p>
            <a:endParaRPr lang="ko-KR" altLang="en-US"/>
          </a:p>
        </p:txBody>
      </p:sp>
      <p:sp>
        <p:nvSpPr>
          <p:cNvPr id="51" name="Text 48"/>
          <p:cNvSpPr txBox="1"/>
          <p:nvPr/>
        </p:nvSpPr>
        <p:spPr>
          <a:xfrm>
            <a:off x="2612441" y="3611880"/>
            <a:ext cx="566928"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준비</a:t>
            </a:r>
            <a:endParaRPr lang="en-US" sz="1400" dirty="0"/>
          </a:p>
        </p:txBody>
      </p:sp>
      <p:sp>
        <p:nvSpPr>
          <p:cNvPr id="52" name="Shape 49"/>
          <p:cNvSpPr/>
          <p:nvPr/>
        </p:nvSpPr>
        <p:spPr>
          <a:xfrm>
            <a:off x="3252521" y="3611880"/>
            <a:ext cx="1767319" cy="621792"/>
          </a:xfrm>
          <a:prstGeom prst="roundRect">
            <a:avLst>
              <a:gd name="adj" fmla="val 11765"/>
            </a:avLst>
          </a:prstGeom>
          <a:solidFill>
            <a:srgbClr val="F5F8FC"/>
          </a:solidFill>
          <a:ln w="12700">
            <a:solidFill>
              <a:srgbClr val="D9E0EC"/>
            </a:solidFill>
            <a:prstDash val="solid"/>
          </a:ln>
        </p:spPr>
        <p:txBody>
          <a:bodyPr/>
          <a:lstStyle/>
          <a:p>
            <a:endParaRPr lang="ko-KR" altLang="en-US"/>
          </a:p>
        </p:txBody>
      </p:sp>
      <p:sp>
        <p:nvSpPr>
          <p:cNvPr id="53" name="Text 50"/>
          <p:cNvSpPr txBox="1"/>
          <p:nvPr/>
        </p:nvSpPr>
        <p:spPr>
          <a:xfrm>
            <a:off x="3252521" y="3611880"/>
            <a:ext cx="1767319"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S1 임베딩</a:t>
            </a:r>
            <a:endParaRPr lang="en-US" sz="14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바뀐 것만</a:t>
            </a:r>
            <a:endParaRPr lang="en-US" sz="1400" dirty="0"/>
          </a:p>
        </p:txBody>
      </p:sp>
      <p:sp>
        <p:nvSpPr>
          <p:cNvPr id="54" name="Shape 51"/>
          <p:cNvSpPr/>
          <p:nvPr/>
        </p:nvSpPr>
        <p:spPr>
          <a:xfrm>
            <a:off x="5092991" y="3611880"/>
            <a:ext cx="1767319" cy="621792"/>
          </a:xfrm>
          <a:prstGeom prst="roundRect">
            <a:avLst>
              <a:gd name="adj" fmla="val 11765"/>
            </a:avLst>
          </a:prstGeom>
          <a:solidFill>
            <a:srgbClr val="F5F8FC"/>
          </a:solidFill>
          <a:ln w="12700">
            <a:solidFill>
              <a:srgbClr val="D9E0EC"/>
            </a:solidFill>
            <a:prstDash val="solid"/>
          </a:ln>
        </p:spPr>
        <p:txBody>
          <a:bodyPr/>
          <a:lstStyle/>
          <a:p>
            <a:endParaRPr lang="ko-KR" altLang="en-US"/>
          </a:p>
        </p:txBody>
      </p:sp>
      <p:sp>
        <p:nvSpPr>
          <p:cNvPr id="55" name="Text 52"/>
          <p:cNvSpPr txBox="1"/>
          <p:nvPr/>
        </p:nvSpPr>
        <p:spPr>
          <a:xfrm>
            <a:off x="5092991" y="3611880"/>
            <a:ext cx="1767319"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2B3242"/>
                </a:solidFill>
                <a:latin typeface="Pretendard" pitchFamily="34" charset="0"/>
                <a:ea typeface="Pretendard" pitchFamily="34" charset="-122"/>
                <a:cs typeface="Pretendard" pitchFamily="34" charset="-120"/>
              </a:rPr>
              <a:t>S2 키워드 분석</a:t>
            </a:r>
            <a:endParaRPr lang="en-US" sz="14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사전과 별칭, 결과 보관</a:t>
            </a:r>
            <a:endParaRPr lang="en-US" sz="1400" dirty="0"/>
          </a:p>
        </p:txBody>
      </p:sp>
      <p:sp>
        <p:nvSpPr>
          <p:cNvPr id="56" name="Shape 53"/>
          <p:cNvSpPr/>
          <p:nvPr/>
        </p:nvSpPr>
        <p:spPr>
          <a:xfrm>
            <a:off x="7061478" y="3611880"/>
            <a:ext cx="566928" cy="621792"/>
          </a:xfrm>
          <a:prstGeom prst="roundRect">
            <a:avLst>
              <a:gd name="adj" fmla="val 8065"/>
            </a:avLst>
          </a:prstGeom>
          <a:solidFill>
            <a:srgbClr val="2E74C6"/>
          </a:solidFill>
          <a:ln/>
        </p:spPr>
        <p:txBody>
          <a:bodyPr/>
          <a:lstStyle/>
          <a:p>
            <a:endParaRPr lang="ko-KR" altLang="en-US"/>
          </a:p>
        </p:txBody>
      </p:sp>
      <p:sp>
        <p:nvSpPr>
          <p:cNvPr id="57" name="Text 54"/>
          <p:cNvSpPr txBox="1"/>
          <p:nvPr/>
        </p:nvSpPr>
        <p:spPr>
          <a:xfrm>
            <a:off x="7061478" y="3611880"/>
            <a:ext cx="566928"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반영</a:t>
            </a:r>
            <a:endParaRPr lang="en-US" sz="1400" dirty="0"/>
          </a:p>
        </p:txBody>
      </p:sp>
      <p:sp>
        <p:nvSpPr>
          <p:cNvPr id="58" name="Shape 55"/>
          <p:cNvSpPr/>
          <p:nvPr/>
        </p:nvSpPr>
        <p:spPr>
          <a:xfrm>
            <a:off x="7701558" y="3611880"/>
            <a:ext cx="3607789" cy="621792"/>
          </a:xfrm>
          <a:prstGeom prst="roundRect">
            <a:avLst>
              <a:gd name="adj" fmla="val 11765"/>
            </a:avLst>
          </a:prstGeom>
          <a:solidFill>
            <a:srgbClr val="EEF3FA"/>
          </a:solidFill>
          <a:ln w="12700">
            <a:solidFill>
              <a:srgbClr val="D9E0EC"/>
            </a:solidFill>
            <a:prstDash val="solid"/>
          </a:ln>
        </p:spPr>
        <p:txBody>
          <a:bodyPr/>
          <a:lstStyle/>
          <a:p>
            <a:endParaRPr lang="ko-KR" altLang="en-US"/>
          </a:p>
        </p:txBody>
      </p:sp>
      <p:sp>
        <p:nvSpPr>
          <p:cNvPr id="59" name="Text 56"/>
          <p:cNvSpPr txBox="1"/>
          <p:nvPr/>
        </p:nvSpPr>
        <p:spPr>
          <a:xfrm>
            <a:off x="7701558" y="3611880"/>
            <a:ext cx="3607789" cy="621792"/>
          </a:xfrm>
          <a:prstGeom prst="rect">
            <a:avLst/>
          </a:prstGeom>
          <a:noFill/>
          <a:ln/>
        </p:spPr>
        <p:txBody>
          <a:bodyPr wrap="square" lIns="635" tIns="635" rIns="635" bIns="635" rtlCol="0" anchor="ctr"/>
          <a:lstStyle/>
          <a:p>
            <a:pPr marL="0" indent="0" algn="ctr">
              <a:spcAft>
                <a:spcPts val="100"/>
              </a:spcAft>
              <a:buNone/>
            </a:pPr>
            <a:r>
              <a:rPr lang="en-US" sz="1400" b="1" dirty="0">
                <a:solidFill>
                  <a:srgbClr val="1E2A5C"/>
                </a:solidFill>
                <a:latin typeface="Pretendard" pitchFamily="34" charset="0"/>
                <a:ea typeface="Pretendard" pitchFamily="34" charset="-122"/>
                <a:cs typeface="Pretendard" pitchFamily="34" charset="-120"/>
              </a:rPr>
              <a:t>S3. </a:t>
            </a:r>
            <a:r>
              <a:rPr lang="ko-KR" altLang="en-US" sz="1400" b="1" dirty="0">
                <a:solidFill>
                  <a:srgbClr val="1E2A5C"/>
                </a:solidFill>
                <a:latin typeface="Pretendard" pitchFamily="34" charset="0"/>
                <a:ea typeface="Pretendard" pitchFamily="34" charset="-122"/>
                <a:cs typeface="Pretendard" pitchFamily="34" charset="-120"/>
              </a:rPr>
              <a:t>적재</a:t>
            </a:r>
            <a:endParaRPr lang="en-US" altLang="ko-KR" sz="1400" b="1" dirty="0">
              <a:solidFill>
                <a:srgbClr val="1E2A5C"/>
              </a:solidFill>
              <a:latin typeface="Pretendard" pitchFamily="34" charset="0"/>
              <a:ea typeface="Pretendard" pitchFamily="34" charset="-122"/>
              <a:cs typeface="Pretendard" pitchFamily="34" charset="-120"/>
            </a:endParaRPr>
          </a:p>
          <a:p>
            <a:pPr marL="0" indent="0" algn="ctr">
              <a:spcAft>
                <a:spcPts val="100"/>
              </a:spcAft>
              <a:buNone/>
            </a:pPr>
            <a:r>
              <a:rPr lang="en-US" sz="1400" dirty="0" err="1">
                <a:solidFill>
                  <a:srgbClr val="1E2A5C"/>
                </a:solidFill>
                <a:latin typeface="Pretendard" pitchFamily="34" charset="0"/>
                <a:ea typeface="Pretendard" pitchFamily="34" charset="-122"/>
                <a:cs typeface="Pretendard" pitchFamily="34" charset="-120"/>
              </a:rPr>
              <a:t>검색엔진에</a:t>
            </a:r>
            <a:r>
              <a:rPr lang="en-US" sz="1400" dirty="0">
                <a:solidFill>
                  <a:srgbClr val="1E2A5C"/>
                </a:solidFill>
                <a:latin typeface="Pretendard" pitchFamily="34" charset="0"/>
                <a:ea typeface="Pretendard" pitchFamily="34" charset="-122"/>
                <a:cs typeface="Pretendard" pitchFamily="34" charset="-120"/>
              </a:rPr>
              <a:t> </a:t>
            </a:r>
            <a:r>
              <a:rPr lang="en-US" sz="1400" dirty="0" err="1">
                <a:solidFill>
                  <a:srgbClr val="1E2A5C"/>
                </a:solidFill>
                <a:latin typeface="Pretendard" pitchFamily="34" charset="0"/>
                <a:ea typeface="Pretendard" pitchFamily="34" charset="-122"/>
                <a:cs typeface="Pretendard" pitchFamily="34" charset="-120"/>
              </a:rPr>
              <a:t>쓰기</a:t>
            </a:r>
            <a:endParaRPr lang="en-US" sz="1400" dirty="0"/>
          </a:p>
        </p:txBody>
      </p:sp>
      <p:sp>
        <p:nvSpPr>
          <p:cNvPr id="60" name="Shape 57"/>
          <p:cNvSpPr/>
          <p:nvPr/>
        </p:nvSpPr>
        <p:spPr>
          <a:xfrm>
            <a:off x="11510515" y="3611880"/>
            <a:ext cx="566928" cy="621792"/>
          </a:xfrm>
          <a:prstGeom prst="roundRect">
            <a:avLst>
              <a:gd name="adj" fmla="val 8065"/>
            </a:avLst>
          </a:prstGeom>
          <a:solidFill>
            <a:srgbClr val="404155"/>
          </a:solidFill>
          <a:ln/>
        </p:spPr>
        <p:txBody>
          <a:bodyPr/>
          <a:lstStyle/>
          <a:p>
            <a:endParaRPr lang="ko-KR" altLang="en-US"/>
          </a:p>
        </p:txBody>
      </p:sp>
      <p:sp>
        <p:nvSpPr>
          <p:cNvPr id="61" name="Text 58"/>
          <p:cNvSpPr txBox="1"/>
          <p:nvPr/>
        </p:nvSpPr>
        <p:spPr>
          <a:xfrm>
            <a:off x="11510515" y="3611880"/>
            <a:ext cx="566928" cy="62179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정리</a:t>
            </a:r>
            <a:endParaRPr lang="en-US" sz="1400" dirty="0"/>
          </a:p>
        </p:txBody>
      </p:sp>
      <p:sp>
        <p:nvSpPr>
          <p:cNvPr id="62" name="Shape 59"/>
          <p:cNvSpPr/>
          <p:nvPr/>
        </p:nvSpPr>
        <p:spPr>
          <a:xfrm>
            <a:off x="12150595" y="3611880"/>
            <a:ext cx="1846125" cy="621792"/>
          </a:xfrm>
          <a:prstGeom prst="roundRect">
            <a:avLst>
              <a:gd name="adj" fmla="val 11765"/>
            </a:avLst>
          </a:prstGeom>
          <a:solidFill>
            <a:srgbClr val="FFFFFF"/>
          </a:solidFill>
          <a:ln w="12700">
            <a:solidFill>
              <a:srgbClr val="D9E0EC"/>
            </a:solidFill>
            <a:prstDash val="dash"/>
          </a:ln>
        </p:spPr>
        <p:txBody>
          <a:bodyPr/>
          <a:lstStyle/>
          <a:p>
            <a:endParaRPr lang="ko-KR" altLang="en-US"/>
          </a:p>
        </p:txBody>
      </p:sp>
      <p:sp>
        <p:nvSpPr>
          <p:cNvPr id="63" name="Text 60"/>
          <p:cNvSpPr txBox="1"/>
          <p:nvPr/>
        </p:nvSpPr>
        <p:spPr>
          <a:xfrm>
            <a:off x="12150595" y="3611880"/>
            <a:ext cx="1846125" cy="621792"/>
          </a:xfrm>
          <a:prstGeom prst="rect">
            <a:avLst/>
          </a:prstGeom>
          <a:noFill/>
          <a:ln/>
        </p:spPr>
        <p:txBody>
          <a:bodyPr wrap="square" lIns="1016" tIns="1016" rIns="1016" bIns="1016"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없음</a:t>
            </a:r>
            <a:endParaRPr lang="en-US" sz="1400" dirty="0"/>
          </a:p>
        </p:txBody>
      </p:sp>
      <p:sp>
        <p:nvSpPr>
          <p:cNvPr id="64" name="Shape 61"/>
          <p:cNvSpPr/>
          <p:nvPr/>
        </p:nvSpPr>
        <p:spPr>
          <a:xfrm>
            <a:off x="509321" y="4443984"/>
            <a:ext cx="1737360" cy="640080"/>
          </a:xfrm>
          <a:prstGeom prst="roundRect">
            <a:avLst>
              <a:gd name="adj" fmla="val 11429"/>
            </a:avLst>
          </a:prstGeom>
          <a:solidFill>
            <a:srgbClr val="404155"/>
          </a:solidFill>
          <a:ln/>
        </p:spPr>
        <p:txBody>
          <a:bodyPr/>
          <a:lstStyle/>
          <a:p>
            <a:endParaRPr lang="ko-KR" altLang="en-US"/>
          </a:p>
        </p:txBody>
      </p:sp>
      <p:sp>
        <p:nvSpPr>
          <p:cNvPr id="65" name="Text 62"/>
          <p:cNvSpPr txBox="1"/>
          <p:nvPr/>
        </p:nvSpPr>
        <p:spPr>
          <a:xfrm>
            <a:off x="509321" y="4443984"/>
            <a:ext cx="1737360" cy="64008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전체 재색인</a:t>
            </a:r>
            <a:endParaRPr lang="en-US" sz="16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순서 불필요</a:t>
            </a:r>
            <a:endParaRPr lang="en-US" sz="1600" dirty="0"/>
          </a:p>
        </p:txBody>
      </p:sp>
      <p:sp>
        <p:nvSpPr>
          <p:cNvPr id="66" name="Shape 63"/>
          <p:cNvSpPr/>
          <p:nvPr/>
        </p:nvSpPr>
        <p:spPr>
          <a:xfrm>
            <a:off x="2383841" y="4443984"/>
            <a:ext cx="3703320" cy="640080"/>
          </a:xfrm>
          <a:prstGeom prst="roundRect">
            <a:avLst>
              <a:gd name="adj" fmla="val 11429"/>
            </a:avLst>
          </a:prstGeom>
          <a:solidFill>
            <a:srgbClr val="EEF3FA"/>
          </a:solidFill>
          <a:ln w="12700">
            <a:solidFill>
              <a:srgbClr val="2E74C6"/>
            </a:solidFill>
            <a:prstDash val="solid"/>
          </a:ln>
        </p:spPr>
        <p:txBody>
          <a:bodyPr/>
          <a:lstStyle/>
          <a:p>
            <a:endParaRPr lang="ko-KR" altLang="en-US"/>
          </a:p>
        </p:txBody>
      </p:sp>
      <p:sp>
        <p:nvSpPr>
          <p:cNvPr id="67" name="Text 64"/>
          <p:cNvSpPr txBox="1"/>
          <p:nvPr/>
        </p:nvSpPr>
        <p:spPr>
          <a:xfrm>
            <a:off x="2383841" y="4443984"/>
            <a:ext cx="3703320"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K1 ~ K6, K8 와 S1 ~ S3 병렬</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둘 다 새 세대에 씀, K7은 부르지 않음</a:t>
            </a:r>
            <a:endParaRPr lang="en-US" sz="1500" dirty="0"/>
          </a:p>
        </p:txBody>
      </p:sp>
      <p:sp>
        <p:nvSpPr>
          <p:cNvPr id="68" name="Shape 65"/>
          <p:cNvSpPr/>
          <p:nvPr/>
        </p:nvSpPr>
        <p:spPr>
          <a:xfrm>
            <a:off x="6114593" y="4764024"/>
            <a:ext cx="265176" cy="0"/>
          </a:xfrm>
          <a:prstGeom prst="line">
            <a:avLst/>
          </a:prstGeom>
          <a:noFill/>
          <a:ln w="19050">
            <a:solidFill>
              <a:srgbClr val="4A5364"/>
            </a:solidFill>
            <a:prstDash val="solid"/>
            <a:tailEnd type="triangle"/>
          </a:ln>
        </p:spPr>
        <p:txBody>
          <a:bodyPr/>
          <a:lstStyle/>
          <a:p>
            <a:endParaRPr lang="ko-KR" altLang="en-US"/>
          </a:p>
        </p:txBody>
      </p:sp>
      <p:sp>
        <p:nvSpPr>
          <p:cNvPr id="69" name="Shape 66"/>
          <p:cNvSpPr/>
          <p:nvPr/>
        </p:nvSpPr>
        <p:spPr>
          <a:xfrm>
            <a:off x="6407201" y="4443984"/>
            <a:ext cx="3703320" cy="640080"/>
          </a:xfrm>
          <a:prstGeom prst="roundRect">
            <a:avLst>
              <a:gd name="adj" fmla="val 11429"/>
            </a:avLst>
          </a:prstGeom>
          <a:solidFill>
            <a:srgbClr val="EEF3FA"/>
          </a:solidFill>
          <a:ln w="12700">
            <a:solidFill>
              <a:srgbClr val="2E74C6"/>
            </a:solidFill>
            <a:prstDash val="solid"/>
          </a:ln>
        </p:spPr>
        <p:txBody>
          <a:bodyPr/>
          <a:lstStyle/>
          <a:p>
            <a:endParaRPr lang="ko-KR" altLang="en-US"/>
          </a:p>
        </p:txBody>
      </p:sp>
      <p:sp>
        <p:nvSpPr>
          <p:cNvPr id="70" name="Text 67"/>
          <p:cNvSpPr txBox="1"/>
          <p:nvPr/>
        </p:nvSpPr>
        <p:spPr>
          <a:xfrm>
            <a:off x="6407201" y="4443984"/>
            <a:ext cx="3703320"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④ 검증</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chunk_id 목록 비교</a:t>
            </a:r>
            <a:endParaRPr lang="en-US" sz="1500" dirty="0"/>
          </a:p>
        </p:txBody>
      </p:sp>
      <p:sp>
        <p:nvSpPr>
          <p:cNvPr id="71" name="Shape 68"/>
          <p:cNvSpPr/>
          <p:nvPr/>
        </p:nvSpPr>
        <p:spPr>
          <a:xfrm>
            <a:off x="10137953" y="4764024"/>
            <a:ext cx="265176" cy="0"/>
          </a:xfrm>
          <a:prstGeom prst="line">
            <a:avLst/>
          </a:prstGeom>
          <a:noFill/>
          <a:ln w="19050">
            <a:solidFill>
              <a:srgbClr val="4A5364"/>
            </a:solidFill>
            <a:prstDash val="solid"/>
            <a:tailEnd type="triangle"/>
          </a:ln>
        </p:spPr>
        <p:txBody>
          <a:bodyPr/>
          <a:lstStyle/>
          <a:p>
            <a:endParaRPr lang="ko-KR" altLang="en-US"/>
          </a:p>
        </p:txBody>
      </p:sp>
      <p:sp>
        <p:nvSpPr>
          <p:cNvPr id="72" name="Shape 69"/>
          <p:cNvSpPr/>
          <p:nvPr/>
        </p:nvSpPr>
        <p:spPr>
          <a:xfrm>
            <a:off x="10430561" y="4443984"/>
            <a:ext cx="3703320" cy="640080"/>
          </a:xfrm>
          <a:prstGeom prst="roundRect">
            <a:avLst>
              <a:gd name="adj" fmla="val 11429"/>
            </a:avLst>
          </a:prstGeom>
          <a:solidFill>
            <a:srgbClr val="1E2A5C"/>
          </a:solidFill>
          <a:ln/>
        </p:spPr>
        <p:txBody>
          <a:bodyPr/>
          <a:lstStyle/>
          <a:p>
            <a:endParaRPr lang="ko-KR" altLang="en-US"/>
          </a:p>
        </p:txBody>
      </p:sp>
      <p:sp>
        <p:nvSpPr>
          <p:cNvPr id="73" name="Text 70"/>
          <p:cNvSpPr txBox="1"/>
          <p:nvPr/>
        </p:nvSpPr>
        <p:spPr>
          <a:xfrm>
            <a:off x="10430561" y="4443984"/>
            <a:ext cx="3703320"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⑤ 게시</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활성 세대 파일 교체</a:t>
            </a:r>
            <a:endParaRPr lang="en-US" sz="1500" dirty="0"/>
          </a:p>
        </p:txBody>
      </p:sp>
      <p:sp>
        <p:nvSpPr>
          <p:cNvPr id="74" name="Shape 71"/>
          <p:cNvSpPr/>
          <p:nvPr/>
        </p:nvSpPr>
        <p:spPr>
          <a:xfrm>
            <a:off x="509321" y="5175504"/>
            <a:ext cx="1737360" cy="640080"/>
          </a:xfrm>
          <a:prstGeom prst="roundRect">
            <a:avLst>
              <a:gd name="adj" fmla="val 11429"/>
            </a:avLst>
          </a:prstGeom>
          <a:solidFill>
            <a:srgbClr val="2E74C6"/>
          </a:solidFill>
          <a:ln/>
        </p:spPr>
        <p:txBody>
          <a:bodyPr/>
          <a:lstStyle/>
          <a:p>
            <a:endParaRPr lang="ko-KR" altLang="en-US"/>
          </a:p>
        </p:txBody>
      </p:sp>
      <p:sp>
        <p:nvSpPr>
          <p:cNvPr id="75" name="Text 72"/>
          <p:cNvSpPr txBox="1"/>
          <p:nvPr/>
        </p:nvSpPr>
        <p:spPr>
          <a:xfrm>
            <a:off x="509321" y="5175504"/>
            <a:ext cx="1737360" cy="64008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증분 색인</a:t>
            </a:r>
            <a:endParaRPr lang="en-US" sz="16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순서 필요</a:t>
            </a:r>
            <a:endParaRPr lang="en-US" sz="1600" dirty="0"/>
          </a:p>
        </p:txBody>
      </p:sp>
      <p:sp>
        <p:nvSpPr>
          <p:cNvPr id="76" name="Shape 73"/>
          <p:cNvSpPr/>
          <p:nvPr/>
        </p:nvSpPr>
        <p:spPr>
          <a:xfrm>
            <a:off x="2383841" y="5175504"/>
            <a:ext cx="2130552" cy="640080"/>
          </a:xfrm>
          <a:prstGeom prst="roundRect">
            <a:avLst>
              <a:gd name="adj" fmla="val 11429"/>
            </a:avLst>
          </a:prstGeom>
          <a:solidFill>
            <a:srgbClr val="EEF3FA"/>
          </a:solidFill>
          <a:ln w="12700">
            <a:solidFill>
              <a:srgbClr val="2E74C6"/>
            </a:solidFill>
            <a:prstDash val="solid"/>
          </a:ln>
        </p:spPr>
        <p:txBody>
          <a:bodyPr/>
          <a:lstStyle/>
          <a:p>
            <a:endParaRPr lang="ko-KR" altLang="en-US"/>
          </a:p>
        </p:txBody>
      </p:sp>
      <p:sp>
        <p:nvSpPr>
          <p:cNvPr id="77" name="Text 74"/>
          <p:cNvSpPr txBox="1"/>
          <p:nvPr/>
        </p:nvSpPr>
        <p:spPr>
          <a:xfrm>
            <a:off x="2383841" y="5175504"/>
            <a:ext cx="2130552"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준비 (병렬)</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K1 ~ K3, S1 ~ S2</a:t>
            </a:r>
            <a:endParaRPr lang="en-US" sz="1500" dirty="0"/>
          </a:p>
        </p:txBody>
      </p:sp>
      <p:sp>
        <p:nvSpPr>
          <p:cNvPr id="78" name="Shape 75"/>
          <p:cNvSpPr/>
          <p:nvPr/>
        </p:nvSpPr>
        <p:spPr>
          <a:xfrm>
            <a:off x="4541825" y="5495544"/>
            <a:ext cx="219456" cy="0"/>
          </a:xfrm>
          <a:prstGeom prst="line">
            <a:avLst/>
          </a:prstGeom>
          <a:noFill/>
          <a:ln w="19050">
            <a:solidFill>
              <a:srgbClr val="4A5364"/>
            </a:solidFill>
            <a:prstDash val="solid"/>
            <a:tailEnd type="triangle"/>
          </a:ln>
        </p:spPr>
        <p:txBody>
          <a:bodyPr/>
          <a:lstStyle/>
          <a:p>
            <a:endParaRPr lang="ko-KR" altLang="en-US"/>
          </a:p>
        </p:txBody>
      </p:sp>
      <p:sp>
        <p:nvSpPr>
          <p:cNvPr id="79" name="Shape 76"/>
          <p:cNvSpPr/>
          <p:nvPr/>
        </p:nvSpPr>
        <p:spPr>
          <a:xfrm>
            <a:off x="4788713" y="5175504"/>
            <a:ext cx="2130552" cy="640080"/>
          </a:xfrm>
          <a:prstGeom prst="roundRect">
            <a:avLst>
              <a:gd name="adj" fmla="val 11429"/>
            </a:avLst>
          </a:prstGeom>
          <a:solidFill>
            <a:srgbClr val="2E74C6"/>
          </a:solidFill>
          <a:ln/>
        </p:spPr>
        <p:txBody>
          <a:bodyPr/>
          <a:lstStyle/>
          <a:p>
            <a:endParaRPr lang="ko-KR" altLang="en-US"/>
          </a:p>
        </p:txBody>
      </p:sp>
      <p:sp>
        <p:nvSpPr>
          <p:cNvPr id="80" name="Text 77"/>
          <p:cNvSpPr txBox="1"/>
          <p:nvPr/>
        </p:nvSpPr>
        <p:spPr>
          <a:xfrm>
            <a:off x="4788713" y="5175504"/>
            <a:ext cx="2130552"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반영 K4 ~ K6</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KG에 새 청크 넣기</a:t>
            </a:r>
            <a:endParaRPr lang="en-US" sz="1500" dirty="0"/>
          </a:p>
        </p:txBody>
      </p:sp>
      <p:sp>
        <p:nvSpPr>
          <p:cNvPr id="81" name="Shape 78"/>
          <p:cNvSpPr/>
          <p:nvPr/>
        </p:nvSpPr>
        <p:spPr>
          <a:xfrm>
            <a:off x="6946697" y="5495544"/>
            <a:ext cx="219456" cy="0"/>
          </a:xfrm>
          <a:prstGeom prst="line">
            <a:avLst/>
          </a:prstGeom>
          <a:noFill/>
          <a:ln w="19050">
            <a:solidFill>
              <a:srgbClr val="4A5364"/>
            </a:solidFill>
            <a:prstDash val="solid"/>
            <a:tailEnd type="triangle"/>
          </a:ln>
        </p:spPr>
        <p:txBody>
          <a:bodyPr/>
          <a:lstStyle/>
          <a:p>
            <a:endParaRPr lang="ko-KR" altLang="en-US"/>
          </a:p>
        </p:txBody>
      </p:sp>
      <p:sp>
        <p:nvSpPr>
          <p:cNvPr id="82" name="Shape 79"/>
          <p:cNvSpPr/>
          <p:nvPr/>
        </p:nvSpPr>
        <p:spPr>
          <a:xfrm>
            <a:off x="7193585" y="5175504"/>
            <a:ext cx="2130552" cy="640080"/>
          </a:xfrm>
          <a:prstGeom prst="roundRect">
            <a:avLst>
              <a:gd name="adj" fmla="val 11429"/>
            </a:avLst>
          </a:prstGeom>
          <a:solidFill>
            <a:srgbClr val="2E74C6"/>
          </a:solidFill>
          <a:ln/>
        </p:spPr>
        <p:txBody>
          <a:bodyPr/>
          <a:lstStyle/>
          <a:p>
            <a:endParaRPr lang="ko-KR" altLang="en-US"/>
          </a:p>
        </p:txBody>
      </p:sp>
      <p:sp>
        <p:nvSpPr>
          <p:cNvPr id="83" name="Text 80"/>
          <p:cNvSpPr txBox="1"/>
          <p:nvPr/>
        </p:nvSpPr>
        <p:spPr>
          <a:xfrm>
            <a:off x="7193585" y="5175504"/>
            <a:ext cx="2130552"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반영 S3</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검색엔진 문서 교체</a:t>
            </a:r>
            <a:endParaRPr lang="en-US" sz="1500" dirty="0"/>
          </a:p>
        </p:txBody>
      </p:sp>
      <p:sp>
        <p:nvSpPr>
          <p:cNvPr id="84" name="Shape 81"/>
          <p:cNvSpPr/>
          <p:nvPr/>
        </p:nvSpPr>
        <p:spPr>
          <a:xfrm>
            <a:off x="9351569" y="5495544"/>
            <a:ext cx="219456" cy="0"/>
          </a:xfrm>
          <a:prstGeom prst="line">
            <a:avLst/>
          </a:prstGeom>
          <a:noFill/>
          <a:ln w="19050">
            <a:solidFill>
              <a:srgbClr val="4A5364"/>
            </a:solidFill>
            <a:prstDash val="solid"/>
            <a:tailEnd type="triangle"/>
          </a:ln>
        </p:spPr>
        <p:txBody>
          <a:bodyPr/>
          <a:lstStyle/>
          <a:p>
            <a:endParaRPr lang="ko-KR" altLang="en-US"/>
          </a:p>
        </p:txBody>
      </p:sp>
      <p:sp>
        <p:nvSpPr>
          <p:cNvPr id="85" name="Shape 82"/>
          <p:cNvSpPr/>
          <p:nvPr/>
        </p:nvSpPr>
        <p:spPr>
          <a:xfrm>
            <a:off x="9598457" y="5175504"/>
            <a:ext cx="2130552" cy="640080"/>
          </a:xfrm>
          <a:prstGeom prst="roundRect">
            <a:avLst>
              <a:gd name="adj" fmla="val 11429"/>
            </a:avLst>
          </a:prstGeom>
          <a:solidFill>
            <a:srgbClr val="2E74C6"/>
          </a:solidFill>
          <a:ln/>
        </p:spPr>
        <p:txBody>
          <a:bodyPr/>
          <a:lstStyle/>
          <a:p>
            <a:endParaRPr lang="ko-KR" altLang="en-US"/>
          </a:p>
        </p:txBody>
      </p:sp>
      <p:sp>
        <p:nvSpPr>
          <p:cNvPr id="86" name="Text 83"/>
          <p:cNvSpPr txBox="1"/>
          <p:nvPr/>
        </p:nvSpPr>
        <p:spPr>
          <a:xfrm>
            <a:off x="9598457" y="5175504"/>
            <a:ext cx="2130552"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정리 K7, K8</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옛 청크 지우고 요약</a:t>
            </a:r>
            <a:endParaRPr lang="en-US" sz="1500" dirty="0"/>
          </a:p>
        </p:txBody>
      </p:sp>
      <p:sp>
        <p:nvSpPr>
          <p:cNvPr id="87" name="Shape 84"/>
          <p:cNvSpPr/>
          <p:nvPr/>
        </p:nvSpPr>
        <p:spPr>
          <a:xfrm>
            <a:off x="11756441" y="5495544"/>
            <a:ext cx="219456" cy="0"/>
          </a:xfrm>
          <a:prstGeom prst="line">
            <a:avLst/>
          </a:prstGeom>
          <a:noFill/>
          <a:ln w="19050">
            <a:solidFill>
              <a:srgbClr val="4A5364"/>
            </a:solidFill>
            <a:prstDash val="solid"/>
            <a:tailEnd type="triangle"/>
          </a:ln>
        </p:spPr>
        <p:txBody>
          <a:bodyPr/>
          <a:lstStyle/>
          <a:p>
            <a:endParaRPr lang="ko-KR" altLang="en-US"/>
          </a:p>
        </p:txBody>
      </p:sp>
      <p:sp>
        <p:nvSpPr>
          <p:cNvPr id="88" name="Shape 85"/>
          <p:cNvSpPr/>
          <p:nvPr/>
        </p:nvSpPr>
        <p:spPr>
          <a:xfrm>
            <a:off x="12003329" y="5175504"/>
            <a:ext cx="2130552" cy="640080"/>
          </a:xfrm>
          <a:prstGeom prst="roundRect">
            <a:avLst>
              <a:gd name="adj" fmla="val 11429"/>
            </a:avLst>
          </a:prstGeom>
          <a:solidFill>
            <a:srgbClr val="EEF3FA"/>
          </a:solidFill>
          <a:ln w="12700">
            <a:solidFill>
              <a:srgbClr val="2E74C6"/>
            </a:solidFill>
            <a:prstDash val="solid"/>
          </a:ln>
        </p:spPr>
        <p:txBody>
          <a:bodyPr/>
          <a:lstStyle/>
          <a:p>
            <a:endParaRPr lang="ko-KR" altLang="en-US"/>
          </a:p>
        </p:txBody>
      </p:sp>
      <p:sp>
        <p:nvSpPr>
          <p:cNvPr id="89" name="Text 86"/>
          <p:cNvSpPr txBox="1"/>
          <p:nvPr/>
        </p:nvSpPr>
        <p:spPr>
          <a:xfrm>
            <a:off x="12003329" y="5175504"/>
            <a:ext cx="2130552" cy="6400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기록 갱신</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입력 지문 갱신</a:t>
            </a:r>
            <a:endParaRPr lang="en-US" sz="1500" dirty="0"/>
          </a:p>
        </p:txBody>
      </p:sp>
      <p:sp>
        <p:nvSpPr>
          <p:cNvPr id="90" name="Shape 87"/>
          <p:cNvSpPr/>
          <p:nvPr/>
        </p:nvSpPr>
        <p:spPr>
          <a:xfrm>
            <a:off x="509321" y="5961888"/>
            <a:ext cx="3268980" cy="1280160"/>
          </a:xfrm>
          <a:prstGeom prst="roundRect">
            <a:avLst>
              <a:gd name="adj" fmla="val 5714"/>
            </a:avLst>
          </a:prstGeom>
          <a:solidFill>
            <a:srgbClr val="EEF3FA"/>
          </a:solidFill>
          <a:ln w="12700">
            <a:solidFill>
              <a:srgbClr val="D9E0EC"/>
            </a:solidFill>
            <a:prstDash val="solid"/>
          </a:ln>
        </p:spPr>
        <p:txBody>
          <a:bodyPr/>
          <a:lstStyle/>
          <a:p>
            <a:endParaRPr lang="ko-KR" altLang="en-US"/>
          </a:p>
        </p:txBody>
      </p:sp>
      <p:sp>
        <p:nvSpPr>
          <p:cNvPr id="91" name="Shape 88"/>
          <p:cNvSpPr/>
          <p:nvPr/>
        </p:nvSpPr>
        <p:spPr>
          <a:xfrm>
            <a:off x="646481" y="6080760"/>
            <a:ext cx="347472" cy="347472"/>
          </a:xfrm>
          <a:prstGeom prst="roundRect">
            <a:avLst>
              <a:gd name="adj" fmla="val 13158"/>
            </a:avLst>
          </a:prstGeom>
          <a:solidFill>
            <a:srgbClr val="2E74C6"/>
          </a:solidFill>
          <a:ln/>
        </p:spPr>
        <p:txBody>
          <a:bodyPr/>
          <a:lstStyle/>
          <a:p>
            <a:endParaRPr lang="ko-KR" altLang="en-US"/>
          </a:p>
        </p:txBody>
      </p:sp>
      <p:sp>
        <p:nvSpPr>
          <p:cNvPr id="92" name="Text 89"/>
          <p:cNvSpPr txBox="1"/>
          <p:nvPr/>
        </p:nvSpPr>
        <p:spPr>
          <a:xfrm>
            <a:off x="646481" y="608076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93" name="Text 90"/>
          <p:cNvSpPr txBox="1"/>
          <p:nvPr/>
        </p:nvSpPr>
        <p:spPr>
          <a:xfrm>
            <a:off x="1076249" y="6035040"/>
            <a:ext cx="2583180" cy="566928"/>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서브 워크플로우는 인덱스 구축만 함</a:t>
            </a:r>
            <a:endParaRPr lang="en-US" sz="1600" dirty="0"/>
          </a:p>
        </p:txBody>
      </p:sp>
      <p:sp>
        <p:nvSpPr>
          <p:cNvPr id="94" name="Text 91"/>
          <p:cNvSpPr txBox="1"/>
          <p:nvPr/>
        </p:nvSpPr>
        <p:spPr>
          <a:xfrm>
            <a:off x="646481" y="6638544"/>
            <a:ext cx="2994660" cy="5486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준비, 반영, 정리만 제공. 활성 세대 파일은 안 바꿈</a:t>
            </a:r>
            <a:endParaRPr lang="en-US" sz="1400" dirty="0"/>
          </a:p>
        </p:txBody>
      </p:sp>
      <p:sp>
        <p:nvSpPr>
          <p:cNvPr id="95" name="Shape 92"/>
          <p:cNvSpPr/>
          <p:nvPr/>
        </p:nvSpPr>
        <p:spPr>
          <a:xfrm>
            <a:off x="3961181" y="5961888"/>
            <a:ext cx="3268980" cy="1280160"/>
          </a:xfrm>
          <a:prstGeom prst="roundRect">
            <a:avLst>
              <a:gd name="adj" fmla="val 5714"/>
            </a:avLst>
          </a:prstGeom>
          <a:solidFill>
            <a:srgbClr val="EEF3FA"/>
          </a:solidFill>
          <a:ln w="12700">
            <a:solidFill>
              <a:srgbClr val="D9E0EC"/>
            </a:solidFill>
            <a:prstDash val="solid"/>
          </a:ln>
        </p:spPr>
        <p:txBody>
          <a:bodyPr/>
          <a:lstStyle/>
          <a:p>
            <a:endParaRPr lang="ko-KR" altLang="en-US"/>
          </a:p>
        </p:txBody>
      </p:sp>
      <p:sp>
        <p:nvSpPr>
          <p:cNvPr id="96" name="Shape 93"/>
          <p:cNvSpPr/>
          <p:nvPr/>
        </p:nvSpPr>
        <p:spPr>
          <a:xfrm>
            <a:off x="4098341" y="6080760"/>
            <a:ext cx="347472" cy="347472"/>
          </a:xfrm>
          <a:prstGeom prst="roundRect">
            <a:avLst>
              <a:gd name="adj" fmla="val 13158"/>
            </a:avLst>
          </a:prstGeom>
          <a:solidFill>
            <a:srgbClr val="1E2A5C"/>
          </a:solidFill>
          <a:ln/>
        </p:spPr>
        <p:txBody>
          <a:bodyPr/>
          <a:lstStyle/>
          <a:p>
            <a:endParaRPr lang="ko-KR" altLang="en-US"/>
          </a:p>
        </p:txBody>
      </p:sp>
      <p:sp>
        <p:nvSpPr>
          <p:cNvPr id="97" name="Text 94"/>
          <p:cNvSpPr txBox="1"/>
          <p:nvPr/>
        </p:nvSpPr>
        <p:spPr>
          <a:xfrm>
            <a:off x="4098341" y="608076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98" name="Text 95"/>
          <p:cNvSpPr txBox="1"/>
          <p:nvPr/>
        </p:nvSpPr>
        <p:spPr>
          <a:xfrm>
            <a:off x="4528109" y="6035040"/>
            <a:ext cx="2583180" cy="566928"/>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활성 세대 파일은 하나</a:t>
            </a:r>
            <a:endParaRPr lang="en-US" sz="1600" dirty="0"/>
          </a:p>
        </p:txBody>
      </p:sp>
      <p:sp>
        <p:nvSpPr>
          <p:cNvPr id="99" name="Text 96"/>
          <p:cNvSpPr txBox="1"/>
          <p:nvPr/>
        </p:nvSpPr>
        <p:spPr>
          <a:xfrm>
            <a:off x="4098341" y="6638544"/>
            <a:ext cx="2994660" cy="5486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검색기는 요청마다 한 번 읽고 같은 세대로 두 곳을 조회</a:t>
            </a:r>
            <a:endParaRPr lang="en-US" sz="1400" dirty="0"/>
          </a:p>
        </p:txBody>
      </p:sp>
      <p:sp>
        <p:nvSpPr>
          <p:cNvPr id="100" name="Shape 97"/>
          <p:cNvSpPr/>
          <p:nvPr/>
        </p:nvSpPr>
        <p:spPr>
          <a:xfrm>
            <a:off x="7413041" y="5961888"/>
            <a:ext cx="3268980" cy="1280160"/>
          </a:xfrm>
          <a:prstGeom prst="roundRect">
            <a:avLst>
              <a:gd name="adj" fmla="val 5714"/>
            </a:avLst>
          </a:prstGeom>
          <a:solidFill>
            <a:srgbClr val="EEF3FA"/>
          </a:solidFill>
          <a:ln w="12700">
            <a:solidFill>
              <a:srgbClr val="D9E0EC"/>
            </a:solidFill>
            <a:prstDash val="solid"/>
          </a:ln>
        </p:spPr>
        <p:txBody>
          <a:bodyPr/>
          <a:lstStyle/>
          <a:p>
            <a:endParaRPr lang="ko-KR" altLang="en-US"/>
          </a:p>
        </p:txBody>
      </p:sp>
      <p:sp>
        <p:nvSpPr>
          <p:cNvPr id="101" name="Shape 98"/>
          <p:cNvSpPr/>
          <p:nvPr/>
        </p:nvSpPr>
        <p:spPr>
          <a:xfrm>
            <a:off x="7550201" y="6080760"/>
            <a:ext cx="347472" cy="347472"/>
          </a:xfrm>
          <a:prstGeom prst="roundRect">
            <a:avLst>
              <a:gd name="adj" fmla="val 13158"/>
            </a:avLst>
          </a:prstGeom>
          <a:solidFill>
            <a:srgbClr val="2E74C6"/>
          </a:solidFill>
          <a:ln/>
        </p:spPr>
        <p:txBody>
          <a:bodyPr/>
          <a:lstStyle/>
          <a:p>
            <a:endParaRPr lang="ko-KR" altLang="en-US"/>
          </a:p>
        </p:txBody>
      </p:sp>
      <p:sp>
        <p:nvSpPr>
          <p:cNvPr id="102" name="Text 99"/>
          <p:cNvSpPr txBox="1"/>
          <p:nvPr/>
        </p:nvSpPr>
        <p:spPr>
          <a:xfrm>
            <a:off x="7550201" y="608076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103" name="Text 100"/>
          <p:cNvSpPr txBox="1"/>
          <p:nvPr/>
        </p:nvSpPr>
        <p:spPr>
          <a:xfrm>
            <a:off x="7979969" y="6035040"/>
            <a:ext cx="2583180" cy="566928"/>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실패하면 게시 안 함</a:t>
            </a:r>
            <a:endParaRPr lang="en-US" sz="1600" dirty="0"/>
          </a:p>
        </p:txBody>
      </p:sp>
      <p:sp>
        <p:nvSpPr>
          <p:cNvPr id="104" name="Text 101"/>
          <p:cNvSpPr txBox="1"/>
          <p:nvPr/>
        </p:nvSpPr>
        <p:spPr>
          <a:xfrm>
            <a:off x="7550201" y="6638544"/>
            <a:ext cx="2994660" cy="5486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준비 결과를 보관해 반영만 다시 실행</a:t>
            </a:r>
            <a:endParaRPr lang="en-US" sz="1400" dirty="0"/>
          </a:p>
        </p:txBody>
      </p:sp>
      <p:sp>
        <p:nvSpPr>
          <p:cNvPr id="105" name="Shape 102"/>
          <p:cNvSpPr/>
          <p:nvPr/>
        </p:nvSpPr>
        <p:spPr>
          <a:xfrm>
            <a:off x="10864901" y="5961888"/>
            <a:ext cx="3268980" cy="1280160"/>
          </a:xfrm>
          <a:prstGeom prst="roundRect">
            <a:avLst>
              <a:gd name="adj" fmla="val 5714"/>
            </a:avLst>
          </a:prstGeom>
          <a:solidFill>
            <a:srgbClr val="EEF3FA"/>
          </a:solidFill>
          <a:ln w="12700">
            <a:solidFill>
              <a:srgbClr val="D9E0EC"/>
            </a:solidFill>
            <a:prstDash val="solid"/>
          </a:ln>
        </p:spPr>
        <p:txBody>
          <a:bodyPr/>
          <a:lstStyle/>
          <a:p>
            <a:endParaRPr lang="ko-KR" altLang="en-US"/>
          </a:p>
        </p:txBody>
      </p:sp>
      <p:sp>
        <p:nvSpPr>
          <p:cNvPr id="106" name="Shape 103"/>
          <p:cNvSpPr/>
          <p:nvPr/>
        </p:nvSpPr>
        <p:spPr>
          <a:xfrm>
            <a:off x="11002061" y="6080760"/>
            <a:ext cx="347472" cy="347472"/>
          </a:xfrm>
          <a:prstGeom prst="roundRect">
            <a:avLst>
              <a:gd name="adj" fmla="val 13158"/>
            </a:avLst>
          </a:prstGeom>
          <a:solidFill>
            <a:srgbClr val="2E74C6"/>
          </a:solidFill>
          <a:ln/>
        </p:spPr>
        <p:txBody>
          <a:bodyPr/>
          <a:lstStyle/>
          <a:p>
            <a:endParaRPr lang="ko-KR" altLang="en-US"/>
          </a:p>
        </p:txBody>
      </p:sp>
      <p:sp>
        <p:nvSpPr>
          <p:cNvPr id="107" name="Text 104"/>
          <p:cNvSpPr txBox="1"/>
          <p:nvPr/>
        </p:nvSpPr>
        <p:spPr>
          <a:xfrm>
            <a:off x="11002061" y="608076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108" name="Text 105"/>
          <p:cNvSpPr txBox="1"/>
          <p:nvPr/>
        </p:nvSpPr>
        <p:spPr>
          <a:xfrm>
            <a:off x="11431829" y="6035040"/>
            <a:ext cx="2583180" cy="566928"/>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별도 처리</a:t>
            </a:r>
            <a:endParaRPr lang="en-US" sz="1600" dirty="0"/>
          </a:p>
        </p:txBody>
      </p:sp>
      <p:sp>
        <p:nvSpPr>
          <p:cNvPr id="109" name="Text 106"/>
          <p:cNvSpPr txBox="1"/>
          <p:nvPr/>
        </p:nvSpPr>
        <p:spPr>
          <a:xfrm>
            <a:off x="11002061" y="6638544"/>
            <a:ext cx="2994660" cy="5486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되돌리기와 옛 세대 정리는 흐름 밖에서 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a:t>
            </a:r>
            <a:r>
              <a:rPr lang="en-US" sz="3200" b="1" dirty="0">
                <a:solidFill>
                  <a:srgbClr val="2C2926"/>
                </a:solidFill>
                <a:latin typeface="Pretendard" pitchFamily="34" charset="0"/>
                <a:ea typeface="Pretendard" pitchFamily="34" charset="-122"/>
                <a:cs typeface="Pretendard" pitchFamily="34" charset="-120"/>
              </a:rPr>
              <a:t> ① 세대 ID 발급, ② 공통 단계</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실행마다 세대 ID를 정하고, 원문을 개인정보 처리된 청크 파일 하나로 만들어 두 서브 워크플로우에 넘김</a:t>
            </a:r>
            <a:endParaRPr lang="en-US" sz="1800" dirty="0"/>
          </a:p>
        </p:txBody>
      </p:sp>
      <p:sp>
        <p:nvSpPr>
          <p:cNvPr id="5" name="Shape 2"/>
          <p:cNvSpPr/>
          <p:nvPr/>
        </p:nvSpPr>
        <p:spPr>
          <a:xfrm>
            <a:off x="509321" y="1737360"/>
            <a:ext cx="6309360" cy="411480"/>
          </a:xfrm>
          <a:prstGeom prst="roundRect">
            <a:avLst>
              <a:gd name="adj" fmla="val 13333"/>
            </a:avLst>
          </a:prstGeom>
          <a:solidFill>
            <a:srgbClr val="1E2A5C"/>
          </a:solidFill>
          <a:ln/>
        </p:spPr>
        <p:txBody>
          <a:bodyPr/>
          <a:lstStyle/>
          <a:p>
            <a:endParaRPr lang="ko-KR" altLang="en-US"/>
          </a:p>
        </p:txBody>
      </p:sp>
      <p:sp>
        <p:nvSpPr>
          <p:cNvPr id="6" name="Text 3"/>
          <p:cNvSpPr txBox="1"/>
          <p:nvPr/>
        </p:nvSpPr>
        <p:spPr>
          <a:xfrm>
            <a:off x="509321" y="1737360"/>
            <a:ext cx="6309360" cy="41148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① 세대 ID 발급과 사전 검사</a:t>
            </a:r>
            <a:endParaRPr lang="en-US" sz="1800" dirty="0"/>
          </a:p>
        </p:txBody>
      </p:sp>
      <p:sp>
        <p:nvSpPr>
          <p:cNvPr id="7" name="Text 4"/>
          <p:cNvSpPr txBox="1"/>
          <p:nvPr/>
        </p:nvSpPr>
        <p:spPr>
          <a:xfrm>
            <a:off x="509321" y="2240280"/>
            <a:ext cx="6309360" cy="29260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세대 ID 모양</a:t>
            </a:r>
            <a:endParaRPr lang="en-US" sz="1500" dirty="0"/>
          </a:p>
        </p:txBody>
      </p:sp>
      <p:sp>
        <p:nvSpPr>
          <p:cNvPr id="8" name="Shape 5"/>
          <p:cNvSpPr/>
          <p:nvPr/>
        </p:nvSpPr>
        <p:spPr>
          <a:xfrm>
            <a:off x="509321" y="2560320"/>
            <a:ext cx="868680"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9" name="Text 6"/>
          <p:cNvSpPr txBox="1"/>
          <p:nvPr/>
        </p:nvSpPr>
        <p:spPr>
          <a:xfrm>
            <a:off x="509321" y="2560320"/>
            <a:ext cx="86868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gen-</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접두어</a:t>
            </a:r>
            <a:endParaRPr lang="en-US" sz="1500" dirty="0"/>
          </a:p>
        </p:txBody>
      </p:sp>
      <p:sp>
        <p:nvSpPr>
          <p:cNvPr id="10" name="Shape 7"/>
          <p:cNvSpPr/>
          <p:nvPr/>
        </p:nvSpPr>
        <p:spPr>
          <a:xfrm>
            <a:off x="1414577" y="2560320"/>
            <a:ext cx="2788920" cy="658368"/>
          </a:xfrm>
          <a:prstGeom prst="roundRect">
            <a:avLst>
              <a:gd name="adj" fmla="val 5556"/>
            </a:avLst>
          </a:prstGeom>
          <a:solidFill>
            <a:srgbClr val="2E74C6"/>
          </a:solidFill>
          <a:ln/>
        </p:spPr>
        <p:txBody>
          <a:bodyPr/>
          <a:lstStyle/>
          <a:p>
            <a:endParaRPr lang="ko-KR" altLang="en-US"/>
          </a:p>
        </p:txBody>
      </p:sp>
      <p:sp>
        <p:nvSpPr>
          <p:cNvPr id="11" name="Text 8"/>
          <p:cNvSpPr txBox="1"/>
          <p:nvPr/>
        </p:nvSpPr>
        <p:spPr>
          <a:xfrm>
            <a:off x="1414577" y="2560320"/>
            <a:ext cx="278892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birthfix-20261018b</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실행 이름</a:t>
            </a:r>
            <a:endParaRPr lang="en-US" sz="1500" dirty="0"/>
          </a:p>
        </p:txBody>
      </p:sp>
      <p:sp>
        <p:nvSpPr>
          <p:cNvPr id="12" name="Shape 9"/>
          <p:cNvSpPr/>
          <p:nvPr/>
        </p:nvSpPr>
        <p:spPr>
          <a:xfrm>
            <a:off x="4240073" y="2560320"/>
            <a:ext cx="2578608"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13" name="Text 10"/>
          <p:cNvSpPr txBox="1"/>
          <p:nvPr/>
        </p:nvSpPr>
        <p:spPr>
          <a:xfrm>
            <a:off x="4240073" y="2560320"/>
            <a:ext cx="2578608"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-efeb65bd</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실행 이름 해시 8자리</a:t>
            </a:r>
            <a:endParaRPr lang="en-US" sz="1500" dirty="0"/>
          </a:p>
        </p:txBody>
      </p:sp>
      <p:sp>
        <p:nvSpPr>
          <p:cNvPr id="14" name="Shape 11"/>
          <p:cNvSpPr/>
          <p:nvPr/>
        </p:nvSpPr>
        <p:spPr>
          <a:xfrm>
            <a:off x="509321" y="3337560"/>
            <a:ext cx="3063240" cy="731520"/>
          </a:xfrm>
          <a:prstGeom prst="roundRect">
            <a:avLst>
              <a:gd name="adj" fmla="val 10000"/>
            </a:avLst>
          </a:prstGeom>
          <a:solidFill>
            <a:srgbClr val="EEF3FA"/>
          </a:solidFill>
          <a:ln w="12700">
            <a:solidFill>
              <a:srgbClr val="D9E0EC"/>
            </a:solidFill>
            <a:prstDash val="solid"/>
          </a:ln>
        </p:spPr>
        <p:txBody>
          <a:bodyPr/>
          <a:lstStyle/>
          <a:p>
            <a:endParaRPr lang="ko-KR" altLang="en-US"/>
          </a:p>
        </p:txBody>
      </p:sp>
      <p:sp>
        <p:nvSpPr>
          <p:cNvPr id="15" name="Text 12"/>
          <p:cNvSpPr txBox="1"/>
          <p:nvPr/>
        </p:nvSpPr>
        <p:spPr>
          <a:xfrm>
            <a:off x="509321" y="3337560"/>
            <a:ext cx="306324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같은 실행 이름 = 같은 세대 ID</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중단돼도 같은 세대로 이어서 만듦</a:t>
            </a:r>
            <a:endParaRPr lang="en-US" sz="1500" dirty="0"/>
          </a:p>
        </p:txBody>
      </p:sp>
      <p:sp>
        <p:nvSpPr>
          <p:cNvPr id="16" name="Shape 13"/>
          <p:cNvSpPr/>
          <p:nvPr/>
        </p:nvSpPr>
        <p:spPr>
          <a:xfrm>
            <a:off x="3755441" y="3337560"/>
            <a:ext cx="3063240" cy="731520"/>
          </a:xfrm>
          <a:prstGeom prst="roundRect">
            <a:avLst>
              <a:gd name="adj" fmla="val 10000"/>
            </a:avLst>
          </a:prstGeom>
          <a:solidFill>
            <a:srgbClr val="EEF3FA"/>
          </a:solidFill>
          <a:ln w="12700">
            <a:solidFill>
              <a:srgbClr val="D9E0EC"/>
            </a:solidFill>
            <a:prstDash val="solid"/>
          </a:ln>
        </p:spPr>
        <p:txBody>
          <a:bodyPr/>
          <a:lstStyle/>
          <a:p>
            <a:endParaRPr lang="ko-KR" altLang="en-US"/>
          </a:p>
        </p:txBody>
      </p:sp>
      <p:sp>
        <p:nvSpPr>
          <p:cNvPr id="17" name="Text 14"/>
          <p:cNvSpPr txBox="1"/>
          <p:nvPr/>
        </p:nvSpPr>
        <p:spPr>
          <a:xfrm>
            <a:off x="3755441" y="3337560"/>
            <a:ext cx="306324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두 서브 워크플로우의 공통 열쇠</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card_chunks-gen-X, Neo4j gen-X</a:t>
            </a:r>
            <a:endParaRPr lang="en-US" sz="1500" dirty="0"/>
          </a:p>
        </p:txBody>
      </p:sp>
      <p:sp>
        <p:nvSpPr>
          <p:cNvPr id="18" name="Text 15"/>
          <p:cNvSpPr txBox="1"/>
          <p:nvPr/>
        </p:nvSpPr>
        <p:spPr>
          <a:xfrm>
            <a:off x="509321" y="4251960"/>
            <a:ext cx="6309360" cy="29260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사전 검사: 할 일이 있는지 먼저 확인</a:t>
            </a:r>
            <a:endParaRPr lang="en-US" sz="1500" dirty="0"/>
          </a:p>
        </p:txBody>
      </p:sp>
      <p:sp>
        <p:nvSpPr>
          <p:cNvPr id="19" name="Shape 16"/>
          <p:cNvSpPr/>
          <p:nvPr/>
        </p:nvSpPr>
        <p:spPr>
          <a:xfrm>
            <a:off x="509321" y="4937760"/>
            <a:ext cx="1691640" cy="868680"/>
          </a:xfrm>
          <a:prstGeom prst="roundRect">
            <a:avLst>
              <a:gd name="adj" fmla="val 8421"/>
            </a:avLst>
          </a:prstGeom>
          <a:solidFill>
            <a:srgbClr val="FFFFFF"/>
          </a:solidFill>
          <a:ln w="12700">
            <a:solidFill>
              <a:srgbClr val="D9E0EC"/>
            </a:solidFill>
            <a:prstDash val="solid"/>
          </a:ln>
        </p:spPr>
        <p:txBody>
          <a:bodyPr/>
          <a:lstStyle/>
          <a:p>
            <a:endParaRPr lang="ko-KR" altLang="en-US"/>
          </a:p>
        </p:txBody>
      </p:sp>
      <p:sp>
        <p:nvSpPr>
          <p:cNvPr id="20" name="Text 17"/>
          <p:cNvSpPr txBox="1"/>
          <p:nvPr/>
        </p:nvSpPr>
        <p:spPr>
          <a:xfrm>
            <a:off x="509321" y="4937760"/>
            <a:ext cx="1691640" cy="8686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원천 지문 수집</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파일 SHA-256</a:t>
            </a:r>
            <a:endParaRPr lang="en-US" sz="1500" dirty="0"/>
          </a:p>
        </p:txBody>
      </p:sp>
      <p:sp>
        <p:nvSpPr>
          <p:cNvPr id="21" name="Shape 18"/>
          <p:cNvSpPr/>
          <p:nvPr/>
        </p:nvSpPr>
        <p:spPr>
          <a:xfrm>
            <a:off x="2228393" y="5367528"/>
            <a:ext cx="219456" cy="0"/>
          </a:xfrm>
          <a:prstGeom prst="line">
            <a:avLst/>
          </a:prstGeom>
          <a:noFill/>
          <a:ln w="19050">
            <a:solidFill>
              <a:srgbClr val="4A5364"/>
            </a:solidFill>
            <a:prstDash val="solid"/>
            <a:tailEnd type="triangle"/>
          </a:ln>
        </p:spPr>
        <p:txBody>
          <a:bodyPr/>
          <a:lstStyle/>
          <a:p>
            <a:endParaRPr lang="ko-KR" altLang="en-US"/>
          </a:p>
        </p:txBody>
      </p:sp>
      <p:sp>
        <p:nvSpPr>
          <p:cNvPr id="22" name="Shape 19"/>
          <p:cNvSpPr/>
          <p:nvPr/>
        </p:nvSpPr>
        <p:spPr>
          <a:xfrm>
            <a:off x="2475281" y="4800600"/>
            <a:ext cx="2240280" cy="1143000"/>
          </a:xfrm>
          <a:prstGeom prst="roundRect">
            <a:avLst>
              <a:gd name="adj" fmla="val 6400"/>
            </a:avLst>
          </a:prstGeom>
          <a:solidFill>
            <a:srgbClr val="EEF3FA"/>
          </a:solidFill>
          <a:ln w="12700">
            <a:solidFill>
              <a:srgbClr val="2E74C6"/>
            </a:solidFill>
            <a:prstDash val="solid"/>
          </a:ln>
        </p:spPr>
        <p:txBody>
          <a:bodyPr/>
          <a:lstStyle/>
          <a:p>
            <a:endParaRPr lang="ko-KR" altLang="en-US"/>
          </a:p>
        </p:txBody>
      </p:sp>
      <p:sp>
        <p:nvSpPr>
          <p:cNvPr id="23" name="Text 20"/>
          <p:cNvSpPr txBox="1"/>
          <p:nvPr/>
        </p:nvSpPr>
        <p:spPr>
          <a:xfrm>
            <a:off x="2475281" y="4800600"/>
            <a:ext cx="2240280" cy="114300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활성 세대 기록과 비교</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원천, 처리 정책, 문서 프로필, </a:t>
            </a:r>
          </a:p>
          <a:p>
            <a:pPr marL="0" indent="0" algn="ctr">
              <a:spcAft>
                <a:spcPts val="100"/>
              </a:spcAft>
              <a:buNone/>
            </a:pPr>
            <a:r>
              <a:rPr lang="en-US" sz="1400" dirty="0" err="1">
                <a:solidFill>
                  <a:srgbClr val="1E2A5C"/>
                </a:solidFill>
                <a:latin typeface="Pretendard" pitchFamily="34" charset="0"/>
                <a:ea typeface="Pretendard" pitchFamily="34" charset="-122"/>
                <a:cs typeface="Pretendard" pitchFamily="34" charset="-120"/>
              </a:rPr>
              <a:t>토큰화</a:t>
            </a:r>
            <a:r>
              <a:rPr lang="en-US" sz="1400" dirty="0">
                <a:solidFill>
                  <a:srgbClr val="1E2A5C"/>
                </a:solidFill>
                <a:latin typeface="Pretendard" pitchFamily="34" charset="0"/>
                <a:ea typeface="Pretendard" pitchFamily="34" charset="-122"/>
                <a:cs typeface="Pretendard" pitchFamily="34" charset="-120"/>
              </a:rPr>
              <a:t>, 임베딩 설정</a:t>
            </a:r>
            <a:endParaRPr lang="en-US" sz="1500" dirty="0"/>
          </a:p>
        </p:txBody>
      </p:sp>
      <p:sp>
        <p:nvSpPr>
          <p:cNvPr id="24" name="Shape 21"/>
          <p:cNvSpPr/>
          <p:nvPr/>
        </p:nvSpPr>
        <p:spPr>
          <a:xfrm>
            <a:off x="4989881" y="4617720"/>
            <a:ext cx="1828800" cy="713232"/>
          </a:xfrm>
          <a:prstGeom prst="roundRect">
            <a:avLst>
              <a:gd name="adj" fmla="val 10256"/>
            </a:avLst>
          </a:prstGeom>
          <a:solidFill>
            <a:srgbClr val="404155"/>
          </a:solidFill>
          <a:ln/>
        </p:spPr>
        <p:txBody>
          <a:bodyPr/>
          <a:lstStyle/>
          <a:p>
            <a:endParaRPr lang="ko-KR" altLang="en-US"/>
          </a:p>
        </p:txBody>
      </p:sp>
      <p:sp>
        <p:nvSpPr>
          <p:cNvPr id="25" name="Text 22"/>
          <p:cNvSpPr txBox="1"/>
          <p:nvPr/>
        </p:nvSpPr>
        <p:spPr>
          <a:xfrm>
            <a:off x="4989881" y="4617720"/>
            <a:ext cx="1828800" cy="71323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모두 같음</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실행 종료 (할 일 없음)</a:t>
            </a:r>
            <a:endParaRPr lang="en-US" sz="1500" dirty="0"/>
          </a:p>
        </p:txBody>
      </p:sp>
      <p:sp>
        <p:nvSpPr>
          <p:cNvPr id="26" name="Shape 23"/>
          <p:cNvSpPr/>
          <p:nvPr/>
        </p:nvSpPr>
        <p:spPr>
          <a:xfrm>
            <a:off x="4989881" y="5422392"/>
            <a:ext cx="1828800" cy="713232"/>
          </a:xfrm>
          <a:prstGeom prst="roundRect">
            <a:avLst>
              <a:gd name="adj" fmla="val 10256"/>
            </a:avLst>
          </a:prstGeom>
          <a:solidFill>
            <a:srgbClr val="2E74C6"/>
          </a:solidFill>
          <a:ln/>
        </p:spPr>
        <p:txBody>
          <a:bodyPr/>
          <a:lstStyle/>
          <a:p>
            <a:endParaRPr lang="ko-KR" altLang="en-US"/>
          </a:p>
        </p:txBody>
      </p:sp>
      <p:sp>
        <p:nvSpPr>
          <p:cNvPr id="27" name="Text 24"/>
          <p:cNvSpPr txBox="1"/>
          <p:nvPr/>
        </p:nvSpPr>
        <p:spPr>
          <a:xfrm>
            <a:off x="4989881" y="5422392"/>
            <a:ext cx="1828800" cy="71323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하나라도 다름</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② 공통 단계로</a:t>
            </a:r>
            <a:endParaRPr lang="en-US" sz="1500" dirty="0"/>
          </a:p>
        </p:txBody>
      </p:sp>
      <p:sp>
        <p:nvSpPr>
          <p:cNvPr id="28" name="Shape 25"/>
          <p:cNvSpPr/>
          <p:nvPr/>
        </p:nvSpPr>
        <p:spPr>
          <a:xfrm flipV="1">
            <a:off x="4742993" y="4974336"/>
            <a:ext cx="219456" cy="192024"/>
          </a:xfrm>
          <a:prstGeom prst="line">
            <a:avLst/>
          </a:prstGeom>
          <a:noFill/>
          <a:ln w="19050">
            <a:solidFill>
              <a:srgbClr val="4A5364"/>
            </a:solidFill>
            <a:prstDash val="solid"/>
            <a:tailEnd type="triangle"/>
          </a:ln>
        </p:spPr>
        <p:txBody>
          <a:bodyPr/>
          <a:lstStyle/>
          <a:p>
            <a:endParaRPr lang="ko-KR" altLang="en-US"/>
          </a:p>
        </p:txBody>
      </p:sp>
      <p:sp>
        <p:nvSpPr>
          <p:cNvPr id="29" name="Shape 26"/>
          <p:cNvSpPr/>
          <p:nvPr/>
        </p:nvSpPr>
        <p:spPr>
          <a:xfrm>
            <a:off x="4742993" y="5577840"/>
            <a:ext cx="219456" cy="201168"/>
          </a:xfrm>
          <a:prstGeom prst="line">
            <a:avLst/>
          </a:prstGeom>
          <a:noFill/>
          <a:ln w="19050">
            <a:solidFill>
              <a:srgbClr val="4A5364"/>
            </a:solidFill>
            <a:prstDash val="solid"/>
            <a:tailEnd type="triangle"/>
          </a:ln>
        </p:spPr>
        <p:txBody>
          <a:bodyPr/>
          <a:lstStyle/>
          <a:p>
            <a:endParaRPr lang="ko-KR" altLang="en-US"/>
          </a:p>
        </p:txBody>
      </p:sp>
      <p:sp>
        <p:nvSpPr>
          <p:cNvPr id="30" name="Text 27"/>
          <p:cNvSpPr txBox="1"/>
          <p:nvPr/>
        </p:nvSpPr>
        <p:spPr>
          <a:xfrm>
            <a:off x="509321" y="6263640"/>
            <a:ext cx="6309360" cy="329184"/>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전체 재색인을 요청하면 사전 검사를 건너뛰고 ②로 감</a:t>
            </a:r>
            <a:endParaRPr lang="en-US" sz="1400" dirty="0"/>
          </a:p>
        </p:txBody>
      </p:sp>
      <p:sp>
        <p:nvSpPr>
          <p:cNvPr id="31" name="Shape 28"/>
          <p:cNvSpPr/>
          <p:nvPr/>
        </p:nvSpPr>
        <p:spPr>
          <a:xfrm>
            <a:off x="7093001" y="1737360"/>
            <a:ext cx="7040880" cy="411480"/>
          </a:xfrm>
          <a:prstGeom prst="roundRect">
            <a:avLst>
              <a:gd name="adj" fmla="val 13333"/>
            </a:avLst>
          </a:prstGeom>
          <a:solidFill>
            <a:srgbClr val="2E74C6"/>
          </a:solidFill>
          <a:ln/>
        </p:spPr>
        <p:txBody>
          <a:bodyPr/>
          <a:lstStyle/>
          <a:p>
            <a:endParaRPr lang="ko-KR" altLang="en-US"/>
          </a:p>
        </p:txBody>
      </p:sp>
      <p:sp>
        <p:nvSpPr>
          <p:cNvPr id="32" name="Text 29"/>
          <p:cNvSpPr txBox="1"/>
          <p:nvPr/>
        </p:nvSpPr>
        <p:spPr>
          <a:xfrm>
            <a:off x="7093001" y="1737360"/>
            <a:ext cx="7040880" cy="41148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② 공통 단계: 원문 → 청크 파일</a:t>
            </a:r>
            <a:endParaRPr lang="en-US" sz="1800" dirty="0"/>
          </a:p>
        </p:txBody>
      </p:sp>
      <p:sp>
        <p:nvSpPr>
          <p:cNvPr id="33" name="Shape 30"/>
          <p:cNvSpPr/>
          <p:nvPr/>
        </p:nvSpPr>
        <p:spPr>
          <a:xfrm>
            <a:off x="7093001" y="2286000"/>
            <a:ext cx="1588770" cy="896112"/>
          </a:xfrm>
          <a:prstGeom prst="roundRect">
            <a:avLst>
              <a:gd name="adj" fmla="val 8163"/>
            </a:avLst>
          </a:prstGeom>
          <a:solidFill>
            <a:srgbClr val="F5F8FC"/>
          </a:solidFill>
          <a:ln w="12700">
            <a:solidFill>
              <a:srgbClr val="D9E0EC"/>
            </a:solidFill>
            <a:prstDash val="solid"/>
          </a:ln>
        </p:spPr>
        <p:txBody>
          <a:bodyPr/>
          <a:lstStyle/>
          <a:p>
            <a:endParaRPr lang="ko-KR" altLang="en-US"/>
          </a:p>
        </p:txBody>
      </p:sp>
      <p:sp>
        <p:nvSpPr>
          <p:cNvPr id="34" name="Text 31"/>
          <p:cNvSpPr txBox="1"/>
          <p:nvPr/>
        </p:nvSpPr>
        <p:spPr>
          <a:xfrm>
            <a:off x="709300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원천 문서</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약관과 혜택 PDF</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상담 이력 TXT</a:t>
            </a:r>
            <a:endParaRPr lang="en-US" sz="1500" dirty="0"/>
          </a:p>
        </p:txBody>
      </p:sp>
      <p:sp>
        <p:nvSpPr>
          <p:cNvPr id="35" name="Shape 32"/>
          <p:cNvSpPr/>
          <p:nvPr/>
        </p:nvSpPr>
        <p:spPr>
          <a:xfrm>
            <a:off x="8709203" y="2734056"/>
            <a:ext cx="173736" cy="0"/>
          </a:xfrm>
          <a:prstGeom prst="line">
            <a:avLst/>
          </a:prstGeom>
          <a:noFill/>
          <a:ln w="19050">
            <a:solidFill>
              <a:srgbClr val="4A5364"/>
            </a:solidFill>
            <a:prstDash val="solid"/>
            <a:tailEnd type="triangle"/>
          </a:ln>
        </p:spPr>
        <p:txBody>
          <a:bodyPr/>
          <a:lstStyle/>
          <a:p>
            <a:endParaRPr lang="ko-KR" altLang="en-US"/>
          </a:p>
        </p:txBody>
      </p:sp>
      <p:sp>
        <p:nvSpPr>
          <p:cNvPr id="36" name="Shape 33"/>
          <p:cNvSpPr/>
          <p:nvPr/>
        </p:nvSpPr>
        <p:spPr>
          <a:xfrm>
            <a:off x="8910371" y="2286000"/>
            <a:ext cx="1588770" cy="896112"/>
          </a:xfrm>
          <a:prstGeom prst="roundRect">
            <a:avLst>
              <a:gd name="adj" fmla="val 8163"/>
            </a:avLst>
          </a:prstGeom>
          <a:solidFill>
            <a:srgbClr val="EEF3FA"/>
          </a:solidFill>
          <a:ln w="12700">
            <a:solidFill>
              <a:srgbClr val="2E74C6"/>
            </a:solidFill>
            <a:prstDash val="solid"/>
          </a:ln>
        </p:spPr>
        <p:txBody>
          <a:bodyPr/>
          <a:lstStyle/>
          <a:p>
            <a:endParaRPr lang="ko-KR" altLang="en-US"/>
          </a:p>
        </p:txBody>
      </p:sp>
      <p:sp>
        <p:nvSpPr>
          <p:cNvPr id="37" name="Text 34"/>
          <p:cNvSpPr txBox="1"/>
          <p:nvPr/>
        </p:nvSpPr>
        <p:spPr>
          <a:xfrm>
            <a:off x="891037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로드와 가명처리</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회원 정보를</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가명 키로 바꿈</a:t>
            </a:r>
            <a:endParaRPr lang="en-US" sz="1500" dirty="0"/>
          </a:p>
        </p:txBody>
      </p:sp>
      <p:sp>
        <p:nvSpPr>
          <p:cNvPr id="38" name="Shape 35"/>
          <p:cNvSpPr/>
          <p:nvPr/>
        </p:nvSpPr>
        <p:spPr>
          <a:xfrm>
            <a:off x="10526573" y="2734056"/>
            <a:ext cx="173736" cy="0"/>
          </a:xfrm>
          <a:prstGeom prst="line">
            <a:avLst/>
          </a:prstGeom>
          <a:noFill/>
          <a:ln w="19050">
            <a:solidFill>
              <a:srgbClr val="4A5364"/>
            </a:solidFill>
            <a:prstDash val="solid"/>
            <a:tailEnd type="triangle"/>
          </a:ln>
        </p:spPr>
        <p:txBody>
          <a:bodyPr/>
          <a:lstStyle/>
          <a:p>
            <a:endParaRPr lang="ko-KR" altLang="en-US"/>
          </a:p>
        </p:txBody>
      </p:sp>
      <p:sp>
        <p:nvSpPr>
          <p:cNvPr id="39" name="Shape 36"/>
          <p:cNvSpPr/>
          <p:nvPr/>
        </p:nvSpPr>
        <p:spPr>
          <a:xfrm>
            <a:off x="10727741" y="2286000"/>
            <a:ext cx="1588770" cy="896112"/>
          </a:xfrm>
          <a:prstGeom prst="roundRect">
            <a:avLst>
              <a:gd name="adj" fmla="val 8163"/>
            </a:avLst>
          </a:prstGeom>
          <a:solidFill>
            <a:srgbClr val="FFFFFF"/>
          </a:solidFill>
          <a:ln w="12700">
            <a:solidFill>
              <a:srgbClr val="D9E0EC"/>
            </a:solidFill>
            <a:prstDash val="solid"/>
          </a:ln>
        </p:spPr>
        <p:txBody>
          <a:bodyPr/>
          <a:lstStyle/>
          <a:p>
            <a:endParaRPr lang="ko-KR" altLang="en-US"/>
          </a:p>
        </p:txBody>
      </p:sp>
      <p:sp>
        <p:nvSpPr>
          <p:cNvPr id="40" name="Text 37"/>
          <p:cNvSpPr txBox="1"/>
          <p:nvPr/>
        </p:nvSpPr>
        <p:spPr>
          <a:xfrm>
            <a:off x="1072774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정제</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표기 정리</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메타데이터 검증</a:t>
            </a:r>
            <a:endParaRPr lang="en-US" sz="1500" dirty="0"/>
          </a:p>
        </p:txBody>
      </p:sp>
      <p:sp>
        <p:nvSpPr>
          <p:cNvPr id="41" name="Shape 38"/>
          <p:cNvSpPr/>
          <p:nvPr/>
        </p:nvSpPr>
        <p:spPr>
          <a:xfrm>
            <a:off x="12343943" y="2734056"/>
            <a:ext cx="173736" cy="0"/>
          </a:xfrm>
          <a:prstGeom prst="line">
            <a:avLst/>
          </a:prstGeom>
          <a:noFill/>
          <a:ln w="19050">
            <a:solidFill>
              <a:srgbClr val="4A5364"/>
            </a:solidFill>
            <a:prstDash val="solid"/>
            <a:tailEnd type="triangle"/>
          </a:ln>
        </p:spPr>
        <p:txBody>
          <a:bodyPr/>
          <a:lstStyle/>
          <a:p>
            <a:endParaRPr lang="ko-KR" altLang="en-US"/>
          </a:p>
        </p:txBody>
      </p:sp>
      <p:sp>
        <p:nvSpPr>
          <p:cNvPr id="42" name="Shape 39"/>
          <p:cNvSpPr/>
          <p:nvPr/>
        </p:nvSpPr>
        <p:spPr>
          <a:xfrm>
            <a:off x="12545111" y="2286000"/>
            <a:ext cx="1588770" cy="896112"/>
          </a:xfrm>
          <a:prstGeom prst="roundRect">
            <a:avLst>
              <a:gd name="adj" fmla="val 8163"/>
            </a:avLst>
          </a:prstGeom>
          <a:solidFill>
            <a:srgbClr val="FFFFFF"/>
          </a:solidFill>
          <a:ln w="12700">
            <a:solidFill>
              <a:srgbClr val="D9E0EC"/>
            </a:solidFill>
            <a:prstDash val="solid"/>
          </a:ln>
        </p:spPr>
        <p:txBody>
          <a:bodyPr/>
          <a:lstStyle/>
          <a:p>
            <a:endParaRPr lang="ko-KR" altLang="en-US"/>
          </a:p>
        </p:txBody>
      </p:sp>
      <p:sp>
        <p:nvSpPr>
          <p:cNvPr id="43" name="Text 40"/>
          <p:cNvSpPr txBox="1"/>
          <p:nvPr/>
        </p:nvSpPr>
        <p:spPr>
          <a:xfrm>
            <a:off x="1254511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청킹</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문서별 분할 정책</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카드 경계, 머리말</a:t>
            </a:r>
            <a:endParaRPr lang="en-US" sz="1500" dirty="0"/>
          </a:p>
        </p:txBody>
      </p:sp>
      <p:sp>
        <p:nvSpPr>
          <p:cNvPr id="44" name="Shape 41"/>
          <p:cNvSpPr/>
          <p:nvPr/>
        </p:nvSpPr>
        <p:spPr>
          <a:xfrm>
            <a:off x="7093001" y="3310128"/>
            <a:ext cx="7040880" cy="658368"/>
          </a:xfrm>
          <a:prstGeom prst="roundRect">
            <a:avLst>
              <a:gd name="adj" fmla="val 11111"/>
            </a:avLst>
          </a:prstGeom>
          <a:solidFill>
            <a:srgbClr val="1E2A5C"/>
          </a:solidFill>
          <a:ln/>
        </p:spPr>
        <p:txBody>
          <a:bodyPr/>
          <a:lstStyle/>
          <a:p>
            <a:endParaRPr lang="ko-KR" altLang="en-US"/>
          </a:p>
        </p:txBody>
      </p:sp>
      <p:sp>
        <p:nvSpPr>
          <p:cNvPr id="45" name="Text 42"/>
          <p:cNvSpPr txBox="1"/>
          <p:nvPr/>
        </p:nvSpPr>
        <p:spPr>
          <a:xfrm>
            <a:off x="7093001" y="3310128"/>
            <a:ext cx="7040880" cy="658368"/>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prepared-chunks.json + SHA-256</a:t>
            </a:r>
            <a:endParaRPr lang="en-US" sz="16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개인정보 처리된 청크만 저장 → K1, S1이 함께 읽음</a:t>
            </a:r>
            <a:endParaRPr lang="en-US" sz="1600" dirty="0"/>
          </a:p>
        </p:txBody>
      </p:sp>
      <p:sp>
        <p:nvSpPr>
          <p:cNvPr id="46" name="Shape 43"/>
          <p:cNvSpPr/>
          <p:nvPr/>
        </p:nvSpPr>
        <p:spPr>
          <a:xfrm>
            <a:off x="7093001" y="4096512"/>
            <a:ext cx="2255520" cy="1188720"/>
          </a:xfrm>
          <a:prstGeom prst="roundRect">
            <a:avLst>
              <a:gd name="adj" fmla="val 6154"/>
            </a:avLst>
          </a:prstGeom>
          <a:solidFill>
            <a:srgbClr val="F5F8FC"/>
          </a:solidFill>
          <a:ln w="12700">
            <a:solidFill>
              <a:srgbClr val="D9E0EC"/>
            </a:solidFill>
            <a:prstDash val="solid"/>
          </a:ln>
        </p:spPr>
        <p:txBody>
          <a:bodyPr/>
          <a:lstStyle/>
          <a:p>
            <a:endParaRPr lang="ko-KR" altLang="en-US"/>
          </a:p>
        </p:txBody>
      </p:sp>
      <p:sp>
        <p:nvSpPr>
          <p:cNvPr id="47" name="Text 44"/>
          <p:cNvSpPr txBox="1"/>
          <p:nvPr/>
        </p:nvSpPr>
        <p:spPr>
          <a:xfrm>
            <a:off x="7184441" y="4142232"/>
            <a:ext cx="207264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원문은 남기지 않음</a:t>
            </a:r>
            <a:endParaRPr lang="en-US" sz="1500" dirty="0"/>
          </a:p>
        </p:txBody>
      </p:sp>
      <p:sp>
        <p:nvSpPr>
          <p:cNvPr id="48" name="Text 45"/>
          <p:cNvSpPr txBox="1"/>
          <p:nvPr/>
        </p:nvSpPr>
        <p:spPr>
          <a:xfrm>
            <a:off x="7184441" y="4498848"/>
            <a:ext cx="2072640" cy="7315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가명처리 전 원문은 메모리에서만 다루고 처리된 청크만 저장</a:t>
            </a:r>
            <a:endParaRPr lang="en-US" sz="1400" dirty="0"/>
          </a:p>
        </p:txBody>
      </p:sp>
      <p:sp>
        <p:nvSpPr>
          <p:cNvPr id="49" name="Shape 46"/>
          <p:cNvSpPr/>
          <p:nvPr/>
        </p:nvSpPr>
        <p:spPr>
          <a:xfrm>
            <a:off x="9485681" y="4096512"/>
            <a:ext cx="2255520" cy="1188720"/>
          </a:xfrm>
          <a:prstGeom prst="roundRect">
            <a:avLst>
              <a:gd name="adj" fmla="val 6154"/>
            </a:avLst>
          </a:prstGeom>
          <a:solidFill>
            <a:srgbClr val="F5F8FC"/>
          </a:solidFill>
          <a:ln w="12700">
            <a:solidFill>
              <a:srgbClr val="D9E0EC"/>
            </a:solidFill>
            <a:prstDash val="solid"/>
          </a:ln>
        </p:spPr>
        <p:txBody>
          <a:bodyPr/>
          <a:lstStyle/>
          <a:p>
            <a:endParaRPr lang="ko-KR" altLang="en-US"/>
          </a:p>
        </p:txBody>
      </p:sp>
      <p:sp>
        <p:nvSpPr>
          <p:cNvPr id="50" name="Text 47"/>
          <p:cNvSpPr txBox="1"/>
          <p:nvPr/>
        </p:nvSpPr>
        <p:spPr>
          <a:xfrm>
            <a:off x="9577121" y="4142232"/>
            <a:ext cx="207264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바뀌지 않은 문서는 재사용</a:t>
            </a:r>
            <a:endParaRPr lang="en-US" sz="1500" dirty="0"/>
          </a:p>
        </p:txBody>
      </p:sp>
      <p:sp>
        <p:nvSpPr>
          <p:cNvPr id="51" name="Text 48"/>
          <p:cNvSpPr txBox="1"/>
          <p:nvPr/>
        </p:nvSpPr>
        <p:spPr>
          <a:xfrm>
            <a:off x="9577121" y="4498848"/>
            <a:ext cx="2072640" cy="7315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원천 해시와 처리 정책이 같으면 이전 세대의 처리된 청크를 씀</a:t>
            </a:r>
            <a:endParaRPr lang="en-US" sz="1400" dirty="0"/>
          </a:p>
        </p:txBody>
      </p:sp>
      <p:sp>
        <p:nvSpPr>
          <p:cNvPr id="52" name="Shape 49"/>
          <p:cNvSpPr/>
          <p:nvPr/>
        </p:nvSpPr>
        <p:spPr>
          <a:xfrm>
            <a:off x="11878361" y="4096512"/>
            <a:ext cx="2255520" cy="1188720"/>
          </a:xfrm>
          <a:prstGeom prst="roundRect">
            <a:avLst>
              <a:gd name="adj" fmla="val 6154"/>
            </a:avLst>
          </a:prstGeom>
          <a:solidFill>
            <a:srgbClr val="F5F8FC"/>
          </a:solidFill>
          <a:ln w="12700">
            <a:solidFill>
              <a:srgbClr val="D9E0EC"/>
            </a:solidFill>
            <a:prstDash val="solid"/>
          </a:ln>
        </p:spPr>
        <p:txBody>
          <a:bodyPr/>
          <a:lstStyle/>
          <a:p>
            <a:endParaRPr lang="ko-KR" altLang="en-US"/>
          </a:p>
        </p:txBody>
      </p:sp>
      <p:sp>
        <p:nvSpPr>
          <p:cNvPr id="53" name="Text 50"/>
          <p:cNvSpPr txBox="1"/>
          <p:nvPr/>
        </p:nvSpPr>
        <p:spPr>
          <a:xfrm>
            <a:off x="11969801" y="4142232"/>
            <a:ext cx="207264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실행 중 원천이 바뀌면 중단</a:t>
            </a:r>
            <a:endParaRPr lang="en-US" sz="1500" dirty="0"/>
          </a:p>
        </p:txBody>
      </p:sp>
      <p:sp>
        <p:nvSpPr>
          <p:cNvPr id="54" name="Text 51"/>
          <p:cNvSpPr txBox="1"/>
          <p:nvPr/>
        </p:nvSpPr>
        <p:spPr>
          <a:xfrm>
            <a:off x="11969801" y="4498848"/>
            <a:ext cx="2072640" cy="7315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지문이 달라지면 같은 실행으로 이어 가지 않음</a:t>
            </a:r>
            <a:endParaRPr lang="en-US" sz="1400" dirty="0"/>
          </a:p>
        </p:txBody>
      </p:sp>
      <p:sp>
        <p:nvSpPr>
          <p:cNvPr id="55" name="Text 52"/>
          <p:cNvSpPr txBox="1"/>
          <p:nvPr/>
        </p:nvSpPr>
        <p:spPr>
          <a:xfrm>
            <a:off x="7093001" y="5413248"/>
            <a:ext cx="7040880" cy="29260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chunk_id 만드는 법: </a:t>
            </a:r>
            <a:r>
              <a:rPr lang="ko-KR" altLang="en-US" sz="1500" b="1" dirty="0" err="1">
                <a:solidFill>
                  <a:srgbClr val="4A5364"/>
                </a:solidFill>
                <a:latin typeface="Pretendard" pitchFamily="34" charset="0"/>
                <a:ea typeface="Pretendard" pitchFamily="34" charset="-122"/>
                <a:cs typeface="Pretendard" pitchFamily="34" charset="-120"/>
              </a:rPr>
              <a:t>문서키</a:t>
            </a:r>
            <a:r>
              <a:rPr lang="ko-KR" altLang="en-US" sz="1500" b="1" dirty="0">
                <a:solidFill>
                  <a:srgbClr val="4A5364"/>
                </a:solidFill>
                <a:latin typeface="Pretendard" pitchFamily="34" charset="0"/>
                <a:ea typeface="Pretendard" pitchFamily="34" charset="-122"/>
                <a:cs typeface="Pretendard" pitchFamily="34" charset="-120"/>
              </a:rPr>
              <a:t> </a:t>
            </a:r>
            <a:r>
              <a:rPr lang="en-US" altLang="ko-KR" sz="1500" b="1" dirty="0">
                <a:solidFill>
                  <a:srgbClr val="4A5364"/>
                </a:solidFill>
                <a:latin typeface="Pretendard" pitchFamily="34" charset="0"/>
                <a:ea typeface="Pretendard" pitchFamily="34" charset="-122"/>
                <a:cs typeface="Pretendard" pitchFamily="34" charset="-120"/>
              </a:rPr>
              <a:t>+ </a:t>
            </a:r>
            <a:r>
              <a:rPr lang="ko-KR" altLang="en-US" sz="1500" b="1" dirty="0">
                <a:solidFill>
                  <a:srgbClr val="4A5364"/>
                </a:solidFill>
                <a:latin typeface="Pretendard" pitchFamily="34" charset="0"/>
                <a:ea typeface="Pretendard" pitchFamily="34" charset="-122"/>
                <a:cs typeface="Pretendard" pitchFamily="34" charset="-120"/>
              </a:rPr>
              <a:t>본문 해시 </a:t>
            </a:r>
            <a:r>
              <a:rPr lang="en-US" altLang="ko-KR" sz="1500" b="1" dirty="0">
                <a:solidFill>
                  <a:srgbClr val="4A5364"/>
                </a:solidFill>
                <a:latin typeface="Pretendard" pitchFamily="34" charset="0"/>
                <a:ea typeface="Pretendard" pitchFamily="34" charset="-122"/>
                <a:cs typeface="Pretendard" pitchFamily="34" charset="-120"/>
              </a:rPr>
              <a:t>+ </a:t>
            </a:r>
            <a:r>
              <a:rPr lang="ko-KR" altLang="en-US" sz="1500" b="1" dirty="0">
                <a:solidFill>
                  <a:srgbClr val="4A5364"/>
                </a:solidFill>
                <a:latin typeface="Pretendard" pitchFamily="34" charset="0"/>
                <a:ea typeface="Pretendard" pitchFamily="34" charset="-122"/>
                <a:cs typeface="Pretendard" pitchFamily="34" charset="-120"/>
              </a:rPr>
              <a:t>같은 본문 </a:t>
            </a:r>
            <a:r>
              <a:rPr lang="ko-KR" altLang="en-US" sz="1500" b="1" dirty="0" err="1">
                <a:solidFill>
                  <a:srgbClr val="4A5364"/>
                </a:solidFill>
                <a:latin typeface="Pretendard" pitchFamily="34" charset="0"/>
                <a:ea typeface="Pretendard" pitchFamily="34" charset="-122"/>
                <a:cs typeface="Pretendard" pitchFamily="34" charset="-120"/>
              </a:rPr>
              <a:t>청크</a:t>
            </a:r>
            <a:r>
              <a:rPr lang="ko-KR" altLang="en-US" sz="1500" b="1" dirty="0">
                <a:solidFill>
                  <a:srgbClr val="4A5364"/>
                </a:solidFill>
                <a:latin typeface="Pretendard" pitchFamily="34" charset="0"/>
                <a:ea typeface="Pretendard" pitchFamily="34" charset="-122"/>
                <a:cs typeface="Pretendard" pitchFamily="34" charset="-120"/>
              </a:rPr>
              <a:t> 존재 시 구별 번호</a:t>
            </a:r>
            <a:endParaRPr lang="en-US" sz="1500" dirty="0"/>
          </a:p>
        </p:txBody>
      </p:sp>
      <p:sp>
        <p:nvSpPr>
          <p:cNvPr id="56" name="Shape 53"/>
          <p:cNvSpPr/>
          <p:nvPr/>
        </p:nvSpPr>
        <p:spPr>
          <a:xfrm>
            <a:off x="7093001" y="5733288"/>
            <a:ext cx="2651760" cy="658368"/>
          </a:xfrm>
          <a:prstGeom prst="roundRect">
            <a:avLst>
              <a:gd name="adj" fmla="val 5556"/>
            </a:avLst>
          </a:prstGeom>
          <a:solidFill>
            <a:srgbClr val="2E74C6"/>
          </a:solidFill>
          <a:ln/>
        </p:spPr>
        <p:txBody>
          <a:bodyPr/>
          <a:lstStyle/>
          <a:p>
            <a:endParaRPr lang="ko-KR" altLang="en-US"/>
          </a:p>
        </p:txBody>
      </p:sp>
      <p:sp>
        <p:nvSpPr>
          <p:cNvPr id="57" name="Text 54"/>
          <p:cNvSpPr txBox="1"/>
          <p:nvPr/>
        </p:nvSpPr>
        <p:spPr>
          <a:xfrm>
            <a:off x="7093001" y="5733288"/>
            <a:ext cx="265176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D1_27223010abe31291</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문서 키</a:t>
            </a:r>
            <a:endParaRPr lang="en-US" sz="1500" dirty="0"/>
          </a:p>
        </p:txBody>
      </p:sp>
      <p:sp>
        <p:nvSpPr>
          <p:cNvPr id="58" name="Shape 55"/>
          <p:cNvSpPr/>
          <p:nvPr/>
        </p:nvSpPr>
        <p:spPr>
          <a:xfrm>
            <a:off x="9781337" y="5733288"/>
            <a:ext cx="2468880"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59" name="Text 56"/>
          <p:cNvSpPr txBox="1"/>
          <p:nvPr/>
        </p:nvSpPr>
        <p:spPr>
          <a:xfrm>
            <a:off x="9781337" y="5733288"/>
            <a:ext cx="246888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_112f1e4abea05436</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본문 해시 16자리</a:t>
            </a:r>
            <a:endParaRPr lang="en-US" sz="1500" dirty="0"/>
          </a:p>
        </p:txBody>
      </p:sp>
      <p:sp>
        <p:nvSpPr>
          <p:cNvPr id="60" name="Shape 57"/>
          <p:cNvSpPr/>
          <p:nvPr/>
        </p:nvSpPr>
        <p:spPr>
          <a:xfrm>
            <a:off x="12286793" y="5733288"/>
            <a:ext cx="1847088"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61" name="Text 58"/>
          <p:cNvSpPr txBox="1"/>
          <p:nvPr/>
        </p:nvSpPr>
        <p:spPr>
          <a:xfrm>
            <a:off x="12286793" y="5733288"/>
            <a:ext cx="1847088"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_0000</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같은 본문 반복 번호</a:t>
            </a:r>
            <a:endParaRPr lang="en-US" sz="1500" dirty="0"/>
          </a:p>
        </p:txBody>
      </p:sp>
      <p:sp>
        <p:nvSpPr>
          <p:cNvPr id="62" name="Text 59"/>
          <p:cNvSpPr txBox="1"/>
          <p:nvPr/>
        </p:nvSpPr>
        <p:spPr>
          <a:xfrm>
            <a:off x="7093001" y="6510528"/>
            <a:ext cx="7040880" cy="566928"/>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청크 한 건: chunk_id, text, index_text(머리말 포함), metadata(가명 키 포함), text_hash, token_count</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en-US" sz="3200" b="1" dirty="0">
                <a:solidFill>
                  <a:srgbClr val="2C2926"/>
                </a:solidFill>
                <a:latin typeface="Pretendard" pitchFamily="34" charset="0"/>
                <a:ea typeface="Pretendard" pitchFamily="34" charset="-122"/>
                <a:cs typeface="Pretendard" pitchFamily="34" charset="-120"/>
              </a:rPr>
              <a:t>KG </a:t>
            </a:r>
            <a:r>
              <a:rPr lang="en-US" sz="3200" b="1" dirty="0" err="1">
                <a:solidFill>
                  <a:srgbClr val="2C2926"/>
                </a:solidFill>
                <a:latin typeface="Pretendard" pitchFamily="34" charset="0"/>
                <a:ea typeface="Pretendard" pitchFamily="34" charset="-122"/>
                <a:cs typeface="Pretendard" pitchFamily="34" charset="-120"/>
              </a:rPr>
              <a:t>구축</a:t>
            </a:r>
            <a:r>
              <a:rPr lang="en-US" sz="3200" b="1" dirty="0">
                <a:solidFill>
                  <a:srgbClr val="2C2926"/>
                </a:solidFill>
                <a:latin typeface="Pretendard" pitchFamily="34" charset="0"/>
                <a:ea typeface="Pretendard" pitchFamily="34" charset="-122"/>
                <a:cs typeface="Pretendard" pitchFamily="34" charset="-120"/>
              </a:rPr>
              <a:t> - K1. 추출 단위 나누기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LLM에 한 번에 넣는 글 조각을 뜻 단위(조항)로 맞춤. 검색용 청크는 그대로 두고 추출 직전에만 나눔</a:t>
            </a:r>
            <a:endParaRPr lang="en-US" sz="1800" dirty="0"/>
          </a:p>
        </p:txBody>
      </p:sp>
      <p:sp>
        <p:nvSpPr>
          <p:cNvPr id="5" name="Shape 2"/>
          <p:cNvSpPr/>
          <p:nvPr/>
        </p:nvSpPr>
        <p:spPr>
          <a:xfrm>
            <a:off x="509321" y="1737360"/>
            <a:ext cx="6675120" cy="411480"/>
          </a:xfrm>
          <a:prstGeom prst="roundRect">
            <a:avLst>
              <a:gd name="adj" fmla="val 13333"/>
            </a:avLst>
          </a:prstGeom>
          <a:solidFill>
            <a:srgbClr val="1E2A5C"/>
          </a:solidFill>
          <a:ln/>
        </p:spPr>
        <p:txBody>
          <a:bodyPr/>
          <a:lstStyle/>
          <a:p>
            <a:endParaRPr lang="ko-KR" altLang="en-US"/>
          </a:p>
        </p:txBody>
      </p:sp>
      <p:sp>
        <p:nvSpPr>
          <p:cNvPr id="6" name="Text 3"/>
          <p:cNvSpPr txBox="1"/>
          <p:nvPr/>
        </p:nvSpPr>
        <p:spPr>
          <a:xfrm>
            <a:off x="509321" y="1737360"/>
            <a:ext cx="6675120" cy="41148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왜 나누나</a:t>
            </a:r>
            <a:endParaRPr lang="en-US" sz="1800" dirty="0"/>
          </a:p>
        </p:txBody>
      </p:sp>
      <p:sp>
        <p:nvSpPr>
          <p:cNvPr id="7" name="Shape 4"/>
          <p:cNvSpPr/>
          <p:nvPr/>
        </p:nvSpPr>
        <p:spPr>
          <a:xfrm>
            <a:off x="509321" y="2331720"/>
            <a:ext cx="1325880" cy="777240"/>
          </a:xfrm>
          <a:prstGeom prst="roundRect">
            <a:avLst>
              <a:gd name="adj" fmla="val 7059"/>
            </a:avLst>
          </a:prstGeom>
          <a:solidFill>
            <a:srgbClr val="404155"/>
          </a:solidFill>
          <a:ln/>
        </p:spPr>
        <p:txBody>
          <a:bodyPr/>
          <a:lstStyle/>
          <a:p>
            <a:endParaRPr lang="ko-KR" altLang="en-US"/>
          </a:p>
        </p:txBody>
      </p:sp>
      <p:sp>
        <p:nvSpPr>
          <p:cNvPr id="8" name="Text 5"/>
          <p:cNvSpPr txBox="1"/>
          <p:nvPr/>
        </p:nvSpPr>
        <p:spPr>
          <a:xfrm>
            <a:off x="509321" y="2331720"/>
            <a:ext cx="1325880" cy="77724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청크 그대로</a:t>
            </a:r>
            <a:endParaRPr lang="en-US" sz="1500" dirty="0"/>
          </a:p>
        </p:txBody>
      </p:sp>
      <p:sp>
        <p:nvSpPr>
          <p:cNvPr id="9" name="Shape 6"/>
          <p:cNvSpPr/>
          <p:nvPr/>
        </p:nvSpPr>
        <p:spPr>
          <a:xfrm>
            <a:off x="1972361" y="2331720"/>
            <a:ext cx="2057400" cy="777240"/>
          </a:xfrm>
          <a:prstGeom prst="roundRect">
            <a:avLst>
              <a:gd name="adj" fmla="val 9412"/>
            </a:avLst>
          </a:prstGeom>
          <a:solidFill>
            <a:srgbClr val="F5F8FC"/>
          </a:solidFill>
          <a:ln w="12700">
            <a:solidFill>
              <a:srgbClr val="D9E0EC"/>
            </a:solidFill>
            <a:prstDash val="solid"/>
          </a:ln>
        </p:spPr>
        <p:txBody>
          <a:bodyPr/>
          <a:lstStyle/>
          <a:p>
            <a:endParaRPr lang="ko-KR" altLang="en-US"/>
          </a:p>
        </p:txBody>
      </p:sp>
      <p:sp>
        <p:nvSpPr>
          <p:cNvPr id="10" name="Text 7"/>
          <p:cNvSpPr txBox="1"/>
          <p:nvPr/>
        </p:nvSpPr>
        <p:spPr>
          <a:xfrm>
            <a:off x="1972361" y="2331720"/>
            <a:ext cx="2057400" cy="77724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약관 청크 1개</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1,449자, 조항 9개</a:t>
            </a:r>
            <a:endParaRPr lang="en-US" sz="1500" dirty="0"/>
          </a:p>
        </p:txBody>
      </p:sp>
      <p:sp>
        <p:nvSpPr>
          <p:cNvPr id="11" name="Shape 8"/>
          <p:cNvSpPr/>
          <p:nvPr/>
        </p:nvSpPr>
        <p:spPr>
          <a:xfrm>
            <a:off x="4093769" y="2788920"/>
            <a:ext cx="832104" cy="0"/>
          </a:xfrm>
          <a:prstGeom prst="line">
            <a:avLst/>
          </a:prstGeom>
          <a:noFill/>
          <a:ln w="25400">
            <a:solidFill>
              <a:srgbClr val="1E2A5C"/>
            </a:solidFill>
            <a:prstDash val="solid"/>
            <a:tailEnd type="triangle"/>
          </a:ln>
        </p:spPr>
        <p:txBody>
          <a:bodyPr/>
          <a:lstStyle/>
          <a:p>
            <a:endParaRPr lang="ko-KR" altLang="en-US"/>
          </a:p>
        </p:txBody>
      </p:sp>
      <p:sp>
        <p:nvSpPr>
          <p:cNvPr id="12" name="Text 9"/>
          <p:cNvSpPr txBox="1"/>
          <p:nvPr/>
        </p:nvSpPr>
        <p:spPr>
          <a:xfrm>
            <a:off x="4048049" y="2441448"/>
            <a:ext cx="923544" cy="292608"/>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LLM 1번</a:t>
            </a:r>
            <a:endParaRPr lang="en-US" sz="1400" dirty="0"/>
          </a:p>
        </p:txBody>
      </p:sp>
      <p:sp>
        <p:nvSpPr>
          <p:cNvPr id="13" name="Shape 10"/>
          <p:cNvSpPr/>
          <p:nvPr/>
        </p:nvSpPr>
        <p:spPr>
          <a:xfrm>
            <a:off x="4989881" y="2331720"/>
            <a:ext cx="2194560" cy="777240"/>
          </a:xfrm>
          <a:prstGeom prst="roundRect">
            <a:avLst>
              <a:gd name="adj" fmla="val 9412"/>
            </a:avLst>
          </a:prstGeom>
          <a:solidFill>
            <a:srgbClr val="404155"/>
          </a:solidFill>
          <a:ln/>
        </p:spPr>
        <p:txBody>
          <a:bodyPr/>
          <a:lstStyle/>
          <a:p>
            <a:endParaRPr lang="ko-KR" altLang="en-US"/>
          </a:p>
        </p:txBody>
      </p:sp>
      <p:sp>
        <p:nvSpPr>
          <p:cNvPr id="14" name="Text 11"/>
          <p:cNvSpPr txBox="1"/>
          <p:nvPr/>
        </p:nvSpPr>
        <p:spPr>
          <a:xfrm>
            <a:off x="4989881" y="2331720"/>
            <a:ext cx="2194560" cy="77724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조항, 문서 노드만</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조항 안 내용은 놓침</a:t>
            </a:r>
            <a:endParaRPr lang="en-US" sz="1500" dirty="0"/>
          </a:p>
        </p:txBody>
      </p:sp>
      <p:sp>
        <p:nvSpPr>
          <p:cNvPr id="15" name="Shape 12"/>
          <p:cNvSpPr/>
          <p:nvPr/>
        </p:nvSpPr>
        <p:spPr>
          <a:xfrm>
            <a:off x="509321" y="3291840"/>
            <a:ext cx="1325880" cy="777240"/>
          </a:xfrm>
          <a:prstGeom prst="roundRect">
            <a:avLst>
              <a:gd name="adj" fmla="val 7059"/>
            </a:avLst>
          </a:prstGeom>
          <a:solidFill>
            <a:srgbClr val="2E74C6"/>
          </a:solidFill>
          <a:ln/>
        </p:spPr>
        <p:txBody>
          <a:bodyPr/>
          <a:lstStyle/>
          <a:p>
            <a:endParaRPr lang="ko-KR" altLang="en-US"/>
          </a:p>
        </p:txBody>
      </p:sp>
      <p:sp>
        <p:nvSpPr>
          <p:cNvPr id="16" name="Text 13"/>
          <p:cNvSpPr txBox="1"/>
          <p:nvPr/>
        </p:nvSpPr>
        <p:spPr>
          <a:xfrm>
            <a:off x="509321" y="3291840"/>
            <a:ext cx="1325880" cy="77724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조항 단위</a:t>
            </a:r>
            <a:endParaRPr lang="en-US" sz="1500" dirty="0"/>
          </a:p>
        </p:txBody>
      </p:sp>
      <p:sp>
        <p:nvSpPr>
          <p:cNvPr id="17" name="Shape 14"/>
          <p:cNvSpPr/>
          <p:nvPr/>
        </p:nvSpPr>
        <p:spPr>
          <a:xfrm>
            <a:off x="1972361" y="3291840"/>
            <a:ext cx="2057400" cy="777240"/>
          </a:xfrm>
          <a:prstGeom prst="roundRect">
            <a:avLst>
              <a:gd name="adj" fmla="val 9412"/>
            </a:avLst>
          </a:prstGeom>
          <a:solidFill>
            <a:srgbClr val="EEF3FA"/>
          </a:solidFill>
          <a:ln w="12700">
            <a:solidFill>
              <a:srgbClr val="D9E0EC"/>
            </a:solidFill>
            <a:prstDash val="solid"/>
          </a:ln>
        </p:spPr>
        <p:txBody>
          <a:bodyPr/>
          <a:lstStyle/>
          <a:p>
            <a:endParaRPr lang="ko-KR" altLang="en-US"/>
          </a:p>
        </p:txBody>
      </p:sp>
      <p:sp>
        <p:nvSpPr>
          <p:cNvPr id="18" name="Text 15"/>
          <p:cNvSpPr txBox="1"/>
          <p:nvPr/>
        </p:nvSpPr>
        <p:spPr>
          <a:xfrm>
            <a:off x="1972361" y="3291840"/>
            <a:ext cx="2057400" cy="77724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조항 9개로 나눔</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제16조 ~ 제21조</a:t>
            </a:r>
            <a:endParaRPr lang="en-US" sz="1500" dirty="0"/>
          </a:p>
        </p:txBody>
      </p:sp>
      <p:sp>
        <p:nvSpPr>
          <p:cNvPr id="19" name="Shape 16"/>
          <p:cNvSpPr/>
          <p:nvPr/>
        </p:nvSpPr>
        <p:spPr>
          <a:xfrm>
            <a:off x="4093769" y="3749040"/>
            <a:ext cx="832104" cy="0"/>
          </a:xfrm>
          <a:prstGeom prst="line">
            <a:avLst/>
          </a:prstGeom>
          <a:noFill/>
          <a:ln w="25400">
            <a:solidFill>
              <a:srgbClr val="1E2A5C"/>
            </a:solidFill>
            <a:prstDash val="solid"/>
            <a:tailEnd type="triangle"/>
          </a:ln>
        </p:spPr>
        <p:txBody>
          <a:bodyPr/>
          <a:lstStyle/>
          <a:p>
            <a:endParaRPr lang="ko-KR" altLang="en-US"/>
          </a:p>
        </p:txBody>
      </p:sp>
      <p:sp>
        <p:nvSpPr>
          <p:cNvPr id="20" name="Text 17"/>
          <p:cNvSpPr txBox="1"/>
          <p:nvPr/>
        </p:nvSpPr>
        <p:spPr>
          <a:xfrm>
            <a:off x="4048049" y="3401568"/>
            <a:ext cx="923544" cy="292608"/>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LLM 9번</a:t>
            </a:r>
            <a:endParaRPr lang="en-US" sz="1400" dirty="0"/>
          </a:p>
        </p:txBody>
      </p:sp>
      <p:sp>
        <p:nvSpPr>
          <p:cNvPr id="21" name="Shape 18"/>
          <p:cNvSpPr/>
          <p:nvPr/>
        </p:nvSpPr>
        <p:spPr>
          <a:xfrm>
            <a:off x="4989881" y="3291840"/>
            <a:ext cx="2194560" cy="777240"/>
          </a:xfrm>
          <a:prstGeom prst="roundRect">
            <a:avLst>
              <a:gd name="adj" fmla="val 9412"/>
            </a:avLst>
          </a:prstGeom>
          <a:solidFill>
            <a:srgbClr val="2E74C6"/>
          </a:solidFill>
          <a:ln/>
        </p:spPr>
        <p:txBody>
          <a:bodyPr/>
          <a:lstStyle/>
          <a:p>
            <a:endParaRPr lang="ko-KR" altLang="en-US"/>
          </a:p>
        </p:txBody>
      </p:sp>
      <p:sp>
        <p:nvSpPr>
          <p:cNvPr id="22" name="Text 19"/>
          <p:cNvSpPr txBox="1"/>
          <p:nvPr/>
        </p:nvSpPr>
        <p:spPr>
          <a:xfrm>
            <a:off x="4989881" y="3291840"/>
            <a:ext cx="2194560" cy="77724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조건, 기한, 처리</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노드가 나오기 시작</a:t>
            </a:r>
            <a:endParaRPr lang="en-US" sz="1500" dirty="0"/>
          </a:p>
        </p:txBody>
      </p:sp>
      <p:sp>
        <p:nvSpPr>
          <p:cNvPr id="24" name="Shape 21"/>
          <p:cNvSpPr/>
          <p:nvPr/>
        </p:nvSpPr>
        <p:spPr>
          <a:xfrm>
            <a:off x="7458761" y="1737360"/>
            <a:ext cx="6675120" cy="411480"/>
          </a:xfrm>
          <a:prstGeom prst="roundRect">
            <a:avLst>
              <a:gd name="adj" fmla="val 13333"/>
            </a:avLst>
          </a:prstGeom>
          <a:solidFill>
            <a:srgbClr val="2E74C6"/>
          </a:solidFill>
          <a:ln/>
        </p:spPr>
        <p:txBody>
          <a:bodyPr/>
          <a:lstStyle/>
          <a:p>
            <a:endParaRPr lang="ko-KR" altLang="en-US"/>
          </a:p>
        </p:txBody>
      </p:sp>
      <p:sp>
        <p:nvSpPr>
          <p:cNvPr id="25" name="Text 22"/>
          <p:cNvSpPr txBox="1"/>
          <p:nvPr/>
        </p:nvSpPr>
        <p:spPr>
          <a:xfrm>
            <a:off x="7458761" y="1737360"/>
            <a:ext cx="6675120" cy="41148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어떻게 나누나 (약관)</a:t>
            </a:r>
            <a:endParaRPr lang="en-US" sz="1800" dirty="0"/>
          </a:p>
        </p:txBody>
      </p:sp>
      <p:sp>
        <p:nvSpPr>
          <p:cNvPr id="26" name="Shape 23"/>
          <p:cNvSpPr/>
          <p:nvPr/>
        </p:nvSpPr>
        <p:spPr>
          <a:xfrm>
            <a:off x="7458761" y="2258568"/>
            <a:ext cx="6675120" cy="475488"/>
          </a:xfrm>
          <a:prstGeom prst="roundRect">
            <a:avLst>
              <a:gd name="adj" fmla="val 15385"/>
            </a:avLst>
          </a:prstGeom>
          <a:solidFill>
            <a:srgbClr val="F5F8FC"/>
          </a:solidFill>
          <a:ln w="12700">
            <a:solidFill>
              <a:srgbClr val="D9E0EC"/>
            </a:solidFill>
            <a:prstDash val="solid"/>
          </a:ln>
        </p:spPr>
        <p:txBody>
          <a:bodyPr/>
          <a:lstStyle/>
          <a:p>
            <a:endParaRPr lang="ko-KR" altLang="en-US"/>
          </a:p>
        </p:txBody>
      </p:sp>
      <p:sp>
        <p:nvSpPr>
          <p:cNvPr id="27" name="Shape 24"/>
          <p:cNvSpPr/>
          <p:nvPr/>
        </p:nvSpPr>
        <p:spPr>
          <a:xfrm>
            <a:off x="7550201" y="2322576"/>
            <a:ext cx="347472" cy="347472"/>
          </a:xfrm>
          <a:prstGeom prst="roundRect">
            <a:avLst>
              <a:gd name="adj" fmla="val 13158"/>
            </a:avLst>
          </a:prstGeom>
          <a:solidFill>
            <a:srgbClr val="2E74C6"/>
          </a:solidFill>
          <a:ln/>
        </p:spPr>
        <p:txBody>
          <a:bodyPr/>
          <a:lstStyle/>
          <a:p>
            <a:endParaRPr lang="ko-KR" altLang="en-US"/>
          </a:p>
        </p:txBody>
      </p:sp>
      <p:sp>
        <p:nvSpPr>
          <p:cNvPr id="28" name="Text 25"/>
          <p:cNvSpPr txBox="1"/>
          <p:nvPr/>
        </p:nvSpPr>
        <p:spPr>
          <a:xfrm>
            <a:off x="7550201" y="232257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29" name="Text 26"/>
          <p:cNvSpPr txBox="1"/>
          <p:nvPr/>
        </p:nvSpPr>
        <p:spPr>
          <a:xfrm>
            <a:off x="8007401" y="2258568"/>
            <a:ext cx="6035040" cy="475488"/>
          </a:xfrm>
          <a:prstGeom prst="rect">
            <a:avLst/>
          </a:prstGeom>
          <a:noFill/>
          <a:ln/>
        </p:spPr>
        <p:txBody>
          <a:bodyPr wrap="square" lIns="762" tIns="762" rIns="762" bIns="762" rtlCol="0" anchor="ctr"/>
          <a:lstStyle/>
          <a:p>
            <a:pPr marL="0" indent="0" algn="l">
              <a:buNone/>
            </a:pPr>
            <a:r>
              <a:rPr lang="ko-KR" altLang="en-US" sz="1500" dirty="0" err="1">
                <a:solidFill>
                  <a:srgbClr val="2B3242"/>
                </a:solidFill>
                <a:latin typeface="Pretendard" pitchFamily="34" charset="0"/>
                <a:ea typeface="Pretendard" pitchFamily="34" charset="-122"/>
                <a:cs typeface="Pretendard" pitchFamily="34" charset="-120"/>
              </a:rPr>
              <a:t>청크에서</a:t>
            </a:r>
            <a:r>
              <a:rPr lang="ko-KR" altLang="en-US" sz="1500" dirty="0">
                <a:solidFill>
                  <a:srgbClr val="2B3242"/>
                </a:solidFill>
                <a:latin typeface="Pretendard" pitchFamily="34" charset="0"/>
                <a:ea typeface="Pretendard" pitchFamily="34" charset="-122"/>
                <a:cs typeface="Pretendard" pitchFamily="34" charset="-120"/>
              </a:rPr>
              <a:t> </a:t>
            </a:r>
            <a:r>
              <a:rPr lang="en-US" sz="1500" dirty="0" err="1">
                <a:solidFill>
                  <a:srgbClr val="2B3242"/>
                </a:solidFill>
                <a:latin typeface="Pretendard" pitchFamily="34" charset="0"/>
                <a:ea typeface="Pretendard" pitchFamily="34" charset="-122"/>
                <a:cs typeface="Pretendard" pitchFamily="34" charset="-120"/>
              </a:rPr>
              <a:t>조항</a:t>
            </a:r>
            <a:r>
              <a:rPr lang="en-US" sz="1500" dirty="0">
                <a:solidFill>
                  <a:srgbClr val="2B3242"/>
                </a:solidFill>
                <a:latin typeface="Pretendard" pitchFamily="34" charset="0"/>
                <a:ea typeface="Pretendard" pitchFamily="34" charset="-122"/>
                <a:cs typeface="Pretendard" pitchFamily="34" charset="-120"/>
              </a:rPr>
              <a:t> 제목 줄 찾기: 「제16조(할부 거래)」 </a:t>
            </a:r>
            <a:r>
              <a:rPr lang="ko-KR" altLang="en-US" sz="1500" dirty="0">
                <a:solidFill>
                  <a:srgbClr val="2B3242"/>
                </a:solidFill>
                <a:latin typeface="Pretendard" pitchFamily="34" charset="0"/>
                <a:ea typeface="Pretendard" pitchFamily="34" charset="-122"/>
                <a:cs typeface="Pretendard" pitchFamily="34" charset="-120"/>
              </a:rPr>
              <a:t>형태</a:t>
            </a:r>
            <a:endParaRPr lang="en-US" sz="1500" dirty="0"/>
          </a:p>
        </p:txBody>
      </p:sp>
      <p:sp>
        <p:nvSpPr>
          <p:cNvPr id="30" name="Shape 27"/>
          <p:cNvSpPr/>
          <p:nvPr/>
        </p:nvSpPr>
        <p:spPr>
          <a:xfrm>
            <a:off x="7458761" y="2807208"/>
            <a:ext cx="6675120" cy="475488"/>
          </a:xfrm>
          <a:prstGeom prst="roundRect">
            <a:avLst>
              <a:gd name="adj" fmla="val 15385"/>
            </a:avLst>
          </a:prstGeom>
          <a:solidFill>
            <a:srgbClr val="F5F8FC"/>
          </a:solidFill>
          <a:ln w="12700">
            <a:solidFill>
              <a:srgbClr val="D9E0EC"/>
            </a:solidFill>
            <a:prstDash val="solid"/>
          </a:ln>
        </p:spPr>
        <p:txBody>
          <a:bodyPr/>
          <a:lstStyle/>
          <a:p>
            <a:endParaRPr lang="ko-KR" altLang="en-US"/>
          </a:p>
        </p:txBody>
      </p:sp>
      <p:sp>
        <p:nvSpPr>
          <p:cNvPr id="31" name="Shape 28"/>
          <p:cNvSpPr/>
          <p:nvPr/>
        </p:nvSpPr>
        <p:spPr>
          <a:xfrm>
            <a:off x="7550201" y="2871216"/>
            <a:ext cx="347472" cy="347472"/>
          </a:xfrm>
          <a:prstGeom prst="roundRect">
            <a:avLst>
              <a:gd name="adj" fmla="val 13158"/>
            </a:avLst>
          </a:prstGeom>
          <a:solidFill>
            <a:srgbClr val="2E74C6"/>
          </a:solidFill>
          <a:ln/>
        </p:spPr>
        <p:txBody>
          <a:bodyPr/>
          <a:lstStyle/>
          <a:p>
            <a:endParaRPr lang="ko-KR" altLang="en-US"/>
          </a:p>
        </p:txBody>
      </p:sp>
      <p:sp>
        <p:nvSpPr>
          <p:cNvPr id="32" name="Text 29"/>
          <p:cNvSpPr txBox="1"/>
          <p:nvPr/>
        </p:nvSpPr>
        <p:spPr>
          <a:xfrm>
            <a:off x="7550201" y="287121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33" name="Text 30"/>
          <p:cNvSpPr txBox="1"/>
          <p:nvPr/>
        </p:nvSpPr>
        <p:spPr>
          <a:xfrm>
            <a:off x="8007401" y="2807208"/>
            <a:ext cx="6035040" cy="475488"/>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다음 줄이 ①로 시작할 </a:t>
            </a:r>
            <a:r>
              <a:rPr lang="en-US" sz="1500" dirty="0" err="1">
                <a:solidFill>
                  <a:srgbClr val="2B3242"/>
                </a:solidFill>
                <a:latin typeface="Pretendard" pitchFamily="34" charset="0"/>
                <a:ea typeface="Pretendard" pitchFamily="34" charset="-122"/>
                <a:cs typeface="Pretendard" pitchFamily="34" charset="-120"/>
              </a:rPr>
              <a:t>때만</a:t>
            </a:r>
            <a:r>
              <a:rPr lang="en-US" sz="1500" dirty="0">
                <a:solidFill>
                  <a:srgbClr val="2B3242"/>
                </a:solidFill>
                <a:latin typeface="Pretendard" pitchFamily="34" charset="0"/>
                <a:ea typeface="Pretendard" pitchFamily="34" charset="-122"/>
                <a:cs typeface="Pretendard" pitchFamily="34" charset="-120"/>
              </a:rPr>
              <a:t> </a:t>
            </a:r>
            <a:r>
              <a:rPr lang="en-US" sz="1500" dirty="0" err="1">
                <a:solidFill>
                  <a:srgbClr val="2B3242"/>
                </a:solidFill>
                <a:latin typeface="Pretendard" pitchFamily="34" charset="0"/>
                <a:ea typeface="Pretendard" pitchFamily="34" charset="-122"/>
                <a:cs typeface="Pretendard" pitchFamily="34" charset="-120"/>
              </a:rPr>
              <a:t>시작점</a:t>
            </a:r>
            <a:endParaRPr lang="en-US" sz="1500" dirty="0"/>
          </a:p>
        </p:txBody>
      </p:sp>
      <p:sp>
        <p:nvSpPr>
          <p:cNvPr id="34" name="Shape 31"/>
          <p:cNvSpPr/>
          <p:nvPr/>
        </p:nvSpPr>
        <p:spPr>
          <a:xfrm>
            <a:off x="7458761" y="3355848"/>
            <a:ext cx="6675120" cy="475488"/>
          </a:xfrm>
          <a:prstGeom prst="roundRect">
            <a:avLst>
              <a:gd name="adj" fmla="val 15385"/>
            </a:avLst>
          </a:prstGeom>
          <a:solidFill>
            <a:srgbClr val="F5F8FC"/>
          </a:solidFill>
          <a:ln w="12700">
            <a:solidFill>
              <a:srgbClr val="D9E0EC"/>
            </a:solidFill>
            <a:prstDash val="solid"/>
          </a:ln>
        </p:spPr>
        <p:txBody>
          <a:bodyPr/>
          <a:lstStyle/>
          <a:p>
            <a:endParaRPr lang="ko-KR" altLang="en-US"/>
          </a:p>
        </p:txBody>
      </p:sp>
      <p:sp>
        <p:nvSpPr>
          <p:cNvPr id="35" name="Shape 32"/>
          <p:cNvSpPr/>
          <p:nvPr/>
        </p:nvSpPr>
        <p:spPr>
          <a:xfrm>
            <a:off x="7550201" y="3419856"/>
            <a:ext cx="347472" cy="347472"/>
          </a:xfrm>
          <a:prstGeom prst="roundRect">
            <a:avLst>
              <a:gd name="adj" fmla="val 13158"/>
            </a:avLst>
          </a:prstGeom>
          <a:solidFill>
            <a:srgbClr val="2E74C6"/>
          </a:solidFill>
          <a:ln/>
        </p:spPr>
        <p:txBody>
          <a:bodyPr/>
          <a:lstStyle/>
          <a:p>
            <a:endParaRPr lang="ko-KR" altLang="en-US"/>
          </a:p>
        </p:txBody>
      </p:sp>
      <p:sp>
        <p:nvSpPr>
          <p:cNvPr id="36" name="Text 33"/>
          <p:cNvSpPr txBox="1"/>
          <p:nvPr/>
        </p:nvSpPr>
        <p:spPr>
          <a:xfrm>
            <a:off x="7550201" y="341985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37" name="Text 34"/>
          <p:cNvSpPr txBox="1"/>
          <p:nvPr/>
        </p:nvSpPr>
        <p:spPr>
          <a:xfrm>
            <a:off x="8007401" y="3355848"/>
            <a:ext cx="6035040" cy="475488"/>
          </a:xfrm>
          <a:prstGeom prst="rect">
            <a:avLst/>
          </a:prstGeom>
          <a:noFill/>
          <a:ln/>
        </p:spPr>
        <p:txBody>
          <a:bodyPr wrap="square" lIns="762" tIns="762" rIns="762" bIns="762" rtlCol="0" anchor="ctr"/>
          <a:lstStyle/>
          <a:p>
            <a:pPr marL="0" indent="0" algn="l">
              <a:buNone/>
            </a:pPr>
            <a:r>
              <a:rPr lang="en-US" sz="1500" dirty="0" err="1">
                <a:solidFill>
                  <a:srgbClr val="2B3242"/>
                </a:solidFill>
                <a:latin typeface="Pretendard" pitchFamily="34" charset="0"/>
                <a:ea typeface="Pretendard" pitchFamily="34" charset="-122"/>
                <a:cs typeface="Pretendard" pitchFamily="34" charset="-120"/>
              </a:rPr>
              <a:t>다음</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조항 </a:t>
            </a:r>
            <a:r>
              <a:rPr lang="en-US" sz="1500" dirty="0" err="1">
                <a:solidFill>
                  <a:srgbClr val="2B3242"/>
                </a:solidFill>
                <a:latin typeface="Pretendard" pitchFamily="34" charset="0"/>
                <a:ea typeface="Pretendard" pitchFamily="34" charset="-122"/>
                <a:cs typeface="Pretendard" pitchFamily="34" charset="-120"/>
              </a:rPr>
              <a:t>제목</a:t>
            </a:r>
            <a:r>
              <a:rPr lang="en-US" sz="1500" dirty="0">
                <a:solidFill>
                  <a:srgbClr val="2B3242"/>
                </a:solidFill>
                <a:latin typeface="Pretendard" pitchFamily="34" charset="0"/>
                <a:ea typeface="Pretendard" pitchFamily="34" charset="-122"/>
                <a:cs typeface="Pretendard" pitchFamily="34" charset="-120"/>
              </a:rPr>
              <a:t> 전까지가 한 </a:t>
            </a:r>
            <a:r>
              <a:rPr lang="en-US" sz="1500" dirty="0" err="1">
                <a:solidFill>
                  <a:srgbClr val="2B3242"/>
                </a:solidFill>
                <a:latin typeface="Pretendard" pitchFamily="34" charset="0"/>
                <a:ea typeface="Pretendard" pitchFamily="34" charset="-122"/>
                <a:cs typeface="Pretendard" pitchFamily="34" charset="-120"/>
              </a:rPr>
              <a:t>단위</a:t>
            </a:r>
            <a:r>
              <a:rPr lang="en-US" sz="1500" dirty="0">
                <a:solidFill>
                  <a:srgbClr val="2B3242"/>
                </a:solidFill>
                <a:latin typeface="Pretendard" pitchFamily="34" charset="0"/>
                <a:ea typeface="Pretendard" pitchFamily="34" charset="-122"/>
                <a:cs typeface="Pretendard" pitchFamily="34" charset="-120"/>
              </a:rPr>
              <a:t> -&gt; </a:t>
            </a:r>
            <a:r>
              <a:rPr lang="ko-KR" altLang="en-US" sz="1500" dirty="0">
                <a:solidFill>
                  <a:srgbClr val="2B3242"/>
                </a:solidFill>
                <a:latin typeface="Pretendard" pitchFamily="34" charset="0"/>
                <a:ea typeface="Pretendard" pitchFamily="34" charset="-122"/>
                <a:cs typeface="Pretendard" pitchFamily="34" charset="-120"/>
              </a:rPr>
              <a:t>조항별로 분할함 </a:t>
            </a:r>
            <a:endParaRPr lang="en-US" sz="1500" dirty="0"/>
          </a:p>
        </p:txBody>
      </p:sp>
      <p:sp>
        <p:nvSpPr>
          <p:cNvPr id="38" name="Shape 35"/>
          <p:cNvSpPr/>
          <p:nvPr/>
        </p:nvSpPr>
        <p:spPr>
          <a:xfrm>
            <a:off x="7458761" y="3904488"/>
            <a:ext cx="6675120" cy="475488"/>
          </a:xfrm>
          <a:prstGeom prst="roundRect">
            <a:avLst>
              <a:gd name="adj" fmla="val 15385"/>
            </a:avLst>
          </a:prstGeom>
          <a:solidFill>
            <a:srgbClr val="EEF3FA"/>
          </a:solidFill>
          <a:ln w="12700">
            <a:solidFill>
              <a:srgbClr val="D9E0EC"/>
            </a:solidFill>
            <a:prstDash val="solid"/>
          </a:ln>
        </p:spPr>
        <p:txBody>
          <a:bodyPr/>
          <a:lstStyle/>
          <a:p>
            <a:endParaRPr lang="ko-KR" altLang="en-US"/>
          </a:p>
        </p:txBody>
      </p:sp>
      <p:sp>
        <p:nvSpPr>
          <p:cNvPr id="39" name="Shape 36"/>
          <p:cNvSpPr/>
          <p:nvPr/>
        </p:nvSpPr>
        <p:spPr>
          <a:xfrm>
            <a:off x="7550201" y="3968496"/>
            <a:ext cx="347472" cy="347472"/>
          </a:xfrm>
          <a:prstGeom prst="roundRect">
            <a:avLst>
              <a:gd name="adj" fmla="val 13158"/>
            </a:avLst>
          </a:prstGeom>
          <a:solidFill>
            <a:srgbClr val="1E2A5C"/>
          </a:solidFill>
          <a:ln/>
        </p:spPr>
        <p:txBody>
          <a:bodyPr/>
          <a:lstStyle/>
          <a:p>
            <a:endParaRPr lang="ko-KR" altLang="en-US"/>
          </a:p>
        </p:txBody>
      </p:sp>
      <p:sp>
        <p:nvSpPr>
          <p:cNvPr id="40" name="Text 37"/>
          <p:cNvSpPr txBox="1"/>
          <p:nvPr/>
        </p:nvSpPr>
        <p:spPr>
          <a:xfrm>
            <a:off x="7550201" y="396849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41" name="Text 38"/>
          <p:cNvSpPr txBox="1"/>
          <p:nvPr/>
        </p:nvSpPr>
        <p:spPr>
          <a:xfrm>
            <a:off x="8007401" y="3904488"/>
            <a:ext cx="6035040" cy="475488"/>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겹친 조항은 하나로 합치고, 나온 청크 ID를 모두 기억</a:t>
            </a:r>
            <a:endParaRPr lang="en-US" sz="1500" dirty="0"/>
          </a:p>
        </p:txBody>
      </p:sp>
      <p:sp>
        <p:nvSpPr>
          <p:cNvPr id="42" name="Shape 39"/>
          <p:cNvSpPr/>
          <p:nvPr/>
        </p:nvSpPr>
        <p:spPr>
          <a:xfrm>
            <a:off x="509321" y="5082068"/>
            <a:ext cx="2560320" cy="347472"/>
          </a:xfrm>
          <a:prstGeom prst="roundRect">
            <a:avLst>
              <a:gd name="adj" fmla="val 13158"/>
            </a:avLst>
          </a:prstGeom>
          <a:solidFill>
            <a:srgbClr val="404155"/>
          </a:solidFill>
          <a:ln/>
        </p:spPr>
        <p:txBody>
          <a:bodyPr/>
          <a:lstStyle/>
          <a:p>
            <a:endParaRPr lang="ko-KR" altLang="en-US"/>
          </a:p>
        </p:txBody>
      </p:sp>
      <p:sp>
        <p:nvSpPr>
          <p:cNvPr id="43" name="Text 40"/>
          <p:cNvSpPr txBox="1"/>
          <p:nvPr/>
        </p:nvSpPr>
        <p:spPr>
          <a:xfrm>
            <a:off x="509321" y="5082068"/>
            <a:ext cx="2560320" cy="34747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문서 종류별 추출 단위</a:t>
            </a:r>
            <a:endParaRPr lang="en-US" sz="1500" dirty="0"/>
          </a:p>
        </p:txBody>
      </p:sp>
      <p:graphicFrame>
        <p:nvGraphicFramePr>
          <p:cNvPr id="4" name="Table 0"/>
          <p:cNvGraphicFramePr>
            <a:graphicFrameLocks noGrp="1"/>
          </p:cNvGraphicFramePr>
          <p:nvPr/>
        </p:nvGraphicFramePr>
        <p:xfrm>
          <a:off x="509321" y="5493548"/>
          <a:ext cx="6675120" cy="1316736"/>
        </p:xfrm>
        <a:graphic>
          <a:graphicData uri="http://schemas.openxmlformats.org/drawingml/2006/table">
            <a:tbl>
              <a:tblPr/>
              <a:tblGrid>
                <a:gridCol w="14173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329184">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문서 종류</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추출 단위</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청크 → 단위</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329184">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약관</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조항 제목 줄로 나눔</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10 → 51</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혜택 안내</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청크 그대로 (카드 경계로 이미 나뉨)</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160 → 160</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329184">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상담 기록</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청크 그대로 (상담 1건)</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48 → 48</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6" name="Shape 42"/>
          <p:cNvSpPr/>
          <p:nvPr/>
        </p:nvSpPr>
        <p:spPr>
          <a:xfrm>
            <a:off x="7458761" y="5082068"/>
            <a:ext cx="2103120" cy="347472"/>
          </a:xfrm>
          <a:prstGeom prst="roundRect">
            <a:avLst>
              <a:gd name="adj" fmla="val 13158"/>
            </a:avLst>
          </a:prstGeom>
          <a:solidFill>
            <a:srgbClr val="404155"/>
          </a:solidFill>
          <a:ln/>
        </p:spPr>
        <p:txBody>
          <a:bodyPr/>
          <a:lstStyle/>
          <a:p>
            <a:endParaRPr lang="ko-KR" altLang="en-US"/>
          </a:p>
        </p:txBody>
      </p:sp>
      <p:sp>
        <p:nvSpPr>
          <p:cNvPr id="47" name="Text 43"/>
          <p:cNvSpPr txBox="1"/>
          <p:nvPr/>
        </p:nvSpPr>
        <p:spPr>
          <a:xfrm>
            <a:off x="7458761" y="5082068"/>
            <a:ext cx="2103120" cy="347472"/>
          </a:xfrm>
          <a:prstGeom prst="rect">
            <a:avLst/>
          </a:prstGeom>
          <a:noFill/>
          <a:ln/>
        </p:spPr>
        <p:txBody>
          <a:bodyPr wrap="square" lIns="1016" tIns="1016" rIns="1016" bIns="1016" rtlCol="0" anchor="ctr"/>
          <a:lstStyle/>
          <a:p>
            <a:pPr marL="0" indent="0" algn="ctr">
              <a:buNone/>
            </a:pPr>
            <a:r>
              <a:rPr lang="en-US" sz="1500" b="1" dirty="0" err="1">
                <a:solidFill>
                  <a:srgbClr val="FFFFFF"/>
                </a:solidFill>
                <a:latin typeface="Pretendard" pitchFamily="34" charset="0"/>
                <a:ea typeface="Pretendard" pitchFamily="34" charset="-122"/>
                <a:cs typeface="Pretendard" pitchFamily="34" charset="-120"/>
              </a:rPr>
              <a:t>검색</a:t>
            </a:r>
            <a:r>
              <a:rPr lang="ko-KR" altLang="en-US" sz="1500" b="1" dirty="0">
                <a:solidFill>
                  <a:srgbClr val="FFFFFF"/>
                </a:solidFill>
                <a:latin typeface="Pretendard" pitchFamily="34" charset="0"/>
                <a:ea typeface="Pretendard" pitchFamily="34" charset="-122"/>
                <a:cs typeface="Pretendard" pitchFamily="34" charset="-120"/>
              </a:rPr>
              <a:t>엔진과 </a:t>
            </a:r>
            <a:r>
              <a:rPr lang="en-US" altLang="ko-KR" sz="1500" b="1" dirty="0">
                <a:solidFill>
                  <a:srgbClr val="FFFFFF"/>
                </a:solidFill>
                <a:latin typeface="Pretendard" pitchFamily="34" charset="0"/>
                <a:ea typeface="Pretendard" pitchFamily="34" charset="-122"/>
                <a:cs typeface="Pretendard" pitchFamily="34" charset="-120"/>
              </a:rPr>
              <a:t>KG </a:t>
            </a:r>
            <a:r>
              <a:rPr lang="ko-KR" altLang="en-US" sz="1500" b="1" dirty="0">
                <a:solidFill>
                  <a:srgbClr val="FFFFFF"/>
                </a:solidFill>
                <a:latin typeface="Pretendard" pitchFamily="34" charset="0"/>
                <a:ea typeface="Pretendard" pitchFamily="34" charset="-122"/>
                <a:cs typeface="Pretendard" pitchFamily="34" charset="-120"/>
              </a:rPr>
              <a:t>연결 </a:t>
            </a:r>
            <a:endParaRPr lang="en-US" sz="1500" dirty="0"/>
          </a:p>
        </p:txBody>
      </p:sp>
      <p:sp>
        <p:nvSpPr>
          <p:cNvPr id="48" name="Shape 44"/>
          <p:cNvSpPr/>
          <p:nvPr/>
        </p:nvSpPr>
        <p:spPr>
          <a:xfrm>
            <a:off x="7458761" y="5539268"/>
            <a:ext cx="2042160" cy="822960"/>
          </a:xfrm>
          <a:prstGeom prst="roundRect">
            <a:avLst>
              <a:gd name="adj" fmla="val 8889"/>
            </a:avLst>
          </a:prstGeom>
          <a:solidFill>
            <a:srgbClr val="F5F8FC"/>
          </a:solidFill>
          <a:ln w="12700">
            <a:solidFill>
              <a:srgbClr val="D9E0EC"/>
            </a:solidFill>
            <a:prstDash val="solid"/>
          </a:ln>
        </p:spPr>
        <p:txBody>
          <a:bodyPr/>
          <a:lstStyle/>
          <a:p>
            <a:endParaRPr lang="ko-KR" altLang="en-US"/>
          </a:p>
        </p:txBody>
      </p:sp>
      <p:sp>
        <p:nvSpPr>
          <p:cNvPr id="49" name="Text 45"/>
          <p:cNvSpPr txBox="1"/>
          <p:nvPr/>
        </p:nvSpPr>
        <p:spPr>
          <a:xfrm>
            <a:off x="7458761" y="5539268"/>
            <a:ext cx="2042160" cy="822960"/>
          </a:xfrm>
          <a:prstGeom prst="rect">
            <a:avLst/>
          </a:prstGeom>
          <a:noFill/>
          <a:ln/>
        </p:spPr>
        <p:txBody>
          <a:bodyPr wrap="square" lIns="635" tIns="635" rIns="635" bIns="635" rtlCol="0" anchor="ctr"/>
          <a:lstStyle/>
          <a:p>
            <a:pPr marL="0" indent="0" algn="ctr">
              <a:spcAft>
                <a:spcPts val="100"/>
              </a:spcAft>
              <a:buNone/>
            </a:pPr>
            <a:r>
              <a:rPr lang="en-US" sz="1500" b="1" dirty="0" err="1">
                <a:solidFill>
                  <a:srgbClr val="2B3242"/>
                </a:solidFill>
                <a:latin typeface="Pretendard" pitchFamily="34" charset="0"/>
                <a:ea typeface="Pretendard" pitchFamily="34" charset="-122"/>
                <a:cs typeface="Pretendard" pitchFamily="34" charset="-120"/>
              </a:rPr>
              <a:t>검색엔진</a:t>
            </a:r>
            <a:r>
              <a:rPr lang="ko-KR" altLang="en-US" sz="1500" b="1" dirty="0">
                <a:solidFill>
                  <a:srgbClr val="2B3242"/>
                </a:solidFill>
                <a:latin typeface="Pretendard" pitchFamily="34" charset="0"/>
                <a:ea typeface="Pretendard" pitchFamily="34" charset="-122"/>
                <a:cs typeface="Pretendard" pitchFamily="34" charset="-120"/>
              </a:rPr>
              <a:t>으로</a:t>
            </a:r>
            <a:r>
              <a:rPr lang="en-US" sz="1500" b="1" dirty="0">
                <a:solidFill>
                  <a:srgbClr val="2B3242"/>
                </a:solidFill>
                <a:latin typeface="Pretendard" pitchFamily="34" charset="0"/>
                <a:ea typeface="Pretendard" pitchFamily="34" charset="-122"/>
                <a:cs typeface="Pretendard" pitchFamily="34" charset="-120"/>
              </a:rPr>
              <a:t> </a:t>
            </a:r>
            <a:r>
              <a:rPr lang="ko-KR" altLang="en-US" sz="1500" b="1" dirty="0">
                <a:solidFill>
                  <a:srgbClr val="2B3242"/>
                </a:solidFill>
                <a:latin typeface="Pretendard" pitchFamily="34" charset="0"/>
                <a:ea typeface="Pretendard" pitchFamily="34" charset="-122"/>
                <a:cs typeface="Pretendard" pitchFamily="34" charset="-120"/>
              </a:rPr>
              <a:t>검색하여 </a:t>
            </a:r>
            <a:endParaRPr lang="en-US" altLang="ko-KR" sz="1500" b="1" dirty="0">
              <a:solidFill>
                <a:srgbClr val="2B3242"/>
              </a:solidFill>
              <a:latin typeface="Pretendard" pitchFamily="34" charset="0"/>
              <a:ea typeface="Pretendard" pitchFamily="34" charset="-122"/>
              <a:cs typeface="Pretendard" pitchFamily="34" charset="-120"/>
            </a:endParaRPr>
          </a:p>
          <a:p>
            <a:pPr marL="0" indent="0" algn="ctr">
              <a:spcAft>
                <a:spcPts val="100"/>
              </a:spcAft>
              <a:buNone/>
            </a:pPr>
            <a:r>
              <a:rPr lang="en-US" sz="1500" b="1" dirty="0" err="1">
                <a:solidFill>
                  <a:srgbClr val="2B3242"/>
                </a:solidFill>
                <a:latin typeface="Pretendard" pitchFamily="34" charset="0"/>
                <a:ea typeface="Pretendard" pitchFamily="34" charset="-122"/>
                <a:cs typeface="Pretendard" pitchFamily="34" charset="-120"/>
              </a:rPr>
              <a:t>찾은</a:t>
            </a:r>
            <a:r>
              <a:rPr lang="en-US" sz="1500" b="1" dirty="0"/>
              <a:t> </a:t>
            </a:r>
            <a:r>
              <a:rPr lang="en-US" sz="1400" dirty="0" err="1">
                <a:solidFill>
                  <a:srgbClr val="2B3242"/>
                </a:solidFill>
                <a:latin typeface="Pretendard" pitchFamily="34" charset="0"/>
                <a:ea typeface="Pretendard" pitchFamily="34" charset="-122"/>
                <a:cs typeface="Pretendard" pitchFamily="34" charset="-120"/>
              </a:rPr>
              <a:t>chunk_id</a:t>
            </a:r>
            <a:endParaRPr lang="en-US" sz="1500" dirty="0"/>
          </a:p>
        </p:txBody>
      </p:sp>
      <p:sp>
        <p:nvSpPr>
          <p:cNvPr id="50" name="Shape 46"/>
          <p:cNvSpPr/>
          <p:nvPr/>
        </p:nvSpPr>
        <p:spPr>
          <a:xfrm>
            <a:off x="9528353" y="5950748"/>
            <a:ext cx="219456" cy="0"/>
          </a:xfrm>
          <a:prstGeom prst="line">
            <a:avLst/>
          </a:prstGeom>
          <a:noFill/>
          <a:ln w="19050">
            <a:solidFill>
              <a:srgbClr val="4A5364"/>
            </a:solidFill>
            <a:prstDash val="solid"/>
            <a:tailEnd type="triangle"/>
          </a:ln>
        </p:spPr>
        <p:txBody>
          <a:bodyPr/>
          <a:lstStyle/>
          <a:p>
            <a:endParaRPr lang="ko-KR" altLang="en-US"/>
          </a:p>
        </p:txBody>
      </p:sp>
      <p:sp>
        <p:nvSpPr>
          <p:cNvPr id="51" name="Shape 47"/>
          <p:cNvSpPr/>
          <p:nvPr/>
        </p:nvSpPr>
        <p:spPr>
          <a:xfrm>
            <a:off x="9775241" y="5539268"/>
            <a:ext cx="2042160" cy="822960"/>
          </a:xfrm>
          <a:prstGeom prst="roundRect">
            <a:avLst>
              <a:gd name="adj" fmla="val 8889"/>
            </a:avLst>
          </a:prstGeom>
          <a:solidFill>
            <a:srgbClr val="1E2A5C"/>
          </a:solidFill>
          <a:ln/>
        </p:spPr>
        <p:txBody>
          <a:bodyPr/>
          <a:lstStyle/>
          <a:p>
            <a:endParaRPr lang="ko-KR" altLang="en-US"/>
          </a:p>
        </p:txBody>
      </p:sp>
      <p:sp>
        <p:nvSpPr>
          <p:cNvPr id="52" name="Text 48"/>
          <p:cNvSpPr txBox="1"/>
          <p:nvPr/>
        </p:nvSpPr>
        <p:spPr>
          <a:xfrm>
            <a:off x="9775241" y="5539268"/>
            <a:ext cx="2042160" cy="822960"/>
          </a:xfrm>
          <a:prstGeom prst="rect">
            <a:avLst/>
          </a:prstGeom>
          <a:noFill/>
          <a:ln/>
        </p:spPr>
        <p:txBody>
          <a:bodyPr wrap="square" lIns="635" tIns="635" rIns="635" bIns="635" rtlCol="0" anchor="ctr"/>
          <a:lstStyle/>
          <a:p>
            <a:pPr marL="0" indent="0" algn="ctr">
              <a:spcAft>
                <a:spcPts val="100"/>
              </a:spcAft>
              <a:buNone/>
            </a:pPr>
            <a:r>
              <a:rPr lang="ko-KR" altLang="en-US" sz="1500" b="1" dirty="0">
                <a:solidFill>
                  <a:srgbClr val="FFFFFF"/>
                </a:solidFill>
                <a:latin typeface="Pretendard" pitchFamily="34" charset="0"/>
                <a:ea typeface="Pretendard" pitchFamily="34" charset="-122"/>
                <a:cs typeface="Pretendard" pitchFamily="34" charset="-120"/>
              </a:rPr>
              <a:t>이 chunk_id와 같은 청크 노드에서 엔티티를 찾음</a:t>
            </a:r>
            <a:endParaRPr lang="en-US" sz="1500" dirty="0"/>
          </a:p>
        </p:txBody>
      </p:sp>
      <p:sp>
        <p:nvSpPr>
          <p:cNvPr id="53" name="Shape 49"/>
          <p:cNvSpPr/>
          <p:nvPr/>
        </p:nvSpPr>
        <p:spPr>
          <a:xfrm>
            <a:off x="11844833" y="5950748"/>
            <a:ext cx="219456" cy="0"/>
          </a:xfrm>
          <a:prstGeom prst="line">
            <a:avLst/>
          </a:prstGeom>
          <a:noFill/>
          <a:ln w="19050">
            <a:solidFill>
              <a:srgbClr val="4A5364"/>
            </a:solidFill>
            <a:prstDash val="solid"/>
            <a:tailEnd type="triangle"/>
          </a:ln>
        </p:spPr>
        <p:txBody>
          <a:bodyPr/>
          <a:lstStyle/>
          <a:p>
            <a:endParaRPr lang="ko-KR" altLang="en-US"/>
          </a:p>
        </p:txBody>
      </p:sp>
      <p:sp>
        <p:nvSpPr>
          <p:cNvPr id="54" name="Shape 50"/>
          <p:cNvSpPr/>
          <p:nvPr/>
        </p:nvSpPr>
        <p:spPr>
          <a:xfrm>
            <a:off x="12091721" y="5539268"/>
            <a:ext cx="2042160" cy="822960"/>
          </a:xfrm>
          <a:prstGeom prst="roundRect">
            <a:avLst>
              <a:gd name="adj" fmla="val 8889"/>
            </a:avLst>
          </a:prstGeom>
          <a:solidFill>
            <a:srgbClr val="EEF3FA"/>
          </a:solidFill>
          <a:ln w="12700">
            <a:solidFill>
              <a:srgbClr val="2E74C6"/>
            </a:solidFill>
            <a:prstDash val="solid"/>
          </a:ln>
        </p:spPr>
        <p:txBody>
          <a:bodyPr/>
          <a:lstStyle/>
          <a:p>
            <a:endParaRPr lang="ko-KR" altLang="en-US"/>
          </a:p>
        </p:txBody>
      </p:sp>
      <p:sp>
        <p:nvSpPr>
          <p:cNvPr id="55" name="Text 51"/>
          <p:cNvSpPr txBox="1"/>
          <p:nvPr/>
        </p:nvSpPr>
        <p:spPr>
          <a:xfrm>
            <a:off x="12091721" y="5539268"/>
            <a:ext cx="2042160" cy="822960"/>
          </a:xfrm>
          <a:prstGeom prst="rect">
            <a:avLst/>
          </a:prstGeom>
          <a:noFill/>
          <a:ln/>
        </p:spPr>
        <p:txBody>
          <a:bodyPr wrap="square" lIns="635" tIns="635" rIns="635" bIns="635" rtlCol="0" anchor="ctr"/>
          <a:lstStyle/>
          <a:p>
            <a:pPr marL="0" indent="0" algn="ctr">
              <a:spcAft>
                <a:spcPts val="100"/>
              </a:spcAft>
              <a:buNone/>
            </a:pPr>
            <a:r>
              <a:rPr lang="ko-KR" altLang="en-US" sz="1500" b="1" dirty="0">
                <a:solidFill>
                  <a:srgbClr val="1E2A5C"/>
                </a:solidFill>
                <a:latin typeface="Pretendard" pitchFamily="34" charset="0"/>
                <a:ea typeface="Pretendard" pitchFamily="34" charset="-122"/>
                <a:cs typeface="Pretendard" pitchFamily="34" charset="-120"/>
              </a:rPr>
              <a:t>찾은 엔티티에서 관계를 따라 답변 근거 노드를 검색</a:t>
            </a:r>
            <a:endParaRPr lang="en-US" sz="1500" dirty="0"/>
          </a:p>
        </p:txBody>
      </p:sp>
      <p:sp>
        <p:nvSpPr>
          <p:cNvPr id="56" name="Shape 52"/>
          <p:cNvSpPr/>
          <p:nvPr/>
        </p:nvSpPr>
        <p:spPr>
          <a:xfrm>
            <a:off x="7458761" y="6545108"/>
            <a:ext cx="64008" cy="694198"/>
          </a:xfrm>
          <a:prstGeom prst="rect">
            <a:avLst/>
          </a:prstGeom>
          <a:solidFill>
            <a:srgbClr val="2E74C6"/>
          </a:solidFill>
          <a:ln/>
        </p:spPr>
        <p:txBody>
          <a:bodyPr/>
          <a:lstStyle/>
          <a:p>
            <a:endParaRPr lang="ko-KR" altLang="en-US"/>
          </a:p>
        </p:txBody>
      </p:sp>
      <p:sp>
        <p:nvSpPr>
          <p:cNvPr id="57" name="Text 53"/>
          <p:cNvSpPr txBox="1"/>
          <p:nvPr/>
        </p:nvSpPr>
        <p:spPr>
          <a:xfrm>
            <a:off x="7623353" y="6545108"/>
            <a:ext cx="6510528" cy="694198"/>
          </a:xfrm>
          <a:prstGeom prst="rect">
            <a:avLst/>
          </a:prstGeom>
          <a:noFill/>
          <a:ln/>
        </p:spPr>
        <p:txBody>
          <a:bodyPr wrap="square" lIns="762" tIns="762" rIns="762" bIns="762" rtlCol="0" anchor="ctr"/>
          <a:lstStyle/>
          <a:p>
            <a:pPr marL="285750" indent="-285750" algn="l">
              <a:buFont typeface="Arial" panose="020B0604020202020204" pitchFamily="34" charset="0"/>
              <a:buChar char="•"/>
            </a:pPr>
            <a:r>
              <a:rPr lang="en-US" sz="1500" b="1" dirty="0" err="1">
                <a:solidFill>
                  <a:srgbClr val="1E2A5C"/>
                </a:solidFill>
                <a:latin typeface="Pretendard" pitchFamily="34" charset="0"/>
                <a:ea typeface="Pretendard" pitchFamily="34" charset="-122"/>
                <a:cs typeface="Pretendard" pitchFamily="34" charset="-120"/>
              </a:rPr>
              <a:t>규칙은</a:t>
            </a:r>
            <a:r>
              <a:rPr lang="en-US" sz="1500" b="1" dirty="0">
                <a:solidFill>
                  <a:srgbClr val="1E2A5C"/>
                </a:solidFill>
                <a:latin typeface="Pretendard" pitchFamily="34" charset="0"/>
                <a:ea typeface="Pretendard" pitchFamily="34" charset="-122"/>
                <a:cs typeface="Pretendard" pitchFamily="34" charset="-120"/>
              </a:rPr>
              <a:t> 스키마 승인 기록에서 가져옴.</a:t>
            </a:r>
            <a:endParaRPr lang="en-US" sz="1500" dirty="0"/>
          </a:p>
          <a:p>
            <a:pPr marL="285750" indent="-285750" algn="l">
              <a:buFont typeface="Arial" panose="020B0604020202020204" pitchFamily="34" charset="0"/>
              <a:buChar char="•"/>
            </a:pPr>
            <a:r>
              <a:rPr lang="en-US" sz="1500" b="1" dirty="0">
                <a:solidFill>
                  <a:srgbClr val="1E2A5C"/>
                </a:solidFill>
                <a:latin typeface="Pretendard" pitchFamily="34" charset="0"/>
                <a:ea typeface="Pretendard" pitchFamily="34" charset="-122"/>
                <a:cs typeface="Pretendard" pitchFamily="34" charset="-120"/>
              </a:rPr>
              <a:t>스키마 설계, 시험, 인덱싱이 모두 같은 단위를 씀</a:t>
            </a:r>
            <a:endParaRPr lang="en-US" sz="1500" dirty="0"/>
          </a:p>
          <a:p>
            <a:pPr marL="285750" indent="-285750" algn="l">
              <a:buFont typeface="Arial" panose="020B0604020202020204" pitchFamily="34" charset="0"/>
              <a:buChar char="•"/>
            </a:pPr>
            <a:r>
              <a:rPr lang="en-US" sz="1500" b="1" dirty="0">
                <a:solidFill>
                  <a:srgbClr val="1E2A5C"/>
                </a:solidFill>
                <a:latin typeface="Pretendard" pitchFamily="34" charset="0"/>
                <a:ea typeface="Pretendard" pitchFamily="34" charset="-122"/>
                <a:cs typeface="Pretendard" pitchFamily="34" charset="-120"/>
              </a:rPr>
              <a:t>추출 단위는 그래프에 남기지 않음. 청크 노드는 검색용 청크와 1대1</a:t>
            </a:r>
            <a:endParaRPr lang="en-US" sz="1500" dirty="0"/>
          </a:p>
        </p:txBody>
      </p:sp>
      <p:sp>
        <p:nvSpPr>
          <p:cNvPr id="4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32</a:t>
            </a:fld>
            <a:endParaRPr lang="en-US"/>
          </a:p>
        </p:txBody>
      </p:sp>
      <p:sp>
        <p:nvSpPr>
          <p:cNvPr id="58" name="TextBox 57">
            <a:extLst>
              <a:ext uri="{FF2B5EF4-FFF2-40B4-BE49-F238E27FC236}">
                <a16:creationId xmlns:a16="http://schemas.microsoft.com/office/drawing/2014/main" id="{8F0C62B2-0C62-FBB7-D8FA-028D102D12B9}"/>
              </a:ext>
            </a:extLst>
          </p:cNvPr>
          <p:cNvSpPr txBox="1"/>
          <p:nvPr/>
        </p:nvSpPr>
        <p:spPr>
          <a:xfrm>
            <a:off x="7458761" y="4514850"/>
            <a:ext cx="6675120" cy="307777"/>
          </a:xfrm>
          <a:prstGeom prst="rect">
            <a:avLst/>
          </a:prstGeom>
          <a:noFill/>
        </p:spPr>
        <p:txBody>
          <a:bodyPr wrap="square" rtlCol="0">
            <a:spAutoFit/>
          </a:bodyPr>
          <a:lstStyle/>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4</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번 이유</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청크가</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겹침(overlap) 구간만큼 중복되어, 같은 조항이 두 청크에 함께 들어감</a:t>
            </a:r>
            <a:endParaRPr lang="ko-KR" alt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TextBox 44">
            <a:extLst>
              <a:ext uri="{FF2B5EF4-FFF2-40B4-BE49-F238E27FC236}">
                <a16:creationId xmlns:a16="http://schemas.microsoft.com/office/drawing/2014/main" id="{E80707FC-9983-C330-6CEB-982467D9EA16}"/>
              </a:ext>
            </a:extLst>
          </p:cNvPr>
          <p:cNvSpPr txBox="1"/>
          <p:nvPr/>
        </p:nvSpPr>
        <p:spPr>
          <a:xfrm>
            <a:off x="509321" y="4119116"/>
            <a:ext cx="6675120" cy="830997"/>
          </a:xfrm>
          <a:prstGeom prst="rect">
            <a:avLst/>
          </a:prstGeom>
          <a:noFill/>
        </p:spPr>
        <p:txBody>
          <a:bodyPr wrap="square" rtlCol="0">
            <a:spAutoFit/>
          </a:bodyPr>
          <a:lstStyle/>
          <a:p>
            <a:r>
              <a:rPr lang="ko-KR" altLang="en-US" sz="16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약관 </a:t>
            </a:r>
            <a:r>
              <a:rPr lang="en-US" altLang="ko-KR" sz="1600" b="1" dirty="0" err="1">
                <a:solidFill>
                  <a:srgbClr val="FF0000"/>
                </a:solidFill>
                <a:latin typeface="Pretendard" panose="02000503000000020004" pitchFamily="50" charset="-127"/>
                <a:ea typeface="Pretendard" panose="02000503000000020004" pitchFamily="50" charset="-127"/>
                <a:cs typeface="Pretendard" panose="02000503000000020004" pitchFamily="50" charset="-127"/>
              </a:rPr>
              <a:t>청크</a:t>
            </a:r>
            <a:r>
              <a:rPr lang="ko-KR" altLang="en-US" sz="16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안에 여러 조항이 섞여 있어 모델에 따라 조항 안의 조건과 </a:t>
            </a:r>
            <a:r>
              <a:rPr lang="ko-KR" altLang="en-US" sz="1600" b="1" dirty="0" err="1">
                <a:solidFill>
                  <a:srgbClr val="FF0000"/>
                </a:solidFill>
                <a:latin typeface="Pretendard" panose="02000503000000020004" pitchFamily="50" charset="-127"/>
                <a:ea typeface="Pretendard" panose="02000503000000020004" pitchFamily="50" charset="-127"/>
                <a:cs typeface="Pretendard" panose="02000503000000020004" pitchFamily="50" charset="-127"/>
              </a:rPr>
              <a:t>기한등을</a:t>
            </a:r>
            <a:r>
              <a:rPr lang="ko-KR" altLang="en-US" sz="16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 놓칠 수 있음 </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고성능 모델은 나누지 않아도 대부분 뽑지만 비용이 상승</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고성능 모델도 추출단위로 나누면 더 정확히 추출함</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a:t>
            </a:r>
            <a:endParaRPr lang="ko-KR" alt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9" name="Rounded Rectangle 58"/>
          <p:cNvSpPr/>
          <p:nvPr/>
        </p:nvSpPr>
        <p:spPr>
          <a:xfrm>
            <a:off x="512064" y="6903720"/>
            <a:ext cx="1143000" cy="841248"/>
          </a:xfrm>
          <a:prstGeom prst="roundRect">
            <a:avLst>
              <a:gd name="adj" fmla="val 13000"/>
            </a:avLst>
          </a:prstGeom>
          <a:solidFill>
            <a:srgbClr val="40415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Pretendard"/>
                <a:ea typeface="Pretendard"/>
                <a:cs typeface="Pretendard"/>
              </a:rPr>
              <a:t>실무 관행</a:t>
            </a:r>
          </a:p>
        </p:txBody>
      </p:sp>
      <p:sp>
        <p:nvSpPr>
          <p:cNvPr id="60" name="Rectangle 59"/>
          <p:cNvSpPr/>
          <p:nvPr/>
        </p:nvSpPr>
        <p:spPr>
          <a:xfrm>
            <a:off x="1719072" y="6903720"/>
            <a:ext cx="546811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marL="171450" indent="-171450" algn="l">
              <a:buChar char="•"/>
            </a:pPr>
            <a:r>
              <a:rPr sz="1200" b="0" dirty="0" err="1">
                <a:solidFill>
                  <a:srgbClr val="3B4557"/>
                </a:solidFill>
                <a:latin typeface="Pretendard"/>
                <a:ea typeface="Pretendard"/>
                <a:cs typeface="Pretendard"/>
              </a:rPr>
              <a:t>작게</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나눌수록</a:t>
            </a:r>
            <a:r>
              <a:rPr sz="1200" b="0" dirty="0">
                <a:solidFill>
                  <a:srgbClr val="3B4557"/>
                </a:solidFill>
                <a:latin typeface="Pretendard"/>
                <a:ea typeface="Pretendard"/>
                <a:cs typeface="Pretendard"/>
              </a:rPr>
              <a:t> 더 </a:t>
            </a:r>
            <a:r>
              <a:rPr sz="1200" b="0" dirty="0" err="1">
                <a:solidFill>
                  <a:srgbClr val="3B4557"/>
                </a:solidFill>
                <a:latin typeface="Pretendard"/>
                <a:ea typeface="Pretendard"/>
                <a:cs typeface="Pretendard"/>
              </a:rPr>
              <a:t>뽑음</a:t>
            </a:r>
            <a:r>
              <a:rPr sz="1200" b="0" dirty="0">
                <a:solidFill>
                  <a:srgbClr val="3B4557"/>
                </a:solidFill>
                <a:latin typeface="Pretendard"/>
                <a:ea typeface="Pretendard"/>
                <a:cs typeface="Pretendard"/>
              </a:rPr>
              <a:t> (600토큰 </a:t>
            </a:r>
            <a:r>
              <a:rPr sz="1200" b="0" dirty="0" err="1">
                <a:solidFill>
                  <a:srgbClr val="3B4557"/>
                </a:solidFill>
                <a:latin typeface="Pretendard"/>
                <a:ea typeface="Pretendard"/>
                <a:cs typeface="Pretendard"/>
              </a:rPr>
              <a:t>청크가</a:t>
            </a:r>
            <a:r>
              <a:rPr sz="1200" b="0" dirty="0">
                <a:solidFill>
                  <a:srgbClr val="3B4557"/>
                </a:solidFill>
                <a:latin typeface="Pretendard"/>
                <a:ea typeface="Pretendard"/>
                <a:cs typeface="Pretendard"/>
              </a:rPr>
              <a:t> 2400토큰의 약 2배)  </a:t>
            </a:r>
            <a:r>
              <a:rPr sz="1000" b="0" dirty="0" err="1">
                <a:solidFill>
                  <a:srgbClr val="7F8794"/>
                </a:solidFill>
                <a:latin typeface="Pretendard"/>
                <a:ea typeface="Pretendard"/>
                <a:cs typeface="Pretendard"/>
              </a:rPr>
              <a:t>GraphRAG</a:t>
            </a:r>
            <a:r>
              <a:rPr sz="1000" b="0" dirty="0">
                <a:solidFill>
                  <a:srgbClr val="7F8794"/>
                </a:solidFill>
                <a:latin typeface="Pretendard"/>
                <a:ea typeface="Pretendard"/>
                <a:cs typeface="Pretendard"/>
              </a:rPr>
              <a:t> </a:t>
            </a:r>
            <a:r>
              <a:rPr sz="1000" b="0" dirty="0" err="1">
                <a:solidFill>
                  <a:srgbClr val="7F8794"/>
                </a:solidFill>
                <a:latin typeface="Pretendard"/>
                <a:ea typeface="Pretendard"/>
                <a:cs typeface="Pretendard"/>
              </a:rPr>
              <a:t>논문</a:t>
            </a:r>
            <a:r>
              <a:rPr sz="1000" b="0" dirty="0">
                <a:solidFill>
                  <a:srgbClr val="7F8794"/>
                </a:solidFill>
                <a:latin typeface="Pretendard"/>
                <a:ea typeface="Pretendard"/>
                <a:cs typeface="Pretendard"/>
              </a:rPr>
              <a:t> 2024</a:t>
            </a:r>
          </a:p>
          <a:p>
            <a:pPr marL="171450" indent="-171450" algn="l">
              <a:buChar char="•"/>
            </a:pPr>
            <a:r>
              <a:rPr sz="1200" b="0" dirty="0" err="1">
                <a:solidFill>
                  <a:srgbClr val="3B4557"/>
                </a:solidFill>
                <a:latin typeface="Pretendard"/>
                <a:ea typeface="Pretendard"/>
                <a:cs typeface="Pretendard"/>
              </a:rPr>
              <a:t>놓친</a:t>
            </a:r>
            <a:r>
              <a:rPr sz="1200" b="0" dirty="0">
                <a:solidFill>
                  <a:srgbClr val="3B4557"/>
                </a:solidFill>
                <a:latin typeface="Pretendard"/>
                <a:ea typeface="Pretendard"/>
                <a:cs typeface="Pretendard"/>
              </a:rPr>
              <a:t> 것 </a:t>
            </a:r>
            <a:r>
              <a:rPr sz="1200" b="0" dirty="0" err="1">
                <a:solidFill>
                  <a:srgbClr val="3B4557"/>
                </a:solidFill>
                <a:latin typeface="Pretendard"/>
                <a:ea typeface="Pretendard"/>
                <a:cs typeface="Pretendard"/>
              </a:rPr>
              <a:t>다시</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묻기</a:t>
            </a:r>
            <a:r>
              <a:rPr sz="1200" b="0" dirty="0">
                <a:solidFill>
                  <a:srgbClr val="3B4557"/>
                </a:solidFill>
                <a:latin typeface="Pretendard"/>
                <a:ea typeface="Pretendard"/>
                <a:cs typeface="Pretendard"/>
              </a:rPr>
              <a:t>(gleaning) 1회가 </a:t>
            </a:r>
            <a:r>
              <a:rPr sz="1200" b="0" dirty="0" err="1">
                <a:solidFill>
                  <a:srgbClr val="3B4557"/>
                </a:solidFill>
                <a:latin typeface="Pretendard"/>
                <a:ea typeface="Pretendard"/>
                <a:cs typeface="Pretendard"/>
              </a:rPr>
              <a:t>기본값</a:t>
            </a:r>
            <a:r>
              <a:rPr sz="1200" b="0" dirty="0">
                <a:solidFill>
                  <a:srgbClr val="3B4557"/>
                </a:solidFill>
                <a:latin typeface="Pretendard"/>
                <a:ea typeface="Pretendard"/>
                <a:cs typeface="Pretendard"/>
              </a:rPr>
              <a:t>  </a:t>
            </a:r>
            <a:r>
              <a:rPr sz="1000" b="0" dirty="0">
                <a:solidFill>
                  <a:srgbClr val="7F8794"/>
                </a:solidFill>
                <a:latin typeface="Pretendard"/>
                <a:ea typeface="Pretendard"/>
                <a:cs typeface="Pretendard"/>
              </a:rPr>
              <a:t>Microsoft </a:t>
            </a:r>
            <a:r>
              <a:rPr sz="1000" b="0" dirty="0" err="1">
                <a:solidFill>
                  <a:srgbClr val="7F8794"/>
                </a:solidFill>
                <a:latin typeface="Pretendard"/>
                <a:ea typeface="Pretendard"/>
                <a:cs typeface="Pretendard"/>
              </a:rPr>
              <a:t>GraphRAG</a:t>
            </a:r>
            <a:r>
              <a:rPr sz="1000" b="0" dirty="0">
                <a:solidFill>
                  <a:srgbClr val="7F8794"/>
                </a:solidFill>
                <a:latin typeface="Pretendard"/>
                <a:ea typeface="Pretendard"/>
                <a:cs typeface="Pretendard"/>
              </a:rPr>
              <a:t>, </a:t>
            </a:r>
            <a:r>
              <a:rPr sz="1000" b="0" dirty="0" err="1">
                <a:solidFill>
                  <a:srgbClr val="7F8794"/>
                </a:solidFill>
                <a:latin typeface="Pretendard"/>
                <a:ea typeface="Pretendard"/>
                <a:cs typeface="Pretendard"/>
              </a:rPr>
              <a:t>LightRAG</a:t>
            </a:r>
            <a:endParaRPr sz="1000" b="0" dirty="0">
              <a:solidFill>
                <a:srgbClr val="7F8794"/>
              </a:solidFill>
              <a:latin typeface="Pretendard"/>
              <a:ea typeface="Pretendard"/>
              <a:cs typeface="Pretendard"/>
            </a:endParaRPr>
          </a:p>
          <a:p>
            <a:pPr marL="171450" indent="-171450" algn="l">
              <a:buChar char="•"/>
            </a:pPr>
            <a:r>
              <a:rPr sz="1200" b="0" dirty="0" err="1">
                <a:solidFill>
                  <a:srgbClr val="3B4557"/>
                </a:solidFill>
                <a:latin typeface="Pretendard"/>
                <a:ea typeface="Pretendard"/>
                <a:cs typeface="Pretendard"/>
              </a:rPr>
              <a:t>엔티티는</a:t>
            </a:r>
            <a:r>
              <a:rPr sz="1200" b="0" dirty="0">
                <a:solidFill>
                  <a:srgbClr val="3B4557"/>
                </a:solidFill>
                <a:latin typeface="Pretendard"/>
                <a:ea typeface="Pretendard"/>
                <a:cs typeface="Pretendard"/>
              </a:rPr>
              <a:t> </a:t>
            </a:r>
            <a:r>
              <a:rPr lang="ko-KR" altLang="en-US" sz="1200" dirty="0">
                <a:solidFill>
                  <a:srgbClr val="3B4557"/>
                </a:solidFill>
                <a:latin typeface="Pretendard"/>
                <a:ea typeface="Pretendard"/>
                <a:cs typeface="Pretendard"/>
              </a:rPr>
              <a:t>출처</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청크</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ID를</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여러</a:t>
            </a:r>
            <a:r>
              <a:rPr sz="1200" b="0" dirty="0">
                <a:solidFill>
                  <a:srgbClr val="3B4557"/>
                </a:solidFill>
                <a:latin typeface="Pretendard"/>
                <a:ea typeface="Pretendard"/>
                <a:cs typeface="Pretendard"/>
              </a:rPr>
              <a:t> 개 </a:t>
            </a:r>
            <a:r>
              <a:rPr sz="1200" b="0" dirty="0" err="1">
                <a:solidFill>
                  <a:srgbClr val="3B4557"/>
                </a:solidFill>
                <a:latin typeface="Pretendard"/>
                <a:ea typeface="Pretendard"/>
                <a:cs typeface="Pretendard"/>
              </a:rPr>
              <a:t>기록</a:t>
            </a:r>
            <a:r>
              <a:rPr sz="1200" b="0" dirty="0">
                <a:solidFill>
                  <a:srgbClr val="3B4557"/>
                </a:solidFill>
                <a:latin typeface="Pretendard"/>
                <a:ea typeface="Pretendard"/>
                <a:cs typeface="Pretendard"/>
              </a:rPr>
              <a:t>  </a:t>
            </a:r>
            <a:r>
              <a:rPr sz="1000" b="0" dirty="0" err="1">
                <a:solidFill>
                  <a:srgbClr val="7F8794"/>
                </a:solidFill>
                <a:latin typeface="Pretendard"/>
                <a:ea typeface="Pretendard"/>
                <a:cs typeface="Pretendard"/>
              </a:rPr>
              <a:t>LightRAG</a:t>
            </a:r>
            <a:r>
              <a:rPr sz="1000" b="0" dirty="0">
                <a:solidFill>
                  <a:srgbClr val="7F8794"/>
                </a:solidFill>
                <a:latin typeface="Pretendard"/>
                <a:ea typeface="Pretendard"/>
                <a:cs typeface="Pretendard"/>
              </a:rPr>
              <a:t>, Neo4j </a:t>
            </a:r>
            <a:r>
              <a:rPr sz="1000" b="0" dirty="0" err="1">
                <a:solidFill>
                  <a:srgbClr val="7F8794"/>
                </a:solidFill>
                <a:latin typeface="Pretendard"/>
                <a:ea typeface="Pretendard"/>
                <a:cs typeface="Pretendard"/>
              </a:rPr>
              <a:t>GraphRAG</a:t>
            </a:r>
            <a:endParaRPr sz="1000" b="0" dirty="0">
              <a:solidFill>
                <a:srgbClr val="7F8794"/>
              </a:solidFill>
              <a:latin typeface="Pretendard"/>
              <a:ea typeface="Pretendard"/>
              <a:cs typeface="Pretendard"/>
            </a:endParaRPr>
          </a:p>
          <a:p>
            <a:pPr marL="171450" indent="-171450" algn="l">
              <a:buChar char="•"/>
            </a:pPr>
            <a:r>
              <a:rPr sz="1200" b="0" dirty="0" err="1">
                <a:solidFill>
                  <a:srgbClr val="3B4557"/>
                </a:solidFill>
                <a:latin typeface="Pretendard"/>
                <a:ea typeface="Pretendard"/>
                <a:cs typeface="Pretendard"/>
              </a:rPr>
              <a:t>법률</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문서는</a:t>
            </a:r>
            <a:r>
              <a:rPr sz="1200" b="0" dirty="0">
                <a:solidFill>
                  <a:srgbClr val="3B4557"/>
                </a:solidFill>
                <a:latin typeface="Pretendard"/>
                <a:ea typeface="Pretendard"/>
                <a:cs typeface="Pretendard"/>
              </a:rPr>
              <a:t> 조, 항 </a:t>
            </a:r>
            <a:r>
              <a:rPr sz="1200" b="0" dirty="0" err="1">
                <a:solidFill>
                  <a:srgbClr val="3B4557"/>
                </a:solidFill>
                <a:latin typeface="Pretendard"/>
                <a:ea typeface="Pretendard"/>
                <a:cs typeface="Pretendard"/>
              </a:rPr>
              <a:t>같은</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구조</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단위로</a:t>
            </a:r>
            <a:r>
              <a:rPr sz="1200" b="0" dirty="0">
                <a:solidFill>
                  <a:srgbClr val="3B4557"/>
                </a:solidFill>
                <a:latin typeface="Pretendard"/>
                <a:ea typeface="Pretendard"/>
                <a:cs typeface="Pretendard"/>
              </a:rPr>
              <a:t> </a:t>
            </a:r>
            <a:r>
              <a:rPr sz="1200" b="0" dirty="0" err="1">
                <a:solidFill>
                  <a:srgbClr val="3B4557"/>
                </a:solidFill>
                <a:latin typeface="Pretendard"/>
                <a:ea typeface="Pretendard"/>
                <a:cs typeface="Pretendard"/>
              </a:rPr>
              <a:t>나눔</a:t>
            </a:r>
            <a:r>
              <a:rPr sz="1200" b="0" dirty="0">
                <a:solidFill>
                  <a:srgbClr val="3B4557"/>
                </a:solidFill>
                <a:latin typeface="Pretendard"/>
                <a:ea typeface="Pretendard"/>
                <a:cs typeface="Pretendard"/>
              </a:rPr>
              <a:t>  </a:t>
            </a:r>
            <a:r>
              <a:rPr sz="1000" b="0" dirty="0">
                <a:solidFill>
                  <a:srgbClr val="7F8794"/>
                </a:solidFill>
                <a:latin typeface="Pretendard"/>
                <a:ea typeface="Pretendard"/>
                <a:cs typeface="Pretendard"/>
              </a:rPr>
              <a:t>PROPOR 2026 </a:t>
            </a:r>
            <a:r>
              <a:rPr sz="1000" b="0" dirty="0" err="1">
                <a:solidFill>
                  <a:srgbClr val="7F8794"/>
                </a:solidFill>
                <a:latin typeface="Pretendard"/>
                <a:ea typeface="Pretendard"/>
                <a:cs typeface="Pretendard"/>
              </a:rPr>
              <a:t>논문</a:t>
            </a:r>
            <a:endParaRPr sz="1000" b="0" dirty="0">
              <a:solidFill>
                <a:srgbClr val="7F8794"/>
              </a:solidFill>
              <a:latin typeface="Pretendard"/>
              <a:ea typeface="Pretendard"/>
              <a:cs typeface="Pretendar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a:t>
            </a:r>
            <a:r>
              <a:rPr lang="ko-KR" altLang="en-US" sz="3200" b="1" dirty="0">
                <a:solidFill>
                  <a:srgbClr val="2C2926"/>
                </a:solidFill>
                <a:latin typeface="Pretendard" pitchFamily="34" charset="0"/>
                <a:ea typeface="Pretendard" pitchFamily="34" charset="-122"/>
                <a:cs typeface="Pretendard" pitchFamily="34" charset="-120"/>
              </a:rPr>
              <a:t>참고</a:t>
            </a:r>
            <a:r>
              <a:rPr lang="en-US" altLang="ko-KR"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KG의</a:t>
            </a:r>
            <a:r>
              <a:rPr lang="en-US" sz="3200" b="1" dirty="0">
                <a:solidFill>
                  <a:srgbClr val="2C2926"/>
                </a:solidFill>
                <a:latin typeface="Pretendard" pitchFamily="34" charset="0"/>
                <a:ea typeface="Pretendard" pitchFamily="34" charset="-122"/>
                <a:cs typeface="Pretendard" pitchFamily="34" charset="-120"/>
              </a:rPr>
              <a:t> 모양</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엔티티 그래프의 모든 엔티티는 Lexical Graph의 청크 노드에 FROM_CHUNK로 이어짐 (KG 하나 안의 두 층)</a:t>
            </a:r>
            <a:endParaRPr lang="en-US" sz="1800" dirty="0"/>
          </a:p>
        </p:txBody>
      </p:sp>
      <p:sp>
        <p:nvSpPr>
          <p:cNvPr id="5" name="Text 2"/>
          <p:cNvSpPr txBox="1"/>
          <p:nvPr/>
        </p:nvSpPr>
        <p:spPr>
          <a:xfrm>
            <a:off x="509321" y="1591056"/>
            <a:ext cx="13624560" cy="256032"/>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관계 이름  </a:t>
            </a:r>
            <a:r>
              <a:rPr lang="en-US" sz="1400" dirty="0">
                <a:solidFill>
                  <a:srgbClr val="3B4557"/>
                </a:solidFill>
                <a:latin typeface="Pretendard" pitchFamily="34" charset="0"/>
                <a:ea typeface="Pretendard" pitchFamily="34" charset="-122"/>
                <a:cs typeface="Pretendard" pitchFamily="34" charset="-120"/>
              </a:rPr>
              <a:t>조항 가짐 = HAS_CLAUSE,  조건 둠 = SETS_REQUIREMENT,  기한 둠 = SETS_DEADLINE,  처리 정함 = DEFINES_HANDLING</a:t>
            </a:r>
            <a:endParaRPr lang="en-US" sz="1400" dirty="0"/>
          </a:p>
        </p:txBody>
      </p:sp>
      <p:sp>
        <p:nvSpPr>
          <p:cNvPr id="6" name="Shape 3"/>
          <p:cNvSpPr/>
          <p:nvPr/>
        </p:nvSpPr>
        <p:spPr>
          <a:xfrm>
            <a:off x="509321" y="2048256"/>
            <a:ext cx="13624560" cy="5614416"/>
          </a:xfrm>
          <a:prstGeom prst="roundRect">
            <a:avLst>
              <a:gd name="adj" fmla="val 2280"/>
            </a:avLst>
          </a:prstGeom>
          <a:solidFill>
            <a:srgbClr val="FFFFFF"/>
          </a:solidFill>
          <a:ln w="25400">
            <a:solidFill>
              <a:srgbClr val="1E2A5C"/>
            </a:solidFill>
            <a:prstDash val="solid"/>
          </a:ln>
        </p:spPr>
        <p:txBody>
          <a:bodyPr/>
          <a:lstStyle/>
          <a:p>
            <a:endParaRPr lang="ko-KR" altLang="en-US"/>
          </a:p>
        </p:txBody>
      </p:sp>
      <p:sp>
        <p:nvSpPr>
          <p:cNvPr id="7" name="Shape 4"/>
          <p:cNvSpPr/>
          <p:nvPr/>
        </p:nvSpPr>
        <p:spPr>
          <a:xfrm>
            <a:off x="619049" y="2231136"/>
            <a:ext cx="13405104" cy="4114800"/>
          </a:xfrm>
          <a:prstGeom prst="roundRect">
            <a:avLst>
              <a:gd name="adj" fmla="val 2222"/>
            </a:avLst>
          </a:prstGeom>
          <a:solidFill>
            <a:srgbClr val="FFFFFF"/>
          </a:solidFill>
          <a:ln w="15875">
            <a:solidFill>
              <a:srgbClr val="2E74C6"/>
            </a:solidFill>
            <a:prstDash val="solid"/>
          </a:ln>
        </p:spPr>
        <p:txBody>
          <a:bodyPr/>
          <a:lstStyle/>
          <a:p>
            <a:endParaRPr lang="ko-KR" altLang="en-US"/>
          </a:p>
        </p:txBody>
      </p:sp>
      <p:sp>
        <p:nvSpPr>
          <p:cNvPr id="8" name="Shape 5"/>
          <p:cNvSpPr/>
          <p:nvPr/>
        </p:nvSpPr>
        <p:spPr>
          <a:xfrm>
            <a:off x="619049" y="6547104"/>
            <a:ext cx="13405104" cy="1005840"/>
          </a:xfrm>
          <a:prstGeom prst="roundRect">
            <a:avLst>
              <a:gd name="adj" fmla="val 9091"/>
            </a:avLst>
          </a:prstGeom>
          <a:solidFill>
            <a:srgbClr val="E2EEF9"/>
          </a:solidFill>
          <a:ln w="15875">
            <a:solidFill>
              <a:srgbClr val="1E2A5C"/>
            </a:solidFill>
            <a:prstDash val="solid"/>
          </a:ln>
        </p:spPr>
        <p:txBody>
          <a:bodyPr/>
          <a:lstStyle/>
          <a:p>
            <a:endParaRPr lang="ko-KR" altLang="en-US"/>
          </a:p>
        </p:txBody>
      </p:sp>
      <p:sp>
        <p:nvSpPr>
          <p:cNvPr id="9" name="Shape 6"/>
          <p:cNvSpPr/>
          <p:nvPr/>
        </p:nvSpPr>
        <p:spPr>
          <a:xfrm>
            <a:off x="737921" y="1892808"/>
            <a:ext cx="3017520" cy="329184"/>
          </a:xfrm>
          <a:prstGeom prst="roundRect">
            <a:avLst>
              <a:gd name="adj" fmla="val 16667"/>
            </a:avLst>
          </a:prstGeom>
          <a:solidFill>
            <a:srgbClr val="1E2A5C"/>
          </a:solidFill>
          <a:ln/>
        </p:spPr>
        <p:txBody>
          <a:bodyPr/>
          <a:lstStyle/>
          <a:p>
            <a:endParaRPr lang="ko-KR" altLang="en-US"/>
          </a:p>
        </p:txBody>
      </p:sp>
      <p:sp>
        <p:nvSpPr>
          <p:cNvPr id="10" name="Text 7"/>
          <p:cNvSpPr txBox="1"/>
          <p:nvPr/>
        </p:nvSpPr>
        <p:spPr>
          <a:xfrm>
            <a:off x="737921" y="1892808"/>
            <a:ext cx="3017520" cy="329184"/>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KG  (Neo4j에 하나로 저장)</a:t>
            </a:r>
            <a:endParaRPr lang="en-US" sz="1600" dirty="0"/>
          </a:p>
        </p:txBody>
      </p:sp>
      <p:sp>
        <p:nvSpPr>
          <p:cNvPr id="11" name="Text 8"/>
          <p:cNvSpPr txBox="1"/>
          <p:nvPr/>
        </p:nvSpPr>
        <p:spPr>
          <a:xfrm>
            <a:off x="801929" y="2322576"/>
            <a:ext cx="5303520" cy="274320"/>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엔티티 그래프 (지식 층): LLM이 조항 단위로 추출</a:t>
            </a:r>
            <a:endParaRPr lang="en-US" sz="1400" dirty="0"/>
          </a:p>
        </p:txBody>
      </p:sp>
      <p:sp>
        <p:nvSpPr>
          <p:cNvPr id="12" name="Shape 9"/>
          <p:cNvSpPr/>
          <p:nvPr/>
        </p:nvSpPr>
        <p:spPr>
          <a:xfrm>
            <a:off x="801929" y="2642616"/>
            <a:ext cx="502920" cy="310896"/>
          </a:xfrm>
          <a:prstGeom prst="ellipse">
            <a:avLst/>
          </a:prstGeom>
          <a:solidFill>
            <a:srgbClr val="EEF3FA"/>
          </a:solidFill>
          <a:ln w="15875">
            <a:solidFill>
              <a:srgbClr val="2E74C6"/>
            </a:solidFill>
            <a:prstDash val="solid"/>
          </a:ln>
        </p:spPr>
        <p:txBody>
          <a:bodyPr/>
          <a:lstStyle/>
          <a:p>
            <a:endParaRPr lang="ko-KR" altLang="en-US"/>
          </a:p>
        </p:txBody>
      </p:sp>
      <p:sp>
        <p:nvSpPr>
          <p:cNvPr id="13" name="Text 10"/>
          <p:cNvSpPr txBox="1"/>
          <p:nvPr/>
        </p:nvSpPr>
        <p:spPr>
          <a:xfrm>
            <a:off x="1396289" y="2660904"/>
            <a:ext cx="1737360" cy="274320"/>
          </a:xfrm>
          <a:prstGeom prst="rect">
            <a:avLst/>
          </a:prstGeom>
          <a:noFill/>
          <a:ln/>
        </p:spPr>
        <p:txBody>
          <a:bodyPr wrap="square" lIns="0" tIns="0" rIns="0" bIns="0"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엔티티 노드</a:t>
            </a:r>
            <a:endParaRPr lang="en-US" sz="1400" dirty="0"/>
          </a:p>
        </p:txBody>
      </p:sp>
      <p:sp>
        <p:nvSpPr>
          <p:cNvPr id="14" name="Shape 11"/>
          <p:cNvSpPr/>
          <p:nvPr/>
        </p:nvSpPr>
        <p:spPr>
          <a:xfrm>
            <a:off x="3316529" y="2798064"/>
            <a:ext cx="548640" cy="0"/>
          </a:xfrm>
          <a:prstGeom prst="line">
            <a:avLst/>
          </a:prstGeom>
          <a:noFill/>
          <a:ln w="15875">
            <a:solidFill>
              <a:srgbClr val="4A5364"/>
            </a:solidFill>
            <a:prstDash val="solid"/>
            <a:tailEnd type="triangle"/>
          </a:ln>
        </p:spPr>
        <p:txBody>
          <a:bodyPr/>
          <a:lstStyle/>
          <a:p>
            <a:endParaRPr lang="ko-KR" altLang="en-US"/>
          </a:p>
        </p:txBody>
      </p:sp>
      <p:sp>
        <p:nvSpPr>
          <p:cNvPr id="15" name="Text 12"/>
          <p:cNvSpPr txBox="1"/>
          <p:nvPr/>
        </p:nvSpPr>
        <p:spPr>
          <a:xfrm>
            <a:off x="3956609" y="2660904"/>
            <a:ext cx="2468880" cy="274320"/>
          </a:xfrm>
          <a:prstGeom prst="rect">
            <a:avLst/>
          </a:prstGeom>
          <a:noFill/>
          <a:ln/>
        </p:spPr>
        <p:txBody>
          <a:bodyPr wrap="square" lIns="0" tIns="0" rIns="0" bIns="0"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관계 (이름표로 종류 표시)</a:t>
            </a:r>
            <a:endParaRPr lang="en-US" sz="1400" dirty="0"/>
          </a:p>
        </p:txBody>
      </p:sp>
      <p:sp>
        <p:nvSpPr>
          <p:cNvPr id="16" name="Shape 13"/>
          <p:cNvSpPr/>
          <p:nvPr/>
        </p:nvSpPr>
        <p:spPr>
          <a:xfrm>
            <a:off x="801929" y="3182112"/>
            <a:ext cx="502920" cy="0"/>
          </a:xfrm>
          <a:prstGeom prst="line">
            <a:avLst/>
          </a:prstGeom>
          <a:noFill/>
          <a:ln w="28575">
            <a:solidFill>
              <a:srgbClr val="1E2A5C"/>
            </a:solidFill>
            <a:prstDash val="dash"/>
            <a:tailEnd type="triangle"/>
          </a:ln>
        </p:spPr>
        <p:txBody>
          <a:bodyPr/>
          <a:lstStyle/>
          <a:p>
            <a:endParaRPr lang="ko-KR" altLang="en-US"/>
          </a:p>
        </p:txBody>
      </p:sp>
      <p:sp>
        <p:nvSpPr>
          <p:cNvPr id="17" name="Text 14"/>
          <p:cNvSpPr txBox="1"/>
          <p:nvPr/>
        </p:nvSpPr>
        <p:spPr>
          <a:xfrm>
            <a:off x="1396289" y="3044952"/>
            <a:ext cx="1737360" cy="274320"/>
          </a:xfrm>
          <a:prstGeom prst="rect">
            <a:avLst/>
          </a:prstGeom>
          <a:noFill/>
          <a:ln/>
        </p:spPr>
        <p:txBody>
          <a:bodyPr wrap="square" lIns="0" tIns="0" rIns="0" bIns="0"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FROM_CHUNK 관계</a:t>
            </a:r>
            <a:endParaRPr lang="en-US" sz="1400" dirty="0"/>
          </a:p>
        </p:txBody>
      </p:sp>
      <p:sp>
        <p:nvSpPr>
          <p:cNvPr id="18" name="Shape 15"/>
          <p:cNvSpPr/>
          <p:nvPr/>
        </p:nvSpPr>
        <p:spPr>
          <a:xfrm>
            <a:off x="3316529" y="3044952"/>
            <a:ext cx="548640" cy="274320"/>
          </a:xfrm>
          <a:prstGeom prst="roundRect">
            <a:avLst>
              <a:gd name="adj" fmla="val 20000"/>
            </a:avLst>
          </a:prstGeom>
          <a:solidFill>
            <a:srgbClr val="1E2A5C"/>
          </a:solidFill>
          <a:ln/>
        </p:spPr>
        <p:txBody>
          <a:bodyPr/>
          <a:lstStyle/>
          <a:p>
            <a:endParaRPr lang="ko-KR" altLang="en-US"/>
          </a:p>
        </p:txBody>
      </p:sp>
      <p:sp>
        <p:nvSpPr>
          <p:cNvPr id="19" name="Text 16"/>
          <p:cNvSpPr txBox="1"/>
          <p:nvPr/>
        </p:nvSpPr>
        <p:spPr>
          <a:xfrm>
            <a:off x="3956609" y="3044952"/>
            <a:ext cx="2468880" cy="274320"/>
          </a:xfrm>
          <a:prstGeom prst="rect">
            <a:avLst/>
          </a:prstGeom>
          <a:noFill/>
          <a:ln/>
        </p:spPr>
        <p:txBody>
          <a:bodyPr wrap="square" lIns="0" tIns="0" rIns="0" bIns="0"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청크 노드 (엔티티 아님)</a:t>
            </a:r>
            <a:endParaRPr lang="en-US" sz="1400" dirty="0"/>
          </a:p>
        </p:txBody>
      </p:sp>
      <p:sp>
        <p:nvSpPr>
          <p:cNvPr id="20" name="Text 17"/>
          <p:cNvSpPr txBox="1"/>
          <p:nvPr/>
        </p:nvSpPr>
        <p:spPr>
          <a:xfrm>
            <a:off x="5303520" y="6656832"/>
            <a:ext cx="4023360" cy="749808"/>
          </a:xfrm>
          <a:prstGeom prst="rect">
            <a:avLst/>
          </a:prstGeom>
          <a:noFill/>
          <a:ln/>
        </p:spPr>
        <p:txBody>
          <a:bodyPr wrap="square" lIns="0" tIns="0" rIns="0" bIns="0" rtlCol="0" anchor="t"/>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Lexical Graph (원문 층)</a:t>
            </a:r>
            <a:endParaRPr lang="en-US" sz="1400" dirty="0"/>
          </a:p>
          <a:p>
            <a:pPr marL="0" indent="0" algn="ctr">
              <a:buNone/>
            </a:pPr>
            <a:r>
              <a:rPr lang="en-US" sz="1400" dirty="0">
                <a:solidFill>
                  <a:srgbClr val="3B4557"/>
                </a:solidFill>
                <a:latin typeface="Pretendard" pitchFamily="34" charset="0"/>
                <a:ea typeface="Pretendard" pitchFamily="34" charset="-122"/>
                <a:cs typeface="Pretendard" pitchFamily="34" charset="-120"/>
              </a:rPr>
              <a:t>코드가 검색 청크를 옮긴 청크 노드</a:t>
            </a:r>
            <a:endParaRPr lang="en-US" sz="1400" dirty="0"/>
          </a:p>
          <a:p>
            <a:pPr marL="0" indent="0" algn="ctr">
              <a:buNone/>
            </a:pPr>
            <a:r>
              <a:rPr lang="en-US" sz="1400" dirty="0">
                <a:solidFill>
                  <a:srgbClr val="3B4557"/>
                </a:solidFill>
                <a:latin typeface="Pretendard" pitchFamily="34" charset="0"/>
                <a:ea typeface="Pretendard" pitchFamily="34" charset="-122"/>
                <a:cs typeface="Pretendard" pitchFamily="34" charset="-120"/>
              </a:rPr>
              <a:t>글에서 뽑은 개체가 아니므로 엔티티 아님</a:t>
            </a:r>
            <a:endParaRPr lang="en-US" sz="1400" dirty="0"/>
          </a:p>
        </p:txBody>
      </p:sp>
      <p:sp>
        <p:nvSpPr>
          <p:cNvPr id="21" name="Shape 18"/>
          <p:cNvSpPr/>
          <p:nvPr/>
        </p:nvSpPr>
        <p:spPr>
          <a:xfrm>
            <a:off x="960120" y="3703320"/>
            <a:ext cx="3017520" cy="2542032"/>
          </a:xfrm>
          <a:prstGeom prst="roundRect">
            <a:avLst>
              <a:gd name="adj" fmla="val 4317"/>
            </a:avLst>
          </a:prstGeom>
          <a:solidFill>
            <a:srgbClr val="F5F8FC"/>
          </a:solidFill>
          <a:ln w="15875">
            <a:solidFill>
              <a:srgbClr val="C3CEE0"/>
            </a:solidFill>
            <a:prstDash val="dash"/>
          </a:ln>
        </p:spPr>
        <p:txBody>
          <a:bodyPr/>
          <a:lstStyle/>
          <a:p>
            <a:endParaRPr lang="ko-KR" altLang="en-US"/>
          </a:p>
        </p:txBody>
      </p:sp>
      <p:sp>
        <p:nvSpPr>
          <p:cNvPr id="22" name="Text 19"/>
          <p:cNvSpPr txBox="1"/>
          <p:nvPr/>
        </p:nvSpPr>
        <p:spPr>
          <a:xfrm>
            <a:off x="960120" y="5916168"/>
            <a:ext cx="3017520" cy="292608"/>
          </a:xfrm>
          <a:prstGeom prst="rect">
            <a:avLst/>
          </a:prstGeom>
          <a:noFill/>
          <a:ln/>
        </p:spPr>
        <p:txBody>
          <a:bodyPr wrap="square" lIns="0" tIns="0" rIns="0" bIns="0"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청크 a4fd…에만</a:t>
            </a:r>
            <a:endParaRPr lang="en-US" sz="1400" dirty="0"/>
          </a:p>
        </p:txBody>
      </p:sp>
      <p:sp>
        <p:nvSpPr>
          <p:cNvPr id="23" name="Shape 20"/>
          <p:cNvSpPr/>
          <p:nvPr/>
        </p:nvSpPr>
        <p:spPr>
          <a:xfrm>
            <a:off x="4114800" y="3703320"/>
            <a:ext cx="3017520" cy="2542032"/>
          </a:xfrm>
          <a:prstGeom prst="roundRect">
            <a:avLst>
              <a:gd name="adj" fmla="val 4317"/>
            </a:avLst>
          </a:prstGeom>
          <a:solidFill>
            <a:srgbClr val="F5F8FC"/>
          </a:solidFill>
          <a:ln w="15875">
            <a:solidFill>
              <a:srgbClr val="C3CEE0"/>
            </a:solidFill>
            <a:prstDash val="dash"/>
          </a:ln>
        </p:spPr>
        <p:txBody>
          <a:bodyPr/>
          <a:lstStyle/>
          <a:p>
            <a:endParaRPr lang="ko-KR" altLang="en-US"/>
          </a:p>
        </p:txBody>
      </p:sp>
      <p:sp>
        <p:nvSpPr>
          <p:cNvPr id="24" name="Text 21"/>
          <p:cNvSpPr txBox="1"/>
          <p:nvPr/>
        </p:nvSpPr>
        <p:spPr>
          <a:xfrm>
            <a:off x="4114800" y="5916168"/>
            <a:ext cx="3017520" cy="292608"/>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겹친 조항: 청크 2개</a:t>
            </a:r>
            <a:endParaRPr lang="en-US" sz="1400" dirty="0"/>
          </a:p>
        </p:txBody>
      </p:sp>
      <p:sp>
        <p:nvSpPr>
          <p:cNvPr id="25" name="Shape 22"/>
          <p:cNvSpPr/>
          <p:nvPr/>
        </p:nvSpPr>
        <p:spPr>
          <a:xfrm>
            <a:off x="7269480" y="3703320"/>
            <a:ext cx="4389120" cy="2542032"/>
          </a:xfrm>
          <a:prstGeom prst="roundRect">
            <a:avLst>
              <a:gd name="adj" fmla="val 4317"/>
            </a:avLst>
          </a:prstGeom>
          <a:solidFill>
            <a:srgbClr val="F5F8FC"/>
          </a:solidFill>
          <a:ln w="15875">
            <a:solidFill>
              <a:srgbClr val="C3CEE0"/>
            </a:solidFill>
            <a:prstDash val="dash"/>
          </a:ln>
        </p:spPr>
        <p:txBody>
          <a:bodyPr/>
          <a:lstStyle/>
          <a:p>
            <a:endParaRPr lang="ko-KR" altLang="en-US"/>
          </a:p>
        </p:txBody>
      </p:sp>
      <p:sp>
        <p:nvSpPr>
          <p:cNvPr id="26" name="Text 23"/>
          <p:cNvSpPr txBox="1"/>
          <p:nvPr/>
        </p:nvSpPr>
        <p:spPr>
          <a:xfrm>
            <a:off x="7269480" y="5916168"/>
            <a:ext cx="4389120" cy="292608"/>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겹친 조항: 청크 2개 (처리 1개 더 있음)</a:t>
            </a:r>
            <a:endParaRPr lang="en-US" sz="1400" dirty="0"/>
          </a:p>
        </p:txBody>
      </p:sp>
      <p:sp>
        <p:nvSpPr>
          <p:cNvPr id="27" name="Shape 24"/>
          <p:cNvSpPr/>
          <p:nvPr/>
        </p:nvSpPr>
        <p:spPr>
          <a:xfrm>
            <a:off x="11795760" y="3703320"/>
            <a:ext cx="1874520" cy="2542032"/>
          </a:xfrm>
          <a:prstGeom prst="roundRect">
            <a:avLst>
              <a:gd name="adj" fmla="val 5854"/>
            </a:avLst>
          </a:prstGeom>
          <a:solidFill>
            <a:srgbClr val="F5F8FC"/>
          </a:solidFill>
          <a:ln w="15875">
            <a:solidFill>
              <a:srgbClr val="C3CEE0"/>
            </a:solidFill>
            <a:prstDash val="dash"/>
          </a:ln>
        </p:spPr>
        <p:txBody>
          <a:bodyPr/>
          <a:lstStyle/>
          <a:p>
            <a:endParaRPr lang="ko-KR" altLang="en-US"/>
          </a:p>
        </p:txBody>
      </p:sp>
      <p:sp>
        <p:nvSpPr>
          <p:cNvPr id="28" name="Text 25"/>
          <p:cNvSpPr txBox="1"/>
          <p:nvPr/>
        </p:nvSpPr>
        <p:spPr>
          <a:xfrm>
            <a:off x="11795760" y="5916168"/>
            <a:ext cx="1874520" cy="292608"/>
          </a:xfrm>
          <a:prstGeom prst="rect">
            <a:avLst/>
          </a:prstGeom>
          <a:noFill/>
          <a:ln/>
        </p:spPr>
        <p:txBody>
          <a:bodyPr wrap="square" lIns="0" tIns="0" rIns="0" bIns="0"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청크 112f…에만</a:t>
            </a:r>
            <a:endParaRPr lang="en-US" sz="1400" dirty="0"/>
          </a:p>
        </p:txBody>
      </p:sp>
      <p:sp>
        <p:nvSpPr>
          <p:cNvPr id="29" name="Shape 26"/>
          <p:cNvSpPr/>
          <p:nvPr/>
        </p:nvSpPr>
        <p:spPr>
          <a:xfrm>
            <a:off x="2468880" y="6245352"/>
            <a:ext cx="502920" cy="493776"/>
          </a:xfrm>
          <a:prstGeom prst="line">
            <a:avLst/>
          </a:prstGeom>
          <a:noFill/>
          <a:ln w="28575">
            <a:solidFill>
              <a:srgbClr val="1E2A5C"/>
            </a:solidFill>
            <a:prstDash val="dash"/>
            <a:tailEnd type="triangle"/>
          </a:ln>
        </p:spPr>
        <p:txBody>
          <a:bodyPr/>
          <a:lstStyle/>
          <a:p>
            <a:endParaRPr lang="ko-KR" altLang="en-US"/>
          </a:p>
        </p:txBody>
      </p:sp>
      <p:sp>
        <p:nvSpPr>
          <p:cNvPr id="30" name="Shape 27"/>
          <p:cNvSpPr/>
          <p:nvPr/>
        </p:nvSpPr>
        <p:spPr>
          <a:xfrm flipH="1">
            <a:off x="3931920" y="6245352"/>
            <a:ext cx="1234440" cy="493776"/>
          </a:xfrm>
          <a:prstGeom prst="line">
            <a:avLst/>
          </a:prstGeom>
          <a:noFill/>
          <a:ln w="28575">
            <a:solidFill>
              <a:srgbClr val="1E2A5C"/>
            </a:solidFill>
            <a:prstDash val="dash"/>
            <a:tailEnd type="triangle"/>
          </a:ln>
        </p:spPr>
        <p:txBody>
          <a:bodyPr/>
          <a:lstStyle/>
          <a:p>
            <a:endParaRPr lang="ko-KR" altLang="en-US"/>
          </a:p>
        </p:txBody>
      </p:sp>
      <p:sp>
        <p:nvSpPr>
          <p:cNvPr id="31" name="Shape 28"/>
          <p:cNvSpPr/>
          <p:nvPr/>
        </p:nvSpPr>
        <p:spPr>
          <a:xfrm flipH="1">
            <a:off x="4892040" y="6245352"/>
            <a:ext cx="4114800" cy="493776"/>
          </a:xfrm>
          <a:prstGeom prst="line">
            <a:avLst/>
          </a:prstGeom>
          <a:noFill/>
          <a:ln w="28575">
            <a:solidFill>
              <a:srgbClr val="1E2A5C"/>
            </a:solidFill>
            <a:prstDash val="dash"/>
            <a:tailEnd type="triangle"/>
          </a:ln>
        </p:spPr>
        <p:txBody>
          <a:bodyPr/>
          <a:lstStyle/>
          <a:p>
            <a:endParaRPr lang="ko-KR" altLang="en-US"/>
          </a:p>
        </p:txBody>
      </p:sp>
      <p:sp>
        <p:nvSpPr>
          <p:cNvPr id="32" name="Shape 29"/>
          <p:cNvSpPr/>
          <p:nvPr/>
        </p:nvSpPr>
        <p:spPr>
          <a:xfrm>
            <a:off x="6080760" y="6245352"/>
            <a:ext cx="3657600" cy="493776"/>
          </a:xfrm>
          <a:prstGeom prst="line">
            <a:avLst/>
          </a:prstGeom>
          <a:noFill/>
          <a:ln w="28575">
            <a:solidFill>
              <a:srgbClr val="1E2A5C"/>
            </a:solidFill>
            <a:prstDash val="dash"/>
            <a:tailEnd type="triangle"/>
          </a:ln>
        </p:spPr>
        <p:txBody>
          <a:bodyPr/>
          <a:lstStyle/>
          <a:p>
            <a:endParaRPr lang="ko-KR" altLang="en-US"/>
          </a:p>
        </p:txBody>
      </p:sp>
      <p:sp>
        <p:nvSpPr>
          <p:cNvPr id="33" name="Shape 30"/>
          <p:cNvSpPr/>
          <p:nvPr/>
        </p:nvSpPr>
        <p:spPr>
          <a:xfrm>
            <a:off x="9921240" y="6245352"/>
            <a:ext cx="777240" cy="493776"/>
          </a:xfrm>
          <a:prstGeom prst="line">
            <a:avLst/>
          </a:prstGeom>
          <a:noFill/>
          <a:ln w="28575">
            <a:solidFill>
              <a:srgbClr val="1E2A5C"/>
            </a:solidFill>
            <a:prstDash val="dash"/>
            <a:tailEnd type="triangle"/>
          </a:ln>
        </p:spPr>
        <p:txBody>
          <a:bodyPr/>
          <a:lstStyle/>
          <a:p>
            <a:endParaRPr lang="ko-KR" altLang="en-US"/>
          </a:p>
        </p:txBody>
      </p:sp>
      <p:sp>
        <p:nvSpPr>
          <p:cNvPr id="34" name="Shape 31"/>
          <p:cNvSpPr/>
          <p:nvPr/>
        </p:nvSpPr>
        <p:spPr>
          <a:xfrm flipH="1">
            <a:off x="11658600" y="6245352"/>
            <a:ext cx="1074420" cy="493776"/>
          </a:xfrm>
          <a:prstGeom prst="line">
            <a:avLst/>
          </a:prstGeom>
          <a:noFill/>
          <a:ln w="28575">
            <a:solidFill>
              <a:srgbClr val="1E2A5C"/>
            </a:solidFill>
            <a:prstDash val="dash"/>
            <a:tailEnd type="triangle"/>
          </a:ln>
        </p:spPr>
        <p:txBody>
          <a:bodyPr/>
          <a:lstStyle/>
          <a:p>
            <a:endParaRPr lang="ko-KR" altLang="en-US"/>
          </a:p>
        </p:txBody>
      </p:sp>
      <p:sp>
        <p:nvSpPr>
          <p:cNvPr id="35" name="Shape 32"/>
          <p:cNvSpPr/>
          <p:nvPr/>
        </p:nvSpPr>
        <p:spPr>
          <a:xfrm>
            <a:off x="8641080" y="2926080"/>
            <a:ext cx="457200" cy="0"/>
          </a:xfrm>
          <a:prstGeom prst="line">
            <a:avLst/>
          </a:prstGeom>
          <a:noFill/>
          <a:ln w="28575">
            <a:solidFill>
              <a:srgbClr val="1E2A5C"/>
            </a:solidFill>
            <a:prstDash val="dash"/>
            <a:tailEnd type="triangle"/>
          </a:ln>
        </p:spPr>
        <p:txBody>
          <a:bodyPr/>
          <a:lstStyle/>
          <a:p>
            <a:endParaRPr lang="ko-KR" altLang="en-US"/>
          </a:p>
        </p:txBody>
      </p:sp>
      <p:sp>
        <p:nvSpPr>
          <p:cNvPr id="36" name="Shape 33"/>
          <p:cNvSpPr/>
          <p:nvPr/>
        </p:nvSpPr>
        <p:spPr>
          <a:xfrm flipH="1">
            <a:off x="2468880" y="3291840"/>
            <a:ext cx="4846320" cy="548640"/>
          </a:xfrm>
          <a:prstGeom prst="line">
            <a:avLst/>
          </a:prstGeom>
          <a:noFill/>
          <a:ln w="15875">
            <a:solidFill>
              <a:srgbClr val="4A5364"/>
            </a:solidFill>
            <a:prstDash val="solid"/>
            <a:tailEnd type="triangle"/>
          </a:ln>
        </p:spPr>
        <p:txBody>
          <a:bodyPr/>
          <a:lstStyle/>
          <a:p>
            <a:endParaRPr lang="ko-KR" altLang="en-US"/>
          </a:p>
        </p:txBody>
      </p:sp>
      <p:sp>
        <p:nvSpPr>
          <p:cNvPr id="37" name="Shape 34"/>
          <p:cNvSpPr/>
          <p:nvPr/>
        </p:nvSpPr>
        <p:spPr>
          <a:xfrm flipH="1">
            <a:off x="5623560" y="3291840"/>
            <a:ext cx="1691640" cy="548640"/>
          </a:xfrm>
          <a:prstGeom prst="line">
            <a:avLst/>
          </a:prstGeom>
          <a:noFill/>
          <a:ln w="15875">
            <a:solidFill>
              <a:srgbClr val="4A5364"/>
            </a:solidFill>
            <a:prstDash val="solid"/>
            <a:tailEnd type="triangle"/>
          </a:ln>
        </p:spPr>
        <p:txBody>
          <a:bodyPr/>
          <a:lstStyle/>
          <a:p>
            <a:endParaRPr lang="ko-KR" altLang="en-US"/>
          </a:p>
        </p:txBody>
      </p:sp>
      <p:sp>
        <p:nvSpPr>
          <p:cNvPr id="38" name="Shape 35"/>
          <p:cNvSpPr/>
          <p:nvPr/>
        </p:nvSpPr>
        <p:spPr>
          <a:xfrm>
            <a:off x="7315200" y="3291840"/>
            <a:ext cx="2148840" cy="548640"/>
          </a:xfrm>
          <a:prstGeom prst="line">
            <a:avLst/>
          </a:prstGeom>
          <a:noFill/>
          <a:ln w="15875">
            <a:solidFill>
              <a:srgbClr val="4A5364"/>
            </a:solidFill>
            <a:prstDash val="solid"/>
            <a:tailEnd type="triangle"/>
          </a:ln>
        </p:spPr>
        <p:txBody>
          <a:bodyPr/>
          <a:lstStyle/>
          <a:p>
            <a:endParaRPr lang="ko-KR" altLang="en-US"/>
          </a:p>
        </p:txBody>
      </p:sp>
      <p:sp>
        <p:nvSpPr>
          <p:cNvPr id="39" name="Shape 36"/>
          <p:cNvSpPr/>
          <p:nvPr/>
        </p:nvSpPr>
        <p:spPr>
          <a:xfrm>
            <a:off x="7315200" y="3291840"/>
            <a:ext cx="5417820" cy="548640"/>
          </a:xfrm>
          <a:prstGeom prst="line">
            <a:avLst/>
          </a:prstGeom>
          <a:noFill/>
          <a:ln w="15875">
            <a:solidFill>
              <a:srgbClr val="4A5364"/>
            </a:solidFill>
            <a:prstDash val="solid"/>
            <a:tailEnd type="triangle"/>
          </a:ln>
        </p:spPr>
        <p:txBody>
          <a:bodyPr/>
          <a:lstStyle/>
          <a:p>
            <a:endParaRPr lang="ko-KR" altLang="en-US"/>
          </a:p>
        </p:txBody>
      </p:sp>
      <p:sp>
        <p:nvSpPr>
          <p:cNvPr id="40" name="Shape 37"/>
          <p:cNvSpPr/>
          <p:nvPr/>
        </p:nvSpPr>
        <p:spPr>
          <a:xfrm flipH="1">
            <a:off x="1783080" y="4544568"/>
            <a:ext cx="411480" cy="598932"/>
          </a:xfrm>
          <a:prstGeom prst="line">
            <a:avLst/>
          </a:prstGeom>
          <a:noFill/>
          <a:ln w="15875">
            <a:solidFill>
              <a:srgbClr val="4A5364"/>
            </a:solidFill>
            <a:prstDash val="solid"/>
            <a:tailEnd type="triangle"/>
          </a:ln>
        </p:spPr>
        <p:txBody>
          <a:bodyPr/>
          <a:lstStyle/>
          <a:p>
            <a:endParaRPr lang="ko-KR" altLang="en-US"/>
          </a:p>
        </p:txBody>
      </p:sp>
      <p:sp>
        <p:nvSpPr>
          <p:cNvPr id="41" name="Shape 38"/>
          <p:cNvSpPr/>
          <p:nvPr/>
        </p:nvSpPr>
        <p:spPr>
          <a:xfrm>
            <a:off x="2743200" y="4544568"/>
            <a:ext cx="411480" cy="598932"/>
          </a:xfrm>
          <a:prstGeom prst="line">
            <a:avLst/>
          </a:prstGeom>
          <a:noFill/>
          <a:ln w="15875">
            <a:solidFill>
              <a:srgbClr val="4A5364"/>
            </a:solidFill>
            <a:prstDash val="solid"/>
            <a:tailEnd type="triangle"/>
          </a:ln>
        </p:spPr>
        <p:txBody>
          <a:bodyPr/>
          <a:lstStyle/>
          <a:p>
            <a:endParaRPr lang="ko-KR" altLang="en-US"/>
          </a:p>
        </p:txBody>
      </p:sp>
      <p:sp>
        <p:nvSpPr>
          <p:cNvPr id="42" name="Shape 39"/>
          <p:cNvSpPr/>
          <p:nvPr/>
        </p:nvSpPr>
        <p:spPr>
          <a:xfrm flipH="1">
            <a:off x="4937760" y="4544568"/>
            <a:ext cx="411480" cy="598932"/>
          </a:xfrm>
          <a:prstGeom prst="line">
            <a:avLst/>
          </a:prstGeom>
          <a:noFill/>
          <a:ln w="15875">
            <a:solidFill>
              <a:srgbClr val="4A5364"/>
            </a:solidFill>
            <a:prstDash val="solid"/>
            <a:tailEnd type="triangle"/>
          </a:ln>
        </p:spPr>
        <p:txBody>
          <a:bodyPr/>
          <a:lstStyle/>
          <a:p>
            <a:endParaRPr lang="ko-KR" altLang="en-US"/>
          </a:p>
        </p:txBody>
      </p:sp>
      <p:sp>
        <p:nvSpPr>
          <p:cNvPr id="43" name="Shape 40"/>
          <p:cNvSpPr/>
          <p:nvPr/>
        </p:nvSpPr>
        <p:spPr>
          <a:xfrm>
            <a:off x="5897880" y="4544568"/>
            <a:ext cx="411480" cy="598932"/>
          </a:xfrm>
          <a:prstGeom prst="line">
            <a:avLst/>
          </a:prstGeom>
          <a:noFill/>
          <a:ln w="15875">
            <a:solidFill>
              <a:srgbClr val="4A5364"/>
            </a:solidFill>
            <a:prstDash val="solid"/>
            <a:tailEnd type="triangle"/>
          </a:ln>
        </p:spPr>
        <p:txBody>
          <a:bodyPr/>
          <a:lstStyle/>
          <a:p>
            <a:endParaRPr lang="ko-KR" altLang="en-US"/>
          </a:p>
        </p:txBody>
      </p:sp>
      <p:sp>
        <p:nvSpPr>
          <p:cNvPr id="44" name="Shape 41"/>
          <p:cNvSpPr/>
          <p:nvPr/>
        </p:nvSpPr>
        <p:spPr>
          <a:xfrm flipH="1">
            <a:off x="8092440" y="4544568"/>
            <a:ext cx="960120" cy="598932"/>
          </a:xfrm>
          <a:prstGeom prst="line">
            <a:avLst/>
          </a:prstGeom>
          <a:noFill/>
          <a:ln w="15875">
            <a:solidFill>
              <a:srgbClr val="4A5364"/>
            </a:solidFill>
            <a:prstDash val="solid"/>
            <a:tailEnd type="triangle"/>
          </a:ln>
        </p:spPr>
        <p:txBody>
          <a:bodyPr/>
          <a:lstStyle/>
          <a:p>
            <a:endParaRPr lang="ko-KR" altLang="en-US"/>
          </a:p>
        </p:txBody>
      </p:sp>
      <p:sp>
        <p:nvSpPr>
          <p:cNvPr id="45" name="Shape 42"/>
          <p:cNvSpPr/>
          <p:nvPr/>
        </p:nvSpPr>
        <p:spPr>
          <a:xfrm>
            <a:off x="9464040" y="4544568"/>
            <a:ext cx="0" cy="598932"/>
          </a:xfrm>
          <a:prstGeom prst="line">
            <a:avLst/>
          </a:prstGeom>
          <a:noFill/>
          <a:ln w="15875">
            <a:solidFill>
              <a:srgbClr val="4A5364"/>
            </a:solidFill>
            <a:prstDash val="solid"/>
            <a:tailEnd type="triangle"/>
          </a:ln>
        </p:spPr>
        <p:txBody>
          <a:bodyPr/>
          <a:lstStyle/>
          <a:p>
            <a:endParaRPr lang="ko-KR" altLang="en-US"/>
          </a:p>
        </p:txBody>
      </p:sp>
      <p:sp>
        <p:nvSpPr>
          <p:cNvPr id="46" name="Shape 43"/>
          <p:cNvSpPr/>
          <p:nvPr/>
        </p:nvSpPr>
        <p:spPr>
          <a:xfrm>
            <a:off x="9875520" y="4544568"/>
            <a:ext cx="960120" cy="598932"/>
          </a:xfrm>
          <a:prstGeom prst="line">
            <a:avLst/>
          </a:prstGeom>
          <a:noFill/>
          <a:ln w="15875">
            <a:solidFill>
              <a:srgbClr val="4A5364"/>
            </a:solidFill>
            <a:prstDash val="solid"/>
            <a:tailEnd type="triangle"/>
          </a:ln>
        </p:spPr>
        <p:txBody>
          <a:bodyPr/>
          <a:lstStyle/>
          <a:p>
            <a:endParaRPr lang="ko-KR" altLang="en-US"/>
          </a:p>
        </p:txBody>
      </p:sp>
      <p:sp>
        <p:nvSpPr>
          <p:cNvPr id="47" name="Shape 44"/>
          <p:cNvSpPr/>
          <p:nvPr/>
        </p:nvSpPr>
        <p:spPr>
          <a:xfrm>
            <a:off x="12733020" y="4544568"/>
            <a:ext cx="0" cy="598932"/>
          </a:xfrm>
          <a:prstGeom prst="line">
            <a:avLst/>
          </a:prstGeom>
          <a:noFill/>
          <a:ln w="15875">
            <a:solidFill>
              <a:srgbClr val="4A5364"/>
            </a:solidFill>
            <a:prstDash val="solid"/>
            <a:tailEnd type="triangle"/>
          </a:ln>
        </p:spPr>
        <p:txBody>
          <a:bodyPr/>
          <a:lstStyle/>
          <a:p>
            <a:endParaRPr lang="ko-KR" altLang="en-US"/>
          </a:p>
        </p:txBody>
      </p:sp>
      <p:sp>
        <p:nvSpPr>
          <p:cNvPr id="48" name="Shape 45"/>
          <p:cNvSpPr/>
          <p:nvPr/>
        </p:nvSpPr>
        <p:spPr>
          <a:xfrm>
            <a:off x="1463954" y="4829495"/>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49" name="Text 46"/>
          <p:cNvSpPr txBox="1"/>
          <p:nvPr/>
        </p:nvSpPr>
        <p:spPr>
          <a:xfrm>
            <a:off x="1463954" y="4829495"/>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0" name="Shape 47"/>
          <p:cNvSpPr/>
          <p:nvPr/>
        </p:nvSpPr>
        <p:spPr>
          <a:xfrm>
            <a:off x="2605126" y="4829495"/>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51" name="Text 48"/>
          <p:cNvSpPr txBox="1"/>
          <p:nvPr/>
        </p:nvSpPr>
        <p:spPr>
          <a:xfrm>
            <a:off x="2605126" y="4829495"/>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2" name="Shape 49"/>
          <p:cNvSpPr/>
          <p:nvPr/>
        </p:nvSpPr>
        <p:spPr>
          <a:xfrm>
            <a:off x="4457700" y="3419856"/>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53" name="Text 50"/>
          <p:cNvSpPr txBox="1"/>
          <p:nvPr/>
        </p:nvSpPr>
        <p:spPr>
          <a:xfrm>
            <a:off x="4457700" y="3419856"/>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54" name="Shape 51"/>
          <p:cNvSpPr/>
          <p:nvPr/>
        </p:nvSpPr>
        <p:spPr>
          <a:xfrm>
            <a:off x="4687214" y="4829495"/>
            <a:ext cx="73152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55" name="Text 52"/>
          <p:cNvSpPr txBox="1"/>
          <p:nvPr/>
        </p:nvSpPr>
        <p:spPr>
          <a:xfrm>
            <a:off x="4687214" y="4829495"/>
            <a:ext cx="73152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56" name="Shape 53"/>
          <p:cNvSpPr/>
          <p:nvPr/>
        </p:nvSpPr>
        <p:spPr>
          <a:xfrm>
            <a:off x="5759806" y="4829495"/>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57" name="Text 54"/>
          <p:cNvSpPr txBox="1"/>
          <p:nvPr/>
        </p:nvSpPr>
        <p:spPr>
          <a:xfrm>
            <a:off x="5759806" y="4829495"/>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8" name="Shape 55"/>
          <p:cNvSpPr/>
          <p:nvPr/>
        </p:nvSpPr>
        <p:spPr>
          <a:xfrm>
            <a:off x="6035040" y="3419856"/>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59" name="Text 56"/>
          <p:cNvSpPr txBox="1"/>
          <p:nvPr/>
        </p:nvSpPr>
        <p:spPr>
          <a:xfrm>
            <a:off x="6035040" y="3419856"/>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60" name="Shape 57"/>
          <p:cNvSpPr/>
          <p:nvPr/>
        </p:nvSpPr>
        <p:spPr>
          <a:xfrm>
            <a:off x="7995514" y="4829495"/>
            <a:ext cx="73152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61" name="Text 58"/>
          <p:cNvSpPr txBox="1"/>
          <p:nvPr/>
        </p:nvSpPr>
        <p:spPr>
          <a:xfrm>
            <a:off x="7995514" y="4829495"/>
            <a:ext cx="73152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기한 둠</a:t>
            </a:r>
            <a:endParaRPr lang="en-US" sz="1400" dirty="0"/>
          </a:p>
        </p:txBody>
      </p:sp>
      <p:sp>
        <p:nvSpPr>
          <p:cNvPr id="62" name="Shape 59"/>
          <p:cNvSpPr/>
          <p:nvPr/>
        </p:nvSpPr>
        <p:spPr>
          <a:xfrm>
            <a:off x="9098280" y="4829495"/>
            <a:ext cx="73152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63" name="Text 60"/>
          <p:cNvSpPr txBox="1"/>
          <p:nvPr/>
        </p:nvSpPr>
        <p:spPr>
          <a:xfrm>
            <a:off x="9098280" y="4829495"/>
            <a:ext cx="73152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64" name="Shape 61"/>
          <p:cNvSpPr/>
          <p:nvPr/>
        </p:nvSpPr>
        <p:spPr>
          <a:xfrm>
            <a:off x="10132466" y="4829495"/>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65" name="Text 62"/>
          <p:cNvSpPr txBox="1"/>
          <p:nvPr/>
        </p:nvSpPr>
        <p:spPr>
          <a:xfrm>
            <a:off x="10132466" y="4829495"/>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66" name="Shape 63"/>
          <p:cNvSpPr/>
          <p:nvPr/>
        </p:nvSpPr>
        <p:spPr>
          <a:xfrm>
            <a:off x="7955280" y="3419856"/>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67" name="Text 64"/>
          <p:cNvSpPr txBox="1"/>
          <p:nvPr/>
        </p:nvSpPr>
        <p:spPr>
          <a:xfrm>
            <a:off x="7955280" y="3419856"/>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68" name="Shape 65"/>
          <p:cNvSpPr/>
          <p:nvPr/>
        </p:nvSpPr>
        <p:spPr>
          <a:xfrm>
            <a:off x="12367260" y="4829495"/>
            <a:ext cx="73152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69" name="Text 66"/>
          <p:cNvSpPr txBox="1"/>
          <p:nvPr/>
        </p:nvSpPr>
        <p:spPr>
          <a:xfrm>
            <a:off x="12367260" y="4829495"/>
            <a:ext cx="73152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70" name="Shape 67"/>
          <p:cNvSpPr/>
          <p:nvPr/>
        </p:nvSpPr>
        <p:spPr>
          <a:xfrm>
            <a:off x="9589770" y="3419856"/>
            <a:ext cx="868680" cy="292608"/>
          </a:xfrm>
          <a:prstGeom prst="roundRect">
            <a:avLst>
              <a:gd name="adj" fmla="val 18750"/>
            </a:avLst>
          </a:prstGeom>
          <a:solidFill>
            <a:srgbClr val="FFFFFF"/>
          </a:solidFill>
          <a:ln w="9525">
            <a:solidFill>
              <a:srgbClr val="4A5364"/>
            </a:solidFill>
            <a:prstDash val="solid"/>
          </a:ln>
        </p:spPr>
        <p:txBody>
          <a:bodyPr/>
          <a:lstStyle/>
          <a:p>
            <a:endParaRPr lang="ko-KR" altLang="en-US"/>
          </a:p>
        </p:txBody>
      </p:sp>
      <p:sp>
        <p:nvSpPr>
          <p:cNvPr id="71" name="Text 68"/>
          <p:cNvSpPr txBox="1"/>
          <p:nvPr/>
        </p:nvSpPr>
        <p:spPr>
          <a:xfrm>
            <a:off x="9589770" y="3419856"/>
            <a:ext cx="868680" cy="292608"/>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72" name="Shape 69"/>
          <p:cNvSpPr/>
          <p:nvPr/>
        </p:nvSpPr>
        <p:spPr>
          <a:xfrm>
            <a:off x="4846320" y="6300216"/>
            <a:ext cx="4937760" cy="292608"/>
          </a:xfrm>
          <a:prstGeom prst="roundRect">
            <a:avLst>
              <a:gd name="adj" fmla="val 18750"/>
            </a:avLst>
          </a:prstGeom>
          <a:solidFill>
            <a:srgbClr val="FFFFFF"/>
          </a:solidFill>
          <a:ln w="9525">
            <a:solidFill>
              <a:srgbClr val="1E2A5C"/>
            </a:solidFill>
            <a:prstDash val="solid"/>
          </a:ln>
        </p:spPr>
        <p:txBody>
          <a:bodyPr/>
          <a:lstStyle/>
          <a:p>
            <a:endParaRPr lang="ko-KR" altLang="en-US"/>
          </a:p>
        </p:txBody>
      </p:sp>
      <p:sp>
        <p:nvSpPr>
          <p:cNvPr id="73" name="Text 70"/>
          <p:cNvSpPr txBox="1"/>
          <p:nvPr/>
        </p:nvSpPr>
        <p:spPr>
          <a:xfrm>
            <a:off x="4846320" y="6300216"/>
            <a:ext cx="4937760" cy="292608"/>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FROM_CHUNK: 엔티티 그래프의 모든 엔티티 → 나온 청크</a:t>
            </a:r>
            <a:endParaRPr lang="en-US" sz="1400" dirty="0"/>
          </a:p>
        </p:txBody>
      </p:sp>
      <p:sp>
        <p:nvSpPr>
          <p:cNvPr id="74" name="Shape 71"/>
          <p:cNvSpPr/>
          <p:nvPr/>
        </p:nvSpPr>
        <p:spPr>
          <a:xfrm>
            <a:off x="9098280" y="2779776"/>
            <a:ext cx="3474720" cy="292608"/>
          </a:xfrm>
          <a:prstGeom prst="roundRect">
            <a:avLst>
              <a:gd name="adj" fmla="val 18750"/>
            </a:avLst>
          </a:prstGeom>
          <a:solidFill>
            <a:srgbClr val="FFFFFF"/>
          </a:solidFill>
          <a:ln w="9525">
            <a:solidFill>
              <a:srgbClr val="1E2A5C"/>
            </a:solidFill>
            <a:prstDash val="solid"/>
          </a:ln>
        </p:spPr>
        <p:txBody>
          <a:bodyPr/>
          <a:lstStyle/>
          <a:p>
            <a:endParaRPr lang="ko-KR" altLang="en-US"/>
          </a:p>
        </p:txBody>
      </p:sp>
      <p:sp>
        <p:nvSpPr>
          <p:cNvPr id="75" name="Text 72"/>
          <p:cNvSpPr txBox="1"/>
          <p:nvPr/>
        </p:nvSpPr>
        <p:spPr>
          <a:xfrm>
            <a:off x="9098280" y="2779776"/>
            <a:ext cx="3474720" cy="292608"/>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FROM_CHUNK: 청크 a4fd…, 112f… 둘 다</a:t>
            </a:r>
            <a:endParaRPr lang="en-US" sz="1400" dirty="0"/>
          </a:p>
        </p:txBody>
      </p:sp>
      <p:sp>
        <p:nvSpPr>
          <p:cNvPr id="76" name="Text 73"/>
          <p:cNvSpPr/>
          <p:nvPr/>
        </p:nvSpPr>
        <p:spPr>
          <a:xfrm>
            <a:off x="5989320" y="2560320"/>
            <a:ext cx="2651760" cy="73152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약관 문서</a:t>
            </a:r>
            <a:endParaRPr lang="en-US" sz="1400" dirty="0"/>
          </a:p>
          <a:p>
            <a:pPr marL="0" indent="0" algn="ctr">
              <a:buNone/>
            </a:pPr>
            <a:r>
              <a:rPr lang="ko-KR" altLang="en-US" sz="1400" dirty="0">
                <a:solidFill>
                  <a:srgbClr val="2B3242"/>
                </a:solidFill>
                <a:latin typeface="Pretendard" pitchFamily="34" charset="0"/>
                <a:ea typeface="Pretendard" pitchFamily="34" charset="-122"/>
                <a:cs typeface="Pretendard" pitchFamily="34" charset="-120"/>
              </a:rPr>
              <a:t>버전</a:t>
            </a:r>
            <a:r>
              <a:rPr lang="en-US" sz="1400" dirty="0">
                <a:solidFill>
                  <a:srgbClr val="2B3242"/>
                </a:solidFill>
                <a:latin typeface="Pretendard" pitchFamily="34" charset="0"/>
                <a:ea typeface="Pretendard" pitchFamily="34" charset="-122"/>
                <a:cs typeface="Pretendard" pitchFamily="34" charset="-120"/>
              </a:rPr>
              <a:t>1.2,시행 2027-01-15</a:t>
            </a:r>
            <a:endParaRPr lang="en-US" sz="1400" dirty="0"/>
          </a:p>
        </p:txBody>
      </p:sp>
      <p:sp>
        <p:nvSpPr>
          <p:cNvPr id="77" name="Text 74"/>
          <p:cNvSpPr/>
          <p:nvPr/>
        </p:nvSpPr>
        <p:spPr>
          <a:xfrm>
            <a:off x="2743200" y="6739128"/>
            <a:ext cx="2377440" cy="676656"/>
          </a:xfrm>
          <a:prstGeom prst="roundRect">
            <a:avLst>
              <a:gd name="adj" fmla="val 16216"/>
            </a:avLst>
          </a:prstGeom>
          <a:solidFill>
            <a:srgbClr val="1E2A5C"/>
          </a:solid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청크 노드 (Chunk)</a:t>
            </a:r>
            <a:endParaRPr lang="en-US" sz="14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엔티티 아님, 검색 청크 a4fd…</a:t>
            </a:r>
            <a:endParaRPr lang="en-US" sz="1400" dirty="0"/>
          </a:p>
        </p:txBody>
      </p:sp>
      <p:sp>
        <p:nvSpPr>
          <p:cNvPr id="78" name="Text 75"/>
          <p:cNvSpPr/>
          <p:nvPr/>
        </p:nvSpPr>
        <p:spPr>
          <a:xfrm>
            <a:off x="9509760" y="6739128"/>
            <a:ext cx="2377440" cy="676656"/>
          </a:xfrm>
          <a:prstGeom prst="roundRect">
            <a:avLst>
              <a:gd name="adj" fmla="val 16216"/>
            </a:avLst>
          </a:prstGeom>
          <a:solidFill>
            <a:srgbClr val="1E2A5C"/>
          </a:solid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청크 노드 (Chunk)</a:t>
            </a:r>
            <a:endParaRPr lang="en-US" sz="14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엔티티 아님, 검색 청크 112f…</a:t>
            </a:r>
            <a:endParaRPr lang="en-US" sz="1400" dirty="0"/>
          </a:p>
        </p:txBody>
      </p:sp>
      <p:sp>
        <p:nvSpPr>
          <p:cNvPr id="79" name="Text 76"/>
          <p:cNvSpPr/>
          <p:nvPr/>
        </p:nvSpPr>
        <p:spPr>
          <a:xfrm>
            <a:off x="1623060" y="3840480"/>
            <a:ext cx="1691640" cy="73152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제15조</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승인과 취소</a:t>
            </a:r>
            <a:endParaRPr lang="en-US" sz="1400" dirty="0"/>
          </a:p>
        </p:txBody>
      </p:sp>
      <p:sp>
        <p:nvSpPr>
          <p:cNvPr id="80" name="Text 77"/>
          <p:cNvSpPr/>
          <p:nvPr/>
        </p:nvSpPr>
        <p:spPr>
          <a:xfrm>
            <a:off x="114300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승인 시 기록</a:t>
            </a:r>
            <a:endParaRPr lang="en-US" sz="1400" dirty="0"/>
          </a:p>
        </p:txBody>
      </p:sp>
      <p:sp>
        <p:nvSpPr>
          <p:cNvPr id="81" name="Text 78"/>
          <p:cNvSpPr/>
          <p:nvPr/>
        </p:nvSpPr>
        <p:spPr>
          <a:xfrm>
            <a:off x="251460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결제 이월</a:t>
            </a:r>
            <a:endParaRPr lang="en-US" sz="1400" dirty="0"/>
          </a:p>
        </p:txBody>
      </p:sp>
      <p:sp>
        <p:nvSpPr>
          <p:cNvPr id="82" name="Text 79"/>
          <p:cNvSpPr/>
          <p:nvPr/>
        </p:nvSpPr>
        <p:spPr>
          <a:xfrm>
            <a:off x="4777740" y="3840480"/>
            <a:ext cx="1691640" cy="73152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제16조</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할부 거래</a:t>
            </a:r>
            <a:endParaRPr lang="en-US" sz="1400" dirty="0"/>
          </a:p>
        </p:txBody>
      </p:sp>
      <p:sp>
        <p:nvSpPr>
          <p:cNvPr id="83" name="Text 80"/>
          <p:cNvSpPr/>
          <p:nvPr/>
        </p:nvSpPr>
        <p:spPr>
          <a:xfrm>
            <a:off x="429768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승인 전 표시</a:t>
            </a:r>
            <a:endParaRPr lang="en-US" sz="1400" dirty="0"/>
          </a:p>
        </p:txBody>
      </p:sp>
      <p:sp>
        <p:nvSpPr>
          <p:cNvPr id="84" name="Text 81"/>
          <p:cNvSpPr/>
          <p:nvPr/>
        </p:nvSpPr>
        <p:spPr>
          <a:xfrm>
            <a:off x="566928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선납 재계산</a:t>
            </a:r>
            <a:endParaRPr lang="en-US" sz="1400" dirty="0"/>
          </a:p>
        </p:txBody>
      </p:sp>
      <p:sp>
        <p:nvSpPr>
          <p:cNvPr id="85" name="Text 82"/>
          <p:cNvSpPr/>
          <p:nvPr/>
        </p:nvSpPr>
        <p:spPr>
          <a:xfrm>
            <a:off x="8618220" y="3840480"/>
            <a:ext cx="1691640" cy="73152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제16조의2</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철회 요청</a:t>
            </a:r>
            <a:endParaRPr lang="en-US" sz="1400" dirty="0"/>
          </a:p>
        </p:txBody>
      </p:sp>
      <p:sp>
        <p:nvSpPr>
          <p:cNvPr id="86" name="Text 83"/>
          <p:cNvSpPr/>
          <p:nvPr/>
        </p:nvSpPr>
        <p:spPr>
          <a:xfrm>
            <a:off x="745236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기한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7일 내 철회</a:t>
            </a:r>
            <a:endParaRPr lang="en-US" sz="1400" dirty="0"/>
          </a:p>
        </p:txBody>
      </p:sp>
      <p:sp>
        <p:nvSpPr>
          <p:cNvPr id="87" name="Text 84"/>
          <p:cNvSpPr/>
          <p:nvPr/>
        </p:nvSpPr>
        <p:spPr>
          <a:xfrm>
            <a:off x="882396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철회 제한</a:t>
            </a:r>
            <a:endParaRPr lang="en-US" sz="1400" dirty="0"/>
          </a:p>
        </p:txBody>
      </p:sp>
      <p:sp>
        <p:nvSpPr>
          <p:cNvPr id="88" name="Text 85"/>
          <p:cNvSpPr/>
          <p:nvPr/>
        </p:nvSpPr>
        <p:spPr>
          <a:xfrm>
            <a:off x="1019556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사유 안내</a:t>
            </a:r>
            <a:endParaRPr lang="en-US" sz="1400" dirty="0"/>
          </a:p>
        </p:txBody>
      </p:sp>
      <p:sp>
        <p:nvSpPr>
          <p:cNvPr id="89" name="Text 86"/>
          <p:cNvSpPr/>
          <p:nvPr/>
        </p:nvSpPr>
        <p:spPr>
          <a:xfrm>
            <a:off x="11887200" y="3840480"/>
            <a:ext cx="1691640" cy="73152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제17조</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부가서비스 이용</a:t>
            </a:r>
            <a:endParaRPr lang="en-US" sz="1400" dirty="0"/>
          </a:p>
        </p:txBody>
      </p:sp>
      <p:sp>
        <p:nvSpPr>
          <p:cNvPr id="90" name="Text 87"/>
          <p:cNvSpPr/>
          <p:nvPr/>
        </p:nvSpPr>
        <p:spPr>
          <a:xfrm>
            <a:off x="12092940" y="5143500"/>
            <a:ext cx="1280160" cy="777240"/>
          </a:xfrm>
          <a:prstGeom prst="ellipse">
            <a:avLst/>
          </a:prstGeom>
          <a:solidFill>
            <a:srgbClr val="EEF3FA"/>
          </a:solidFill>
          <a:ln w="15875">
            <a:solidFill>
              <a:srgbClr val="2E74C6"/>
            </a:solidFill>
          </a:ln>
        </p:spPr>
        <p:txBody>
          <a:bodyPr wrap="square" lIns="0" tIns="0" rIns="0" bIns="0"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전월 실적</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K1. </a:t>
            </a:r>
            <a:r>
              <a:rPr lang="en-US" altLang="ko-KR" dirty="0" err="1">
                <a:solidFill>
                  <a:srgbClr val="2C2926"/>
                </a:solidFill>
                <a:latin typeface="Pretendard" pitchFamily="34" charset="0"/>
                <a:ea typeface="Pretendard" pitchFamily="34" charset="-122"/>
                <a:cs typeface="Pretendard" pitchFamily="34" charset="-120"/>
              </a:rPr>
              <a:t>추출</a:t>
            </a:r>
            <a:r>
              <a:rPr lang="en-US" altLang="ko-KR" dirty="0">
                <a:solidFill>
                  <a:srgbClr val="2C2926"/>
                </a:solidFill>
                <a:latin typeface="Pretendard" pitchFamily="34" charset="0"/>
                <a:ea typeface="Pretendard" pitchFamily="34" charset="-122"/>
                <a:cs typeface="Pretendard" pitchFamily="34" charset="-120"/>
              </a:rPr>
              <a:t> </a:t>
            </a:r>
            <a:r>
              <a:rPr lang="en-US" altLang="ko-KR" dirty="0" err="1">
                <a:solidFill>
                  <a:srgbClr val="2C2926"/>
                </a:solidFill>
                <a:latin typeface="Pretendard" pitchFamily="34" charset="0"/>
                <a:ea typeface="Pretendard" pitchFamily="34" charset="-122"/>
                <a:cs typeface="Pretendard" pitchFamily="34" charset="-120"/>
              </a:rPr>
              <a:t>단위</a:t>
            </a:r>
            <a:r>
              <a:rPr lang="en-US" altLang="ko-KR" dirty="0">
                <a:solidFill>
                  <a:srgbClr val="2C2926"/>
                </a:solidFill>
                <a:latin typeface="Pretendard" pitchFamily="34" charset="0"/>
                <a:ea typeface="Pretendard" pitchFamily="34" charset="-122"/>
                <a:cs typeface="Pretendard" pitchFamily="34" charset="-120"/>
              </a:rPr>
              <a:t> </a:t>
            </a:r>
            <a:r>
              <a:rPr lang="en-US" altLang="ko-KR" dirty="0" err="1">
                <a:solidFill>
                  <a:srgbClr val="2C2926"/>
                </a:solidFill>
                <a:latin typeface="Pretendard" pitchFamily="34" charset="0"/>
                <a:ea typeface="Pretendard" pitchFamily="34" charset="-122"/>
                <a:cs typeface="Pretendard" pitchFamily="34" charset="-120"/>
              </a:rPr>
              <a:t>나누기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제목 줄과 본문 시작 표시로 조항을 자르고, 겹친 조항은 합치면서 나온 청크 ID를 모음</a:t>
            </a:r>
            <a:endParaRPr lang="en-US" sz="1800" dirty="0"/>
          </a:p>
        </p:txBody>
      </p:sp>
      <p:sp>
        <p:nvSpPr>
          <p:cNvPr id="5" name="Shape 2"/>
          <p:cNvSpPr/>
          <p:nvPr/>
        </p:nvSpPr>
        <p:spPr>
          <a:xfrm>
            <a:off x="509321" y="1737360"/>
            <a:ext cx="7452360" cy="5532120"/>
          </a:xfrm>
          <a:prstGeom prst="roundRect">
            <a:avLst>
              <a:gd name="adj" fmla="val 992"/>
            </a:avLst>
          </a:prstGeom>
          <a:solidFill>
            <a:srgbClr val="F5F8FC"/>
          </a:solidFill>
          <a:ln w="12700">
            <a:solidFill>
              <a:srgbClr val="D9E0EC"/>
            </a:solidFill>
            <a:prstDash val="solid"/>
          </a:ln>
        </p:spPr>
        <p:txBody>
          <a:bodyPr/>
          <a:lstStyle/>
          <a:p>
            <a:endParaRPr lang="ko-KR" altLang="en-US"/>
          </a:p>
        </p:txBody>
      </p:sp>
      <p:sp>
        <p:nvSpPr>
          <p:cNvPr id="6" name="Text 3"/>
          <p:cNvSpPr txBox="1"/>
          <p:nvPr/>
        </p:nvSpPr>
        <p:spPr>
          <a:xfrm>
            <a:off x="619049" y="1810512"/>
            <a:ext cx="7232904" cy="310896"/>
          </a:xfrm>
          <a:prstGeom prst="rect">
            <a:avLst/>
          </a:prstGeom>
          <a:noFill/>
          <a:ln/>
        </p:spPr>
        <p:txBody>
          <a:bodyPr wrap="square" lIns="762" tIns="762" rIns="762" bIns="762" rtlCol="0" anchor="ctr"/>
          <a:lstStyle/>
          <a:p>
            <a:pPr marL="0" indent="0" algn="l">
              <a:buNone/>
            </a:pPr>
            <a:r>
              <a:rPr lang="ko-KR" altLang="en-US" sz="1400" b="1" dirty="0"/>
              <a:t>조항 나누기 코드 예제</a:t>
            </a:r>
            <a:endParaRPr lang="en-US" sz="1400" b="1" dirty="0"/>
          </a:p>
        </p:txBody>
      </p:sp>
      <p:sp>
        <p:nvSpPr>
          <p:cNvPr id="7" name="Text 4"/>
          <p:cNvSpPr txBox="1"/>
          <p:nvPr/>
        </p:nvSpPr>
        <p:spPr>
          <a:xfrm>
            <a:off x="619049" y="2139696"/>
            <a:ext cx="7232904" cy="50749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RULE = {"heading": r"^(제\d+조(?:의\d+)?)\(([^)]*)\)\s*$",  # 조항 제목 줄</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"body_start": "①",                     # 본문 시작 표시</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"drop_lines": r"^제\d+장\s"}           # 버릴 줄(장 제목)</a:t>
            </a:r>
            <a:endParaRPr lang="en-US" sz="1400" dirty="0"/>
          </a:p>
          <a:p>
            <a:pPr marL="0" indent="0">
              <a:lnSpc>
                <a:spcPct val="105000"/>
              </a:lnSpc>
              <a:buNone/>
            </a:pP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def _split_by_heading(chunk, rule):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heading = re.compile(rule["heading"])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drop = (re.compile(rule["drop_lines"])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if rule.get("drop_lines") else None)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lines = chunk["text"].split("\n")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nxt = lambda i: next((l.strip() for l in lines[i + 1:] if l.strip()),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 제목 줄이면서 다음 줄이 ①로 시작하는 줄만 시작점(차례 제외)</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starts = [i for i, l in enumerate(lines) if </a:t>
            </a:r>
            <a:r>
              <a:rPr lang="en-US" sz="1400" b="1" dirty="0">
                <a:solidFill>
                  <a:srgbClr val="2B3242"/>
                </a:solidFill>
                <a:latin typeface="Pretendard" pitchFamily="34" charset="0"/>
                <a:ea typeface="Pretendard" pitchFamily="34" charset="-122"/>
                <a:cs typeface="Pretendard" pitchFamily="34" charset="-120"/>
              </a:rPr>
              <a:t>heading.match(l.strip())</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and nxt(i).startswith(rule["body_start"])</a:t>
            </a:r>
            <a:r>
              <a:rPr lang="en-US" sz="1400" b="1" dirty="0">
                <a:solidFill>
                  <a:srgbClr val="2B3242"/>
                </a:solidFill>
                <a:latin typeface="Pretendard" pitchFamily="34" charset="0"/>
                <a:ea typeface="Pretendard" pitchFamily="34" charset="-122"/>
                <a:cs typeface="Pretendard" pitchFamily="34" charset="-120"/>
              </a:rPr>
              <a: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units =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k, i in enumerate(starts):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end = starts[k + 1] if k + 1 &lt; len(starts) else len(lines)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body = [l for l in lines[i:end]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if not (drop and drop.match(l.strip()))]</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 = heading.match(lines[i].strip()).group(1)   # 제16조의2</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units.append({"text": "\n".join(body).strip(), "key": no,</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"section_label": lines[i].strip()})</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units</a:t>
            </a:r>
            <a:endParaRPr lang="en-US" sz="1400" dirty="0"/>
          </a:p>
        </p:txBody>
      </p:sp>
      <p:sp>
        <p:nvSpPr>
          <p:cNvPr id="8" name="Shape 5"/>
          <p:cNvSpPr/>
          <p:nvPr/>
        </p:nvSpPr>
        <p:spPr>
          <a:xfrm>
            <a:off x="8236001" y="1737360"/>
            <a:ext cx="5897880" cy="3657600"/>
          </a:xfrm>
          <a:prstGeom prst="roundRect">
            <a:avLst>
              <a:gd name="adj" fmla="val 1500"/>
            </a:avLst>
          </a:prstGeom>
          <a:solidFill>
            <a:srgbClr val="F5F8FC"/>
          </a:solidFill>
          <a:ln w="12700">
            <a:solidFill>
              <a:srgbClr val="D9E0EC"/>
            </a:solidFill>
            <a:prstDash val="solid"/>
          </a:ln>
        </p:spPr>
        <p:txBody>
          <a:bodyPr/>
          <a:lstStyle/>
          <a:p>
            <a:endParaRPr lang="ko-KR" altLang="en-US"/>
          </a:p>
        </p:txBody>
      </p:sp>
      <p:sp>
        <p:nvSpPr>
          <p:cNvPr id="9" name="Text 6"/>
          <p:cNvSpPr txBox="1"/>
          <p:nvPr/>
        </p:nvSpPr>
        <p:spPr>
          <a:xfrm>
            <a:off x="8345729" y="1810512"/>
            <a:ext cx="567842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k1_split_units: 겹친 조항 합치기</a:t>
            </a:r>
            <a:endParaRPr lang="en-US" sz="1400" dirty="0"/>
          </a:p>
        </p:txBody>
      </p:sp>
      <p:sp>
        <p:nvSpPr>
          <p:cNvPr id="10" name="Text 7"/>
          <p:cNvSpPr txBox="1"/>
          <p:nvPr/>
        </p:nvSpPr>
        <p:spPr>
          <a:xfrm>
            <a:off x="8345729" y="2139696"/>
            <a:ext cx="5678424" cy="320040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def k1_split_units(chunks, schemas):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units, empty = {},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c in chunks:   # … 혜택, 상담은 청크 하나가 단위 하나</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p in _split_by_heading(c, rule):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uid = f"{base['doc_id']}#{p['key']}"</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old = units.get(uid)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if old is None: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units[uid] = {**base, "unit_id": uid, "text": p["text"],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"chunk_ids": [c["chunk_id"]]</a:t>
            </a:r>
            <a:r>
              <a:rPr lang="en-US" sz="1400" dirty="0">
                <a:solidFill>
                  <a:srgbClr val="2B3242"/>
                </a:solidFill>
                <a:latin typeface="Pretendard" pitchFamily="34" charset="0"/>
                <a:ea typeface="Pretendard" pitchFamily="34" charset="-122"/>
                <a:cs typeface="Pretendard" pitchFamily="34" charset="-120"/>
              </a:rPr>
              <a: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elif c["chunk_id"] not in old["chunk_ids"]:  # 겹친 조항</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keep = max(old["text"], p["text"], key=len)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old.update(text=keep, chunk_ids=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old["chunk_ids"] + [c["chunk_id"]])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list(units.values()), empty</a:t>
            </a:r>
            <a:endParaRPr lang="en-US" sz="1400" dirty="0"/>
          </a:p>
        </p:txBody>
      </p:sp>
      <p:sp>
        <p:nvSpPr>
          <p:cNvPr id="11" name="Shape 8"/>
          <p:cNvSpPr/>
          <p:nvPr/>
        </p:nvSpPr>
        <p:spPr>
          <a:xfrm>
            <a:off x="8236001" y="5486400"/>
            <a:ext cx="5897880" cy="1307592"/>
          </a:xfrm>
          <a:prstGeom prst="roundRect">
            <a:avLst>
              <a:gd name="adj" fmla="val 4196"/>
            </a:avLst>
          </a:prstGeom>
          <a:solidFill>
            <a:srgbClr val="F5F8FC"/>
          </a:solidFill>
          <a:ln w="12700">
            <a:solidFill>
              <a:srgbClr val="D9E0EC"/>
            </a:solidFill>
            <a:prstDash val="solid"/>
          </a:ln>
        </p:spPr>
        <p:txBody>
          <a:bodyPr/>
          <a:lstStyle/>
          <a:p>
            <a:endParaRPr lang="ko-KR" altLang="en-US"/>
          </a:p>
        </p:txBody>
      </p:sp>
      <p:sp>
        <p:nvSpPr>
          <p:cNvPr id="12" name="Text 9"/>
          <p:cNvSpPr txBox="1"/>
          <p:nvPr/>
        </p:nvSpPr>
        <p:spPr>
          <a:xfrm>
            <a:off x="8345729" y="5559552"/>
            <a:ext cx="567842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결과 예 (약관 청크 10개 → 단위 51개)</a:t>
            </a:r>
            <a:endParaRPr lang="en-US" sz="1400" dirty="0"/>
          </a:p>
        </p:txBody>
      </p:sp>
      <p:sp>
        <p:nvSpPr>
          <p:cNvPr id="13" name="Text 10"/>
          <p:cNvSpPr txBox="1"/>
          <p:nvPr/>
        </p:nvSpPr>
        <p:spPr>
          <a:xfrm>
            <a:off x="8345729" y="5888736"/>
            <a:ext cx="5678424" cy="850392"/>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{"unit_id": "D1_27223010abe31291#제16조의2",</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"text": "제16조의2(할부 거래의 철회 요청)\n①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"chunk_ids": ["D1_…_112f1e4abea05436_0000",</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"D1_…_a4fd4ae81ec3f063_0000"]}</a:t>
            </a:r>
            <a:endParaRPr lang="en-US" sz="1400" dirty="0"/>
          </a:p>
        </p:txBody>
      </p:sp>
      <p:sp>
        <p:nvSpPr>
          <p:cNvPr id="14" name="Shape 11"/>
          <p:cNvSpPr/>
          <p:nvPr/>
        </p:nvSpPr>
        <p:spPr>
          <a:xfrm>
            <a:off x="8236001" y="6858000"/>
            <a:ext cx="5897880" cy="411480"/>
          </a:xfrm>
          <a:prstGeom prst="roundRect">
            <a:avLst>
              <a:gd name="adj" fmla="val 17778"/>
            </a:avLst>
          </a:prstGeom>
          <a:solidFill>
            <a:srgbClr val="2E74C6"/>
          </a:solidFill>
          <a:ln/>
        </p:spPr>
        <p:txBody>
          <a:bodyPr/>
          <a:lstStyle/>
          <a:p>
            <a:endParaRPr lang="ko-KR" altLang="en-US"/>
          </a:p>
        </p:txBody>
      </p:sp>
      <p:sp>
        <p:nvSpPr>
          <p:cNvPr id="15" name="Text 12"/>
          <p:cNvSpPr txBox="1"/>
          <p:nvPr/>
        </p:nvSpPr>
        <p:spPr>
          <a:xfrm>
            <a:off x="8236001" y="6858000"/>
            <a:ext cx="5897880" cy="411480"/>
          </a:xfrm>
          <a:prstGeom prst="rect">
            <a:avLst/>
          </a:prstGeom>
          <a:noFill/>
          <a:ln/>
        </p:spPr>
        <p:txBody>
          <a:bodyPr wrap="square" lIns="1016" tIns="1016" rIns="1016" bIns="1016" rtlCol="0" anchor="ctr"/>
          <a:lstStyle/>
          <a:p>
            <a:pPr marL="0" indent="0" algn="ctr">
              <a:buNone/>
            </a:pPr>
            <a:r>
              <a:rPr lang="ko-KR" altLang="en-US" sz="1400" b="1" dirty="0">
                <a:solidFill>
                  <a:srgbClr val="FFFFFF"/>
                </a:solidFill>
                <a:latin typeface="Pretendard" pitchFamily="34" charset="0"/>
                <a:ea typeface="Pretendard" pitchFamily="34" charset="-122"/>
                <a:cs typeface="Pretendard" pitchFamily="34" charset="-120"/>
              </a:rPr>
              <a:t>각 추출 단위는 여러 개의 </a:t>
            </a:r>
            <a:r>
              <a:rPr lang="ko-KR" altLang="en-US" sz="1400" b="1" dirty="0" err="1">
                <a:solidFill>
                  <a:srgbClr val="FFFFFF"/>
                </a:solidFill>
                <a:latin typeface="Pretendard" pitchFamily="34" charset="0"/>
                <a:ea typeface="Pretendard" pitchFamily="34" charset="-122"/>
                <a:cs typeface="Pretendard" pitchFamily="34" charset="-120"/>
              </a:rPr>
              <a:t>청크에</a:t>
            </a:r>
            <a:r>
              <a:rPr lang="ko-KR" altLang="en-US" sz="1400" b="1" dirty="0">
                <a:solidFill>
                  <a:srgbClr val="FFFFFF"/>
                </a:solidFill>
                <a:latin typeface="Pretendard" pitchFamily="34" charset="0"/>
                <a:ea typeface="Pretendard" pitchFamily="34" charset="-122"/>
                <a:cs typeface="Pretendard" pitchFamily="34" charset="-120"/>
              </a:rPr>
              <a:t> 소속될 수 있음</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a:t>
            </a:r>
            <a:r>
              <a:rPr lang="en-US" sz="3200" b="1" dirty="0">
                <a:solidFill>
                  <a:srgbClr val="2C2926"/>
                </a:solidFill>
                <a:latin typeface="Pretendard" pitchFamily="34" charset="0"/>
                <a:ea typeface="Pretendard" pitchFamily="34" charset="-122"/>
                <a:cs typeface="Pretendard" pitchFamily="34" charset="-120"/>
              </a:rPr>
              <a:t>K2. </a:t>
            </a:r>
            <a:r>
              <a:rPr lang="ko-KR" altLang="en-US" sz="3200" b="1" dirty="0">
                <a:solidFill>
                  <a:srgbClr val="2C2926"/>
                </a:solidFill>
                <a:latin typeface="Pretendard" pitchFamily="34" charset="0"/>
                <a:ea typeface="Pretendard" pitchFamily="34" charset="-122"/>
                <a:cs typeface="Pretendard" pitchFamily="34" charset="-120"/>
              </a:rPr>
              <a:t>추출과 </a:t>
            </a:r>
            <a:r>
              <a:rPr lang="en-US" altLang="ko-KR" sz="3200" b="1" dirty="0">
                <a:solidFill>
                  <a:srgbClr val="2C2926"/>
                </a:solidFill>
                <a:latin typeface="Pretendard" pitchFamily="34" charset="0"/>
                <a:ea typeface="Pretendard" pitchFamily="34" charset="-122"/>
                <a:cs typeface="Pretendard" pitchFamily="34" charset="-120"/>
              </a:rPr>
              <a:t>K3. </a:t>
            </a:r>
            <a:r>
              <a:rPr lang="ko-KR" altLang="en-US" sz="3200" b="1" dirty="0">
                <a:solidFill>
                  <a:srgbClr val="2C2926"/>
                </a:solidFill>
                <a:latin typeface="Pretendard" pitchFamily="34" charset="0"/>
                <a:ea typeface="Pretendard" pitchFamily="34" charset="-122"/>
                <a:cs typeface="Pretendard" pitchFamily="34" charset="-120"/>
              </a:rPr>
              <a:t>가지치기</a:t>
            </a:r>
            <a:r>
              <a:rPr lang="en-US" altLang="ko-KR" sz="3200" b="1" dirty="0">
                <a:solidFill>
                  <a:srgbClr val="2C2926"/>
                </a:solidFill>
                <a:latin typeface="Pretendard" pitchFamily="34" charset="0"/>
                <a:ea typeface="Pretendard" pitchFamily="34" charset="-122"/>
                <a:cs typeface="Pretendard" pitchFamily="34" charset="-120"/>
              </a:rPr>
              <a:t>(Pruning)</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추출 단위 하나와 그 문서 유형의 그래프 스키마를 LLM에 넣어, 스키마 모양대로 노드와 관계를 JSON으로 받음</a:t>
            </a:r>
            <a:endParaRPr lang="en-US" sz="1800" dirty="0"/>
          </a:p>
        </p:txBody>
      </p:sp>
      <p:sp>
        <p:nvSpPr>
          <p:cNvPr id="5" name="Shape 2"/>
          <p:cNvSpPr/>
          <p:nvPr/>
        </p:nvSpPr>
        <p:spPr>
          <a:xfrm>
            <a:off x="509321" y="1737360"/>
            <a:ext cx="4160520" cy="365760"/>
          </a:xfrm>
          <a:prstGeom prst="roundRect">
            <a:avLst>
              <a:gd name="adj" fmla="val 12500"/>
            </a:avLst>
          </a:prstGeom>
          <a:solidFill>
            <a:srgbClr val="404155"/>
          </a:solidFill>
          <a:ln/>
        </p:spPr>
        <p:txBody>
          <a:bodyPr/>
          <a:lstStyle/>
          <a:p>
            <a:endParaRPr lang="ko-KR" altLang="en-US"/>
          </a:p>
        </p:txBody>
      </p:sp>
      <p:sp>
        <p:nvSpPr>
          <p:cNvPr id="6" name="Text 3"/>
          <p:cNvSpPr txBox="1"/>
          <p:nvPr/>
        </p:nvSpPr>
        <p:spPr>
          <a:xfrm>
            <a:off x="509321" y="1737360"/>
            <a:ext cx="41605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LLM에 넣는 것</a:t>
            </a:r>
            <a:endParaRPr lang="en-US" sz="1600" dirty="0"/>
          </a:p>
        </p:txBody>
      </p:sp>
      <p:sp>
        <p:nvSpPr>
          <p:cNvPr id="7" name="Shape 4"/>
          <p:cNvSpPr/>
          <p:nvPr/>
        </p:nvSpPr>
        <p:spPr>
          <a:xfrm>
            <a:off x="509321" y="2194560"/>
            <a:ext cx="4160520" cy="859536"/>
          </a:xfrm>
          <a:prstGeom prst="roundRect">
            <a:avLst>
              <a:gd name="adj" fmla="val 8511"/>
            </a:avLst>
          </a:prstGeom>
          <a:solidFill>
            <a:srgbClr val="EEF3FA"/>
          </a:solidFill>
          <a:ln w="12700">
            <a:solidFill>
              <a:srgbClr val="2E74C6"/>
            </a:solidFill>
            <a:prstDash val="solid"/>
          </a:ln>
        </p:spPr>
        <p:txBody>
          <a:bodyPr/>
          <a:lstStyle/>
          <a:p>
            <a:endParaRPr lang="ko-KR" altLang="en-US"/>
          </a:p>
        </p:txBody>
      </p:sp>
      <p:sp>
        <p:nvSpPr>
          <p:cNvPr id="8" name="Text 5"/>
          <p:cNvSpPr txBox="1"/>
          <p:nvPr/>
        </p:nvSpPr>
        <p:spPr>
          <a:xfrm>
            <a:off x="509321" y="2194560"/>
            <a:ext cx="4160520" cy="859536"/>
          </a:xfrm>
          <a:prstGeom prst="rect">
            <a:avLst/>
          </a:prstGeom>
          <a:noFill/>
          <a:ln/>
        </p:spPr>
        <p:txBody>
          <a:bodyPr wrap="square" lIns="127000" tIns="38100" rIns="127000" bIns="38100" rtlCol="0" anchor="ctr"/>
          <a:lstStyle/>
          <a:p>
            <a:pPr marL="0" indent="0" algn="l">
              <a:spcAft>
                <a:spcPts val="100"/>
              </a:spcAft>
              <a:buNone/>
            </a:pPr>
            <a:r>
              <a:rPr lang="en-US" sz="1700" b="1" dirty="0">
                <a:solidFill>
                  <a:srgbClr val="1E2A5C"/>
                </a:solidFill>
                <a:latin typeface="Pretendard" pitchFamily="34" charset="0"/>
                <a:ea typeface="Pretendard" pitchFamily="34" charset="-122"/>
                <a:cs typeface="Pretendard" pitchFamily="34" charset="-120"/>
              </a:rPr>
              <a:t>① 그래프 스키마 설계</a:t>
            </a:r>
            <a:endParaRPr lang="en-US" sz="1700" dirty="0"/>
          </a:p>
          <a:p>
            <a:pPr marL="0" indent="0" algn="l">
              <a:spcAft>
                <a:spcPts val="100"/>
              </a:spcAft>
              <a:buNone/>
            </a:pPr>
            <a:r>
              <a:rPr lang="en-US" sz="1500" dirty="0">
                <a:solidFill>
                  <a:srgbClr val="1E2A5C"/>
                </a:solidFill>
                <a:latin typeface="Pretendard" pitchFamily="34" charset="0"/>
                <a:ea typeface="Pretendard" pitchFamily="34" charset="-122"/>
                <a:cs typeface="Pretendard" pitchFamily="34" charset="-120"/>
              </a:rPr>
              <a:t>문서유형별로 사전에 정의</a:t>
            </a:r>
            <a:endParaRPr lang="en-US" sz="1700" dirty="0"/>
          </a:p>
        </p:txBody>
      </p:sp>
      <p:sp>
        <p:nvSpPr>
          <p:cNvPr id="9" name="Shape 6"/>
          <p:cNvSpPr/>
          <p:nvPr/>
        </p:nvSpPr>
        <p:spPr>
          <a:xfrm>
            <a:off x="509321" y="3145536"/>
            <a:ext cx="4160520" cy="859536"/>
          </a:xfrm>
          <a:prstGeom prst="roundRect">
            <a:avLst>
              <a:gd name="adj" fmla="val 8511"/>
            </a:avLst>
          </a:prstGeom>
          <a:solidFill>
            <a:srgbClr val="F5F8FC"/>
          </a:solidFill>
          <a:ln w="12700">
            <a:solidFill>
              <a:srgbClr val="D9E0EC"/>
            </a:solidFill>
            <a:prstDash val="solid"/>
          </a:ln>
        </p:spPr>
        <p:txBody>
          <a:bodyPr/>
          <a:lstStyle/>
          <a:p>
            <a:endParaRPr lang="ko-KR" altLang="en-US"/>
          </a:p>
        </p:txBody>
      </p:sp>
      <p:sp>
        <p:nvSpPr>
          <p:cNvPr id="10" name="Text 7"/>
          <p:cNvSpPr txBox="1"/>
          <p:nvPr/>
        </p:nvSpPr>
        <p:spPr>
          <a:xfrm>
            <a:off x="509321" y="3145536"/>
            <a:ext cx="4160520" cy="859536"/>
          </a:xfrm>
          <a:prstGeom prst="rect">
            <a:avLst/>
          </a:prstGeom>
          <a:noFill/>
          <a:ln/>
        </p:spPr>
        <p:txBody>
          <a:bodyPr wrap="square" lIns="127000" tIns="38100" rIns="127000" bIns="38100" rtlCol="0" anchor="ctr"/>
          <a:lstStyle/>
          <a:p>
            <a:pPr marL="0" indent="0" algn="l">
              <a:spcAft>
                <a:spcPts val="100"/>
              </a:spcAft>
              <a:buNone/>
            </a:pPr>
            <a:r>
              <a:rPr lang="en-US" sz="1700" b="1" dirty="0">
                <a:solidFill>
                  <a:srgbClr val="2B3242"/>
                </a:solidFill>
                <a:latin typeface="Pretendard" pitchFamily="34" charset="0"/>
                <a:ea typeface="Pretendard" pitchFamily="34" charset="-122"/>
                <a:cs typeface="Pretendard" pitchFamily="34" charset="-120"/>
              </a:rPr>
              <a:t>② 메타데이터</a:t>
            </a:r>
            <a:endParaRPr lang="en-US" sz="1700" dirty="0"/>
          </a:p>
          <a:p>
            <a:pPr marL="0" indent="0" algn="l">
              <a:spcAft>
                <a:spcPts val="100"/>
              </a:spcAft>
              <a:buNone/>
            </a:pPr>
            <a:r>
              <a:rPr lang="en-US" sz="1500" dirty="0">
                <a:solidFill>
                  <a:srgbClr val="2B3242"/>
                </a:solidFill>
                <a:latin typeface="Pretendard" pitchFamily="34" charset="0"/>
                <a:ea typeface="Pretendard" pitchFamily="34" charset="-122"/>
                <a:cs typeface="Pretendard" pitchFamily="34" charset="-120"/>
              </a:rPr>
              <a:t>예: record_id, 상담일, 채널, 주제, 가명 회원 키</a:t>
            </a:r>
            <a:endParaRPr lang="en-US" sz="1700" dirty="0"/>
          </a:p>
        </p:txBody>
      </p:sp>
      <p:sp>
        <p:nvSpPr>
          <p:cNvPr id="11" name="Shape 8"/>
          <p:cNvSpPr/>
          <p:nvPr/>
        </p:nvSpPr>
        <p:spPr>
          <a:xfrm>
            <a:off x="509321" y="4096512"/>
            <a:ext cx="4160520" cy="859536"/>
          </a:xfrm>
          <a:prstGeom prst="roundRect">
            <a:avLst>
              <a:gd name="adj" fmla="val 8511"/>
            </a:avLst>
          </a:prstGeom>
          <a:solidFill>
            <a:srgbClr val="F5F8FC"/>
          </a:solidFill>
          <a:ln w="12700">
            <a:solidFill>
              <a:srgbClr val="D9E0EC"/>
            </a:solidFill>
            <a:prstDash val="solid"/>
          </a:ln>
        </p:spPr>
        <p:txBody>
          <a:bodyPr/>
          <a:lstStyle/>
          <a:p>
            <a:endParaRPr lang="ko-KR" altLang="en-US"/>
          </a:p>
        </p:txBody>
      </p:sp>
      <p:sp>
        <p:nvSpPr>
          <p:cNvPr id="12" name="Text 9"/>
          <p:cNvSpPr txBox="1"/>
          <p:nvPr/>
        </p:nvSpPr>
        <p:spPr>
          <a:xfrm>
            <a:off x="509321" y="4096512"/>
            <a:ext cx="4160520" cy="859536"/>
          </a:xfrm>
          <a:prstGeom prst="rect">
            <a:avLst/>
          </a:prstGeom>
          <a:noFill/>
          <a:ln/>
        </p:spPr>
        <p:txBody>
          <a:bodyPr wrap="square" lIns="127000" tIns="38100" rIns="127000" bIns="38100" rtlCol="0" anchor="ctr"/>
          <a:lstStyle/>
          <a:p>
            <a:pPr marL="0" indent="0" algn="l">
              <a:spcAft>
                <a:spcPts val="100"/>
              </a:spcAft>
              <a:buNone/>
            </a:pPr>
            <a:r>
              <a:rPr lang="en-US" sz="1700" b="1" dirty="0">
                <a:solidFill>
                  <a:srgbClr val="2B3242"/>
                </a:solidFill>
                <a:latin typeface="Pretendard" pitchFamily="34" charset="0"/>
                <a:ea typeface="Pretendard" pitchFamily="34" charset="-122"/>
                <a:cs typeface="Pretendard" pitchFamily="34" charset="-120"/>
              </a:rPr>
              <a:t>③ 추출 단위 본문</a:t>
            </a:r>
            <a:endParaRPr lang="en-US" sz="1700" dirty="0"/>
          </a:p>
          <a:p>
            <a:pPr marL="0" indent="0" algn="l">
              <a:spcAft>
                <a:spcPts val="100"/>
              </a:spcAft>
              <a:buNone/>
            </a:pPr>
            <a:r>
              <a:rPr lang="en-US" sz="1500" dirty="0">
                <a:solidFill>
                  <a:srgbClr val="2B3242"/>
                </a:solidFill>
                <a:latin typeface="Pretendard" pitchFamily="34" charset="0"/>
                <a:ea typeface="Pretendard" pitchFamily="34" charset="-122"/>
                <a:cs typeface="Pretendard" pitchFamily="34" charset="-120"/>
              </a:rPr>
              <a:t>예: 조항 1건, 상담 1건</a:t>
            </a:r>
            <a:endParaRPr lang="en-US" sz="1700" dirty="0"/>
          </a:p>
        </p:txBody>
      </p:sp>
      <p:sp>
        <p:nvSpPr>
          <p:cNvPr id="13" name="Shape 10"/>
          <p:cNvSpPr/>
          <p:nvPr/>
        </p:nvSpPr>
        <p:spPr>
          <a:xfrm>
            <a:off x="509321" y="5047488"/>
            <a:ext cx="4160520" cy="859536"/>
          </a:xfrm>
          <a:prstGeom prst="roundRect">
            <a:avLst>
              <a:gd name="adj" fmla="val 8511"/>
            </a:avLst>
          </a:prstGeom>
          <a:solidFill>
            <a:srgbClr val="F5F8FC"/>
          </a:solidFill>
          <a:ln w="12700">
            <a:solidFill>
              <a:srgbClr val="D9E0EC"/>
            </a:solidFill>
            <a:prstDash val="solid"/>
          </a:ln>
        </p:spPr>
        <p:txBody>
          <a:bodyPr/>
          <a:lstStyle/>
          <a:p>
            <a:endParaRPr lang="ko-KR" altLang="en-US"/>
          </a:p>
        </p:txBody>
      </p:sp>
      <p:sp>
        <p:nvSpPr>
          <p:cNvPr id="14" name="Text 11"/>
          <p:cNvSpPr txBox="1"/>
          <p:nvPr/>
        </p:nvSpPr>
        <p:spPr>
          <a:xfrm>
            <a:off x="509321" y="5047488"/>
            <a:ext cx="4160520" cy="859536"/>
          </a:xfrm>
          <a:prstGeom prst="rect">
            <a:avLst/>
          </a:prstGeom>
          <a:noFill/>
          <a:ln/>
        </p:spPr>
        <p:txBody>
          <a:bodyPr wrap="square" lIns="127000" tIns="38100" rIns="127000" bIns="38100" rtlCol="0" anchor="ctr"/>
          <a:lstStyle/>
          <a:p>
            <a:pPr marL="0" indent="0" algn="l">
              <a:spcAft>
                <a:spcPts val="100"/>
              </a:spcAft>
              <a:buNone/>
            </a:pPr>
            <a:r>
              <a:rPr lang="en-US" sz="1700" b="1" dirty="0">
                <a:solidFill>
                  <a:srgbClr val="2B3242"/>
                </a:solidFill>
                <a:latin typeface="Pretendard" pitchFamily="34" charset="0"/>
                <a:ea typeface="Pretendard" pitchFamily="34" charset="-122"/>
                <a:cs typeface="Pretendard" pitchFamily="34" charset="-120"/>
              </a:rPr>
              <a:t>④ 추출 지시</a:t>
            </a:r>
            <a:endParaRPr lang="en-US" sz="1700" dirty="0"/>
          </a:p>
          <a:p>
            <a:pPr marL="0" indent="0" algn="l">
              <a:spcAft>
                <a:spcPts val="100"/>
              </a:spcAft>
              <a:buNone/>
            </a:pPr>
            <a:r>
              <a:rPr lang="en-US" sz="1500" dirty="0">
                <a:solidFill>
                  <a:srgbClr val="2B3242"/>
                </a:solidFill>
                <a:latin typeface="Pretendard" pitchFamily="34" charset="0"/>
                <a:ea typeface="Pretendard" pitchFamily="34" charset="-122"/>
                <a:cs typeface="Pretendard" pitchFamily="34" charset="-120"/>
              </a:rPr>
              <a:t>neo4j-graphrag라이브러리의 프롬프트 그대로 사용</a:t>
            </a:r>
            <a:endParaRPr lang="en-US" sz="1700" dirty="0"/>
          </a:p>
        </p:txBody>
      </p:sp>
      <p:sp>
        <p:nvSpPr>
          <p:cNvPr id="15" name="Shape 12"/>
          <p:cNvSpPr/>
          <p:nvPr/>
        </p:nvSpPr>
        <p:spPr>
          <a:xfrm>
            <a:off x="4989881" y="2679192"/>
            <a:ext cx="1600200" cy="2743200"/>
          </a:xfrm>
          <a:prstGeom prst="roundRect">
            <a:avLst>
              <a:gd name="adj" fmla="val 4571"/>
            </a:avLst>
          </a:prstGeom>
          <a:solidFill>
            <a:srgbClr val="1E2A5C"/>
          </a:solidFill>
          <a:ln/>
        </p:spPr>
        <p:txBody>
          <a:bodyPr/>
          <a:lstStyle/>
          <a:p>
            <a:endParaRPr lang="ko-KR" altLang="en-US"/>
          </a:p>
        </p:txBody>
      </p:sp>
      <p:sp>
        <p:nvSpPr>
          <p:cNvPr id="16" name="Text 13"/>
          <p:cNvSpPr txBox="1"/>
          <p:nvPr/>
        </p:nvSpPr>
        <p:spPr>
          <a:xfrm>
            <a:off x="4989881" y="2679192"/>
            <a:ext cx="1600200" cy="2743200"/>
          </a:xfrm>
          <a:prstGeom prst="rect">
            <a:avLst/>
          </a:prstGeom>
          <a:noFill/>
          <a:ln/>
        </p:spPr>
        <p:txBody>
          <a:bodyPr wrap="square" lIns="635" tIns="635" rIns="635" bIns="635" rtlCol="0" anchor="ctr"/>
          <a:lstStyle/>
          <a:p>
            <a:pPr marL="0" indent="0" algn="ctr">
              <a:spcAft>
                <a:spcPts val="100"/>
              </a:spcAft>
              <a:buNone/>
            </a:pPr>
            <a:r>
              <a:rPr lang="en-US" sz="2400" b="1" dirty="0">
                <a:solidFill>
                  <a:srgbClr val="FFFFFF"/>
                </a:solidFill>
                <a:latin typeface="Pretendard" pitchFamily="34" charset="0"/>
                <a:ea typeface="Pretendard" pitchFamily="34" charset="-122"/>
                <a:cs typeface="Pretendard" pitchFamily="34" charset="-120"/>
              </a:rPr>
              <a:t>LLM</a:t>
            </a:r>
            <a:endParaRPr lang="en-US" sz="2400" dirty="0"/>
          </a:p>
          <a:p>
            <a:pPr marL="0" indent="0" algn="ctr">
              <a:spcAft>
                <a:spcPts val="100"/>
              </a:spcAft>
              <a:buNone/>
            </a:pPr>
            <a:r>
              <a:rPr lang="en-US" sz="1600" dirty="0">
                <a:solidFill>
                  <a:srgbClr val="FFFFFF"/>
                </a:solidFill>
                <a:latin typeface="Pretendard" pitchFamily="34" charset="0"/>
                <a:ea typeface="Pretendard" pitchFamily="34" charset="-122"/>
                <a:cs typeface="Pretendard" pitchFamily="34" charset="-120"/>
              </a:rPr>
              <a:t>gpt-oss-120b</a:t>
            </a:r>
            <a:endParaRPr lang="en-US" sz="2400" dirty="0"/>
          </a:p>
          <a:p>
            <a:pPr marL="0" indent="0" algn="ctr">
              <a:spcAft>
                <a:spcPts val="100"/>
              </a:spcAft>
              <a:buNone/>
            </a:pPr>
            <a:r>
              <a:rPr lang="en-US" sz="1600" dirty="0">
                <a:solidFill>
                  <a:srgbClr val="FFFFFF"/>
                </a:solidFill>
                <a:latin typeface="Pretendard" pitchFamily="34" charset="0"/>
                <a:ea typeface="Pretendard" pitchFamily="34" charset="-122"/>
                <a:cs typeface="Pretendard" pitchFamily="34" charset="-120"/>
              </a:rPr>
              <a:t>(Groq)</a:t>
            </a:r>
            <a:endParaRPr lang="en-US" sz="2400" dirty="0"/>
          </a:p>
          <a:p>
            <a:pPr marL="0" indent="0" algn="ctr">
              <a:spcAft>
                <a:spcPts val="100"/>
              </a:spcAft>
              <a:buNone/>
            </a:pPr>
            <a:r>
              <a:rPr lang="en-US" sz="1600" dirty="0">
                <a:solidFill>
                  <a:srgbClr val="FFFFFF"/>
                </a:solidFill>
                <a:latin typeface="Pretendard" pitchFamily="34" charset="0"/>
                <a:ea typeface="Pretendard" pitchFamily="34" charset="-122"/>
                <a:cs typeface="Pretendard" pitchFamily="34" charset="-120"/>
              </a:rPr>
              <a:t>단위 하나에 1번</a:t>
            </a:r>
            <a:endParaRPr lang="en-US" sz="2400" dirty="0"/>
          </a:p>
          <a:p>
            <a:pPr marL="0" indent="0" algn="ctr">
              <a:spcAft>
                <a:spcPts val="100"/>
              </a:spcAft>
              <a:buNone/>
            </a:pPr>
            <a:r>
              <a:rPr lang="en-US" sz="1600" dirty="0">
                <a:solidFill>
                  <a:srgbClr val="FFFFFF"/>
                </a:solidFill>
                <a:latin typeface="Pretendard" pitchFamily="34" charset="0"/>
                <a:ea typeface="Pretendard" pitchFamily="34" charset="-122"/>
                <a:cs typeface="Pretendard" pitchFamily="34" charset="-120"/>
              </a:rPr>
              <a:t>동시 4건</a:t>
            </a:r>
            <a:endParaRPr lang="en-US" sz="2400" dirty="0"/>
          </a:p>
        </p:txBody>
      </p:sp>
      <p:sp>
        <p:nvSpPr>
          <p:cNvPr id="17" name="Shape 14"/>
          <p:cNvSpPr/>
          <p:nvPr/>
        </p:nvSpPr>
        <p:spPr>
          <a:xfrm>
            <a:off x="4706417" y="4050792"/>
            <a:ext cx="246888" cy="0"/>
          </a:xfrm>
          <a:prstGeom prst="line">
            <a:avLst/>
          </a:prstGeom>
          <a:noFill/>
          <a:ln w="31750">
            <a:solidFill>
              <a:srgbClr val="1E2A5C"/>
            </a:solidFill>
            <a:prstDash val="solid"/>
            <a:tailEnd type="triangle"/>
          </a:ln>
        </p:spPr>
        <p:txBody>
          <a:bodyPr/>
          <a:lstStyle/>
          <a:p>
            <a:endParaRPr lang="ko-KR" altLang="en-US"/>
          </a:p>
        </p:txBody>
      </p:sp>
      <p:sp>
        <p:nvSpPr>
          <p:cNvPr id="18" name="Shape 15"/>
          <p:cNvSpPr/>
          <p:nvPr/>
        </p:nvSpPr>
        <p:spPr>
          <a:xfrm>
            <a:off x="6626657" y="4050792"/>
            <a:ext cx="246888" cy="0"/>
          </a:xfrm>
          <a:prstGeom prst="line">
            <a:avLst/>
          </a:prstGeom>
          <a:noFill/>
          <a:ln w="31750">
            <a:solidFill>
              <a:srgbClr val="1E2A5C"/>
            </a:solidFill>
            <a:prstDash val="solid"/>
            <a:tailEnd type="triangle"/>
          </a:ln>
        </p:spPr>
        <p:txBody>
          <a:bodyPr/>
          <a:lstStyle/>
          <a:p>
            <a:endParaRPr lang="ko-KR" altLang="en-US"/>
          </a:p>
        </p:txBody>
      </p:sp>
      <p:sp>
        <p:nvSpPr>
          <p:cNvPr id="19" name="Shape 16"/>
          <p:cNvSpPr/>
          <p:nvPr/>
        </p:nvSpPr>
        <p:spPr>
          <a:xfrm>
            <a:off x="6910121" y="1737360"/>
            <a:ext cx="7223760" cy="365760"/>
          </a:xfrm>
          <a:prstGeom prst="roundRect">
            <a:avLst>
              <a:gd name="adj" fmla="val 15000"/>
            </a:avLst>
          </a:prstGeom>
          <a:solidFill>
            <a:srgbClr val="2E74C6"/>
          </a:solidFill>
          <a:ln/>
        </p:spPr>
        <p:txBody>
          <a:bodyPr/>
          <a:lstStyle/>
          <a:p>
            <a:endParaRPr lang="ko-KR" altLang="en-US"/>
          </a:p>
        </p:txBody>
      </p:sp>
      <p:sp>
        <p:nvSpPr>
          <p:cNvPr id="20" name="Text 17"/>
          <p:cNvSpPr txBox="1"/>
          <p:nvPr/>
        </p:nvSpPr>
        <p:spPr>
          <a:xfrm>
            <a:off x="6910121" y="1737360"/>
            <a:ext cx="7223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나온 그래프 (상담 C-20260501-003 예시)</a:t>
            </a:r>
            <a:endParaRPr lang="en-US" sz="1600" dirty="0"/>
          </a:p>
        </p:txBody>
      </p:sp>
      <p:sp>
        <p:nvSpPr>
          <p:cNvPr id="21" name="Shape 18"/>
          <p:cNvSpPr/>
          <p:nvPr/>
        </p:nvSpPr>
        <p:spPr>
          <a:xfrm>
            <a:off x="6910121" y="2194560"/>
            <a:ext cx="2331720" cy="859536"/>
          </a:xfrm>
          <a:prstGeom prst="roundRect">
            <a:avLst>
              <a:gd name="adj" fmla="val 8511"/>
            </a:avLst>
          </a:prstGeom>
          <a:solidFill>
            <a:srgbClr val="FFFFFF"/>
          </a:solidFill>
          <a:ln w="12700">
            <a:solidFill>
              <a:srgbClr val="D9E0EC"/>
            </a:solidFill>
            <a:prstDash val="solid"/>
          </a:ln>
        </p:spPr>
        <p:txBody>
          <a:bodyPr/>
          <a:lstStyle/>
          <a:p>
            <a:endParaRPr lang="ko-KR" altLang="en-US"/>
          </a:p>
        </p:txBody>
      </p:sp>
      <p:sp>
        <p:nvSpPr>
          <p:cNvPr id="22" name="Text 19"/>
          <p:cNvSpPr txBox="1"/>
          <p:nvPr/>
        </p:nvSpPr>
        <p:spPr>
          <a:xfrm>
            <a:off x="6910121" y="2194560"/>
            <a:ext cx="233172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2B3242"/>
                </a:solidFill>
                <a:latin typeface="Pretendard" pitchFamily="34" charset="0"/>
                <a:ea typeface="Pretendard" pitchFamily="34" charset="-122"/>
                <a:cs typeface="Pretendard" pitchFamily="34" charset="-120"/>
              </a:rPr>
              <a:t>Consultation</a:t>
            </a:r>
            <a:endParaRPr lang="en-US" sz="16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C-20260501-003, 콜센터</a:t>
            </a:r>
            <a:endParaRPr lang="en-US" sz="1600" dirty="0"/>
          </a:p>
        </p:txBody>
      </p:sp>
      <p:sp>
        <p:nvSpPr>
          <p:cNvPr id="23" name="Shape 20"/>
          <p:cNvSpPr/>
          <p:nvPr/>
        </p:nvSpPr>
        <p:spPr>
          <a:xfrm>
            <a:off x="9269273" y="2624328"/>
            <a:ext cx="82296" cy="0"/>
          </a:xfrm>
          <a:prstGeom prst="line">
            <a:avLst/>
          </a:prstGeom>
          <a:noFill/>
          <a:ln w="19050">
            <a:solidFill>
              <a:srgbClr val="4A5364"/>
            </a:solidFill>
            <a:prstDash val="solid"/>
            <a:tailEnd type="triangle"/>
          </a:ln>
        </p:spPr>
        <p:txBody>
          <a:bodyPr/>
          <a:lstStyle/>
          <a:p>
            <a:endParaRPr lang="ko-KR" altLang="en-US"/>
          </a:p>
        </p:txBody>
      </p:sp>
      <p:sp>
        <p:nvSpPr>
          <p:cNvPr id="24" name="Shape 21"/>
          <p:cNvSpPr/>
          <p:nvPr/>
        </p:nvSpPr>
        <p:spPr>
          <a:xfrm>
            <a:off x="9379001" y="2432304"/>
            <a:ext cx="1874520" cy="384048"/>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25" name="Text 22"/>
          <p:cNvSpPr txBox="1"/>
          <p:nvPr/>
        </p:nvSpPr>
        <p:spPr>
          <a:xfrm>
            <a:off x="9379001" y="2432304"/>
            <a:ext cx="18745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26" name="Shape 23"/>
          <p:cNvSpPr/>
          <p:nvPr/>
        </p:nvSpPr>
        <p:spPr>
          <a:xfrm>
            <a:off x="11271809" y="2624328"/>
            <a:ext cx="91440" cy="0"/>
          </a:xfrm>
          <a:prstGeom prst="line">
            <a:avLst/>
          </a:prstGeom>
          <a:noFill/>
          <a:ln w="19050">
            <a:solidFill>
              <a:srgbClr val="4A5364"/>
            </a:solidFill>
            <a:prstDash val="solid"/>
            <a:tailEnd type="triangle"/>
          </a:ln>
        </p:spPr>
        <p:txBody>
          <a:bodyPr/>
          <a:lstStyle/>
          <a:p>
            <a:endParaRPr lang="ko-KR" altLang="en-US"/>
          </a:p>
        </p:txBody>
      </p:sp>
      <p:sp>
        <p:nvSpPr>
          <p:cNvPr id="27" name="Shape 24"/>
          <p:cNvSpPr/>
          <p:nvPr/>
        </p:nvSpPr>
        <p:spPr>
          <a:xfrm>
            <a:off x="11390681" y="2194560"/>
            <a:ext cx="2743200" cy="859536"/>
          </a:xfrm>
          <a:prstGeom prst="roundRect">
            <a:avLst>
              <a:gd name="adj" fmla="val 8511"/>
            </a:avLst>
          </a:prstGeom>
          <a:solidFill>
            <a:srgbClr val="EEF3FA"/>
          </a:solidFill>
          <a:ln w="12700">
            <a:solidFill>
              <a:srgbClr val="2E74C6"/>
            </a:solidFill>
            <a:prstDash val="solid"/>
          </a:ln>
        </p:spPr>
        <p:txBody>
          <a:bodyPr/>
          <a:lstStyle/>
          <a:p>
            <a:endParaRPr lang="ko-KR" altLang="en-US"/>
          </a:p>
        </p:txBody>
      </p:sp>
      <p:sp>
        <p:nvSpPr>
          <p:cNvPr id="28" name="Text 25"/>
          <p:cNvSpPr txBox="1"/>
          <p:nvPr/>
        </p:nvSpPr>
        <p:spPr>
          <a:xfrm>
            <a:off x="11390681" y="2194560"/>
            <a:ext cx="274320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1E2A5C"/>
                </a:solidFill>
                <a:latin typeface="Pretendard" pitchFamily="34" charset="0"/>
                <a:ea typeface="Pretendard" pitchFamily="34" charset="-122"/>
                <a:cs typeface="Pretendard" pitchFamily="34" charset="-120"/>
              </a:rPr>
              <a:t>Proposal</a:t>
            </a:r>
            <a:endParaRPr lang="en-US" sz="16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종이 영수증 대조 (거절)</a:t>
            </a:r>
            <a:endParaRPr lang="en-US" sz="1600" dirty="0"/>
          </a:p>
        </p:txBody>
      </p:sp>
      <p:sp>
        <p:nvSpPr>
          <p:cNvPr id="29" name="Shape 26"/>
          <p:cNvSpPr/>
          <p:nvPr/>
        </p:nvSpPr>
        <p:spPr>
          <a:xfrm>
            <a:off x="6910121" y="3145536"/>
            <a:ext cx="2331720" cy="859536"/>
          </a:xfrm>
          <a:prstGeom prst="roundRect">
            <a:avLst>
              <a:gd name="adj" fmla="val 8511"/>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6910121" y="3145536"/>
            <a:ext cx="233172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2B3242"/>
                </a:solidFill>
                <a:latin typeface="Pretendard" pitchFamily="34" charset="0"/>
                <a:ea typeface="Pretendard" pitchFamily="34" charset="-122"/>
                <a:cs typeface="Pretendard" pitchFamily="34" charset="-120"/>
              </a:rPr>
              <a:t>Consultation</a:t>
            </a:r>
            <a:endParaRPr lang="en-US" sz="16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C-20260501-003</a:t>
            </a:r>
            <a:endParaRPr lang="en-US" sz="1600" dirty="0"/>
          </a:p>
        </p:txBody>
      </p:sp>
      <p:sp>
        <p:nvSpPr>
          <p:cNvPr id="31" name="Shape 28"/>
          <p:cNvSpPr/>
          <p:nvPr/>
        </p:nvSpPr>
        <p:spPr>
          <a:xfrm>
            <a:off x="9269273" y="3575304"/>
            <a:ext cx="82296" cy="0"/>
          </a:xfrm>
          <a:prstGeom prst="line">
            <a:avLst/>
          </a:prstGeom>
          <a:noFill/>
          <a:ln w="19050">
            <a:solidFill>
              <a:srgbClr val="4A5364"/>
            </a:solidFill>
            <a:prstDash val="solid"/>
            <a:tailEnd type="triangle"/>
          </a:ln>
        </p:spPr>
        <p:txBody>
          <a:bodyPr/>
          <a:lstStyle/>
          <a:p>
            <a:endParaRPr lang="ko-KR" altLang="en-US"/>
          </a:p>
        </p:txBody>
      </p:sp>
      <p:sp>
        <p:nvSpPr>
          <p:cNvPr id="32" name="Shape 29"/>
          <p:cNvSpPr/>
          <p:nvPr/>
        </p:nvSpPr>
        <p:spPr>
          <a:xfrm>
            <a:off x="9379001" y="3383280"/>
            <a:ext cx="1874520" cy="384048"/>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33" name="Text 30"/>
          <p:cNvSpPr txBox="1"/>
          <p:nvPr/>
        </p:nvSpPr>
        <p:spPr>
          <a:xfrm>
            <a:off x="9379001" y="3383280"/>
            <a:ext cx="18745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34" name="Shape 31"/>
          <p:cNvSpPr/>
          <p:nvPr/>
        </p:nvSpPr>
        <p:spPr>
          <a:xfrm>
            <a:off x="11271809" y="3575304"/>
            <a:ext cx="91440" cy="0"/>
          </a:xfrm>
          <a:prstGeom prst="line">
            <a:avLst/>
          </a:prstGeom>
          <a:noFill/>
          <a:ln w="19050">
            <a:solidFill>
              <a:srgbClr val="4A5364"/>
            </a:solidFill>
            <a:prstDash val="solid"/>
            <a:tailEnd type="triangle"/>
          </a:ln>
        </p:spPr>
        <p:txBody>
          <a:bodyPr/>
          <a:lstStyle/>
          <a:p>
            <a:endParaRPr lang="ko-KR" altLang="en-US"/>
          </a:p>
        </p:txBody>
      </p:sp>
      <p:sp>
        <p:nvSpPr>
          <p:cNvPr id="35" name="Shape 32"/>
          <p:cNvSpPr/>
          <p:nvPr/>
        </p:nvSpPr>
        <p:spPr>
          <a:xfrm>
            <a:off x="11390681" y="3145536"/>
            <a:ext cx="2743200" cy="859536"/>
          </a:xfrm>
          <a:prstGeom prst="roundRect">
            <a:avLst>
              <a:gd name="adj" fmla="val 8511"/>
            </a:avLst>
          </a:prstGeom>
          <a:solidFill>
            <a:srgbClr val="EEF3FA"/>
          </a:solidFill>
          <a:ln w="12700">
            <a:solidFill>
              <a:srgbClr val="2E74C6"/>
            </a:solidFill>
            <a:prstDash val="solid"/>
          </a:ln>
        </p:spPr>
        <p:txBody>
          <a:bodyPr/>
          <a:lstStyle/>
          <a:p>
            <a:endParaRPr lang="ko-KR" altLang="en-US"/>
          </a:p>
        </p:txBody>
      </p:sp>
      <p:sp>
        <p:nvSpPr>
          <p:cNvPr id="36" name="Text 33"/>
          <p:cNvSpPr txBox="1"/>
          <p:nvPr/>
        </p:nvSpPr>
        <p:spPr>
          <a:xfrm>
            <a:off x="11390681" y="3145536"/>
            <a:ext cx="274320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1E2A5C"/>
                </a:solidFill>
                <a:latin typeface="Pretendard" pitchFamily="34" charset="0"/>
                <a:ea typeface="Pretendard" pitchFamily="34" charset="-122"/>
                <a:cs typeface="Pretendard" pitchFamily="34" charset="-120"/>
              </a:rPr>
              <a:t>Proposal</a:t>
            </a:r>
            <a:endParaRPr lang="en-US" sz="16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주문 내역 화면 대조 (수용)</a:t>
            </a:r>
            <a:endParaRPr lang="en-US" sz="1600" dirty="0"/>
          </a:p>
        </p:txBody>
      </p:sp>
      <p:sp>
        <p:nvSpPr>
          <p:cNvPr id="37" name="Shape 34"/>
          <p:cNvSpPr/>
          <p:nvPr/>
        </p:nvSpPr>
        <p:spPr>
          <a:xfrm>
            <a:off x="6910121" y="4096512"/>
            <a:ext cx="2331720" cy="859536"/>
          </a:xfrm>
          <a:prstGeom prst="roundRect">
            <a:avLst>
              <a:gd name="adj" fmla="val 8511"/>
            </a:avLst>
          </a:prstGeom>
          <a:solidFill>
            <a:srgbClr val="FFFFFF"/>
          </a:solidFill>
          <a:ln w="12700">
            <a:solidFill>
              <a:srgbClr val="D9E0EC"/>
            </a:solidFill>
            <a:prstDash val="solid"/>
          </a:ln>
        </p:spPr>
        <p:txBody>
          <a:bodyPr/>
          <a:lstStyle/>
          <a:p>
            <a:endParaRPr lang="ko-KR" altLang="en-US"/>
          </a:p>
        </p:txBody>
      </p:sp>
      <p:sp>
        <p:nvSpPr>
          <p:cNvPr id="38" name="Text 35"/>
          <p:cNvSpPr txBox="1"/>
          <p:nvPr/>
        </p:nvSpPr>
        <p:spPr>
          <a:xfrm>
            <a:off x="6910121" y="4096512"/>
            <a:ext cx="233172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2B3242"/>
                </a:solidFill>
                <a:latin typeface="Pretendard" pitchFamily="34" charset="0"/>
                <a:ea typeface="Pretendard" pitchFamily="34" charset="-122"/>
                <a:cs typeface="Pretendard" pitchFamily="34" charset="-120"/>
              </a:rPr>
              <a:t>Proposal</a:t>
            </a:r>
            <a:endParaRPr lang="en-US" sz="16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주문 내역 화면 대조</a:t>
            </a:r>
            <a:endParaRPr lang="en-US" sz="1600" dirty="0"/>
          </a:p>
        </p:txBody>
      </p:sp>
      <p:sp>
        <p:nvSpPr>
          <p:cNvPr id="39" name="Shape 36"/>
          <p:cNvSpPr/>
          <p:nvPr/>
        </p:nvSpPr>
        <p:spPr>
          <a:xfrm>
            <a:off x="9269273" y="4526280"/>
            <a:ext cx="82296" cy="0"/>
          </a:xfrm>
          <a:prstGeom prst="line">
            <a:avLst/>
          </a:prstGeom>
          <a:noFill/>
          <a:ln w="19050">
            <a:solidFill>
              <a:srgbClr val="4A5364"/>
            </a:solidFill>
            <a:prstDash val="solid"/>
            <a:tailEnd type="triangle"/>
          </a:ln>
        </p:spPr>
        <p:txBody>
          <a:bodyPr/>
          <a:lstStyle/>
          <a:p>
            <a:endParaRPr lang="ko-KR" altLang="en-US"/>
          </a:p>
        </p:txBody>
      </p:sp>
      <p:sp>
        <p:nvSpPr>
          <p:cNvPr id="40" name="Shape 37"/>
          <p:cNvSpPr/>
          <p:nvPr/>
        </p:nvSpPr>
        <p:spPr>
          <a:xfrm>
            <a:off x="9379001" y="4334256"/>
            <a:ext cx="1874520" cy="384048"/>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41" name="Text 38"/>
          <p:cNvSpPr txBox="1"/>
          <p:nvPr/>
        </p:nvSpPr>
        <p:spPr>
          <a:xfrm>
            <a:off x="9379001" y="4334256"/>
            <a:ext cx="18745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RECONSIDER_WHEN</a:t>
            </a:r>
            <a:endParaRPr lang="en-US" sz="1400" dirty="0"/>
          </a:p>
        </p:txBody>
      </p:sp>
      <p:sp>
        <p:nvSpPr>
          <p:cNvPr id="42" name="Shape 39"/>
          <p:cNvSpPr/>
          <p:nvPr/>
        </p:nvSpPr>
        <p:spPr>
          <a:xfrm>
            <a:off x="11271809" y="4526280"/>
            <a:ext cx="91440" cy="0"/>
          </a:xfrm>
          <a:prstGeom prst="line">
            <a:avLst/>
          </a:prstGeom>
          <a:noFill/>
          <a:ln w="19050">
            <a:solidFill>
              <a:srgbClr val="4A5364"/>
            </a:solidFill>
            <a:prstDash val="solid"/>
            <a:tailEnd type="triangle"/>
          </a:ln>
        </p:spPr>
        <p:txBody>
          <a:bodyPr/>
          <a:lstStyle/>
          <a:p>
            <a:endParaRPr lang="ko-KR" altLang="en-US"/>
          </a:p>
        </p:txBody>
      </p:sp>
      <p:sp>
        <p:nvSpPr>
          <p:cNvPr id="43" name="Shape 40"/>
          <p:cNvSpPr/>
          <p:nvPr/>
        </p:nvSpPr>
        <p:spPr>
          <a:xfrm>
            <a:off x="11390681" y="4096512"/>
            <a:ext cx="2743200" cy="859536"/>
          </a:xfrm>
          <a:prstGeom prst="roundRect">
            <a:avLst>
              <a:gd name="adj" fmla="val 8511"/>
            </a:avLst>
          </a:prstGeom>
          <a:solidFill>
            <a:srgbClr val="EEF3FA"/>
          </a:solidFill>
          <a:ln w="12700">
            <a:solidFill>
              <a:srgbClr val="2E74C6"/>
            </a:solidFill>
            <a:prstDash val="solid"/>
          </a:ln>
        </p:spPr>
        <p:txBody>
          <a:bodyPr/>
          <a:lstStyle/>
          <a:p>
            <a:endParaRPr lang="ko-KR" altLang="en-US"/>
          </a:p>
        </p:txBody>
      </p:sp>
      <p:sp>
        <p:nvSpPr>
          <p:cNvPr id="44" name="Text 41"/>
          <p:cNvSpPr txBox="1"/>
          <p:nvPr/>
        </p:nvSpPr>
        <p:spPr>
          <a:xfrm>
            <a:off x="11390681" y="4096512"/>
            <a:ext cx="274320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1E2A5C"/>
                </a:solidFill>
                <a:latin typeface="Pretendard" pitchFamily="34" charset="0"/>
                <a:ea typeface="Pretendard" pitchFamily="34" charset="-122"/>
                <a:cs typeface="Pretendard" pitchFamily="34" charset="-120"/>
              </a:rPr>
              <a:t>ReconsiderCondition</a:t>
            </a:r>
            <a:endParaRPr lang="en-US" sz="16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다음 명세서 나올 때 다시 문의</a:t>
            </a:r>
            <a:endParaRPr lang="en-US" sz="1600" dirty="0"/>
          </a:p>
        </p:txBody>
      </p:sp>
      <p:sp>
        <p:nvSpPr>
          <p:cNvPr id="45" name="Shape 42"/>
          <p:cNvSpPr/>
          <p:nvPr/>
        </p:nvSpPr>
        <p:spPr>
          <a:xfrm>
            <a:off x="6910121" y="5047488"/>
            <a:ext cx="2331720" cy="859536"/>
          </a:xfrm>
          <a:prstGeom prst="roundRect">
            <a:avLst>
              <a:gd name="adj" fmla="val 8511"/>
            </a:avLst>
          </a:prstGeom>
          <a:solidFill>
            <a:srgbClr val="FFFFFF"/>
          </a:solidFill>
          <a:ln w="12700">
            <a:solidFill>
              <a:srgbClr val="D9E0EC"/>
            </a:solidFill>
            <a:prstDash val="solid"/>
          </a:ln>
        </p:spPr>
        <p:txBody>
          <a:bodyPr/>
          <a:lstStyle/>
          <a:p>
            <a:endParaRPr lang="ko-KR" altLang="en-US"/>
          </a:p>
        </p:txBody>
      </p:sp>
      <p:sp>
        <p:nvSpPr>
          <p:cNvPr id="46" name="Text 43"/>
          <p:cNvSpPr txBox="1"/>
          <p:nvPr/>
        </p:nvSpPr>
        <p:spPr>
          <a:xfrm>
            <a:off x="6910121" y="5047488"/>
            <a:ext cx="233172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2B3242"/>
                </a:solidFill>
                <a:latin typeface="Pretendard" pitchFamily="34" charset="0"/>
                <a:ea typeface="Pretendard" pitchFamily="34" charset="-122"/>
                <a:cs typeface="Pretendard" pitchFamily="34" charset="-120"/>
              </a:rPr>
              <a:t>Consultation</a:t>
            </a:r>
            <a:endParaRPr lang="en-US" sz="16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C-20260501-003</a:t>
            </a:r>
            <a:endParaRPr lang="en-US" sz="1600" dirty="0"/>
          </a:p>
        </p:txBody>
      </p:sp>
      <p:sp>
        <p:nvSpPr>
          <p:cNvPr id="47" name="Shape 44"/>
          <p:cNvSpPr/>
          <p:nvPr/>
        </p:nvSpPr>
        <p:spPr>
          <a:xfrm>
            <a:off x="9269273" y="5477256"/>
            <a:ext cx="82296" cy="0"/>
          </a:xfrm>
          <a:prstGeom prst="line">
            <a:avLst/>
          </a:prstGeom>
          <a:noFill/>
          <a:ln w="19050">
            <a:solidFill>
              <a:srgbClr val="4A5364"/>
            </a:solidFill>
            <a:prstDash val="solid"/>
            <a:tailEnd type="triangle"/>
          </a:ln>
        </p:spPr>
        <p:txBody>
          <a:bodyPr/>
          <a:lstStyle/>
          <a:p>
            <a:endParaRPr lang="ko-KR" altLang="en-US"/>
          </a:p>
        </p:txBody>
      </p:sp>
      <p:sp>
        <p:nvSpPr>
          <p:cNvPr id="48" name="Shape 45"/>
          <p:cNvSpPr/>
          <p:nvPr/>
        </p:nvSpPr>
        <p:spPr>
          <a:xfrm>
            <a:off x="9379001" y="5285232"/>
            <a:ext cx="1874520" cy="384048"/>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49" name="Text 46"/>
          <p:cNvSpPr txBox="1"/>
          <p:nvPr/>
        </p:nvSpPr>
        <p:spPr>
          <a:xfrm>
            <a:off x="9379001" y="5285232"/>
            <a:ext cx="18745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50" name="Shape 47"/>
          <p:cNvSpPr/>
          <p:nvPr/>
        </p:nvSpPr>
        <p:spPr>
          <a:xfrm>
            <a:off x="11271809" y="5477256"/>
            <a:ext cx="91440" cy="0"/>
          </a:xfrm>
          <a:prstGeom prst="line">
            <a:avLst/>
          </a:prstGeom>
          <a:noFill/>
          <a:ln w="19050">
            <a:solidFill>
              <a:srgbClr val="4A5364"/>
            </a:solidFill>
            <a:prstDash val="solid"/>
            <a:tailEnd type="triangle"/>
          </a:ln>
        </p:spPr>
        <p:txBody>
          <a:bodyPr/>
          <a:lstStyle/>
          <a:p>
            <a:endParaRPr lang="ko-KR" altLang="en-US"/>
          </a:p>
        </p:txBody>
      </p:sp>
      <p:sp>
        <p:nvSpPr>
          <p:cNvPr id="51" name="Shape 48"/>
          <p:cNvSpPr/>
          <p:nvPr/>
        </p:nvSpPr>
        <p:spPr>
          <a:xfrm>
            <a:off x="11390681" y="5047488"/>
            <a:ext cx="2743200" cy="859536"/>
          </a:xfrm>
          <a:prstGeom prst="roundRect">
            <a:avLst>
              <a:gd name="adj" fmla="val 8511"/>
            </a:avLst>
          </a:prstGeom>
          <a:solidFill>
            <a:srgbClr val="EEF3FA"/>
          </a:solidFill>
          <a:ln w="12700">
            <a:solidFill>
              <a:srgbClr val="2E74C6"/>
            </a:solidFill>
            <a:prstDash val="solid"/>
          </a:ln>
        </p:spPr>
        <p:txBody>
          <a:bodyPr/>
          <a:lstStyle/>
          <a:p>
            <a:endParaRPr lang="ko-KR" altLang="en-US"/>
          </a:p>
        </p:txBody>
      </p:sp>
      <p:sp>
        <p:nvSpPr>
          <p:cNvPr id="52" name="Text 49"/>
          <p:cNvSpPr txBox="1"/>
          <p:nvPr/>
        </p:nvSpPr>
        <p:spPr>
          <a:xfrm>
            <a:off x="11390681" y="5047488"/>
            <a:ext cx="2743200" cy="859536"/>
          </a:xfrm>
          <a:prstGeom prst="rect">
            <a:avLst/>
          </a:prstGeom>
          <a:noFill/>
          <a:ln/>
        </p:spPr>
        <p:txBody>
          <a:bodyPr wrap="square" lIns="635" tIns="635" rIns="635" bIns="635" rtlCol="0" anchor="ctr"/>
          <a:lstStyle/>
          <a:p>
            <a:pPr marL="0" indent="0" algn="ctr">
              <a:spcAft>
                <a:spcPts val="100"/>
              </a:spcAft>
              <a:buNone/>
            </a:pPr>
            <a:r>
              <a:rPr lang="en-US" sz="1600" b="1" dirty="0">
                <a:solidFill>
                  <a:srgbClr val="1E2A5C"/>
                </a:solidFill>
                <a:latin typeface="Pretendard" pitchFamily="34" charset="0"/>
                <a:ea typeface="Pretendard" pitchFamily="34" charset="-122"/>
                <a:cs typeface="Pretendard" pitchFamily="34" charset="-120"/>
              </a:rPr>
              <a:t>Consultation</a:t>
            </a:r>
            <a:endParaRPr lang="en-US" sz="16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C-20260302-002 (앞 상담)</a:t>
            </a:r>
            <a:endParaRPr lang="en-US" sz="1600" dirty="0"/>
          </a:p>
        </p:txBody>
      </p:sp>
      <p:sp>
        <p:nvSpPr>
          <p:cNvPr id="53" name="Shape 50"/>
          <p:cNvSpPr/>
          <p:nvPr/>
        </p:nvSpPr>
        <p:spPr>
          <a:xfrm>
            <a:off x="509321" y="6089904"/>
            <a:ext cx="3268980" cy="1179576"/>
          </a:xfrm>
          <a:prstGeom prst="roundRect">
            <a:avLst>
              <a:gd name="adj" fmla="val 6202"/>
            </a:avLst>
          </a:prstGeom>
          <a:solidFill>
            <a:srgbClr val="F5F8FC"/>
          </a:solidFill>
          <a:ln w="12700">
            <a:solidFill>
              <a:srgbClr val="D9E0EC"/>
            </a:solidFill>
            <a:prstDash val="solid"/>
          </a:ln>
        </p:spPr>
        <p:txBody>
          <a:bodyPr/>
          <a:lstStyle/>
          <a:p>
            <a:endParaRPr lang="ko-KR" altLang="en-US"/>
          </a:p>
        </p:txBody>
      </p:sp>
      <p:sp>
        <p:nvSpPr>
          <p:cNvPr id="54" name="Shape 51"/>
          <p:cNvSpPr/>
          <p:nvPr/>
        </p:nvSpPr>
        <p:spPr>
          <a:xfrm>
            <a:off x="619049" y="6245352"/>
            <a:ext cx="329184" cy="329184"/>
          </a:xfrm>
          <a:prstGeom prst="roundRect">
            <a:avLst>
              <a:gd name="adj" fmla="val 13889"/>
            </a:avLst>
          </a:prstGeom>
          <a:solidFill>
            <a:srgbClr val="2E74C6"/>
          </a:solidFill>
          <a:ln/>
        </p:spPr>
        <p:txBody>
          <a:bodyPr/>
          <a:lstStyle/>
          <a:p>
            <a:endParaRPr lang="ko-KR" altLang="en-US"/>
          </a:p>
        </p:txBody>
      </p:sp>
      <p:sp>
        <p:nvSpPr>
          <p:cNvPr id="55" name="Text 52"/>
          <p:cNvSpPr txBox="1"/>
          <p:nvPr/>
        </p:nvSpPr>
        <p:spPr>
          <a:xfrm>
            <a:off x="619049" y="624535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56" name="Text 53"/>
          <p:cNvSpPr txBox="1"/>
          <p:nvPr/>
        </p:nvSpPr>
        <p:spPr>
          <a:xfrm>
            <a:off x="1012241" y="6144768"/>
            <a:ext cx="2674620" cy="54864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같은 본문은 다시 묻지 않음</a:t>
            </a:r>
            <a:endParaRPr lang="en-US" sz="1500" dirty="0"/>
          </a:p>
        </p:txBody>
      </p:sp>
      <p:sp>
        <p:nvSpPr>
          <p:cNvPr id="57" name="Text 54"/>
          <p:cNvSpPr txBox="1"/>
          <p:nvPr/>
        </p:nvSpPr>
        <p:spPr>
          <a:xfrm>
            <a:off x="646481" y="6711696"/>
            <a:ext cx="2994660" cy="5029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본문 해시와 스키마 지문이 같으면 앞 결과를 씀</a:t>
            </a:r>
            <a:endParaRPr lang="en-US" sz="1400" dirty="0"/>
          </a:p>
        </p:txBody>
      </p:sp>
      <p:sp>
        <p:nvSpPr>
          <p:cNvPr id="58" name="Shape 55"/>
          <p:cNvSpPr/>
          <p:nvPr/>
        </p:nvSpPr>
        <p:spPr>
          <a:xfrm>
            <a:off x="3961181" y="6089904"/>
            <a:ext cx="3268980" cy="1179576"/>
          </a:xfrm>
          <a:prstGeom prst="roundRect">
            <a:avLst>
              <a:gd name="adj" fmla="val 6202"/>
            </a:avLst>
          </a:prstGeom>
          <a:solidFill>
            <a:srgbClr val="F5F8FC"/>
          </a:solidFill>
          <a:ln w="12700">
            <a:solidFill>
              <a:srgbClr val="D9E0EC"/>
            </a:solidFill>
            <a:prstDash val="solid"/>
          </a:ln>
        </p:spPr>
        <p:txBody>
          <a:bodyPr/>
          <a:lstStyle/>
          <a:p>
            <a:endParaRPr lang="ko-KR" altLang="en-US"/>
          </a:p>
        </p:txBody>
      </p:sp>
      <p:sp>
        <p:nvSpPr>
          <p:cNvPr id="59" name="Shape 56"/>
          <p:cNvSpPr/>
          <p:nvPr/>
        </p:nvSpPr>
        <p:spPr>
          <a:xfrm>
            <a:off x="4070909" y="6245352"/>
            <a:ext cx="329184" cy="329184"/>
          </a:xfrm>
          <a:prstGeom prst="roundRect">
            <a:avLst>
              <a:gd name="adj" fmla="val 13889"/>
            </a:avLst>
          </a:prstGeom>
          <a:solidFill>
            <a:srgbClr val="2E74C6"/>
          </a:solidFill>
          <a:ln/>
        </p:spPr>
        <p:txBody>
          <a:bodyPr/>
          <a:lstStyle/>
          <a:p>
            <a:endParaRPr lang="ko-KR" altLang="en-US"/>
          </a:p>
        </p:txBody>
      </p:sp>
      <p:sp>
        <p:nvSpPr>
          <p:cNvPr id="60" name="Text 57"/>
          <p:cNvSpPr txBox="1"/>
          <p:nvPr/>
        </p:nvSpPr>
        <p:spPr>
          <a:xfrm>
            <a:off x="4070909" y="624535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61" name="Text 58"/>
          <p:cNvSpPr txBox="1"/>
          <p:nvPr/>
        </p:nvSpPr>
        <p:spPr>
          <a:xfrm>
            <a:off x="4464101" y="6144768"/>
            <a:ext cx="2674620" cy="54864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형식 오류는 다시</a:t>
            </a:r>
            <a:endParaRPr lang="en-US" sz="1500" dirty="0"/>
          </a:p>
        </p:txBody>
      </p:sp>
      <p:sp>
        <p:nvSpPr>
          <p:cNvPr id="62" name="Text 59"/>
          <p:cNvSpPr txBox="1"/>
          <p:nvPr/>
        </p:nvSpPr>
        <p:spPr>
          <a:xfrm>
            <a:off x="4098341" y="6711696"/>
            <a:ext cx="2994660" cy="5029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같은 입력으로 2번까지 다시 물음</a:t>
            </a:r>
            <a:endParaRPr lang="en-US" sz="1400" dirty="0"/>
          </a:p>
        </p:txBody>
      </p:sp>
      <p:sp>
        <p:nvSpPr>
          <p:cNvPr id="63" name="Shape 60"/>
          <p:cNvSpPr/>
          <p:nvPr/>
        </p:nvSpPr>
        <p:spPr>
          <a:xfrm>
            <a:off x="7413041" y="6089904"/>
            <a:ext cx="3268980" cy="1179576"/>
          </a:xfrm>
          <a:prstGeom prst="roundRect">
            <a:avLst>
              <a:gd name="adj" fmla="val 6202"/>
            </a:avLst>
          </a:prstGeom>
          <a:solidFill>
            <a:srgbClr val="F5F8FC"/>
          </a:solidFill>
          <a:ln w="12700">
            <a:solidFill>
              <a:srgbClr val="D9E0EC"/>
            </a:solidFill>
            <a:prstDash val="solid"/>
          </a:ln>
        </p:spPr>
        <p:txBody>
          <a:bodyPr/>
          <a:lstStyle/>
          <a:p>
            <a:endParaRPr lang="ko-KR" altLang="en-US"/>
          </a:p>
        </p:txBody>
      </p:sp>
      <p:sp>
        <p:nvSpPr>
          <p:cNvPr id="64" name="Shape 61"/>
          <p:cNvSpPr/>
          <p:nvPr/>
        </p:nvSpPr>
        <p:spPr>
          <a:xfrm>
            <a:off x="7522769" y="6245352"/>
            <a:ext cx="329184" cy="329184"/>
          </a:xfrm>
          <a:prstGeom prst="roundRect">
            <a:avLst>
              <a:gd name="adj" fmla="val 13889"/>
            </a:avLst>
          </a:prstGeom>
          <a:solidFill>
            <a:srgbClr val="2E74C6"/>
          </a:solidFill>
          <a:ln/>
        </p:spPr>
        <p:txBody>
          <a:bodyPr/>
          <a:lstStyle/>
          <a:p>
            <a:endParaRPr lang="ko-KR" altLang="en-US"/>
          </a:p>
        </p:txBody>
      </p:sp>
      <p:sp>
        <p:nvSpPr>
          <p:cNvPr id="65" name="Text 62"/>
          <p:cNvSpPr txBox="1"/>
          <p:nvPr/>
        </p:nvSpPr>
        <p:spPr>
          <a:xfrm>
            <a:off x="7522769" y="624535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66" name="Text 63"/>
          <p:cNvSpPr txBox="1"/>
          <p:nvPr/>
        </p:nvSpPr>
        <p:spPr>
          <a:xfrm>
            <a:off x="7915961" y="6144768"/>
            <a:ext cx="2674620" cy="54864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실패는 기록하고 계속</a:t>
            </a:r>
            <a:endParaRPr lang="en-US" sz="1500" dirty="0"/>
          </a:p>
        </p:txBody>
      </p:sp>
      <p:sp>
        <p:nvSpPr>
          <p:cNvPr id="67" name="Text 64"/>
          <p:cNvSpPr txBox="1"/>
          <p:nvPr/>
        </p:nvSpPr>
        <p:spPr>
          <a:xfrm>
            <a:off x="7550201" y="6711696"/>
            <a:ext cx="2994660" cy="5029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failed_units에 남기고 나머지 단위는 진행</a:t>
            </a:r>
            <a:endParaRPr lang="en-US" sz="1400" dirty="0"/>
          </a:p>
        </p:txBody>
      </p:sp>
      <p:sp>
        <p:nvSpPr>
          <p:cNvPr id="68" name="Shape 65"/>
          <p:cNvSpPr/>
          <p:nvPr/>
        </p:nvSpPr>
        <p:spPr>
          <a:xfrm>
            <a:off x="10864901" y="6089904"/>
            <a:ext cx="3268980" cy="1179576"/>
          </a:xfrm>
          <a:prstGeom prst="roundRect">
            <a:avLst>
              <a:gd name="adj" fmla="val 6202"/>
            </a:avLst>
          </a:prstGeom>
          <a:solidFill>
            <a:srgbClr val="F5F8FC"/>
          </a:solidFill>
          <a:ln w="12700">
            <a:solidFill>
              <a:srgbClr val="D9E0EC"/>
            </a:solidFill>
            <a:prstDash val="solid"/>
          </a:ln>
        </p:spPr>
        <p:txBody>
          <a:bodyPr/>
          <a:lstStyle/>
          <a:p>
            <a:endParaRPr lang="ko-KR" altLang="en-US"/>
          </a:p>
        </p:txBody>
      </p:sp>
      <p:sp>
        <p:nvSpPr>
          <p:cNvPr id="69" name="Shape 66"/>
          <p:cNvSpPr/>
          <p:nvPr/>
        </p:nvSpPr>
        <p:spPr>
          <a:xfrm>
            <a:off x="10974629" y="6245352"/>
            <a:ext cx="329184" cy="329184"/>
          </a:xfrm>
          <a:prstGeom prst="roundRect">
            <a:avLst>
              <a:gd name="adj" fmla="val 13889"/>
            </a:avLst>
          </a:prstGeom>
          <a:solidFill>
            <a:srgbClr val="2E74C6"/>
          </a:solidFill>
          <a:ln/>
        </p:spPr>
        <p:txBody>
          <a:bodyPr/>
          <a:lstStyle/>
          <a:p>
            <a:endParaRPr lang="ko-KR" altLang="en-US"/>
          </a:p>
        </p:txBody>
      </p:sp>
      <p:sp>
        <p:nvSpPr>
          <p:cNvPr id="70" name="Text 67"/>
          <p:cNvSpPr txBox="1"/>
          <p:nvPr/>
        </p:nvSpPr>
        <p:spPr>
          <a:xfrm>
            <a:off x="10974629" y="624535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71" name="Text 68"/>
          <p:cNvSpPr txBox="1"/>
          <p:nvPr/>
        </p:nvSpPr>
        <p:spPr>
          <a:xfrm>
            <a:off x="11367821" y="6144768"/>
            <a:ext cx="2674620" cy="54864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스키마 밖은 K3(가지치기)단계에서 지움</a:t>
            </a:r>
            <a:endParaRPr lang="en-US" sz="1500" dirty="0"/>
          </a:p>
        </p:txBody>
      </p:sp>
      <p:sp>
        <p:nvSpPr>
          <p:cNvPr id="72" name="Text 69"/>
          <p:cNvSpPr txBox="1"/>
          <p:nvPr/>
        </p:nvSpPr>
        <p:spPr>
          <a:xfrm>
            <a:off x="11002061" y="6711696"/>
            <a:ext cx="2994660" cy="5029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스키마에 없는 노드, 관계, 속성은 바로 가지치기</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K2. </a:t>
            </a:r>
            <a:r>
              <a:rPr lang="ko-KR" altLang="en-US" dirty="0">
                <a:solidFill>
                  <a:srgbClr val="2C2926"/>
                </a:solidFill>
                <a:latin typeface="Pretendard" pitchFamily="34" charset="0"/>
                <a:ea typeface="Pretendard" pitchFamily="34" charset="-122"/>
                <a:cs typeface="Pretendard" pitchFamily="34" charset="-120"/>
              </a:rPr>
              <a:t>추출과 </a:t>
            </a:r>
            <a:r>
              <a:rPr lang="en-US" altLang="ko-KR" dirty="0">
                <a:solidFill>
                  <a:srgbClr val="2C2926"/>
                </a:solidFill>
                <a:latin typeface="Pretendard" pitchFamily="34" charset="0"/>
                <a:ea typeface="Pretendard" pitchFamily="34" charset="-122"/>
                <a:cs typeface="Pretendard" pitchFamily="34" charset="-120"/>
              </a:rPr>
              <a:t>K3. </a:t>
            </a:r>
            <a:r>
              <a:rPr lang="ko-KR" altLang="en-US" dirty="0">
                <a:solidFill>
                  <a:srgbClr val="2C2926"/>
                </a:solidFill>
                <a:latin typeface="Pretendard" pitchFamily="34" charset="0"/>
                <a:ea typeface="Pretendard" pitchFamily="34" charset="-122"/>
                <a:cs typeface="Pretendard" pitchFamily="34" charset="-120"/>
              </a:rPr>
              <a:t>가지치기</a:t>
            </a:r>
            <a:r>
              <a:rPr lang="en-US" altLang="ko-KR" dirty="0">
                <a:solidFill>
                  <a:srgbClr val="2C2926"/>
                </a:solidFill>
                <a:latin typeface="Pretendard" pitchFamily="34" charset="0"/>
                <a:ea typeface="Pretendard" pitchFamily="34" charset="-122"/>
                <a:cs typeface="Pretendard" pitchFamily="34" charset="-120"/>
              </a:rPr>
              <a:t>(Pruning)</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추출기는 한 번 만들고, 단위마다 머리줄을 붙여 부르며, 한 함수 안에서 K2 추출과 K3 가지치기를 함께 수행함</a:t>
            </a:r>
            <a:endParaRPr lang="en-US" sz="1800" dirty="0"/>
          </a:p>
        </p:txBody>
      </p:sp>
      <p:sp>
        <p:nvSpPr>
          <p:cNvPr id="5" name="Shape 2"/>
          <p:cNvSpPr/>
          <p:nvPr/>
        </p:nvSpPr>
        <p:spPr>
          <a:xfrm>
            <a:off x="509321" y="1737360"/>
            <a:ext cx="7360920" cy="5532120"/>
          </a:xfrm>
          <a:prstGeom prst="roundRect">
            <a:avLst>
              <a:gd name="adj" fmla="val 992"/>
            </a:avLst>
          </a:prstGeom>
          <a:solidFill>
            <a:srgbClr val="F5F8FC"/>
          </a:solidFill>
          <a:ln w="12700">
            <a:solidFill>
              <a:srgbClr val="D9E0EC"/>
            </a:solidFill>
            <a:prstDash val="solid"/>
          </a:ln>
        </p:spPr>
        <p:txBody>
          <a:bodyPr/>
          <a:lstStyle/>
          <a:p>
            <a:endParaRPr lang="ko-KR" altLang="en-US"/>
          </a:p>
        </p:txBody>
      </p:sp>
      <p:sp>
        <p:nvSpPr>
          <p:cNvPr id="6" name="Text 3"/>
          <p:cNvSpPr txBox="1"/>
          <p:nvPr/>
        </p:nvSpPr>
        <p:spPr>
          <a:xfrm>
            <a:off x="619049" y="1810512"/>
            <a:ext cx="71414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추출기 만들기와 _k2_k3_one (kg_build.py 발췌)</a:t>
            </a:r>
            <a:endParaRPr lang="en-US" sz="1400" dirty="0"/>
          </a:p>
        </p:txBody>
      </p:sp>
      <p:sp>
        <p:nvSpPr>
          <p:cNvPr id="7" name="Text 4"/>
          <p:cNvSpPr txBox="1"/>
          <p:nvPr/>
        </p:nvSpPr>
        <p:spPr>
          <a:xfrm>
            <a:off x="619049" y="2139696"/>
            <a:ext cx="7141464" cy="50749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prepare() 안: 추출기와 가지치기는 한 번만 만듦</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llm = make_llm()                                  # Groq openai/gpt-oss-120b</a:t>
            </a:r>
            <a:endParaRPr lang="en-US" sz="1400" dirty="0"/>
          </a:p>
          <a:p>
            <a:pPr marL="0" indent="0">
              <a:lnSpc>
                <a:spcPct val="105000"/>
              </a:lnSpc>
              <a:buNone/>
            </a:pPr>
            <a:r>
              <a:rPr lang="en-US" sz="1400" b="1" dirty="0">
                <a:solidFill>
                  <a:srgbClr val="2B3242"/>
                </a:solidFill>
                <a:latin typeface="Pretendard" pitchFamily="34" charset="0"/>
                <a:ea typeface="Pretendard" pitchFamily="34" charset="-122"/>
                <a:cs typeface="Pretendard" pitchFamily="34" charset="-120"/>
              </a:rPr>
              <a:t>extractor = LLMEntityRelationExtractor</a:t>
            </a:r>
            <a:r>
              <a:rPr lang="en-US" sz="1400" dirty="0">
                <a:solidFill>
                  <a:srgbClr val="2B3242"/>
                </a:solidFill>
                <a:latin typeface="Pretendard" pitchFamily="34" charset="0"/>
                <a:ea typeface="Pretendard" pitchFamily="34" charset="-122"/>
                <a:cs typeface="Pretendard" pitchFamily="34" charset="-120"/>
              </a:rPr>
              <a:t>(llm=llm,</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create_lexical_graph=False, on_error=OnError.RAISE)</a:t>
            </a:r>
            <a:endParaRPr lang="en-US" sz="1400" dirty="0"/>
          </a:p>
          <a:p>
            <a:pPr marL="0" indent="0">
              <a:lnSpc>
                <a:spcPct val="105000"/>
              </a:lnSpc>
              <a:buNone/>
            </a:pPr>
            <a:r>
              <a:rPr lang="en-US" sz="1400" b="1" dirty="0">
                <a:solidFill>
                  <a:srgbClr val="2B3242"/>
                </a:solidFill>
                <a:latin typeface="Pretendard" pitchFamily="34" charset="0"/>
                <a:ea typeface="Pretendard" pitchFamily="34" charset="-122"/>
                <a:cs typeface="Pretendard" pitchFamily="34" charset="-120"/>
              </a:rPr>
              <a:t>pruner, sem = GraphPruning(), asyncio.Semaphore(config.LLM_CONCURRENCY)</a:t>
            </a:r>
            <a:endParaRPr lang="en-US" sz="1400" dirty="0"/>
          </a:p>
          <a:p>
            <a:pPr marL="0" indent="0">
              <a:lnSpc>
                <a:spcPct val="105000"/>
              </a:lnSpc>
              <a:buNone/>
            </a:pP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async def _k2_k3_one(sem, extractor, pruner, unit, spec):   # K2와 K3를 함께</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async with sem:                               # 동시 4건</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text = _head_line(unit["metadata"], spec["header"]) + unit["text"]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attempt in range(config.LLM_RETRIES + 1):    # 2번까지 다시</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try:</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graph = await extractor.run</a:t>
            </a:r>
            <a:r>
              <a:rPr lang="en-US" sz="1400" dirty="0">
                <a:solidFill>
                  <a:srgbClr val="2B3242"/>
                </a:solidFill>
                <a:latin typeface="Pretendard" pitchFamily="34" charset="0"/>
                <a:ea typeface="Pretendard" pitchFamily="34" charset="-122"/>
                <a:cs typeface="Pretendard" pitchFamily="34" charset="-120"/>
              </a:rPr>
              <a:t>(chunks=TextChunks(chunks=[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TextChunk(text=text, index=0, uid=unit["unit_id"])]),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schema=spec["schema"])</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break</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except Exception as 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if attempt == config.LLM_RETRIES:   # 실패는 기록용으로 돌려줌</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{"error": f"{type(e).__name__}: {str(e)[:200]}"}</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pruned = (await pruner.run(graph, spec["schema"])).graph   # K3: 추출 직후 바로</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{"graph": pruned.model_dump(), …}</a:t>
            </a:r>
            <a:endParaRPr lang="en-US" sz="1400" dirty="0"/>
          </a:p>
        </p:txBody>
      </p:sp>
      <p:sp>
        <p:nvSpPr>
          <p:cNvPr id="8" name="Shape 5"/>
          <p:cNvSpPr/>
          <p:nvPr/>
        </p:nvSpPr>
        <p:spPr>
          <a:xfrm>
            <a:off x="8144561" y="1737360"/>
            <a:ext cx="5989320" cy="3017520"/>
          </a:xfrm>
          <a:prstGeom prst="roundRect">
            <a:avLst>
              <a:gd name="adj" fmla="val 1818"/>
            </a:avLst>
          </a:prstGeom>
          <a:solidFill>
            <a:srgbClr val="F5F8FC"/>
          </a:solidFill>
          <a:ln w="12700">
            <a:solidFill>
              <a:srgbClr val="D9E0EC"/>
            </a:solidFill>
            <a:prstDash val="solid"/>
          </a:ln>
        </p:spPr>
        <p:txBody>
          <a:bodyPr/>
          <a:lstStyle/>
          <a:p>
            <a:endParaRPr lang="ko-KR" altLang="en-US"/>
          </a:p>
        </p:txBody>
      </p:sp>
      <p:sp>
        <p:nvSpPr>
          <p:cNvPr id="9" name="Text 6"/>
          <p:cNvSpPr txBox="1"/>
          <p:nvPr/>
        </p:nvSpPr>
        <p:spPr>
          <a:xfrm>
            <a:off x="8254289" y="1810512"/>
            <a:ext cx="57698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LLM이 돌려준 그래프 (예시 상담, 일부)</a:t>
            </a:r>
            <a:endParaRPr lang="en-US" sz="1400" dirty="0"/>
          </a:p>
        </p:txBody>
      </p:sp>
      <p:sp>
        <p:nvSpPr>
          <p:cNvPr id="10" name="Text 7"/>
          <p:cNvSpPr txBox="1"/>
          <p:nvPr/>
        </p:nvSpPr>
        <p:spPr>
          <a:xfrm>
            <a:off x="8254289" y="2139696"/>
            <a:ext cx="5769864" cy="25603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{"nodes":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{"id": "c0", "label": "Consultation",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{"id": "p1", "label": "Proposal",</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 {"content": "그러면 주문 내역 화면으로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"decision": "수용"}},</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{"id": "r0", "label": "ReconsiderCondition", …}, …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{"type": "HAS_PROPOSAL",</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"start_node_id": "c0", "end_node_id": "p1"},</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{"type": "RECONSIDER_WHEN",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"start_node_id": "p1", "end_node_id": "r0"}, … ]}</a:t>
            </a:r>
            <a:endParaRPr lang="en-US" sz="1400" dirty="0"/>
          </a:p>
        </p:txBody>
      </p:sp>
      <p:sp>
        <p:nvSpPr>
          <p:cNvPr id="11" name="Shape 8"/>
          <p:cNvSpPr/>
          <p:nvPr/>
        </p:nvSpPr>
        <p:spPr>
          <a:xfrm>
            <a:off x="8144561" y="4846320"/>
            <a:ext cx="5989320" cy="1600200"/>
          </a:xfrm>
          <a:prstGeom prst="roundRect">
            <a:avLst>
              <a:gd name="adj" fmla="val 3429"/>
            </a:avLst>
          </a:prstGeom>
          <a:solidFill>
            <a:srgbClr val="F5F8FC"/>
          </a:solidFill>
          <a:ln w="12700">
            <a:solidFill>
              <a:srgbClr val="D9E0EC"/>
            </a:solidFill>
            <a:prstDash val="solid"/>
          </a:ln>
        </p:spPr>
        <p:txBody>
          <a:bodyPr/>
          <a:lstStyle/>
          <a:p>
            <a:endParaRPr lang="ko-KR" altLang="en-US"/>
          </a:p>
        </p:txBody>
      </p:sp>
      <p:sp>
        <p:nvSpPr>
          <p:cNvPr id="12" name="Text 9"/>
          <p:cNvSpPr txBox="1"/>
          <p:nvPr/>
        </p:nvSpPr>
        <p:spPr>
          <a:xfrm>
            <a:off x="8254289" y="4919472"/>
            <a:ext cx="57698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앞 세대 결과 재사용 (prepare 발췌)</a:t>
            </a:r>
            <a:endParaRPr lang="en-US" sz="1400" dirty="0"/>
          </a:p>
        </p:txBody>
      </p:sp>
      <p:sp>
        <p:nvSpPr>
          <p:cNvPr id="13" name="Text 10"/>
          <p:cNvSpPr txBox="1"/>
          <p:nvPr/>
        </p:nvSpPr>
        <p:spPr>
          <a:xfrm>
            <a:off x="8254289" y="5248656"/>
            <a:ext cx="5769864" cy="114300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hit = cache.get((u["doc_type"], u["text_hash"], u["schema_signature"]))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if hit: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u.update(graph=hit["graph"], reused=True)   # LLM을 부르지 않음</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else: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todo.append(u)</a:t>
            </a:r>
            <a:endParaRPr lang="en-US" sz="1400" dirty="0"/>
          </a:p>
        </p:txBody>
      </p:sp>
      <p:sp>
        <p:nvSpPr>
          <p:cNvPr id="14" name="Shape 11"/>
          <p:cNvSpPr/>
          <p:nvPr/>
        </p:nvSpPr>
        <p:spPr>
          <a:xfrm>
            <a:off x="8144561" y="6537960"/>
            <a:ext cx="5989320" cy="731520"/>
          </a:xfrm>
          <a:prstGeom prst="roundRect">
            <a:avLst>
              <a:gd name="adj" fmla="val 10000"/>
            </a:avLst>
          </a:prstGeom>
          <a:solidFill>
            <a:srgbClr val="2E74C6"/>
          </a:solidFill>
          <a:ln/>
        </p:spPr>
        <p:txBody>
          <a:bodyPr/>
          <a:lstStyle/>
          <a:p>
            <a:endParaRPr lang="ko-KR" altLang="en-US"/>
          </a:p>
        </p:txBody>
      </p:sp>
      <p:sp>
        <p:nvSpPr>
          <p:cNvPr id="15" name="Text 12"/>
          <p:cNvSpPr txBox="1"/>
          <p:nvPr/>
        </p:nvSpPr>
        <p:spPr>
          <a:xfrm>
            <a:off x="8144561" y="6537960"/>
            <a:ext cx="598932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K2와 K3는 함께 수행 (_k2_k3_one 한 함수)</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추출 직후 바로 가지치기한 뒤 kg_prepared.json에 보관</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a:t>
            </a:r>
            <a:r>
              <a:rPr lang="en-US" sz="3200" b="1" dirty="0">
                <a:solidFill>
                  <a:srgbClr val="2C2926"/>
                </a:solidFill>
                <a:latin typeface="Pretendard" pitchFamily="34" charset="0"/>
                <a:ea typeface="Pretendard" pitchFamily="34" charset="-122"/>
                <a:cs typeface="Pretendard" pitchFamily="34" charset="-120"/>
              </a:rPr>
              <a:t>K4. 적재</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보관해 둔 추출 결과를 Neo4j에 쓰고, 검색용 청크와 같은 ID의 청크 노드로 이음</a:t>
            </a:r>
            <a:endParaRPr lang="en-US" sz="1800" dirty="0"/>
          </a:p>
        </p:txBody>
      </p:sp>
      <p:sp>
        <p:nvSpPr>
          <p:cNvPr id="5" name="Shape 2"/>
          <p:cNvSpPr/>
          <p:nvPr/>
        </p:nvSpPr>
        <p:spPr>
          <a:xfrm>
            <a:off x="509321" y="1737360"/>
            <a:ext cx="3017520" cy="365760"/>
          </a:xfrm>
          <a:prstGeom prst="roundRect">
            <a:avLst>
              <a:gd name="adj" fmla="val 12500"/>
            </a:avLst>
          </a:prstGeom>
          <a:solidFill>
            <a:srgbClr val="404155"/>
          </a:solidFill>
          <a:ln/>
        </p:spPr>
        <p:txBody>
          <a:bodyPr/>
          <a:lstStyle/>
          <a:p>
            <a:endParaRPr lang="ko-KR" altLang="en-US"/>
          </a:p>
        </p:txBody>
      </p:sp>
      <p:sp>
        <p:nvSpPr>
          <p:cNvPr id="6" name="Text 3"/>
          <p:cNvSpPr txBox="1"/>
          <p:nvPr/>
        </p:nvSpPr>
        <p:spPr>
          <a:xfrm>
            <a:off x="509321" y="1737360"/>
            <a:ext cx="30175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입력 (kg_prepared.json)</a:t>
            </a:r>
            <a:endParaRPr lang="en-US" sz="1600" dirty="0"/>
          </a:p>
        </p:txBody>
      </p:sp>
      <p:sp>
        <p:nvSpPr>
          <p:cNvPr id="7" name="Shape 4"/>
          <p:cNvSpPr/>
          <p:nvPr/>
        </p:nvSpPr>
        <p:spPr>
          <a:xfrm>
            <a:off x="509321" y="2194560"/>
            <a:ext cx="3017520" cy="627278"/>
          </a:xfrm>
          <a:prstGeom prst="roundRect">
            <a:avLst>
              <a:gd name="adj" fmla="val 11662"/>
            </a:avLst>
          </a:prstGeom>
          <a:solidFill>
            <a:srgbClr val="F5F8FC"/>
          </a:solidFill>
          <a:ln w="12700">
            <a:solidFill>
              <a:srgbClr val="D9E0EC"/>
            </a:solidFill>
            <a:prstDash val="solid"/>
          </a:ln>
        </p:spPr>
        <p:txBody>
          <a:bodyPr/>
          <a:lstStyle/>
          <a:p>
            <a:endParaRPr lang="ko-KR" altLang="en-US"/>
          </a:p>
        </p:txBody>
      </p:sp>
      <p:sp>
        <p:nvSpPr>
          <p:cNvPr id="8" name="Text 5"/>
          <p:cNvSpPr txBox="1"/>
          <p:nvPr/>
        </p:nvSpPr>
        <p:spPr>
          <a:xfrm>
            <a:off x="509321" y="2194560"/>
            <a:ext cx="3017520" cy="627278"/>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2B3242"/>
                </a:solidFill>
                <a:latin typeface="Pretendard" pitchFamily="34" charset="0"/>
                <a:ea typeface="Pretendard" pitchFamily="34" charset="-122"/>
                <a:cs typeface="Pretendard" pitchFamily="34" charset="-120"/>
              </a:rPr>
              <a:t>unit_id</a:t>
            </a:r>
            <a:endParaRPr lang="en-US" sz="1500" dirty="0"/>
          </a:p>
          <a:p>
            <a:pPr marL="0" indent="0" algn="l">
              <a:spcAft>
                <a:spcPts val="100"/>
              </a:spcAft>
              <a:buNone/>
            </a:pPr>
            <a:r>
              <a:rPr lang="en-US" sz="1400" dirty="0">
                <a:solidFill>
                  <a:srgbClr val="2B3242"/>
                </a:solidFill>
                <a:latin typeface="Pretendard" pitchFamily="34" charset="0"/>
                <a:ea typeface="Pretendard" pitchFamily="34" charset="-122"/>
                <a:cs typeface="Pretendard" pitchFamily="34" charset="-120"/>
              </a:rPr>
              <a:t>D3_C-20260501-003_…_0000</a:t>
            </a:r>
            <a:endParaRPr lang="en-US" sz="1500" dirty="0"/>
          </a:p>
        </p:txBody>
      </p:sp>
      <p:sp>
        <p:nvSpPr>
          <p:cNvPr id="9" name="Shape 6"/>
          <p:cNvSpPr/>
          <p:nvPr/>
        </p:nvSpPr>
        <p:spPr>
          <a:xfrm>
            <a:off x="509321" y="2894990"/>
            <a:ext cx="3017520" cy="627278"/>
          </a:xfrm>
          <a:prstGeom prst="roundRect">
            <a:avLst>
              <a:gd name="adj" fmla="val 11662"/>
            </a:avLst>
          </a:prstGeom>
          <a:solidFill>
            <a:srgbClr val="F5F8FC"/>
          </a:solidFill>
          <a:ln w="12700">
            <a:solidFill>
              <a:srgbClr val="D9E0EC"/>
            </a:solidFill>
            <a:prstDash val="solid"/>
          </a:ln>
        </p:spPr>
        <p:txBody>
          <a:bodyPr/>
          <a:lstStyle/>
          <a:p>
            <a:endParaRPr lang="ko-KR" altLang="en-US"/>
          </a:p>
        </p:txBody>
      </p:sp>
      <p:sp>
        <p:nvSpPr>
          <p:cNvPr id="10" name="Text 7"/>
          <p:cNvSpPr txBox="1"/>
          <p:nvPr/>
        </p:nvSpPr>
        <p:spPr>
          <a:xfrm>
            <a:off x="509321" y="2894990"/>
            <a:ext cx="3017520" cy="627278"/>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2B3242"/>
                </a:solidFill>
                <a:latin typeface="Pretendard" pitchFamily="34" charset="0"/>
                <a:ea typeface="Pretendard" pitchFamily="34" charset="-122"/>
                <a:cs typeface="Pretendard" pitchFamily="34" charset="-120"/>
              </a:rPr>
              <a:t>doc_id, doc_type</a:t>
            </a:r>
            <a:endParaRPr lang="en-US" sz="1500" dirty="0"/>
          </a:p>
          <a:p>
            <a:pPr marL="0" indent="0" algn="l">
              <a:spcAft>
                <a:spcPts val="100"/>
              </a:spcAft>
              <a:buNone/>
            </a:pPr>
            <a:r>
              <a:rPr lang="en-US" sz="1400" dirty="0">
                <a:solidFill>
                  <a:srgbClr val="2B3242"/>
                </a:solidFill>
                <a:latin typeface="Pretendard" pitchFamily="34" charset="0"/>
                <a:ea typeface="Pretendard" pitchFamily="34" charset="-122"/>
                <a:cs typeface="Pretendard" pitchFamily="34" charset="-120"/>
              </a:rPr>
              <a:t>D3_C-20260501-003, consult_log</a:t>
            </a:r>
            <a:endParaRPr lang="en-US" sz="1500" dirty="0"/>
          </a:p>
        </p:txBody>
      </p:sp>
      <p:sp>
        <p:nvSpPr>
          <p:cNvPr id="11" name="Shape 8"/>
          <p:cNvSpPr/>
          <p:nvPr/>
        </p:nvSpPr>
        <p:spPr>
          <a:xfrm>
            <a:off x="509321" y="3595421"/>
            <a:ext cx="3017520" cy="627278"/>
          </a:xfrm>
          <a:prstGeom prst="roundRect">
            <a:avLst>
              <a:gd name="adj" fmla="val 11662"/>
            </a:avLst>
          </a:prstGeom>
          <a:solidFill>
            <a:srgbClr val="F5F8FC"/>
          </a:solidFill>
          <a:ln w="12700">
            <a:solidFill>
              <a:srgbClr val="D9E0EC"/>
            </a:solidFill>
            <a:prstDash val="solid"/>
          </a:ln>
        </p:spPr>
        <p:txBody>
          <a:bodyPr/>
          <a:lstStyle/>
          <a:p>
            <a:endParaRPr lang="ko-KR" altLang="en-US"/>
          </a:p>
        </p:txBody>
      </p:sp>
      <p:sp>
        <p:nvSpPr>
          <p:cNvPr id="12" name="Text 9"/>
          <p:cNvSpPr txBox="1"/>
          <p:nvPr/>
        </p:nvSpPr>
        <p:spPr>
          <a:xfrm>
            <a:off x="509321" y="3595421"/>
            <a:ext cx="3017520" cy="627278"/>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2B3242"/>
                </a:solidFill>
                <a:latin typeface="Pretendard" pitchFamily="34" charset="0"/>
                <a:ea typeface="Pretendard" pitchFamily="34" charset="-122"/>
                <a:cs typeface="Pretendard" pitchFamily="34" charset="-120"/>
              </a:rPr>
              <a:t>chunk_ids</a:t>
            </a:r>
            <a:endParaRPr lang="en-US" sz="1500" dirty="0"/>
          </a:p>
          <a:p>
            <a:pPr marL="0" indent="0" algn="l">
              <a:spcAft>
                <a:spcPts val="100"/>
              </a:spcAft>
              <a:buNone/>
            </a:pPr>
            <a:r>
              <a:rPr lang="en-US" sz="1400" dirty="0">
                <a:solidFill>
                  <a:srgbClr val="2B3242"/>
                </a:solidFill>
                <a:latin typeface="Pretendard" pitchFamily="34" charset="0"/>
                <a:ea typeface="Pretendard" pitchFamily="34" charset="-122"/>
                <a:cs typeface="Pretendard" pitchFamily="34" charset="-120"/>
              </a:rPr>
              <a:t>이 단위가 나온 검색용 청크 ID</a:t>
            </a:r>
            <a:endParaRPr lang="en-US" sz="1500" dirty="0"/>
          </a:p>
        </p:txBody>
      </p:sp>
      <p:sp>
        <p:nvSpPr>
          <p:cNvPr id="13" name="Shape 10"/>
          <p:cNvSpPr/>
          <p:nvPr/>
        </p:nvSpPr>
        <p:spPr>
          <a:xfrm>
            <a:off x="509321" y="4295851"/>
            <a:ext cx="3017520" cy="627278"/>
          </a:xfrm>
          <a:prstGeom prst="roundRect">
            <a:avLst>
              <a:gd name="adj" fmla="val 11662"/>
            </a:avLst>
          </a:prstGeom>
          <a:solidFill>
            <a:srgbClr val="F5F8FC"/>
          </a:solidFill>
          <a:ln w="12700">
            <a:solidFill>
              <a:srgbClr val="D9E0EC"/>
            </a:solidFill>
            <a:prstDash val="solid"/>
          </a:ln>
        </p:spPr>
        <p:txBody>
          <a:bodyPr/>
          <a:lstStyle/>
          <a:p>
            <a:endParaRPr lang="ko-KR" altLang="en-US"/>
          </a:p>
        </p:txBody>
      </p:sp>
      <p:sp>
        <p:nvSpPr>
          <p:cNvPr id="14" name="Text 11"/>
          <p:cNvSpPr txBox="1"/>
          <p:nvPr/>
        </p:nvSpPr>
        <p:spPr>
          <a:xfrm>
            <a:off x="509321" y="4295851"/>
            <a:ext cx="3017520" cy="627278"/>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2B3242"/>
                </a:solidFill>
                <a:latin typeface="Pretendard" pitchFamily="34" charset="0"/>
                <a:ea typeface="Pretendard" pitchFamily="34" charset="-122"/>
                <a:cs typeface="Pretendard" pitchFamily="34" charset="-120"/>
              </a:rPr>
              <a:t>text</a:t>
            </a:r>
            <a:endParaRPr lang="en-US" sz="1500" dirty="0"/>
          </a:p>
          <a:p>
            <a:pPr marL="0" indent="0" algn="l">
              <a:spcAft>
                <a:spcPts val="100"/>
              </a:spcAft>
              <a:buNone/>
            </a:pPr>
            <a:r>
              <a:rPr lang="en-US" sz="1400" dirty="0">
                <a:solidFill>
                  <a:srgbClr val="2B3242"/>
                </a:solidFill>
                <a:latin typeface="Pretendard" pitchFamily="34" charset="0"/>
                <a:ea typeface="Pretendard" pitchFamily="34" charset="-122"/>
                <a:cs typeface="Pretendard" pitchFamily="34" charset="-120"/>
              </a:rPr>
              <a:t>추출 단위 본문</a:t>
            </a:r>
            <a:endParaRPr lang="en-US" sz="1500" dirty="0"/>
          </a:p>
        </p:txBody>
      </p:sp>
      <p:sp>
        <p:nvSpPr>
          <p:cNvPr id="15" name="Shape 12"/>
          <p:cNvSpPr/>
          <p:nvPr/>
        </p:nvSpPr>
        <p:spPr>
          <a:xfrm>
            <a:off x="509321" y="4996282"/>
            <a:ext cx="3017520" cy="627278"/>
          </a:xfrm>
          <a:prstGeom prst="roundRect">
            <a:avLst>
              <a:gd name="adj" fmla="val 11662"/>
            </a:avLst>
          </a:prstGeom>
          <a:solidFill>
            <a:srgbClr val="EEF3FA"/>
          </a:solidFill>
          <a:ln w="12700">
            <a:solidFill>
              <a:srgbClr val="2E74C6"/>
            </a:solidFill>
            <a:prstDash val="solid"/>
          </a:ln>
        </p:spPr>
        <p:txBody>
          <a:bodyPr/>
          <a:lstStyle/>
          <a:p>
            <a:endParaRPr lang="ko-KR" altLang="en-US"/>
          </a:p>
        </p:txBody>
      </p:sp>
      <p:sp>
        <p:nvSpPr>
          <p:cNvPr id="16" name="Text 13"/>
          <p:cNvSpPr txBox="1"/>
          <p:nvPr/>
        </p:nvSpPr>
        <p:spPr>
          <a:xfrm>
            <a:off x="509321" y="4996282"/>
            <a:ext cx="3017520" cy="627278"/>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1E2A5C"/>
                </a:solidFill>
                <a:latin typeface="Pretendard" pitchFamily="34" charset="0"/>
                <a:ea typeface="Pretendard" pitchFamily="34" charset="-122"/>
                <a:cs typeface="Pretendard" pitchFamily="34" charset="-120"/>
              </a:rPr>
              <a:t>graph</a:t>
            </a:r>
            <a:endParaRPr lang="en-US" sz="1500" dirty="0"/>
          </a:p>
          <a:p>
            <a:pPr marL="0" indent="0" algn="l">
              <a:spcAft>
                <a:spcPts val="100"/>
              </a:spcAft>
              <a:buNone/>
            </a:pPr>
            <a:r>
              <a:rPr lang="en-US" sz="1400" dirty="0">
                <a:solidFill>
                  <a:srgbClr val="1E2A5C"/>
                </a:solidFill>
                <a:latin typeface="Pretendard" pitchFamily="34" charset="0"/>
                <a:ea typeface="Pretendard" pitchFamily="34" charset="-122"/>
                <a:cs typeface="Pretendard" pitchFamily="34" charset="-120"/>
              </a:rPr>
              <a:t>K2와 K3 결과 (노드 6, 관계 5)</a:t>
            </a:r>
            <a:endParaRPr lang="en-US" sz="1500" dirty="0"/>
          </a:p>
        </p:txBody>
      </p:sp>
      <p:sp>
        <p:nvSpPr>
          <p:cNvPr id="17" name="Shape 14"/>
          <p:cNvSpPr/>
          <p:nvPr/>
        </p:nvSpPr>
        <p:spPr>
          <a:xfrm>
            <a:off x="3554273" y="3909060"/>
            <a:ext cx="219456" cy="0"/>
          </a:xfrm>
          <a:prstGeom prst="line">
            <a:avLst/>
          </a:prstGeom>
          <a:noFill/>
          <a:ln w="31750">
            <a:solidFill>
              <a:srgbClr val="1E2A5C"/>
            </a:solidFill>
            <a:prstDash val="solid"/>
            <a:tailEnd type="triangle"/>
          </a:ln>
        </p:spPr>
        <p:txBody>
          <a:bodyPr/>
          <a:lstStyle/>
          <a:p>
            <a:endParaRPr lang="ko-KR" altLang="en-US"/>
          </a:p>
        </p:txBody>
      </p:sp>
      <p:sp>
        <p:nvSpPr>
          <p:cNvPr id="18" name="Shape 15"/>
          <p:cNvSpPr/>
          <p:nvPr/>
        </p:nvSpPr>
        <p:spPr>
          <a:xfrm>
            <a:off x="3801161" y="1737360"/>
            <a:ext cx="3291840" cy="365760"/>
          </a:xfrm>
          <a:prstGeom prst="roundRect">
            <a:avLst>
              <a:gd name="adj" fmla="val 12500"/>
            </a:avLst>
          </a:prstGeom>
          <a:solidFill>
            <a:srgbClr val="1E2A5C"/>
          </a:solidFill>
          <a:ln/>
        </p:spPr>
        <p:txBody>
          <a:bodyPr/>
          <a:lstStyle/>
          <a:p>
            <a:endParaRPr lang="ko-KR" altLang="en-US"/>
          </a:p>
        </p:txBody>
      </p:sp>
      <p:sp>
        <p:nvSpPr>
          <p:cNvPr id="19" name="Text 16"/>
          <p:cNvSpPr txBox="1"/>
          <p:nvPr/>
        </p:nvSpPr>
        <p:spPr>
          <a:xfrm>
            <a:off x="3801161" y="1737360"/>
            <a:ext cx="32918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K4가 하는 일</a:t>
            </a:r>
            <a:endParaRPr lang="en-US" sz="1600" dirty="0"/>
          </a:p>
        </p:txBody>
      </p:sp>
      <p:sp>
        <p:nvSpPr>
          <p:cNvPr id="20" name="Shape 17"/>
          <p:cNvSpPr/>
          <p:nvPr/>
        </p:nvSpPr>
        <p:spPr>
          <a:xfrm>
            <a:off x="3801161" y="2194560"/>
            <a:ext cx="3291840" cy="786384"/>
          </a:xfrm>
          <a:prstGeom prst="roundRect">
            <a:avLst>
              <a:gd name="adj" fmla="val 9302"/>
            </a:avLst>
          </a:prstGeom>
          <a:solidFill>
            <a:srgbClr val="FFFFFF"/>
          </a:solidFill>
          <a:ln w="12700">
            <a:solidFill>
              <a:srgbClr val="D9E0EC"/>
            </a:solidFill>
            <a:prstDash val="solid"/>
          </a:ln>
        </p:spPr>
        <p:txBody>
          <a:bodyPr/>
          <a:lstStyle/>
          <a:p>
            <a:endParaRPr lang="ko-KR" altLang="en-US"/>
          </a:p>
        </p:txBody>
      </p:sp>
      <p:sp>
        <p:nvSpPr>
          <p:cNvPr id="21" name="Shape 18"/>
          <p:cNvSpPr/>
          <p:nvPr/>
        </p:nvSpPr>
        <p:spPr>
          <a:xfrm>
            <a:off x="3910889" y="2313432"/>
            <a:ext cx="329184" cy="329184"/>
          </a:xfrm>
          <a:prstGeom prst="roundRect">
            <a:avLst>
              <a:gd name="adj" fmla="val 13889"/>
            </a:avLst>
          </a:prstGeom>
          <a:solidFill>
            <a:srgbClr val="2E74C6"/>
          </a:solidFill>
          <a:ln/>
        </p:spPr>
        <p:txBody>
          <a:bodyPr/>
          <a:lstStyle/>
          <a:p>
            <a:endParaRPr lang="ko-KR" altLang="en-US"/>
          </a:p>
        </p:txBody>
      </p:sp>
      <p:sp>
        <p:nvSpPr>
          <p:cNvPr id="22" name="Text 19"/>
          <p:cNvSpPr txBox="1"/>
          <p:nvPr/>
        </p:nvSpPr>
        <p:spPr>
          <a:xfrm>
            <a:off x="3910889" y="231343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23" name="Text 20"/>
          <p:cNvSpPr txBox="1"/>
          <p:nvPr/>
        </p:nvSpPr>
        <p:spPr>
          <a:xfrm>
            <a:off x="4304081" y="2258568"/>
            <a:ext cx="2697480" cy="384048"/>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청크 노드 만들기</a:t>
            </a:r>
            <a:endParaRPr lang="en-US" sz="1600" dirty="0"/>
          </a:p>
        </p:txBody>
      </p:sp>
      <p:sp>
        <p:nvSpPr>
          <p:cNvPr id="24" name="Text 21"/>
          <p:cNvSpPr txBox="1"/>
          <p:nvPr/>
        </p:nvSpPr>
        <p:spPr>
          <a:xfrm>
            <a:off x="3938321" y="2633472"/>
            <a:ext cx="3017520" cy="310896"/>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라벨 Chunk. 검색용 청크마다 1개</a:t>
            </a:r>
            <a:endParaRPr lang="en-US" sz="1400" dirty="0"/>
          </a:p>
        </p:txBody>
      </p:sp>
      <p:sp>
        <p:nvSpPr>
          <p:cNvPr id="25" name="Shape 22"/>
          <p:cNvSpPr/>
          <p:nvPr/>
        </p:nvSpPr>
        <p:spPr>
          <a:xfrm>
            <a:off x="3801161" y="3072384"/>
            <a:ext cx="3291840" cy="786384"/>
          </a:xfrm>
          <a:prstGeom prst="roundRect">
            <a:avLst>
              <a:gd name="adj" fmla="val 9302"/>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3910889" y="3191256"/>
            <a:ext cx="329184" cy="329184"/>
          </a:xfrm>
          <a:prstGeom prst="roundRect">
            <a:avLst>
              <a:gd name="adj" fmla="val 13889"/>
            </a:avLst>
          </a:prstGeom>
          <a:solidFill>
            <a:srgbClr val="2E74C6"/>
          </a:solidFill>
          <a:ln/>
        </p:spPr>
        <p:txBody>
          <a:bodyPr/>
          <a:lstStyle/>
          <a:p>
            <a:endParaRPr lang="ko-KR" altLang="en-US"/>
          </a:p>
        </p:txBody>
      </p:sp>
      <p:sp>
        <p:nvSpPr>
          <p:cNvPr id="27" name="Text 24"/>
          <p:cNvSpPr txBox="1"/>
          <p:nvPr/>
        </p:nvSpPr>
        <p:spPr>
          <a:xfrm>
            <a:off x="3910889" y="319125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28" name="Text 25"/>
          <p:cNvSpPr txBox="1"/>
          <p:nvPr/>
        </p:nvSpPr>
        <p:spPr>
          <a:xfrm>
            <a:off x="4304081" y="3136392"/>
            <a:ext cx="2697480" cy="384048"/>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모든 노드에 세대 표시</a:t>
            </a:r>
            <a:endParaRPr lang="en-US" sz="1600" dirty="0"/>
          </a:p>
        </p:txBody>
      </p:sp>
      <p:sp>
        <p:nvSpPr>
          <p:cNvPr id="29" name="Text 26"/>
          <p:cNvSpPr txBox="1"/>
          <p:nvPr/>
        </p:nvSpPr>
        <p:spPr>
          <a:xfrm>
            <a:off x="3938321" y="3511296"/>
            <a:ext cx="3017520" cy="310896"/>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generation, run_id 속성</a:t>
            </a:r>
            <a:endParaRPr lang="en-US" sz="1400" dirty="0"/>
          </a:p>
        </p:txBody>
      </p:sp>
      <p:sp>
        <p:nvSpPr>
          <p:cNvPr id="30" name="Shape 27"/>
          <p:cNvSpPr/>
          <p:nvPr/>
        </p:nvSpPr>
        <p:spPr>
          <a:xfrm>
            <a:off x="3801161" y="3950208"/>
            <a:ext cx="3291840" cy="786384"/>
          </a:xfrm>
          <a:prstGeom prst="roundRect">
            <a:avLst>
              <a:gd name="adj" fmla="val 9302"/>
            </a:avLst>
          </a:prstGeom>
          <a:solidFill>
            <a:srgbClr val="FFFFFF"/>
          </a:solidFill>
          <a:ln w="12700">
            <a:solidFill>
              <a:srgbClr val="D9E0EC"/>
            </a:solidFill>
            <a:prstDash val="solid"/>
          </a:ln>
        </p:spPr>
        <p:txBody>
          <a:bodyPr/>
          <a:lstStyle/>
          <a:p>
            <a:endParaRPr lang="ko-KR" altLang="en-US"/>
          </a:p>
        </p:txBody>
      </p:sp>
      <p:sp>
        <p:nvSpPr>
          <p:cNvPr id="31" name="Shape 28"/>
          <p:cNvSpPr/>
          <p:nvPr/>
        </p:nvSpPr>
        <p:spPr>
          <a:xfrm>
            <a:off x="3910889" y="4069080"/>
            <a:ext cx="329184" cy="329184"/>
          </a:xfrm>
          <a:prstGeom prst="roundRect">
            <a:avLst>
              <a:gd name="adj" fmla="val 13889"/>
            </a:avLst>
          </a:prstGeom>
          <a:solidFill>
            <a:srgbClr val="2E74C6"/>
          </a:solidFill>
          <a:ln/>
        </p:spPr>
        <p:txBody>
          <a:bodyPr/>
          <a:lstStyle/>
          <a:p>
            <a:endParaRPr lang="ko-KR" altLang="en-US"/>
          </a:p>
        </p:txBody>
      </p:sp>
      <p:sp>
        <p:nvSpPr>
          <p:cNvPr id="32" name="Text 29"/>
          <p:cNvSpPr txBox="1"/>
          <p:nvPr/>
        </p:nvSpPr>
        <p:spPr>
          <a:xfrm>
            <a:off x="3910889" y="406908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33" name="Text 30"/>
          <p:cNvSpPr txBox="1"/>
          <p:nvPr/>
        </p:nvSpPr>
        <p:spPr>
          <a:xfrm>
            <a:off x="4304081" y="4014216"/>
            <a:ext cx="2697480" cy="384048"/>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FROM_CHUNK로 잇기</a:t>
            </a:r>
            <a:endParaRPr lang="en-US" sz="1600" dirty="0"/>
          </a:p>
        </p:txBody>
      </p:sp>
      <p:sp>
        <p:nvSpPr>
          <p:cNvPr id="34" name="Text 31"/>
          <p:cNvSpPr txBox="1"/>
          <p:nvPr/>
        </p:nvSpPr>
        <p:spPr>
          <a:xfrm>
            <a:off x="3938321" y="4389120"/>
            <a:ext cx="3017520" cy="310896"/>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엔티티마다 단위가 나온 청크로 관계</a:t>
            </a:r>
            <a:endParaRPr lang="en-US" sz="1400" dirty="0"/>
          </a:p>
        </p:txBody>
      </p:sp>
      <p:sp>
        <p:nvSpPr>
          <p:cNvPr id="35" name="Shape 32"/>
          <p:cNvSpPr/>
          <p:nvPr/>
        </p:nvSpPr>
        <p:spPr>
          <a:xfrm>
            <a:off x="3801161" y="4828032"/>
            <a:ext cx="3291840" cy="795528"/>
          </a:xfrm>
          <a:prstGeom prst="roundRect">
            <a:avLst>
              <a:gd name="adj" fmla="val 9195"/>
            </a:avLst>
          </a:prstGeom>
          <a:solidFill>
            <a:srgbClr val="1E2A5C"/>
          </a:solidFill>
          <a:ln/>
        </p:spPr>
        <p:txBody>
          <a:bodyPr/>
          <a:lstStyle/>
          <a:p>
            <a:endParaRPr lang="ko-KR" altLang="en-US"/>
          </a:p>
        </p:txBody>
      </p:sp>
      <p:sp>
        <p:nvSpPr>
          <p:cNvPr id="36" name="Text 33"/>
          <p:cNvSpPr txBox="1"/>
          <p:nvPr/>
        </p:nvSpPr>
        <p:spPr>
          <a:xfrm>
            <a:off x="3801161" y="4828032"/>
            <a:ext cx="3291840" cy="795528"/>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Neo4jWriter로 한 번에 쓰기</a:t>
            </a:r>
            <a:endParaRPr lang="en-US" sz="16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노드는 새로 만듦 (합치지 않음)</a:t>
            </a:r>
            <a:endParaRPr lang="en-US" sz="1600" dirty="0"/>
          </a:p>
        </p:txBody>
      </p:sp>
      <p:sp>
        <p:nvSpPr>
          <p:cNvPr id="37" name="Shape 34"/>
          <p:cNvSpPr/>
          <p:nvPr/>
        </p:nvSpPr>
        <p:spPr>
          <a:xfrm>
            <a:off x="7120433" y="3909060"/>
            <a:ext cx="219456" cy="0"/>
          </a:xfrm>
          <a:prstGeom prst="line">
            <a:avLst/>
          </a:prstGeom>
          <a:noFill/>
          <a:ln w="31750">
            <a:solidFill>
              <a:srgbClr val="1E2A5C"/>
            </a:solidFill>
            <a:prstDash val="solid"/>
            <a:tailEnd type="triangle"/>
          </a:ln>
        </p:spPr>
        <p:txBody>
          <a:bodyPr/>
          <a:lstStyle/>
          <a:p>
            <a:endParaRPr lang="ko-KR" altLang="en-US"/>
          </a:p>
        </p:txBody>
      </p:sp>
      <p:sp>
        <p:nvSpPr>
          <p:cNvPr id="38" name="Shape 35"/>
          <p:cNvSpPr/>
          <p:nvPr/>
        </p:nvSpPr>
        <p:spPr>
          <a:xfrm>
            <a:off x="7367321" y="1737360"/>
            <a:ext cx="6766560" cy="365760"/>
          </a:xfrm>
          <a:prstGeom prst="roundRect">
            <a:avLst>
              <a:gd name="adj" fmla="val 15000"/>
            </a:avLst>
          </a:prstGeom>
          <a:solidFill>
            <a:srgbClr val="2E74C6"/>
          </a:solidFill>
          <a:ln/>
        </p:spPr>
        <p:txBody>
          <a:bodyPr/>
          <a:lstStyle/>
          <a:p>
            <a:endParaRPr lang="ko-KR" altLang="en-US"/>
          </a:p>
        </p:txBody>
      </p:sp>
      <p:sp>
        <p:nvSpPr>
          <p:cNvPr id="39" name="Text 36"/>
          <p:cNvSpPr txBox="1"/>
          <p:nvPr/>
        </p:nvSpPr>
        <p:spPr>
          <a:xfrm>
            <a:off x="7367321" y="1737360"/>
            <a:ext cx="67665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Neo4j에 남는 모양 (상담 C-20260501-003)</a:t>
            </a:r>
            <a:endParaRPr lang="en-US" sz="1600" dirty="0"/>
          </a:p>
        </p:txBody>
      </p:sp>
      <p:sp>
        <p:nvSpPr>
          <p:cNvPr id="40" name="Shape 37"/>
          <p:cNvSpPr/>
          <p:nvPr/>
        </p:nvSpPr>
        <p:spPr>
          <a:xfrm>
            <a:off x="7367321" y="2606040"/>
            <a:ext cx="2072640" cy="73152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41" name="Text 38"/>
          <p:cNvSpPr txBox="1"/>
          <p:nvPr/>
        </p:nvSpPr>
        <p:spPr>
          <a:xfrm>
            <a:off x="7367321" y="2606040"/>
            <a:ext cx="207264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Consultation</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C-20260501-003</a:t>
            </a:r>
            <a:endParaRPr lang="en-US" sz="1500" dirty="0"/>
          </a:p>
        </p:txBody>
      </p:sp>
      <p:sp>
        <p:nvSpPr>
          <p:cNvPr id="42" name="Shape 39"/>
          <p:cNvSpPr/>
          <p:nvPr/>
        </p:nvSpPr>
        <p:spPr>
          <a:xfrm>
            <a:off x="9714281" y="2606040"/>
            <a:ext cx="2072640" cy="73152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43" name="Text 40"/>
          <p:cNvSpPr txBox="1"/>
          <p:nvPr/>
        </p:nvSpPr>
        <p:spPr>
          <a:xfrm>
            <a:off x="9714281" y="2606040"/>
            <a:ext cx="207264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Proposal</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주문 내역 화면 대조</a:t>
            </a:r>
            <a:endParaRPr lang="en-US" sz="1500" dirty="0"/>
          </a:p>
        </p:txBody>
      </p:sp>
      <p:sp>
        <p:nvSpPr>
          <p:cNvPr id="44" name="Shape 41"/>
          <p:cNvSpPr/>
          <p:nvPr/>
        </p:nvSpPr>
        <p:spPr>
          <a:xfrm>
            <a:off x="12061241" y="2606040"/>
            <a:ext cx="2072640" cy="73152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45" name="Text 42"/>
          <p:cNvSpPr txBox="1"/>
          <p:nvPr/>
        </p:nvSpPr>
        <p:spPr>
          <a:xfrm>
            <a:off x="12061241" y="2606040"/>
            <a:ext cx="207264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ReconsiderCondition</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다음 명세서 나올 때</a:t>
            </a:r>
            <a:endParaRPr lang="en-US" sz="1500" dirty="0"/>
          </a:p>
        </p:txBody>
      </p:sp>
      <p:sp>
        <p:nvSpPr>
          <p:cNvPr id="46" name="Shape 43"/>
          <p:cNvSpPr/>
          <p:nvPr/>
        </p:nvSpPr>
        <p:spPr>
          <a:xfrm>
            <a:off x="9458249" y="2971800"/>
            <a:ext cx="237744" cy="0"/>
          </a:xfrm>
          <a:prstGeom prst="line">
            <a:avLst/>
          </a:prstGeom>
          <a:noFill/>
          <a:ln w="19050">
            <a:solidFill>
              <a:srgbClr val="4A5364"/>
            </a:solidFill>
            <a:prstDash val="solid"/>
            <a:tailEnd type="triangle"/>
          </a:ln>
        </p:spPr>
        <p:txBody>
          <a:bodyPr/>
          <a:lstStyle/>
          <a:p>
            <a:endParaRPr lang="ko-KR" altLang="en-US"/>
          </a:p>
        </p:txBody>
      </p:sp>
      <p:sp>
        <p:nvSpPr>
          <p:cNvPr id="47" name="Text 44"/>
          <p:cNvSpPr txBox="1"/>
          <p:nvPr/>
        </p:nvSpPr>
        <p:spPr>
          <a:xfrm>
            <a:off x="8571281" y="2221992"/>
            <a:ext cx="2011680" cy="329184"/>
          </a:xfrm>
          <a:prstGeom prst="rect">
            <a:avLst/>
          </a:prstGeom>
          <a:noFill/>
          <a:ln/>
        </p:spPr>
        <p:txBody>
          <a:bodyPr wrap="square" lIns="762" tIns="762" rIns="762" bIns="762"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HAS_PROPOSAL</a:t>
            </a:r>
            <a:endParaRPr lang="en-US" sz="1400" dirty="0"/>
          </a:p>
        </p:txBody>
      </p:sp>
      <p:sp>
        <p:nvSpPr>
          <p:cNvPr id="48" name="Shape 45"/>
          <p:cNvSpPr/>
          <p:nvPr/>
        </p:nvSpPr>
        <p:spPr>
          <a:xfrm>
            <a:off x="11805209" y="2971800"/>
            <a:ext cx="237744" cy="0"/>
          </a:xfrm>
          <a:prstGeom prst="line">
            <a:avLst/>
          </a:prstGeom>
          <a:noFill/>
          <a:ln w="19050">
            <a:solidFill>
              <a:srgbClr val="4A5364"/>
            </a:solidFill>
            <a:prstDash val="solid"/>
            <a:tailEnd type="triangle"/>
          </a:ln>
        </p:spPr>
        <p:txBody>
          <a:bodyPr/>
          <a:lstStyle/>
          <a:p>
            <a:endParaRPr lang="ko-KR" altLang="en-US"/>
          </a:p>
        </p:txBody>
      </p:sp>
      <p:sp>
        <p:nvSpPr>
          <p:cNvPr id="49" name="Text 46"/>
          <p:cNvSpPr txBox="1"/>
          <p:nvPr/>
        </p:nvSpPr>
        <p:spPr>
          <a:xfrm>
            <a:off x="10918241" y="2221992"/>
            <a:ext cx="2011680" cy="329184"/>
          </a:xfrm>
          <a:prstGeom prst="rect">
            <a:avLst/>
          </a:prstGeom>
          <a:noFill/>
          <a:ln/>
        </p:spPr>
        <p:txBody>
          <a:bodyPr wrap="square" lIns="762" tIns="762" rIns="762" bIns="762"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RECONSIDER_WHEN</a:t>
            </a:r>
            <a:endParaRPr lang="en-US" sz="1400" dirty="0"/>
          </a:p>
        </p:txBody>
      </p:sp>
      <p:sp>
        <p:nvSpPr>
          <p:cNvPr id="50" name="Shape 47"/>
          <p:cNvSpPr/>
          <p:nvPr/>
        </p:nvSpPr>
        <p:spPr>
          <a:xfrm>
            <a:off x="8403641" y="3364992"/>
            <a:ext cx="883920" cy="493776"/>
          </a:xfrm>
          <a:prstGeom prst="line">
            <a:avLst/>
          </a:prstGeom>
          <a:noFill/>
          <a:ln w="22225">
            <a:solidFill>
              <a:srgbClr val="2E74C6"/>
            </a:solidFill>
            <a:prstDash val="solid"/>
            <a:tailEnd type="triangle"/>
          </a:ln>
        </p:spPr>
        <p:txBody>
          <a:bodyPr/>
          <a:lstStyle/>
          <a:p>
            <a:endParaRPr lang="ko-KR" altLang="en-US"/>
          </a:p>
        </p:txBody>
      </p:sp>
      <p:sp>
        <p:nvSpPr>
          <p:cNvPr id="51" name="Shape 48"/>
          <p:cNvSpPr/>
          <p:nvPr/>
        </p:nvSpPr>
        <p:spPr>
          <a:xfrm>
            <a:off x="10750601" y="3364992"/>
            <a:ext cx="0" cy="493776"/>
          </a:xfrm>
          <a:prstGeom prst="line">
            <a:avLst/>
          </a:prstGeom>
          <a:noFill/>
          <a:ln w="22225">
            <a:solidFill>
              <a:srgbClr val="2E74C6"/>
            </a:solidFill>
            <a:prstDash val="solid"/>
            <a:tailEnd type="triangle"/>
          </a:ln>
        </p:spPr>
        <p:txBody>
          <a:bodyPr/>
          <a:lstStyle/>
          <a:p>
            <a:endParaRPr lang="ko-KR" altLang="en-US"/>
          </a:p>
        </p:txBody>
      </p:sp>
      <p:sp>
        <p:nvSpPr>
          <p:cNvPr id="52" name="Shape 49"/>
          <p:cNvSpPr/>
          <p:nvPr/>
        </p:nvSpPr>
        <p:spPr>
          <a:xfrm flipH="1">
            <a:off x="12213641" y="3364992"/>
            <a:ext cx="883920" cy="493776"/>
          </a:xfrm>
          <a:prstGeom prst="line">
            <a:avLst/>
          </a:prstGeom>
          <a:noFill/>
          <a:ln w="22225">
            <a:solidFill>
              <a:srgbClr val="2E74C6"/>
            </a:solidFill>
            <a:prstDash val="solid"/>
            <a:tailEnd type="triangle"/>
          </a:ln>
        </p:spPr>
        <p:txBody>
          <a:bodyPr/>
          <a:lstStyle/>
          <a:p>
            <a:endParaRPr lang="ko-KR" altLang="en-US"/>
          </a:p>
        </p:txBody>
      </p:sp>
      <p:sp>
        <p:nvSpPr>
          <p:cNvPr id="53" name="Text 50"/>
          <p:cNvSpPr txBox="1"/>
          <p:nvPr/>
        </p:nvSpPr>
        <p:spPr>
          <a:xfrm>
            <a:off x="10842041" y="3493008"/>
            <a:ext cx="1463040" cy="329184"/>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FROM_CHUNK</a:t>
            </a:r>
            <a:endParaRPr lang="en-US" sz="1400" dirty="0"/>
          </a:p>
        </p:txBody>
      </p:sp>
      <p:sp>
        <p:nvSpPr>
          <p:cNvPr id="54" name="Shape 51"/>
          <p:cNvSpPr/>
          <p:nvPr/>
        </p:nvSpPr>
        <p:spPr>
          <a:xfrm>
            <a:off x="8190281" y="3886200"/>
            <a:ext cx="5120640" cy="868680"/>
          </a:xfrm>
          <a:prstGeom prst="roundRect">
            <a:avLst>
              <a:gd name="adj" fmla="val 8421"/>
            </a:avLst>
          </a:prstGeom>
          <a:solidFill>
            <a:srgbClr val="EEF3FA"/>
          </a:solidFill>
          <a:ln w="12700">
            <a:solidFill>
              <a:srgbClr val="2E74C6"/>
            </a:solidFill>
            <a:prstDash val="solid"/>
          </a:ln>
        </p:spPr>
        <p:txBody>
          <a:bodyPr/>
          <a:lstStyle/>
          <a:p>
            <a:endParaRPr lang="ko-KR" altLang="en-US"/>
          </a:p>
        </p:txBody>
      </p:sp>
      <p:sp>
        <p:nvSpPr>
          <p:cNvPr id="55" name="Text 52"/>
          <p:cNvSpPr txBox="1"/>
          <p:nvPr/>
        </p:nvSpPr>
        <p:spPr>
          <a:xfrm>
            <a:off x="8190281" y="3886200"/>
            <a:ext cx="5120640" cy="8686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청크 노드 (라벨 Chunk)</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chunk_id: D3_C-20260501-003_…_0000</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검색용 청크와 1대1, 추출 단위는 남기지 않음</a:t>
            </a:r>
            <a:endParaRPr lang="en-US" sz="1500" dirty="0"/>
          </a:p>
        </p:txBody>
      </p:sp>
      <p:sp>
        <p:nvSpPr>
          <p:cNvPr id="56" name="Shape 53"/>
          <p:cNvSpPr/>
          <p:nvPr/>
        </p:nvSpPr>
        <p:spPr>
          <a:xfrm>
            <a:off x="10750601" y="4782312"/>
            <a:ext cx="0" cy="356616"/>
          </a:xfrm>
          <a:prstGeom prst="line">
            <a:avLst/>
          </a:prstGeom>
          <a:noFill/>
          <a:ln w="19050">
            <a:solidFill>
              <a:srgbClr val="4A5364"/>
            </a:solidFill>
            <a:prstDash val="dash"/>
            <a:tailEnd type="none"/>
          </a:ln>
        </p:spPr>
        <p:txBody>
          <a:bodyPr/>
          <a:lstStyle/>
          <a:p>
            <a:endParaRPr lang="ko-KR" altLang="en-US"/>
          </a:p>
        </p:txBody>
      </p:sp>
      <p:sp>
        <p:nvSpPr>
          <p:cNvPr id="57" name="Text 54"/>
          <p:cNvSpPr txBox="1"/>
          <p:nvPr/>
        </p:nvSpPr>
        <p:spPr>
          <a:xfrm>
            <a:off x="10860329" y="4773168"/>
            <a:ext cx="3291840" cy="374904"/>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chunk_id가 같음</a:t>
            </a:r>
            <a:endParaRPr lang="en-US" sz="1400" dirty="0"/>
          </a:p>
        </p:txBody>
      </p:sp>
      <p:sp>
        <p:nvSpPr>
          <p:cNvPr id="58" name="Shape 55"/>
          <p:cNvSpPr/>
          <p:nvPr/>
        </p:nvSpPr>
        <p:spPr>
          <a:xfrm>
            <a:off x="8190281" y="5166360"/>
            <a:ext cx="5120640" cy="457200"/>
          </a:xfrm>
          <a:prstGeom prst="roundRect">
            <a:avLst>
              <a:gd name="adj" fmla="val 16000"/>
            </a:avLst>
          </a:prstGeom>
          <a:solidFill>
            <a:srgbClr val="F5F8FC"/>
          </a:solidFill>
          <a:ln w="12700">
            <a:solidFill>
              <a:srgbClr val="D9E0EC"/>
            </a:solidFill>
            <a:prstDash val="dash"/>
          </a:ln>
        </p:spPr>
        <p:txBody>
          <a:bodyPr/>
          <a:lstStyle/>
          <a:p>
            <a:endParaRPr lang="ko-KR" altLang="en-US"/>
          </a:p>
        </p:txBody>
      </p:sp>
      <p:sp>
        <p:nvSpPr>
          <p:cNvPr id="59" name="Text 56"/>
          <p:cNvSpPr txBox="1"/>
          <p:nvPr/>
        </p:nvSpPr>
        <p:spPr>
          <a:xfrm>
            <a:off x="8190281" y="5166360"/>
            <a:ext cx="5120640" cy="45720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검색엔진 문서 (chunk_id: D3_C-20260501-003_…_0000)</a:t>
            </a:r>
            <a:endParaRPr lang="en-US" sz="1400" dirty="0"/>
          </a:p>
        </p:txBody>
      </p:sp>
      <p:sp>
        <p:nvSpPr>
          <p:cNvPr id="60" name="Shape 57"/>
          <p:cNvSpPr/>
          <p:nvPr/>
        </p:nvSpPr>
        <p:spPr>
          <a:xfrm>
            <a:off x="509321" y="6109337"/>
            <a:ext cx="3268980" cy="1417320"/>
          </a:xfrm>
          <a:prstGeom prst="roundRect">
            <a:avLst>
              <a:gd name="adj" fmla="val 5161"/>
            </a:avLst>
          </a:prstGeom>
          <a:solidFill>
            <a:srgbClr val="F5F8FC"/>
          </a:solidFill>
          <a:ln w="12700">
            <a:solidFill>
              <a:srgbClr val="D9E0EC"/>
            </a:solidFill>
            <a:prstDash val="solid"/>
          </a:ln>
        </p:spPr>
        <p:txBody>
          <a:bodyPr/>
          <a:lstStyle/>
          <a:p>
            <a:endParaRPr lang="ko-KR" altLang="en-US"/>
          </a:p>
        </p:txBody>
      </p:sp>
      <p:sp>
        <p:nvSpPr>
          <p:cNvPr id="61" name="Shape 58"/>
          <p:cNvSpPr/>
          <p:nvPr/>
        </p:nvSpPr>
        <p:spPr>
          <a:xfrm>
            <a:off x="619049" y="6246497"/>
            <a:ext cx="329184" cy="329184"/>
          </a:xfrm>
          <a:prstGeom prst="roundRect">
            <a:avLst>
              <a:gd name="adj" fmla="val 13889"/>
            </a:avLst>
          </a:prstGeom>
          <a:solidFill>
            <a:srgbClr val="2E74C6"/>
          </a:solidFill>
          <a:ln/>
        </p:spPr>
        <p:txBody>
          <a:bodyPr/>
          <a:lstStyle/>
          <a:p>
            <a:endParaRPr lang="ko-KR" altLang="en-US"/>
          </a:p>
        </p:txBody>
      </p:sp>
      <p:sp>
        <p:nvSpPr>
          <p:cNvPr id="62" name="Text 59"/>
          <p:cNvSpPr txBox="1"/>
          <p:nvPr/>
        </p:nvSpPr>
        <p:spPr>
          <a:xfrm>
            <a:off x="619049" y="6246497"/>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63" name="Text 60"/>
          <p:cNvSpPr txBox="1"/>
          <p:nvPr/>
        </p:nvSpPr>
        <p:spPr>
          <a:xfrm>
            <a:off x="1012241" y="6164201"/>
            <a:ext cx="267462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쓰기만 하고 합치지 않음</a:t>
            </a:r>
            <a:endParaRPr lang="en-US" sz="1500" dirty="0"/>
          </a:p>
        </p:txBody>
      </p:sp>
      <p:sp>
        <p:nvSpPr>
          <p:cNvPr id="64" name="Text 61"/>
          <p:cNvSpPr txBox="1"/>
          <p:nvPr/>
        </p:nvSpPr>
        <p:spPr>
          <a:xfrm>
            <a:off x="646481" y="6694553"/>
            <a:ext cx="2994660" cy="7772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같은 값의 노드가 여러 개여도 그대로 씀. </a:t>
            </a:r>
          </a:p>
          <a:p>
            <a:pPr marL="0" indent="0" algn="l">
              <a:buNone/>
            </a:pPr>
            <a:r>
              <a:rPr lang="en-US" sz="1400" dirty="0" err="1">
                <a:solidFill>
                  <a:srgbClr val="3B4557"/>
                </a:solidFill>
                <a:latin typeface="Pretendard" pitchFamily="34" charset="0"/>
                <a:ea typeface="Pretendard" pitchFamily="34" charset="-122"/>
                <a:cs typeface="Pretendard" pitchFamily="34" charset="-120"/>
              </a:rPr>
              <a:t>합치기는</a:t>
            </a:r>
            <a:r>
              <a:rPr lang="en-US" sz="1400" dirty="0">
                <a:solidFill>
                  <a:srgbClr val="3B4557"/>
                </a:solidFill>
                <a:latin typeface="Pretendard" pitchFamily="34" charset="0"/>
                <a:ea typeface="Pretendard" pitchFamily="34" charset="-122"/>
                <a:cs typeface="Pretendard" pitchFamily="34" charset="-120"/>
              </a:rPr>
              <a:t> K5</a:t>
            </a:r>
            <a:endParaRPr lang="en-US" sz="1400" dirty="0"/>
          </a:p>
        </p:txBody>
      </p:sp>
      <p:sp>
        <p:nvSpPr>
          <p:cNvPr id="65" name="Shape 62"/>
          <p:cNvSpPr/>
          <p:nvPr/>
        </p:nvSpPr>
        <p:spPr>
          <a:xfrm>
            <a:off x="3961181" y="6109337"/>
            <a:ext cx="3268980" cy="1417320"/>
          </a:xfrm>
          <a:prstGeom prst="roundRect">
            <a:avLst>
              <a:gd name="adj" fmla="val 5161"/>
            </a:avLst>
          </a:prstGeom>
          <a:solidFill>
            <a:srgbClr val="F5F8FC"/>
          </a:solidFill>
          <a:ln w="12700">
            <a:solidFill>
              <a:srgbClr val="D9E0EC"/>
            </a:solidFill>
            <a:prstDash val="solid"/>
          </a:ln>
        </p:spPr>
        <p:txBody>
          <a:bodyPr/>
          <a:lstStyle/>
          <a:p>
            <a:endParaRPr lang="ko-KR" altLang="en-US"/>
          </a:p>
        </p:txBody>
      </p:sp>
      <p:sp>
        <p:nvSpPr>
          <p:cNvPr id="66" name="Shape 63"/>
          <p:cNvSpPr/>
          <p:nvPr/>
        </p:nvSpPr>
        <p:spPr>
          <a:xfrm>
            <a:off x="4070909" y="6246497"/>
            <a:ext cx="329184" cy="329184"/>
          </a:xfrm>
          <a:prstGeom prst="roundRect">
            <a:avLst>
              <a:gd name="adj" fmla="val 13889"/>
            </a:avLst>
          </a:prstGeom>
          <a:solidFill>
            <a:srgbClr val="2E74C6"/>
          </a:solidFill>
          <a:ln/>
        </p:spPr>
        <p:txBody>
          <a:bodyPr/>
          <a:lstStyle/>
          <a:p>
            <a:endParaRPr lang="ko-KR" altLang="en-US"/>
          </a:p>
        </p:txBody>
      </p:sp>
      <p:sp>
        <p:nvSpPr>
          <p:cNvPr id="67" name="Text 64"/>
          <p:cNvSpPr txBox="1"/>
          <p:nvPr/>
        </p:nvSpPr>
        <p:spPr>
          <a:xfrm>
            <a:off x="4070909" y="6246497"/>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68" name="Text 65"/>
          <p:cNvSpPr txBox="1"/>
          <p:nvPr/>
        </p:nvSpPr>
        <p:spPr>
          <a:xfrm>
            <a:off x="4464101" y="6164201"/>
            <a:ext cx="267462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세대마다 따로</a:t>
            </a:r>
            <a:endParaRPr lang="en-US" sz="1500" dirty="0"/>
          </a:p>
        </p:txBody>
      </p:sp>
      <p:sp>
        <p:nvSpPr>
          <p:cNvPr id="69" name="Text 66"/>
          <p:cNvSpPr txBox="1"/>
          <p:nvPr/>
        </p:nvSpPr>
        <p:spPr>
          <a:xfrm>
            <a:off x="4098341" y="6694553"/>
            <a:ext cx="2994660" cy="7772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모든 노드에 generation. 세대끼리 섞이지 않음</a:t>
            </a:r>
            <a:endParaRPr lang="en-US" sz="1400" dirty="0"/>
          </a:p>
        </p:txBody>
      </p:sp>
      <p:sp>
        <p:nvSpPr>
          <p:cNvPr id="70" name="Shape 67"/>
          <p:cNvSpPr/>
          <p:nvPr/>
        </p:nvSpPr>
        <p:spPr>
          <a:xfrm>
            <a:off x="7413041" y="6109337"/>
            <a:ext cx="3268980" cy="1417320"/>
          </a:xfrm>
          <a:prstGeom prst="roundRect">
            <a:avLst>
              <a:gd name="adj" fmla="val 5161"/>
            </a:avLst>
          </a:prstGeom>
          <a:solidFill>
            <a:srgbClr val="F5F8FC"/>
          </a:solidFill>
          <a:ln w="12700">
            <a:solidFill>
              <a:srgbClr val="D9E0EC"/>
            </a:solidFill>
            <a:prstDash val="solid"/>
          </a:ln>
        </p:spPr>
        <p:txBody>
          <a:bodyPr/>
          <a:lstStyle/>
          <a:p>
            <a:endParaRPr lang="ko-KR" altLang="en-US"/>
          </a:p>
        </p:txBody>
      </p:sp>
      <p:sp>
        <p:nvSpPr>
          <p:cNvPr id="71" name="Shape 68"/>
          <p:cNvSpPr/>
          <p:nvPr/>
        </p:nvSpPr>
        <p:spPr>
          <a:xfrm>
            <a:off x="7522769" y="6246497"/>
            <a:ext cx="329184" cy="329184"/>
          </a:xfrm>
          <a:prstGeom prst="roundRect">
            <a:avLst>
              <a:gd name="adj" fmla="val 13889"/>
            </a:avLst>
          </a:prstGeom>
          <a:solidFill>
            <a:srgbClr val="2E74C6"/>
          </a:solidFill>
          <a:ln/>
        </p:spPr>
        <p:txBody>
          <a:bodyPr/>
          <a:lstStyle/>
          <a:p>
            <a:endParaRPr lang="ko-KR" altLang="en-US"/>
          </a:p>
        </p:txBody>
      </p:sp>
      <p:sp>
        <p:nvSpPr>
          <p:cNvPr id="72" name="Text 69"/>
          <p:cNvSpPr txBox="1"/>
          <p:nvPr/>
        </p:nvSpPr>
        <p:spPr>
          <a:xfrm>
            <a:off x="7522769" y="6246497"/>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73" name="Text 70"/>
          <p:cNvSpPr txBox="1"/>
          <p:nvPr/>
        </p:nvSpPr>
        <p:spPr>
          <a:xfrm>
            <a:off x="7915961" y="6164201"/>
            <a:ext cx="267462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조항이 겹치면 청크 2개로 이음</a:t>
            </a:r>
            <a:endParaRPr lang="en-US" sz="1500" dirty="0"/>
          </a:p>
        </p:txBody>
      </p:sp>
      <p:sp>
        <p:nvSpPr>
          <p:cNvPr id="74" name="Text 71"/>
          <p:cNvSpPr txBox="1"/>
          <p:nvPr/>
        </p:nvSpPr>
        <p:spPr>
          <a:xfrm>
            <a:off x="7550201" y="6694553"/>
            <a:ext cx="2994660" cy="7772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약관 제16조 엔티티는 두 청크 노드에 FROM_CHUNK</a:t>
            </a:r>
            <a:endParaRPr lang="en-US" sz="1400" dirty="0"/>
          </a:p>
        </p:txBody>
      </p:sp>
      <p:sp>
        <p:nvSpPr>
          <p:cNvPr id="75" name="Shape 72"/>
          <p:cNvSpPr/>
          <p:nvPr/>
        </p:nvSpPr>
        <p:spPr>
          <a:xfrm>
            <a:off x="10864901" y="6109337"/>
            <a:ext cx="3268980" cy="1417320"/>
          </a:xfrm>
          <a:prstGeom prst="roundRect">
            <a:avLst>
              <a:gd name="adj" fmla="val 5161"/>
            </a:avLst>
          </a:prstGeom>
          <a:solidFill>
            <a:srgbClr val="F5F8FC"/>
          </a:solidFill>
          <a:ln w="12700">
            <a:solidFill>
              <a:srgbClr val="D9E0EC"/>
            </a:solidFill>
            <a:prstDash val="solid"/>
          </a:ln>
        </p:spPr>
        <p:txBody>
          <a:bodyPr/>
          <a:lstStyle/>
          <a:p>
            <a:endParaRPr lang="ko-KR" altLang="en-US"/>
          </a:p>
        </p:txBody>
      </p:sp>
      <p:sp>
        <p:nvSpPr>
          <p:cNvPr id="76" name="Shape 73"/>
          <p:cNvSpPr/>
          <p:nvPr/>
        </p:nvSpPr>
        <p:spPr>
          <a:xfrm>
            <a:off x="10974629" y="6246497"/>
            <a:ext cx="329184" cy="329184"/>
          </a:xfrm>
          <a:prstGeom prst="roundRect">
            <a:avLst>
              <a:gd name="adj" fmla="val 13889"/>
            </a:avLst>
          </a:prstGeom>
          <a:solidFill>
            <a:srgbClr val="2E74C6"/>
          </a:solidFill>
          <a:ln/>
        </p:spPr>
        <p:txBody>
          <a:bodyPr/>
          <a:lstStyle/>
          <a:p>
            <a:endParaRPr lang="ko-KR" altLang="en-US"/>
          </a:p>
        </p:txBody>
      </p:sp>
      <p:sp>
        <p:nvSpPr>
          <p:cNvPr id="77" name="Text 74"/>
          <p:cNvSpPr txBox="1"/>
          <p:nvPr/>
        </p:nvSpPr>
        <p:spPr>
          <a:xfrm>
            <a:off x="10974629" y="6246497"/>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78" name="Text 75"/>
          <p:cNvSpPr txBox="1"/>
          <p:nvPr/>
        </p:nvSpPr>
        <p:spPr>
          <a:xfrm>
            <a:off x="11367821" y="6164201"/>
            <a:ext cx="267462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증분 색인 때 옛 노드는 잠시 남김</a:t>
            </a:r>
            <a:endParaRPr lang="en-US" sz="1500" dirty="0"/>
          </a:p>
        </p:txBody>
      </p:sp>
      <p:sp>
        <p:nvSpPr>
          <p:cNvPr id="79" name="Text 76"/>
          <p:cNvSpPr txBox="1"/>
          <p:nvPr/>
        </p:nvSpPr>
        <p:spPr>
          <a:xfrm>
            <a:off x="11002061" y="6694553"/>
            <a:ext cx="2994660" cy="7772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새 노드를 먼저 쓰고, 옛 청크 노드는 S3 뒤 K7에서 지움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K4. </a:t>
            </a:r>
            <a:r>
              <a:rPr lang="en-US" altLang="ko-KR" dirty="0" err="1">
                <a:solidFill>
                  <a:srgbClr val="2C2926"/>
                </a:solidFill>
                <a:latin typeface="Pretendard" pitchFamily="34" charset="0"/>
                <a:ea typeface="Pretendard" pitchFamily="34" charset="-122"/>
                <a:cs typeface="Pretendard" pitchFamily="34" charset="-120"/>
              </a:rPr>
              <a:t>적재</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검색용 청크마다 청크 노드를 만들고 엔티티를 단위가 나온 청크에 FROM_CHUNK로 이은 뒤, Neo4jWriter로 한 번에 씀</a:t>
            </a:r>
            <a:endParaRPr lang="en-US" sz="1800" dirty="0"/>
          </a:p>
        </p:txBody>
      </p:sp>
      <p:sp>
        <p:nvSpPr>
          <p:cNvPr id="5" name="Shape 2"/>
          <p:cNvSpPr/>
          <p:nvPr/>
        </p:nvSpPr>
        <p:spPr>
          <a:xfrm>
            <a:off x="509321" y="1737360"/>
            <a:ext cx="7360920" cy="5532120"/>
          </a:xfrm>
          <a:prstGeom prst="roundRect">
            <a:avLst>
              <a:gd name="adj" fmla="val 992"/>
            </a:avLst>
          </a:prstGeom>
          <a:solidFill>
            <a:srgbClr val="F5F8FC"/>
          </a:solidFill>
          <a:ln w="12700">
            <a:solidFill>
              <a:srgbClr val="D9E0EC"/>
            </a:solidFill>
            <a:prstDash val="solid"/>
          </a:ln>
        </p:spPr>
        <p:txBody>
          <a:bodyPr/>
          <a:lstStyle/>
          <a:p>
            <a:endParaRPr lang="ko-KR" altLang="en-US"/>
          </a:p>
        </p:txBody>
      </p:sp>
      <p:sp>
        <p:nvSpPr>
          <p:cNvPr id="6" name="Text 3"/>
          <p:cNvSpPr txBox="1"/>
          <p:nvPr/>
        </p:nvSpPr>
        <p:spPr>
          <a:xfrm>
            <a:off x="619049" y="1810512"/>
            <a:ext cx="71414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apply()의 K4 부분 (kg_build.py 발췌)</a:t>
            </a:r>
            <a:endParaRPr lang="en-US" sz="1400" dirty="0"/>
          </a:p>
        </p:txBody>
      </p:sp>
      <p:sp>
        <p:nvSpPr>
          <p:cNvPr id="7" name="Text 4"/>
          <p:cNvSpPr txBox="1"/>
          <p:nvPr/>
        </p:nvSpPr>
        <p:spPr>
          <a:xfrm>
            <a:off x="619049" y="2139696"/>
            <a:ext cx="7141464" cy="50749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nodes, rels, merge_keys = [], [], set()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chunk_node = lambda cid: f"{generation}|{cid}|{run_id}"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for c in prepared["chunks"]:                 # 검색용 청크마다 1개</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nodes.append(Neo4jNode(id=</a:t>
            </a:r>
            <a:r>
              <a:rPr lang="en-US" sz="1400" b="1" dirty="0">
                <a:solidFill>
                  <a:srgbClr val="2B3242"/>
                </a:solidFill>
                <a:latin typeface="Pretendard" pitchFamily="34" charset="0"/>
                <a:ea typeface="Pretendard" pitchFamily="34" charset="-122"/>
                <a:cs typeface="Pretendard" pitchFamily="34" charset="-120"/>
              </a:rPr>
              <a:t>chunk_node(c["chunk_id"])</a:t>
            </a:r>
            <a:r>
              <a:rPr lang="en-US" sz="1400" dirty="0">
                <a:solidFill>
                  <a:srgbClr val="2B3242"/>
                </a:solidFill>
                <a:latin typeface="Pretendard" pitchFamily="34" charset="0"/>
                <a:ea typeface="Pretendard" pitchFamily="34" charset="-122"/>
                <a:cs typeface="Pretendard" pitchFamily="34" charset="-120"/>
              </a:rPr>
              <a:t>, label="Chunk",</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properties={"generation": generation, "run_id": run_id,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"chunk_id": c["chunk_id"], "doc_id": c["doc_id"],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"doc_type": c["doc_type"], "text": c["text"]}))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for u in prepared["units"]: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if "graph" not in u:                     # 추출 실패 단위는 건너뜀</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continue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graph = Neo4jGraph.model_validate(u["graph"])</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n in graph.nodes: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n.properties = {**(n.properties or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"generation": generation, "run_id": run_id}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nodes.append(n)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cid in dict.fromkeys(u["chunk_ids"]):  # 조항이 겹치면 청크 2개</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rels.append(Neo4jRelationship(type="FROM_CHUNK",</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start_node_id=n.id, end_node_id=chunk_node(cid)))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                                    # K5에서 합칠 값 모으기</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rels.extend(graph.relationships)          # LLM이 뽑은 관계를 추가함</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asyncio.run(Neo4jWriter(driver).run(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Neo4jGraph(nodes=nodes, relationships=rels)))</a:t>
            </a:r>
            <a:endParaRPr lang="en-US" sz="1400" dirty="0"/>
          </a:p>
        </p:txBody>
      </p:sp>
      <p:sp>
        <p:nvSpPr>
          <p:cNvPr id="8" name="Shape 5"/>
          <p:cNvSpPr/>
          <p:nvPr/>
        </p:nvSpPr>
        <p:spPr>
          <a:xfrm>
            <a:off x="8144561" y="1737360"/>
            <a:ext cx="5989320" cy="2514600"/>
          </a:xfrm>
          <a:prstGeom prst="roundRect">
            <a:avLst>
              <a:gd name="adj" fmla="val 2182"/>
            </a:avLst>
          </a:prstGeom>
          <a:solidFill>
            <a:srgbClr val="F5F8FC"/>
          </a:solidFill>
          <a:ln w="12700">
            <a:solidFill>
              <a:srgbClr val="D9E0EC"/>
            </a:solidFill>
            <a:prstDash val="solid"/>
          </a:ln>
        </p:spPr>
        <p:txBody>
          <a:bodyPr/>
          <a:lstStyle/>
          <a:p>
            <a:endParaRPr lang="ko-KR" altLang="en-US"/>
          </a:p>
        </p:txBody>
      </p:sp>
      <p:sp>
        <p:nvSpPr>
          <p:cNvPr id="9" name="Text 6"/>
          <p:cNvSpPr txBox="1"/>
          <p:nvPr/>
        </p:nvSpPr>
        <p:spPr>
          <a:xfrm>
            <a:off x="8254289" y="1810512"/>
            <a:ext cx="57698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적재된 청크 노드 (Neo4j 조회, 일부)</a:t>
            </a:r>
            <a:endParaRPr lang="en-US" sz="1400" dirty="0"/>
          </a:p>
        </p:txBody>
      </p:sp>
      <p:sp>
        <p:nvSpPr>
          <p:cNvPr id="10" name="Text 7"/>
          <p:cNvSpPr txBox="1"/>
          <p:nvPr/>
        </p:nvSpPr>
        <p:spPr>
          <a:xfrm>
            <a:off x="8254289" y="2139696"/>
            <a:ext cx="5769864" cy="205740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(:Chunk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chunk_id: "D3_C-20260501-003_3415…_0000",</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doc_id: "D3_C-20260501-003", doc_type: "consult_log",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generation: "gen-sample-005-dbe57d45",</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run_id: "sample-005@20261023135905",</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text: "…"})</a:t>
            </a:r>
            <a:endParaRPr lang="en-US" sz="1400" dirty="0"/>
          </a:p>
        </p:txBody>
      </p:sp>
      <p:sp>
        <p:nvSpPr>
          <p:cNvPr id="11" name="Shape 8"/>
          <p:cNvSpPr/>
          <p:nvPr/>
        </p:nvSpPr>
        <p:spPr>
          <a:xfrm>
            <a:off x="8144561" y="4343400"/>
            <a:ext cx="5989320" cy="1691640"/>
          </a:xfrm>
          <a:prstGeom prst="roundRect">
            <a:avLst>
              <a:gd name="adj" fmla="val 3243"/>
            </a:avLst>
          </a:prstGeom>
          <a:solidFill>
            <a:srgbClr val="F5F8FC"/>
          </a:solidFill>
          <a:ln w="12700">
            <a:solidFill>
              <a:srgbClr val="D9E0EC"/>
            </a:solidFill>
            <a:prstDash val="solid"/>
          </a:ln>
        </p:spPr>
        <p:txBody>
          <a:bodyPr/>
          <a:lstStyle/>
          <a:p>
            <a:endParaRPr lang="ko-KR" altLang="en-US"/>
          </a:p>
        </p:txBody>
      </p:sp>
      <p:sp>
        <p:nvSpPr>
          <p:cNvPr id="12" name="Text 9"/>
          <p:cNvSpPr txBox="1"/>
          <p:nvPr/>
        </p:nvSpPr>
        <p:spPr>
          <a:xfrm>
            <a:off x="8254289" y="4416552"/>
            <a:ext cx="57698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검색이 찾은 chunk_id로 엔티티 찾기 (조회 예시)</a:t>
            </a:r>
            <a:endParaRPr lang="en-US" sz="1400" dirty="0"/>
          </a:p>
        </p:txBody>
      </p:sp>
      <p:sp>
        <p:nvSpPr>
          <p:cNvPr id="13" name="Text 10"/>
          <p:cNvSpPr txBox="1"/>
          <p:nvPr/>
        </p:nvSpPr>
        <p:spPr>
          <a:xfrm>
            <a:off x="8254289" y="4745736"/>
            <a:ext cx="5769864" cy="123444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MATCH (c:Chunk {generation: $g, chunk_id: $chunk_id})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MATCH (e)-[:FROM_CHUNK]-&gt;(c)</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RETURN 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결과: Consultation 2, Proposal 2, Complaint 1,</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ReconsiderCondition 1</a:t>
            </a:r>
            <a:endParaRPr lang="en-US" sz="1400" dirty="0"/>
          </a:p>
        </p:txBody>
      </p:sp>
      <p:sp>
        <p:nvSpPr>
          <p:cNvPr id="14" name="Shape 11"/>
          <p:cNvSpPr/>
          <p:nvPr/>
        </p:nvSpPr>
        <p:spPr>
          <a:xfrm>
            <a:off x="8144561" y="6126480"/>
            <a:ext cx="5989320" cy="1143000"/>
          </a:xfrm>
          <a:prstGeom prst="roundRect">
            <a:avLst>
              <a:gd name="adj" fmla="val 6400"/>
            </a:avLst>
          </a:prstGeom>
          <a:solidFill>
            <a:srgbClr val="2E74C6"/>
          </a:solidFill>
          <a:ln/>
        </p:spPr>
        <p:txBody>
          <a:bodyPr/>
          <a:lstStyle/>
          <a:p>
            <a:endParaRPr lang="ko-KR" altLang="en-US"/>
          </a:p>
        </p:txBody>
      </p:sp>
      <p:sp>
        <p:nvSpPr>
          <p:cNvPr id="15" name="Text 12"/>
          <p:cNvSpPr txBox="1"/>
          <p:nvPr/>
        </p:nvSpPr>
        <p:spPr>
          <a:xfrm>
            <a:off x="8144561" y="6126480"/>
            <a:ext cx="5989320" cy="114300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v0 표본 전체 재색인 K4</a:t>
            </a:r>
            <a:endParaRPr lang="en-US" sz="1600" dirty="0"/>
          </a:p>
          <a:p>
            <a:pPr marL="0" indent="0" algn="ctr">
              <a:spcAft>
                <a:spcPts val="100"/>
              </a:spcAft>
              <a:buNone/>
            </a:pPr>
            <a:r>
              <a:rPr lang="en-US" sz="1500" dirty="0">
                <a:solidFill>
                  <a:srgbClr val="FFFFFF"/>
                </a:solidFill>
                <a:latin typeface="Pretendard" pitchFamily="34" charset="0"/>
                <a:ea typeface="Pretendard" pitchFamily="34" charset="-122"/>
                <a:cs typeface="Pretendard" pitchFamily="34" charset="-120"/>
              </a:rPr>
              <a:t>추출 단위 24개 → 노드 120 (청크 노드 10)</a:t>
            </a:r>
            <a:endParaRPr lang="en-US" sz="1600" dirty="0"/>
          </a:p>
          <a:p>
            <a:pPr marL="0" indent="0" algn="ctr">
              <a:spcAft>
                <a:spcPts val="100"/>
              </a:spcAft>
              <a:buNone/>
            </a:pPr>
            <a:r>
              <a:rPr lang="en-US" sz="1500" dirty="0">
                <a:solidFill>
                  <a:srgbClr val="FFFFFF"/>
                </a:solidFill>
                <a:latin typeface="Pretendard" pitchFamily="34" charset="0"/>
                <a:ea typeface="Pretendard" pitchFamily="34" charset="-122"/>
                <a:cs typeface="Pretendard" pitchFamily="34" charset="-120"/>
              </a:rPr>
              <a:t>관계 212 (FROM_CHUNK 120, 추출 92)</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a:t>
            </a:r>
            <a:r>
              <a:rPr lang="en-US" sz="3200" b="1" dirty="0">
                <a:solidFill>
                  <a:srgbClr val="2C2926"/>
                </a:solidFill>
                <a:latin typeface="Pretendard" pitchFamily="34" charset="0"/>
                <a:ea typeface="Pretendard" pitchFamily="34" charset="-122"/>
                <a:cs typeface="Pretendard" pitchFamily="34" charset="-120"/>
              </a:rPr>
              <a:t>K5.병합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 설계에서 정한 고유 속성 제약을 K4가 노드와 맞춰 보고 값을 모으면, K5가 그 값으로 같은 세대의 노드를 찾아 합침</a:t>
            </a:r>
            <a:endParaRPr lang="en-US" sz="1800" dirty="0"/>
          </a:p>
        </p:txBody>
      </p:sp>
      <p:sp>
        <p:nvSpPr>
          <p:cNvPr id="5" name="Shape 2"/>
          <p:cNvSpPr/>
          <p:nvPr/>
        </p:nvSpPr>
        <p:spPr>
          <a:xfrm>
            <a:off x="509321" y="1737360"/>
            <a:ext cx="3166110" cy="384048"/>
          </a:xfrm>
          <a:prstGeom prst="roundRect">
            <a:avLst>
              <a:gd name="adj" fmla="val 11905"/>
            </a:avLst>
          </a:prstGeom>
          <a:solidFill>
            <a:srgbClr val="2E74C6"/>
          </a:solidFill>
          <a:ln/>
        </p:spPr>
        <p:txBody>
          <a:bodyPr/>
          <a:lstStyle/>
          <a:p>
            <a:endParaRPr lang="ko-KR" altLang="en-US"/>
          </a:p>
        </p:txBody>
      </p:sp>
      <p:sp>
        <p:nvSpPr>
          <p:cNvPr id="6" name="Text 3"/>
          <p:cNvSpPr txBox="1"/>
          <p:nvPr/>
        </p:nvSpPr>
        <p:spPr>
          <a:xfrm>
            <a:off x="50932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 스키마 설계 (정함)</a:t>
            </a:r>
            <a:endParaRPr lang="en-US" sz="1600" dirty="0"/>
          </a:p>
        </p:txBody>
      </p:sp>
      <p:sp>
        <p:nvSpPr>
          <p:cNvPr id="7" name="Shape 4"/>
          <p:cNvSpPr/>
          <p:nvPr/>
        </p:nvSpPr>
        <p:spPr>
          <a:xfrm>
            <a:off x="509321" y="2212848"/>
            <a:ext cx="3166110" cy="1920240"/>
          </a:xfrm>
          <a:prstGeom prst="roundRect">
            <a:avLst>
              <a:gd name="adj" fmla="val 3810"/>
            </a:avLst>
          </a:prstGeom>
          <a:solidFill>
            <a:srgbClr val="EEF3FA"/>
          </a:solidFill>
          <a:ln w="12700">
            <a:solidFill>
              <a:srgbClr val="2E74C6"/>
            </a:solidFill>
            <a:prstDash val="solid"/>
          </a:ln>
        </p:spPr>
        <p:txBody>
          <a:bodyPr/>
          <a:lstStyle/>
          <a:p>
            <a:endParaRPr lang="ko-KR" altLang="en-US"/>
          </a:p>
        </p:txBody>
      </p:sp>
      <p:sp>
        <p:nvSpPr>
          <p:cNvPr id="8" name="Text 5"/>
          <p:cNvSpPr txBox="1"/>
          <p:nvPr/>
        </p:nvSpPr>
        <p:spPr>
          <a:xfrm>
            <a:off x="619049" y="2267712"/>
            <a:ext cx="2946654" cy="713232"/>
          </a:xfrm>
          <a:prstGeom prst="rect">
            <a:avLst/>
          </a:prstGeom>
          <a:noFill/>
          <a:ln/>
        </p:spPr>
        <p:txBody>
          <a:bodyPr wrap="square" lIns="762" tIns="762" rIns="762" bIns="762" rtlCol="0" anchor="t"/>
          <a:lstStyle/>
          <a:p>
            <a:pPr marL="0" indent="0" algn="l">
              <a:buNone/>
            </a:pPr>
            <a:r>
              <a:rPr lang="en-US" sz="1500" dirty="0">
                <a:solidFill>
                  <a:srgbClr val="2B3242"/>
                </a:solidFill>
                <a:latin typeface="Pretendard" pitchFamily="34" charset="0"/>
                <a:ea typeface="Pretendard" pitchFamily="34" charset="-122"/>
                <a:cs typeface="Pretendard" pitchFamily="34" charset="-120"/>
              </a:rPr>
              <a:t>schema_spec.json에 정하고 graph_schema.json으로 확정</a:t>
            </a:r>
            <a:endParaRPr lang="en-US" sz="1500" dirty="0"/>
          </a:p>
        </p:txBody>
      </p:sp>
      <p:sp>
        <p:nvSpPr>
          <p:cNvPr id="9" name="Shape 6"/>
          <p:cNvSpPr/>
          <p:nvPr/>
        </p:nvSpPr>
        <p:spPr>
          <a:xfrm>
            <a:off x="619049" y="3035808"/>
            <a:ext cx="2946654" cy="987552"/>
          </a:xfrm>
          <a:prstGeom prst="roundRect">
            <a:avLst>
              <a:gd name="adj" fmla="val 5556"/>
            </a:avLst>
          </a:prstGeom>
          <a:solidFill>
            <a:srgbClr val="F5F8FC"/>
          </a:solidFill>
          <a:ln w="12700">
            <a:solidFill>
              <a:srgbClr val="D9E0EC"/>
            </a:solidFill>
            <a:prstDash val="solid"/>
          </a:ln>
        </p:spPr>
        <p:txBody>
          <a:bodyPr/>
          <a:lstStyle/>
          <a:p>
            <a:endParaRPr lang="ko-KR" altLang="en-US"/>
          </a:p>
        </p:txBody>
      </p:sp>
      <p:sp>
        <p:nvSpPr>
          <p:cNvPr id="10" name="Text 7"/>
          <p:cNvSpPr txBox="1"/>
          <p:nvPr/>
        </p:nvSpPr>
        <p:spPr>
          <a:xfrm>
            <a:off x="728777" y="3108960"/>
            <a:ext cx="2727198" cy="85953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{"type": "UNIQUENESS",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 "TermsDocument",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"property_name": "version"}</a:t>
            </a:r>
            <a:endParaRPr lang="en-US" sz="1400" dirty="0"/>
          </a:p>
        </p:txBody>
      </p:sp>
      <p:sp>
        <p:nvSpPr>
          <p:cNvPr id="11" name="Shape 8"/>
          <p:cNvSpPr/>
          <p:nvPr/>
        </p:nvSpPr>
        <p:spPr>
          <a:xfrm>
            <a:off x="3712007" y="3172968"/>
            <a:ext cx="246888" cy="0"/>
          </a:xfrm>
          <a:prstGeom prst="line">
            <a:avLst/>
          </a:prstGeom>
          <a:noFill/>
          <a:ln w="31750">
            <a:solidFill>
              <a:srgbClr val="1E2A5C"/>
            </a:solidFill>
            <a:prstDash val="solid"/>
            <a:tailEnd type="triangle"/>
          </a:ln>
        </p:spPr>
        <p:txBody>
          <a:bodyPr/>
          <a:lstStyle/>
          <a:p>
            <a:endParaRPr lang="ko-KR" altLang="en-US"/>
          </a:p>
        </p:txBody>
      </p:sp>
      <p:sp>
        <p:nvSpPr>
          <p:cNvPr id="12" name="Shape 9"/>
          <p:cNvSpPr/>
          <p:nvPr/>
        </p:nvSpPr>
        <p:spPr>
          <a:xfrm>
            <a:off x="3995471" y="1737360"/>
            <a:ext cx="3166110" cy="384048"/>
          </a:xfrm>
          <a:prstGeom prst="roundRect">
            <a:avLst>
              <a:gd name="adj" fmla="val 11905"/>
            </a:avLst>
          </a:prstGeom>
          <a:solidFill>
            <a:srgbClr val="1E2A5C"/>
          </a:solidFill>
          <a:ln/>
        </p:spPr>
        <p:txBody>
          <a:bodyPr/>
          <a:lstStyle/>
          <a:p>
            <a:endParaRPr lang="ko-KR" altLang="en-US"/>
          </a:p>
        </p:txBody>
      </p:sp>
      <p:sp>
        <p:nvSpPr>
          <p:cNvPr id="13" name="Text 10"/>
          <p:cNvSpPr txBox="1"/>
          <p:nvPr/>
        </p:nvSpPr>
        <p:spPr>
          <a:xfrm>
            <a:off x="399547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 인덱싱 준비 (읽음)</a:t>
            </a:r>
            <a:endParaRPr lang="en-US" sz="1600" dirty="0"/>
          </a:p>
        </p:txBody>
      </p:sp>
      <p:sp>
        <p:nvSpPr>
          <p:cNvPr id="14" name="Shape 11"/>
          <p:cNvSpPr/>
          <p:nvPr/>
        </p:nvSpPr>
        <p:spPr>
          <a:xfrm>
            <a:off x="3995471" y="2212848"/>
            <a:ext cx="3166110" cy="1920240"/>
          </a:xfrm>
          <a:prstGeom prst="roundRect">
            <a:avLst>
              <a:gd name="adj" fmla="val 3810"/>
            </a:avLst>
          </a:prstGeom>
          <a:solidFill>
            <a:srgbClr val="FFFFFF"/>
          </a:solidFill>
          <a:ln w="12700">
            <a:solidFill>
              <a:srgbClr val="D9E0EC"/>
            </a:solidFill>
            <a:prstDash val="solid"/>
          </a:ln>
        </p:spPr>
        <p:txBody>
          <a:bodyPr/>
          <a:lstStyle/>
          <a:p>
            <a:endParaRPr lang="ko-KR" altLang="en-US"/>
          </a:p>
        </p:txBody>
      </p:sp>
      <p:sp>
        <p:nvSpPr>
          <p:cNvPr id="15" name="Text 12"/>
          <p:cNvSpPr txBox="1"/>
          <p:nvPr/>
        </p:nvSpPr>
        <p:spPr>
          <a:xfrm>
            <a:off x="4105199" y="2267712"/>
            <a:ext cx="2946654" cy="713232"/>
          </a:xfrm>
          <a:prstGeom prst="rect">
            <a:avLst/>
          </a:prstGeom>
          <a:noFill/>
          <a:ln/>
        </p:spPr>
        <p:txBody>
          <a:bodyPr wrap="square" lIns="762" tIns="762" rIns="762" bIns="762" rtlCol="0" anchor="t"/>
          <a:lstStyle/>
          <a:p>
            <a:pPr marL="0" indent="0" algn="l">
              <a:buNone/>
            </a:pPr>
            <a:r>
              <a:rPr lang="en-US" sz="1500" dirty="0">
                <a:solidFill>
                  <a:srgbClr val="2B3242"/>
                </a:solidFill>
                <a:latin typeface="Pretendard" pitchFamily="34" charset="0"/>
                <a:ea typeface="Pretendard" pitchFamily="34" charset="-122"/>
                <a:cs typeface="Pretendard" pitchFamily="34" charset="-120"/>
              </a:rPr>
              <a:t>load_schemas()가 문서 유형별 graph_schema.json을 읽음</a:t>
            </a:r>
            <a:endParaRPr lang="en-US" sz="1500" dirty="0"/>
          </a:p>
        </p:txBody>
      </p:sp>
      <p:sp>
        <p:nvSpPr>
          <p:cNvPr id="16" name="Shape 13"/>
          <p:cNvSpPr/>
          <p:nvPr/>
        </p:nvSpPr>
        <p:spPr>
          <a:xfrm>
            <a:off x="4105199" y="3035808"/>
            <a:ext cx="2946654" cy="987552"/>
          </a:xfrm>
          <a:prstGeom prst="roundRect">
            <a:avLst>
              <a:gd name="adj" fmla="val 5556"/>
            </a:avLst>
          </a:prstGeom>
          <a:solidFill>
            <a:srgbClr val="F5F8FC"/>
          </a:solidFill>
          <a:ln w="12700">
            <a:solidFill>
              <a:srgbClr val="D9E0EC"/>
            </a:solidFill>
            <a:prstDash val="solid"/>
          </a:ln>
        </p:spPr>
        <p:txBody>
          <a:bodyPr/>
          <a:lstStyle/>
          <a:p>
            <a:endParaRPr lang="ko-KR" altLang="en-US"/>
          </a:p>
        </p:txBody>
      </p:sp>
      <p:sp>
        <p:nvSpPr>
          <p:cNvPr id="17" name="Text 14"/>
          <p:cNvSpPr txBox="1"/>
          <p:nvPr/>
        </p:nvSpPr>
        <p:spPr>
          <a:xfrm>
            <a:off x="4214927" y="3108960"/>
            <a:ext cx="2727198" cy="85953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약관: TermsDocument.version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혜택: ProductGuide.product_id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상담: Consultation.record_id</a:t>
            </a:r>
            <a:endParaRPr lang="en-US" sz="1400" dirty="0"/>
          </a:p>
        </p:txBody>
      </p:sp>
      <p:sp>
        <p:nvSpPr>
          <p:cNvPr id="18" name="Shape 15"/>
          <p:cNvSpPr/>
          <p:nvPr/>
        </p:nvSpPr>
        <p:spPr>
          <a:xfrm>
            <a:off x="7198157" y="3172968"/>
            <a:ext cx="246888" cy="0"/>
          </a:xfrm>
          <a:prstGeom prst="line">
            <a:avLst/>
          </a:prstGeom>
          <a:noFill/>
          <a:ln w="31750">
            <a:solidFill>
              <a:srgbClr val="1E2A5C"/>
            </a:solidFill>
            <a:prstDash val="solid"/>
            <a:tailEnd type="triangle"/>
          </a:ln>
        </p:spPr>
        <p:txBody>
          <a:bodyPr/>
          <a:lstStyle/>
          <a:p>
            <a:endParaRPr lang="ko-KR" altLang="en-US"/>
          </a:p>
        </p:txBody>
      </p:sp>
      <p:sp>
        <p:nvSpPr>
          <p:cNvPr id="19" name="Shape 16"/>
          <p:cNvSpPr/>
          <p:nvPr/>
        </p:nvSpPr>
        <p:spPr>
          <a:xfrm>
            <a:off x="7481621" y="1737360"/>
            <a:ext cx="3166110" cy="384048"/>
          </a:xfrm>
          <a:prstGeom prst="roundRect">
            <a:avLst>
              <a:gd name="adj" fmla="val 11905"/>
            </a:avLst>
          </a:prstGeom>
          <a:solidFill>
            <a:srgbClr val="1E2A5C"/>
          </a:solidFill>
          <a:ln/>
        </p:spPr>
        <p:txBody>
          <a:bodyPr/>
          <a:lstStyle/>
          <a:p>
            <a:endParaRPr lang="ko-KR" altLang="en-US"/>
          </a:p>
        </p:txBody>
      </p:sp>
      <p:sp>
        <p:nvSpPr>
          <p:cNvPr id="20" name="Text 17"/>
          <p:cNvSpPr txBox="1"/>
          <p:nvPr/>
        </p:nvSpPr>
        <p:spPr>
          <a:xfrm>
            <a:off x="748162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 K4 적재 (모음)</a:t>
            </a:r>
            <a:endParaRPr lang="en-US" sz="1600" dirty="0"/>
          </a:p>
        </p:txBody>
      </p:sp>
      <p:sp>
        <p:nvSpPr>
          <p:cNvPr id="21" name="Shape 18"/>
          <p:cNvSpPr/>
          <p:nvPr/>
        </p:nvSpPr>
        <p:spPr>
          <a:xfrm>
            <a:off x="7481621" y="2212848"/>
            <a:ext cx="3166110" cy="1920240"/>
          </a:xfrm>
          <a:prstGeom prst="roundRect">
            <a:avLst>
              <a:gd name="adj" fmla="val 3810"/>
            </a:avLst>
          </a:prstGeom>
          <a:solidFill>
            <a:srgbClr val="FFFFFF"/>
          </a:solidFill>
          <a:ln w="12700">
            <a:solidFill>
              <a:srgbClr val="D9E0EC"/>
            </a:solidFill>
            <a:prstDash val="solid"/>
          </a:ln>
        </p:spPr>
        <p:txBody>
          <a:bodyPr/>
          <a:lstStyle/>
          <a:p>
            <a:endParaRPr lang="ko-KR" altLang="en-US"/>
          </a:p>
        </p:txBody>
      </p:sp>
      <p:sp>
        <p:nvSpPr>
          <p:cNvPr id="22" name="Text 19"/>
          <p:cNvSpPr txBox="1"/>
          <p:nvPr/>
        </p:nvSpPr>
        <p:spPr>
          <a:xfrm>
            <a:off x="7591349" y="2267712"/>
            <a:ext cx="2946654" cy="713232"/>
          </a:xfrm>
          <a:prstGeom prst="rect">
            <a:avLst/>
          </a:prstGeom>
          <a:noFill/>
          <a:ln/>
        </p:spPr>
        <p:txBody>
          <a:bodyPr wrap="square" lIns="762" tIns="762" rIns="762" bIns="762" rtlCol="0" anchor="t"/>
          <a:lstStyle/>
          <a:p>
            <a:pPr marL="0" indent="0" algn="l">
              <a:buNone/>
            </a:pPr>
            <a:r>
              <a:rPr lang="en-US" sz="1500" dirty="0">
                <a:solidFill>
                  <a:srgbClr val="2B3242"/>
                </a:solidFill>
                <a:latin typeface="Pretendard" pitchFamily="34" charset="0"/>
                <a:ea typeface="Pretendard" pitchFamily="34" charset="-122"/>
                <a:cs typeface="Pretendard" pitchFamily="34" charset="-120"/>
              </a:rPr>
              <a:t>노드 라벨이 제약 라벨과 같고 값이 있으면 (라벨, 속성, 값)을 모음</a:t>
            </a:r>
            <a:endParaRPr lang="en-US" sz="1500" dirty="0"/>
          </a:p>
        </p:txBody>
      </p:sp>
      <p:sp>
        <p:nvSpPr>
          <p:cNvPr id="23" name="Shape 20"/>
          <p:cNvSpPr/>
          <p:nvPr/>
        </p:nvSpPr>
        <p:spPr>
          <a:xfrm>
            <a:off x="7591349" y="3035808"/>
            <a:ext cx="2946654" cy="987552"/>
          </a:xfrm>
          <a:prstGeom prst="roundRect">
            <a:avLst>
              <a:gd name="adj" fmla="val 5556"/>
            </a:avLst>
          </a:prstGeom>
          <a:solidFill>
            <a:srgbClr val="F5F8FC"/>
          </a:solidFill>
          <a:ln w="12700">
            <a:solidFill>
              <a:srgbClr val="D9E0EC"/>
            </a:solidFill>
            <a:prstDash val="solid"/>
          </a:ln>
        </p:spPr>
        <p:txBody>
          <a:bodyPr/>
          <a:lstStyle/>
          <a:p>
            <a:endParaRPr lang="ko-KR" altLang="en-US"/>
          </a:p>
        </p:txBody>
      </p:sp>
      <p:sp>
        <p:nvSpPr>
          <p:cNvPr id="24" name="Text 21"/>
          <p:cNvSpPr txBox="1"/>
          <p:nvPr/>
        </p:nvSpPr>
        <p:spPr>
          <a:xfrm>
            <a:off x="7701077" y="3108960"/>
            <a:ext cx="2727198" cy="85953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merge_keys =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("TermsDocument",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"version", "1.2")}</a:t>
            </a:r>
            <a:endParaRPr lang="en-US" sz="1400" dirty="0"/>
          </a:p>
        </p:txBody>
      </p:sp>
      <p:sp>
        <p:nvSpPr>
          <p:cNvPr id="25" name="Shape 22"/>
          <p:cNvSpPr/>
          <p:nvPr/>
        </p:nvSpPr>
        <p:spPr>
          <a:xfrm>
            <a:off x="10684307" y="3172968"/>
            <a:ext cx="246888" cy="0"/>
          </a:xfrm>
          <a:prstGeom prst="line">
            <a:avLst/>
          </a:prstGeom>
          <a:noFill/>
          <a:ln w="31750">
            <a:solidFill>
              <a:srgbClr val="1E2A5C"/>
            </a:solidFill>
            <a:prstDash val="solid"/>
            <a:tailEnd type="triangle"/>
          </a:ln>
        </p:spPr>
        <p:txBody>
          <a:bodyPr/>
          <a:lstStyle/>
          <a:p>
            <a:endParaRPr lang="ko-KR" altLang="en-US"/>
          </a:p>
        </p:txBody>
      </p:sp>
      <p:sp>
        <p:nvSpPr>
          <p:cNvPr id="26" name="Shape 23"/>
          <p:cNvSpPr/>
          <p:nvPr/>
        </p:nvSpPr>
        <p:spPr>
          <a:xfrm>
            <a:off x="10967771" y="1737360"/>
            <a:ext cx="3166110" cy="384048"/>
          </a:xfrm>
          <a:prstGeom prst="roundRect">
            <a:avLst>
              <a:gd name="adj" fmla="val 11905"/>
            </a:avLst>
          </a:prstGeom>
          <a:solidFill>
            <a:srgbClr val="1E2A5C"/>
          </a:solidFill>
          <a:ln/>
        </p:spPr>
        <p:txBody>
          <a:bodyPr/>
          <a:lstStyle/>
          <a:p>
            <a:endParaRPr lang="ko-KR" altLang="en-US"/>
          </a:p>
        </p:txBody>
      </p:sp>
      <p:sp>
        <p:nvSpPr>
          <p:cNvPr id="27" name="Text 24"/>
          <p:cNvSpPr txBox="1"/>
          <p:nvPr/>
        </p:nvSpPr>
        <p:spPr>
          <a:xfrm>
            <a:off x="1096777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 K5 병합 (합침)</a:t>
            </a:r>
            <a:endParaRPr lang="en-US" sz="1600" dirty="0"/>
          </a:p>
        </p:txBody>
      </p:sp>
      <p:sp>
        <p:nvSpPr>
          <p:cNvPr id="28" name="Shape 25"/>
          <p:cNvSpPr/>
          <p:nvPr/>
        </p:nvSpPr>
        <p:spPr>
          <a:xfrm>
            <a:off x="10967771" y="2212848"/>
            <a:ext cx="3166110" cy="1920240"/>
          </a:xfrm>
          <a:prstGeom prst="roundRect">
            <a:avLst>
              <a:gd name="adj" fmla="val 3810"/>
            </a:avLst>
          </a:prstGeom>
          <a:solidFill>
            <a:srgbClr val="FFFFFF"/>
          </a:solidFill>
          <a:ln w="12700">
            <a:solidFill>
              <a:srgbClr val="D9E0EC"/>
            </a:solidFill>
            <a:prstDash val="solid"/>
          </a:ln>
        </p:spPr>
        <p:txBody>
          <a:bodyPr/>
          <a:lstStyle/>
          <a:p>
            <a:endParaRPr lang="ko-KR" altLang="en-US"/>
          </a:p>
        </p:txBody>
      </p:sp>
      <p:sp>
        <p:nvSpPr>
          <p:cNvPr id="29" name="Text 26"/>
          <p:cNvSpPr txBox="1"/>
          <p:nvPr/>
        </p:nvSpPr>
        <p:spPr>
          <a:xfrm>
            <a:off x="11077499" y="2267712"/>
            <a:ext cx="2946654" cy="713232"/>
          </a:xfrm>
          <a:prstGeom prst="rect">
            <a:avLst/>
          </a:prstGeom>
          <a:noFill/>
          <a:ln/>
        </p:spPr>
        <p:txBody>
          <a:bodyPr wrap="square" lIns="762" tIns="762" rIns="762" bIns="762" rtlCol="0" anchor="t"/>
          <a:lstStyle/>
          <a:p>
            <a:pPr marL="0" indent="0" algn="l">
              <a:buNone/>
            </a:pPr>
            <a:r>
              <a:rPr lang="en-US" sz="1500" dirty="0">
                <a:solidFill>
                  <a:srgbClr val="2B3242"/>
                </a:solidFill>
                <a:latin typeface="Pretendard" pitchFamily="34" charset="0"/>
                <a:ea typeface="Pretendard" pitchFamily="34" charset="-122"/>
                <a:cs typeface="Pretendard" pitchFamily="34" charset="-120"/>
              </a:rPr>
              <a:t>값마다 같은 세대에서 값이 같은 노드를 찾아 2개 이상이면 mergeNodes</a:t>
            </a:r>
            <a:endParaRPr lang="en-US" sz="1500" dirty="0"/>
          </a:p>
        </p:txBody>
      </p:sp>
      <p:sp>
        <p:nvSpPr>
          <p:cNvPr id="30" name="Shape 27"/>
          <p:cNvSpPr/>
          <p:nvPr/>
        </p:nvSpPr>
        <p:spPr>
          <a:xfrm>
            <a:off x="11077499" y="3035808"/>
            <a:ext cx="2946654" cy="987552"/>
          </a:xfrm>
          <a:prstGeom prst="roundRect">
            <a:avLst>
              <a:gd name="adj" fmla="val 5556"/>
            </a:avLst>
          </a:prstGeom>
          <a:solidFill>
            <a:srgbClr val="F5F8FC"/>
          </a:solidFill>
          <a:ln w="12700">
            <a:solidFill>
              <a:srgbClr val="D9E0EC"/>
            </a:solidFill>
            <a:prstDash val="solid"/>
          </a:ln>
        </p:spPr>
        <p:txBody>
          <a:bodyPr/>
          <a:lstStyle/>
          <a:p>
            <a:endParaRPr lang="ko-KR" altLang="en-US"/>
          </a:p>
        </p:txBody>
      </p:sp>
      <p:sp>
        <p:nvSpPr>
          <p:cNvPr id="31" name="Text 28"/>
          <p:cNvSpPr txBox="1"/>
          <p:nvPr/>
        </p:nvSpPr>
        <p:spPr>
          <a:xfrm>
            <a:off x="11187227" y="3108960"/>
            <a:ext cx="2727198" cy="85953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TermsDocument 1.2</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16개 → 1개</a:t>
            </a:r>
            <a:endParaRPr lang="en-US" sz="1400" dirty="0"/>
          </a:p>
        </p:txBody>
      </p:sp>
      <p:sp>
        <p:nvSpPr>
          <p:cNvPr id="32" name="Text 29"/>
          <p:cNvSpPr txBox="1"/>
          <p:nvPr/>
        </p:nvSpPr>
        <p:spPr>
          <a:xfrm>
            <a:off x="509321" y="4389120"/>
            <a:ext cx="749808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③의 비교: 약관 제16조 단위에서 뽑힌 노드 (제약의 node_type은 'TermsDocument')</a:t>
            </a:r>
            <a:endParaRPr lang="en-US" sz="1500" dirty="0"/>
          </a:p>
        </p:txBody>
      </p:sp>
      <p:graphicFrame>
        <p:nvGraphicFramePr>
          <p:cNvPr id="4" name="Table 0"/>
          <p:cNvGraphicFramePr>
            <a:graphicFrameLocks noGrp="1"/>
          </p:cNvGraphicFramePr>
          <p:nvPr/>
        </p:nvGraphicFramePr>
        <p:xfrm>
          <a:off x="509321" y="4791456"/>
          <a:ext cx="7498080" cy="2011680"/>
        </p:xfrm>
        <a:graphic>
          <a:graphicData uri="http://schemas.openxmlformats.org/drawingml/2006/table">
            <a:tbl>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02336">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n.label</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c.node_type == n.label</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결과</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02336">
                <a:tc>
                  <a:txBody>
                    <a:bodyPr/>
                    <a:lstStyle/>
                    <a:p>
                      <a:pPr marL="0" indent="0">
                        <a:buNone/>
                      </a:pPr>
                      <a:r>
                        <a:rPr lang="en-US" sz="1500" b="1" dirty="0">
                          <a:solidFill>
                            <a:srgbClr val="2E74C6"/>
                          </a:solidFill>
                          <a:latin typeface="Pretendard" pitchFamily="34" charset="0"/>
                          <a:ea typeface="Pretendard" pitchFamily="34" charset="-122"/>
                          <a:cs typeface="Pretendard" pitchFamily="34" charset="-120"/>
                        </a:rPr>
                        <a:t>TermsDocument</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b="1" dirty="0">
                          <a:solidFill>
                            <a:srgbClr val="2E74C6"/>
                          </a:solidFill>
                          <a:latin typeface="Pretendard" pitchFamily="34" charset="0"/>
                          <a:ea typeface="Pretendard" pitchFamily="34" charset="-122"/>
                          <a:cs typeface="Pretendard" pitchFamily="34" charset="-120"/>
                        </a:rPr>
                        <a:t>참</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b="1" dirty="0">
                          <a:solidFill>
                            <a:srgbClr val="2E74C6"/>
                          </a:solidFill>
                          <a:latin typeface="Pretendard" pitchFamily="34" charset="0"/>
                          <a:ea typeface="Pretendard" pitchFamily="34" charset="-122"/>
                          <a:cs typeface="Pretendard" pitchFamily="34" charset="-120"/>
                        </a:rPr>
                        <a:t>모음 (version 1.2)</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Clause</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거짓</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건너뜀</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02336">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Requirement</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거짓</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건너뜀</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Handling</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거짓</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건너뜀</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bl>
          </a:graphicData>
        </a:graphic>
      </p:graphicFrame>
      <p:sp>
        <p:nvSpPr>
          <p:cNvPr id="34" name="Text 30"/>
          <p:cNvSpPr txBox="1"/>
          <p:nvPr/>
        </p:nvSpPr>
        <p:spPr>
          <a:xfrm>
            <a:off x="509321" y="6912864"/>
            <a:ext cx="7498080" cy="347472"/>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조항 16개 단위가 같은 키를 넣어도 set이라 키는 1개만 남음</a:t>
            </a:r>
            <a:endParaRPr lang="en-US" sz="1400" dirty="0"/>
          </a:p>
        </p:txBody>
      </p:sp>
      <p:sp>
        <p:nvSpPr>
          <p:cNvPr id="35" name="Text 31"/>
          <p:cNvSpPr txBox="1"/>
          <p:nvPr/>
        </p:nvSpPr>
        <p:spPr>
          <a:xfrm>
            <a:off x="8327441" y="4389120"/>
            <a:ext cx="580644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제약을 쓰는 곳과 안 쓰는 곳</a:t>
            </a:r>
            <a:endParaRPr lang="en-US" sz="1500" dirty="0"/>
          </a:p>
        </p:txBody>
      </p:sp>
      <p:sp>
        <p:nvSpPr>
          <p:cNvPr id="36" name="Shape 32"/>
          <p:cNvSpPr/>
          <p:nvPr/>
        </p:nvSpPr>
        <p:spPr>
          <a:xfrm>
            <a:off x="8327441" y="4791456"/>
            <a:ext cx="5806440" cy="530352"/>
          </a:xfrm>
          <a:prstGeom prst="roundRect">
            <a:avLst>
              <a:gd name="adj" fmla="val 13793"/>
            </a:avLst>
          </a:prstGeom>
          <a:solidFill>
            <a:srgbClr val="F5F8FC"/>
          </a:solidFill>
          <a:ln w="12700">
            <a:solidFill>
              <a:srgbClr val="D9E0EC"/>
            </a:solidFill>
            <a:prstDash val="solid"/>
          </a:ln>
        </p:spPr>
        <p:txBody>
          <a:bodyPr/>
          <a:lstStyle/>
          <a:p>
            <a:endParaRPr lang="ko-KR" altLang="en-US"/>
          </a:p>
        </p:txBody>
      </p:sp>
      <p:sp>
        <p:nvSpPr>
          <p:cNvPr id="37" name="Shape 33"/>
          <p:cNvSpPr/>
          <p:nvPr/>
        </p:nvSpPr>
        <p:spPr>
          <a:xfrm>
            <a:off x="8418881" y="4882896"/>
            <a:ext cx="1417320" cy="347472"/>
          </a:xfrm>
          <a:prstGeom prst="roundRect">
            <a:avLst>
              <a:gd name="adj" fmla="val 39474"/>
            </a:avLst>
          </a:prstGeom>
          <a:solidFill>
            <a:srgbClr val="FFFFFF"/>
          </a:solidFill>
          <a:ln w="12700">
            <a:solidFill>
              <a:srgbClr val="C3CEE0"/>
            </a:solidFill>
            <a:prstDash val="solid"/>
          </a:ln>
        </p:spPr>
        <p:txBody>
          <a:bodyPr/>
          <a:lstStyle/>
          <a:p>
            <a:endParaRPr lang="ko-KR" altLang="en-US"/>
          </a:p>
        </p:txBody>
      </p:sp>
      <p:sp>
        <p:nvSpPr>
          <p:cNvPr id="38" name="Text 34"/>
          <p:cNvSpPr txBox="1"/>
          <p:nvPr/>
        </p:nvSpPr>
        <p:spPr>
          <a:xfrm>
            <a:off x="8418881" y="4882896"/>
            <a:ext cx="1417320" cy="347472"/>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K2 추출</a:t>
            </a:r>
            <a:endParaRPr lang="en-US" sz="1400" dirty="0"/>
          </a:p>
        </p:txBody>
      </p:sp>
      <p:sp>
        <p:nvSpPr>
          <p:cNvPr id="39" name="Text 35"/>
          <p:cNvSpPr txBox="1"/>
          <p:nvPr/>
        </p:nvSpPr>
        <p:spPr>
          <a:xfrm>
            <a:off x="9927641" y="4791456"/>
            <a:ext cx="4114800" cy="530352"/>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LLM에 보이지만 단위끼리 서로 몰라 중복이 생김</a:t>
            </a:r>
            <a:endParaRPr lang="en-US" sz="1400" dirty="0"/>
          </a:p>
        </p:txBody>
      </p:sp>
      <p:sp>
        <p:nvSpPr>
          <p:cNvPr id="40" name="Shape 36"/>
          <p:cNvSpPr/>
          <p:nvPr/>
        </p:nvSpPr>
        <p:spPr>
          <a:xfrm>
            <a:off x="8327441" y="5394960"/>
            <a:ext cx="5806440" cy="530352"/>
          </a:xfrm>
          <a:prstGeom prst="roundRect">
            <a:avLst>
              <a:gd name="adj" fmla="val 13793"/>
            </a:avLst>
          </a:prstGeom>
          <a:solidFill>
            <a:srgbClr val="F5F8FC"/>
          </a:solidFill>
          <a:ln w="12700">
            <a:solidFill>
              <a:srgbClr val="D9E0EC"/>
            </a:solidFill>
            <a:prstDash val="solid"/>
          </a:ln>
        </p:spPr>
        <p:txBody>
          <a:bodyPr/>
          <a:lstStyle/>
          <a:p>
            <a:endParaRPr lang="ko-KR" altLang="en-US"/>
          </a:p>
        </p:txBody>
      </p:sp>
      <p:sp>
        <p:nvSpPr>
          <p:cNvPr id="41" name="Shape 37"/>
          <p:cNvSpPr/>
          <p:nvPr/>
        </p:nvSpPr>
        <p:spPr>
          <a:xfrm>
            <a:off x="8418881" y="5486400"/>
            <a:ext cx="1417320" cy="347472"/>
          </a:xfrm>
          <a:prstGeom prst="roundRect">
            <a:avLst>
              <a:gd name="adj" fmla="val 39474"/>
            </a:avLst>
          </a:prstGeom>
          <a:solidFill>
            <a:srgbClr val="FFFFFF"/>
          </a:solidFill>
          <a:ln w="12700">
            <a:solidFill>
              <a:srgbClr val="C3CEE0"/>
            </a:solidFill>
            <a:prstDash val="solid"/>
          </a:ln>
        </p:spPr>
        <p:txBody>
          <a:bodyPr/>
          <a:lstStyle/>
          <a:p>
            <a:endParaRPr lang="ko-KR" altLang="en-US"/>
          </a:p>
        </p:txBody>
      </p:sp>
      <p:sp>
        <p:nvSpPr>
          <p:cNvPr id="42" name="Text 38"/>
          <p:cNvSpPr txBox="1"/>
          <p:nvPr/>
        </p:nvSpPr>
        <p:spPr>
          <a:xfrm>
            <a:off x="8418881" y="5486400"/>
            <a:ext cx="1417320" cy="347472"/>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K3 가지치기</a:t>
            </a:r>
            <a:endParaRPr lang="en-US" sz="1400" dirty="0"/>
          </a:p>
        </p:txBody>
      </p:sp>
      <p:sp>
        <p:nvSpPr>
          <p:cNvPr id="43" name="Text 39"/>
          <p:cNvSpPr txBox="1"/>
          <p:nvPr/>
        </p:nvSpPr>
        <p:spPr>
          <a:xfrm>
            <a:off x="9927641" y="5394960"/>
            <a:ext cx="4114800" cy="530352"/>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필수 속성만 보고 고유 속성은 안 봄</a:t>
            </a:r>
            <a:endParaRPr lang="en-US" sz="1400" dirty="0"/>
          </a:p>
        </p:txBody>
      </p:sp>
      <p:sp>
        <p:nvSpPr>
          <p:cNvPr id="44" name="Shape 40"/>
          <p:cNvSpPr/>
          <p:nvPr/>
        </p:nvSpPr>
        <p:spPr>
          <a:xfrm>
            <a:off x="8327441" y="5998464"/>
            <a:ext cx="5806440" cy="530352"/>
          </a:xfrm>
          <a:prstGeom prst="roundRect">
            <a:avLst>
              <a:gd name="adj" fmla="val 13793"/>
            </a:avLst>
          </a:prstGeom>
          <a:solidFill>
            <a:srgbClr val="F5F8FC"/>
          </a:solidFill>
          <a:ln w="12700">
            <a:solidFill>
              <a:srgbClr val="D9E0EC"/>
            </a:solidFill>
            <a:prstDash val="solid"/>
          </a:ln>
        </p:spPr>
        <p:txBody>
          <a:bodyPr/>
          <a:lstStyle/>
          <a:p>
            <a:endParaRPr lang="ko-KR" altLang="en-US"/>
          </a:p>
        </p:txBody>
      </p:sp>
      <p:sp>
        <p:nvSpPr>
          <p:cNvPr id="45" name="Shape 41"/>
          <p:cNvSpPr/>
          <p:nvPr/>
        </p:nvSpPr>
        <p:spPr>
          <a:xfrm>
            <a:off x="8418881" y="6089904"/>
            <a:ext cx="1417320" cy="347472"/>
          </a:xfrm>
          <a:prstGeom prst="roundRect">
            <a:avLst>
              <a:gd name="adj" fmla="val 39474"/>
            </a:avLst>
          </a:prstGeom>
          <a:solidFill>
            <a:srgbClr val="FFFFFF"/>
          </a:solidFill>
          <a:ln w="12700">
            <a:solidFill>
              <a:srgbClr val="C3CEE0"/>
            </a:solidFill>
            <a:prstDash val="solid"/>
          </a:ln>
        </p:spPr>
        <p:txBody>
          <a:bodyPr/>
          <a:lstStyle/>
          <a:p>
            <a:endParaRPr lang="ko-KR" altLang="en-US"/>
          </a:p>
        </p:txBody>
      </p:sp>
      <p:sp>
        <p:nvSpPr>
          <p:cNvPr id="46" name="Text 42"/>
          <p:cNvSpPr txBox="1"/>
          <p:nvPr/>
        </p:nvSpPr>
        <p:spPr>
          <a:xfrm>
            <a:off x="8418881" y="6089904"/>
            <a:ext cx="1417320" cy="347472"/>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Neo4j</a:t>
            </a:r>
            <a:endParaRPr lang="en-US" sz="1400" dirty="0"/>
          </a:p>
        </p:txBody>
      </p:sp>
      <p:sp>
        <p:nvSpPr>
          <p:cNvPr id="47" name="Text 43"/>
          <p:cNvSpPr txBox="1"/>
          <p:nvPr/>
        </p:nvSpPr>
        <p:spPr>
          <a:xfrm>
            <a:off x="9927641" y="5998464"/>
            <a:ext cx="4114800" cy="530352"/>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제약을 걸지 않음. 걸면 K4 쓰기가 실패함</a:t>
            </a:r>
            <a:endParaRPr lang="en-US" sz="1400" dirty="0"/>
          </a:p>
        </p:txBody>
      </p:sp>
      <p:sp>
        <p:nvSpPr>
          <p:cNvPr id="48" name="Shape 44"/>
          <p:cNvSpPr/>
          <p:nvPr/>
        </p:nvSpPr>
        <p:spPr>
          <a:xfrm>
            <a:off x="8327441" y="6601968"/>
            <a:ext cx="5806440" cy="530352"/>
          </a:xfrm>
          <a:prstGeom prst="roundRect">
            <a:avLst>
              <a:gd name="adj" fmla="val 13793"/>
            </a:avLst>
          </a:prstGeom>
          <a:solidFill>
            <a:srgbClr val="EEF3FA"/>
          </a:solidFill>
          <a:ln w="12700">
            <a:solidFill>
              <a:srgbClr val="2E74C6"/>
            </a:solidFill>
            <a:prstDash val="solid"/>
          </a:ln>
        </p:spPr>
        <p:txBody>
          <a:bodyPr/>
          <a:lstStyle/>
          <a:p>
            <a:endParaRPr lang="ko-KR" altLang="en-US"/>
          </a:p>
        </p:txBody>
      </p:sp>
      <p:sp>
        <p:nvSpPr>
          <p:cNvPr id="49" name="Shape 45"/>
          <p:cNvSpPr/>
          <p:nvPr/>
        </p:nvSpPr>
        <p:spPr>
          <a:xfrm>
            <a:off x="8418881" y="6693408"/>
            <a:ext cx="1417320" cy="347472"/>
          </a:xfrm>
          <a:prstGeom prst="roundRect">
            <a:avLst>
              <a:gd name="adj" fmla="val 39474"/>
            </a:avLst>
          </a:prstGeom>
          <a:solidFill>
            <a:srgbClr val="2E74C6"/>
          </a:solidFill>
          <a:ln/>
        </p:spPr>
        <p:txBody>
          <a:bodyPr/>
          <a:lstStyle/>
          <a:p>
            <a:endParaRPr lang="ko-KR" altLang="en-US"/>
          </a:p>
        </p:txBody>
      </p:sp>
      <p:sp>
        <p:nvSpPr>
          <p:cNvPr id="50" name="Text 46"/>
          <p:cNvSpPr txBox="1"/>
          <p:nvPr/>
        </p:nvSpPr>
        <p:spPr>
          <a:xfrm>
            <a:off x="8418881" y="6693408"/>
            <a:ext cx="1417320"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K4와 K5</a:t>
            </a:r>
            <a:endParaRPr lang="en-US" sz="1400" dirty="0"/>
          </a:p>
        </p:txBody>
      </p:sp>
      <p:sp>
        <p:nvSpPr>
          <p:cNvPr id="51" name="Text 47"/>
          <p:cNvSpPr txBox="1"/>
          <p:nvPr/>
        </p:nvSpPr>
        <p:spPr>
          <a:xfrm>
            <a:off x="9927641" y="6601968"/>
            <a:ext cx="4114800" cy="530352"/>
          </a:xfrm>
          <a:prstGeom prst="rect">
            <a:avLst/>
          </a:prstGeom>
          <a:noFill/>
          <a:ln/>
        </p:spPr>
        <p:txBody>
          <a:bodyPr wrap="square" lIns="762" tIns="762" rIns="762" bIns="762"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실제로 쓰는 곳: 값을 모으고 합침</a:t>
            </a:r>
            <a:endParaRPr lang="en-US" sz="1400" dirty="0"/>
          </a:p>
        </p:txBody>
      </p:sp>
      <p:sp>
        <p:nvSpPr>
          <p:cNvPr id="33"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K5.병합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노드를 합칠 때 사용 하는 스키마의 고유 속성 값이 같은 노드를 하나로 합쳐, 여러 추출 단위에 흩어진 같은 대상을 한 노드로 모음</a:t>
            </a:r>
            <a:endParaRPr lang="en-US" sz="1800" dirty="0"/>
          </a:p>
        </p:txBody>
      </p:sp>
      <p:sp>
        <p:nvSpPr>
          <p:cNvPr id="5" name="Shape 2"/>
          <p:cNvSpPr/>
          <p:nvPr/>
        </p:nvSpPr>
        <p:spPr>
          <a:xfrm>
            <a:off x="509321" y="1737360"/>
            <a:ext cx="3840480" cy="365760"/>
          </a:xfrm>
          <a:prstGeom prst="roundRect">
            <a:avLst>
              <a:gd name="adj" fmla="val 12500"/>
            </a:avLst>
          </a:prstGeom>
          <a:solidFill>
            <a:srgbClr val="404155"/>
          </a:solidFill>
          <a:ln/>
        </p:spPr>
        <p:txBody>
          <a:bodyPr/>
          <a:lstStyle/>
          <a:p>
            <a:endParaRPr lang="ko-KR" altLang="en-US"/>
          </a:p>
        </p:txBody>
      </p:sp>
      <p:sp>
        <p:nvSpPr>
          <p:cNvPr id="6" name="Text 3"/>
          <p:cNvSpPr txBox="1"/>
          <p:nvPr/>
        </p:nvSpPr>
        <p:spPr>
          <a:xfrm>
            <a:off x="509321" y="1737360"/>
            <a:ext cx="38404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합치는 기준: 스키마의 고유 속성</a:t>
            </a:r>
            <a:endParaRPr lang="en-US" sz="1600" dirty="0"/>
          </a:p>
        </p:txBody>
      </p:sp>
      <p:sp>
        <p:nvSpPr>
          <p:cNvPr id="7" name="Shape 4"/>
          <p:cNvSpPr/>
          <p:nvPr/>
        </p:nvSpPr>
        <p:spPr>
          <a:xfrm>
            <a:off x="509321" y="2194560"/>
            <a:ext cx="3840480" cy="777240"/>
          </a:xfrm>
          <a:prstGeom prst="roundRect">
            <a:avLst>
              <a:gd name="adj" fmla="val 9412"/>
            </a:avLst>
          </a:prstGeom>
          <a:solidFill>
            <a:srgbClr val="EEF3FA"/>
          </a:solidFill>
          <a:ln w="12700">
            <a:solidFill>
              <a:srgbClr val="2E74C6"/>
            </a:solidFill>
            <a:prstDash val="solid"/>
          </a:ln>
        </p:spPr>
        <p:txBody>
          <a:bodyPr/>
          <a:lstStyle/>
          <a:p>
            <a:endParaRPr lang="ko-KR" altLang="en-US"/>
          </a:p>
        </p:txBody>
      </p:sp>
      <p:sp>
        <p:nvSpPr>
          <p:cNvPr id="8" name="Text 5"/>
          <p:cNvSpPr txBox="1"/>
          <p:nvPr/>
        </p:nvSpPr>
        <p:spPr>
          <a:xfrm>
            <a:off x="509321" y="2194560"/>
            <a:ext cx="3840480" cy="777240"/>
          </a:xfrm>
          <a:prstGeom prst="rect">
            <a:avLst/>
          </a:prstGeom>
          <a:noFill/>
          <a:ln/>
        </p:spPr>
        <p:txBody>
          <a:bodyPr wrap="square" lIns="127000" tIns="38100" rIns="127000" bIns="38100" rtlCol="0" anchor="ctr"/>
          <a:lstStyle/>
          <a:p>
            <a:pPr marL="0" indent="0" algn="l">
              <a:spcAft>
                <a:spcPts val="100"/>
              </a:spcAft>
              <a:buNone/>
            </a:pPr>
            <a:r>
              <a:rPr lang="en-US" sz="1600" b="1" dirty="0">
                <a:solidFill>
                  <a:srgbClr val="1E2A5C"/>
                </a:solidFill>
                <a:latin typeface="Pretendard" pitchFamily="34" charset="0"/>
                <a:ea typeface="Pretendard" pitchFamily="34" charset="-122"/>
                <a:cs typeface="Pretendard" pitchFamily="34" charset="-120"/>
              </a:rPr>
              <a:t>약관</a:t>
            </a:r>
            <a:endParaRPr lang="en-US" sz="1600" dirty="0"/>
          </a:p>
          <a:p>
            <a:pPr marL="0" indent="0" algn="l">
              <a:spcAft>
                <a:spcPts val="100"/>
              </a:spcAft>
              <a:buNone/>
            </a:pPr>
            <a:r>
              <a:rPr lang="en-US" sz="1500" dirty="0">
                <a:solidFill>
                  <a:srgbClr val="1E2A5C"/>
                </a:solidFill>
                <a:latin typeface="Pretendard" pitchFamily="34" charset="0"/>
                <a:ea typeface="Pretendard" pitchFamily="34" charset="-122"/>
                <a:cs typeface="Pretendard" pitchFamily="34" charset="-120"/>
              </a:rPr>
              <a:t>TermsDocument.version</a:t>
            </a:r>
            <a:endParaRPr lang="en-US" sz="1600" dirty="0"/>
          </a:p>
        </p:txBody>
      </p:sp>
      <p:sp>
        <p:nvSpPr>
          <p:cNvPr id="9" name="Shape 6"/>
          <p:cNvSpPr/>
          <p:nvPr/>
        </p:nvSpPr>
        <p:spPr>
          <a:xfrm>
            <a:off x="509321" y="3063240"/>
            <a:ext cx="3840480" cy="777240"/>
          </a:xfrm>
          <a:prstGeom prst="roundRect">
            <a:avLst>
              <a:gd name="adj" fmla="val 9412"/>
            </a:avLst>
          </a:prstGeom>
          <a:solidFill>
            <a:srgbClr val="EEF3FA"/>
          </a:solidFill>
          <a:ln w="12700">
            <a:solidFill>
              <a:srgbClr val="2E74C6"/>
            </a:solidFill>
            <a:prstDash val="solid"/>
          </a:ln>
        </p:spPr>
        <p:txBody>
          <a:bodyPr/>
          <a:lstStyle/>
          <a:p>
            <a:endParaRPr lang="ko-KR" altLang="en-US"/>
          </a:p>
        </p:txBody>
      </p:sp>
      <p:sp>
        <p:nvSpPr>
          <p:cNvPr id="10" name="Text 7"/>
          <p:cNvSpPr txBox="1"/>
          <p:nvPr/>
        </p:nvSpPr>
        <p:spPr>
          <a:xfrm>
            <a:off x="509321" y="3063240"/>
            <a:ext cx="3840480" cy="777240"/>
          </a:xfrm>
          <a:prstGeom prst="rect">
            <a:avLst/>
          </a:prstGeom>
          <a:noFill/>
          <a:ln/>
        </p:spPr>
        <p:txBody>
          <a:bodyPr wrap="square" lIns="127000" tIns="38100" rIns="127000" bIns="38100" rtlCol="0" anchor="ctr"/>
          <a:lstStyle/>
          <a:p>
            <a:pPr marL="0" indent="0" algn="l">
              <a:spcAft>
                <a:spcPts val="100"/>
              </a:spcAft>
              <a:buNone/>
            </a:pPr>
            <a:r>
              <a:rPr lang="en-US" sz="1600" b="1" dirty="0">
                <a:solidFill>
                  <a:srgbClr val="1E2A5C"/>
                </a:solidFill>
                <a:latin typeface="Pretendard" pitchFamily="34" charset="0"/>
                <a:ea typeface="Pretendard" pitchFamily="34" charset="-122"/>
                <a:cs typeface="Pretendard" pitchFamily="34" charset="-120"/>
              </a:rPr>
              <a:t>혜택 안내</a:t>
            </a:r>
            <a:endParaRPr lang="en-US" sz="1600" dirty="0"/>
          </a:p>
          <a:p>
            <a:pPr marL="0" indent="0" algn="l">
              <a:spcAft>
                <a:spcPts val="100"/>
              </a:spcAft>
              <a:buNone/>
            </a:pPr>
            <a:r>
              <a:rPr lang="en-US" sz="1500" dirty="0">
                <a:solidFill>
                  <a:srgbClr val="1E2A5C"/>
                </a:solidFill>
                <a:latin typeface="Pretendard" pitchFamily="34" charset="0"/>
                <a:ea typeface="Pretendard" pitchFamily="34" charset="-122"/>
                <a:cs typeface="Pretendard" pitchFamily="34" charset="-120"/>
              </a:rPr>
              <a:t>ProductGuide.product_id</a:t>
            </a:r>
            <a:endParaRPr lang="en-US" sz="1600" dirty="0"/>
          </a:p>
        </p:txBody>
      </p:sp>
      <p:sp>
        <p:nvSpPr>
          <p:cNvPr id="11" name="Shape 8"/>
          <p:cNvSpPr/>
          <p:nvPr/>
        </p:nvSpPr>
        <p:spPr>
          <a:xfrm>
            <a:off x="509321" y="3931920"/>
            <a:ext cx="3840480" cy="777240"/>
          </a:xfrm>
          <a:prstGeom prst="roundRect">
            <a:avLst>
              <a:gd name="adj" fmla="val 9412"/>
            </a:avLst>
          </a:prstGeom>
          <a:solidFill>
            <a:srgbClr val="EEF3FA"/>
          </a:solidFill>
          <a:ln w="12700">
            <a:solidFill>
              <a:srgbClr val="2E74C6"/>
            </a:solidFill>
            <a:prstDash val="solid"/>
          </a:ln>
        </p:spPr>
        <p:txBody>
          <a:bodyPr/>
          <a:lstStyle/>
          <a:p>
            <a:endParaRPr lang="ko-KR" altLang="en-US"/>
          </a:p>
        </p:txBody>
      </p:sp>
      <p:sp>
        <p:nvSpPr>
          <p:cNvPr id="12" name="Text 9"/>
          <p:cNvSpPr txBox="1"/>
          <p:nvPr/>
        </p:nvSpPr>
        <p:spPr>
          <a:xfrm>
            <a:off x="509321" y="3931920"/>
            <a:ext cx="3840480" cy="777240"/>
          </a:xfrm>
          <a:prstGeom prst="rect">
            <a:avLst/>
          </a:prstGeom>
          <a:noFill/>
          <a:ln/>
        </p:spPr>
        <p:txBody>
          <a:bodyPr wrap="square" lIns="127000" tIns="38100" rIns="127000" bIns="38100" rtlCol="0" anchor="ctr"/>
          <a:lstStyle/>
          <a:p>
            <a:pPr marL="0" indent="0" algn="l">
              <a:spcAft>
                <a:spcPts val="100"/>
              </a:spcAft>
              <a:buNone/>
            </a:pPr>
            <a:r>
              <a:rPr lang="en-US" sz="1600" b="1" dirty="0">
                <a:solidFill>
                  <a:srgbClr val="1E2A5C"/>
                </a:solidFill>
                <a:latin typeface="Pretendard" pitchFamily="34" charset="0"/>
                <a:ea typeface="Pretendard" pitchFamily="34" charset="-122"/>
                <a:cs typeface="Pretendard" pitchFamily="34" charset="-120"/>
              </a:rPr>
              <a:t>상담 기록</a:t>
            </a:r>
            <a:endParaRPr lang="en-US" sz="1600" dirty="0"/>
          </a:p>
          <a:p>
            <a:pPr marL="0" indent="0" algn="l">
              <a:spcAft>
                <a:spcPts val="100"/>
              </a:spcAft>
              <a:buNone/>
            </a:pPr>
            <a:r>
              <a:rPr lang="en-US" sz="1500" dirty="0">
                <a:solidFill>
                  <a:srgbClr val="1E2A5C"/>
                </a:solidFill>
                <a:latin typeface="Pretendard" pitchFamily="34" charset="0"/>
                <a:ea typeface="Pretendard" pitchFamily="34" charset="-122"/>
                <a:cs typeface="Pretendard" pitchFamily="34" charset="-120"/>
              </a:rPr>
              <a:t>Consultation.record_id</a:t>
            </a:r>
            <a:endParaRPr lang="en-US" sz="1600" dirty="0"/>
          </a:p>
        </p:txBody>
      </p:sp>
      <p:sp>
        <p:nvSpPr>
          <p:cNvPr id="13" name="Shape 10"/>
          <p:cNvSpPr/>
          <p:nvPr/>
        </p:nvSpPr>
        <p:spPr>
          <a:xfrm>
            <a:off x="509321" y="4846320"/>
            <a:ext cx="3840480" cy="777240"/>
          </a:xfrm>
          <a:prstGeom prst="roundRect">
            <a:avLst>
              <a:gd name="adj" fmla="val 9412"/>
            </a:avLst>
          </a:prstGeom>
          <a:solidFill>
            <a:srgbClr val="FFFFFF"/>
          </a:solidFill>
          <a:ln w="12700">
            <a:solidFill>
              <a:srgbClr val="4A5364"/>
            </a:solidFill>
            <a:prstDash val="dash"/>
          </a:ln>
        </p:spPr>
        <p:txBody>
          <a:bodyPr/>
          <a:lstStyle/>
          <a:p>
            <a:endParaRPr lang="ko-KR" altLang="en-US"/>
          </a:p>
        </p:txBody>
      </p:sp>
      <p:sp>
        <p:nvSpPr>
          <p:cNvPr id="14" name="Text 11"/>
          <p:cNvSpPr txBox="1"/>
          <p:nvPr/>
        </p:nvSpPr>
        <p:spPr>
          <a:xfrm>
            <a:off x="509321" y="4846320"/>
            <a:ext cx="3840480" cy="777240"/>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2B3242"/>
                </a:solidFill>
                <a:latin typeface="Pretendard" pitchFamily="34" charset="0"/>
                <a:ea typeface="Pretendard" pitchFamily="34" charset="-122"/>
                <a:cs typeface="Pretendard" pitchFamily="34" charset="-120"/>
              </a:rPr>
              <a:t>고유 속성이 없는 라벨은 합치지 않음</a:t>
            </a:r>
            <a:endParaRPr lang="en-US" sz="1500" dirty="0"/>
          </a:p>
          <a:p>
            <a:pPr marL="0" indent="0" algn="l">
              <a:spcAft>
                <a:spcPts val="100"/>
              </a:spcAft>
              <a:buNone/>
            </a:pPr>
            <a:r>
              <a:rPr lang="en-US" sz="1400" dirty="0">
                <a:solidFill>
                  <a:srgbClr val="2B3242"/>
                </a:solidFill>
                <a:latin typeface="Pretendard" pitchFamily="34" charset="0"/>
                <a:ea typeface="Pretendard" pitchFamily="34" charset="-122"/>
                <a:cs typeface="Pretendard" pitchFamily="34" charset="-120"/>
              </a:rPr>
              <a:t>Clause, Proposal 등</a:t>
            </a:r>
            <a:endParaRPr lang="en-US" sz="1500" dirty="0"/>
          </a:p>
        </p:txBody>
      </p:sp>
      <p:sp>
        <p:nvSpPr>
          <p:cNvPr id="15" name="Shape 12"/>
          <p:cNvSpPr/>
          <p:nvPr/>
        </p:nvSpPr>
        <p:spPr>
          <a:xfrm>
            <a:off x="4715561" y="1737360"/>
            <a:ext cx="9418320" cy="365760"/>
          </a:xfrm>
          <a:prstGeom prst="roundRect">
            <a:avLst>
              <a:gd name="adj" fmla="val 15000"/>
            </a:avLst>
          </a:prstGeom>
          <a:solidFill>
            <a:srgbClr val="2E74C6"/>
          </a:solidFill>
          <a:ln/>
        </p:spPr>
        <p:txBody>
          <a:bodyPr/>
          <a:lstStyle/>
          <a:p>
            <a:endParaRPr lang="ko-KR" altLang="en-US"/>
          </a:p>
        </p:txBody>
      </p:sp>
      <p:sp>
        <p:nvSpPr>
          <p:cNvPr id="16" name="Text 13"/>
          <p:cNvSpPr txBox="1"/>
          <p:nvPr/>
        </p:nvSpPr>
        <p:spPr>
          <a:xfrm>
            <a:off x="4715561" y="1737360"/>
            <a:ext cx="94183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예 1. 약관 문서 노드 (조항 16개에서 각각 뽑힘)</a:t>
            </a:r>
            <a:endParaRPr lang="en-US" sz="1600" dirty="0"/>
          </a:p>
        </p:txBody>
      </p:sp>
      <p:sp>
        <p:nvSpPr>
          <p:cNvPr id="17" name="Shape 14"/>
          <p:cNvSpPr/>
          <p:nvPr/>
        </p:nvSpPr>
        <p:spPr>
          <a:xfrm>
            <a:off x="4715561" y="2240280"/>
            <a:ext cx="1783080" cy="365760"/>
          </a:xfrm>
          <a:prstGeom prst="roundRect">
            <a:avLst>
              <a:gd name="adj" fmla="val 20000"/>
            </a:avLst>
          </a:prstGeom>
          <a:solidFill>
            <a:srgbClr val="FFFFFF"/>
          </a:solidFill>
          <a:ln w="12700">
            <a:solidFill>
              <a:srgbClr val="D9E0EC"/>
            </a:solidFill>
            <a:prstDash val="solid"/>
          </a:ln>
        </p:spPr>
        <p:txBody>
          <a:bodyPr/>
          <a:lstStyle/>
          <a:p>
            <a:endParaRPr lang="ko-KR" altLang="en-US"/>
          </a:p>
        </p:txBody>
      </p:sp>
      <p:sp>
        <p:nvSpPr>
          <p:cNvPr id="18" name="Text 15"/>
          <p:cNvSpPr txBox="1"/>
          <p:nvPr/>
        </p:nvSpPr>
        <p:spPr>
          <a:xfrm>
            <a:off x="4715561" y="2240280"/>
            <a:ext cx="178308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TermsDocument 1.2</a:t>
            </a:r>
            <a:endParaRPr lang="en-US" sz="1400" dirty="0"/>
          </a:p>
        </p:txBody>
      </p:sp>
      <p:sp>
        <p:nvSpPr>
          <p:cNvPr id="19" name="Shape 16"/>
          <p:cNvSpPr/>
          <p:nvPr/>
        </p:nvSpPr>
        <p:spPr>
          <a:xfrm>
            <a:off x="6526073" y="2423160"/>
            <a:ext cx="338328" cy="0"/>
          </a:xfrm>
          <a:prstGeom prst="line">
            <a:avLst/>
          </a:prstGeom>
          <a:noFill/>
          <a:ln w="19050">
            <a:solidFill>
              <a:srgbClr val="4A5364"/>
            </a:solidFill>
            <a:prstDash val="solid"/>
            <a:tailEnd type="triangle"/>
          </a:ln>
        </p:spPr>
        <p:txBody>
          <a:bodyPr/>
          <a:lstStyle/>
          <a:p>
            <a:endParaRPr lang="ko-KR" altLang="en-US"/>
          </a:p>
        </p:txBody>
      </p:sp>
      <p:sp>
        <p:nvSpPr>
          <p:cNvPr id="20" name="Shape 17"/>
          <p:cNvSpPr/>
          <p:nvPr/>
        </p:nvSpPr>
        <p:spPr>
          <a:xfrm>
            <a:off x="6891833" y="2240280"/>
            <a:ext cx="1463040" cy="365760"/>
          </a:xfrm>
          <a:prstGeom prst="roundRect">
            <a:avLst>
              <a:gd name="adj" fmla="val 20000"/>
            </a:avLst>
          </a:prstGeom>
          <a:solidFill>
            <a:srgbClr val="F5F8FC"/>
          </a:solidFill>
          <a:ln w="12700">
            <a:solidFill>
              <a:srgbClr val="D9E0EC"/>
            </a:solidFill>
            <a:prstDash val="solid"/>
          </a:ln>
        </p:spPr>
        <p:txBody>
          <a:bodyPr/>
          <a:lstStyle/>
          <a:p>
            <a:endParaRPr lang="ko-KR" altLang="en-US"/>
          </a:p>
        </p:txBody>
      </p:sp>
      <p:sp>
        <p:nvSpPr>
          <p:cNvPr id="21" name="Text 18"/>
          <p:cNvSpPr txBox="1"/>
          <p:nvPr/>
        </p:nvSpPr>
        <p:spPr>
          <a:xfrm>
            <a:off x="6891833" y="2240280"/>
            <a:ext cx="146304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Clause (조항 1)</a:t>
            </a:r>
            <a:endParaRPr lang="en-US" sz="1400" dirty="0"/>
          </a:p>
        </p:txBody>
      </p:sp>
      <p:sp>
        <p:nvSpPr>
          <p:cNvPr id="22" name="Shape 19"/>
          <p:cNvSpPr/>
          <p:nvPr/>
        </p:nvSpPr>
        <p:spPr>
          <a:xfrm>
            <a:off x="4715561" y="2679192"/>
            <a:ext cx="1783080" cy="365760"/>
          </a:xfrm>
          <a:prstGeom prst="roundRect">
            <a:avLst>
              <a:gd name="adj" fmla="val 20000"/>
            </a:avLst>
          </a:prstGeom>
          <a:solidFill>
            <a:srgbClr val="FFFFFF"/>
          </a:solidFill>
          <a:ln w="12700">
            <a:solidFill>
              <a:srgbClr val="D9E0EC"/>
            </a:solidFill>
            <a:prstDash val="solid"/>
          </a:ln>
        </p:spPr>
        <p:txBody>
          <a:bodyPr/>
          <a:lstStyle/>
          <a:p>
            <a:endParaRPr lang="ko-KR" altLang="en-US"/>
          </a:p>
        </p:txBody>
      </p:sp>
      <p:sp>
        <p:nvSpPr>
          <p:cNvPr id="23" name="Text 20"/>
          <p:cNvSpPr txBox="1"/>
          <p:nvPr/>
        </p:nvSpPr>
        <p:spPr>
          <a:xfrm>
            <a:off x="4715561" y="2679192"/>
            <a:ext cx="178308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TermsDocument 1.2</a:t>
            </a:r>
            <a:endParaRPr lang="en-US" sz="1400" dirty="0"/>
          </a:p>
        </p:txBody>
      </p:sp>
      <p:sp>
        <p:nvSpPr>
          <p:cNvPr id="24" name="Shape 21"/>
          <p:cNvSpPr/>
          <p:nvPr/>
        </p:nvSpPr>
        <p:spPr>
          <a:xfrm>
            <a:off x="6526073" y="2862072"/>
            <a:ext cx="338328" cy="0"/>
          </a:xfrm>
          <a:prstGeom prst="line">
            <a:avLst/>
          </a:prstGeom>
          <a:noFill/>
          <a:ln w="19050">
            <a:solidFill>
              <a:srgbClr val="4A5364"/>
            </a:solidFill>
            <a:prstDash val="solid"/>
            <a:tailEnd type="triangle"/>
          </a:ln>
        </p:spPr>
        <p:txBody>
          <a:bodyPr/>
          <a:lstStyle/>
          <a:p>
            <a:endParaRPr lang="ko-KR" altLang="en-US"/>
          </a:p>
        </p:txBody>
      </p:sp>
      <p:sp>
        <p:nvSpPr>
          <p:cNvPr id="25" name="Shape 22"/>
          <p:cNvSpPr/>
          <p:nvPr/>
        </p:nvSpPr>
        <p:spPr>
          <a:xfrm>
            <a:off x="6891833" y="2679192"/>
            <a:ext cx="1463040" cy="365760"/>
          </a:xfrm>
          <a:prstGeom prst="roundRect">
            <a:avLst>
              <a:gd name="adj" fmla="val 20000"/>
            </a:avLst>
          </a:prstGeom>
          <a:solidFill>
            <a:srgbClr val="F5F8FC"/>
          </a:solidFill>
          <a:ln w="12700">
            <a:solidFill>
              <a:srgbClr val="D9E0EC"/>
            </a:solidFill>
            <a:prstDash val="solid"/>
          </a:ln>
        </p:spPr>
        <p:txBody>
          <a:bodyPr/>
          <a:lstStyle/>
          <a:p>
            <a:endParaRPr lang="ko-KR" altLang="en-US"/>
          </a:p>
        </p:txBody>
      </p:sp>
      <p:sp>
        <p:nvSpPr>
          <p:cNvPr id="26" name="Text 23"/>
          <p:cNvSpPr txBox="1"/>
          <p:nvPr/>
        </p:nvSpPr>
        <p:spPr>
          <a:xfrm>
            <a:off x="6891833" y="2679192"/>
            <a:ext cx="146304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Clause (조항 2)</a:t>
            </a:r>
            <a:endParaRPr lang="en-US" sz="1400" dirty="0"/>
          </a:p>
        </p:txBody>
      </p:sp>
      <p:sp>
        <p:nvSpPr>
          <p:cNvPr id="27" name="Shape 24"/>
          <p:cNvSpPr/>
          <p:nvPr/>
        </p:nvSpPr>
        <p:spPr>
          <a:xfrm>
            <a:off x="4715561" y="3118104"/>
            <a:ext cx="1783080" cy="365760"/>
          </a:xfrm>
          <a:prstGeom prst="roundRect">
            <a:avLst>
              <a:gd name="adj" fmla="val 20000"/>
            </a:avLst>
          </a:prstGeom>
          <a:solidFill>
            <a:srgbClr val="FFFFFF"/>
          </a:solidFill>
          <a:ln w="12700">
            <a:solidFill>
              <a:srgbClr val="D9E0EC"/>
            </a:solidFill>
            <a:prstDash val="solid"/>
          </a:ln>
        </p:spPr>
        <p:txBody>
          <a:bodyPr/>
          <a:lstStyle/>
          <a:p>
            <a:endParaRPr lang="ko-KR" altLang="en-US"/>
          </a:p>
        </p:txBody>
      </p:sp>
      <p:sp>
        <p:nvSpPr>
          <p:cNvPr id="28" name="Text 25"/>
          <p:cNvSpPr txBox="1"/>
          <p:nvPr/>
        </p:nvSpPr>
        <p:spPr>
          <a:xfrm>
            <a:off x="4715561" y="3118104"/>
            <a:ext cx="178308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TermsDocument 1.2</a:t>
            </a:r>
            <a:endParaRPr lang="en-US" sz="1400" dirty="0"/>
          </a:p>
        </p:txBody>
      </p:sp>
      <p:sp>
        <p:nvSpPr>
          <p:cNvPr id="29" name="Shape 26"/>
          <p:cNvSpPr/>
          <p:nvPr/>
        </p:nvSpPr>
        <p:spPr>
          <a:xfrm>
            <a:off x="6526073" y="3300984"/>
            <a:ext cx="338328" cy="0"/>
          </a:xfrm>
          <a:prstGeom prst="line">
            <a:avLst/>
          </a:prstGeom>
          <a:noFill/>
          <a:ln w="19050">
            <a:solidFill>
              <a:srgbClr val="4A5364"/>
            </a:solidFill>
            <a:prstDash val="solid"/>
            <a:tailEnd type="triangle"/>
          </a:ln>
        </p:spPr>
        <p:txBody>
          <a:bodyPr/>
          <a:lstStyle/>
          <a:p>
            <a:endParaRPr lang="ko-KR" altLang="en-US"/>
          </a:p>
        </p:txBody>
      </p:sp>
      <p:sp>
        <p:nvSpPr>
          <p:cNvPr id="30" name="Shape 27"/>
          <p:cNvSpPr/>
          <p:nvPr/>
        </p:nvSpPr>
        <p:spPr>
          <a:xfrm>
            <a:off x="6891833" y="3118104"/>
            <a:ext cx="1463040" cy="365760"/>
          </a:xfrm>
          <a:prstGeom prst="roundRect">
            <a:avLst>
              <a:gd name="adj" fmla="val 20000"/>
            </a:avLst>
          </a:prstGeom>
          <a:solidFill>
            <a:srgbClr val="F5F8FC"/>
          </a:solidFill>
          <a:ln w="12700">
            <a:solidFill>
              <a:srgbClr val="D9E0EC"/>
            </a:solidFill>
            <a:prstDash val="solid"/>
          </a:ln>
        </p:spPr>
        <p:txBody>
          <a:bodyPr/>
          <a:lstStyle/>
          <a:p>
            <a:endParaRPr lang="ko-KR" altLang="en-US"/>
          </a:p>
        </p:txBody>
      </p:sp>
      <p:sp>
        <p:nvSpPr>
          <p:cNvPr id="31" name="Text 28"/>
          <p:cNvSpPr txBox="1"/>
          <p:nvPr/>
        </p:nvSpPr>
        <p:spPr>
          <a:xfrm>
            <a:off x="6891833" y="3118104"/>
            <a:ext cx="146304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Clause (조항 3)</a:t>
            </a:r>
            <a:endParaRPr lang="en-US" sz="1400" dirty="0"/>
          </a:p>
        </p:txBody>
      </p:sp>
      <p:sp>
        <p:nvSpPr>
          <p:cNvPr id="32" name="Text 29"/>
          <p:cNvSpPr txBox="1"/>
          <p:nvPr/>
        </p:nvSpPr>
        <p:spPr>
          <a:xfrm>
            <a:off x="4715561" y="3538728"/>
            <a:ext cx="3931920" cy="310896"/>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 16쌍 (약관 문서 노드도 16개)</a:t>
            </a:r>
            <a:endParaRPr lang="en-US" sz="1400" dirty="0"/>
          </a:p>
        </p:txBody>
      </p:sp>
      <p:sp>
        <p:nvSpPr>
          <p:cNvPr id="33" name="Shape 30"/>
          <p:cNvSpPr/>
          <p:nvPr/>
        </p:nvSpPr>
        <p:spPr>
          <a:xfrm>
            <a:off x="8757209" y="2862072"/>
            <a:ext cx="1243584" cy="0"/>
          </a:xfrm>
          <a:prstGeom prst="line">
            <a:avLst/>
          </a:prstGeom>
          <a:noFill/>
          <a:ln w="31750">
            <a:solidFill>
              <a:srgbClr val="1E2A5C"/>
            </a:solidFill>
            <a:prstDash val="solid"/>
            <a:tailEnd type="triangle"/>
          </a:ln>
        </p:spPr>
        <p:txBody>
          <a:bodyPr/>
          <a:lstStyle/>
          <a:p>
            <a:endParaRPr lang="ko-KR" altLang="en-US"/>
          </a:p>
        </p:txBody>
      </p:sp>
      <p:sp>
        <p:nvSpPr>
          <p:cNvPr id="34" name="Text 31"/>
          <p:cNvSpPr txBox="1"/>
          <p:nvPr/>
        </p:nvSpPr>
        <p:spPr>
          <a:xfrm>
            <a:off x="8647481" y="2478024"/>
            <a:ext cx="1463040" cy="329184"/>
          </a:xfrm>
          <a:prstGeom prst="rect">
            <a:avLst/>
          </a:prstGeom>
          <a:noFill/>
          <a:ln/>
        </p:spPr>
        <p:txBody>
          <a:bodyPr wrap="square" lIns="762" tIns="762" rIns="762" bIns="762"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mergeNodes</a:t>
            </a:r>
            <a:endParaRPr lang="en-US" sz="1400" dirty="0"/>
          </a:p>
        </p:txBody>
      </p:sp>
      <p:sp>
        <p:nvSpPr>
          <p:cNvPr id="35" name="Shape 32"/>
          <p:cNvSpPr/>
          <p:nvPr/>
        </p:nvSpPr>
        <p:spPr>
          <a:xfrm>
            <a:off x="10110521" y="2587752"/>
            <a:ext cx="1783080" cy="548640"/>
          </a:xfrm>
          <a:prstGeom prst="roundRect">
            <a:avLst>
              <a:gd name="adj" fmla="val 13333"/>
            </a:avLst>
          </a:prstGeom>
          <a:solidFill>
            <a:srgbClr val="EEF3FA"/>
          </a:solidFill>
          <a:ln w="12700">
            <a:solidFill>
              <a:srgbClr val="2E74C6"/>
            </a:solidFill>
            <a:prstDash val="solid"/>
          </a:ln>
        </p:spPr>
        <p:txBody>
          <a:bodyPr/>
          <a:lstStyle/>
          <a:p>
            <a:endParaRPr lang="ko-KR" altLang="en-US"/>
          </a:p>
        </p:txBody>
      </p:sp>
      <p:sp>
        <p:nvSpPr>
          <p:cNvPr id="36" name="Text 33"/>
          <p:cNvSpPr txBox="1"/>
          <p:nvPr/>
        </p:nvSpPr>
        <p:spPr>
          <a:xfrm>
            <a:off x="10110521" y="2587752"/>
            <a:ext cx="1783080" cy="54864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TermsDocument</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1.2 (하나)</a:t>
            </a:r>
            <a:endParaRPr lang="en-US" sz="1500" dirty="0"/>
          </a:p>
        </p:txBody>
      </p:sp>
      <p:sp>
        <p:nvSpPr>
          <p:cNvPr id="37" name="Shape 34"/>
          <p:cNvSpPr/>
          <p:nvPr/>
        </p:nvSpPr>
        <p:spPr>
          <a:xfrm flipV="1">
            <a:off x="11921033" y="2423160"/>
            <a:ext cx="630936" cy="438912"/>
          </a:xfrm>
          <a:prstGeom prst="line">
            <a:avLst/>
          </a:prstGeom>
          <a:noFill/>
          <a:ln w="19050">
            <a:solidFill>
              <a:srgbClr val="2E74C6"/>
            </a:solidFill>
            <a:prstDash val="solid"/>
            <a:tailEnd type="triangle"/>
          </a:ln>
        </p:spPr>
        <p:txBody>
          <a:bodyPr/>
          <a:lstStyle/>
          <a:p>
            <a:endParaRPr lang="ko-KR" altLang="en-US"/>
          </a:p>
        </p:txBody>
      </p:sp>
      <p:sp>
        <p:nvSpPr>
          <p:cNvPr id="38" name="Shape 35"/>
          <p:cNvSpPr/>
          <p:nvPr/>
        </p:nvSpPr>
        <p:spPr>
          <a:xfrm>
            <a:off x="12579401" y="2240280"/>
            <a:ext cx="1463040" cy="365760"/>
          </a:xfrm>
          <a:prstGeom prst="roundRect">
            <a:avLst>
              <a:gd name="adj" fmla="val 20000"/>
            </a:avLst>
          </a:prstGeom>
          <a:solidFill>
            <a:srgbClr val="F5F8FC"/>
          </a:solidFill>
          <a:ln w="12700">
            <a:solidFill>
              <a:srgbClr val="D9E0EC"/>
            </a:solidFill>
            <a:prstDash val="solid"/>
          </a:ln>
        </p:spPr>
        <p:txBody>
          <a:bodyPr/>
          <a:lstStyle/>
          <a:p>
            <a:endParaRPr lang="ko-KR" altLang="en-US"/>
          </a:p>
        </p:txBody>
      </p:sp>
      <p:sp>
        <p:nvSpPr>
          <p:cNvPr id="39" name="Text 36"/>
          <p:cNvSpPr txBox="1"/>
          <p:nvPr/>
        </p:nvSpPr>
        <p:spPr>
          <a:xfrm>
            <a:off x="12579401" y="2240280"/>
            <a:ext cx="146304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Clause (조항 1)</a:t>
            </a:r>
            <a:endParaRPr lang="en-US" sz="1400" dirty="0"/>
          </a:p>
        </p:txBody>
      </p:sp>
      <p:sp>
        <p:nvSpPr>
          <p:cNvPr id="40" name="Shape 37"/>
          <p:cNvSpPr/>
          <p:nvPr/>
        </p:nvSpPr>
        <p:spPr>
          <a:xfrm>
            <a:off x="11921033" y="2862072"/>
            <a:ext cx="630936" cy="0"/>
          </a:xfrm>
          <a:prstGeom prst="line">
            <a:avLst/>
          </a:prstGeom>
          <a:noFill/>
          <a:ln w="19050">
            <a:solidFill>
              <a:srgbClr val="2E74C6"/>
            </a:solidFill>
            <a:prstDash val="solid"/>
            <a:tailEnd type="triangle"/>
          </a:ln>
        </p:spPr>
        <p:txBody>
          <a:bodyPr/>
          <a:lstStyle/>
          <a:p>
            <a:endParaRPr lang="ko-KR" altLang="en-US"/>
          </a:p>
        </p:txBody>
      </p:sp>
      <p:sp>
        <p:nvSpPr>
          <p:cNvPr id="41" name="Shape 38"/>
          <p:cNvSpPr/>
          <p:nvPr/>
        </p:nvSpPr>
        <p:spPr>
          <a:xfrm>
            <a:off x="12579401" y="2679192"/>
            <a:ext cx="1463040" cy="365760"/>
          </a:xfrm>
          <a:prstGeom prst="roundRect">
            <a:avLst>
              <a:gd name="adj" fmla="val 20000"/>
            </a:avLst>
          </a:prstGeom>
          <a:solidFill>
            <a:srgbClr val="F5F8FC"/>
          </a:solidFill>
          <a:ln w="12700">
            <a:solidFill>
              <a:srgbClr val="D9E0EC"/>
            </a:solidFill>
            <a:prstDash val="solid"/>
          </a:ln>
        </p:spPr>
        <p:txBody>
          <a:bodyPr/>
          <a:lstStyle/>
          <a:p>
            <a:endParaRPr lang="ko-KR" altLang="en-US"/>
          </a:p>
        </p:txBody>
      </p:sp>
      <p:sp>
        <p:nvSpPr>
          <p:cNvPr id="42" name="Text 39"/>
          <p:cNvSpPr txBox="1"/>
          <p:nvPr/>
        </p:nvSpPr>
        <p:spPr>
          <a:xfrm>
            <a:off x="12579401" y="2679192"/>
            <a:ext cx="146304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Clause (조항 2)</a:t>
            </a:r>
            <a:endParaRPr lang="en-US" sz="1400" dirty="0"/>
          </a:p>
        </p:txBody>
      </p:sp>
      <p:sp>
        <p:nvSpPr>
          <p:cNvPr id="43" name="Shape 40"/>
          <p:cNvSpPr/>
          <p:nvPr/>
        </p:nvSpPr>
        <p:spPr>
          <a:xfrm>
            <a:off x="11921033" y="2862072"/>
            <a:ext cx="630936" cy="438912"/>
          </a:xfrm>
          <a:prstGeom prst="line">
            <a:avLst/>
          </a:prstGeom>
          <a:noFill/>
          <a:ln w="19050">
            <a:solidFill>
              <a:srgbClr val="2E74C6"/>
            </a:solidFill>
            <a:prstDash val="solid"/>
            <a:tailEnd type="triangle"/>
          </a:ln>
        </p:spPr>
        <p:txBody>
          <a:bodyPr/>
          <a:lstStyle/>
          <a:p>
            <a:endParaRPr lang="ko-KR" altLang="en-US"/>
          </a:p>
        </p:txBody>
      </p:sp>
      <p:sp>
        <p:nvSpPr>
          <p:cNvPr id="44" name="Shape 41"/>
          <p:cNvSpPr/>
          <p:nvPr/>
        </p:nvSpPr>
        <p:spPr>
          <a:xfrm>
            <a:off x="12579401" y="3118104"/>
            <a:ext cx="1463040" cy="365760"/>
          </a:xfrm>
          <a:prstGeom prst="roundRect">
            <a:avLst>
              <a:gd name="adj" fmla="val 20000"/>
            </a:avLst>
          </a:prstGeom>
          <a:solidFill>
            <a:srgbClr val="F5F8FC"/>
          </a:solidFill>
          <a:ln w="12700">
            <a:solidFill>
              <a:srgbClr val="D9E0EC"/>
            </a:solidFill>
            <a:prstDash val="solid"/>
          </a:ln>
        </p:spPr>
        <p:txBody>
          <a:bodyPr/>
          <a:lstStyle/>
          <a:p>
            <a:endParaRPr lang="ko-KR" altLang="en-US"/>
          </a:p>
        </p:txBody>
      </p:sp>
      <p:sp>
        <p:nvSpPr>
          <p:cNvPr id="45" name="Text 42"/>
          <p:cNvSpPr txBox="1"/>
          <p:nvPr/>
        </p:nvSpPr>
        <p:spPr>
          <a:xfrm>
            <a:off x="12579401" y="3118104"/>
            <a:ext cx="1463040" cy="365760"/>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Clause (조항 3)</a:t>
            </a:r>
            <a:endParaRPr lang="en-US" sz="1400" dirty="0"/>
          </a:p>
        </p:txBody>
      </p:sp>
      <p:sp>
        <p:nvSpPr>
          <p:cNvPr id="46" name="Text 43"/>
          <p:cNvSpPr txBox="1"/>
          <p:nvPr/>
        </p:nvSpPr>
        <p:spPr>
          <a:xfrm>
            <a:off x="10110521" y="3538728"/>
            <a:ext cx="4023360" cy="310896"/>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 HAS_CLAUSE 16개, FROM_CHUNK 청크 2개</a:t>
            </a:r>
            <a:endParaRPr lang="en-US" sz="1400" dirty="0"/>
          </a:p>
        </p:txBody>
      </p:sp>
      <p:sp>
        <p:nvSpPr>
          <p:cNvPr id="47" name="Shape 44"/>
          <p:cNvSpPr/>
          <p:nvPr/>
        </p:nvSpPr>
        <p:spPr>
          <a:xfrm>
            <a:off x="4715561" y="3931920"/>
            <a:ext cx="9418320" cy="365760"/>
          </a:xfrm>
          <a:prstGeom prst="roundRect">
            <a:avLst>
              <a:gd name="adj" fmla="val 15000"/>
            </a:avLst>
          </a:prstGeom>
          <a:solidFill>
            <a:srgbClr val="2E74C6"/>
          </a:solidFill>
          <a:ln/>
        </p:spPr>
        <p:txBody>
          <a:bodyPr/>
          <a:lstStyle/>
          <a:p>
            <a:endParaRPr lang="ko-KR" altLang="en-US"/>
          </a:p>
        </p:txBody>
      </p:sp>
      <p:sp>
        <p:nvSpPr>
          <p:cNvPr id="48" name="Text 45"/>
          <p:cNvSpPr txBox="1"/>
          <p:nvPr/>
        </p:nvSpPr>
        <p:spPr>
          <a:xfrm>
            <a:off x="4715561" y="3931920"/>
            <a:ext cx="94183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예 2. 상담 노드 (앞 상담 참조와 본문)</a:t>
            </a:r>
            <a:endParaRPr lang="en-US" sz="1600" dirty="0"/>
          </a:p>
        </p:txBody>
      </p:sp>
      <p:sp>
        <p:nvSpPr>
          <p:cNvPr id="49" name="Shape 46"/>
          <p:cNvSpPr/>
          <p:nvPr/>
        </p:nvSpPr>
        <p:spPr>
          <a:xfrm>
            <a:off x="4715561" y="4407408"/>
            <a:ext cx="3931920" cy="548640"/>
          </a:xfrm>
          <a:prstGeom prst="roundRect">
            <a:avLst>
              <a:gd name="adj" fmla="val 13333"/>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4715561" y="4407408"/>
            <a:ext cx="3931920" cy="54864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Consultation C-20260302-002</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record_id만 (다른 상담의 FOLLOWS로 생김)</a:t>
            </a:r>
            <a:endParaRPr lang="en-US" sz="1500" dirty="0"/>
          </a:p>
        </p:txBody>
      </p:sp>
      <p:sp>
        <p:nvSpPr>
          <p:cNvPr id="51" name="Shape 48"/>
          <p:cNvSpPr/>
          <p:nvPr/>
        </p:nvSpPr>
        <p:spPr>
          <a:xfrm>
            <a:off x="4715561" y="5029200"/>
            <a:ext cx="3931920" cy="548640"/>
          </a:xfrm>
          <a:prstGeom prst="roundRect">
            <a:avLst>
              <a:gd name="adj" fmla="val 13333"/>
            </a:avLst>
          </a:prstGeom>
          <a:solidFill>
            <a:srgbClr val="FFFFFF"/>
          </a:solidFill>
          <a:ln w="12700">
            <a:solidFill>
              <a:srgbClr val="D9E0EC"/>
            </a:solidFill>
            <a:prstDash val="solid"/>
          </a:ln>
        </p:spPr>
        <p:txBody>
          <a:bodyPr/>
          <a:lstStyle/>
          <a:p>
            <a:endParaRPr lang="ko-KR" altLang="en-US"/>
          </a:p>
        </p:txBody>
      </p:sp>
      <p:sp>
        <p:nvSpPr>
          <p:cNvPr id="52" name="Text 49"/>
          <p:cNvSpPr txBox="1"/>
          <p:nvPr/>
        </p:nvSpPr>
        <p:spPr>
          <a:xfrm>
            <a:off x="4715561" y="5029200"/>
            <a:ext cx="3931920" cy="54864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Consultation C-20260302-002</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속성 5개 (그 상담 본문에서 뽑힘)</a:t>
            </a:r>
            <a:endParaRPr lang="en-US" sz="1500" dirty="0"/>
          </a:p>
        </p:txBody>
      </p:sp>
      <p:sp>
        <p:nvSpPr>
          <p:cNvPr id="53" name="Shape 50"/>
          <p:cNvSpPr/>
          <p:nvPr/>
        </p:nvSpPr>
        <p:spPr>
          <a:xfrm>
            <a:off x="8757209" y="4992624"/>
            <a:ext cx="1243584" cy="0"/>
          </a:xfrm>
          <a:prstGeom prst="line">
            <a:avLst/>
          </a:prstGeom>
          <a:noFill/>
          <a:ln w="31750">
            <a:solidFill>
              <a:srgbClr val="1E2A5C"/>
            </a:solidFill>
            <a:prstDash val="solid"/>
            <a:tailEnd type="triangle"/>
          </a:ln>
        </p:spPr>
        <p:txBody>
          <a:bodyPr/>
          <a:lstStyle/>
          <a:p>
            <a:endParaRPr lang="ko-KR" altLang="en-US"/>
          </a:p>
        </p:txBody>
      </p:sp>
      <p:sp>
        <p:nvSpPr>
          <p:cNvPr id="54" name="Text 51"/>
          <p:cNvSpPr txBox="1"/>
          <p:nvPr/>
        </p:nvSpPr>
        <p:spPr>
          <a:xfrm>
            <a:off x="8647481" y="4608576"/>
            <a:ext cx="1463040" cy="329184"/>
          </a:xfrm>
          <a:prstGeom prst="rect">
            <a:avLst/>
          </a:prstGeom>
          <a:noFill/>
          <a:ln/>
        </p:spPr>
        <p:txBody>
          <a:bodyPr wrap="square" lIns="762" tIns="762" rIns="762" bIns="762"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mergeNodes</a:t>
            </a:r>
            <a:endParaRPr lang="en-US" sz="1400" dirty="0"/>
          </a:p>
        </p:txBody>
      </p:sp>
      <p:sp>
        <p:nvSpPr>
          <p:cNvPr id="55" name="Shape 52"/>
          <p:cNvSpPr/>
          <p:nvPr/>
        </p:nvSpPr>
        <p:spPr>
          <a:xfrm>
            <a:off x="10110521" y="4407408"/>
            <a:ext cx="4023360" cy="1170432"/>
          </a:xfrm>
          <a:prstGeom prst="roundRect">
            <a:avLst>
              <a:gd name="adj" fmla="val 6250"/>
            </a:avLst>
          </a:prstGeom>
          <a:solidFill>
            <a:srgbClr val="EEF3FA"/>
          </a:solidFill>
          <a:ln w="12700">
            <a:solidFill>
              <a:srgbClr val="2E74C6"/>
            </a:solidFill>
            <a:prstDash val="solid"/>
          </a:ln>
        </p:spPr>
        <p:txBody>
          <a:bodyPr/>
          <a:lstStyle/>
          <a:p>
            <a:endParaRPr lang="ko-KR" altLang="en-US"/>
          </a:p>
        </p:txBody>
      </p:sp>
      <p:sp>
        <p:nvSpPr>
          <p:cNvPr id="56" name="Text 53"/>
          <p:cNvSpPr txBox="1"/>
          <p:nvPr/>
        </p:nvSpPr>
        <p:spPr>
          <a:xfrm>
            <a:off x="10110521" y="4407408"/>
            <a:ext cx="4023360" cy="117043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Consultation C-20260302-002</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속성 5개 (빈 속성이 채워짐)</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FOLLOWS 1, FROM_CHUNK 2 유지</a:t>
            </a:r>
            <a:endParaRPr lang="en-US" sz="1500" dirty="0"/>
          </a:p>
        </p:txBody>
      </p:sp>
      <p:sp>
        <p:nvSpPr>
          <p:cNvPr id="57" name="Shape 54"/>
          <p:cNvSpPr/>
          <p:nvPr/>
        </p:nvSpPr>
        <p:spPr>
          <a:xfrm>
            <a:off x="509321" y="5852160"/>
            <a:ext cx="6720840" cy="1417320"/>
          </a:xfrm>
          <a:prstGeom prst="roundRect">
            <a:avLst>
              <a:gd name="adj" fmla="val 5161"/>
            </a:avLst>
          </a:prstGeom>
          <a:solidFill>
            <a:srgbClr val="F5F8FC"/>
          </a:solidFill>
          <a:ln w="12700">
            <a:solidFill>
              <a:srgbClr val="D9E0EC"/>
            </a:solidFill>
            <a:prstDash val="solid"/>
          </a:ln>
        </p:spPr>
        <p:txBody>
          <a:bodyPr/>
          <a:lstStyle/>
          <a:p>
            <a:endParaRPr lang="ko-KR" altLang="en-US"/>
          </a:p>
        </p:txBody>
      </p:sp>
      <p:sp>
        <p:nvSpPr>
          <p:cNvPr id="58" name="Shape 55"/>
          <p:cNvSpPr/>
          <p:nvPr/>
        </p:nvSpPr>
        <p:spPr>
          <a:xfrm>
            <a:off x="619049" y="5989320"/>
            <a:ext cx="329184" cy="329184"/>
          </a:xfrm>
          <a:prstGeom prst="roundRect">
            <a:avLst>
              <a:gd name="adj" fmla="val 13889"/>
            </a:avLst>
          </a:prstGeom>
          <a:solidFill>
            <a:srgbClr val="2E74C6"/>
          </a:solidFill>
          <a:ln/>
        </p:spPr>
        <p:txBody>
          <a:bodyPr/>
          <a:lstStyle/>
          <a:p>
            <a:endParaRPr lang="ko-KR" altLang="en-US"/>
          </a:p>
        </p:txBody>
      </p:sp>
      <p:sp>
        <p:nvSpPr>
          <p:cNvPr id="59" name="Text 56"/>
          <p:cNvSpPr txBox="1"/>
          <p:nvPr/>
        </p:nvSpPr>
        <p:spPr>
          <a:xfrm>
            <a:off x="619049" y="59893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60" name="Text 57"/>
          <p:cNvSpPr txBox="1"/>
          <p:nvPr/>
        </p:nvSpPr>
        <p:spPr>
          <a:xfrm>
            <a:off x="1012241" y="5907024"/>
            <a:ext cx="612648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이번에 들어온 값만</a:t>
            </a:r>
            <a:endParaRPr lang="en-US" sz="1500" dirty="0"/>
          </a:p>
        </p:txBody>
      </p:sp>
      <p:sp>
        <p:nvSpPr>
          <p:cNvPr id="61" name="Text 58"/>
          <p:cNvSpPr txBox="1"/>
          <p:nvPr/>
        </p:nvSpPr>
        <p:spPr>
          <a:xfrm>
            <a:off x="646481" y="6437376"/>
            <a:ext cx="6446520" cy="7772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K4가 모은 값만 검사. 관련 엔티티만 건드림</a:t>
            </a:r>
            <a:endParaRPr lang="en-US" sz="1400" dirty="0"/>
          </a:p>
        </p:txBody>
      </p:sp>
      <p:sp>
        <p:nvSpPr>
          <p:cNvPr id="62" name="Shape 59"/>
          <p:cNvSpPr/>
          <p:nvPr/>
        </p:nvSpPr>
        <p:spPr>
          <a:xfrm>
            <a:off x="7413041" y="5852160"/>
            <a:ext cx="6720840" cy="1417320"/>
          </a:xfrm>
          <a:prstGeom prst="roundRect">
            <a:avLst>
              <a:gd name="adj" fmla="val 5161"/>
            </a:avLst>
          </a:prstGeom>
          <a:solidFill>
            <a:srgbClr val="F5F8FC"/>
          </a:solidFill>
          <a:ln w="12700">
            <a:solidFill>
              <a:srgbClr val="D9E0EC"/>
            </a:solidFill>
            <a:prstDash val="solid"/>
          </a:ln>
        </p:spPr>
        <p:txBody>
          <a:bodyPr/>
          <a:lstStyle/>
          <a:p>
            <a:endParaRPr lang="ko-KR" altLang="en-US"/>
          </a:p>
        </p:txBody>
      </p:sp>
      <p:sp>
        <p:nvSpPr>
          <p:cNvPr id="63" name="Shape 60"/>
          <p:cNvSpPr/>
          <p:nvPr/>
        </p:nvSpPr>
        <p:spPr>
          <a:xfrm>
            <a:off x="7522769" y="5989320"/>
            <a:ext cx="329184" cy="329184"/>
          </a:xfrm>
          <a:prstGeom prst="roundRect">
            <a:avLst>
              <a:gd name="adj" fmla="val 13889"/>
            </a:avLst>
          </a:prstGeom>
          <a:solidFill>
            <a:srgbClr val="2E74C6"/>
          </a:solidFill>
          <a:ln/>
        </p:spPr>
        <p:txBody>
          <a:bodyPr/>
          <a:lstStyle/>
          <a:p>
            <a:endParaRPr lang="ko-KR" altLang="en-US"/>
          </a:p>
        </p:txBody>
      </p:sp>
      <p:sp>
        <p:nvSpPr>
          <p:cNvPr id="64" name="Text 61"/>
          <p:cNvSpPr txBox="1"/>
          <p:nvPr/>
        </p:nvSpPr>
        <p:spPr>
          <a:xfrm>
            <a:off x="7522769" y="59893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65" name="Text 62"/>
          <p:cNvSpPr txBox="1"/>
          <p:nvPr/>
        </p:nvSpPr>
        <p:spPr>
          <a:xfrm>
            <a:off x="7915961" y="5907024"/>
            <a:ext cx="612648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같은 세대 안에서만</a:t>
            </a:r>
            <a:endParaRPr lang="en-US" sz="1500" dirty="0"/>
          </a:p>
        </p:txBody>
      </p:sp>
      <p:sp>
        <p:nvSpPr>
          <p:cNvPr id="66" name="Text 63"/>
          <p:cNvSpPr txBox="1"/>
          <p:nvPr/>
        </p:nvSpPr>
        <p:spPr>
          <a:xfrm>
            <a:off x="7550201" y="6437376"/>
            <a:ext cx="6446520" cy="77724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generation이 같은 노드끼리 합침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K5.병합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K4에서 모은 (라벨, 속성, 값)마다 같은 세대의 노드를 찾아, 2개 이상이면 APOC로 하나로 합침</a:t>
            </a:r>
            <a:endParaRPr lang="en-US" sz="1800" dirty="0"/>
          </a:p>
        </p:txBody>
      </p:sp>
      <p:sp>
        <p:nvSpPr>
          <p:cNvPr id="5" name="Shape 2"/>
          <p:cNvSpPr/>
          <p:nvPr/>
        </p:nvSpPr>
        <p:spPr>
          <a:xfrm>
            <a:off x="509321" y="1737360"/>
            <a:ext cx="7360920" cy="5532120"/>
          </a:xfrm>
          <a:prstGeom prst="roundRect">
            <a:avLst>
              <a:gd name="adj" fmla="val 992"/>
            </a:avLst>
          </a:prstGeom>
          <a:solidFill>
            <a:srgbClr val="F5F8FC"/>
          </a:solidFill>
          <a:ln w="12700">
            <a:solidFill>
              <a:srgbClr val="D9E0EC"/>
            </a:solidFill>
            <a:prstDash val="solid"/>
          </a:ln>
        </p:spPr>
        <p:txBody>
          <a:bodyPr/>
          <a:lstStyle/>
          <a:p>
            <a:endParaRPr lang="ko-KR" altLang="en-US"/>
          </a:p>
        </p:txBody>
      </p:sp>
      <p:sp>
        <p:nvSpPr>
          <p:cNvPr id="6" name="Text 3"/>
          <p:cNvSpPr txBox="1"/>
          <p:nvPr/>
        </p:nvSpPr>
        <p:spPr>
          <a:xfrm>
            <a:off x="619049" y="1810512"/>
            <a:ext cx="71414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합칠 값 모으기(apply)와 k5_merge (kg_build.py 발췌)</a:t>
            </a:r>
            <a:endParaRPr lang="en-US" sz="1400" dirty="0"/>
          </a:p>
        </p:txBody>
      </p:sp>
      <p:sp>
        <p:nvSpPr>
          <p:cNvPr id="7" name="Text 4"/>
          <p:cNvSpPr txBox="1"/>
          <p:nvPr/>
        </p:nvSpPr>
        <p:spPr>
          <a:xfrm>
            <a:off x="619049" y="2139696"/>
            <a:ext cx="7141464" cy="50749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apply() 안(K4): 합칠 값 모으기. 이번에 쓴 노드만</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for c in schemas[u["doc_type"]]["schema"].constraints: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if (c.node_type == n.label</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and n.properties.get(c.property_name) not in (None,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merge_keys.add((n.label, c.property_name,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str(n.properties[c.property_name])))</a:t>
            </a:r>
            <a:endParaRPr lang="en-US" sz="1400" dirty="0"/>
          </a:p>
          <a:p>
            <a:pPr marL="0" indent="0">
              <a:lnSpc>
                <a:spcPct val="105000"/>
              </a:lnSpc>
              <a:buNone/>
            </a:pP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def k5_merge(driver, generation, keys):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groups = 0</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label, prop, value in sorted(keys):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records, _, _ = driver.execute_query(</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f"MATCH (n:`{label}` {{generation: $g}})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f"WHERE toString(n.`{prop}`) = $v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"WITH collect(n) AS ns WHERE size(ns) &gt; 1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"CALL apoc.refactor.mergeNodes(ns,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"{properties: 'discard', mergeRels: true})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"YIELD node RETURN count(node) AS c",</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g=generation, v=value)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groups += sum(r["c"] for r in records)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groups</a:t>
            </a:r>
            <a:endParaRPr lang="en-US" sz="1400" dirty="0"/>
          </a:p>
        </p:txBody>
      </p:sp>
      <p:sp>
        <p:nvSpPr>
          <p:cNvPr id="8" name="Text 5"/>
          <p:cNvSpPr txBox="1"/>
          <p:nvPr/>
        </p:nvSpPr>
        <p:spPr>
          <a:xfrm>
            <a:off x="8144561" y="1737360"/>
            <a:ext cx="598932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v0 표본에서 합쳐진 묶음 (전체 재색인)</a:t>
            </a:r>
            <a:endParaRPr lang="en-US" sz="1500" dirty="0"/>
          </a:p>
        </p:txBody>
      </p:sp>
      <p:graphicFrame>
        <p:nvGraphicFramePr>
          <p:cNvPr id="4" name="Table 0"/>
          <p:cNvGraphicFramePr>
            <a:graphicFrameLocks noGrp="1"/>
          </p:cNvGraphicFramePr>
          <p:nvPr/>
        </p:nvGraphicFramePr>
        <p:xfrm>
          <a:off x="8144561" y="2121408"/>
          <a:ext cx="5989320" cy="1682496"/>
        </p:xfrm>
        <a:graphic>
          <a:graphicData uri="http://schemas.openxmlformats.org/drawingml/2006/table">
            <a:tbl>
              <a:tblPr/>
              <a:tblGrid>
                <a:gridCol w="1828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20624">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라벨</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고유 속성 값</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전 → 뒤</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20624">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TermsDocument</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version 1.2</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3B4557"/>
                          </a:solidFill>
                          <a:latin typeface="Pretendard" pitchFamily="34" charset="0"/>
                          <a:ea typeface="Pretendard" pitchFamily="34" charset="-122"/>
                          <a:cs typeface="Pretendard" pitchFamily="34" charset="-120"/>
                        </a:rPr>
                        <a:t>16 → 1</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ProductGuide</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product_id D2-C021</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lgn="ctr">
                        <a:buNone/>
                      </a:pPr>
                      <a:r>
                        <a:rPr lang="en-US" sz="1500" dirty="0">
                          <a:solidFill>
                            <a:srgbClr val="3B4557"/>
                          </a:solidFill>
                          <a:latin typeface="Pretendard" pitchFamily="34" charset="0"/>
                          <a:ea typeface="Pretendard" pitchFamily="34" charset="-122"/>
                          <a:cs typeface="Pretendard" pitchFamily="34" charset="-120"/>
                        </a:rPr>
                        <a:t>4 → 1</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20624">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Consultation</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record_id C-20260302-002</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3B4557"/>
                          </a:solidFill>
                          <a:latin typeface="Pretendard" pitchFamily="34" charset="0"/>
                          <a:ea typeface="Pretendard" pitchFamily="34" charset="-122"/>
                          <a:cs typeface="Pretendard" pitchFamily="34" charset="-120"/>
                        </a:rPr>
                        <a:t>2 → 1</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8144561" y="3977640"/>
            <a:ext cx="5989320" cy="1600200"/>
          </a:xfrm>
          <a:prstGeom prst="roundRect">
            <a:avLst>
              <a:gd name="adj" fmla="val 3429"/>
            </a:avLst>
          </a:prstGeom>
          <a:solidFill>
            <a:srgbClr val="F5F8FC"/>
          </a:solidFill>
          <a:ln w="12700">
            <a:solidFill>
              <a:srgbClr val="D9E0EC"/>
            </a:solidFill>
            <a:prstDash val="solid"/>
          </a:ln>
        </p:spPr>
        <p:txBody>
          <a:bodyPr/>
          <a:lstStyle/>
          <a:p>
            <a:endParaRPr lang="ko-KR" altLang="en-US"/>
          </a:p>
        </p:txBody>
      </p:sp>
      <p:sp>
        <p:nvSpPr>
          <p:cNvPr id="11" name="Text 7"/>
          <p:cNvSpPr txBox="1"/>
          <p:nvPr/>
        </p:nvSpPr>
        <p:spPr>
          <a:xfrm>
            <a:off x="8254289" y="4050792"/>
            <a:ext cx="57698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합쳐진 약관 문서 노드 (Neo4j 조회)</a:t>
            </a:r>
            <a:endParaRPr lang="en-US" sz="1400" dirty="0"/>
          </a:p>
        </p:txBody>
      </p:sp>
      <p:sp>
        <p:nvSpPr>
          <p:cNvPr id="12" name="Text 8"/>
          <p:cNvSpPr txBox="1"/>
          <p:nvPr/>
        </p:nvSpPr>
        <p:spPr>
          <a:xfrm>
            <a:off x="8254289" y="4379976"/>
            <a:ext cx="5769864" cy="114300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(:TermsDocument {version: "1.2",</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effective_date: "2027-01-15", supersedes: "1.1"})</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-[:HAS_CLAUSE]-&gt; 조항 노드 16개</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-[:FROM_CHUNK]-&gt; 청크 노드 2개</a:t>
            </a:r>
            <a:endParaRPr lang="en-US" sz="1400" dirty="0"/>
          </a:p>
        </p:txBody>
      </p:sp>
      <p:sp>
        <p:nvSpPr>
          <p:cNvPr id="13" name="Shape 9"/>
          <p:cNvSpPr/>
          <p:nvPr/>
        </p:nvSpPr>
        <p:spPr>
          <a:xfrm>
            <a:off x="8144561" y="5715000"/>
            <a:ext cx="5989320" cy="1554480"/>
          </a:xfrm>
          <a:prstGeom prst="roundRect">
            <a:avLst>
              <a:gd name="adj" fmla="val 4706"/>
            </a:avLst>
          </a:prstGeom>
          <a:solidFill>
            <a:srgbClr val="2E74C6"/>
          </a:solidFill>
          <a:ln/>
        </p:spPr>
        <p:txBody>
          <a:bodyPr/>
          <a:lstStyle/>
          <a:p>
            <a:endParaRPr lang="ko-KR" altLang="en-US"/>
          </a:p>
        </p:txBody>
      </p:sp>
      <p:sp>
        <p:nvSpPr>
          <p:cNvPr id="14" name="Text 10"/>
          <p:cNvSpPr txBox="1"/>
          <p:nvPr/>
        </p:nvSpPr>
        <p:spPr>
          <a:xfrm>
            <a:off x="8144561" y="5715000"/>
            <a:ext cx="5989320" cy="155448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v0 표본 결과</a:t>
            </a:r>
            <a:endParaRPr lang="en-US" sz="1600" dirty="0"/>
          </a:p>
          <a:p>
            <a:pPr marL="0" indent="0" algn="ctr">
              <a:spcAft>
                <a:spcPts val="100"/>
              </a:spcAft>
              <a:buNone/>
            </a:pPr>
            <a:r>
              <a:rPr lang="en-US" sz="1500" dirty="0">
                <a:solidFill>
                  <a:srgbClr val="FFFFFF"/>
                </a:solidFill>
                <a:latin typeface="Pretendard" pitchFamily="34" charset="0"/>
                <a:ea typeface="Pretendard" pitchFamily="34" charset="-122"/>
                <a:cs typeface="Pretendard" pitchFamily="34" charset="-120"/>
              </a:rPr>
              <a:t>전체 재색인: 3묶음, 엔티티 110 → 91</a:t>
            </a:r>
            <a:endParaRPr lang="en-US" sz="1600" dirty="0"/>
          </a:p>
          <a:p>
            <a:pPr marL="0" indent="0" algn="ctr">
              <a:spcAft>
                <a:spcPts val="100"/>
              </a:spcAft>
              <a:buNone/>
            </a:pPr>
            <a:r>
              <a:rPr lang="en-US" sz="1500" dirty="0">
                <a:solidFill>
                  <a:srgbClr val="FFFFFF"/>
                </a:solidFill>
                <a:latin typeface="Pretendard" pitchFamily="34" charset="0"/>
                <a:ea typeface="Pretendard" pitchFamily="34" charset="-122"/>
                <a:cs typeface="Pretendard" pitchFamily="34" charset="-120"/>
              </a:rPr>
              <a:t>증분 색인: 3묶음, 새 엔티티 31개 중 5개가 기존 노드와 합쳐짐</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K6. </a:t>
            </a:r>
            <a:r>
              <a:rPr lang="ko-KR" altLang="en-US" dirty="0">
                <a:solidFill>
                  <a:srgbClr val="2C2926"/>
                </a:solidFill>
                <a:latin typeface="Pretendard" pitchFamily="34" charset="0"/>
                <a:ea typeface="Pretendard" pitchFamily="34" charset="-122"/>
                <a:cs typeface="Pretendard" pitchFamily="34" charset="-120"/>
              </a:rPr>
              <a:t>엔티티 설명 </a:t>
            </a:r>
            <a:r>
              <a:rPr lang="ko-KR" altLang="en-US" dirty="0" err="1">
                <a:solidFill>
                  <a:srgbClr val="2C2926"/>
                </a:solidFill>
                <a:latin typeface="Pretendard" pitchFamily="34" charset="0"/>
                <a:ea typeface="Pretendard" pitchFamily="34" charset="-122"/>
                <a:cs typeface="Pretendard" pitchFamily="34" charset="-120"/>
              </a:rPr>
              <a:t>임베딩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r>
              <a:rPr lang="en-US" altLang="ko-KR" sz="2400" b="1" dirty="0">
                <a:solidFill>
                  <a:srgbClr val="2C2926"/>
                </a:solidFill>
                <a:latin typeface="Pretendard" pitchFamily="34" charset="0"/>
                <a:ea typeface="Pretendard" pitchFamily="34" charset="-122"/>
                <a:cs typeface="Pretendard" pitchFamily="34" charset="-120"/>
              </a:rPr>
              <a:t>KG </a:t>
            </a:r>
            <a:r>
              <a:rPr lang="en-US" altLang="ko-KR" sz="2400" b="1" dirty="0" err="1">
                <a:solidFill>
                  <a:srgbClr val="2C2926"/>
                </a:solidFill>
                <a:latin typeface="Pretendard" pitchFamily="34" charset="0"/>
                <a:ea typeface="Pretendard" pitchFamily="34" charset="-122"/>
                <a:cs typeface="Pretendard" pitchFamily="34" charset="-120"/>
              </a:rPr>
              <a:t>구축</a:t>
            </a:r>
            <a:r>
              <a:rPr lang="en-US" altLang="ko-KR" sz="2400" b="1" dirty="0">
                <a:solidFill>
                  <a:srgbClr val="2C2926"/>
                </a:solidFill>
                <a:latin typeface="Pretendard" pitchFamily="34" charset="0"/>
                <a:ea typeface="Pretendard" pitchFamily="34" charset="-122"/>
                <a:cs typeface="Pretendard" pitchFamily="34" charset="-120"/>
              </a:rPr>
              <a:t> K6이 </a:t>
            </a:r>
            <a:r>
              <a:rPr lang="en-US" altLang="ko-KR" sz="2400" b="1" dirty="0" err="1">
                <a:solidFill>
                  <a:srgbClr val="2C2926"/>
                </a:solidFill>
                <a:latin typeface="Pretendard" pitchFamily="34" charset="0"/>
                <a:ea typeface="Pretendard" pitchFamily="34" charset="-122"/>
                <a:cs typeface="Pretendard" pitchFamily="34" charset="-120"/>
              </a:rPr>
              <a:t>필요한</a:t>
            </a:r>
            <a:r>
              <a:rPr lang="en-US" altLang="ko-KR" sz="2400" b="1" dirty="0">
                <a:solidFill>
                  <a:srgbClr val="2C2926"/>
                </a:solidFill>
                <a:latin typeface="Pretendard" pitchFamily="34" charset="0"/>
                <a:ea typeface="Pretendard" pitchFamily="34" charset="-122"/>
                <a:cs typeface="Pretendard" pitchFamily="34" charset="-120"/>
              </a:rPr>
              <a:t> </a:t>
            </a:r>
            <a:r>
              <a:rPr lang="en-US" altLang="ko-KR" sz="2400" b="1" dirty="0" err="1">
                <a:solidFill>
                  <a:srgbClr val="2C2926"/>
                </a:solidFill>
                <a:latin typeface="Pretendard" pitchFamily="34" charset="0"/>
                <a:ea typeface="Pretendard" pitchFamily="34" charset="-122"/>
                <a:cs typeface="Pretendard" pitchFamily="34" charset="-120"/>
              </a:rPr>
              <a:t>이유</a:t>
            </a:r>
            <a:endParaRPr lang="en-US" altLang="ko-KR" b="1" dirty="0">
              <a:solidFill>
                <a:srgbClr val="2C2926"/>
              </a:solidFill>
              <a:latin typeface="Pretendard" pitchFamily="34" charset="0"/>
              <a:ea typeface="Pretendard" pitchFamily="34" charset="-122"/>
              <a:cs typeface="Pretendard" pitchFamily="34" charset="-120"/>
            </a:endParaRPr>
          </a:p>
          <a:p>
            <a:r>
              <a:rPr lang="en-US" sz="1800" dirty="0" err="1">
                <a:solidFill>
                  <a:srgbClr val="000000"/>
                </a:solidFill>
                <a:latin typeface="Pretendard SemiBold" pitchFamily="34" charset="0"/>
                <a:ea typeface="Pretendard SemiBold" pitchFamily="34" charset="-122"/>
                <a:cs typeface="Pretendard SemiBold" pitchFamily="34" charset="-120"/>
              </a:rPr>
              <a:t>검색엔진</a:t>
            </a:r>
            <a:r>
              <a:rPr lang="en-US" sz="1800" dirty="0">
                <a:solidFill>
                  <a:srgbClr val="000000"/>
                </a:solidFill>
                <a:latin typeface="Pretendard SemiBold" pitchFamily="34" charset="0"/>
                <a:ea typeface="Pretendard SemiBold" pitchFamily="34" charset="-122"/>
                <a:cs typeface="Pretendard SemiBold" pitchFamily="34" charset="-120"/>
              </a:rPr>
              <a:t> 경유 검색과 엔티티 직접 검색은 놓치는 질문이 달라 함께 써야 하고, K6은 엔티티 직접 검색을 가능하게 함</a:t>
            </a:r>
            <a:endParaRPr lang="en-US" sz="1800" dirty="0"/>
          </a:p>
        </p:txBody>
      </p:sp>
      <p:sp>
        <p:nvSpPr>
          <p:cNvPr id="5" name="Shape 2"/>
          <p:cNvSpPr/>
          <p:nvPr/>
        </p:nvSpPr>
        <p:spPr>
          <a:xfrm>
            <a:off x="509321" y="1737360"/>
            <a:ext cx="6675120" cy="2514600"/>
          </a:xfrm>
          <a:prstGeom prst="roundRect">
            <a:avLst>
              <a:gd name="adj" fmla="val 2909"/>
            </a:avLst>
          </a:prstGeom>
          <a:solidFill>
            <a:srgbClr val="FFFFFF"/>
          </a:solidFill>
          <a:ln w="12700">
            <a:solidFill>
              <a:srgbClr val="D9E0EC"/>
            </a:solidFill>
            <a:prstDash val="solid"/>
          </a:ln>
        </p:spPr>
        <p:txBody>
          <a:bodyPr/>
          <a:lstStyle/>
          <a:p>
            <a:endParaRPr lang="ko-KR" altLang="en-US"/>
          </a:p>
        </p:txBody>
      </p:sp>
      <p:sp>
        <p:nvSpPr>
          <p:cNvPr id="6" name="Shape 3"/>
          <p:cNvSpPr/>
          <p:nvPr/>
        </p:nvSpPr>
        <p:spPr>
          <a:xfrm>
            <a:off x="509321" y="1737360"/>
            <a:ext cx="6675120" cy="402336"/>
          </a:xfrm>
          <a:prstGeom prst="roundRect">
            <a:avLst>
              <a:gd name="adj" fmla="val 13636"/>
            </a:avLst>
          </a:prstGeom>
          <a:solidFill>
            <a:srgbClr val="1E2A5C"/>
          </a:solidFill>
          <a:ln/>
        </p:spPr>
        <p:txBody>
          <a:bodyPr/>
          <a:lstStyle/>
          <a:p>
            <a:endParaRPr lang="ko-KR" altLang="en-US"/>
          </a:p>
        </p:txBody>
      </p:sp>
      <p:sp>
        <p:nvSpPr>
          <p:cNvPr id="7" name="Text 4"/>
          <p:cNvSpPr txBox="1"/>
          <p:nvPr/>
        </p:nvSpPr>
        <p:spPr>
          <a:xfrm>
            <a:off x="509321" y="1737360"/>
            <a:ext cx="6675120" cy="402336"/>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검색엔진 경유 검색</a:t>
            </a:r>
            <a:endParaRPr lang="en-US" sz="1600" dirty="0"/>
          </a:p>
        </p:txBody>
      </p:sp>
      <p:sp>
        <p:nvSpPr>
          <p:cNvPr id="8" name="Shape 5"/>
          <p:cNvSpPr/>
          <p:nvPr/>
        </p:nvSpPr>
        <p:spPr>
          <a:xfrm>
            <a:off x="646481" y="2286000"/>
            <a:ext cx="1421892" cy="603504"/>
          </a:xfrm>
          <a:prstGeom prst="roundRect">
            <a:avLst>
              <a:gd name="adj" fmla="val 30303"/>
            </a:avLst>
          </a:prstGeom>
          <a:solidFill>
            <a:srgbClr val="FFFFFF"/>
          </a:solidFill>
          <a:ln w="12700">
            <a:solidFill>
              <a:srgbClr val="C3CEE0"/>
            </a:solidFill>
            <a:prstDash val="solid"/>
          </a:ln>
        </p:spPr>
        <p:txBody>
          <a:bodyPr/>
          <a:lstStyle/>
          <a:p>
            <a:endParaRPr lang="ko-KR" altLang="en-US"/>
          </a:p>
        </p:txBody>
      </p:sp>
      <p:sp>
        <p:nvSpPr>
          <p:cNvPr id="9" name="Text 6"/>
          <p:cNvSpPr txBox="1"/>
          <p:nvPr/>
        </p:nvSpPr>
        <p:spPr>
          <a:xfrm>
            <a:off x="646481" y="2286000"/>
            <a:ext cx="1421892" cy="60350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p>
        </p:txBody>
      </p:sp>
      <p:sp>
        <p:nvSpPr>
          <p:cNvPr id="10" name="Shape 7"/>
          <p:cNvSpPr/>
          <p:nvPr/>
        </p:nvSpPr>
        <p:spPr>
          <a:xfrm>
            <a:off x="2095805" y="2587752"/>
            <a:ext cx="182880" cy="0"/>
          </a:xfrm>
          <a:prstGeom prst="line">
            <a:avLst/>
          </a:prstGeom>
          <a:noFill/>
          <a:ln w="22225">
            <a:solidFill>
              <a:srgbClr val="1E2A5C"/>
            </a:solidFill>
            <a:prstDash val="solid"/>
            <a:tailEnd type="triangle"/>
          </a:ln>
        </p:spPr>
        <p:txBody>
          <a:bodyPr/>
          <a:lstStyle/>
          <a:p>
            <a:endParaRPr lang="ko-KR" altLang="en-US"/>
          </a:p>
        </p:txBody>
      </p:sp>
      <p:sp>
        <p:nvSpPr>
          <p:cNvPr id="11" name="Shape 8"/>
          <p:cNvSpPr/>
          <p:nvPr/>
        </p:nvSpPr>
        <p:spPr>
          <a:xfrm>
            <a:off x="2306117" y="2286000"/>
            <a:ext cx="1421892" cy="603504"/>
          </a:xfrm>
          <a:prstGeom prst="roundRect">
            <a:avLst>
              <a:gd name="adj" fmla="val 30303"/>
            </a:avLst>
          </a:prstGeom>
          <a:solidFill>
            <a:srgbClr val="FFFFFF"/>
          </a:solidFill>
          <a:ln w="12700">
            <a:solidFill>
              <a:srgbClr val="C3CEE0"/>
            </a:solidFill>
            <a:prstDash val="solid"/>
          </a:ln>
        </p:spPr>
        <p:txBody>
          <a:bodyPr/>
          <a:lstStyle/>
          <a:p>
            <a:endParaRPr lang="ko-KR" altLang="en-US"/>
          </a:p>
        </p:txBody>
      </p:sp>
      <p:sp>
        <p:nvSpPr>
          <p:cNvPr id="12" name="Text 9"/>
          <p:cNvSpPr txBox="1"/>
          <p:nvPr/>
        </p:nvSpPr>
        <p:spPr>
          <a:xfrm>
            <a:off x="2306117" y="2286000"/>
            <a:ext cx="1421892" cy="60350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검색결과 청크</a:t>
            </a:r>
            <a:endParaRPr lang="en-US" sz="1400" dirty="0"/>
          </a:p>
        </p:txBody>
      </p:sp>
      <p:sp>
        <p:nvSpPr>
          <p:cNvPr id="13" name="Shape 10"/>
          <p:cNvSpPr/>
          <p:nvPr/>
        </p:nvSpPr>
        <p:spPr>
          <a:xfrm>
            <a:off x="3755441" y="2587752"/>
            <a:ext cx="182880" cy="0"/>
          </a:xfrm>
          <a:prstGeom prst="line">
            <a:avLst/>
          </a:prstGeom>
          <a:noFill/>
          <a:ln w="22225">
            <a:solidFill>
              <a:srgbClr val="1E2A5C"/>
            </a:solidFill>
            <a:prstDash val="solid"/>
            <a:tailEnd type="triangle"/>
          </a:ln>
        </p:spPr>
        <p:txBody>
          <a:bodyPr/>
          <a:lstStyle/>
          <a:p>
            <a:endParaRPr lang="ko-KR" altLang="en-US"/>
          </a:p>
        </p:txBody>
      </p:sp>
      <p:sp>
        <p:nvSpPr>
          <p:cNvPr id="14" name="Shape 11"/>
          <p:cNvSpPr/>
          <p:nvPr/>
        </p:nvSpPr>
        <p:spPr>
          <a:xfrm>
            <a:off x="3965753" y="2286000"/>
            <a:ext cx="1421892" cy="603504"/>
          </a:xfrm>
          <a:prstGeom prst="roundRect">
            <a:avLst>
              <a:gd name="adj" fmla="val 30303"/>
            </a:avLst>
          </a:prstGeom>
          <a:solidFill>
            <a:srgbClr val="FFFFFF"/>
          </a:solidFill>
          <a:ln w="12700">
            <a:solidFill>
              <a:srgbClr val="C3CEE0"/>
            </a:solidFill>
            <a:prstDash val="solid"/>
          </a:ln>
        </p:spPr>
        <p:txBody>
          <a:bodyPr/>
          <a:lstStyle/>
          <a:p>
            <a:endParaRPr lang="ko-KR" altLang="en-US"/>
          </a:p>
        </p:txBody>
      </p:sp>
      <p:sp>
        <p:nvSpPr>
          <p:cNvPr id="15" name="Text 12"/>
          <p:cNvSpPr txBox="1"/>
          <p:nvPr/>
        </p:nvSpPr>
        <p:spPr>
          <a:xfrm>
            <a:off x="3965753" y="2286000"/>
            <a:ext cx="1421892" cy="60350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같은 chunk_id의 청크 노드</a:t>
            </a:r>
            <a:endParaRPr lang="en-US" sz="1400" dirty="0"/>
          </a:p>
        </p:txBody>
      </p:sp>
      <p:sp>
        <p:nvSpPr>
          <p:cNvPr id="16" name="Shape 13"/>
          <p:cNvSpPr/>
          <p:nvPr/>
        </p:nvSpPr>
        <p:spPr>
          <a:xfrm>
            <a:off x="5415077" y="2587752"/>
            <a:ext cx="182880" cy="0"/>
          </a:xfrm>
          <a:prstGeom prst="line">
            <a:avLst/>
          </a:prstGeom>
          <a:noFill/>
          <a:ln w="22225">
            <a:solidFill>
              <a:srgbClr val="1E2A5C"/>
            </a:solidFill>
            <a:prstDash val="solid"/>
            <a:tailEnd type="triangle"/>
          </a:ln>
        </p:spPr>
        <p:txBody>
          <a:bodyPr/>
          <a:lstStyle/>
          <a:p>
            <a:endParaRPr lang="ko-KR" altLang="en-US"/>
          </a:p>
        </p:txBody>
      </p:sp>
      <p:sp>
        <p:nvSpPr>
          <p:cNvPr id="17" name="Shape 14"/>
          <p:cNvSpPr/>
          <p:nvPr/>
        </p:nvSpPr>
        <p:spPr>
          <a:xfrm>
            <a:off x="5625389" y="2286000"/>
            <a:ext cx="1421892" cy="603504"/>
          </a:xfrm>
          <a:prstGeom prst="roundRect">
            <a:avLst>
              <a:gd name="adj" fmla="val 30303"/>
            </a:avLst>
          </a:prstGeom>
          <a:solidFill>
            <a:srgbClr val="FFFFFF"/>
          </a:solidFill>
          <a:ln w="12700">
            <a:solidFill>
              <a:srgbClr val="C3CEE0"/>
            </a:solidFill>
            <a:prstDash val="solid"/>
          </a:ln>
        </p:spPr>
        <p:txBody>
          <a:bodyPr/>
          <a:lstStyle/>
          <a:p>
            <a:endParaRPr lang="ko-KR" altLang="en-US"/>
          </a:p>
        </p:txBody>
      </p:sp>
      <p:sp>
        <p:nvSpPr>
          <p:cNvPr id="18" name="Text 15"/>
          <p:cNvSpPr txBox="1"/>
          <p:nvPr/>
        </p:nvSpPr>
        <p:spPr>
          <a:xfrm>
            <a:off x="5625389" y="2286000"/>
            <a:ext cx="1421892" cy="60350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FROM_CHUNK로 이어진 엔티티</a:t>
            </a:r>
            <a:endParaRPr lang="en-US" sz="1400" dirty="0"/>
          </a:p>
        </p:txBody>
      </p:sp>
      <p:sp>
        <p:nvSpPr>
          <p:cNvPr id="19" name="Shape 16"/>
          <p:cNvSpPr/>
          <p:nvPr/>
        </p:nvSpPr>
        <p:spPr>
          <a:xfrm>
            <a:off x="646481" y="3136392"/>
            <a:ext cx="731520" cy="347472"/>
          </a:xfrm>
          <a:prstGeom prst="roundRect">
            <a:avLst>
              <a:gd name="adj" fmla="val 31579"/>
            </a:avLst>
          </a:prstGeom>
          <a:solidFill>
            <a:srgbClr val="2E74C6"/>
          </a:solidFill>
          <a:ln/>
        </p:spPr>
        <p:txBody>
          <a:bodyPr/>
          <a:lstStyle/>
          <a:p>
            <a:endParaRPr lang="ko-KR" altLang="en-US"/>
          </a:p>
        </p:txBody>
      </p:sp>
      <p:sp>
        <p:nvSpPr>
          <p:cNvPr id="20" name="Text 17"/>
          <p:cNvSpPr txBox="1"/>
          <p:nvPr/>
        </p:nvSpPr>
        <p:spPr>
          <a:xfrm>
            <a:off x="646481" y="3136392"/>
            <a:ext cx="731520"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강점</a:t>
            </a:r>
            <a:endParaRPr lang="en-US" sz="1400" dirty="0"/>
          </a:p>
        </p:txBody>
      </p:sp>
      <p:sp>
        <p:nvSpPr>
          <p:cNvPr id="21" name="Text 18"/>
          <p:cNvSpPr txBox="1"/>
          <p:nvPr/>
        </p:nvSpPr>
        <p:spPr>
          <a:xfrm>
            <a:off x="1469441" y="3063240"/>
            <a:ext cx="5577840" cy="493776"/>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청크 본문에 맥락이 있어 표현이 달라도 맞음. K6 없이 가능</a:t>
            </a:r>
            <a:endParaRPr lang="en-US" sz="1500" dirty="0"/>
          </a:p>
        </p:txBody>
      </p:sp>
      <p:sp>
        <p:nvSpPr>
          <p:cNvPr id="22" name="Shape 19"/>
          <p:cNvSpPr/>
          <p:nvPr/>
        </p:nvSpPr>
        <p:spPr>
          <a:xfrm>
            <a:off x="646481" y="3703320"/>
            <a:ext cx="731520" cy="347472"/>
          </a:xfrm>
          <a:prstGeom prst="roundRect">
            <a:avLst>
              <a:gd name="adj" fmla="val 31579"/>
            </a:avLst>
          </a:prstGeom>
          <a:solidFill>
            <a:srgbClr val="4A5364"/>
          </a:solidFill>
          <a:ln/>
        </p:spPr>
        <p:txBody>
          <a:bodyPr/>
          <a:lstStyle/>
          <a:p>
            <a:endParaRPr lang="ko-KR" altLang="en-US"/>
          </a:p>
        </p:txBody>
      </p:sp>
      <p:sp>
        <p:nvSpPr>
          <p:cNvPr id="23" name="Text 20"/>
          <p:cNvSpPr txBox="1"/>
          <p:nvPr/>
        </p:nvSpPr>
        <p:spPr>
          <a:xfrm>
            <a:off x="646481" y="3703320"/>
            <a:ext cx="731520"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약점</a:t>
            </a:r>
            <a:endParaRPr lang="en-US" sz="1400" dirty="0"/>
          </a:p>
        </p:txBody>
      </p:sp>
      <p:sp>
        <p:nvSpPr>
          <p:cNvPr id="24" name="Text 21"/>
          <p:cNvSpPr txBox="1"/>
          <p:nvPr/>
        </p:nvSpPr>
        <p:spPr>
          <a:xfrm>
            <a:off x="1469441" y="3630168"/>
            <a:ext cx="5577840" cy="493776"/>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후보가 많음(청크 1개에 평균 9.8개). 검색엔진이 다른 문서 청크를 1위로 올리면 함께 빗나감</a:t>
            </a:r>
            <a:endParaRPr lang="en-US" sz="1500" dirty="0"/>
          </a:p>
        </p:txBody>
      </p:sp>
      <p:sp>
        <p:nvSpPr>
          <p:cNvPr id="25" name="Shape 22"/>
          <p:cNvSpPr/>
          <p:nvPr/>
        </p:nvSpPr>
        <p:spPr>
          <a:xfrm>
            <a:off x="7458761" y="1737360"/>
            <a:ext cx="6675120" cy="2514600"/>
          </a:xfrm>
          <a:prstGeom prst="roundRect">
            <a:avLst>
              <a:gd name="adj" fmla="val 2909"/>
            </a:avLst>
          </a:prstGeom>
          <a:solidFill>
            <a:srgbClr val="EEF3FA"/>
          </a:solidFill>
          <a:ln w="12700">
            <a:solidFill>
              <a:srgbClr val="2E74C6"/>
            </a:solidFill>
            <a:prstDash val="solid"/>
          </a:ln>
        </p:spPr>
        <p:txBody>
          <a:bodyPr/>
          <a:lstStyle/>
          <a:p>
            <a:endParaRPr lang="ko-KR" altLang="en-US"/>
          </a:p>
        </p:txBody>
      </p:sp>
      <p:sp>
        <p:nvSpPr>
          <p:cNvPr id="26" name="Shape 23"/>
          <p:cNvSpPr/>
          <p:nvPr/>
        </p:nvSpPr>
        <p:spPr>
          <a:xfrm>
            <a:off x="7458761" y="1737360"/>
            <a:ext cx="6675120" cy="402336"/>
          </a:xfrm>
          <a:prstGeom prst="roundRect">
            <a:avLst>
              <a:gd name="adj" fmla="val 13636"/>
            </a:avLst>
          </a:prstGeom>
          <a:solidFill>
            <a:srgbClr val="2E74C6"/>
          </a:solidFill>
          <a:ln/>
        </p:spPr>
        <p:txBody>
          <a:bodyPr/>
          <a:lstStyle/>
          <a:p>
            <a:endParaRPr lang="ko-KR" altLang="en-US"/>
          </a:p>
        </p:txBody>
      </p:sp>
      <p:sp>
        <p:nvSpPr>
          <p:cNvPr id="27" name="Text 24"/>
          <p:cNvSpPr txBox="1"/>
          <p:nvPr/>
        </p:nvSpPr>
        <p:spPr>
          <a:xfrm>
            <a:off x="7458761" y="1737360"/>
            <a:ext cx="6675120" cy="402336"/>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엔티티 직접 검색</a:t>
            </a:r>
            <a:endParaRPr lang="en-US" sz="1600" dirty="0"/>
          </a:p>
        </p:txBody>
      </p:sp>
      <p:sp>
        <p:nvSpPr>
          <p:cNvPr id="28" name="Shape 25"/>
          <p:cNvSpPr/>
          <p:nvPr/>
        </p:nvSpPr>
        <p:spPr>
          <a:xfrm>
            <a:off x="7595921" y="2286000"/>
            <a:ext cx="1975104" cy="603504"/>
          </a:xfrm>
          <a:prstGeom prst="roundRect">
            <a:avLst>
              <a:gd name="adj" fmla="val 30303"/>
            </a:avLst>
          </a:prstGeom>
          <a:solidFill>
            <a:srgbClr val="FFFFFF"/>
          </a:solidFill>
          <a:ln w="12700">
            <a:solidFill>
              <a:srgbClr val="C3CEE0"/>
            </a:solidFill>
            <a:prstDash val="solid"/>
          </a:ln>
        </p:spPr>
        <p:txBody>
          <a:bodyPr/>
          <a:lstStyle/>
          <a:p>
            <a:endParaRPr lang="ko-KR" altLang="en-US"/>
          </a:p>
        </p:txBody>
      </p:sp>
      <p:sp>
        <p:nvSpPr>
          <p:cNvPr id="29" name="Text 26"/>
          <p:cNvSpPr txBox="1"/>
          <p:nvPr/>
        </p:nvSpPr>
        <p:spPr>
          <a:xfrm>
            <a:off x="7595921" y="2286000"/>
            <a:ext cx="1975104" cy="60350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p>
        </p:txBody>
      </p:sp>
      <p:sp>
        <p:nvSpPr>
          <p:cNvPr id="30" name="Shape 27"/>
          <p:cNvSpPr/>
          <p:nvPr/>
        </p:nvSpPr>
        <p:spPr>
          <a:xfrm>
            <a:off x="9598457" y="2587752"/>
            <a:ext cx="182880" cy="0"/>
          </a:xfrm>
          <a:prstGeom prst="line">
            <a:avLst/>
          </a:prstGeom>
          <a:noFill/>
          <a:ln w="22225">
            <a:solidFill>
              <a:srgbClr val="1E2A5C"/>
            </a:solidFill>
            <a:prstDash val="solid"/>
            <a:tailEnd type="triangle"/>
          </a:ln>
        </p:spPr>
        <p:txBody>
          <a:bodyPr/>
          <a:lstStyle/>
          <a:p>
            <a:endParaRPr lang="ko-KR" altLang="en-US"/>
          </a:p>
        </p:txBody>
      </p:sp>
      <p:sp>
        <p:nvSpPr>
          <p:cNvPr id="31" name="Shape 28"/>
          <p:cNvSpPr/>
          <p:nvPr/>
        </p:nvSpPr>
        <p:spPr>
          <a:xfrm>
            <a:off x="9808769" y="2286000"/>
            <a:ext cx="1975104" cy="603504"/>
          </a:xfrm>
          <a:prstGeom prst="roundRect">
            <a:avLst>
              <a:gd name="adj" fmla="val 30303"/>
            </a:avLst>
          </a:prstGeom>
          <a:solidFill>
            <a:srgbClr val="FFFFFF"/>
          </a:solidFill>
          <a:ln w="12700">
            <a:solidFill>
              <a:srgbClr val="C3CEE0"/>
            </a:solidFill>
            <a:prstDash val="solid"/>
          </a:ln>
        </p:spPr>
        <p:txBody>
          <a:bodyPr/>
          <a:lstStyle/>
          <a:p>
            <a:endParaRPr lang="ko-KR" altLang="en-US"/>
          </a:p>
        </p:txBody>
      </p:sp>
      <p:sp>
        <p:nvSpPr>
          <p:cNvPr id="32" name="Text 29"/>
          <p:cNvSpPr txBox="1"/>
          <p:nvPr/>
        </p:nvSpPr>
        <p:spPr>
          <a:xfrm>
            <a:off x="9808769" y="2286000"/>
            <a:ext cx="1975104" cy="60350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K6 엔티티 설명 벡터</a:t>
            </a:r>
            <a:endParaRPr lang="en-US" sz="1400" dirty="0"/>
          </a:p>
        </p:txBody>
      </p:sp>
      <p:sp>
        <p:nvSpPr>
          <p:cNvPr id="33" name="Shape 30"/>
          <p:cNvSpPr/>
          <p:nvPr/>
        </p:nvSpPr>
        <p:spPr>
          <a:xfrm>
            <a:off x="11811305" y="2587752"/>
            <a:ext cx="182880" cy="0"/>
          </a:xfrm>
          <a:prstGeom prst="line">
            <a:avLst/>
          </a:prstGeom>
          <a:noFill/>
          <a:ln w="22225">
            <a:solidFill>
              <a:srgbClr val="1E2A5C"/>
            </a:solidFill>
            <a:prstDash val="solid"/>
            <a:tailEnd type="triangle"/>
          </a:ln>
        </p:spPr>
        <p:txBody>
          <a:bodyPr/>
          <a:lstStyle/>
          <a:p>
            <a:endParaRPr lang="ko-KR" altLang="en-US"/>
          </a:p>
        </p:txBody>
      </p:sp>
      <p:sp>
        <p:nvSpPr>
          <p:cNvPr id="34" name="Shape 31"/>
          <p:cNvSpPr/>
          <p:nvPr/>
        </p:nvSpPr>
        <p:spPr>
          <a:xfrm>
            <a:off x="12021617" y="2286000"/>
            <a:ext cx="1975104" cy="603504"/>
          </a:xfrm>
          <a:prstGeom prst="roundRect">
            <a:avLst>
              <a:gd name="adj" fmla="val 30303"/>
            </a:avLst>
          </a:prstGeom>
          <a:solidFill>
            <a:srgbClr val="FFFFFF"/>
          </a:solidFill>
          <a:ln w="12700">
            <a:solidFill>
              <a:srgbClr val="C3CEE0"/>
            </a:solidFill>
            <a:prstDash val="solid"/>
          </a:ln>
        </p:spPr>
        <p:txBody>
          <a:bodyPr/>
          <a:lstStyle/>
          <a:p>
            <a:endParaRPr lang="ko-KR" altLang="en-US"/>
          </a:p>
        </p:txBody>
      </p:sp>
      <p:sp>
        <p:nvSpPr>
          <p:cNvPr id="35" name="Text 32"/>
          <p:cNvSpPr txBox="1"/>
          <p:nvPr/>
        </p:nvSpPr>
        <p:spPr>
          <a:xfrm>
            <a:off x="12021617" y="2286000"/>
            <a:ext cx="1975104" cy="60350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뜻이 가까운 엔티티</a:t>
            </a:r>
            <a:endParaRPr lang="en-US" sz="1400" dirty="0"/>
          </a:p>
        </p:txBody>
      </p:sp>
      <p:sp>
        <p:nvSpPr>
          <p:cNvPr id="36" name="Shape 33"/>
          <p:cNvSpPr/>
          <p:nvPr/>
        </p:nvSpPr>
        <p:spPr>
          <a:xfrm>
            <a:off x="7595921" y="3136392"/>
            <a:ext cx="731520" cy="347472"/>
          </a:xfrm>
          <a:prstGeom prst="roundRect">
            <a:avLst>
              <a:gd name="adj" fmla="val 31579"/>
            </a:avLst>
          </a:prstGeom>
          <a:solidFill>
            <a:srgbClr val="2E74C6"/>
          </a:solidFill>
          <a:ln/>
        </p:spPr>
        <p:txBody>
          <a:bodyPr/>
          <a:lstStyle/>
          <a:p>
            <a:endParaRPr lang="ko-KR" altLang="en-US"/>
          </a:p>
        </p:txBody>
      </p:sp>
      <p:sp>
        <p:nvSpPr>
          <p:cNvPr id="37" name="Text 34"/>
          <p:cNvSpPr txBox="1"/>
          <p:nvPr/>
        </p:nvSpPr>
        <p:spPr>
          <a:xfrm>
            <a:off x="7595921" y="3136392"/>
            <a:ext cx="731520"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강점</a:t>
            </a:r>
            <a:endParaRPr lang="en-US" sz="1400" dirty="0"/>
          </a:p>
        </p:txBody>
      </p:sp>
      <p:sp>
        <p:nvSpPr>
          <p:cNvPr id="38" name="Text 35"/>
          <p:cNvSpPr txBox="1"/>
          <p:nvPr/>
        </p:nvSpPr>
        <p:spPr>
          <a:xfrm>
            <a:off x="8418881" y="3063240"/>
            <a:ext cx="5577840" cy="493776"/>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검색엔진과 따로 돌고, 사실 하나를 바로 짚음(후보 5개)</a:t>
            </a:r>
            <a:endParaRPr lang="en-US" sz="1500" dirty="0"/>
          </a:p>
        </p:txBody>
      </p:sp>
      <p:sp>
        <p:nvSpPr>
          <p:cNvPr id="39" name="Shape 36"/>
          <p:cNvSpPr/>
          <p:nvPr/>
        </p:nvSpPr>
        <p:spPr>
          <a:xfrm>
            <a:off x="7595921" y="3703320"/>
            <a:ext cx="731520" cy="347472"/>
          </a:xfrm>
          <a:prstGeom prst="roundRect">
            <a:avLst>
              <a:gd name="adj" fmla="val 31579"/>
            </a:avLst>
          </a:prstGeom>
          <a:solidFill>
            <a:srgbClr val="4A5364"/>
          </a:solidFill>
          <a:ln/>
        </p:spPr>
        <p:txBody>
          <a:bodyPr/>
          <a:lstStyle/>
          <a:p>
            <a:endParaRPr lang="ko-KR" altLang="en-US"/>
          </a:p>
        </p:txBody>
      </p:sp>
      <p:sp>
        <p:nvSpPr>
          <p:cNvPr id="40" name="Text 37"/>
          <p:cNvSpPr txBox="1"/>
          <p:nvPr/>
        </p:nvSpPr>
        <p:spPr>
          <a:xfrm>
            <a:off x="7595921" y="3703320"/>
            <a:ext cx="731520" cy="34747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약점</a:t>
            </a:r>
            <a:endParaRPr lang="en-US" sz="1400" dirty="0"/>
          </a:p>
        </p:txBody>
      </p:sp>
      <p:sp>
        <p:nvSpPr>
          <p:cNvPr id="41" name="Text 38"/>
          <p:cNvSpPr txBox="1"/>
          <p:nvPr/>
        </p:nvSpPr>
        <p:spPr>
          <a:xfrm>
            <a:off x="8418881" y="3630168"/>
            <a:ext cx="5577840" cy="493776"/>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설명 글이 짧아 맥락이 빠지면 놓침. 인덱싱에 K6 단계를 더 해야 함</a:t>
            </a:r>
            <a:endParaRPr lang="en-US" sz="1500" dirty="0"/>
          </a:p>
        </p:txBody>
      </p:sp>
      <p:sp>
        <p:nvSpPr>
          <p:cNvPr id="42" name="Text 39"/>
          <p:cNvSpPr txBox="1"/>
          <p:nvPr/>
        </p:nvSpPr>
        <p:spPr>
          <a:xfrm>
            <a:off x="509321" y="4480560"/>
            <a:ext cx="768096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같은 질문 20개로 비교 (v0 표본: 청크 9개, 엔티티 83개)</a:t>
            </a:r>
            <a:endParaRPr lang="en-US" sz="1500" dirty="0"/>
          </a:p>
        </p:txBody>
      </p:sp>
      <p:sp>
        <p:nvSpPr>
          <p:cNvPr id="43" name="Text 40"/>
          <p:cNvSpPr txBox="1"/>
          <p:nvPr/>
        </p:nvSpPr>
        <p:spPr>
          <a:xfrm>
            <a:off x="509321" y="4937760"/>
            <a:ext cx="2514600" cy="43891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검색엔진 경유, 청크 1개</a:t>
            </a:r>
            <a:endParaRPr lang="en-US" sz="1500" dirty="0"/>
          </a:p>
        </p:txBody>
      </p:sp>
      <p:sp>
        <p:nvSpPr>
          <p:cNvPr id="44" name="Shape 41"/>
          <p:cNvSpPr/>
          <p:nvPr/>
        </p:nvSpPr>
        <p:spPr>
          <a:xfrm>
            <a:off x="3023921" y="4992624"/>
            <a:ext cx="2834640" cy="329184"/>
          </a:xfrm>
          <a:prstGeom prst="rect">
            <a:avLst/>
          </a:prstGeom>
          <a:solidFill>
            <a:srgbClr val="EDF0F6"/>
          </a:solidFill>
          <a:ln/>
        </p:spPr>
        <p:txBody>
          <a:bodyPr/>
          <a:lstStyle/>
          <a:p>
            <a:endParaRPr lang="ko-KR" altLang="en-US"/>
          </a:p>
        </p:txBody>
      </p:sp>
      <p:sp>
        <p:nvSpPr>
          <p:cNvPr id="45" name="Shape 42"/>
          <p:cNvSpPr/>
          <p:nvPr/>
        </p:nvSpPr>
        <p:spPr>
          <a:xfrm>
            <a:off x="3023921" y="4992624"/>
            <a:ext cx="1275588" cy="329184"/>
          </a:xfrm>
          <a:prstGeom prst="rect">
            <a:avLst/>
          </a:prstGeom>
          <a:solidFill>
            <a:srgbClr val="C3CEE0"/>
          </a:solidFill>
          <a:ln/>
        </p:spPr>
        <p:txBody>
          <a:bodyPr/>
          <a:lstStyle/>
          <a:p>
            <a:endParaRPr lang="ko-KR" altLang="en-US"/>
          </a:p>
        </p:txBody>
      </p:sp>
      <p:sp>
        <p:nvSpPr>
          <p:cNvPr id="46" name="Text 43"/>
          <p:cNvSpPr txBox="1"/>
          <p:nvPr/>
        </p:nvSpPr>
        <p:spPr>
          <a:xfrm>
            <a:off x="5950001" y="4937760"/>
            <a:ext cx="2240280" cy="438912"/>
          </a:xfrm>
          <a:prstGeom prst="rect">
            <a:avLst/>
          </a:prstGeom>
          <a:noFill/>
          <a:ln/>
        </p:spPr>
        <p:txBody>
          <a:bodyPr wrap="square" lIns="762" tIns="762" rIns="762" bIns="762" rtlCol="0" anchor="ctr"/>
          <a:lstStyle/>
          <a:p>
            <a:pPr marL="0" indent="0" algn="l">
              <a:buNone/>
            </a:pPr>
            <a:r>
              <a:rPr lang="en-US" sz="1500" dirty="0">
                <a:solidFill>
                  <a:srgbClr val="3B4557"/>
                </a:solidFill>
                <a:latin typeface="Pretendard" pitchFamily="34" charset="0"/>
                <a:ea typeface="Pretendard" pitchFamily="34" charset="-122"/>
                <a:cs typeface="Pretendard" pitchFamily="34" charset="-120"/>
              </a:rPr>
              <a:t>9 / 20  (후보 9.8)</a:t>
            </a:r>
            <a:endParaRPr lang="en-US" sz="1500" dirty="0"/>
          </a:p>
        </p:txBody>
      </p:sp>
      <p:sp>
        <p:nvSpPr>
          <p:cNvPr id="47" name="Text 44"/>
          <p:cNvSpPr txBox="1"/>
          <p:nvPr/>
        </p:nvSpPr>
        <p:spPr>
          <a:xfrm>
            <a:off x="509321" y="5541264"/>
            <a:ext cx="2514600" cy="43891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검색엔진 경유, 청크 2개</a:t>
            </a:r>
            <a:endParaRPr lang="en-US" sz="1500" dirty="0"/>
          </a:p>
        </p:txBody>
      </p:sp>
      <p:sp>
        <p:nvSpPr>
          <p:cNvPr id="48" name="Shape 45"/>
          <p:cNvSpPr/>
          <p:nvPr/>
        </p:nvSpPr>
        <p:spPr>
          <a:xfrm>
            <a:off x="3023921" y="5596128"/>
            <a:ext cx="2834640" cy="329184"/>
          </a:xfrm>
          <a:prstGeom prst="rect">
            <a:avLst/>
          </a:prstGeom>
          <a:solidFill>
            <a:srgbClr val="EDF0F6"/>
          </a:solidFill>
          <a:ln/>
        </p:spPr>
        <p:txBody>
          <a:bodyPr/>
          <a:lstStyle/>
          <a:p>
            <a:endParaRPr lang="ko-KR" altLang="en-US"/>
          </a:p>
        </p:txBody>
      </p:sp>
      <p:sp>
        <p:nvSpPr>
          <p:cNvPr id="49" name="Shape 46"/>
          <p:cNvSpPr/>
          <p:nvPr/>
        </p:nvSpPr>
        <p:spPr>
          <a:xfrm>
            <a:off x="3023921" y="5596128"/>
            <a:ext cx="2267712" cy="329184"/>
          </a:xfrm>
          <a:prstGeom prst="rect">
            <a:avLst/>
          </a:prstGeom>
          <a:solidFill>
            <a:srgbClr val="C3CEE0"/>
          </a:solidFill>
          <a:ln/>
        </p:spPr>
        <p:txBody>
          <a:bodyPr/>
          <a:lstStyle/>
          <a:p>
            <a:endParaRPr lang="ko-KR" altLang="en-US"/>
          </a:p>
        </p:txBody>
      </p:sp>
      <p:sp>
        <p:nvSpPr>
          <p:cNvPr id="50" name="Text 47"/>
          <p:cNvSpPr txBox="1"/>
          <p:nvPr/>
        </p:nvSpPr>
        <p:spPr>
          <a:xfrm>
            <a:off x="5950001" y="5541264"/>
            <a:ext cx="2240280" cy="438912"/>
          </a:xfrm>
          <a:prstGeom prst="rect">
            <a:avLst/>
          </a:prstGeom>
          <a:noFill/>
          <a:ln/>
        </p:spPr>
        <p:txBody>
          <a:bodyPr wrap="square" lIns="762" tIns="762" rIns="762" bIns="762" rtlCol="0" anchor="ctr"/>
          <a:lstStyle/>
          <a:p>
            <a:pPr marL="0" indent="0" algn="l">
              <a:buNone/>
            </a:pPr>
            <a:r>
              <a:rPr lang="en-US" sz="1500" dirty="0">
                <a:solidFill>
                  <a:srgbClr val="3B4557"/>
                </a:solidFill>
                <a:latin typeface="Pretendard" pitchFamily="34" charset="0"/>
                <a:ea typeface="Pretendard" pitchFamily="34" charset="-122"/>
                <a:cs typeface="Pretendard" pitchFamily="34" charset="-120"/>
              </a:rPr>
              <a:t>16 / 20  (후보 20.5)</a:t>
            </a:r>
            <a:endParaRPr lang="en-US" sz="1500" dirty="0"/>
          </a:p>
        </p:txBody>
      </p:sp>
      <p:sp>
        <p:nvSpPr>
          <p:cNvPr id="51" name="Text 48"/>
          <p:cNvSpPr txBox="1"/>
          <p:nvPr/>
        </p:nvSpPr>
        <p:spPr>
          <a:xfrm>
            <a:off x="509321" y="6144768"/>
            <a:ext cx="2514600" cy="438912"/>
          </a:xfrm>
          <a:prstGeom prst="rect">
            <a:avLst/>
          </a:prstGeom>
          <a:noFill/>
          <a:ln/>
        </p:spPr>
        <p:txBody>
          <a:bodyPr wrap="square" lIns="762" tIns="762" rIns="762" bIns="762"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엔티티 직접, 5개</a:t>
            </a:r>
            <a:endParaRPr lang="en-US" sz="1500" dirty="0"/>
          </a:p>
        </p:txBody>
      </p:sp>
      <p:sp>
        <p:nvSpPr>
          <p:cNvPr id="52" name="Shape 49"/>
          <p:cNvSpPr/>
          <p:nvPr/>
        </p:nvSpPr>
        <p:spPr>
          <a:xfrm>
            <a:off x="3023921" y="6199632"/>
            <a:ext cx="2834640" cy="329184"/>
          </a:xfrm>
          <a:prstGeom prst="rect">
            <a:avLst/>
          </a:prstGeom>
          <a:solidFill>
            <a:srgbClr val="EDF0F6"/>
          </a:solidFill>
          <a:ln/>
        </p:spPr>
        <p:txBody>
          <a:bodyPr/>
          <a:lstStyle/>
          <a:p>
            <a:endParaRPr lang="ko-KR" altLang="en-US"/>
          </a:p>
        </p:txBody>
      </p:sp>
      <p:sp>
        <p:nvSpPr>
          <p:cNvPr id="53" name="Shape 50"/>
          <p:cNvSpPr/>
          <p:nvPr/>
        </p:nvSpPr>
        <p:spPr>
          <a:xfrm>
            <a:off x="3023921" y="6199632"/>
            <a:ext cx="2267712" cy="329184"/>
          </a:xfrm>
          <a:prstGeom prst="rect">
            <a:avLst/>
          </a:prstGeom>
          <a:solidFill>
            <a:srgbClr val="2E74C6"/>
          </a:solidFill>
          <a:ln/>
        </p:spPr>
        <p:txBody>
          <a:bodyPr/>
          <a:lstStyle/>
          <a:p>
            <a:endParaRPr lang="ko-KR" altLang="en-US"/>
          </a:p>
        </p:txBody>
      </p:sp>
      <p:sp>
        <p:nvSpPr>
          <p:cNvPr id="54" name="Text 51"/>
          <p:cNvSpPr txBox="1"/>
          <p:nvPr/>
        </p:nvSpPr>
        <p:spPr>
          <a:xfrm>
            <a:off x="5950001" y="6144768"/>
            <a:ext cx="2240280" cy="438912"/>
          </a:xfrm>
          <a:prstGeom prst="rect">
            <a:avLst/>
          </a:prstGeom>
          <a:noFill/>
          <a:ln/>
        </p:spPr>
        <p:txBody>
          <a:bodyPr wrap="square" lIns="762" tIns="762" rIns="762" bIns="762" rtlCol="0" anchor="ctr"/>
          <a:lstStyle/>
          <a:p>
            <a:pPr marL="0" indent="0" algn="l">
              <a:buNone/>
            </a:pPr>
            <a:r>
              <a:rPr lang="en-US" sz="1500" dirty="0">
                <a:solidFill>
                  <a:srgbClr val="3B4557"/>
                </a:solidFill>
                <a:latin typeface="Pretendard" pitchFamily="34" charset="0"/>
                <a:ea typeface="Pretendard" pitchFamily="34" charset="-122"/>
                <a:cs typeface="Pretendard" pitchFamily="34" charset="-120"/>
              </a:rPr>
              <a:t>16 / 20  (후보 5)</a:t>
            </a:r>
            <a:endParaRPr lang="en-US" sz="1500" dirty="0"/>
          </a:p>
        </p:txBody>
      </p:sp>
      <p:sp>
        <p:nvSpPr>
          <p:cNvPr id="55" name="Text 52"/>
          <p:cNvSpPr txBox="1"/>
          <p:nvPr/>
        </p:nvSpPr>
        <p:spPr>
          <a:xfrm>
            <a:off x="509321" y="6748272"/>
            <a:ext cx="2514600" cy="438912"/>
          </a:xfrm>
          <a:prstGeom prst="rect">
            <a:avLst/>
          </a:prstGeom>
          <a:noFill/>
          <a:ln/>
        </p:spPr>
        <p:txBody>
          <a:bodyPr wrap="square" lIns="762" tIns="762" rIns="762" bIns="762"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함께 (청크 2 + 엔티티 5)</a:t>
            </a:r>
            <a:endParaRPr lang="en-US" sz="1500" dirty="0"/>
          </a:p>
        </p:txBody>
      </p:sp>
      <p:sp>
        <p:nvSpPr>
          <p:cNvPr id="56" name="Shape 53"/>
          <p:cNvSpPr/>
          <p:nvPr/>
        </p:nvSpPr>
        <p:spPr>
          <a:xfrm>
            <a:off x="3023921" y="6803136"/>
            <a:ext cx="2834640" cy="329184"/>
          </a:xfrm>
          <a:prstGeom prst="rect">
            <a:avLst/>
          </a:prstGeom>
          <a:solidFill>
            <a:srgbClr val="EDF0F6"/>
          </a:solidFill>
          <a:ln/>
        </p:spPr>
        <p:txBody>
          <a:bodyPr/>
          <a:lstStyle/>
          <a:p>
            <a:endParaRPr lang="ko-KR" altLang="en-US"/>
          </a:p>
        </p:txBody>
      </p:sp>
      <p:sp>
        <p:nvSpPr>
          <p:cNvPr id="57" name="Shape 54"/>
          <p:cNvSpPr/>
          <p:nvPr/>
        </p:nvSpPr>
        <p:spPr>
          <a:xfrm>
            <a:off x="3023921" y="6803136"/>
            <a:ext cx="2551176" cy="329184"/>
          </a:xfrm>
          <a:prstGeom prst="rect">
            <a:avLst/>
          </a:prstGeom>
          <a:solidFill>
            <a:srgbClr val="1E2A5C"/>
          </a:solidFill>
          <a:ln/>
        </p:spPr>
        <p:txBody>
          <a:bodyPr/>
          <a:lstStyle/>
          <a:p>
            <a:endParaRPr lang="ko-KR" altLang="en-US"/>
          </a:p>
        </p:txBody>
      </p:sp>
      <p:sp>
        <p:nvSpPr>
          <p:cNvPr id="58" name="Text 55"/>
          <p:cNvSpPr txBox="1"/>
          <p:nvPr/>
        </p:nvSpPr>
        <p:spPr>
          <a:xfrm>
            <a:off x="5950001" y="6748272"/>
            <a:ext cx="2240280" cy="43891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18 / 20  (후보 25.5 이하)</a:t>
            </a:r>
            <a:endParaRPr lang="en-US" sz="1500" dirty="0"/>
          </a:p>
        </p:txBody>
      </p:sp>
      <p:sp>
        <p:nvSpPr>
          <p:cNvPr id="59" name="Text 56"/>
          <p:cNvSpPr txBox="1"/>
          <p:nvPr/>
        </p:nvSpPr>
        <p:spPr>
          <a:xfrm>
            <a:off x="8464601" y="4480560"/>
            <a:ext cx="566928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서로 메운 예</a:t>
            </a:r>
            <a:endParaRPr lang="en-US" sz="1500" dirty="0"/>
          </a:p>
        </p:txBody>
      </p:sp>
      <p:sp>
        <p:nvSpPr>
          <p:cNvPr id="60" name="Shape 57"/>
          <p:cNvSpPr/>
          <p:nvPr/>
        </p:nvSpPr>
        <p:spPr>
          <a:xfrm>
            <a:off x="8464601" y="4882896"/>
            <a:ext cx="5669280" cy="713232"/>
          </a:xfrm>
          <a:prstGeom prst="roundRect">
            <a:avLst>
              <a:gd name="adj" fmla="val 10256"/>
            </a:avLst>
          </a:prstGeom>
          <a:solidFill>
            <a:srgbClr val="F5F8FC"/>
          </a:solidFill>
          <a:ln w="12700">
            <a:solidFill>
              <a:srgbClr val="D9E0EC"/>
            </a:solidFill>
            <a:prstDash val="solid"/>
          </a:ln>
        </p:spPr>
        <p:txBody>
          <a:bodyPr/>
          <a:lstStyle/>
          <a:p>
            <a:endParaRPr lang="ko-KR" altLang="en-US"/>
          </a:p>
        </p:txBody>
      </p:sp>
      <p:sp>
        <p:nvSpPr>
          <p:cNvPr id="61" name="Text 58"/>
          <p:cNvSpPr txBox="1"/>
          <p:nvPr/>
        </p:nvSpPr>
        <p:spPr>
          <a:xfrm>
            <a:off x="8464601" y="4882896"/>
            <a:ext cx="5669280" cy="713232"/>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2B3242"/>
                </a:solidFill>
                <a:latin typeface="Pretendard" pitchFamily="34" charset="0"/>
                <a:ea typeface="Pretendard" pitchFamily="34" charset="-122"/>
                <a:cs typeface="Pretendard" pitchFamily="34" charset="-120"/>
              </a:rPr>
              <a:t>「할부로 산 물건을 무르고 싶은데…」</a:t>
            </a:r>
            <a:endParaRPr lang="en-US" sz="1500" dirty="0"/>
          </a:p>
          <a:p>
            <a:pPr marL="0" indent="0" algn="l">
              <a:spcAft>
                <a:spcPts val="100"/>
              </a:spcAft>
              <a:buNone/>
            </a:pPr>
            <a:r>
              <a:rPr lang="en-US" sz="1400" dirty="0">
                <a:solidFill>
                  <a:srgbClr val="2B3242"/>
                </a:solidFill>
                <a:latin typeface="Pretendard" pitchFamily="34" charset="0"/>
                <a:ea typeface="Pretendard" pitchFamily="34" charset="-122"/>
                <a:cs typeface="Pretendard" pitchFamily="34" charset="-120"/>
              </a:rPr>
              <a:t>검색엔진 경유: 상담 청크가 1위라 놓침 → 엔티티 직접: 철회 기한 엔티티 1위</a:t>
            </a:r>
            <a:endParaRPr lang="en-US" sz="1500" dirty="0"/>
          </a:p>
        </p:txBody>
      </p:sp>
      <p:sp>
        <p:nvSpPr>
          <p:cNvPr id="62" name="Shape 59"/>
          <p:cNvSpPr/>
          <p:nvPr/>
        </p:nvSpPr>
        <p:spPr>
          <a:xfrm>
            <a:off x="8464601" y="5650992"/>
            <a:ext cx="5669280" cy="713232"/>
          </a:xfrm>
          <a:prstGeom prst="roundRect">
            <a:avLst>
              <a:gd name="adj" fmla="val 10256"/>
            </a:avLst>
          </a:prstGeom>
          <a:solidFill>
            <a:srgbClr val="F5F8FC"/>
          </a:solidFill>
          <a:ln w="12700">
            <a:solidFill>
              <a:srgbClr val="D9E0EC"/>
            </a:solidFill>
            <a:prstDash val="solid"/>
          </a:ln>
        </p:spPr>
        <p:txBody>
          <a:bodyPr/>
          <a:lstStyle/>
          <a:p>
            <a:endParaRPr lang="ko-KR" altLang="en-US"/>
          </a:p>
        </p:txBody>
      </p:sp>
      <p:sp>
        <p:nvSpPr>
          <p:cNvPr id="63" name="Text 60"/>
          <p:cNvSpPr txBox="1"/>
          <p:nvPr/>
        </p:nvSpPr>
        <p:spPr>
          <a:xfrm>
            <a:off x="8464601" y="5650992"/>
            <a:ext cx="5669280" cy="713232"/>
          </a:xfrm>
          <a:prstGeom prst="rect">
            <a:avLst/>
          </a:prstGeom>
          <a:noFill/>
          <a:ln/>
        </p:spPr>
        <p:txBody>
          <a:bodyPr wrap="square" lIns="127000" tIns="38100" rIns="127000" bIns="38100" rtlCol="0" anchor="ctr"/>
          <a:lstStyle/>
          <a:p>
            <a:pPr marL="0" indent="0" algn="l">
              <a:spcAft>
                <a:spcPts val="100"/>
              </a:spcAft>
              <a:buNone/>
            </a:pPr>
            <a:r>
              <a:rPr lang="en-US" sz="1500" b="1" dirty="0">
                <a:solidFill>
                  <a:srgbClr val="2B3242"/>
                </a:solidFill>
                <a:latin typeface="Pretendard" pitchFamily="34" charset="0"/>
                <a:ea typeface="Pretendard" pitchFamily="34" charset="-122"/>
                <a:cs typeface="Pretendard" pitchFamily="34" charset="-120"/>
              </a:rPr>
              <a:t>「오랫동안 카드를 안 쓰면…」</a:t>
            </a:r>
            <a:endParaRPr lang="en-US" sz="1500" dirty="0"/>
          </a:p>
          <a:p>
            <a:pPr marL="0" indent="0" algn="l">
              <a:spcAft>
                <a:spcPts val="100"/>
              </a:spcAft>
              <a:buNone/>
            </a:pPr>
            <a:r>
              <a:rPr lang="en-US" sz="1400" dirty="0">
                <a:solidFill>
                  <a:srgbClr val="2B3242"/>
                </a:solidFill>
                <a:latin typeface="Pretendard" pitchFamily="34" charset="0"/>
                <a:ea typeface="Pretendard" pitchFamily="34" charset="-122"/>
                <a:cs typeface="Pretendard" pitchFamily="34" charset="-120"/>
              </a:rPr>
              <a:t>엔티티 직접: 5위 안에 정답 없음 → 검색엔진 경유: 청크 2개 안에 정답</a:t>
            </a:r>
            <a:endParaRPr lang="en-US" sz="1500" dirty="0"/>
          </a:p>
        </p:txBody>
      </p:sp>
      <p:sp>
        <p:nvSpPr>
          <p:cNvPr id="64" name="Shape 61"/>
          <p:cNvSpPr/>
          <p:nvPr/>
        </p:nvSpPr>
        <p:spPr>
          <a:xfrm>
            <a:off x="8464601" y="6419088"/>
            <a:ext cx="5669280" cy="850392"/>
          </a:xfrm>
          <a:prstGeom prst="roundRect">
            <a:avLst>
              <a:gd name="adj" fmla="val 8602"/>
            </a:avLst>
          </a:prstGeom>
          <a:solidFill>
            <a:srgbClr val="1E2A5C"/>
          </a:solidFill>
          <a:ln/>
        </p:spPr>
        <p:txBody>
          <a:bodyPr/>
          <a:lstStyle/>
          <a:p>
            <a:endParaRPr lang="ko-KR" altLang="en-US"/>
          </a:p>
        </p:txBody>
      </p:sp>
      <p:sp>
        <p:nvSpPr>
          <p:cNvPr id="65" name="Text 62"/>
          <p:cNvSpPr txBox="1"/>
          <p:nvPr/>
        </p:nvSpPr>
        <p:spPr>
          <a:xfrm>
            <a:off x="8464601" y="6419088"/>
            <a:ext cx="5669280" cy="850392"/>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두 방식을 함께 쓰고 결과를 합침</a:t>
            </a:r>
            <a:endParaRPr lang="en-US" sz="1600" dirty="0"/>
          </a:p>
          <a:p>
            <a:pPr marL="0" indent="0" algn="ctr">
              <a:spcAft>
                <a:spcPts val="100"/>
              </a:spcAft>
              <a:buNone/>
            </a:pPr>
            <a:r>
              <a:rPr lang="en-US" sz="1500" dirty="0">
                <a:solidFill>
                  <a:srgbClr val="FFFFFF"/>
                </a:solidFill>
                <a:latin typeface="Pretendard" pitchFamily="34" charset="0"/>
                <a:ea typeface="Pretendard" pitchFamily="34" charset="-122"/>
                <a:cs typeface="Pretendard" pitchFamily="34" charset="-120"/>
              </a:rPr>
              <a:t>검색엔진 경유 검색만 쓰면 K6은 필요 없음</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K6. </a:t>
            </a:r>
            <a:r>
              <a:rPr lang="ko-KR" altLang="en-US" dirty="0">
                <a:solidFill>
                  <a:srgbClr val="2C2926"/>
                </a:solidFill>
                <a:latin typeface="Pretendard" pitchFamily="34" charset="0"/>
                <a:ea typeface="Pretendard" pitchFamily="34" charset="-122"/>
                <a:cs typeface="Pretendard" pitchFamily="34" charset="-120"/>
              </a:rPr>
              <a:t>엔티티 설명 </a:t>
            </a:r>
            <a:r>
              <a:rPr lang="ko-KR" altLang="en-US" dirty="0" err="1">
                <a:solidFill>
                  <a:srgbClr val="2C2926"/>
                </a:solidFill>
                <a:latin typeface="Pretendard" pitchFamily="34" charset="0"/>
                <a:ea typeface="Pretendard" pitchFamily="34" charset="-122"/>
                <a:cs typeface="Pretendard" pitchFamily="34" charset="-120"/>
              </a:rPr>
              <a:t>임베딩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엔티티마다 「라벨: 속성=값」 설명 글을 만들어 임베딩하고, 벡터 인덱스로 질문과 뜻이 가까운 엔티티를 찾게 함</a:t>
            </a:r>
            <a:endParaRPr lang="en-US" sz="1800" dirty="0"/>
          </a:p>
        </p:txBody>
      </p:sp>
      <p:sp>
        <p:nvSpPr>
          <p:cNvPr id="5" name="Shape 2"/>
          <p:cNvSpPr/>
          <p:nvPr/>
        </p:nvSpPr>
        <p:spPr>
          <a:xfrm>
            <a:off x="509321" y="1737360"/>
            <a:ext cx="3166110" cy="384048"/>
          </a:xfrm>
          <a:prstGeom prst="roundRect">
            <a:avLst>
              <a:gd name="adj" fmla="val 11905"/>
            </a:avLst>
          </a:prstGeom>
          <a:solidFill>
            <a:srgbClr val="1E2A5C"/>
          </a:solidFill>
          <a:ln/>
        </p:spPr>
        <p:txBody>
          <a:bodyPr/>
          <a:lstStyle/>
          <a:p>
            <a:endParaRPr lang="ko-KR" altLang="en-US"/>
          </a:p>
        </p:txBody>
      </p:sp>
      <p:sp>
        <p:nvSpPr>
          <p:cNvPr id="6" name="Text 3"/>
          <p:cNvSpPr txBox="1"/>
          <p:nvPr/>
        </p:nvSpPr>
        <p:spPr>
          <a:xfrm>
            <a:off x="50932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 엔티티</a:t>
            </a:r>
            <a:endParaRPr lang="en-US" sz="1600" dirty="0"/>
          </a:p>
        </p:txBody>
      </p:sp>
      <p:sp>
        <p:nvSpPr>
          <p:cNvPr id="7" name="Shape 4"/>
          <p:cNvSpPr/>
          <p:nvPr/>
        </p:nvSpPr>
        <p:spPr>
          <a:xfrm>
            <a:off x="509321" y="2212848"/>
            <a:ext cx="3166110" cy="1234440"/>
          </a:xfrm>
          <a:prstGeom prst="roundRect">
            <a:avLst>
              <a:gd name="adj" fmla="val 5926"/>
            </a:avLst>
          </a:prstGeom>
          <a:solidFill>
            <a:srgbClr val="FFFFFF"/>
          </a:solidFill>
          <a:ln w="12700">
            <a:solidFill>
              <a:srgbClr val="D9E0EC"/>
            </a:solidFill>
            <a:prstDash val="solid"/>
          </a:ln>
        </p:spPr>
        <p:txBody>
          <a:bodyPr/>
          <a:lstStyle/>
          <a:p>
            <a:endParaRPr lang="ko-KR" altLang="en-US"/>
          </a:p>
        </p:txBody>
      </p:sp>
      <p:sp>
        <p:nvSpPr>
          <p:cNvPr id="8" name="Text 5"/>
          <p:cNvSpPr txBox="1"/>
          <p:nvPr/>
        </p:nvSpPr>
        <p:spPr>
          <a:xfrm>
            <a:off x="509321" y="2212848"/>
            <a:ext cx="3166110" cy="123444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2B3242"/>
                </a:solidFill>
                <a:latin typeface="Pretendard" pitchFamily="34" charset="0"/>
                <a:ea typeface="Pretendard" pitchFamily="34" charset="-122"/>
                <a:cs typeface="Pretendard" pitchFamily="34" charset="-120"/>
              </a:rPr>
              <a:t>Proposal</a:t>
            </a:r>
            <a:endParaRPr lang="en-US" sz="1600" dirty="0"/>
          </a:p>
          <a:p>
            <a:pPr marL="0" indent="0" algn="ctr">
              <a:spcAft>
                <a:spcPts val="100"/>
              </a:spcAft>
              <a:buNone/>
            </a:pPr>
            <a:r>
              <a:rPr lang="en-US" sz="1500" dirty="0">
                <a:solidFill>
                  <a:srgbClr val="2B3242"/>
                </a:solidFill>
                <a:latin typeface="Pretendard" pitchFamily="34" charset="0"/>
                <a:ea typeface="Pretendard" pitchFamily="34" charset="-122"/>
                <a:cs typeface="Pretendard" pitchFamily="34" charset="-120"/>
              </a:rPr>
              <a:t>content, decision, generation, run_id</a:t>
            </a:r>
            <a:endParaRPr lang="en-US" sz="1600" dirty="0"/>
          </a:p>
        </p:txBody>
      </p:sp>
      <p:sp>
        <p:nvSpPr>
          <p:cNvPr id="9" name="Shape 6"/>
          <p:cNvSpPr/>
          <p:nvPr/>
        </p:nvSpPr>
        <p:spPr>
          <a:xfrm>
            <a:off x="3712007" y="2830068"/>
            <a:ext cx="246888" cy="0"/>
          </a:xfrm>
          <a:prstGeom prst="line">
            <a:avLst/>
          </a:prstGeom>
          <a:noFill/>
          <a:ln w="31750">
            <a:solidFill>
              <a:srgbClr val="1E2A5C"/>
            </a:solidFill>
            <a:prstDash val="solid"/>
            <a:tailEnd type="triangle"/>
          </a:ln>
        </p:spPr>
        <p:txBody>
          <a:bodyPr/>
          <a:lstStyle/>
          <a:p>
            <a:endParaRPr lang="ko-KR" altLang="en-US"/>
          </a:p>
        </p:txBody>
      </p:sp>
      <p:sp>
        <p:nvSpPr>
          <p:cNvPr id="10" name="Shape 7"/>
          <p:cNvSpPr/>
          <p:nvPr/>
        </p:nvSpPr>
        <p:spPr>
          <a:xfrm>
            <a:off x="3995471" y="1737360"/>
            <a:ext cx="3166110" cy="384048"/>
          </a:xfrm>
          <a:prstGeom prst="roundRect">
            <a:avLst>
              <a:gd name="adj" fmla="val 11905"/>
            </a:avLst>
          </a:prstGeom>
          <a:solidFill>
            <a:srgbClr val="2E74C6"/>
          </a:solidFill>
          <a:ln/>
        </p:spPr>
        <p:txBody>
          <a:bodyPr/>
          <a:lstStyle/>
          <a:p>
            <a:endParaRPr lang="ko-KR" altLang="en-US"/>
          </a:p>
        </p:txBody>
      </p:sp>
      <p:sp>
        <p:nvSpPr>
          <p:cNvPr id="11" name="Text 8"/>
          <p:cNvSpPr txBox="1"/>
          <p:nvPr/>
        </p:nvSpPr>
        <p:spPr>
          <a:xfrm>
            <a:off x="399547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 설명 글 만들기</a:t>
            </a:r>
            <a:endParaRPr lang="en-US" sz="1600" dirty="0"/>
          </a:p>
        </p:txBody>
      </p:sp>
      <p:sp>
        <p:nvSpPr>
          <p:cNvPr id="12" name="Shape 9"/>
          <p:cNvSpPr/>
          <p:nvPr/>
        </p:nvSpPr>
        <p:spPr>
          <a:xfrm>
            <a:off x="3995471" y="2212848"/>
            <a:ext cx="3166110" cy="1234440"/>
          </a:xfrm>
          <a:prstGeom prst="roundRect">
            <a:avLst>
              <a:gd name="adj" fmla="val 5926"/>
            </a:avLst>
          </a:prstGeom>
          <a:solidFill>
            <a:srgbClr val="EEF3FA"/>
          </a:solidFill>
          <a:ln w="12700">
            <a:solidFill>
              <a:srgbClr val="2E74C6"/>
            </a:solidFill>
            <a:prstDash val="solid"/>
          </a:ln>
        </p:spPr>
        <p:txBody>
          <a:bodyPr/>
          <a:lstStyle/>
          <a:p>
            <a:endParaRPr lang="ko-KR" altLang="en-US"/>
          </a:p>
        </p:txBody>
      </p:sp>
      <p:sp>
        <p:nvSpPr>
          <p:cNvPr id="13" name="Text 10"/>
          <p:cNvSpPr txBox="1"/>
          <p:nvPr/>
        </p:nvSpPr>
        <p:spPr>
          <a:xfrm>
            <a:off x="3995471" y="2212848"/>
            <a:ext cx="3166110" cy="123444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1E2A5C"/>
                </a:solidFill>
                <a:latin typeface="Pretendard" pitchFamily="34" charset="0"/>
                <a:ea typeface="Pretendard" pitchFamily="34" charset="-122"/>
                <a:cs typeface="Pretendard" pitchFamily="34" charset="-120"/>
              </a:rPr>
              <a:t>Proposal: content=그러면 주문</a:t>
            </a:r>
            <a:endParaRPr lang="en-US" sz="1600" dirty="0"/>
          </a:p>
          <a:p>
            <a:pPr marL="0" indent="0" algn="ctr">
              <a:spcAft>
                <a:spcPts val="100"/>
              </a:spcAft>
              <a:buNone/>
            </a:pPr>
            <a:r>
              <a:rPr lang="en-US" sz="1500" dirty="0">
                <a:solidFill>
                  <a:srgbClr val="1E2A5C"/>
                </a:solidFill>
                <a:latin typeface="Pretendard" pitchFamily="34" charset="0"/>
                <a:ea typeface="Pretendard" pitchFamily="34" charset="-122"/>
                <a:cs typeface="Pretendard" pitchFamily="34" charset="-120"/>
              </a:rPr>
              <a:t>내역 화면으로 …, decision=수용</a:t>
            </a:r>
            <a:endParaRPr lang="en-US" sz="1600" dirty="0"/>
          </a:p>
        </p:txBody>
      </p:sp>
      <p:sp>
        <p:nvSpPr>
          <p:cNvPr id="14" name="Shape 11"/>
          <p:cNvSpPr/>
          <p:nvPr/>
        </p:nvSpPr>
        <p:spPr>
          <a:xfrm>
            <a:off x="7198157" y="2830068"/>
            <a:ext cx="246888" cy="0"/>
          </a:xfrm>
          <a:prstGeom prst="line">
            <a:avLst/>
          </a:prstGeom>
          <a:noFill/>
          <a:ln w="31750">
            <a:solidFill>
              <a:srgbClr val="1E2A5C"/>
            </a:solidFill>
            <a:prstDash val="solid"/>
            <a:tailEnd type="triangle"/>
          </a:ln>
        </p:spPr>
        <p:txBody>
          <a:bodyPr/>
          <a:lstStyle/>
          <a:p>
            <a:endParaRPr lang="ko-KR" altLang="en-US"/>
          </a:p>
        </p:txBody>
      </p:sp>
      <p:sp>
        <p:nvSpPr>
          <p:cNvPr id="15" name="Shape 12"/>
          <p:cNvSpPr/>
          <p:nvPr/>
        </p:nvSpPr>
        <p:spPr>
          <a:xfrm>
            <a:off x="7481621" y="1737360"/>
            <a:ext cx="3166110" cy="384048"/>
          </a:xfrm>
          <a:prstGeom prst="roundRect">
            <a:avLst>
              <a:gd name="adj" fmla="val 11905"/>
            </a:avLst>
          </a:prstGeom>
          <a:solidFill>
            <a:srgbClr val="1E2A5C"/>
          </a:solidFill>
          <a:ln/>
        </p:spPr>
        <p:txBody>
          <a:bodyPr/>
          <a:lstStyle/>
          <a:p>
            <a:endParaRPr lang="ko-KR" altLang="en-US"/>
          </a:p>
        </p:txBody>
      </p:sp>
      <p:sp>
        <p:nvSpPr>
          <p:cNvPr id="16" name="Text 13"/>
          <p:cNvSpPr txBox="1"/>
          <p:nvPr/>
        </p:nvSpPr>
        <p:spPr>
          <a:xfrm>
            <a:off x="748162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 KURE-v2 임베딩</a:t>
            </a:r>
            <a:endParaRPr lang="en-US" sz="1600" dirty="0"/>
          </a:p>
        </p:txBody>
      </p:sp>
      <p:sp>
        <p:nvSpPr>
          <p:cNvPr id="17" name="Shape 14"/>
          <p:cNvSpPr/>
          <p:nvPr/>
        </p:nvSpPr>
        <p:spPr>
          <a:xfrm>
            <a:off x="7481621" y="2212848"/>
            <a:ext cx="3166110" cy="1234440"/>
          </a:xfrm>
          <a:prstGeom prst="roundRect">
            <a:avLst>
              <a:gd name="adj" fmla="val 5926"/>
            </a:avLst>
          </a:prstGeom>
          <a:solidFill>
            <a:srgbClr val="FFFFFF"/>
          </a:solidFill>
          <a:ln w="12700">
            <a:solidFill>
              <a:srgbClr val="D9E0EC"/>
            </a:solidFill>
            <a:prstDash val="solid"/>
          </a:ln>
        </p:spPr>
        <p:txBody>
          <a:bodyPr/>
          <a:lstStyle/>
          <a:p>
            <a:endParaRPr lang="ko-KR" altLang="en-US"/>
          </a:p>
        </p:txBody>
      </p:sp>
      <p:sp>
        <p:nvSpPr>
          <p:cNvPr id="18" name="Text 15"/>
          <p:cNvSpPr txBox="1"/>
          <p:nvPr/>
        </p:nvSpPr>
        <p:spPr>
          <a:xfrm>
            <a:off x="7481621" y="2212848"/>
            <a:ext cx="3166110" cy="123444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2B3242"/>
                </a:solidFill>
                <a:latin typeface="Pretendard" pitchFamily="34" charset="0"/>
                <a:ea typeface="Pretendard" pitchFamily="34" charset="-122"/>
                <a:cs typeface="Pretendard" pitchFamily="34" charset="-120"/>
              </a:rPr>
              <a:t>768차원 벡터</a:t>
            </a:r>
            <a:endParaRPr lang="en-US" sz="1600" dirty="0"/>
          </a:p>
          <a:p>
            <a:pPr marL="0" indent="0" algn="ctr">
              <a:spcAft>
                <a:spcPts val="100"/>
              </a:spcAft>
              <a:buNone/>
            </a:pPr>
            <a:r>
              <a:rPr lang="en-US" sz="1500" dirty="0">
                <a:solidFill>
                  <a:srgbClr val="2B3242"/>
                </a:solidFill>
                <a:latin typeface="Pretendard" pitchFamily="34" charset="0"/>
                <a:ea typeface="Pretendard" pitchFamily="34" charset="-122"/>
                <a:cs typeface="Pretendard" pitchFamily="34" charset="-120"/>
              </a:rPr>
              <a:t>검색엔진 S1과 같은 모델</a:t>
            </a:r>
            <a:endParaRPr lang="en-US" sz="1600" dirty="0"/>
          </a:p>
        </p:txBody>
      </p:sp>
      <p:sp>
        <p:nvSpPr>
          <p:cNvPr id="19" name="Shape 16"/>
          <p:cNvSpPr/>
          <p:nvPr/>
        </p:nvSpPr>
        <p:spPr>
          <a:xfrm>
            <a:off x="10684307" y="2830068"/>
            <a:ext cx="246888" cy="0"/>
          </a:xfrm>
          <a:prstGeom prst="line">
            <a:avLst/>
          </a:prstGeom>
          <a:noFill/>
          <a:ln w="31750">
            <a:solidFill>
              <a:srgbClr val="1E2A5C"/>
            </a:solidFill>
            <a:prstDash val="solid"/>
            <a:tailEnd type="triangle"/>
          </a:ln>
        </p:spPr>
        <p:txBody>
          <a:bodyPr/>
          <a:lstStyle/>
          <a:p>
            <a:endParaRPr lang="ko-KR" altLang="en-US"/>
          </a:p>
        </p:txBody>
      </p:sp>
      <p:sp>
        <p:nvSpPr>
          <p:cNvPr id="20" name="Shape 17"/>
          <p:cNvSpPr/>
          <p:nvPr/>
        </p:nvSpPr>
        <p:spPr>
          <a:xfrm>
            <a:off x="10967771" y="1737360"/>
            <a:ext cx="3166110" cy="384048"/>
          </a:xfrm>
          <a:prstGeom prst="roundRect">
            <a:avLst>
              <a:gd name="adj" fmla="val 11905"/>
            </a:avLst>
          </a:prstGeom>
          <a:solidFill>
            <a:srgbClr val="1E2A5C"/>
          </a:solidFill>
          <a:ln/>
        </p:spPr>
        <p:txBody>
          <a:bodyPr/>
          <a:lstStyle/>
          <a:p>
            <a:endParaRPr lang="ko-KR" altLang="en-US"/>
          </a:p>
        </p:txBody>
      </p:sp>
      <p:sp>
        <p:nvSpPr>
          <p:cNvPr id="21" name="Text 18"/>
          <p:cNvSpPr txBox="1"/>
          <p:nvPr/>
        </p:nvSpPr>
        <p:spPr>
          <a:xfrm>
            <a:off x="10967771" y="1737360"/>
            <a:ext cx="3166110"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 저장과 벡터 인덱스</a:t>
            </a:r>
            <a:endParaRPr lang="en-US" sz="1600" dirty="0"/>
          </a:p>
        </p:txBody>
      </p:sp>
      <p:sp>
        <p:nvSpPr>
          <p:cNvPr id="22" name="Shape 19"/>
          <p:cNvSpPr/>
          <p:nvPr/>
        </p:nvSpPr>
        <p:spPr>
          <a:xfrm>
            <a:off x="10967771" y="2212848"/>
            <a:ext cx="3166110" cy="1234440"/>
          </a:xfrm>
          <a:prstGeom prst="roundRect">
            <a:avLst>
              <a:gd name="adj" fmla="val 5926"/>
            </a:avLst>
          </a:prstGeom>
          <a:solidFill>
            <a:srgbClr val="FFFFFF"/>
          </a:solidFill>
          <a:ln w="12700">
            <a:solidFill>
              <a:srgbClr val="D9E0EC"/>
            </a:solidFill>
            <a:prstDash val="solid"/>
          </a:ln>
        </p:spPr>
        <p:txBody>
          <a:bodyPr/>
          <a:lstStyle/>
          <a:p>
            <a:endParaRPr lang="ko-KR" altLang="en-US"/>
          </a:p>
        </p:txBody>
      </p:sp>
      <p:sp>
        <p:nvSpPr>
          <p:cNvPr id="23" name="Text 20"/>
          <p:cNvSpPr txBox="1"/>
          <p:nvPr/>
        </p:nvSpPr>
        <p:spPr>
          <a:xfrm>
            <a:off x="10967771" y="2212848"/>
            <a:ext cx="3166110" cy="123444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2B3242"/>
                </a:solidFill>
                <a:latin typeface="Pretendard" pitchFamily="34" charset="0"/>
                <a:ea typeface="Pretendard" pitchFamily="34" charset="-122"/>
                <a:cs typeface="Pretendard" pitchFamily="34" charset="-120"/>
              </a:rPr>
              <a:t>엔티티의 embedding 속성</a:t>
            </a:r>
            <a:endParaRPr lang="en-US" sz="1600" dirty="0"/>
          </a:p>
          <a:p>
            <a:pPr marL="0" indent="0" algn="ctr">
              <a:spcAft>
                <a:spcPts val="100"/>
              </a:spcAft>
              <a:buNone/>
            </a:pPr>
            <a:r>
              <a:rPr lang="en-US" sz="1500" dirty="0">
                <a:solidFill>
                  <a:srgbClr val="2B3242"/>
                </a:solidFill>
                <a:latin typeface="Pretendard" pitchFamily="34" charset="0"/>
                <a:ea typeface="Pretendard" pitchFamily="34" charset="-122"/>
                <a:cs typeface="Pretendard" pitchFamily="34" charset="-120"/>
              </a:rPr>
              <a:t>kg_entity_embedding (코사인)</a:t>
            </a:r>
            <a:endParaRPr lang="en-US" sz="1600" dirty="0"/>
          </a:p>
        </p:txBody>
      </p:sp>
      <p:sp>
        <p:nvSpPr>
          <p:cNvPr id="24" name="Text 21"/>
          <p:cNvSpPr txBox="1"/>
          <p:nvPr/>
        </p:nvSpPr>
        <p:spPr>
          <a:xfrm>
            <a:off x="509321" y="3675888"/>
            <a:ext cx="667512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실제 설명 글 (v0 표본)</a:t>
            </a:r>
            <a:endParaRPr lang="en-US" sz="1500" dirty="0"/>
          </a:p>
        </p:txBody>
      </p:sp>
      <p:sp>
        <p:nvSpPr>
          <p:cNvPr id="25" name="Shape 22"/>
          <p:cNvSpPr/>
          <p:nvPr/>
        </p:nvSpPr>
        <p:spPr>
          <a:xfrm>
            <a:off x="509321" y="4059936"/>
            <a:ext cx="6675120" cy="1655064"/>
          </a:xfrm>
          <a:prstGeom prst="roundRect">
            <a:avLst>
              <a:gd name="adj" fmla="val 3315"/>
            </a:avLst>
          </a:prstGeom>
          <a:solidFill>
            <a:srgbClr val="F5F8FC"/>
          </a:solidFill>
          <a:ln w="12700">
            <a:solidFill>
              <a:srgbClr val="D9E0EC"/>
            </a:solidFill>
            <a:prstDash val="solid"/>
          </a:ln>
        </p:spPr>
        <p:txBody>
          <a:bodyPr/>
          <a:lstStyle/>
          <a:p>
            <a:endParaRPr lang="ko-KR" altLang="en-US"/>
          </a:p>
        </p:txBody>
      </p:sp>
      <p:sp>
        <p:nvSpPr>
          <p:cNvPr id="26" name="Text 23"/>
          <p:cNvSpPr txBox="1"/>
          <p:nvPr/>
        </p:nvSpPr>
        <p:spPr>
          <a:xfrm>
            <a:off x="619049" y="4133088"/>
            <a:ext cx="6455664" cy="1527048"/>
          </a:xfrm>
          <a:prstGeom prst="rect">
            <a:avLst/>
          </a:prstGeom>
          <a:noFill/>
          <a:ln/>
        </p:spPr>
        <p:txBody>
          <a:bodyPr wrap="square" lIns="254" tIns="254" rIns="254" bIns="254" rtlCol="0" anchor="t"/>
          <a:lstStyle/>
          <a:p>
            <a:pPr marL="0" indent="0">
              <a:lnSpc>
                <a:spcPct val="105000"/>
              </a:lnSpc>
              <a:buNone/>
            </a:pPr>
            <a:r>
              <a:rPr lang="en-US" sz="1500" dirty="0">
                <a:solidFill>
                  <a:srgbClr val="2B3242"/>
                </a:solidFill>
                <a:latin typeface="Pretendard" pitchFamily="34" charset="0"/>
                <a:ea typeface="Pretendard" pitchFamily="34" charset="-122"/>
                <a:cs typeface="Pretendard" pitchFamily="34" charset="-120"/>
              </a:rPr>
              <a:t>TermsDocument: effective_date=2027-01-15, supersedes=1.1, version=1.2</a:t>
            </a:r>
            <a:endParaRPr lang="en-US" sz="1500" dirty="0"/>
          </a:p>
          <a:p>
            <a:pPr marL="0" indent="0">
              <a:lnSpc>
                <a:spcPct val="105000"/>
              </a:lnSpc>
              <a:buNone/>
            </a:pPr>
            <a:r>
              <a:rPr lang="en-US" sz="1500" dirty="0">
                <a:solidFill>
                  <a:srgbClr val="2B3242"/>
                </a:solidFill>
                <a:latin typeface="Pretendard" pitchFamily="34" charset="0"/>
                <a:ea typeface="Pretendard" pitchFamily="34" charset="-122"/>
                <a:cs typeface="Pretendard" pitchFamily="34" charset="-120"/>
              </a:rPr>
              <a:t>Clause: clause_no=제13조, title=이용 원칙</a:t>
            </a:r>
            <a:endParaRPr lang="en-US" sz="1500" dirty="0"/>
          </a:p>
          <a:p>
            <a:pPr marL="0" indent="0">
              <a:lnSpc>
                <a:spcPct val="105000"/>
              </a:lnSpc>
              <a:buNone/>
            </a:pPr>
            <a:r>
              <a:rPr lang="en-US" sz="1500" dirty="0">
                <a:solidFill>
                  <a:srgbClr val="2B3242"/>
                </a:solidFill>
                <a:latin typeface="Pretendard" pitchFamily="34" charset="0"/>
                <a:ea typeface="Pretendard" pitchFamily="34" charset="-122"/>
                <a:cs typeface="Pretendard" pitchFamily="34" charset="-120"/>
              </a:rPr>
              <a:t>Requirement: description=카드는 회원 본인이 유효기간과 이용한도 안에서 사용합니다.</a:t>
            </a:r>
            <a:endParaRPr lang="en-US" sz="1500" dirty="0"/>
          </a:p>
        </p:txBody>
      </p:sp>
      <p:sp>
        <p:nvSpPr>
          <p:cNvPr id="27" name="Text 24"/>
          <p:cNvSpPr txBox="1"/>
          <p:nvPr/>
        </p:nvSpPr>
        <p:spPr>
          <a:xfrm>
            <a:off x="7504481" y="3675888"/>
            <a:ext cx="662940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어디에 쓰나: 엔티티 직접 검색 (조회 예시)</a:t>
            </a:r>
            <a:endParaRPr lang="en-US" sz="1500" dirty="0"/>
          </a:p>
        </p:txBody>
      </p:sp>
      <p:sp>
        <p:nvSpPr>
          <p:cNvPr id="28" name="Shape 25"/>
          <p:cNvSpPr/>
          <p:nvPr/>
        </p:nvSpPr>
        <p:spPr>
          <a:xfrm>
            <a:off x="7504481" y="4059936"/>
            <a:ext cx="6629400" cy="420624"/>
          </a:xfrm>
          <a:prstGeom prst="roundRect">
            <a:avLst>
              <a:gd name="adj" fmla="val 17391"/>
            </a:avLst>
          </a:prstGeom>
          <a:solidFill>
            <a:srgbClr val="EEF3FA"/>
          </a:solidFill>
          <a:ln w="12700">
            <a:solidFill>
              <a:srgbClr val="2E74C6"/>
            </a:solidFill>
            <a:prstDash val="solid"/>
          </a:ln>
        </p:spPr>
        <p:txBody>
          <a:bodyPr/>
          <a:lstStyle/>
          <a:p>
            <a:endParaRPr lang="ko-KR" altLang="en-US"/>
          </a:p>
        </p:txBody>
      </p:sp>
      <p:sp>
        <p:nvSpPr>
          <p:cNvPr id="29" name="Text 26"/>
          <p:cNvSpPr txBox="1"/>
          <p:nvPr/>
        </p:nvSpPr>
        <p:spPr>
          <a:xfrm>
            <a:off x="7504481" y="4059936"/>
            <a:ext cx="6629400" cy="42062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질문: 할부 수수료는 언제 알려 주나요?</a:t>
            </a:r>
            <a:endParaRPr lang="en-US" sz="1500" dirty="0"/>
          </a:p>
        </p:txBody>
      </p:sp>
      <p:sp>
        <p:nvSpPr>
          <p:cNvPr id="30" name="Shape 27"/>
          <p:cNvSpPr/>
          <p:nvPr/>
        </p:nvSpPr>
        <p:spPr>
          <a:xfrm>
            <a:off x="10819181" y="4498848"/>
            <a:ext cx="0" cy="164592"/>
          </a:xfrm>
          <a:prstGeom prst="line">
            <a:avLst/>
          </a:prstGeom>
          <a:noFill/>
          <a:ln w="25400">
            <a:solidFill>
              <a:srgbClr val="1E2A5C"/>
            </a:solidFill>
            <a:prstDash val="solid"/>
            <a:tailEnd type="triangle"/>
          </a:ln>
        </p:spPr>
        <p:txBody>
          <a:bodyPr/>
          <a:lstStyle/>
          <a:p>
            <a:endParaRPr lang="ko-KR" altLang="en-US"/>
          </a:p>
        </p:txBody>
      </p:sp>
      <p:sp>
        <p:nvSpPr>
          <p:cNvPr id="31" name="Shape 28"/>
          <p:cNvSpPr/>
          <p:nvPr/>
        </p:nvSpPr>
        <p:spPr>
          <a:xfrm>
            <a:off x="7504481" y="4700016"/>
            <a:ext cx="6629400" cy="402336"/>
          </a:xfrm>
          <a:prstGeom prst="roundRect">
            <a:avLst>
              <a:gd name="adj" fmla="val 18182"/>
            </a:avLst>
          </a:prstGeom>
          <a:solidFill>
            <a:srgbClr val="FFFFFF"/>
          </a:solidFill>
          <a:ln w="12700">
            <a:solidFill>
              <a:srgbClr val="D9E0EC"/>
            </a:solidFill>
            <a:prstDash val="solid"/>
          </a:ln>
        </p:spPr>
        <p:txBody>
          <a:bodyPr/>
          <a:lstStyle/>
          <a:p>
            <a:endParaRPr lang="ko-KR" altLang="en-US"/>
          </a:p>
        </p:txBody>
      </p:sp>
      <p:sp>
        <p:nvSpPr>
          <p:cNvPr id="32" name="Text 29"/>
          <p:cNvSpPr txBox="1"/>
          <p:nvPr/>
        </p:nvSpPr>
        <p:spPr>
          <a:xfrm>
            <a:off x="7595921" y="4700016"/>
            <a:ext cx="2011680" cy="402336"/>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Requirement 0.866</a:t>
            </a:r>
            <a:endParaRPr lang="en-US" sz="1400" dirty="0"/>
          </a:p>
        </p:txBody>
      </p:sp>
      <p:sp>
        <p:nvSpPr>
          <p:cNvPr id="33" name="Text 30"/>
          <p:cNvSpPr txBox="1"/>
          <p:nvPr/>
        </p:nvSpPr>
        <p:spPr>
          <a:xfrm>
            <a:off x="9607601" y="4700016"/>
            <a:ext cx="4434840" cy="402336"/>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할부 거래의 개월 수, 회차별 금액과 가상 수수료율은 …</a:t>
            </a:r>
            <a:endParaRPr lang="en-US" sz="1400" dirty="0"/>
          </a:p>
        </p:txBody>
      </p:sp>
      <p:sp>
        <p:nvSpPr>
          <p:cNvPr id="34" name="Shape 31"/>
          <p:cNvSpPr/>
          <p:nvPr/>
        </p:nvSpPr>
        <p:spPr>
          <a:xfrm>
            <a:off x="7504481" y="5157216"/>
            <a:ext cx="6629400" cy="402336"/>
          </a:xfrm>
          <a:prstGeom prst="roundRect">
            <a:avLst>
              <a:gd name="adj" fmla="val 18182"/>
            </a:avLst>
          </a:prstGeom>
          <a:solidFill>
            <a:srgbClr val="FFFFFF"/>
          </a:solidFill>
          <a:ln w="12700">
            <a:solidFill>
              <a:srgbClr val="D9E0EC"/>
            </a:solidFill>
            <a:prstDash val="solid"/>
          </a:ln>
        </p:spPr>
        <p:txBody>
          <a:bodyPr/>
          <a:lstStyle/>
          <a:p>
            <a:endParaRPr lang="ko-KR" altLang="en-US"/>
          </a:p>
        </p:txBody>
      </p:sp>
      <p:sp>
        <p:nvSpPr>
          <p:cNvPr id="35" name="Text 32"/>
          <p:cNvSpPr txBox="1"/>
          <p:nvPr/>
        </p:nvSpPr>
        <p:spPr>
          <a:xfrm>
            <a:off x="7595921" y="5157216"/>
            <a:ext cx="2011680" cy="402336"/>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Clause 0.836</a:t>
            </a:r>
            <a:endParaRPr lang="en-US" sz="1400" dirty="0"/>
          </a:p>
        </p:txBody>
      </p:sp>
      <p:sp>
        <p:nvSpPr>
          <p:cNvPr id="36" name="Text 33"/>
          <p:cNvSpPr txBox="1"/>
          <p:nvPr/>
        </p:nvSpPr>
        <p:spPr>
          <a:xfrm>
            <a:off x="9607601" y="5157216"/>
            <a:ext cx="4434840" cy="402336"/>
          </a:xfrm>
          <a:prstGeom prst="rect">
            <a:avLst/>
          </a:prstGeom>
          <a:noFill/>
          <a:ln/>
        </p:spPr>
        <p:txBody>
          <a:bodyPr wrap="square" lIns="762" tIns="762" rIns="762" bIns="762"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할부 거래</a:t>
            </a:r>
            <a:endParaRPr lang="en-US" sz="1400" dirty="0"/>
          </a:p>
        </p:txBody>
      </p:sp>
      <p:sp>
        <p:nvSpPr>
          <p:cNvPr id="37" name="Text 34"/>
          <p:cNvSpPr txBox="1"/>
          <p:nvPr/>
        </p:nvSpPr>
        <p:spPr>
          <a:xfrm>
            <a:off x="7504481" y="5632704"/>
            <a:ext cx="6629400" cy="82296"/>
          </a:xfrm>
          <a:prstGeom prst="rect">
            <a:avLst/>
          </a:prstGeom>
          <a:noFill/>
          <a:ln/>
        </p:spPr>
        <p:txBody>
          <a:bodyPr wrap="square" lIns="762" tIns="762" rIns="762" bIns="762"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 찾은 엔티티를 시작 엔티티로 관계를 따라 그래프 탐색</a:t>
            </a:r>
            <a:endParaRPr lang="en-US" sz="1400" dirty="0"/>
          </a:p>
        </p:txBody>
      </p:sp>
      <p:sp>
        <p:nvSpPr>
          <p:cNvPr id="38" name="Shape 35"/>
          <p:cNvSpPr/>
          <p:nvPr/>
        </p:nvSpPr>
        <p:spPr>
          <a:xfrm>
            <a:off x="509321" y="5943600"/>
            <a:ext cx="4419600" cy="1325880"/>
          </a:xfrm>
          <a:prstGeom prst="roundRect">
            <a:avLst>
              <a:gd name="adj" fmla="val 5517"/>
            </a:avLst>
          </a:prstGeom>
          <a:solidFill>
            <a:srgbClr val="F5F8FC"/>
          </a:solidFill>
          <a:ln w="12700">
            <a:solidFill>
              <a:srgbClr val="D9E0EC"/>
            </a:solidFill>
            <a:prstDash val="solid"/>
          </a:ln>
        </p:spPr>
        <p:txBody>
          <a:bodyPr/>
          <a:lstStyle/>
          <a:p>
            <a:endParaRPr lang="ko-KR" altLang="en-US"/>
          </a:p>
        </p:txBody>
      </p:sp>
      <p:sp>
        <p:nvSpPr>
          <p:cNvPr id="39" name="Shape 36"/>
          <p:cNvSpPr/>
          <p:nvPr/>
        </p:nvSpPr>
        <p:spPr>
          <a:xfrm>
            <a:off x="619049" y="6080760"/>
            <a:ext cx="329184" cy="329184"/>
          </a:xfrm>
          <a:prstGeom prst="roundRect">
            <a:avLst>
              <a:gd name="adj" fmla="val 13889"/>
            </a:avLst>
          </a:prstGeom>
          <a:solidFill>
            <a:srgbClr val="2E74C6"/>
          </a:solidFill>
          <a:ln/>
        </p:spPr>
        <p:txBody>
          <a:bodyPr/>
          <a:lstStyle/>
          <a:p>
            <a:endParaRPr lang="ko-KR" altLang="en-US"/>
          </a:p>
        </p:txBody>
      </p:sp>
      <p:sp>
        <p:nvSpPr>
          <p:cNvPr id="40" name="Text 37"/>
          <p:cNvSpPr txBox="1"/>
          <p:nvPr/>
        </p:nvSpPr>
        <p:spPr>
          <a:xfrm>
            <a:off x="619049" y="608076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41" name="Text 38"/>
          <p:cNvSpPr txBox="1"/>
          <p:nvPr/>
        </p:nvSpPr>
        <p:spPr>
          <a:xfrm>
            <a:off x="1012241" y="5998464"/>
            <a:ext cx="382524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엔티티만 임베딩</a:t>
            </a:r>
            <a:endParaRPr lang="en-US" sz="1500" dirty="0"/>
          </a:p>
        </p:txBody>
      </p:sp>
      <p:sp>
        <p:nvSpPr>
          <p:cNvPr id="42" name="Text 39"/>
          <p:cNvSpPr txBox="1"/>
          <p:nvPr/>
        </p:nvSpPr>
        <p:spPr>
          <a:xfrm>
            <a:off x="646481" y="6528816"/>
            <a:ext cx="4145280" cy="68580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청크 노드는 뺌. 청크 벡터는 검색엔진에 이미 있음</a:t>
            </a:r>
            <a:endParaRPr lang="en-US" sz="1400" dirty="0"/>
          </a:p>
        </p:txBody>
      </p:sp>
      <p:sp>
        <p:nvSpPr>
          <p:cNvPr id="43" name="Shape 40"/>
          <p:cNvSpPr/>
          <p:nvPr/>
        </p:nvSpPr>
        <p:spPr>
          <a:xfrm>
            <a:off x="5111801" y="5943600"/>
            <a:ext cx="4419600" cy="1325880"/>
          </a:xfrm>
          <a:prstGeom prst="roundRect">
            <a:avLst>
              <a:gd name="adj" fmla="val 5517"/>
            </a:avLst>
          </a:prstGeom>
          <a:solidFill>
            <a:srgbClr val="F5F8FC"/>
          </a:solidFill>
          <a:ln w="12700">
            <a:solidFill>
              <a:srgbClr val="D9E0EC"/>
            </a:solidFill>
            <a:prstDash val="solid"/>
          </a:ln>
        </p:spPr>
        <p:txBody>
          <a:bodyPr/>
          <a:lstStyle/>
          <a:p>
            <a:endParaRPr lang="ko-KR" altLang="en-US"/>
          </a:p>
        </p:txBody>
      </p:sp>
      <p:sp>
        <p:nvSpPr>
          <p:cNvPr id="44" name="Shape 41"/>
          <p:cNvSpPr/>
          <p:nvPr/>
        </p:nvSpPr>
        <p:spPr>
          <a:xfrm>
            <a:off x="5221529" y="6080760"/>
            <a:ext cx="329184" cy="329184"/>
          </a:xfrm>
          <a:prstGeom prst="roundRect">
            <a:avLst>
              <a:gd name="adj" fmla="val 13889"/>
            </a:avLst>
          </a:prstGeom>
          <a:solidFill>
            <a:srgbClr val="2E74C6"/>
          </a:solidFill>
          <a:ln/>
        </p:spPr>
        <p:txBody>
          <a:bodyPr/>
          <a:lstStyle/>
          <a:p>
            <a:endParaRPr lang="ko-KR" altLang="en-US"/>
          </a:p>
        </p:txBody>
      </p:sp>
      <p:sp>
        <p:nvSpPr>
          <p:cNvPr id="45" name="Text 42"/>
          <p:cNvSpPr txBox="1"/>
          <p:nvPr/>
        </p:nvSpPr>
        <p:spPr>
          <a:xfrm>
            <a:off x="5221529" y="608076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46" name="Text 43"/>
          <p:cNvSpPr txBox="1"/>
          <p:nvPr/>
        </p:nvSpPr>
        <p:spPr>
          <a:xfrm>
            <a:off x="5614721" y="5998464"/>
            <a:ext cx="382524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관리용 속성은 뺌</a:t>
            </a:r>
            <a:endParaRPr lang="en-US" sz="1500" dirty="0"/>
          </a:p>
        </p:txBody>
      </p:sp>
      <p:sp>
        <p:nvSpPr>
          <p:cNvPr id="47" name="Text 44"/>
          <p:cNvSpPr txBox="1"/>
          <p:nvPr/>
        </p:nvSpPr>
        <p:spPr>
          <a:xfrm>
            <a:off x="5248961" y="6528816"/>
            <a:ext cx="4145280" cy="68580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generation, run_id는 설명 글에 넣지 않음. 속성은 이름순</a:t>
            </a:r>
            <a:endParaRPr lang="en-US" sz="1400" dirty="0"/>
          </a:p>
        </p:txBody>
      </p:sp>
      <p:sp>
        <p:nvSpPr>
          <p:cNvPr id="48" name="Shape 45"/>
          <p:cNvSpPr/>
          <p:nvPr/>
        </p:nvSpPr>
        <p:spPr>
          <a:xfrm>
            <a:off x="9714281" y="5943600"/>
            <a:ext cx="4419600" cy="1325880"/>
          </a:xfrm>
          <a:prstGeom prst="roundRect">
            <a:avLst>
              <a:gd name="adj" fmla="val 5517"/>
            </a:avLst>
          </a:prstGeom>
          <a:solidFill>
            <a:srgbClr val="F5F8FC"/>
          </a:solidFill>
          <a:ln w="12700">
            <a:solidFill>
              <a:srgbClr val="D9E0EC"/>
            </a:solidFill>
            <a:prstDash val="solid"/>
          </a:ln>
        </p:spPr>
        <p:txBody>
          <a:bodyPr/>
          <a:lstStyle/>
          <a:p>
            <a:endParaRPr lang="ko-KR" altLang="en-US"/>
          </a:p>
        </p:txBody>
      </p:sp>
      <p:sp>
        <p:nvSpPr>
          <p:cNvPr id="49" name="Shape 46"/>
          <p:cNvSpPr/>
          <p:nvPr/>
        </p:nvSpPr>
        <p:spPr>
          <a:xfrm>
            <a:off x="9824009" y="6080760"/>
            <a:ext cx="329184" cy="329184"/>
          </a:xfrm>
          <a:prstGeom prst="roundRect">
            <a:avLst>
              <a:gd name="adj" fmla="val 13889"/>
            </a:avLst>
          </a:prstGeom>
          <a:solidFill>
            <a:srgbClr val="2E74C6"/>
          </a:solidFill>
          <a:ln/>
        </p:spPr>
        <p:txBody>
          <a:bodyPr/>
          <a:lstStyle/>
          <a:p>
            <a:endParaRPr lang="ko-KR" altLang="en-US"/>
          </a:p>
        </p:txBody>
      </p:sp>
      <p:sp>
        <p:nvSpPr>
          <p:cNvPr id="50" name="Text 47"/>
          <p:cNvSpPr txBox="1"/>
          <p:nvPr/>
        </p:nvSpPr>
        <p:spPr>
          <a:xfrm>
            <a:off x="9824009" y="608076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51" name="Text 48"/>
          <p:cNvSpPr txBox="1"/>
          <p:nvPr/>
        </p:nvSpPr>
        <p:spPr>
          <a:xfrm>
            <a:off x="10217201" y="5998464"/>
            <a:ext cx="3825240" cy="50292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K5 병합 뒤에 임베딩</a:t>
            </a:r>
            <a:endParaRPr lang="en-US" sz="1500" dirty="0"/>
          </a:p>
        </p:txBody>
      </p:sp>
      <p:sp>
        <p:nvSpPr>
          <p:cNvPr id="52" name="Text 49"/>
          <p:cNvSpPr txBox="1"/>
          <p:nvPr/>
        </p:nvSpPr>
        <p:spPr>
          <a:xfrm>
            <a:off x="9851441" y="6528816"/>
            <a:ext cx="4145280" cy="68580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합쳐져 사라질 엔티티는 임베딩하지 않고, 남은 엔티티의 속성과 벡터가 맞게 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KG </a:t>
            </a:r>
            <a:r>
              <a:rPr lang="en-US" altLang="ko-KR" dirty="0" err="1">
                <a:solidFill>
                  <a:srgbClr val="2C2926"/>
                </a:solidFill>
                <a:latin typeface="Pretendard" pitchFamily="34" charset="0"/>
                <a:ea typeface="Pretendard" pitchFamily="34" charset="-122"/>
                <a:cs typeface="Pretendard" pitchFamily="34" charset="-120"/>
              </a:rPr>
              <a:t>구축</a:t>
            </a:r>
            <a:r>
              <a:rPr lang="en-US" altLang="ko-KR" dirty="0">
                <a:solidFill>
                  <a:srgbClr val="2C2926"/>
                </a:solidFill>
                <a:latin typeface="Pretendard" pitchFamily="34" charset="0"/>
                <a:ea typeface="Pretendard" pitchFamily="34" charset="-122"/>
                <a:cs typeface="Pretendard" pitchFamily="34" charset="-120"/>
              </a:rPr>
              <a:t> – K6. </a:t>
            </a:r>
            <a:r>
              <a:rPr lang="ko-KR" altLang="en-US" dirty="0">
                <a:solidFill>
                  <a:srgbClr val="2C2926"/>
                </a:solidFill>
                <a:latin typeface="Pretendard" pitchFamily="34" charset="0"/>
                <a:ea typeface="Pretendard" pitchFamily="34" charset="-122"/>
                <a:cs typeface="Pretendard" pitchFamily="34" charset="-120"/>
              </a:rPr>
              <a:t>엔티티 설명 </a:t>
            </a:r>
            <a:r>
              <a:rPr lang="ko-KR" altLang="en-US" dirty="0" err="1">
                <a:solidFill>
                  <a:srgbClr val="2C2926"/>
                </a:solidFill>
                <a:latin typeface="Pretendard" pitchFamily="34" charset="0"/>
                <a:ea typeface="Pretendard" pitchFamily="34" charset="-122"/>
                <a:cs typeface="Pretendard" pitchFamily="34" charset="-120"/>
              </a:rPr>
              <a:t>임베딩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임베딩이 없는 엔티티를 읽어 설명 글을 만들고, 한 번에 임베딩해 저장한 뒤 벡터 인덱스를 만듦</a:t>
            </a:r>
            <a:endParaRPr lang="en-US" sz="1800" dirty="0"/>
          </a:p>
        </p:txBody>
      </p:sp>
      <p:sp>
        <p:nvSpPr>
          <p:cNvPr id="5" name="Shape 2"/>
          <p:cNvSpPr/>
          <p:nvPr/>
        </p:nvSpPr>
        <p:spPr>
          <a:xfrm>
            <a:off x="509321" y="1737360"/>
            <a:ext cx="7360920" cy="5532120"/>
          </a:xfrm>
          <a:prstGeom prst="roundRect">
            <a:avLst>
              <a:gd name="adj" fmla="val 992"/>
            </a:avLst>
          </a:prstGeom>
          <a:solidFill>
            <a:srgbClr val="F5F8FC"/>
          </a:solidFill>
          <a:ln w="12700">
            <a:solidFill>
              <a:srgbClr val="D9E0EC"/>
            </a:solidFill>
            <a:prstDash val="solid"/>
          </a:ln>
        </p:spPr>
        <p:txBody>
          <a:bodyPr/>
          <a:lstStyle/>
          <a:p>
            <a:endParaRPr lang="ko-KR" altLang="en-US"/>
          </a:p>
        </p:txBody>
      </p:sp>
      <p:sp>
        <p:nvSpPr>
          <p:cNvPr id="6" name="Text 3"/>
          <p:cNvSpPr txBox="1"/>
          <p:nvPr/>
        </p:nvSpPr>
        <p:spPr>
          <a:xfrm>
            <a:off x="619049" y="1810512"/>
            <a:ext cx="71414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k6_embed_descriptions (kg_build.py 발췌)</a:t>
            </a:r>
            <a:endParaRPr lang="en-US" sz="1400" dirty="0"/>
          </a:p>
        </p:txBody>
      </p:sp>
      <p:sp>
        <p:nvSpPr>
          <p:cNvPr id="7" name="Text 4"/>
          <p:cNvSpPr txBox="1"/>
          <p:nvPr/>
        </p:nvSpPr>
        <p:spPr>
          <a:xfrm>
            <a:off x="619049" y="2139696"/>
            <a:ext cx="7141464" cy="50749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SYSTEM_PROPS = {"generation", "run_id", "embedding"}   # 설명에서 뺌</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def k6_embed_descriptions(driver, generation):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records, _, _ = driver.execute_query(</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"MATCH (n:__Entity__ {generation: $g}) WHERE n.embedding IS NULL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elementId(n) AS id,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 IN labels(n) WHERE NOT l STARTS WITH '__'][0] AS label,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"properties(n) AS props", g=generation)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rows = [dict(r) for r in records]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texts = [f"{r['label']}: " + ", ".join(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f"{k}={v}" for k, v in sorted(r["props"].items())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if k not in SYSTEM_PROPS) for r in rows]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vectors = embed(texts)</a:t>
            </a:r>
            <a:r>
              <a:rPr lang="en-US" sz="1400" dirty="0">
                <a:solidFill>
                  <a:srgbClr val="2B3242"/>
                </a:solidFill>
                <a:latin typeface="Pretendard" pitchFamily="34" charset="0"/>
                <a:ea typeface="Pretendard" pitchFamily="34" charset="-122"/>
                <a:cs typeface="Pretendard" pitchFamily="34" charset="-120"/>
              </a:rPr>
              <a:t>                          # KURE-v2, 768차원</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driver.execute_query(</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"UNWIND $rows AS row MATCH (n) WHERE elementId(n) = row.id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"CALL db.create.setNodeVectorProperty(n, 'embedding', row.vec)",</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rows=[{"id": r["id"], "vec": v} for r, v in zip(rows, vectors)])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driver.execute_query(</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"CREATE VECTOR INDEX kg_entity_embedding IF NOT EXISTS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"FOR (n:__Entity__) ON n.embedding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"OPTIONS {indexConfig: {`vector.dimensions`: $d,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"`vector.similarity_function`: 'cosine'}}", d=config.EMBED_DIMENSION)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len(rows)</a:t>
            </a:r>
            <a:endParaRPr lang="en-US" sz="1400" dirty="0"/>
          </a:p>
        </p:txBody>
      </p:sp>
      <p:sp>
        <p:nvSpPr>
          <p:cNvPr id="8" name="Shape 5"/>
          <p:cNvSpPr/>
          <p:nvPr/>
        </p:nvSpPr>
        <p:spPr>
          <a:xfrm>
            <a:off x="8144561" y="1737360"/>
            <a:ext cx="5989320" cy="2103120"/>
          </a:xfrm>
          <a:prstGeom prst="roundRect">
            <a:avLst>
              <a:gd name="adj" fmla="val 2609"/>
            </a:avLst>
          </a:prstGeom>
          <a:solidFill>
            <a:srgbClr val="F5F8FC"/>
          </a:solidFill>
          <a:ln w="12700">
            <a:solidFill>
              <a:srgbClr val="D9E0EC"/>
            </a:solidFill>
            <a:prstDash val="solid"/>
          </a:ln>
        </p:spPr>
        <p:txBody>
          <a:bodyPr/>
          <a:lstStyle/>
          <a:p>
            <a:endParaRPr lang="ko-KR" altLang="en-US"/>
          </a:p>
        </p:txBody>
      </p:sp>
      <p:sp>
        <p:nvSpPr>
          <p:cNvPr id="9" name="Text 6"/>
          <p:cNvSpPr txBox="1"/>
          <p:nvPr/>
        </p:nvSpPr>
        <p:spPr>
          <a:xfrm>
            <a:off x="8254289" y="1810512"/>
            <a:ext cx="5769864" cy="310896"/>
          </a:xfrm>
          <a:prstGeom prst="rect">
            <a:avLst/>
          </a:prstGeom>
          <a:noFill/>
          <a:ln/>
        </p:spPr>
        <p:txBody>
          <a:bodyPr wrap="square" lIns="762" tIns="762" rIns="762" bIns="762" rtlCol="0" anchor="ctr"/>
          <a:lstStyle/>
          <a:p>
            <a:pPr marL="0" indent="0" algn="l">
              <a:buNone/>
            </a:pPr>
            <a:r>
              <a:rPr lang="en-US" sz="1400" b="1" dirty="0">
                <a:solidFill>
                  <a:srgbClr val="7C8598"/>
                </a:solidFill>
                <a:latin typeface="Pretendard" pitchFamily="34" charset="0"/>
                <a:ea typeface="Pretendard" pitchFamily="34" charset="-122"/>
                <a:cs typeface="Pretendard" pitchFamily="34" charset="-120"/>
              </a:rPr>
              <a:t>만들어진 설명 글 (v0 표본)</a:t>
            </a:r>
            <a:endParaRPr lang="en-US" sz="1400" dirty="0"/>
          </a:p>
        </p:txBody>
      </p:sp>
      <p:sp>
        <p:nvSpPr>
          <p:cNvPr id="10" name="Text 7"/>
          <p:cNvSpPr txBox="1"/>
          <p:nvPr/>
        </p:nvSpPr>
        <p:spPr>
          <a:xfrm>
            <a:off x="8254289" y="2139696"/>
            <a:ext cx="5769864" cy="16459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TermsDocument: effective_date=2027-01-15, supersedes=1.1, version=1.2</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Clause: clause_no=제13조, title=이용 원칙</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Requirement: description=카드는 회원 본인이 유효기간과 이용한도 안에서 사용합니다.</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Proposal: content=화면을 같이 보면서 그 기간이 적힌 자리를 짚어 드릴까요?, decision=수용, reason=…</a:t>
            </a:r>
            <a:endParaRPr lang="en-US" sz="1400" dirty="0"/>
          </a:p>
        </p:txBody>
      </p:sp>
      <p:sp>
        <p:nvSpPr>
          <p:cNvPr id="11" name="Text 8"/>
          <p:cNvSpPr txBox="1"/>
          <p:nvPr/>
        </p:nvSpPr>
        <p:spPr>
          <a:xfrm>
            <a:off x="8144561" y="3950208"/>
            <a:ext cx="598932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벡터 인덱스 (SHOW VECTOR INDEXES)</a:t>
            </a:r>
            <a:endParaRPr lang="en-US" sz="1500" dirty="0"/>
          </a:p>
        </p:txBody>
      </p:sp>
      <p:graphicFrame>
        <p:nvGraphicFramePr>
          <p:cNvPr id="4" name="Table 0"/>
          <p:cNvGraphicFramePr>
            <a:graphicFrameLocks noGrp="1"/>
          </p:cNvGraphicFramePr>
          <p:nvPr/>
        </p:nvGraphicFramePr>
        <p:xfrm>
          <a:off x="8144561" y="4334256"/>
          <a:ext cx="5989320" cy="1536192"/>
        </p:xfrm>
        <a:graphic>
          <a:graphicData uri="http://schemas.openxmlformats.org/drawingml/2006/table">
            <a:tbl>
              <a:tblPr/>
              <a:tblGrid>
                <a:gridCol w="128016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tblGrid>
              <a:tr h="384048">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항목</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값</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384048">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이름</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kg_entity_embedding</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대상</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__Entity__ 라벨의 embedding 속성</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384048">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설정</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768차원, COSINE, ONLINE</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Shape 9"/>
          <p:cNvSpPr/>
          <p:nvPr/>
        </p:nvSpPr>
        <p:spPr>
          <a:xfrm>
            <a:off x="8144561" y="5989320"/>
            <a:ext cx="5989320" cy="1280160"/>
          </a:xfrm>
          <a:prstGeom prst="roundRect">
            <a:avLst>
              <a:gd name="adj" fmla="val 5714"/>
            </a:avLst>
          </a:prstGeom>
          <a:solidFill>
            <a:srgbClr val="2E74C6"/>
          </a:solidFill>
          <a:ln/>
        </p:spPr>
        <p:txBody>
          <a:bodyPr/>
          <a:lstStyle/>
          <a:p>
            <a:endParaRPr lang="ko-KR" altLang="en-US"/>
          </a:p>
        </p:txBody>
      </p:sp>
      <p:sp>
        <p:nvSpPr>
          <p:cNvPr id="14" name="Text 10"/>
          <p:cNvSpPr txBox="1"/>
          <p:nvPr/>
        </p:nvSpPr>
        <p:spPr>
          <a:xfrm>
            <a:off x="8144561" y="5989320"/>
            <a:ext cx="5989320" cy="1280160"/>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v0 표본 결과</a:t>
            </a:r>
            <a:endParaRPr lang="en-US" sz="1600" dirty="0"/>
          </a:p>
          <a:p>
            <a:pPr marL="0" indent="0" algn="ctr">
              <a:spcAft>
                <a:spcPts val="100"/>
              </a:spcAft>
              <a:buNone/>
            </a:pPr>
            <a:r>
              <a:rPr lang="en-US" sz="1500" dirty="0">
                <a:solidFill>
                  <a:srgbClr val="FFFFFF"/>
                </a:solidFill>
                <a:latin typeface="Pretendard" pitchFamily="34" charset="0"/>
                <a:ea typeface="Pretendard" pitchFamily="34" charset="-122"/>
                <a:cs typeface="Pretendard" pitchFamily="34" charset="-120"/>
              </a:rPr>
              <a:t>전체 재색인 91개, 증분 색인은 새 엔티티만</a:t>
            </a:r>
            <a:endParaRPr lang="en-US" sz="1600" dirty="0"/>
          </a:p>
          <a:p>
            <a:pPr marL="0" indent="0" algn="ctr">
              <a:spcAft>
                <a:spcPts val="100"/>
              </a:spcAft>
              <a:buNone/>
            </a:pPr>
            <a:r>
              <a:rPr lang="en-US" sz="1500" dirty="0">
                <a:solidFill>
                  <a:srgbClr val="FFFFFF"/>
                </a:solidFill>
                <a:latin typeface="Pretendard" pitchFamily="34" charset="0"/>
                <a:ea typeface="Pretendard" pitchFamily="34" charset="-122"/>
                <a:cs typeface="Pretendard" pitchFamily="34" charset="-120"/>
              </a:rPr>
              <a:t>청크 노드는 0개 (엔티티가 아니라 임베딩 안 함)</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K7. 청크 정리</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증분 색인에서 바뀐 문서의 옛 청크 노드를 지우고, 근거 청크를 모두 잃은 고아 엔티티를 지움</a:t>
            </a:r>
            <a:endParaRPr lang="en-US" sz="1800" dirty="0"/>
          </a:p>
        </p:txBody>
      </p:sp>
      <p:sp>
        <p:nvSpPr>
          <p:cNvPr id="5" name="Shape 2"/>
          <p:cNvSpPr/>
          <p:nvPr/>
        </p:nvSpPr>
        <p:spPr>
          <a:xfrm>
            <a:off x="509321" y="1737360"/>
            <a:ext cx="3166110" cy="384048"/>
          </a:xfrm>
          <a:prstGeom prst="roundRect">
            <a:avLst>
              <a:gd name="adj" fmla="val 11905"/>
            </a:avLst>
          </a:prstGeom>
          <a:solidFill>
            <a:srgbClr val="1E2A5C"/>
          </a:solidFill>
          <a:ln/>
        </p:spPr>
      </p:sp>
      <p:sp>
        <p:nvSpPr>
          <p:cNvPr id="6" name="Text 3"/>
          <p:cNvSpPr txBox="1"/>
          <p:nvPr/>
        </p:nvSpPr>
        <p:spPr>
          <a:xfrm>
            <a:off x="50932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① 바뀐 문서</a:t>
            </a:r>
            <a:endParaRPr lang="en-US" sz="1600" dirty="0"/>
          </a:p>
        </p:txBody>
      </p:sp>
      <p:sp>
        <p:nvSpPr>
          <p:cNvPr id="7" name="Shape 4"/>
          <p:cNvSpPr/>
          <p:nvPr/>
        </p:nvSpPr>
        <p:spPr>
          <a:xfrm>
            <a:off x="509321" y="2212848"/>
            <a:ext cx="3166110" cy="777240"/>
          </a:xfrm>
          <a:prstGeom prst="roundRect">
            <a:avLst>
              <a:gd name="adj" fmla="val 9412"/>
            </a:avLst>
          </a:prstGeom>
          <a:solidFill>
            <a:srgbClr val="FFFFFF"/>
          </a:solidFill>
          <a:ln w="12700">
            <a:solidFill>
              <a:srgbClr val="D9E0EC"/>
            </a:solidFill>
            <a:prstDash val="solid"/>
          </a:ln>
        </p:spPr>
      </p:sp>
      <p:sp>
        <p:nvSpPr>
          <p:cNvPr id="8" name="Text 5"/>
          <p:cNvSpPr txBox="1"/>
          <p:nvPr/>
        </p:nvSpPr>
        <p:spPr>
          <a:xfrm>
            <a:off x="509321" y="2212848"/>
            <a:ext cx="3166110" cy="777240"/>
          </a:xfrm>
          <a:prstGeom prst="rect">
            <a:avLst/>
          </a:prstGeom>
          <a:noFill/>
          <a:ln/>
        </p:spPr>
        <p:txBody>
          <a:bodyPr wrap="square" lIns="635" tIns="635" rIns="635" bIns="635" rtlCol="0" anchor="ctr"/>
          <a:lstStyle/>
          <a:p>
            <a:pPr algn="ctr"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증분 색인이 찾은 문서</a:t>
            </a:r>
            <a:endParaRPr lang="en-US" sz="1500" dirty="0"/>
          </a:p>
          <a:p>
            <a:pPr algn="ctr" indent="0" marL="0">
              <a:spcAft>
                <a:spcPts val="100"/>
              </a:spcAft>
              <a:buNone/>
            </a:pPr>
            <a:r>
              <a:rPr lang="en-US" sz="1500" dirty="0">
                <a:solidFill>
                  <a:srgbClr val="2B3242"/>
                </a:solidFill>
                <a:latin typeface="Pretendard" pitchFamily="34" charset="0"/>
                <a:ea typeface="Pretendard" pitchFamily="34" charset="-122"/>
                <a:cs typeface="Pretendard" pitchFamily="34" charset="-120"/>
              </a:rPr>
              <a:t>본문이 바뀐 문서, 빠진 문서</a:t>
            </a:r>
            <a:endParaRPr lang="en-US" sz="1500" dirty="0"/>
          </a:p>
        </p:txBody>
      </p:sp>
      <p:sp>
        <p:nvSpPr>
          <p:cNvPr id="9" name="Shape 6"/>
          <p:cNvSpPr/>
          <p:nvPr/>
        </p:nvSpPr>
        <p:spPr>
          <a:xfrm>
            <a:off x="3712007" y="2601468"/>
            <a:ext cx="246888" cy="0"/>
          </a:xfrm>
          <a:prstGeom prst="line">
            <a:avLst/>
          </a:prstGeom>
          <a:noFill/>
          <a:ln w="31750">
            <a:solidFill>
              <a:srgbClr val="1E2A5C"/>
            </a:solidFill>
            <a:prstDash val="solid"/>
            <a:tailEnd type="triangle"/>
          </a:ln>
        </p:spPr>
      </p:sp>
      <p:sp>
        <p:nvSpPr>
          <p:cNvPr id="10" name="Shape 7"/>
          <p:cNvSpPr/>
          <p:nvPr/>
        </p:nvSpPr>
        <p:spPr>
          <a:xfrm>
            <a:off x="3995471" y="1737360"/>
            <a:ext cx="3166110" cy="384048"/>
          </a:xfrm>
          <a:prstGeom prst="roundRect">
            <a:avLst>
              <a:gd name="adj" fmla="val 11905"/>
            </a:avLst>
          </a:prstGeom>
          <a:solidFill>
            <a:srgbClr val="2E74C6"/>
          </a:solidFill>
          <a:ln/>
        </p:spPr>
      </p:sp>
      <p:sp>
        <p:nvSpPr>
          <p:cNvPr id="11" name="Text 8"/>
          <p:cNvSpPr txBox="1"/>
          <p:nvPr/>
        </p:nvSpPr>
        <p:spPr>
          <a:xfrm>
            <a:off x="399547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② 옛 청크 노드 지우기</a:t>
            </a:r>
            <a:endParaRPr lang="en-US" sz="1600" dirty="0"/>
          </a:p>
        </p:txBody>
      </p:sp>
      <p:sp>
        <p:nvSpPr>
          <p:cNvPr id="12" name="Shape 9"/>
          <p:cNvSpPr/>
          <p:nvPr/>
        </p:nvSpPr>
        <p:spPr>
          <a:xfrm>
            <a:off x="3995471" y="2212848"/>
            <a:ext cx="3166110" cy="777240"/>
          </a:xfrm>
          <a:prstGeom prst="roundRect">
            <a:avLst>
              <a:gd name="adj" fmla="val 9412"/>
            </a:avLst>
          </a:prstGeom>
          <a:solidFill>
            <a:srgbClr val="EEF3FA"/>
          </a:solidFill>
          <a:ln w="12700">
            <a:solidFill>
              <a:srgbClr val="2E74C6"/>
            </a:solidFill>
            <a:prstDash val="solid"/>
          </a:ln>
        </p:spPr>
      </p:sp>
      <p:sp>
        <p:nvSpPr>
          <p:cNvPr id="13" name="Text 10"/>
          <p:cNvSpPr txBox="1"/>
          <p:nvPr/>
        </p:nvSpPr>
        <p:spPr>
          <a:xfrm>
            <a:off x="3995471" y="2212848"/>
            <a:ext cx="3166110" cy="777240"/>
          </a:xfrm>
          <a:prstGeom prst="rect">
            <a:avLst/>
          </a:prstGeom>
          <a:noFill/>
          <a:ln/>
        </p:spPr>
        <p:txBody>
          <a:bodyPr wrap="square" lIns="635" tIns="635" rIns="635" bIns="635" rtlCol="0" anchor="ctr"/>
          <a:lstStyle/>
          <a:p>
            <a:pPr algn="ctr" indent="0" marL="0">
              <a:spcAft>
                <a:spcPts val="100"/>
              </a:spcAft>
              <a:buNone/>
            </a:pPr>
            <a:r>
              <a:rPr lang="en-US" sz="1500" b="1" dirty="0">
                <a:solidFill>
                  <a:srgbClr val="1E2A5C"/>
                </a:solidFill>
                <a:latin typeface="Pretendard" pitchFamily="34" charset="0"/>
                <a:ea typeface="Pretendard" pitchFamily="34" charset="-122"/>
                <a:cs typeface="Pretendard" pitchFamily="34" charset="-120"/>
              </a:rPr>
              <a:t>그 문서의 옛 청크 노드</a:t>
            </a:r>
            <a:endParaRPr lang="en-US" sz="1500" dirty="0"/>
          </a:p>
          <a:p>
            <a:pPr algn="ctr" indent="0" marL="0">
              <a:spcAft>
                <a:spcPts val="100"/>
              </a:spcAft>
              <a:buNone/>
            </a:pPr>
            <a:r>
              <a:rPr lang="en-US" sz="1500" dirty="0">
                <a:solidFill>
                  <a:srgbClr val="1E2A5C"/>
                </a:solidFill>
                <a:latin typeface="Pretendard" pitchFamily="34" charset="0"/>
                <a:ea typeface="Pretendard" pitchFamily="34" charset="-122"/>
                <a:cs typeface="Pretendard" pitchFamily="34" charset="-120"/>
              </a:rPr>
              <a:t>이번 K4가 넣지 않은 것</a:t>
            </a:r>
            <a:endParaRPr lang="en-US" sz="1500" dirty="0"/>
          </a:p>
        </p:txBody>
      </p:sp>
      <p:sp>
        <p:nvSpPr>
          <p:cNvPr id="14" name="Shape 11"/>
          <p:cNvSpPr/>
          <p:nvPr/>
        </p:nvSpPr>
        <p:spPr>
          <a:xfrm>
            <a:off x="7198157" y="2601468"/>
            <a:ext cx="246888" cy="0"/>
          </a:xfrm>
          <a:prstGeom prst="line">
            <a:avLst/>
          </a:prstGeom>
          <a:noFill/>
          <a:ln w="31750">
            <a:solidFill>
              <a:srgbClr val="1E2A5C"/>
            </a:solidFill>
            <a:prstDash val="solid"/>
            <a:tailEnd type="triangle"/>
          </a:ln>
        </p:spPr>
      </p:sp>
      <p:sp>
        <p:nvSpPr>
          <p:cNvPr id="15" name="Shape 12"/>
          <p:cNvSpPr/>
          <p:nvPr/>
        </p:nvSpPr>
        <p:spPr>
          <a:xfrm>
            <a:off x="7481621" y="1737360"/>
            <a:ext cx="3166110" cy="384048"/>
          </a:xfrm>
          <a:prstGeom prst="roundRect">
            <a:avLst>
              <a:gd name="adj" fmla="val 11905"/>
            </a:avLst>
          </a:prstGeom>
          <a:solidFill>
            <a:srgbClr val="2E74C6"/>
          </a:solidFill>
          <a:ln/>
        </p:spPr>
      </p:sp>
      <p:sp>
        <p:nvSpPr>
          <p:cNvPr id="16" name="Text 13"/>
          <p:cNvSpPr txBox="1"/>
          <p:nvPr/>
        </p:nvSpPr>
        <p:spPr>
          <a:xfrm>
            <a:off x="748162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③ 고아 엔티티 지우기</a:t>
            </a:r>
            <a:endParaRPr lang="en-US" sz="1600" dirty="0"/>
          </a:p>
        </p:txBody>
      </p:sp>
      <p:sp>
        <p:nvSpPr>
          <p:cNvPr id="17" name="Shape 14"/>
          <p:cNvSpPr/>
          <p:nvPr/>
        </p:nvSpPr>
        <p:spPr>
          <a:xfrm>
            <a:off x="7481621" y="2212848"/>
            <a:ext cx="3166110" cy="777240"/>
          </a:xfrm>
          <a:prstGeom prst="roundRect">
            <a:avLst>
              <a:gd name="adj" fmla="val 9412"/>
            </a:avLst>
          </a:prstGeom>
          <a:solidFill>
            <a:srgbClr val="EEF3FA"/>
          </a:solidFill>
          <a:ln w="12700">
            <a:solidFill>
              <a:srgbClr val="2E74C6"/>
            </a:solidFill>
            <a:prstDash val="solid"/>
          </a:ln>
        </p:spPr>
      </p:sp>
      <p:sp>
        <p:nvSpPr>
          <p:cNvPr id="18" name="Text 15"/>
          <p:cNvSpPr txBox="1"/>
          <p:nvPr/>
        </p:nvSpPr>
        <p:spPr>
          <a:xfrm>
            <a:off x="7481621" y="2212848"/>
            <a:ext cx="3166110" cy="777240"/>
          </a:xfrm>
          <a:prstGeom prst="rect">
            <a:avLst/>
          </a:prstGeom>
          <a:noFill/>
          <a:ln/>
        </p:spPr>
        <p:txBody>
          <a:bodyPr wrap="square" lIns="635" tIns="635" rIns="635" bIns="635" rtlCol="0" anchor="ctr"/>
          <a:lstStyle/>
          <a:p>
            <a:pPr algn="ctr" indent="0" marL="0">
              <a:spcAft>
                <a:spcPts val="100"/>
              </a:spcAft>
              <a:buNone/>
            </a:pPr>
            <a:r>
              <a:rPr lang="en-US" sz="1500" b="1" dirty="0">
                <a:solidFill>
                  <a:srgbClr val="1E2A5C"/>
                </a:solidFill>
                <a:latin typeface="Pretendard" pitchFamily="34" charset="0"/>
                <a:ea typeface="Pretendard" pitchFamily="34" charset="-122"/>
                <a:cs typeface="Pretendard" pitchFamily="34" charset="-120"/>
              </a:rPr>
              <a:t>FROM_CHUNK가 하나도</a:t>
            </a:r>
            <a:endParaRPr lang="en-US" sz="1500" dirty="0"/>
          </a:p>
          <a:p>
            <a:pPr algn="ctr" indent="0" marL="0">
              <a:spcAft>
                <a:spcPts val="100"/>
              </a:spcAft>
              <a:buNone/>
            </a:pPr>
            <a:r>
              <a:rPr lang="en-US" sz="1500" dirty="0">
                <a:solidFill>
                  <a:srgbClr val="1E2A5C"/>
                </a:solidFill>
                <a:latin typeface="Pretendard" pitchFamily="34" charset="0"/>
                <a:ea typeface="Pretendard" pitchFamily="34" charset="-122"/>
                <a:cs typeface="Pretendard" pitchFamily="34" charset="-120"/>
              </a:rPr>
              <a:t>남지 않은 엔티티</a:t>
            </a:r>
            <a:endParaRPr lang="en-US" sz="1500" dirty="0"/>
          </a:p>
        </p:txBody>
      </p:sp>
      <p:sp>
        <p:nvSpPr>
          <p:cNvPr id="19" name="Shape 16"/>
          <p:cNvSpPr/>
          <p:nvPr/>
        </p:nvSpPr>
        <p:spPr>
          <a:xfrm>
            <a:off x="10684307" y="2601468"/>
            <a:ext cx="246888" cy="0"/>
          </a:xfrm>
          <a:prstGeom prst="line">
            <a:avLst/>
          </a:prstGeom>
          <a:noFill/>
          <a:ln w="31750">
            <a:solidFill>
              <a:srgbClr val="1E2A5C"/>
            </a:solidFill>
            <a:prstDash val="solid"/>
            <a:tailEnd type="triangle"/>
          </a:ln>
        </p:spPr>
      </p:sp>
      <p:sp>
        <p:nvSpPr>
          <p:cNvPr id="20" name="Shape 17"/>
          <p:cNvSpPr/>
          <p:nvPr/>
        </p:nvSpPr>
        <p:spPr>
          <a:xfrm>
            <a:off x="10967771" y="1737360"/>
            <a:ext cx="3166110" cy="384048"/>
          </a:xfrm>
          <a:prstGeom prst="roundRect">
            <a:avLst>
              <a:gd name="adj" fmla="val 11905"/>
            </a:avLst>
          </a:prstGeom>
          <a:solidFill>
            <a:srgbClr val="1E2A5C"/>
          </a:solidFill>
          <a:ln/>
        </p:spPr>
      </p:sp>
      <p:sp>
        <p:nvSpPr>
          <p:cNvPr id="21" name="Text 18"/>
          <p:cNvSpPr txBox="1"/>
          <p:nvPr/>
        </p:nvSpPr>
        <p:spPr>
          <a:xfrm>
            <a:off x="1096777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④ 결과 (v0 표본)</a:t>
            </a:r>
            <a:endParaRPr lang="en-US" sz="1600" dirty="0"/>
          </a:p>
        </p:txBody>
      </p:sp>
      <p:sp>
        <p:nvSpPr>
          <p:cNvPr id="22" name="Shape 19"/>
          <p:cNvSpPr/>
          <p:nvPr/>
        </p:nvSpPr>
        <p:spPr>
          <a:xfrm>
            <a:off x="10967771" y="2212848"/>
            <a:ext cx="3166110" cy="777240"/>
          </a:xfrm>
          <a:prstGeom prst="roundRect">
            <a:avLst>
              <a:gd name="adj" fmla="val 9412"/>
            </a:avLst>
          </a:prstGeom>
          <a:solidFill>
            <a:srgbClr val="FFFFFF"/>
          </a:solidFill>
          <a:ln w="12700">
            <a:solidFill>
              <a:srgbClr val="D9E0EC"/>
            </a:solidFill>
            <a:prstDash val="solid"/>
          </a:ln>
        </p:spPr>
      </p:sp>
      <p:sp>
        <p:nvSpPr>
          <p:cNvPr id="23" name="Text 20"/>
          <p:cNvSpPr txBox="1"/>
          <p:nvPr/>
        </p:nvSpPr>
        <p:spPr>
          <a:xfrm>
            <a:off x="10967771" y="2212848"/>
            <a:ext cx="3166110" cy="777240"/>
          </a:xfrm>
          <a:prstGeom prst="rect">
            <a:avLst/>
          </a:prstGeom>
          <a:noFill/>
          <a:ln/>
        </p:spPr>
        <p:txBody>
          <a:bodyPr wrap="square" lIns="635" tIns="635" rIns="635" bIns="635" rtlCol="0" anchor="ctr"/>
          <a:lstStyle/>
          <a:p>
            <a:pPr algn="ctr"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옛 청크 노드 5개</a:t>
            </a:r>
            <a:endParaRPr lang="en-US" sz="1500" dirty="0"/>
          </a:p>
          <a:p>
            <a:pPr algn="ctr" indent="0" marL="0">
              <a:spcAft>
                <a:spcPts val="100"/>
              </a:spcAft>
              <a:buNone/>
            </a:pPr>
            <a:r>
              <a:rPr lang="en-US" sz="1500" dirty="0">
                <a:solidFill>
                  <a:srgbClr val="2B3242"/>
                </a:solidFill>
                <a:latin typeface="Pretendard" pitchFamily="34" charset="0"/>
                <a:ea typeface="Pretendard" pitchFamily="34" charset="-122"/>
                <a:cs typeface="Pretendard" pitchFamily="34" charset="-120"/>
              </a:rPr>
              <a:t>고아 엔티티 33개 지움</a:t>
            </a:r>
            <a:endParaRPr lang="en-US" sz="1500" dirty="0"/>
          </a:p>
        </p:txBody>
      </p:sp>
      <p:sp>
        <p:nvSpPr>
          <p:cNvPr id="24" name="Shape 21"/>
          <p:cNvSpPr/>
          <p:nvPr/>
        </p:nvSpPr>
        <p:spPr>
          <a:xfrm>
            <a:off x="509321" y="3172968"/>
            <a:ext cx="7452360" cy="3182112"/>
          </a:xfrm>
          <a:prstGeom prst="roundRect">
            <a:avLst>
              <a:gd name="adj" fmla="val 1724"/>
            </a:avLst>
          </a:prstGeom>
          <a:solidFill>
            <a:srgbClr val="F5F8FC"/>
          </a:solidFill>
          <a:ln w="12700">
            <a:solidFill>
              <a:srgbClr val="D9E0EC"/>
            </a:solidFill>
            <a:prstDash val="solid"/>
          </a:ln>
        </p:spPr>
      </p:sp>
      <p:sp>
        <p:nvSpPr>
          <p:cNvPr id="25" name="Text 22"/>
          <p:cNvSpPr txBox="1"/>
          <p:nvPr/>
        </p:nvSpPr>
        <p:spPr>
          <a:xfrm>
            <a:off x="619049" y="3246120"/>
            <a:ext cx="7232904" cy="310896"/>
          </a:xfrm>
          <a:prstGeom prst="rect">
            <a:avLst/>
          </a:prstGeom>
          <a:noFill/>
          <a:ln/>
        </p:spPr>
        <p:txBody>
          <a:bodyPr wrap="square" lIns="762" tIns="762" rIns="762" bIns="762" rtlCol="0" anchor="ctr"/>
          <a:lstStyle/>
          <a:p>
            <a:pPr algn="l" indent="0" marL="0">
              <a:buNone/>
            </a:pPr>
            <a:r>
              <a:rPr lang="en-US" sz="1400" b="1" dirty="0">
                <a:solidFill>
                  <a:srgbClr val="7C8598"/>
                </a:solidFill>
                <a:latin typeface="Pretendard" pitchFamily="34" charset="0"/>
                <a:ea typeface="Pretendard" pitchFamily="34" charset="-122"/>
                <a:cs typeface="Pretendard" pitchFamily="34" charset="-120"/>
              </a:rPr>
              <a:t>cleanup (kg_build.py 발췌)</a:t>
            </a:r>
            <a:endParaRPr lang="en-US" sz="1400" dirty="0"/>
          </a:p>
        </p:txBody>
      </p:sp>
      <p:sp>
        <p:nvSpPr>
          <p:cNvPr id="26" name="Text 23"/>
          <p:cNvSpPr txBox="1"/>
          <p:nvPr/>
        </p:nvSpPr>
        <p:spPr>
          <a:xfrm>
            <a:off x="619049" y="3575304"/>
            <a:ext cx="7232904" cy="2724912"/>
          </a:xfrm>
          <a:prstGeom prst="rect">
            <a:avLst/>
          </a:prstGeom>
          <a:noFill/>
          <a:ln/>
        </p:spPr>
        <p:txBody>
          <a:bodyPr wrap="square" lIns="254" tIns="254" rIns="254" bIns="254" rtlCol="0" anchor="t"/>
          <a:lstStyle/>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def cleanup(driver, generation, run_id, doc_ids):      # 증분 색인, S3 다음</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records, _, _ = driver.execute_query(</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"MATCH (c:Chunk {generation: $g})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"WHERE c.doc_id IN $docs AND c.run_id &lt;&gt; $run "</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"DETACH DELETE c"</a:t>
            </a:r>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 RETURN count(*) AS n",</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g=generation, docs=doc_ids, run=run_id)</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chunks = records[0]["n"]                          # 옛 청크 노드 수</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records, _, _ = driver.execute_query(</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"MATCH (e:__Entity__ {generation: $g})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"WHERE NOT (e)-[:FROM_CHUNK]-&gt;(:Chunk) "</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"DETACH DELETE e"</a:t>
            </a:r>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 RETURN count(*) AS n", g=generation)</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orphans = records[0]["n"]                         # 고아 엔티티 수</a:t>
            </a:r>
            <a:endParaRPr lang="en-US" sz="1400" dirty="0"/>
          </a:p>
        </p:txBody>
      </p:sp>
      <p:sp>
        <p:nvSpPr>
          <p:cNvPr id="27" name="Text 24"/>
          <p:cNvSpPr txBox="1"/>
          <p:nvPr/>
        </p:nvSpPr>
        <p:spPr>
          <a:xfrm>
            <a:off x="8236001" y="3172968"/>
            <a:ext cx="5897880" cy="347472"/>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왜 S3 다음에 지우나: 증분 색인 반영 순서</a:t>
            </a:r>
            <a:endParaRPr lang="en-US" sz="1500" dirty="0"/>
          </a:p>
        </p:txBody>
      </p:sp>
      <p:sp>
        <p:nvSpPr>
          <p:cNvPr id="28" name="Shape 25"/>
          <p:cNvSpPr/>
          <p:nvPr/>
        </p:nvSpPr>
        <p:spPr>
          <a:xfrm>
            <a:off x="8236001" y="3611880"/>
            <a:ext cx="5897880" cy="457200"/>
          </a:xfrm>
          <a:prstGeom prst="roundRect">
            <a:avLst>
              <a:gd name="adj" fmla="val 16000"/>
            </a:avLst>
          </a:prstGeom>
          <a:solidFill>
            <a:srgbClr val="FFFFFF"/>
          </a:solidFill>
          <a:ln w="12700">
            <a:solidFill>
              <a:srgbClr val="D9E0EC"/>
            </a:solidFill>
            <a:prstDash val="solid"/>
          </a:ln>
        </p:spPr>
      </p:sp>
      <p:sp>
        <p:nvSpPr>
          <p:cNvPr id="29" name="Shape 26"/>
          <p:cNvSpPr/>
          <p:nvPr/>
        </p:nvSpPr>
        <p:spPr>
          <a:xfrm>
            <a:off x="8327441" y="3685032"/>
            <a:ext cx="960120" cy="310896"/>
          </a:xfrm>
          <a:prstGeom prst="roundRect">
            <a:avLst>
              <a:gd name="adj" fmla="val 17647"/>
            </a:avLst>
          </a:prstGeom>
          <a:solidFill>
            <a:srgbClr val="1E2A5C"/>
          </a:solidFill>
          <a:ln/>
        </p:spPr>
      </p:sp>
      <p:sp>
        <p:nvSpPr>
          <p:cNvPr id="30" name="Text 27"/>
          <p:cNvSpPr txBox="1"/>
          <p:nvPr/>
        </p:nvSpPr>
        <p:spPr>
          <a:xfrm>
            <a:off x="8327441" y="3685032"/>
            <a:ext cx="960120"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K4 ~ K6</a:t>
            </a:r>
            <a:endParaRPr lang="en-US" sz="1400" dirty="0"/>
          </a:p>
        </p:txBody>
      </p:sp>
      <p:sp>
        <p:nvSpPr>
          <p:cNvPr id="31" name="Text 28"/>
          <p:cNvSpPr txBox="1"/>
          <p:nvPr/>
        </p:nvSpPr>
        <p:spPr>
          <a:xfrm>
            <a:off x="9424721" y="3611880"/>
            <a:ext cx="4617720" cy="457200"/>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그래프에 새 청크 노드를 먼저 넣음</a:t>
            </a:r>
            <a:endParaRPr lang="en-US" sz="1400" dirty="0"/>
          </a:p>
        </p:txBody>
      </p:sp>
      <p:sp>
        <p:nvSpPr>
          <p:cNvPr id="32" name="Shape 29"/>
          <p:cNvSpPr/>
          <p:nvPr/>
        </p:nvSpPr>
        <p:spPr>
          <a:xfrm>
            <a:off x="8802929" y="4087368"/>
            <a:ext cx="0" cy="146304"/>
          </a:xfrm>
          <a:prstGeom prst="line">
            <a:avLst/>
          </a:prstGeom>
          <a:noFill/>
          <a:ln w="25400">
            <a:solidFill>
              <a:srgbClr val="1E2A5C"/>
            </a:solidFill>
            <a:prstDash val="solid"/>
            <a:tailEnd type="triangle"/>
          </a:ln>
        </p:spPr>
      </p:sp>
      <p:sp>
        <p:nvSpPr>
          <p:cNvPr id="33" name="Shape 30"/>
          <p:cNvSpPr/>
          <p:nvPr/>
        </p:nvSpPr>
        <p:spPr>
          <a:xfrm>
            <a:off x="8236001" y="4251960"/>
            <a:ext cx="5897880" cy="457200"/>
          </a:xfrm>
          <a:prstGeom prst="roundRect">
            <a:avLst>
              <a:gd name="adj" fmla="val 16000"/>
            </a:avLst>
          </a:prstGeom>
          <a:solidFill>
            <a:srgbClr val="FFFFFF"/>
          </a:solidFill>
          <a:ln w="12700">
            <a:solidFill>
              <a:srgbClr val="D9E0EC"/>
            </a:solidFill>
            <a:prstDash val="solid"/>
          </a:ln>
        </p:spPr>
      </p:sp>
      <p:sp>
        <p:nvSpPr>
          <p:cNvPr id="34" name="Shape 31"/>
          <p:cNvSpPr/>
          <p:nvPr/>
        </p:nvSpPr>
        <p:spPr>
          <a:xfrm>
            <a:off x="8327441" y="4325112"/>
            <a:ext cx="960120" cy="310896"/>
          </a:xfrm>
          <a:prstGeom prst="roundRect">
            <a:avLst>
              <a:gd name="adj" fmla="val 17647"/>
            </a:avLst>
          </a:prstGeom>
          <a:solidFill>
            <a:srgbClr val="1E2A5C"/>
          </a:solidFill>
          <a:ln/>
        </p:spPr>
      </p:sp>
      <p:sp>
        <p:nvSpPr>
          <p:cNvPr id="35" name="Text 32"/>
          <p:cNvSpPr txBox="1"/>
          <p:nvPr/>
        </p:nvSpPr>
        <p:spPr>
          <a:xfrm>
            <a:off x="8327441" y="4325112"/>
            <a:ext cx="960120"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S3</a:t>
            </a:r>
            <a:endParaRPr lang="en-US" sz="1400" dirty="0"/>
          </a:p>
        </p:txBody>
      </p:sp>
      <p:sp>
        <p:nvSpPr>
          <p:cNvPr id="36" name="Text 33"/>
          <p:cNvSpPr txBox="1"/>
          <p:nvPr/>
        </p:nvSpPr>
        <p:spPr>
          <a:xfrm>
            <a:off x="9424721" y="4251960"/>
            <a:ext cx="4617720" cy="457200"/>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검색엔진 문서를 새 청크로 바꿈</a:t>
            </a:r>
            <a:endParaRPr lang="en-US" sz="1400" dirty="0"/>
          </a:p>
        </p:txBody>
      </p:sp>
      <p:sp>
        <p:nvSpPr>
          <p:cNvPr id="37" name="Shape 34"/>
          <p:cNvSpPr/>
          <p:nvPr/>
        </p:nvSpPr>
        <p:spPr>
          <a:xfrm>
            <a:off x="8802929" y="4727448"/>
            <a:ext cx="0" cy="146304"/>
          </a:xfrm>
          <a:prstGeom prst="line">
            <a:avLst/>
          </a:prstGeom>
          <a:noFill/>
          <a:ln w="25400">
            <a:solidFill>
              <a:srgbClr val="1E2A5C"/>
            </a:solidFill>
            <a:prstDash val="solid"/>
            <a:tailEnd type="triangle"/>
          </a:ln>
        </p:spPr>
      </p:sp>
      <p:sp>
        <p:nvSpPr>
          <p:cNvPr id="38" name="Shape 35"/>
          <p:cNvSpPr/>
          <p:nvPr/>
        </p:nvSpPr>
        <p:spPr>
          <a:xfrm>
            <a:off x="8236001" y="4892040"/>
            <a:ext cx="5897880" cy="457200"/>
          </a:xfrm>
          <a:prstGeom prst="roundRect">
            <a:avLst>
              <a:gd name="adj" fmla="val 16000"/>
            </a:avLst>
          </a:prstGeom>
          <a:solidFill>
            <a:srgbClr val="EEF3FA"/>
          </a:solidFill>
          <a:ln w="12700">
            <a:solidFill>
              <a:srgbClr val="2E74C6"/>
            </a:solidFill>
            <a:prstDash val="solid"/>
          </a:ln>
        </p:spPr>
      </p:sp>
      <p:sp>
        <p:nvSpPr>
          <p:cNvPr id="39" name="Shape 36"/>
          <p:cNvSpPr/>
          <p:nvPr/>
        </p:nvSpPr>
        <p:spPr>
          <a:xfrm>
            <a:off x="8327441" y="4965192"/>
            <a:ext cx="960120" cy="310896"/>
          </a:xfrm>
          <a:prstGeom prst="roundRect">
            <a:avLst>
              <a:gd name="adj" fmla="val 17647"/>
            </a:avLst>
          </a:prstGeom>
          <a:solidFill>
            <a:srgbClr val="2E74C6"/>
          </a:solidFill>
          <a:ln/>
        </p:spPr>
      </p:sp>
      <p:sp>
        <p:nvSpPr>
          <p:cNvPr id="40" name="Text 37"/>
          <p:cNvSpPr txBox="1"/>
          <p:nvPr/>
        </p:nvSpPr>
        <p:spPr>
          <a:xfrm>
            <a:off x="8327441" y="4965192"/>
            <a:ext cx="960120"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K7</a:t>
            </a:r>
            <a:endParaRPr lang="en-US" sz="1400" dirty="0"/>
          </a:p>
        </p:txBody>
      </p:sp>
      <p:sp>
        <p:nvSpPr>
          <p:cNvPr id="41" name="Text 38"/>
          <p:cNvSpPr txBox="1"/>
          <p:nvPr/>
        </p:nvSpPr>
        <p:spPr>
          <a:xfrm>
            <a:off x="9424721" y="4892040"/>
            <a:ext cx="4617720" cy="457200"/>
          </a:xfrm>
          <a:prstGeom prst="rect">
            <a:avLst/>
          </a:prstGeom>
          <a:noFill/>
          <a:ln/>
        </p:spPr>
        <p:txBody>
          <a:bodyPr wrap="square" lIns="762" tIns="762" rIns="762" bIns="762"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그다음 옛 청크 노드를 지움</a:t>
            </a:r>
            <a:endParaRPr lang="en-US" sz="1400" dirty="0"/>
          </a:p>
        </p:txBody>
      </p:sp>
      <p:sp>
        <p:nvSpPr>
          <p:cNvPr id="42" name="Shape 39"/>
          <p:cNvSpPr/>
          <p:nvPr/>
        </p:nvSpPr>
        <p:spPr>
          <a:xfrm>
            <a:off x="8236001" y="5486400"/>
            <a:ext cx="5897880" cy="868680"/>
          </a:xfrm>
          <a:prstGeom prst="roundRect">
            <a:avLst>
              <a:gd name="adj" fmla="val 8421"/>
            </a:avLst>
          </a:prstGeom>
          <a:solidFill>
            <a:srgbClr val="1E2A5C"/>
          </a:solidFill>
          <a:ln/>
        </p:spPr>
      </p:sp>
      <p:sp>
        <p:nvSpPr>
          <p:cNvPr id="43" name="Text 40"/>
          <p:cNvSpPr txBox="1"/>
          <p:nvPr/>
        </p:nvSpPr>
        <p:spPr>
          <a:xfrm>
            <a:off x="8236001" y="5486400"/>
            <a:ext cx="5897880" cy="868680"/>
          </a:xfrm>
          <a:prstGeom prst="rect">
            <a:avLst/>
          </a:prstGeom>
          <a:noFill/>
          <a:ln/>
        </p:spPr>
        <p:txBody>
          <a:bodyPr wrap="square" lIns="635" tIns="635" rIns="635" bIns="635" rtlCol="0" anchor="ctr"/>
          <a:lstStyle/>
          <a:p>
            <a:pPr algn="ctr" indent="0" marL="0">
              <a:spcAft>
                <a:spcPts val="100"/>
              </a:spcAft>
              <a:buNone/>
            </a:pPr>
            <a:r>
              <a:rPr lang="en-US" sz="1500" b="1" dirty="0">
                <a:solidFill>
                  <a:srgbClr val="FFFFFF"/>
                </a:solidFill>
                <a:latin typeface="Pretendard" pitchFamily="34" charset="0"/>
                <a:ea typeface="Pretendard" pitchFamily="34" charset="-122"/>
                <a:cs typeface="Pretendard" pitchFamily="34" charset="-120"/>
              </a:rPr>
              <a:t>바뀌는 동안에도 검색 결과의 chunk_id가 그래프에 있음</a:t>
            </a:r>
            <a:endParaRPr lang="en-US" sz="1500" dirty="0"/>
          </a:p>
          <a:p>
            <a:pPr algn="ctr" indent="0" marL="0">
              <a:spcAft>
                <a:spcPts val="100"/>
              </a:spcAft>
              <a:buNone/>
            </a:pPr>
            <a:r>
              <a:rPr lang="en-US" sz="1400" dirty="0">
                <a:solidFill>
                  <a:srgbClr val="FFFFFF"/>
                </a:solidFill>
                <a:latin typeface="Pretendard" pitchFamily="34" charset="0"/>
                <a:ea typeface="Pretendard" pitchFamily="34" charset="-122"/>
                <a:cs typeface="Pretendard" pitchFamily="34" charset="-120"/>
              </a:rPr>
              <a:t>순서를 거꾸로 하면 옛 chunk_id의 청크 노드가 없는 순간이 생김</a:t>
            </a:r>
            <a:endParaRPr lang="en-US" sz="1500" dirty="0"/>
          </a:p>
        </p:txBody>
      </p:sp>
      <p:sp>
        <p:nvSpPr>
          <p:cNvPr id="44" name="Shape 41"/>
          <p:cNvSpPr/>
          <p:nvPr/>
        </p:nvSpPr>
        <p:spPr>
          <a:xfrm>
            <a:off x="509321" y="6473952"/>
            <a:ext cx="4419600" cy="795528"/>
          </a:xfrm>
          <a:prstGeom prst="roundRect">
            <a:avLst>
              <a:gd name="adj" fmla="val 9195"/>
            </a:avLst>
          </a:prstGeom>
          <a:solidFill>
            <a:srgbClr val="F5F8FC"/>
          </a:solidFill>
          <a:ln w="12700">
            <a:solidFill>
              <a:srgbClr val="D9E0EC"/>
            </a:solidFill>
            <a:prstDash val="solid"/>
          </a:ln>
        </p:spPr>
      </p:sp>
      <p:sp>
        <p:nvSpPr>
          <p:cNvPr id="45" name="Shape 42"/>
          <p:cNvSpPr/>
          <p:nvPr/>
        </p:nvSpPr>
        <p:spPr>
          <a:xfrm>
            <a:off x="619049" y="6565392"/>
            <a:ext cx="310896" cy="310896"/>
          </a:xfrm>
          <a:prstGeom prst="roundRect">
            <a:avLst>
              <a:gd name="adj" fmla="val 14706"/>
            </a:avLst>
          </a:prstGeom>
          <a:solidFill>
            <a:srgbClr val="2E74C6"/>
          </a:solidFill>
          <a:ln/>
        </p:spPr>
      </p:sp>
      <p:sp>
        <p:nvSpPr>
          <p:cNvPr id="46" name="Text 43"/>
          <p:cNvSpPr txBox="1"/>
          <p:nvPr/>
        </p:nvSpPr>
        <p:spPr>
          <a:xfrm>
            <a:off x="619049" y="6565392"/>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47" name="Text 44"/>
          <p:cNvSpPr txBox="1"/>
          <p:nvPr/>
        </p:nvSpPr>
        <p:spPr>
          <a:xfrm>
            <a:off x="1012241" y="6528816"/>
            <a:ext cx="382524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증분 색인에서만</a:t>
            </a:r>
            <a:endParaRPr lang="en-US" sz="1500" dirty="0"/>
          </a:p>
        </p:txBody>
      </p:sp>
      <p:sp>
        <p:nvSpPr>
          <p:cNvPr id="48" name="Text 45"/>
          <p:cNvSpPr txBox="1"/>
          <p:nvPr/>
        </p:nvSpPr>
        <p:spPr>
          <a:xfrm>
            <a:off x="646481" y="6894576"/>
            <a:ext cx="4145280" cy="338328"/>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전체 재색인은 새 세대에 처음부터 써서 지울 것이 없음</a:t>
            </a:r>
            <a:endParaRPr lang="en-US" sz="1400" dirty="0"/>
          </a:p>
        </p:txBody>
      </p:sp>
      <p:sp>
        <p:nvSpPr>
          <p:cNvPr id="49" name="Shape 46"/>
          <p:cNvSpPr/>
          <p:nvPr/>
        </p:nvSpPr>
        <p:spPr>
          <a:xfrm>
            <a:off x="5111801" y="6473952"/>
            <a:ext cx="4419600" cy="795528"/>
          </a:xfrm>
          <a:prstGeom prst="roundRect">
            <a:avLst>
              <a:gd name="adj" fmla="val 9195"/>
            </a:avLst>
          </a:prstGeom>
          <a:solidFill>
            <a:srgbClr val="F5F8FC"/>
          </a:solidFill>
          <a:ln w="12700">
            <a:solidFill>
              <a:srgbClr val="D9E0EC"/>
            </a:solidFill>
            <a:prstDash val="solid"/>
          </a:ln>
        </p:spPr>
      </p:sp>
      <p:sp>
        <p:nvSpPr>
          <p:cNvPr id="50" name="Shape 47"/>
          <p:cNvSpPr/>
          <p:nvPr/>
        </p:nvSpPr>
        <p:spPr>
          <a:xfrm>
            <a:off x="5221529" y="6565392"/>
            <a:ext cx="310896" cy="310896"/>
          </a:xfrm>
          <a:prstGeom prst="roundRect">
            <a:avLst>
              <a:gd name="adj" fmla="val 14706"/>
            </a:avLst>
          </a:prstGeom>
          <a:solidFill>
            <a:srgbClr val="2E74C6"/>
          </a:solidFill>
          <a:ln/>
        </p:spPr>
      </p:sp>
      <p:sp>
        <p:nvSpPr>
          <p:cNvPr id="51" name="Text 48"/>
          <p:cNvSpPr txBox="1"/>
          <p:nvPr/>
        </p:nvSpPr>
        <p:spPr>
          <a:xfrm>
            <a:off x="5221529" y="6565392"/>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52" name="Text 49"/>
          <p:cNvSpPr txBox="1"/>
          <p:nvPr/>
        </p:nvSpPr>
        <p:spPr>
          <a:xfrm>
            <a:off x="5614721" y="6528816"/>
            <a:ext cx="382524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새로 넣은 청크 노드는 남김</a:t>
            </a:r>
            <a:endParaRPr lang="en-US" sz="1500" dirty="0"/>
          </a:p>
        </p:txBody>
      </p:sp>
      <p:sp>
        <p:nvSpPr>
          <p:cNvPr id="53" name="Text 50"/>
          <p:cNvSpPr txBox="1"/>
          <p:nvPr/>
        </p:nvSpPr>
        <p:spPr>
          <a:xfrm>
            <a:off x="5248961" y="6894576"/>
            <a:ext cx="4145280" cy="338328"/>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바뀐 문서는 잠시 두 벌, 이번 K4 것은 유지(run_id)</a:t>
            </a:r>
            <a:endParaRPr lang="en-US" sz="1400" dirty="0"/>
          </a:p>
        </p:txBody>
      </p:sp>
      <p:sp>
        <p:nvSpPr>
          <p:cNvPr id="54" name="Shape 51"/>
          <p:cNvSpPr/>
          <p:nvPr/>
        </p:nvSpPr>
        <p:spPr>
          <a:xfrm>
            <a:off x="9714281" y="6473952"/>
            <a:ext cx="4419600" cy="795528"/>
          </a:xfrm>
          <a:prstGeom prst="roundRect">
            <a:avLst>
              <a:gd name="adj" fmla="val 9195"/>
            </a:avLst>
          </a:prstGeom>
          <a:solidFill>
            <a:srgbClr val="F5F8FC"/>
          </a:solidFill>
          <a:ln w="12700">
            <a:solidFill>
              <a:srgbClr val="D9E0EC"/>
            </a:solidFill>
            <a:prstDash val="solid"/>
          </a:ln>
        </p:spPr>
      </p:sp>
      <p:sp>
        <p:nvSpPr>
          <p:cNvPr id="55" name="Shape 52"/>
          <p:cNvSpPr/>
          <p:nvPr/>
        </p:nvSpPr>
        <p:spPr>
          <a:xfrm>
            <a:off x="9824009" y="6565392"/>
            <a:ext cx="310896" cy="310896"/>
          </a:xfrm>
          <a:prstGeom prst="roundRect">
            <a:avLst>
              <a:gd name="adj" fmla="val 14706"/>
            </a:avLst>
          </a:prstGeom>
          <a:solidFill>
            <a:srgbClr val="2E74C6"/>
          </a:solidFill>
          <a:ln/>
        </p:spPr>
      </p:sp>
      <p:sp>
        <p:nvSpPr>
          <p:cNvPr id="56" name="Text 53"/>
          <p:cNvSpPr txBox="1"/>
          <p:nvPr/>
        </p:nvSpPr>
        <p:spPr>
          <a:xfrm>
            <a:off x="9824009" y="6565392"/>
            <a:ext cx="310896" cy="310896"/>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57" name="Text 54"/>
          <p:cNvSpPr txBox="1"/>
          <p:nvPr/>
        </p:nvSpPr>
        <p:spPr>
          <a:xfrm>
            <a:off x="10217201" y="6528816"/>
            <a:ext cx="3825240" cy="384048"/>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근거가 남으면 유지</a:t>
            </a:r>
            <a:endParaRPr lang="en-US" sz="1500" dirty="0"/>
          </a:p>
        </p:txBody>
      </p:sp>
      <p:sp>
        <p:nvSpPr>
          <p:cNvPr id="58" name="Text 55"/>
          <p:cNvSpPr txBox="1"/>
          <p:nvPr/>
        </p:nvSpPr>
        <p:spPr>
          <a:xfrm>
            <a:off x="9851441" y="6894576"/>
            <a:ext cx="4145280" cy="338328"/>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겹친 조항처럼 다른 청크에 이어진 엔티티는 지우지 않음</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인덱싱</a:t>
            </a:r>
            <a:r>
              <a:rPr lang="en-US" altLang="ko-KR"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벡터</a:t>
            </a:r>
            <a:r>
              <a:rPr lang="en-US" sz="3200" b="1" dirty="0">
                <a:solidFill>
                  <a:srgbClr val="2C2926"/>
                </a:solidFill>
                <a:latin typeface="Pretendard" pitchFamily="34" charset="0"/>
                <a:ea typeface="Pretendard" pitchFamily="34" charset="-122"/>
                <a:cs typeface="Pretendard" pitchFamily="34" charset="-120"/>
              </a:rPr>
              <a:t> 색인과 키워드 색인을 한 번에 구축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검색 엔진 인덱스 하나가 벡터 검색과 키워드 검색을 모두 맡아, 청크 한 건에 담아 한 번에 넣음</a:t>
            </a:r>
            <a:endParaRPr lang="en-US" sz="1800" dirty="0"/>
          </a:p>
        </p:txBody>
      </p:sp>
      <p:sp>
        <p:nvSpPr>
          <p:cNvPr id="5" name="Shape 2"/>
          <p:cNvSpPr/>
          <p:nvPr/>
        </p:nvSpPr>
        <p:spPr>
          <a:xfrm>
            <a:off x="509321" y="2331720"/>
            <a:ext cx="1371600" cy="1188720"/>
          </a:xfrm>
          <a:prstGeom prst="roundRect">
            <a:avLst>
              <a:gd name="adj" fmla="val 6154"/>
            </a:avLst>
          </a:prstGeom>
          <a:solidFill>
            <a:srgbClr val="EEF3FA"/>
          </a:solidFill>
          <a:ln w="12700">
            <a:solidFill>
              <a:srgbClr val="D9E0EC"/>
            </a:solidFill>
            <a:prstDash val="solid"/>
          </a:ln>
        </p:spPr>
        <p:txBody>
          <a:bodyPr/>
          <a:lstStyle/>
          <a:p>
            <a:endParaRPr lang="ko-KR" altLang="en-US"/>
          </a:p>
        </p:txBody>
      </p:sp>
      <p:sp>
        <p:nvSpPr>
          <p:cNvPr id="6" name="Text 3"/>
          <p:cNvSpPr txBox="1"/>
          <p:nvPr/>
        </p:nvSpPr>
        <p:spPr>
          <a:xfrm>
            <a:off x="509321" y="2331720"/>
            <a:ext cx="1371600" cy="1188720"/>
          </a:xfrm>
          <a:prstGeom prst="rect">
            <a:avLst/>
          </a:prstGeom>
          <a:noFill/>
          <a:ln/>
        </p:spPr>
        <p:txBody>
          <a:bodyPr wrap="square" lIns="762" tIns="762" rIns="762" bIns="762"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청크</a:t>
            </a:r>
            <a:endParaRPr lang="en-US" sz="1700" dirty="0"/>
          </a:p>
          <a:p>
            <a:pPr marL="0" indent="0" algn="ctr">
              <a:spcAft>
                <a:spcPts val="200"/>
              </a:spcAft>
              <a:buNone/>
            </a:pPr>
            <a:r>
              <a:rPr lang="en-US" sz="1400" dirty="0">
                <a:solidFill>
                  <a:srgbClr val="2B3242"/>
                </a:solidFill>
                <a:latin typeface="Pretendard" pitchFamily="34" charset="0"/>
                <a:ea typeface="Pretendard" pitchFamily="34" charset="-122"/>
                <a:cs typeface="Pretendard" pitchFamily="34" charset="-120"/>
              </a:rPr>
              <a:t>색인용 본문</a:t>
            </a:r>
            <a:endParaRPr lang="en-US" sz="1700" dirty="0"/>
          </a:p>
        </p:txBody>
      </p:sp>
      <p:sp>
        <p:nvSpPr>
          <p:cNvPr id="7" name="Shape 4"/>
          <p:cNvSpPr/>
          <p:nvPr/>
        </p:nvSpPr>
        <p:spPr>
          <a:xfrm>
            <a:off x="2240280" y="1828800"/>
            <a:ext cx="2514600" cy="914400"/>
          </a:xfrm>
          <a:prstGeom prst="roundRect">
            <a:avLst>
              <a:gd name="adj" fmla="val 8000"/>
            </a:avLst>
          </a:prstGeom>
          <a:solidFill>
            <a:srgbClr val="FFFFFF"/>
          </a:solidFill>
          <a:ln w="12700">
            <a:solidFill>
              <a:srgbClr val="D9E0EC"/>
            </a:solidFill>
            <a:prstDash val="solid"/>
          </a:ln>
        </p:spPr>
        <p:txBody>
          <a:bodyPr/>
          <a:lstStyle/>
          <a:p>
            <a:endParaRPr lang="ko-KR" altLang="en-US"/>
          </a:p>
        </p:txBody>
      </p:sp>
      <p:sp>
        <p:nvSpPr>
          <p:cNvPr id="8" name="Text 5"/>
          <p:cNvSpPr txBox="1"/>
          <p:nvPr/>
        </p:nvSpPr>
        <p:spPr>
          <a:xfrm>
            <a:off x="2240280" y="1828800"/>
            <a:ext cx="2514600" cy="91440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2B3242"/>
                </a:solidFill>
                <a:latin typeface="Pretendard" pitchFamily="34" charset="0"/>
                <a:ea typeface="Pretendard" pitchFamily="34" charset="-122"/>
                <a:cs typeface="Pretendard" pitchFamily="34" charset="-120"/>
              </a:rPr>
              <a:t>① 임베딩</a:t>
            </a:r>
            <a:endParaRPr lang="en-US" sz="16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 벡터 768차원</a:t>
            </a:r>
            <a:endParaRPr lang="en-US" sz="1600" dirty="0"/>
          </a:p>
        </p:txBody>
      </p:sp>
      <p:sp>
        <p:nvSpPr>
          <p:cNvPr id="9" name="Shape 6"/>
          <p:cNvSpPr/>
          <p:nvPr/>
        </p:nvSpPr>
        <p:spPr>
          <a:xfrm>
            <a:off x="2240280" y="3108960"/>
            <a:ext cx="2514600" cy="914400"/>
          </a:xfrm>
          <a:prstGeom prst="roundRect">
            <a:avLst>
              <a:gd name="adj" fmla="val 8000"/>
            </a:avLst>
          </a:prstGeom>
          <a:solidFill>
            <a:srgbClr val="FFFFFF"/>
          </a:solidFill>
          <a:ln w="12700">
            <a:solidFill>
              <a:srgbClr val="D9E0EC"/>
            </a:solidFill>
            <a:prstDash val="solid"/>
          </a:ln>
        </p:spPr>
        <p:txBody>
          <a:bodyPr/>
          <a:lstStyle/>
          <a:p>
            <a:endParaRPr lang="ko-KR" altLang="en-US"/>
          </a:p>
        </p:txBody>
      </p:sp>
      <p:sp>
        <p:nvSpPr>
          <p:cNvPr id="10" name="Text 7"/>
          <p:cNvSpPr txBox="1"/>
          <p:nvPr/>
        </p:nvSpPr>
        <p:spPr>
          <a:xfrm>
            <a:off x="2240280" y="3108960"/>
            <a:ext cx="2514600" cy="91440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2B3242"/>
                </a:solidFill>
                <a:latin typeface="Pretendard" pitchFamily="34" charset="0"/>
                <a:ea typeface="Pretendard" pitchFamily="34" charset="-122"/>
                <a:cs typeface="Pretendard" pitchFamily="34" charset="-120"/>
              </a:rPr>
              <a:t>② 키워드 분석</a:t>
            </a:r>
            <a:endParaRPr lang="en-US" sz="16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 text_tokens 낱말</a:t>
            </a:r>
            <a:endParaRPr lang="en-US" sz="1600" dirty="0"/>
          </a:p>
        </p:txBody>
      </p:sp>
      <p:sp>
        <p:nvSpPr>
          <p:cNvPr id="11" name="Text 8"/>
          <p:cNvSpPr txBox="1"/>
          <p:nvPr/>
        </p:nvSpPr>
        <p:spPr>
          <a:xfrm>
            <a:off x="2240280" y="4050792"/>
            <a:ext cx="2514600" cy="292608"/>
          </a:xfrm>
          <a:prstGeom prst="rect">
            <a:avLst/>
          </a:prstGeom>
          <a:noFill/>
          <a:ln/>
        </p:spPr>
        <p:txBody>
          <a:bodyPr wrap="square" lIns="762" tIns="762" rIns="762" bIns="762"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파이썬에서 따로 만듦</a:t>
            </a:r>
            <a:endParaRPr lang="en-US" sz="1400" dirty="0"/>
          </a:p>
        </p:txBody>
      </p:sp>
      <p:sp>
        <p:nvSpPr>
          <p:cNvPr id="12" name="Shape 9"/>
          <p:cNvSpPr/>
          <p:nvPr/>
        </p:nvSpPr>
        <p:spPr>
          <a:xfrm flipV="1">
            <a:off x="1926641" y="2286000"/>
            <a:ext cx="267919" cy="365760"/>
          </a:xfrm>
          <a:prstGeom prst="line">
            <a:avLst/>
          </a:prstGeom>
          <a:noFill/>
          <a:ln w="19050">
            <a:solidFill>
              <a:srgbClr val="4A5364"/>
            </a:solidFill>
            <a:prstDash val="solid"/>
            <a:tailEnd type="triangle"/>
          </a:ln>
        </p:spPr>
        <p:txBody>
          <a:bodyPr/>
          <a:lstStyle/>
          <a:p>
            <a:endParaRPr lang="ko-KR" altLang="en-US"/>
          </a:p>
        </p:txBody>
      </p:sp>
      <p:sp>
        <p:nvSpPr>
          <p:cNvPr id="13" name="Shape 10"/>
          <p:cNvSpPr/>
          <p:nvPr/>
        </p:nvSpPr>
        <p:spPr>
          <a:xfrm>
            <a:off x="1926641" y="3200400"/>
            <a:ext cx="267919" cy="365760"/>
          </a:xfrm>
          <a:prstGeom prst="line">
            <a:avLst/>
          </a:prstGeom>
          <a:noFill/>
          <a:ln w="19050">
            <a:solidFill>
              <a:srgbClr val="4A5364"/>
            </a:solidFill>
            <a:prstDash val="solid"/>
            <a:tailEnd type="triangle"/>
          </a:ln>
        </p:spPr>
        <p:txBody>
          <a:bodyPr/>
          <a:lstStyle/>
          <a:p>
            <a:endParaRPr lang="ko-KR" altLang="en-US"/>
          </a:p>
        </p:txBody>
      </p:sp>
      <p:sp>
        <p:nvSpPr>
          <p:cNvPr id="14" name="Shape 11"/>
          <p:cNvSpPr/>
          <p:nvPr/>
        </p:nvSpPr>
        <p:spPr>
          <a:xfrm>
            <a:off x="5120640" y="2331720"/>
            <a:ext cx="2103120" cy="1188720"/>
          </a:xfrm>
          <a:prstGeom prst="roundRect">
            <a:avLst>
              <a:gd name="adj" fmla="val 6154"/>
            </a:avLst>
          </a:prstGeom>
          <a:solidFill>
            <a:srgbClr val="1E2A5C"/>
          </a:solidFill>
          <a:ln/>
        </p:spPr>
        <p:txBody>
          <a:bodyPr/>
          <a:lstStyle/>
          <a:p>
            <a:endParaRPr lang="ko-KR" altLang="en-US"/>
          </a:p>
        </p:txBody>
      </p:sp>
      <p:sp>
        <p:nvSpPr>
          <p:cNvPr id="15" name="Text 12"/>
          <p:cNvSpPr txBox="1"/>
          <p:nvPr/>
        </p:nvSpPr>
        <p:spPr>
          <a:xfrm>
            <a:off x="5120640" y="2331720"/>
            <a:ext cx="2103120" cy="1188720"/>
          </a:xfrm>
          <a:prstGeom prst="rect">
            <a:avLst/>
          </a:prstGeom>
          <a:noFill/>
          <a:ln/>
        </p:spPr>
        <p:txBody>
          <a:bodyPr wrap="square" lIns="762" tIns="762" rIns="762" bIns="762" rtlCol="0" anchor="ctr"/>
          <a:lstStyle/>
          <a:p>
            <a:pPr marL="0" indent="0" algn="ctr">
              <a:spcAft>
                <a:spcPts val="200"/>
              </a:spcAft>
              <a:buNone/>
            </a:pPr>
            <a:r>
              <a:rPr lang="en-US" sz="1700" b="1" dirty="0">
                <a:solidFill>
                  <a:srgbClr val="FFFFFF"/>
                </a:solidFill>
                <a:latin typeface="Pretendard" pitchFamily="34" charset="0"/>
                <a:ea typeface="Pretendard" pitchFamily="34" charset="-122"/>
                <a:cs typeface="Pretendard" pitchFamily="34" charset="-120"/>
              </a:rPr>
              <a:t>엔진 문서 한 건</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벡터 + text_tokens</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 메타데이터</a:t>
            </a:r>
            <a:endParaRPr lang="en-US" sz="1700" dirty="0"/>
          </a:p>
        </p:txBody>
      </p:sp>
      <p:sp>
        <p:nvSpPr>
          <p:cNvPr id="16" name="Shape 13"/>
          <p:cNvSpPr/>
          <p:nvPr/>
        </p:nvSpPr>
        <p:spPr>
          <a:xfrm>
            <a:off x="4800600" y="2286000"/>
            <a:ext cx="274320" cy="365760"/>
          </a:xfrm>
          <a:prstGeom prst="line">
            <a:avLst/>
          </a:prstGeom>
          <a:noFill/>
          <a:ln w="19050">
            <a:solidFill>
              <a:srgbClr val="4A5364"/>
            </a:solidFill>
            <a:prstDash val="solid"/>
            <a:tailEnd type="triangle"/>
          </a:ln>
        </p:spPr>
        <p:txBody>
          <a:bodyPr/>
          <a:lstStyle/>
          <a:p>
            <a:endParaRPr lang="ko-KR" altLang="en-US"/>
          </a:p>
        </p:txBody>
      </p:sp>
      <p:sp>
        <p:nvSpPr>
          <p:cNvPr id="17" name="Shape 14"/>
          <p:cNvSpPr/>
          <p:nvPr/>
        </p:nvSpPr>
        <p:spPr>
          <a:xfrm flipV="1">
            <a:off x="4800600" y="3200400"/>
            <a:ext cx="274320" cy="365760"/>
          </a:xfrm>
          <a:prstGeom prst="line">
            <a:avLst/>
          </a:prstGeom>
          <a:noFill/>
          <a:ln w="19050">
            <a:solidFill>
              <a:srgbClr val="4A5364"/>
            </a:solidFill>
            <a:prstDash val="solid"/>
            <a:tailEnd type="triangle"/>
          </a:ln>
        </p:spPr>
        <p:txBody>
          <a:bodyPr/>
          <a:lstStyle/>
          <a:p>
            <a:endParaRPr lang="ko-KR" altLang="en-US"/>
          </a:p>
        </p:txBody>
      </p:sp>
      <p:sp>
        <p:nvSpPr>
          <p:cNvPr id="18" name="Shape 15"/>
          <p:cNvSpPr/>
          <p:nvPr/>
        </p:nvSpPr>
        <p:spPr>
          <a:xfrm>
            <a:off x="7269480" y="2926080"/>
            <a:ext cx="1463040" cy="0"/>
          </a:xfrm>
          <a:prstGeom prst="line">
            <a:avLst/>
          </a:prstGeom>
          <a:noFill/>
          <a:ln w="31750">
            <a:solidFill>
              <a:srgbClr val="1E2A5C"/>
            </a:solidFill>
            <a:prstDash val="solid"/>
            <a:tailEnd type="triangle"/>
          </a:ln>
        </p:spPr>
        <p:txBody>
          <a:bodyPr/>
          <a:lstStyle/>
          <a:p>
            <a:endParaRPr lang="ko-KR" altLang="en-US"/>
          </a:p>
        </p:txBody>
      </p:sp>
      <p:sp>
        <p:nvSpPr>
          <p:cNvPr id="19" name="Text 16"/>
          <p:cNvSpPr txBox="1"/>
          <p:nvPr/>
        </p:nvSpPr>
        <p:spPr>
          <a:xfrm>
            <a:off x="7223760" y="2542032"/>
            <a:ext cx="1554480" cy="329184"/>
          </a:xfrm>
          <a:prstGeom prst="rect">
            <a:avLst/>
          </a:prstGeom>
          <a:noFill/>
          <a:ln/>
        </p:spPr>
        <p:txBody>
          <a:bodyPr wrap="square" lIns="762" tIns="762" rIns="762" bIns="762"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③ bulk 한 번</a:t>
            </a:r>
            <a:endParaRPr lang="en-US" sz="1500" dirty="0"/>
          </a:p>
        </p:txBody>
      </p:sp>
      <p:sp>
        <p:nvSpPr>
          <p:cNvPr id="20" name="Shape 17"/>
          <p:cNvSpPr/>
          <p:nvPr/>
        </p:nvSpPr>
        <p:spPr>
          <a:xfrm>
            <a:off x="8778240" y="1783080"/>
            <a:ext cx="5355641" cy="2560320"/>
          </a:xfrm>
          <a:prstGeom prst="roundRect">
            <a:avLst>
              <a:gd name="adj" fmla="val 2857"/>
            </a:avLst>
          </a:prstGeom>
          <a:solidFill>
            <a:srgbClr val="FFFFFF"/>
          </a:solidFill>
          <a:ln w="19050">
            <a:solidFill>
              <a:srgbClr val="2E74C6"/>
            </a:solidFill>
            <a:prstDash val="solid"/>
          </a:ln>
        </p:spPr>
        <p:txBody>
          <a:bodyPr/>
          <a:lstStyle/>
          <a:p>
            <a:endParaRPr lang="ko-KR" altLang="en-US"/>
          </a:p>
        </p:txBody>
      </p:sp>
      <p:sp>
        <p:nvSpPr>
          <p:cNvPr id="21" name="Text 18"/>
          <p:cNvSpPr txBox="1"/>
          <p:nvPr/>
        </p:nvSpPr>
        <p:spPr>
          <a:xfrm>
            <a:off x="8915400" y="1828800"/>
            <a:ext cx="5081321" cy="365760"/>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검색 엔진 인덱스 하나 (card_chunks-gen-…)</a:t>
            </a:r>
            <a:endParaRPr lang="en-US" sz="1600" dirty="0"/>
          </a:p>
        </p:txBody>
      </p:sp>
      <p:sp>
        <p:nvSpPr>
          <p:cNvPr id="22" name="Shape 19"/>
          <p:cNvSpPr/>
          <p:nvPr/>
        </p:nvSpPr>
        <p:spPr>
          <a:xfrm>
            <a:off x="8961120" y="2240280"/>
            <a:ext cx="4989881" cy="749808"/>
          </a:xfrm>
          <a:prstGeom prst="roundRect">
            <a:avLst>
              <a:gd name="adj" fmla="val 9756"/>
            </a:avLst>
          </a:prstGeom>
          <a:solidFill>
            <a:srgbClr val="EEF3FA"/>
          </a:solidFill>
          <a:ln w="12700">
            <a:solidFill>
              <a:srgbClr val="D9E0EC"/>
            </a:solidFill>
            <a:prstDash val="solid"/>
          </a:ln>
        </p:spPr>
        <p:txBody>
          <a:bodyPr/>
          <a:lstStyle/>
          <a:p>
            <a:endParaRPr lang="ko-KR" altLang="en-US"/>
          </a:p>
        </p:txBody>
      </p:sp>
      <p:sp>
        <p:nvSpPr>
          <p:cNvPr id="23" name="Text 20"/>
          <p:cNvSpPr txBox="1"/>
          <p:nvPr/>
        </p:nvSpPr>
        <p:spPr>
          <a:xfrm>
            <a:off x="8961120" y="2240280"/>
            <a:ext cx="4989881" cy="749808"/>
          </a:xfrm>
          <a:prstGeom prst="rect">
            <a:avLst/>
          </a:prstGeom>
          <a:noFill/>
          <a:ln/>
        </p:spPr>
        <p:txBody>
          <a:bodyPr wrap="square" lIns="762" tIns="762" rIns="762" bIns="762" rtlCol="0" anchor="ctr"/>
          <a:lstStyle/>
          <a:p>
            <a:pPr marL="0" indent="0" algn="ctr">
              <a:spcAft>
                <a:spcPts val="200"/>
              </a:spcAft>
              <a:buNone/>
            </a:pPr>
            <a:r>
              <a:rPr lang="en-US" sz="1600" b="1" dirty="0">
                <a:solidFill>
                  <a:srgbClr val="1E2A5C"/>
                </a:solidFill>
                <a:latin typeface="Pretendard" pitchFamily="34" charset="0"/>
                <a:ea typeface="Pretendard" pitchFamily="34" charset="-122"/>
                <a:cs typeface="Pretendard" pitchFamily="34" charset="-120"/>
              </a:rPr>
              <a:t>embedding 필드 → 벡터 색인</a:t>
            </a:r>
            <a:endParaRPr lang="en-US" sz="1600" dirty="0"/>
          </a:p>
          <a:p>
            <a:pPr marL="0" indent="0" algn="ctr">
              <a:spcAft>
                <a:spcPts val="200"/>
              </a:spcAft>
              <a:buNone/>
            </a:pPr>
            <a:r>
              <a:rPr lang="en-US" sz="1400" dirty="0">
                <a:solidFill>
                  <a:srgbClr val="1E2A5C"/>
                </a:solidFill>
                <a:latin typeface="Pretendard" pitchFamily="34" charset="0"/>
                <a:ea typeface="Pretendard" pitchFamily="34" charset="-122"/>
                <a:cs typeface="Pretendard" pitchFamily="34" charset="-120"/>
              </a:rPr>
              <a:t>HNSW 그래프, </a:t>
            </a:r>
            <a:r>
              <a:rPr lang="en-US" sz="1400" dirty="0" err="1">
                <a:solidFill>
                  <a:srgbClr val="1E2A5C"/>
                </a:solidFill>
                <a:latin typeface="Pretendard" pitchFamily="34" charset="0"/>
                <a:ea typeface="Pretendard" pitchFamily="34" charset="-122"/>
                <a:cs typeface="Pretendard" pitchFamily="34" charset="-120"/>
              </a:rPr>
              <a:t>kNN</a:t>
            </a:r>
            <a:r>
              <a:rPr lang="en-US" sz="1400" dirty="0">
                <a:solidFill>
                  <a:srgbClr val="1E2A5C"/>
                </a:solidFill>
                <a:latin typeface="Pretendard" pitchFamily="34" charset="0"/>
                <a:ea typeface="Pretendard" pitchFamily="34" charset="-122"/>
                <a:cs typeface="Pretendard" pitchFamily="34" charset="-120"/>
              </a:rPr>
              <a:t>(k-Nearest Neighbors) 검색에 씀</a:t>
            </a:r>
            <a:endParaRPr lang="en-US" sz="1600" dirty="0"/>
          </a:p>
        </p:txBody>
      </p:sp>
      <p:sp>
        <p:nvSpPr>
          <p:cNvPr id="24" name="Shape 21"/>
          <p:cNvSpPr/>
          <p:nvPr/>
        </p:nvSpPr>
        <p:spPr>
          <a:xfrm>
            <a:off x="8961120" y="3063240"/>
            <a:ext cx="4989881" cy="749808"/>
          </a:xfrm>
          <a:prstGeom prst="roundRect">
            <a:avLst>
              <a:gd name="adj" fmla="val 9756"/>
            </a:avLst>
          </a:prstGeom>
          <a:solidFill>
            <a:srgbClr val="EEF3FA"/>
          </a:solidFill>
          <a:ln w="12700">
            <a:solidFill>
              <a:srgbClr val="D9E0EC"/>
            </a:solidFill>
            <a:prstDash val="solid"/>
          </a:ln>
        </p:spPr>
        <p:txBody>
          <a:bodyPr/>
          <a:lstStyle/>
          <a:p>
            <a:endParaRPr lang="ko-KR" altLang="en-US"/>
          </a:p>
        </p:txBody>
      </p:sp>
      <p:sp>
        <p:nvSpPr>
          <p:cNvPr id="25" name="Text 22"/>
          <p:cNvSpPr txBox="1"/>
          <p:nvPr/>
        </p:nvSpPr>
        <p:spPr>
          <a:xfrm>
            <a:off x="8961120" y="3063240"/>
            <a:ext cx="4989881" cy="749808"/>
          </a:xfrm>
          <a:prstGeom prst="rect">
            <a:avLst/>
          </a:prstGeom>
          <a:noFill/>
          <a:ln/>
        </p:spPr>
        <p:txBody>
          <a:bodyPr wrap="square" lIns="762" tIns="762" rIns="762" bIns="762" rtlCol="0" anchor="ctr"/>
          <a:lstStyle/>
          <a:p>
            <a:pPr marL="0" indent="0" algn="ctr">
              <a:spcAft>
                <a:spcPts val="200"/>
              </a:spcAft>
              <a:buNone/>
            </a:pPr>
            <a:r>
              <a:rPr lang="en-US" sz="1600" b="1" dirty="0">
                <a:solidFill>
                  <a:srgbClr val="1E2A5C"/>
                </a:solidFill>
                <a:latin typeface="Pretendard" pitchFamily="34" charset="0"/>
                <a:ea typeface="Pretendard" pitchFamily="34" charset="-122"/>
                <a:cs typeface="Pretendard" pitchFamily="34" charset="-120"/>
              </a:rPr>
              <a:t>text_tokens 필드 → 키워드 역색인</a:t>
            </a:r>
            <a:endParaRPr lang="en-US" sz="1600" dirty="0"/>
          </a:p>
          <a:p>
            <a:pPr marL="0" indent="0" algn="ctr">
              <a:spcAft>
                <a:spcPts val="200"/>
              </a:spcAft>
              <a:buNone/>
            </a:pPr>
            <a:r>
              <a:rPr lang="en-US" sz="1400" dirty="0">
                <a:solidFill>
                  <a:srgbClr val="1E2A5C"/>
                </a:solidFill>
                <a:latin typeface="Pretendard" pitchFamily="34" charset="0"/>
                <a:ea typeface="Pretendard" pitchFamily="34" charset="-122"/>
                <a:cs typeface="Pretendard" pitchFamily="34" charset="-120"/>
              </a:rPr>
              <a:t>낱말 → 청크 목록, BM25 점수에 씀</a:t>
            </a:r>
            <a:endParaRPr lang="en-US" sz="1600" dirty="0"/>
          </a:p>
        </p:txBody>
      </p:sp>
      <p:sp>
        <p:nvSpPr>
          <p:cNvPr id="26" name="Shape 23"/>
          <p:cNvSpPr/>
          <p:nvPr/>
        </p:nvSpPr>
        <p:spPr>
          <a:xfrm>
            <a:off x="8961120" y="3886200"/>
            <a:ext cx="4989881" cy="365760"/>
          </a:xfrm>
          <a:prstGeom prst="roundRect">
            <a:avLst>
              <a:gd name="adj" fmla="val 20000"/>
            </a:avLst>
          </a:prstGeom>
          <a:solidFill>
            <a:srgbClr val="2E74C6"/>
          </a:solidFill>
          <a:ln/>
        </p:spPr>
        <p:txBody>
          <a:bodyPr/>
          <a:lstStyle/>
          <a:p>
            <a:endParaRPr lang="ko-KR" altLang="en-US"/>
          </a:p>
        </p:txBody>
      </p:sp>
      <p:sp>
        <p:nvSpPr>
          <p:cNvPr id="27" name="Text 24"/>
          <p:cNvSpPr txBox="1"/>
          <p:nvPr/>
        </p:nvSpPr>
        <p:spPr>
          <a:xfrm>
            <a:off x="8961120" y="3886200"/>
            <a:ext cx="4989881" cy="36576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refresh → 둘이 함께 검색 가능</a:t>
            </a:r>
            <a:endParaRPr lang="en-US" sz="1500" dirty="0"/>
          </a:p>
        </p:txBody>
      </p:sp>
      <p:graphicFrame>
        <p:nvGraphicFramePr>
          <p:cNvPr id="4" name="Table 0"/>
          <p:cNvGraphicFramePr>
            <a:graphicFrameLocks noGrp="1"/>
          </p:cNvGraphicFramePr>
          <p:nvPr/>
        </p:nvGraphicFramePr>
        <p:xfrm>
          <a:off x="509321" y="4572000"/>
          <a:ext cx="13624560"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tblGrid>
              <a:tr h="411480">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항목</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벡터DB 인덱싱</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검색 엔진</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11480">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저장소</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벡터는 Chroma, 키워드는 bm25s 파일 (두 군데)</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검색 엔진 인덱스 한 군데</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구축 순서</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벡터를 Chroma에 먼저 넣고, BM25 점수표 파일을 따로 만듦</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bulk 한 번에 둘 다</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11480">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어긋나지 않게</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둘 다 만든 뒤 활성 세대 파일 하나로 함께 게시</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같은 한 건에 들어 있어 어긋날 수 없음</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500" b="1" dirty="0">
                          <a:solidFill>
                            <a:srgbClr val="3B4557"/>
                          </a:solidFill>
                          <a:latin typeface="Pretendard" pitchFamily="34" charset="0"/>
                          <a:ea typeface="Pretendard" pitchFamily="34" charset="-122"/>
                          <a:cs typeface="Pretendard" pitchFamily="34" charset="-120"/>
                        </a:rPr>
                        <a:t>지우기</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저장소마다 따로 처리</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delete_by_query 한 번에 둘 다</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bl>
          </a:graphicData>
        </a:graphic>
      </p:graphicFrame>
      <p:sp>
        <p:nvSpPr>
          <p:cNvPr id="29" name="Shape 25"/>
          <p:cNvSpPr/>
          <p:nvPr/>
        </p:nvSpPr>
        <p:spPr>
          <a:xfrm>
            <a:off x="509321" y="6784848"/>
            <a:ext cx="64008" cy="457200"/>
          </a:xfrm>
          <a:prstGeom prst="rect">
            <a:avLst/>
          </a:prstGeom>
          <a:solidFill>
            <a:srgbClr val="2E74C6"/>
          </a:solidFill>
          <a:ln/>
        </p:spPr>
        <p:txBody>
          <a:bodyPr/>
          <a:lstStyle/>
          <a:p>
            <a:endParaRPr lang="ko-KR" altLang="en-US"/>
          </a:p>
        </p:txBody>
      </p:sp>
      <p:sp>
        <p:nvSpPr>
          <p:cNvPr id="30" name="Text 26"/>
          <p:cNvSpPr txBox="1"/>
          <p:nvPr/>
        </p:nvSpPr>
        <p:spPr>
          <a:xfrm>
            <a:off x="673913" y="6784848"/>
            <a:ext cx="13459968" cy="457200"/>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벡터DB 인덱싱은 따로 만들고 마지막에 함께 바꾸고, 검색 엔진은 처음부터 함께 넣음</a:t>
            </a:r>
            <a:endParaRPr lang="en-US" sz="1600" dirty="0"/>
          </a:p>
        </p:txBody>
      </p:sp>
      <p:sp>
        <p:nvSpPr>
          <p:cNvPr id="28"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45</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EF913-ADB8-DF8F-C2C8-1D0F3BAC70CA}"/>
            </a:ext>
          </a:extLst>
        </p:cNvPr>
        <p:cNvGrpSpPr/>
        <p:nvPr/>
      </p:nvGrpSpPr>
      <p:grpSpPr>
        <a:xfrm>
          <a:off x="0" y="0"/>
          <a:ext cx="0" cy="0"/>
          <a:chOff x="0" y="0"/>
          <a:chExt cx="0" cy="0"/>
        </a:xfrm>
      </p:grpSpPr>
      <p:sp>
        <p:nvSpPr>
          <p:cNvPr id="51" name="Slide Number Placeholder 0">
            <a:extLst>
              <a:ext uri="{FF2B5EF4-FFF2-40B4-BE49-F238E27FC236}">
                <a16:creationId xmlns:a16="http://schemas.microsoft.com/office/drawing/2014/main" id="{E82C55C8-AC75-3C04-0F43-147443A013CE}"/>
              </a:ext>
            </a:extLst>
          </p:cNvPr>
          <p:cNvSpPr>
            <a:spLocks noGrp="1"/>
          </p:cNvSpPr>
          <p:nvPr>
            <p:ph type="sldNum" idx="4"/>
          </p:nvPr>
        </p:nvSpPr>
        <p:spPr>
          <a:prstGeom prst="rect">
            <a:avLst/>
          </a:prstGeom>
          <a:extLst>
            <a:ext uri="{C572A759-6A51-4108-AA02-DFA0A04FC94B}">
              <ma14:wrappingTextBoxFlag xmlns="" xmlns:ma14="http://schemas.microsoft.com/office/mac/drawingml/2011/main" val="0"/>
            </a:ext>
          </a:extLst>
        </p:spPr>
        <p:txBody>
          <a:bodyPr/>
          <a:lstStyle>
            <a:lvl1pPr>
              <a:defRPr sz="1400">
                <a:solidFill>
                  <a:srgbClr val="1E2A5C"/>
                </a:solidFill>
                <a:latin typeface="Pretendard"/>
                <a:ea typeface="Pretendard"/>
                <a:cs typeface="Pretendard"/>
              </a:defRPr>
            </a:lvl1pPr>
          </a:lstStyle>
          <a:p>
            <a:pPr marL="0" marR="0" lvl="0" indent="0" algn="r" defTabSz="914400" rtl="0" eaLnBrk="1" fontAlgn="auto" latinLnBrk="1" hangingPunct="1">
              <a:lnSpc>
                <a:spcPct val="100000"/>
              </a:lnSpc>
              <a:spcBef>
                <a:spcPts val="0"/>
              </a:spcBef>
              <a:spcAft>
                <a:spcPts val="0"/>
              </a:spcAft>
              <a:buClrTx/>
              <a:buSzTx/>
              <a:buFontTx/>
              <a:buNone/>
              <a:tabLst/>
              <a:defRPr/>
            </a:pPr>
            <a:fld id="{F7021451-1387-4CA6-816F-3879F97B5CBC}" type="slidenum">
              <a:rPr kumimoji="0" lang="en-US" sz="1400" b="1" i="0" u="none" strike="noStrike" kern="1200" cap="none" spc="0" normalizeH="0" baseline="0" noProof="0">
                <a:ln>
                  <a:noFill/>
                </a:ln>
                <a:solidFill>
                  <a:srgbClr val="1E2A5C"/>
                </a:solidFill>
                <a:effectLst/>
                <a:uLnTx/>
                <a:uFillTx/>
                <a:latin typeface="Pretendard"/>
                <a:ea typeface="Pretendard"/>
                <a:cs typeface="Pretendard"/>
              </a:rPr>
              <a:pPr marL="0" marR="0" lvl="0" indent="0" algn="r" defTabSz="914400" rtl="0" eaLnBrk="1" fontAlgn="auto" latinLnBrk="1" hangingPunct="1">
                <a:lnSpc>
                  <a:spcPct val="100000"/>
                </a:lnSpc>
                <a:spcBef>
                  <a:spcPts val="0"/>
                </a:spcBef>
                <a:spcAft>
                  <a:spcPts val="0"/>
                </a:spcAft>
                <a:buClrTx/>
                <a:buSzTx/>
                <a:buFontTx/>
                <a:buNone/>
                <a:tabLst/>
                <a:defRPr/>
              </a:pPr>
              <a:t>46</a:t>
            </a:fld>
            <a:endParaRPr kumimoji="0" lang="en-US" sz="1400" b="0" i="0" u="none" strike="noStrike" kern="1200" cap="none" spc="0" normalizeH="0" baseline="0" noProof="0">
              <a:ln>
                <a:noFill/>
              </a:ln>
              <a:solidFill>
                <a:srgbClr val="1E2A5C"/>
              </a:solidFill>
              <a:effectLst/>
              <a:uLnTx/>
              <a:uFillTx/>
              <a:latin typeface="Pretendard"/>
              <a:ea typeface="Pretendard"/>
              <a:cs typeface="Pretendard"/>
            </a:endParaRPr>
          </a:p>
        </p:txBody>
      </p:sp>
      <p:sp>
        <p:nvSpPr>
          <p:cNvPr id="57" name="제목 53">
            <a:extLst>
              <a:ext uri="{FF2B5EF4-FFF2-40B4-BE49-F238E27FC236}">
                <a16:creationId xmlns:a16="http://schemas.microsoft.com/office/drawing/2014/main" id="{733CE570-4440-DCD4-51DC-5FAFA1CE81B5}"/>
              </a:ext>
            </a:extLst>
          </p:cNvPr>
          <p:cNvSpPr>
            <a:spLocks noGrp="1"/>
          </p:cNvSpPr>
          <p:nvPr>
            <p:ph type="title"/>
          </p:nvPr>
        </p:nvSpPr>
        <p:spPr>
          <a:xfrm>
            <a:off x="509567" y="99294"/>
            <a:ext cx="13738860" cy="1249912"/>
          </a:xfrm>
        </p:spPr>
        <p:txBody>
          <a:bodyPr wrap="square" lIns="0" tIns="180000" rIns="0" bIns="180000">
            <a:spAutoFit/>
          </a:bodyPr>
          <a:lstStyle/>
          <a:p>
            <a:pPr eaLnBrk="0"/>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인덱싱 </a:t>
            </a:r>
            <a:r>
              <a:rPr lang="en-US" altLang="ko-KR" dirty="0">
                <a:solidFill>
                  <a:srgbClr val="2C2926"/>
                </a:solidFill>
                <a:latin typeface="Pretendard" pitchFamily="34" charset="0"/>
                <a:ea typeface="Pretendard" pitchFamily="34" charset="-122"/>
                <a:cs typeface="Pretendard" pitchFamily="34" charset="-120"/>
              </a:rPr>
              <a:t>– S1. </a:t>
            </a:r>
            <a:r>
              <a:rPr lang="ko-KR" altLang="en-US" dirty="0" err="1">
                <a:solidFill>
                  <a:srgbClr val="2C2926"/>
                </a:solidFill>
                <a:latin typeface="Pretendard" pitchFamily="34" charset="0"/>
                <a:ea typeface="Pretendard" pitchFamily="34" charset="-122"/>
                <a:cs typeface="Pretendard" pitchFamily="34" charset="-120"/>
              </a:rPr>
              <a:t>임베딩</a:t>
            </a:r>
            <a:r>
              <a:rPr lang="en-US" altLang="ko-KR" dirty="0">
                <a:solidFill>
                  <a:srgbClr val="2C2926"/>
                </a:solidFill>
                <a:latin typeface="Pretendard" pitchFamily="34" charset="0"/>
                <a:ea typeface="Pretendard" pitchFamily="34" charset="-122"/>
                <a:cs typeface="Pretendard" pitchFamily="34" charset="-120"/>
              </a:rPr>
              <a:t> </a:t>
            </a:r>
            <a:br>
              <a:rPr lang="ko-KR" altLang="ko-KR" dirty="0"/>
            </a:br>
            <a:endParaRPr lang="ko-KR" altLang="ko-KR" dirty="0"/>
          </a:p>
        </p:txBody>
      </p:sp>
      <p:sp>
        <p:nvSpPr>
          <p:cNvPr id="179" name="Text 4">
            <a:extLst>
              <a:ext uri="{FF2B5EF4-FFF2-40B4-BE49-F238E27FC236}">
                <a16:creationId xmlns:a16="http://schemas.microsoft.com/office/drawing/2014/main" id="{0B5ECCD9-5320-FA3A-26B7-7EF15AF87B21}"/>
              </a:ext>
            </a:extLst>
          </p:cNvPr>
          <p:cNvSpPr/>
          <p:nvPr/>
        </p:nvSpPr>
        <p:spPr>
          <a:xfrm>
            <a:off x="502920" y="1115568"/>
            <a:ext cx="13624560" cy="369332"/>
          </a:xfrm>
          <a:prstGeom prst="rect">
            <a:avLst/>
          </a:prstGeom>
        </p:spPr>
        <p:txBody>
          <a:bodyPr wrap="square">
            <a:spAutoFit/>
          </a:bodyPr>
          <a:lstStyle/>
          <a:p>
            <a:pPr latinLnBrk="0"/>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글의</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의미를</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숫자</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벡터로</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표현하면</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표현이</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달라도</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뜻이</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비슷한</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문서를</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찾을</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수 있</a:t>
            </a:r>
            <a:r>
              <a:rPr lang="ko-KR" altLang="en-US"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음</a:t>
            </a:r>
            <a:endPar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3" name="Text 5">
            <a:extLst>
              <a:ext uri="{FF2B5EF4-FFF2-40B4-BE49-F238E27FC236}">
                <a16:creationId xmlns:a16="http://schemas.microsoft.com/office/drawing/2014/main" id="{55944005-0DE2-A8BB-8B8F-D7672927EC13}"/>
              </a:ext>
            </a:extLst>
          </p:cNvPr>
          <p:cNvSpPr/>
          <p:nvPr/>
        </p:nvSpPr>
        <p:spPr>
          <a:xfrm>
            <a:off x="502920" y="1553663"/>
            <a:ext cx="8503920" cy="347472"/>
          </a:xfrm>
          <a:prstGeom prst="rect">
            <a:avLst/>
          </a:prstGeom>
          <a:noFill/>
          <a:ln/>
        </p:spPr>
        <p:txBody>
          <a:bodyPr wrap="square" lIns="0" tIns="0" rIns="0" bIns="0" rtlCol="0" anchor="ctr"/>
          <a:lstStyle/>
          <a:p>
            <a:pPr marL="0" indent="0">
              <a:buNone/>
            </a:pPr>
            <a:r>
              <a:rPr lang="en-US" sz="2300" b="1" dirty="0" err="1">
                <a:solidFill>
                  <a:srgbClr val="1E2A5C"/>
                </a:solidFill>
                <a:latin typeface="Pretendard" panose="02000503000000020004" pitchFamily="50" charset="-127"/>
                <a:ea typeface="Pretendard" panose="02000503000000020004" pitchFamily="50" charset="-127"/>
                <a:cs typeface="Pretendard" panose="02000503000000020004" pitchFamily="50" charset="-127"/>
              </a:rPr>
              <a:t>본문만</a:t>
            </a:r>
            <a:r>
              <a:rPr lang="en-US" sz="23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 임베딩</a:t>
            </a:r>
            <a:endParaRPr lang="en-US" sz="2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6">
            <a:extLst>
              <a:ext uri="{FF2B5EF4-FFF2-40B4-BE49-F238E27FC236}">
                <a16:creationId xmlns:a16="http://schemas.microsoft.com/office/drawing/2014/main" id="{FE12F008-15DB-7E26-B6D3-1FC959EE5D7B}"/>
              </a:ext>
            </a:extLst>
          </p:cNvPr>
          <p:cNvSpPr/>
          <p:nvPr/>
        </p:nvSpPr>
        <p:spPr>
          <a:xfrm>
            <a:off x="9738360" y="1553663"/>
            <a:ext cx="4389120" cy="347472"/>
          </a:xfrm>
          <a:prstGeom prst="rect">
            <a:avLst/>
          </a:prstGeom>
          <a:noFill/>
          <a:ln/>
        </p:spPr>
        <p:txBody>
          <a:bodyPr wrap="square" lIns="0" tIns="0" rIns="0" bIns="0" rtlCol="0" anchor="ctr"/>
          <a:lstStyle/>
          <a:p>
            <a:pPr marL="0" indent="0">
              <a:buNone/>
            </a:pPr>
            <a:r>
              <a:rPr lang="en-US" sz="23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비슷한 뜻은 가까운 위치에</a:t>
            </a:r>
            <a:endParaRPr lang="en-US" sz="2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Shape 7">
            <a:extLst>
              <a:ext uri="{FF2B5EF4-FFF2-40B4-BE49-F238E27FC236}">
                <a16:creationId xmlns:a16="http://schemas.microsoft.com/office/drawing/2014/main" id="{CA5CEE46-1909-D6E9-E1C9-F0BDF2DE5E12}"/>
              </a:ext>
            </a:extLst>
          </p:cNvPr>
          <p:cNvSpPr/>
          <p:nvPr/>
        </p:nvSpPr>
        <p:spPr>
          <a:xfrm>
            <a:off x="502920" y="2148023"/>
            <a:ext cx="2862072" cy="1033272"/>
          </a:xfrm>
          <a:prstGeom prst="rect">
            <a:avLst/>
          </a:prstGeom>
          <a:solidFill>
            <a:srgbClr val="EEF3FA"/>
          </a:solidFill>
          <a:ln w="12700">
            <a:solidFill>
              <a:srgbClr val="D9E0E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8">
            <a:extLst>
              <a:ext uri="{FF2B5EF4-FFF2-40B4-BE49-F238E27FC236}">
                <a16:creationId xmlns:a16="http://schemas.microsoft.com/office/drawing/2014/main" id="{D3C08BB9-5242-F099-AA07-F07A35FEB504}"/>
              </a:ext>
            </a:extLst>
          </p:cNvPr>
          <p:cNvSpPr/>
          <p:nvPr/>
        </p:nvSpPr>
        <p:spPr>
          <a:xfrm>
            <a:off x="676656" y="2266895"/>
            <a:ext cx="2514600" cy="265176"/>
          </a:xfrm>
          <a:prstGeom prst="rect">
            <a:avLst/>
          </a:prstGeom>
          <a:noFill/>
          <a:ln/>
        </p:spPr>
        <p:txBody>
          <a:bodyPr wrap="square" lIns="0" tIns="0" rIns="0" bIns="0" rtlCol="0" anchor="ctr"/>
          <a:lstStyle/>
          <a:p>
            <a:pPr marL="0" indent="0">
              <a:buNone/>
            </a:pPr>
            <a:r>
              <a:rPr lang="en-US" sz="1800" b="1" dirty="0">
                <a:solidFill>
                  <a:srgbClr val="2E74C6"/>
                </a:solidFill>
                <a:latin typeface="Pretendard" panose="02000503000000020004" pitchFamily="50" charset="-127"/>
                <a:ea typeface="Pretendard" panose="02000503000000020004" pitchFamily="50" charset="-127"/>
                <a:cs typeface="Pretendard" panose="02000503000000020004" pitchFamily="50" charset="-127"/>
              </a:rPr>
              <a:t>청크의 본문 (text)</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9">
            <a:extLst>
              <a:ext uri="{FF2B5EF4-FFF2-40B4-BE49-F238E27FC236}">
                <a16:creationId xmlns:a16="http://schemas.microsoft.com/office/drawing/2014/main" id="{54312BCC-1EBD-A575-33AD-3F2C3504CA2A}"/>
              </a:ext>
            </a:extLst>
          </p:cNvPr>
          <p:cNvSpPr/>
          <p:nvPr/>
        </p:nvSpPr>
        <p:spPr>
          <a:xfrm>
            <a:off x="676656" y="2705807"/>
            <a:ext cx="2514600" cy="283464"/>
          </a:xfrm>
          <a:prstGeom prst="rect">
            <a:avLst/>
          </a:prstGeom>
          <a:noFill/>
          <a:ln/>
        </p:spPr>
        <p:txBody>
          <a:bodyPr wrap="square" lIns="0" tIns="0" rIns="0" bIns="0" rtlCol="0" anchor="ctr"/>
          <a:lstStyle/>
          <a:p>
            <a:pPr marL="0" indent="0">
              <a:buNone/>
            </a:pPr>
            <a:r>
              <a:rPr lang="en-US" sz="1800" dirty="0">
                <a:solidFill>
                  <a:srgbClr val="2B3242"/>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800" dirty="0">
                <a:solidFill>
                  <a:srgbClr val="2B3242"/>
                </a:solidFill>
                <a:latin typeface="Pretendard" panose="02000503000000020004" pitchFamily="50" charset="-127"/>
                <a:ea typeface="Pretendard" panose="02000503000000020004" pitchFamily="50" charset="-127"/>
                <a:cs typeface="Pretendard" panose="02000503000000020004" pitchFamily="50" charset="-127"/>
              </a:rPr>
              <a:t>연회비 기준은 </a:t>
            </a:r>
            <a:r>
              <a:rPr lang="en-US" altLang="ko-KR" sz="1800" dirty="0">
                <a:solidFill>
                  <a:srgbClr val="2B3242"/>
                </a:solidFill>
                <a:latin typeface="Pretendard" panose="02000503000000020004" pitchFamily="50" charset="-127"/>
                <a:ea typeface="Pretendard" panose="02000503000000020004" pitchFamily="50" charset="-127"/>
                <a:cs typeface="Pretendard" panose="02000503000000020004" pitchFamily="50" charset="-127"/>
              </a:rPr>
              <a:t>…</a:t>
            </a:r>
            <a:r>
              <a:rPr lang="en-US" sz="1800" dirty="0">
                <a:solidFill>
                  <a:srgbClr val="2B3242"/>
                </a:solidFill>
                <a:latin typeface="Pretendard" panose="02000503000000020004" pitchFamily="50" charset="-127"/>
                <a:ea typeface="Pretendard" panose="02000503000000020004" pitchFamily="50" charset="-127"/>
                <a:cs typeface="Pretendard" panose="02000503000000020004" pitchFamily="50" charset="-127"/>
              </a:rPr>
              <a:t>”</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Shape 10">
            <a:extLst>
              <a:ext uri="{FF2B5EF4-FFF2-40B4-BE49-F238E27FC236}">
                <a16:creationId xmlns:a16="http://schemas.microsoft.com/office/drawing/2014/main" id="{F1C36FF5-1483-1D35-9E94-8E4F5B9105ED}"/>
              </a:ext>
            </a:extLst>
          </p:cNvPr>
          <p:cNvSpPr/>
          <p:nvPr/>
        </p:nvSpPr>
        <p:spPr>
          <a:xfrm>
            <a:off x="502920" y="3382463"/>
            <a:ext cx="2862072" cy="850392"/>
          </a:xfrm>
          <a:prstGeom prst="rect">
            <a:avLst/>
          </a:prstGeom>
          <a:solidFill>
            <a:srgbClr val="F5F8FC"/>
          </a:solidFill>
          <a:ln w="12700">
            <a:solidFill>
              <a:srgbClr val="D9E0E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1">
            <a:extLst>
              <a:ext uri="{FF2B5EF4-FFF2-40B4-BE49-F238E27FC236}">
                <a16:creationId xmlns:a16="http://schemas.microsoft.com/office/drawing/2014/main" id="{A9825600-D239-8E48-DE69-03B6DB8DE7F1}"/>
              </a:ext>
            </a:extLst>
          </p:cNvPr>
          <p:cNvSpPr/>
          <p:nvPr/>
        </p:nvSpPr>
        <p:spPr>
          <a:xfrm>
            <a:off x="676656" y="3483047"/>
            <a:ext cx="2514600" cy="265176"/>
          </a:xfrm>
          <a:prstGeom prst="rect">
            <a:avLst/>
          </a:prstGeom>
          <a:noFill/>
          <a:ln/>
        </p:spPr>
        <p:txBody>
          <a:bodyPr wrap="square" lIns="0" tIns="0" rIns="0" bIns="0" rtlCol="0" anchor="ctr"/>
          <a:lstStyle/>
          <a:p>
            <a:pPr marL="0" indent="0">
              <a:buNone/>
            </a:pPr>
            <a:r>
              <a:rPr lang="en-US" sz="1800" b="1"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메타데이터</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 12">
            <a:extLst>
              <a:ext uri="{FF2B5EF4-FFF2-40B4-BE49-F238E27FC236}">
                <a16:creationId xmlns:a16="http://schemas.microsoft.com/office/drawing/2014/main" id="{D41A5C9D-4BBE-9BC3-82F3-52891E6BC5F2}"/>
              </a:ext>
            </a:extLst>
          </p:cNvPr>
          <p:cNvSpPr/>
          <p:nvPr/>
        </p:nvSpPr>
        <p:spPr>
          <a:xfrm>
            <a:off x="676656" y="3876239"/>
            <a:ext cx="2514600" cy="219456"/>
          </a:xfrm>
          <a:prstGeom prst="rect">
            <a:avLst/>
          </a:prstGeom>
          <a:noFill/>
          <a:ln/>
        </p:spPr>
        <p:txBody>
          <a:bodyPr wrap="square" lIns="0" tIns="0" rIns="0" bIns="0" rtlCol="0" anchor="ctr"/>
          <a:lstStyle/>
          <a:p>
            <a:pPr marL="0" indent="0">
              <a:buNone/>
            </a:pPr>
            <a:r>
              <a:rPr lang="en-US" sz="15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출처 · 페이지 · 접근 등급</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Shape 13">
            <a:extLst>
              <a:ext uri="{FF2B5EF4-FFF2-40B4-BE49-F238E27FC236}">
                <a16:creationId xmlns:a16="http://schemas.microsoft.com/office/drawing/2014/main" id="{D660A91B-3C2C-1C37-297B-68F416A262F5}"/>
              </a:ext>
            </a:extLst>
          </p:cNvPr>
          <p:cNvSpPr/>
          <p:nvPr/>
        </p:nvSpPr>
        <p:spPr>
          <a:xfrm>
            <a:off x="3456432" y="2660087"/>
            <a:ext cx="502920" cy="0"/>
          </a:xfrm>
          <a:prstGeom prst="line">
            <a:avLst/>
          </a:prstGeom>
          <a:noFill/>
          <a:ln w="25400">
            <a:solidFill>
              <a:srgbClr val="2E74C6"/>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Shape 14">
            <a:extLst>
              <a:ext uri="{FF2B5EF4-FFF2-40B4-BE49-F238E27FC236}">
                <a16:creationId xmlns:a16="http://schemas.microsoft.com/office/drawing/2014/main" id="{73038977-DAE9-EF20-CC8B-17500ABF3E5A}"/>
              </a:ext>
            </a:extLst>
          </p:cNvPr>
          <p:cNvSpPr/>
          <p:nvPr/>
        </p:nvSpPr>
        <p:spPr>
          <a:xfrm>
            <a:off x="4050792" y="2202887"/>
            <a:ext cx="1984248" cy="941832"/>
          </a:xfrm>
          <a:prstGeom prst="rect">
            <a:avLst/>
          </a:prstGeom>
          <a:solidFill>
            <a:srgbClr val="1E2A5C"/>
          </a:solidFill>
          <a:ln w="12700">
            <a:solidFill>
              <a:srgbClr val="1E2A5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15">
            <a:extLst>
              <a:ext uri="{FF2B5EF4-FFF2-40B4-BE49-F238E27FC236}">
                <a16:creationId xmlns:a16="http://schemas.microsoft.com/office/drawing/2014/main" id="{1393D3DA-0FF4-550B-F440-A07EA2F5F2F1}"/>
              </a:ext>
            </a:extLst>
          </p:cNvPr>
          <p:cNvSpPr/>
          <p:nvPr/>
        </p:nvSpPr>
        <p:spPr>
          <a:xfrm>
            <a:off x="4142232" y="2358335"/>
            <a:ext cx="1801368"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KURE-v2</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 16">
            <a:extLst>
              <a:ext uri="{FF2B5EF4-FFF2-40B4-BE49-F238E27FC236}">
                <a16:creationId xmlns:a16="http://schemas.microsoft.com/office/drawing/2014/main" id="{6C1A81C3-BB45-017A-B2B0-F3DF1CB08CA2}"/>
              </a:ext>
            </a:extLst>
          </p:cNvPr>
          <p:cNvSpPr/>
          <p:nvPr/>
        </p:nvSpPr>
        <p:spPr>
          <a:xfrm>
            <a:off x="4142232" y="2797247"/>
            <a:ext cx="1801368" cy="219456"/>
          </a:xfrm>
          <a:prstGeom prst="rect">
            <a:avLst/>
          </a:prstGeom>
          <a:noFill/>
          <a:ln/>
        </p:spPr>
        <p:txBody>
          <a:bodyPr wrap="square" lIns="0" tIns="0" rIns="0" bIns="0" rtlCol="0" anchor="ctr"/>
          <a:lstStyle/>
          <a:p>
            <a:pPr marL="0" indent="0" algn="ctr">
              <a:buNone/>
            </a:pPr>
            <a:r>
              <a:rPr lang="en-US" sz="16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임베딩 모델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Shape 17">
            <a:extLst>
              <a:ext uri="{FF2B5EF4-FFF2-40B4-BE49-F238E27FC236}">
                <a16:creationId xmlns:a16="http://schemas.microsoft.com/office/drawing/2014/main" id="{EE673851-5634-9F98-D7E9-0CF7DA604BCB}"/>
              </a:ext>
            </a:extLst>
          </p:cNvPr>
          <p:cNvSpPr/>
          <p:nvPr/>
        </p:nvSpPr>
        <p:spPr>
          <a:xfrm>
            <a:off x="6126480" y="2660087"/>
            <a:ext cx="484632" cy="0"/>
          </a:xfrm>
          <a:prstGeom prst="line">
            <a:avLst/>
          </a:prstGeom>
          <a:noFill/>
          <a:ln w="25400">
            <a:solidFill>
              <a:srgbClr val="2E74C6"/>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18">
            <a:extLst>
              <a:ext uri="{FF2B5EF4-FFF2-40B4-BE49-F238E27FC236}">
                <a16:creationId xmlns:a16="http://schemas.microsoft.com/office/drawing/2014/main" id="{F53FDA56-F823-98FF-8B16-C2F8C1F194FE}"/>
              </a:ext>
            </a:extLst>
          </p:cNvPr>
          <p:cNvSpPr/>
          <p:nvPr/>
        </p:nvSpPr>
        <p:spPr>
          <a:xfrm>
            <a:off x="6702552" y="2202887"/>
            <a:ext cx="2532888" cy="941832"/>
          </a:xfrm>
          <a:prstGeom prst="rect">
            <a:avLst/>
          </a:prstGeom>
          <a:solidFill>
            <a:srgbClr val="EEF3FA"/>
          </a:solidFill>
          <a:ln w="12700">
            <a:solidFill>
              <a:srgbClr val="2E74C6"/>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19">
            <a:extLst>
              <a:ext uri="{FF2B5EF4-FFF2-40B4-BE49-F238E27FC236}">
                <a16:creationId xmlns:a16="http://schemas.microsoft.com/office/drawing/2014/main" id="{73EAE62E-6E99-7813-0DBE-04F67F2BF6CD}"/>
              </a:ext>
            </a:extLst>
          </p:cNvPr>
          <p:cNvSpPr/>
          <p:nvPr/>
        </p:nvSpPr>
        <p:spPr>
          <a:xfrm>
            <a:off x="6848856" y="2367479"/>
            <a:ext cx="2240280" cy="265176"/>
          </a:xfrm>
          <a:prstGeom prst="rect">
            <a:avLst/>
          </a:prstGeom>
          <a:noFill/>
          <a:ln/>
        </p:spPr>
        <p:txBody>
          <a:bodyPr wrap="square" lIns="0" tIns="0" rIns="0" bIns="0" rtlCol="0" anchor="ctr"/>
          <a:lstStyle/>
          <a:p>
            <a:pPr marL="0" indent="0" algn="ctr">
              <a:buNone/>
            </a:pPr>
            <a:r>
              <a:rPr lang="en-US" sz="21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[0.12, −0.07, …]</a:t>
            </a:r>
            <a:endParaRPr lang="en-US" sz="2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20">
            <a:extLst>
              <a:ext uri="{FF2B5EF4-FFF2-40B4-BE49-F238E27FC236}">
                <a16:creationId xmlns:a16="http://schemas.microsoft.com/office/drawing/2014/main" id="{57A484C7-1861-C2AA-9C2F-3BFB03A7750D}"/>
              </a:ext>
            </a:extLst>
          </p:cNvPr>
          <p:cNvSpPr/>
          <p:nvPr/>
        </p:nvSpPr>
        <p:spPr>
          <a:xfrm>
            <a:off x="6793992" y="2806391"/>
            <a:ext cx="2350008" cy="219456"/>
          </a:xfrm>
          <a:prstGeom prst="rect">
            <a:avLst/>
          </a:prstGeom>
          <a:noFill/>
          <a:ln/>
        </p:spPr>
        <p:txBody>
          <a:bodyPr wrap="square" lIns="0" tIns="0" rIns="0" bIns="0" rtlCol="0" anchor="ctr"/>
          <a:lstStyle/>
          <a:p>
            <a:pPr marL="0" indent="0" algn="ctr">
              <a:buNone/>
            </a:pPr>
            <a:r>
              <a:rPr lang="en-US" sz="15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숫자 768개인 단일 벡터</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Shape 21">
            <a:extLst>
              <a:ext uri="{FF2B5EF4-FFF2-40B4-BE49-F238E27FC236}">
                <a16:creationId xmlns:a16="http://schemas.microsoft.com/office/drawing/2014/main" id="{5C5DE4CB-3114-0D9A-65B7-32353499071F}"/>
              </a:ext>
            </a:extLst>
          </p:cNvPr>
          <p:cNvSpPr/>
          <p:nvPr/>
        </p:nvSpPr>
        <p:spPr>
          <a:xfrm>
            <a:off x="7968996" y="3163007"/>
            <a:ext cx="0" cy="210312"/>
          </a:xfrm>
          <a:prstGeom prst="line">
            <a:avLst/>
          </a:prstGeom>
          <a:noFill/>
          <a:ln w="25400">
            <a:solidFill>
              <a:srgbClr val="2E74C6"/>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22">
            <a:extLst>
              <a:ext uri="{FF2B5EF4-FFF2-40B4-BE49-F238E27FC236}">
                <a16:creationId xmlns:a16="http://schemas.microsoft.com/office/drawing/2014/main" id="{723FB13A-2687-D90D-B165-A43AD7E1E43D}"/>
              </a:ext>
            </a:extLst>
          </p:cNvPr>
          <p:cNvSpPr/>
          <p:nvPr/>
        </p:nvSpPr>
        <p:spPr>
          <a:xfrm>
            <a:off x="6702552" y="3473903"/>
            <a:ext cx="2532888" cy="758952"/>
          </a:xfrm>
          <a:prstGeom prst="rect">
            <a:avLst/>
          </a:prstGeom>
          <a:solidFill>
            <a:srgbClr val="FFFFFF"/>
          </a:solidFill>
          <a:ln w="12700">
            <a:solidFill>
              <a:srgbClr val="1E2A5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23">
            <a:extLst>
              <a:ext uri="{FF2B5EF4-FFF2-40B4-BE49-F238E27FC236}">
                <a16:creationId xmlns:a16="http://schemas.microsoft.com/office/drawing/2014/main" id="{A05142AC-9B96-A6D5-BDFD-D9B446DC0886}"/>
              </a:ext>
            </a:extLst>
          </p:cNvPr>
          <p:cNvSpPr/>
          <p:nvPr/>
        </p:nvSpPr>
        <p:spPr>
          <a:xfrm>
            <a:off x="6839712" y="3565343"/>
            <a:ext cx="2258568" cy="246888"/>
          </a:xfrm>
          <a:prstGeom prst="rect">
            <a:avLst/>
          </a:prstGeom>
          <a:noFill/>
          <a:ln/>
        </p:spPr>
        <p:txBody>
          <a:bodyPr wrap="square" lIns="0" tIns="0" rIns="0" bIns="0" rtlCol="0" anchor="ctr"/>
          <a:lstStyle/>
          <a:p>
            <a:pPr marL="0" indent="0" algn="ctr">
              <a:buNone/>
            </a:pPr>
            <a:r>
              <a:rPr lang="ko-KR" altLang="en-US"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벡터</a:t>
            </a:r>
            <a:r>
              <a:rPr lang="en-US" altLang="ko-KR" b="1" dirty="0" err="1">
                <a:solidFill>
                  <a:srgbClr val="1E2A5C"/>
                </a:solidFill>
                <a:latin typeface="Pretendard" panose="02000503000000020004" pitchFamily="50" charset="-127"/>
                <a:ea typeface="Pretendard" panose="02000503000000020004" pitchFamily="50" charset="-127"/>
                <a:cs typeface="Pretendard" panose="02000503000000020004" pitchFamily="50" charset="-127"/>
              </a:rPr>
              <a:t>DB</a:t>
            </a:r>
            <a:r>
              <a:rPr lang="en-US" sz="1800" b="1" dirty="0" err="1">
                <a:solidFill>
                  <a:srgbClr val="1E2A5C"/>
                </a:solidFill>
                <a:latin typeface="Pretendard" panose="02000503000000020004" pitchFamily="50" charset="-127"/>
                <a:ea typeface="Pretendard" panose="02000503000000020004" pitchFamily="50" charset="-127"/>
                <a:cs typeface="Pretendard" panose="02000503000000020004" pitchFamily="50" charset="-127"/>
              </a:rPr>
              <a:t>에</a:t>
            </a:r>
            <a:r>
              <a:rPr lang="en-US" sz="18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 함께 저장</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24">
            <a:extLst>
              <a:ext uri="{FF2B5EF4-FFF2-40B4-BE49-F238E27FC236}">
                <a16:creationId xmlns:a16="http://schemas.microsoft.com/office/drawing/2014/main" id="{18E8BC84-B8FF-22D1-9CAC-FB8BC5204D98}"/>
              </a:ext>
            </a:extLst>
          </p:cNvPr>
          <p:cNvSpPr/>
          <p:nvPr/>
        </p:nvSpPr>
        <p:spPr>
          <a:xfrm>
            <a:off x="6793992" y="3931103"/>
            <a:ext cx="2350008" cy="192024"/>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본문 + 벡터 + 메타데이터</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Text 25">
            <a:extLst>
              <a:ext uri="{FF2B5EF4-FFF2-40B4-BE49-F238E27FC236}">
                <a16:creationId xmlns:a16="http://schemas.microsoft.com/office/drawing/2014/main" id="{E9824318-2AE5-5D98-01B8-E3CBFBC1FED1}"/>
              </a:ext>
            </a:extLst>
          </p:cNvPr>
          <p:cNvSpPr/>
          <p:nvPr/>
        </p:nvSpPr>
        <p:spPr>
          <a:xfrm>
            <a:off x="3657600" y="3400751"/>
            <a:ext cx="2807208" cy="219456"/>
          </a:xfrm>
          <a:prstGeom prst="rect">
            <a:avLst/>
          </a:prstGeom>
          <a:noFill/>
          <a:ln/>
        </p:spPr>
        <p:txBody>
          <a:bodyPr wrap="square" lIns="0" tIns="0" rIns="0" bIns="0" rtlCol="0" anchor="ctr"/>
          <a:lstStyle/>
          <a:p>
            <a:pPr marL="0" indent="0" algn="ctr">
              <a:buNone/>
            </a:pPr>
            <a:r>
              <a:rPr lang="en-US" sz="15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모델을 거치지 않고</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Shape 26">
            <a:extLst>
              <a:ext uri="{FF2B5EF4-FFF2-40B4-BE49-F238E27FC236}">
                <a16:creationId xmlns:a16="http://schemas.microsoft.com/office/drawing/2014/main" id="{43D2B430-B49D-4361-2EC8-7BCE1CF94858}"/>
              </a:ext>
            </a:extLst>
          </p:cNvPr>
          <p:cNvSpPr/>
          <p:nvPr/>
        </p:nvSpPr>
        <p:spPr>
          <a:xfrm>
            <a:off x="3456432" y="3812231"/>
            <a:ext cx="3145536" cy="0"/>
          </a:xfrm>
          <a:prstGeom prst="line">
            <a:avLst/>
          </a:prstGeom>
          <a:noFill/>
          <a:ln w="20320">
            <a:solidFill>
              <a:srgbClr val="4A5364"/>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27">
            <a:extLst>
              <a:ext uri="{FF2B5EF4-FFF2-40B4-BE49-F238E27FC236}">
                <a16:creationId xmlns:a16="http://schemas.microsoft.com/office/drawing/2014/main" id="{F602061B-582C-EC29-D89A-1269E0E2BD78}"/>
              </a:ext>
            </a:extLst>
          </p:cNvPr>
          <p:cNvSpPr/>
          <p:nvPr/>
        </p:nvSpPr>
        <p:spPr>
          <a:xfrm>
            <a:off x="3611880" y="3985967"/>
            <a:ext cx="2898648" cy="210312"/>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검색 필터와 출처 표시에 사용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9" name="Text 36">
            <a:extLst>
              <a:ext uri="{FF2B5EF4-FFF2-40B4-BE49-F238E27FC236}">
                <a16:creationId xmlns:a16="http://schemas.microsoft.com/office/drawing/2014/main" id="{346DA103-8DFE-8882-692E-9875EC58F558}"/>
              </a:ext>
            </a:extLst>
          </p:cNvPr>
          <p:cNvSpPr/>
          <p:nvPr/>
        </p:nvSpPr>
        <p:spPr>
          <a:xfrm>
            <a:off x="502920" y="4397447"/>
            <a:ext cx="13624560" cy="237744"/>
          </a:xfrm>
          <a:prstGeom prst="rect">
            <a:avLst/>
          </a:prstGeom>
          <a:noFill/>
          <a:ln/>
        </p:spPr>
        <p:txBody>
          <a:bodyPr wrap="square" lIns="0" tIns="0" rIns="0" bIns="0" rtlCol="0" anchor="ctr"/>
          <a:lstStyle/>
          <a:p>
            <a:pPr marL="0" indent="0">
              <a:buNone/>
            </a:pPr>
            <a:r>
              <a:rPr lang="en-US" sz="1400" dirty="0">
                <a:solidFill>
                  <a:srgbClr val="7C8598"/>
                </a:solidFill>
                <a:latin typeface="Pretendard" panose="02000503000000020004" pitchFamily="50" charset="-127"/>
                <a:ea typeface="Pretendard" panose="02000503000000020004" pitchFamily="50" charset="-127"/>
                <a:cs typeface="Pretendard" panose="02000503000000020004" pitchFamily="50" charset="-127"/>
              </a:rPr>
              <a:t>숫자·위치는 설명용 예시입니다. 실제 유사도를 측정한 그림은 아닙니다.</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Text 37">
            <a:extLst>
              <a:ext uri="{FF2B5EF4-FFF2-40B4-BE49-F238E27FC236}">
                <a16:creationId xmlns:a16="http://schemas.microsoft.com/office/drawing/2014/main" id="{7CA30AAD-4287-5934-F8F6-FAF820904777}"/>
              </a:ext>
            </a:extLst>
          </p:cNvPr>
          <p:cNvSpPr/>
          <p:nvPr/>
        </p:nvSpPr>
        <p:spPr>
          <a:xfrm>
            <a:off x="502920" y="4872935"/>
            <a:ext cx="8229600" cy="329184"/>
          </a:xfrm>
          <a:prstGeom prst="rect">
            <a:avLst/>
          </a:prstGeom>
          <a:noFill/>
          <a:ln/>
        </p:spPr>
        <p:txBody>
          <a:bodyPr wrap="square" lIns="0" tIns="0" rIns="0" bIns="0" rtlCol="0" anchor="ctr"/>
          <a:lstStyle/>
          <a:p>
            <a:pPr marL="0" indent="0">
              <a:buNone/>
            </a:pPr>
            <a:r>
              <a:rPr lang="en-US" sz="24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Local과 Cloud의 대표 모델</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 38">
            <a:extLst>
              <a:ext uri="{FF2B5EF4-FFF2-40B4-BE49-F238E27FC236}">
                <a16:creationId xmlns:a16="http://schemas.microsoft.com/office/drawing/2014/main" id="{D8A914BF-0AFB-0F85-836F-BCB93B2E1A67}"/>
              </a:ext>
            </a:extLst>
          </p:cNvPr>
          <p:cNvSpPr/>
          <p:nvPr/>
        </p:nvSpPr>
        <p:spPr>
          <a:xfrm>
            <a:off x="8869680" y="4927799"/>
            <a:ext cx="5257800" cy="228600"/>
          </a:xfrm>
          <a:prstGeom prst="rect">
            <a:avLst/>
          </a:prstGeom>
          <a:noFill/>
          <a:ln/>
        </p:spPr>
        <p:txBody>
          <a:bodyPr wrap="square" lIns="0" tIns="0" rIns="0" bIns="0" rtlCol="0" anchor="ctr"/>
          <a:lstStyle/>
          <a:p>
            <a:pPr marL="0" indent="0" algn="r">
              <a:buNone/>
            </a:pPr>
            <a:r>
              <a:rPr lang="en-US" sz="1400" dirty="0">
                <a:solidFill>
                  <a:srgbClr val="7C8598"/>
                </a:solidFill>
                <a:latin typeface="Pretendard" panose="02000503000000020004" pitchFamily="50" charset="-127"/>
                <a:ea typeface="Pretendard" panose="02000503000000020004" pitchFamily="50" charset="-127"/>
                <a:cs typeface="Pretendard" panose="02000503000000020004" pitchFamily="50" charset="-127"/>
              </a:rPr>
              <a:t>대표 예시이며 사용량 순위는 아닙니다</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graphicFrame>
        <p:nvGraphicFramePr>
          <p:cNvPr id="56" name="Table 0">
            <a:extLst>
              <a:ext uri="{FF2B5EF4-FFF2-40B4-BE49-F238E27FC236}">
                <a16:creationId xmlns:a16="http://schemas.microsoft.com/office/drawing/2014/main" id="{A9F7AF9D-8929-15BE-B18C-A40915E89917}"/>
              </a:ext>
            </a:extLst>
          </p:cNvPr>
          <p:cNvGraphicFramePr>
            <a:graphicFrameLocks noGrp="1"/>
          </p:cNvGraphicFramePr>
          <p:nvPr/>
        </p:nvGraphicFramePr>
        <p:xfrm>
          <a:off x="502920" y="5339279"/>
          <a:ext cx="13624560" cy="1658112"/>
        </p:xfrm>
        <a:graphic>
          <a:graphicData uri="http://schemas.openxmlformats.org/drawingml/2006/table">
            <a:tbl>
              <a:tblPr/>
              <a:tblGrid>
                <a:gridCol w="173736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6172200">
                  <a:extLst>
                    <a:ext uri="{9D8B030D-6E8A-4147-A177-3AD203B41FA5}">
                      <a16:colId xmlns:a16="http://schemas.microsoft.com/office/drawing/2014/main" val="20002"/>
                    </a:ext>
                  </a:extLst>
                </a:gridCol>
              </a:tblGrid>
              <a:tr h="231635">
                <a:tc>
                  <a:txBody>
                    <a:bodyPr/>
                    <a:lstStyle/>
                    <a:p>
                      <a:pPr marL="0" indent="0">
                        <a:buNone/>
                      </a:pPr>
                      <a:r>
                        <a:rPr lang="en-US" sz="1600" b="1" dirty="0">
                          <a:solidFill>
                            <a:srgbClr val="1E2A5C"/>
                          </a:solidFill>
                          <a:latin typeface="Pretendard" pitchFamily="34" charset="0"/>
                          <a:ea typeface="Pretendard" pitchFamily="34" charset="-122"/>
                          <a:cs typeface="Pretendard" pitchFamily="34" charset="-120"/>
                        </a:rPr>
                        <a:t>실행 방식</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marL="0" indent="0">
                        <a:buNone/>
                      </a:pPr>
                      <a:r>
                        <a:rPr lang="en-US" sz="1600" b="1" dirty="0">
                          <a:solidFill>
                            <a:srgbClr val="1E2A5C"/>
                          </a:solidFill>
                          <a:latin typeface="Pretendard" pitchFamily="34" charset="0"/>
                          <a:ea typeface="Pretendard" pitchFamily="34" charset="-122"/>
                          <a:cs typeface="Pretendard" pitchFamily="34" charset="-120"/>
                        </a:rPr>
                        <a:t>대표 모델</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marL="0" indent="0">
                        <a:buNone/>
                      </a:pPr>
                      <a:r>
                        <a:rPr lang="en-US" sz="1600" b="1" dirty="0">
                          <a:solidFill>
                            <a:srgbClr val="1E2A5C"/>
                          </a:solidFill>
                          <a:latin typeface="Pretendard" pitchFamily="34" charset="0"/>
                          <a:ea typeface="Pretendard" pitchFamily="34" charset="-122"/>
                          <a:cs typeface="Pretendard" pitchFamily="34" charset="-120"/>
                        </a:rPr>
                        <a:t>사용 방식</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381415">
                <a:tc>
                  <a:txBody>
                    <a:bodyPr/>
                    <a:lstStyle/>
                    <a:p>
                      <a:pPr marL="0" indent="0">
                        <a:buNone/>
                      </a:pPr>
                      <a:r>
                        <a:rPr lang="en-US" sz="1600" dirty="0">
                          <a:solidFill>
                            <a:srgbClr val="2B3242"/>
                          </a:solidFill>
                          <a:latin typeface="Pretendard" pitchFamily="34" charset="0"/>
                          <a:ea typeface="Pretendard" pitchFamily="34" charset="-122"/>
                          <a:cs typeface="Pretendard" pitchFamily="34" charset="-120"/>
                        </a:rPr>
                        <a:t>Local</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marL="0" indent="0">
                        <a:buNone/>
                      </a:pPr>
                      <a:r>
                        <a:rPr lang="en-US" sz="1600" dirty="0">
                          <a:solidFill>
                            <a:srgbClr val="2B3242"/>
                          </a:solidFill>
                          <a:latin typeface="Pretendard" pitchFamily="34" charset="0"/>
                          <a:ea typeface="Pretendard" pitchFamily="34" charset="-122"/>
                          <a:cs typeface="Pretendard" pitchFamily="34" charset="-120"/>
                        </a:rPr>
                        <a:t>BGE-M3 / multilingual-e5-large</a:t>
                      </a:r>
                      <a:endParaRPr lang="en-US" sz="1600" dirty="0">
                        <a:latin typeface="Pretendard" charset="0"/>
                        <a:ea typeface="Pretendard" charset="0"/>
                        <a:cs typeface="Pretendard" charset="0"/>
                      </a:endParaRPr>
                    </a:p>
                    <a:p>
                      <a:pPr marL="0" indent="0">
                        <a:buNone/>
                      </a:pPr>
                      <a:r>
                        <a:rPr lang="en-US" sz="1600" dirty="0">
                          <a:solidFill>
                            <a:srgbClr val="2B3242"/>
                          </a:solidFill>
                          <a:latin typeface="Pretendard" pitchFamily="34" charset="0"/>
                          <a:ea typeface="Pretendard" pitchFamily="34" charset="-122"/>
                          <a:cs typeface="Pretendard" pitchFamily="34" charset="-120"/>
                        </a:rPr>
                        <a:t>KURE-v2</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marL="0" indent="0">
                        <a:buNone/>
                      </a:pPr>
                      <a:r>
                        <a:rPr lang="en-US" sz="1600" dirty="0">
                          <a:solidFill>
                            <a:srgbClr val="2B3242"/>
                          </a:solidFill>
                          <a:latin typeface="Pretendard" pitchFamily="34" charset="0"/>
                          <a:ea typeface="Pretendard" pitchFamily="34" charset="-122"/>
                          <a:cs typeface="Pretendard" pitchFamily="34" charset="-120"/>
                        </a:rPr>
                        <a:t>내 PC·서버에서 실행합니다.</a:t>
                      </a:r>
                      <a:endParaRPr lang="en-US" sz="1600" dirty="0">
                        <a:latin typeface="Pretendard" charset="0"/>
                        <a:ea typeface="Pretendard" charset="0"/>
                        <a:cs typeface="Pretendard" charset="0"/>
                      </a:endParaRPr>
                    </a:p>
                    <a:p>
                      <a:pPr marL="0" indent="0">
                        <a:buNone/>
                      </a:pPr>
                      <a:r>
                        <a:rPr lang="en-US" sz="1600" dirty="0">
                          <a:solidFill>
                            <a:srgbClr val="2B3242"/>
                          </a:solidFill>
                          <a:latin typeface="Pretendard" pitchFamily="34" charset="0"/>
                          <a:ea typeface="Pretendard" pitchFamily="34" charset="-122"/>
                          <a:cs typeface="Pretendard" pitchFamily="34" charset="-120"/>
                        </a:rPr>
                        <a:t>모델과 실행 환경을 직접 관리합니다.</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1415">
                <a:tc>
                  <a:txBody>
                    <a:bodyPr/>
                    <a:lstStyle/>
                    <a:p>
                      <a:pPr marL="0" indent="0">
                        <a:buNone/>
                      </a:pPr>
                      <a:r>
                        <a:rPr lang="en-US" sz="1600" dirty="0">
                          <a:solidFill>
                            <a:srgbClr val="2B3242"/>
                          </a:solidFill>
                          <a:latin typeface="Pretendard" pitchFamily="34" charset="0"/>
                          <a:ea typeface="Pretendard" pitchFamily="34" charset="-122"/>
                          <a:cs typeface="Pretendard" pitchFamily="34" charset="-120"/>
                        </a:rPr>
                        <a:t>Cloud API</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600" dirty="0">
                          <a:solidFill>
                            <a:srgbClr val="2B3242"/>
                          </a:solidFill>
                          <a:latin typeface="Pretendard" pitchFamily="34" charset="0"/>
                          <a:ea typeface="Pretendard" pitchFamily="34" charset="-122"/>
                          <a:cs typeface="Pretendard" pitchFamily="34" charset="-120"/>
                        </a:rPr>
                        <a:t>OpenAI text-embedding-3-small / -large</a:t>
                      </a:r>
                      <a:endParaRPr lang="en-US" sz="1600" dirty="0">
                        <a:latin typeface="Pretendard" charset="0"/>
                        <a:ea typeface="Pretendard" charset="0"/>
                        <a:cs typeface="Pretendard" charset="0"/>
                      </a:endParaRPr>
                    </a:p>
                    <a:p>
                      <a:pPr marL="0" indent="0">
                        <a:buNone/>
                      </a:pPr>
                      <a:r>
                        <a:rPr lang="en-US" sz="1600" dirty="0">
                          <a:solidFill>
                            <a:srgbClr val="2B3242"/>
                          </a:solidFill>
                          <a:latin typeface="Pretendard" pitchFamily="34" charset="0"/>
                          <a:ea typeface="Pretendard" pitchFamily="34" charset="-122"/>
                          <a:cs typeface="Pretendard" pitchFamily="34" charset="-120"/>
                        </a:rPr>
                        <a:t>Cohere embed-v4.0</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600" dirty="0">
                          <a:solidFill>
                            <a:srgbClr val="2B3242"/>
                          </a:solidFill>
                          <a:latin typeface="Pretendard" pitchFamily="34" charset="0"/>
                          <a:ea typeface="Pretendard" pitchFamily="34" charset="-122"/>
                          <a:cs typeface="Pretendard" pitchFamily="34" charset="-120"/>
                        </a:rPr>
                        <a:t>제공사의 API로 본문을 보내 사용합니다.</a:t>
                      </a:r>
                      <a:endParaRPr lang="en-US" sz="1600" dirty="0">
                        <a:latin typeface="Pretendard" charset="0"/>
                        <a:ea typeface="Pretendard" charset="0"/>
                        <a:cs typeface="Pretendard" charset="0"/>
                      </a:endParaRPr>
                    </a:p>
                    <a:p>
                      <a:pPr marL="0" indent="0">
                        <a:buNone/>
                      </a:pPr>
                      <a:r>
                        <a:rPr lang="en-US" sz="1600" dirty="0">
                          <a:solidFill>
                            <a:srgbClr val="2B3242"/>
                          </a:solidFill>
                          <a:latin typeface="Pretendard" pitchFamily="34" charset="0"/>
                          <a:ea typeface="Pretendard" pitchFamily="34" charset="-122"/>
                          <a:cs typeface="Pretendard" pitchFamily="34" charset="-120"/>
                        </a:rPr>
                        <a:t>호출 비용과 데이터 전송 정책을 확인합니다.</a:t>
                      </a:r>
                      <a:endParaRPr lang="en-US" sz="16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bl>
          </a:graphicData>
        </a:graphic>
      </p:graphicFrame>
      <p:pic>
        <p:nvPicPr>
          <p:cNvPr id="59" name="그림 58">
            <a:extLst>
              <a:ext uri="{FF2B5EF4-FFF2-40B4-BE49-F238E27FC236}">
                <a16:creationId xmlns:a16="http://schemas.microsoft.com/office/drawing/2014/main" id="{AEDE9F9E-3003-7339-76DF-7F2CAD7AB579}"/>
              </a:ext>
            </a:extLst>
          </p:cNvPr>
          <p:cNvPicPr>
            <a:picLocks noChangeAspect="1"/>
          </p:cNvPicPr>
          <p:nvPr/>
        </p:nvPicPr>
        <p:blipFill>
          <a:blip r:embed="rId3"/>
          <a:stretch>
            <a:fillRect/>
          </a:stretch>
        </p:blipFill>
        <p:spPr>
          <a:xfrm>
            <a:off x="10104683" y="2038295"/>
            <a:ext cx="2787793" cy="2286117"/>
          </a:xfrm>
          <a:prstGeom prst="rect">
            <a:avLst/>
          </a:prstGeom>
        </p:spPr>
      </p:pic>
      <p:grpSp>
        <p:nvGrpSpPr>
          <p:cNvPr id="60" name="그룹 59">
            <a:extLst>
              <a:ext uri="{FF2B5EF4-FFF2-40B4-BE49-F238E27FC236}">
                <a16:creationId xmlns:a16="http://schemas.microsoft.com/office/drawing/2014/main" id="{9E102A2E-6256-E981-2CCD-32D5DE3CE4A3}"/>
              </a:ext>
            </a:extLst>
          </p:cNvPr>
          <p:cNvGrpSpPr/>
          <p:nvPr/>
        </p:nvGrpSpPr>
        <p:grpSpPr>
          <a:xfrm>
            <a:off x="494699" y="6994769"/>
            <a:ext cx="1552982" cy="846320"/>
            <a:chOff x="509567" y="7019712"/>
            <a:chExt cx="1552982" cy="846320"/>
          </a:xfrm>
        </p:grpSpPr>
        <p:sp>
          <p:nvSpPr>
            <p:cNvPr id="61" name="Shape 45">
              <a:extLst>
                <a:ext uri="{FF2B5EF4-FFF2-40B4-BE49-F238E27FC236}">
                  <a16:creationId xmlns:a16="http://schemas.microsoft.com/office/drawing/2014/main" id="{74DBB43F-D141-156D-8DA2-794BA58DBC2C}"/>
                </a:ext>
              </a:extLst>
            </p:cNvPr>
            <p:cNvSpPr/>
            <p:nvPr/>
          </p:nvSpPr>
          <p:spPr>
            <a:xfrm>
              <a:off x="509567" y="7019712"/>
              <a:ext cx="65095" cy="846320"/>
            </a:xfrm>
            <a:prstGeom prst="rect">
              <a:avLst/>
            </a:prstGeom>
            <a:solidFill>
              <a:srgbClr val="2E74C6"/>
            </a:solidFill>
            <a:ln w="12700">
              <a:solidFill>
                <a:srgbClr val="2E74C6">
                  <a:alpha val="0"/>
                </a:srgbClr>
              </a:solidFill>
              <a:prstDash val="solid"/>
            </a:ln>
          </p:spPr>
          <p:txBody>
            <a:bodyPr/>
            <a:lstStyle/>
            <a:p>
              <a:endParaRPr lang="ko-KR" altLang="en-US" sz="1400">
                <a:latin typeface="Pretendard" panose="02000503000000020004" pitchFamily="50" charset="-127"/>
                <a:ea typeface="Pretendard" panose="02000503000000020004" pitchFamily="50" charset="-127"/>
                <a:cs typeface="Pretendard" panose="02000503000000020004" pitchFamily="50" charset="-127"/>
              </a:endParaRPr>
            </a:p>
          </p:txBody>
        </p:sp>
        <p:sp>
          <p:nvSpPr>
            <p:cNvPr id="62" name="Text 46">
              <a:extLst>
                <a:ext uri="{FF2B5EF4-FFF2-40B4-BE49-F238E27FC236}">
                  <a16:creationId xmlns:a16="http://schemas.microsoft.com/office/drawing/2014/main" id="{5042091D-A163-B9DA-A19E-B9E2E41B4BEC}"/>
                </a:ext>
              </a:extLst>
            </p:cNvPr>
            <p:cNvSpPr/>
            <p:nvPr/>
          </p:nvSpPr>
          <p:spPr>
            <a:xfrm>
              <a:off x="742049" y="7055004"/>
              <a:ext cx="1320500" cy="732635"/>
            </a:xfrm>
            <a:prstGeom prst="rect">
              <a:avLst/>
            </a:prstGeom>
            <a:noFill/>
            <a:ln/>
          </p:spPr>
          <p:txBody>
            <a:bodyPr wrap="square" lIns="0" tIns="0" rIns="0" bIns="0" rtlCol="0" anchor="ctr"/>
            <a:lstStyle/>
            <a:p>
              <a:pPr marL="0" indent="0">
                <a:buNone/>
              </a:pPr>
              <a:r>
                <a:rPr lang="ko-KR" altLang="en-US"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설계</a:t>
              </a:r>
              <a:endParaRPr lang="en-US" altLang="ko-KR"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endParaRPr>
            </a:p>
            <a:p>
              <a:pPr marL="0" indent="0">
                <a:buNone/>
              </a:pPr>
              <a:r>
                <a:rPr lang="ko-KR" altLang="en-US"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항목</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63" name="Text 31">
            <a:extLst>
              <a:ext uri="{FF2B5EF4-FFF2-40B4-BE49-F238E27FC236}">
                <a16:creationId xmlns:a16="http://schemas.microsoft.com/office/drawing/2014/main" id="{33AAEF2E-898A-4966-F3BC-1D02D7D0145E}"/>
              </a:ext>
            </a:extLst>
          </p:cNvPr>
          <p:cNvSpPr/>
          <p:nvPr/>
        </p:nvSpPr>
        <p:spPr>
          <a:xfrm>
            <a:off x="1940963" y="7021820"/>
            <a:ext cx="12246641" cy="792218"/>
          </a:xfrm>
          <a:prstGeom prst="rect">
            <a:avLst/>
          </a:prstGeom>
          <a:noFill/>
          <a:ln/>
        </p:spPr>
        <p:txBody>
          <a:bodyPr wrap="square" lIns="0" tIns="0" rIns="0" bIns="0" rtlCol="0" anchor="ctr"/>
          <a:lstStyle/>
          <a:p>
            <a:pPr marL="285750" indent="-285750" algn="l">
              <a:buFont typeface="Arial" panose="020B0604020202020204" pitchFamily="34" charset="0"/>
              <a:buChar char="•"/>
            </a:pPr>
            <a:r>
              <a:rPr lang="ko-KR" altLang="en-US" dirty="0" err="1">
                <a:latin typeface="Pretendard" panose="02000503000000020004" pitchFamily="50" charset="-127"/>
                <a:ea typeface="Pretendard" panose="02000503000000020004" pitchFamily="50" charset="-127"/>
                <a:cs typeface="Pretendard" panose="02000503000000020004" pitchFamily="50" charset="-127"/>
              </a:rPr>
              <a:t>임베딩</a:t>
            </a:r>
            <a:r>
              <a:rPr lang="ko-KR" altLang="en-US" dirty="0">
                <a:latin typeface="Pretendard" panose="02000503000000020004" pitchFamily="50" charset="-127"/>
                <a:ea typeface="Pretendard" panose="02000503000000020004" pitchFamily="50" charset="-127"/>
                <a:cs typeface="Pretendard" panose="02000503000000020004" pitchFamily="50" charset="-127"/>
              </a:rPr>
              <a:t> 모델</a:t>
            </a:r>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r>
              <a:rPr lang="ko-KR" altLang="en-US" dirty="0">
                <a:latin typeface="Pretendard" panose="02000503000000020004" pitchFamily="50" charset="-127"/>
                <a:ea typeface="Pretendard" panose="02000503000000020004" pitchFamily="50" charset="-127"/>
                <a:cs typeface="Pretendard" panose="02000503000000020004" pitchFamily="50" charset="-127"/>
              </a:rPr>
              <a:t>차원 수</a:t>
            </a:r>
            <a:endParaRPr lang="en-US" altLang="ko-KR" dirty="0">
              <a:latin typeface="Pretendard" panose="02000503000000020004" pitchFamily="50" charset="-127"/>
              <a:ea typeface="Pretendard" panose="02000503000000020004" pitchFamily="50" charset="-127"/>
              <a:cs typeface="Pretendard" panose="02000503000000020004" pitchFamily="50" charset="-127"/>
            </a:endParaRPr>
          </a:p>
          <a:p>
            <a:pPr marL="285750" indent="-285750" algn="l">
              <a:buFont typeface="Arial" panose="020B0604020202020204" pitchFamily="34" charset="0"/>
              <a:buChar char="•"/>
            </a:pPr>
            <a:r>
              <a:rPr lang="ko-KR" altLang="en-US" dirty="0" err="1">
                <a:latin typeface="Pretendard" panose="02000503000000020004" pitchFamily="50" charset="-127"/>
                <a:ea typeface="Pretendard" panose="02000503000000020004" pitchFamily="50" charset="-127"/>
                <a:cs typeface="Pretendard" panose="02000503000000020004" pitchFamily="50" charset="-127"/>
              </a:rPr>
              <a:t>임베딩</a:t>
            </a:r>
            <a:r>
              <a:rPr lang="ko-KR" altLang="en-US" dirty="0">
                <a:latin typeface="Pretendard" panose="02000503000000020004" pitchFamily="50" charset="-127"/>
                <a:ea typeface="Pretendard" panose="02000503000000020004" pitchFamily="50" charset="-127"/>
                <a:cs typeface="Pretendard" panose="02000503000000020004" pitchFamily="50" charset="-127"/>
              </a:rPr>
              <a:t> 대상</a:t>
            </a:r>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r>
              <a:rPr lang="ko-KR" altLang="en-US" dirty="0">
                <a:latin typeface="Pretendard" panose="02000503000000020004" pitchFamily="50" charset="-127"/>
                <a:ea typeface="Pretendard" panose="02000503000000020004" pitchFamily="50" charset="-127"/>
                <a:cs typeface="Pretendard" panose="02000503000000020004" pitchFamily="50" charset="-127"/>
              </a:rPr>
              <a:t>본문만</a:t>
            </a:r>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r>
              <a:rPr lang="ko-KR" altLang="en-US" dirty="0">
                <a:latin typeface="Pretendard" panose="02000503000000020004" pitchFamily="50" charset="-127"/>
                <a:ea typeface="Pretendard" panose="02000503000000020004" pitchFamily="50" charset="-127"/>
                <a:cs typeface="Pretendard" panose="02000503000000020004" pitchFamily="50" charset="-127"/>
              </a:rPr>
              <a:t>본문</a:t>
            </a:r>
            <a:r>
              <a:rPr lang="en-US" altLang="ko-KR" dirty="0">
                <a:latin typeface="Pretendard" panose="02000503000000020004" pitchFamily="50" charset="-127"/>
                <a:ea typeface="Pretendard" panose="02000503000000020004" pitchFamily="50" charset="-127"/>
                <a:cs typeface="Pretendard" panose="02000503000000020004" pitchFamily="50" charset="-127"/>
              </a:rPr>
              <a:t>+</a:t>
            </a:r>
            <a:r>
              <a:rPr lang="ko-KR" altLang="en-US" dirty="0">
                <a:latin typeface="Pretendard" panose="02000503000000020004" pitchFamily="50" charset="-127"/>
                <a:ea typeface="Pretendard" panose="02000503000000020004" pitchFamily="50" charset="-127"/>
                <a:cs typeface="Pretendard" panose="02000503000000020004" pitchFamily="50" charset="-127"/>
              </a:rPr>
              <a:t>메타데이터</a:t>
            </a:r>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r>
              <a:rPr lang="ko-KR" altLang="en-US" dirty="0">
                <a:latin typeface="Pretendard" panose="02000503000000020004" pitchFamily="50" charset="-127"/>
                <a:ea typeface="Pretendard" panose="02000503000000020004" pitchFamily="50" charset="-127"/>
                <a:cs typeface="Pretendard" panose="02000503000000020004" pitchFamily="50" charset="-127"/>
              </a:rPr>
              <a:t>문맥 설명 추가</a:t>
            </a:r>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r>
              <a:rPr lang="ko-KR" altLang="en-US" dirty="0">
                <a:latin typeface="Pretendard" panose="02000503000000020004" pitchFamily="50" charset="-127"/>
                <a:ea typeface="Pretendard" panose="02000503000000020004" pitchFamily="50" charset="-127"/>
                <a:cs typeface="Pretendard" panose="02000503000000020004" pitchFamily="50" charset="-127"/>
              </a:rPr>
              <a:t>여부</a:t>
            </a:r>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endParaRPr lang="ko-KR" altLang="ko-KR"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3515502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81D1-FF5E-D7FA-1283-4874912943F2}"/>
            </a:ext>
          </a:extLst>
        </p:cNvPr>
        <p:cNvGrpSpPr/>
        <p:nvPr/>
      </p:nvGrpSpPr>
      <p:grpSpPr>
        <a:xfrm>
          <a:off x="0" y="0"/>
          <a:ext cx="0" cy="0"/>
          <a:chOff x="0" y="0"/>
          <a:chExt cx="0" cy="0"/>
        </a:xfrm>
      </p:grpSpPr>
      <p:sp>
        <p:nvSpPr>
          <p:cNvPr id="51" name="Slide Number Placeholder 0">
            <a:extLst>
              <a:ext uri="{FF2B5EF4-FFF2-40B4-BE49-F238E27FC236}">
                <a16:creationId xmlns:a16="http://schemas.microsoft.com/office/drawing/2014/main" id="{7067ADFE-9B0A-DFDA-B28F-BEE04407D6C6}"/>
              </a:ext>
            </a:extLst>
          </p:cNvPr>
          <p:cNvSpPr>
            <a:spLocks noGrp="1"/>
          </p:cNvSpPr>
          <p:nvPr>
            <p:ph type="sldNum" idx="4"/>
          </p:nvPr>
        </p:nvSpPr>
        <p:spPr>
          <a:prstGeom prst="rect">
            <a:avLst/>
          </a:prstGeom>
          <a:extLst>
            <a:ext uri="{C572A759-6A51-4108-AA02-DFA0A04FC94B}">
              <ma14:wrappingTextBoxFlag xmlns="" xmlns:ma14="http://schemas.microsoft.com/office/mac/drawingml/2011/main" val="0"/>
            </a:ext>
          </a:extLst>
        </p:spPr>
        <p:txBody>
          <a:bodyPr/>
          <a:lstStyle>
            <a:lvl1pPr>
              <a:defRPr sz="1400">
                <a:solidFill>
                  <a:srgbClr val="1E2A5C"/>
                </a:solidFill>
                <a:latin typeface="Pretendard"/>
                <a:ea typeface="Pretendard"/>
                <a:cs typeface="Pretendard"/>
              </a:defRPr>
            </a:lvl1pPr>
          </a:lstStyle>
          <a:p>
            <a:pPr marL="0" marR="0" lvl="0" indent="0" algn="r" defTabSz="914400" rtl="0" eaLnBrk="1" fontAlgn="auto" latinLnBrk="1" hangingPunct="1">
              <a:lnSpc>
                <a:spcPct val="100000"/>
              </a:lnSpc>
              <a:spcBef>
                <a:spcPts val="0"/>
              </a:spcBef>
              <a:spcAft>
                <a:spcPts val="0"/>
              </a:spcAft>
              <a:buClrTx/>
              <a:buSzTx/>
              <a:buFontTx/>
              <a:buNone/>
              <a:tabLst/>
              <a:defRPr/>
            </a:pPr>
            <a:fld id="{F7021451-1387-4CA6-816F-3879F97B5CBC}" type="slidenum">
              <a:rPr kumimoji="0" lang="en-US" sz="1400" b="1" i="0" u="none" strike="noStrike" kern="1200" cap="none" spc="0" normalizeH="0" baseline="0" noProof="0">
                <a:ln>
                  <a:noFill/>
                </a:ln>
                <a:solidFill>
                  <a:srgbClr val="1E2A5C"/>
                </a:solidFill>
                <a:effectLst/>
                <a:uLnTx/>
                <a:uFillTx/>
                <a:latin typeface="Pretendard"/>
                <a:ea typeface="Pretendard"/>
                <a:cs typeface="Pretendard"/>
              </a:rPr>
              <a:pPr marL="0" marR="0" lvl="0" indent="0" algn="r" defTabSz="914400" rtl="0" eaLnBrk="1" fontAlgn="auto" latinLnBrk="1" hangingPunct="1">
                <a:lnSpc>
                  <a:spcPct val="100000"/>
                </a:lnSpc>
                <a:spcBef>
                  <a:spcPts val="0"/>
                </a:spcBef>
                <a:spcAft>
                  <a:spcPts val="0"/>
                </a:spcAft>
                <a:buClrTx/>
                <a:buSzTx/>
                <a:buFontTx/>
                <a:buNone/>
                <a:tabLst/>
                <a:defRPr/>
              </a:pPr>
              <a:t>47</a:t>
            </a:fld>
            <a:endParaRPr kumimoji="0" lang="en-US" sz="1400" b="0" i="0" u="none" strike="noStrike" kern="1200" cap="none" spc="0" normalizeH="0" baseline="0" noProof="0">
              <a:ln>
                <a:noFill/>
              </a:ln>
              <a:solidFill>
                <a:srgbClr val="1E2A5C"/>
              </a:solidFill>
              <a:effectLst/>
              <a:uLnTx/>
              <a:uFillTx/>
              <a:latin typeface="Pretendard"/>
              <a:ea typeface="Pretendard"/>
              <a:cs typeface="Pretendard"/>
            </a:endParaRPr>
          </a:p>
        </p:txBody>
      </p:sp>
      <p:sp>
        <p:nvSpPr>
          <p:cNvPr id="57" name="제목 53">
            <a:extLst>
              <a:ext uri="{FF2B5EF4-FFF2-40B4-BE49-F238E27FC236}">
                <a16:creationId xmlns:a16="http://schemas.microsoft.com/office/drawing/2014/main" id="{A85D7A1D-1882-C73E-8BDB-0BD4E75CDBBF}"/>
              </a:ext>
            </a:extLst>
          </p:cNvPr>
          <p:cNvSpPr>
            <a:spLocks noGrp="1"/>
          </p:cNvSpPr>
          <p:nvPr>
            <p:ph type="title"/>
          </p:nvPr>
        </p:nvSpPr>
        <p:spPr>
          <a:xfrm>
            <a:off x="509567" y="99294"/>
            <a:ext cx="13738860" cy="1249912"/>
          </a:xfrm>
        </p:spPr>
        <p:txBody>
          <a:bodyPr wrap="square" lIns="0" tIns="180000" rIns="0" bIns="180000">
            <a:spAutoFit/>
          </a:bodyPr>
          <a:lstStyle/>
          <a:p>
            <a:pPr eaLnBrk="0"/>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인덱싱 </a:t>
            </a:r>
            <a:r>
              <a:rPr lang="en-US" altLang="ko-KR" dirty="0">
                <a:solidFill>
                  <a:srgbClr val="2C2926"/>
                </a:solidFill>
                <a:latin typeface="Pretendard" pitchFamily="34" charset="0"/>
                <a:ea typeface="Pretendard" pitchFamily="34" charset="-122"/>
                <a:cs typeface="Pretendard" pitchFamily="34" charset="-120"/>
              </a:rPr>
              <a:t>– S1. </a:t>
            </a:r>
            <a:r>
              <a:rPr lang="ko-KR" altLang="en-US" dirty="0" err="1">
                <a:solidFill>
                  <a:srgbClr val="2C2926"/>
                </a:solidFill>
                <a:latin typeface="Pretendard" pitchFamily="34" charset="0"/>
                <a:ea typeface="Pretendard" pitchFamily="34" charset="-122"/>
                <a:cs typeface="Pretendard" pitchFamily="34" charset="-120"/>
              </a:rPr>
              <a:t>임베딩</a:t>
            </a:r>
            <a:br>
              <a:rPr lang="ko-KR" altLang="ko-KR" dirty="0"/>
            </a:br>
            <a:endParaRPr lang="ko-KR" altLang="ko-KR" dirty="0"/>
          </a:p>
        </p:txBody>
      </p:sp>
      <p:sp>
        <p:nvSpPr>
          <p:cNvPr id="179" name="Text 4">
            <a:extLst>
              <a:ext uri="{FF2B5EF4-FFF2-40B4-BE49-F238E27FC236}">
                <a16:creationId xmlns:a16="http://schemas.microsoft.com/office/drawing/2014/main" id="{4281E4C0-4B51-33C4-BF90-1C23289DE429}"/>
              </a:ext>
            </a:extLst>
          </p:cNvPr>
          <p:cNvSpPr/>
          <p:nvPr/>
        </p:nvSpPr>
        <p:spPr>
          <a:xfrm>
            <a:off x="502920" y="1115568"/>
            <a:ext cx="13624560" cy="369332"/>
          </a:xfrm>
          <a:prstGeom prst="rect">
            <a:avLst/>
          </a:prstGeom>
        </p:spPr>
        <p:txBody>
          <a:bodyPr wrap="square">
            <a:spAutoFit/>
          </a:bodyPr>
          <a:lstStyle/>
          <a:p>
            <a:pPr latinLnBrk="0"/>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모델·설정이</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같고</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본문도</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같으면</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저장된</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벡터를</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재사용해</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중복</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err="1">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계산을</a:t>
            </a:r>
            <a:r>
              <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ko-KR" altLang="en-US"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rPr>
              <a:t>줄임</a:t>
            </a:r>
            <a:endParaRPr lang="en-US" altLang="ko-KR" dirty="0">
              <a:solidFill>
                <a:prstClr val="black"/>
              </a:solidFill>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4" name="Text 5">
            <a:extLst>
              <a:ext uri="{FF2B5EF4-FFF2-40B4-BE49-F238E27FC236}">
                <a16:creationId xmlns:a16="http://schemas.microsoft.com/office/drawing/2014/main" id="{7A4DD2F3-0EE3-123F-480A-BB3791447F58}"/>
              </a:ext>
            </a:extLst>
          </p:cNvPr>
          <p:cNvSpPr/>
          <p:nvPr/>
        </p:nvSpPr>
        <p:spPr>
          <a:xfrm>
            <a:off x="623867" y="1664460"/>
            <a:ext cx="13624560" cy="265176"/>
          </a:xfrm>
          <a:prstGeom prst="rect">
            <a:avLst/>
          </a:prstGeom>
          <a:noFill/>
          <a:ln/>
        </p:spPr>
        <p:txBody>
          <a:bodyPr wrap="square" lIns="0" tIns="0" rIns="0" bIns="0" rtlCol="0" anchor="ctr"/>
          <a:lstStyle/>
          <a:p>
            <a:r>
              <a:rPr lang="en-US" sz="1600" b="1" dirty="0">
                <a:solidFill>
                  <a:srgbClr val="7C8598"/>
                </a:solidFill>
                <a:latin typeface="Pretendard" panose="02000503000000020004" pitchFamily="50" charset="-127"/>
                <a:ea typeface="Pretendard" panose="02000503000000020004" pitchFamily="50" charset="-127"/>
                <a:cs typeface="Pretendard" panose="02000503000000020004" pitchFamily="50" charset="-127"/>
              </a:rPr>
              <a:t>사전 검사: </a:t>
            </a:r>
            <a:r>
              <a:rPr lang="en-US" sz="1600" b="1" dirty="0" err="1">
                <a:solidFill>
                  <a:srgbClr val="1E2A5C"/>
                </a:solidFill>
                <a:latin typeface="Pretendard" panose="02000503000000020004" pitchFamily="50" charset="-127"/>
                <a:ea typeface="Pretendard" panose="02000503000000020004" pitchFamily="50" charset="-127"/>
                <a:cs typeface="Pretendard" panose="02000503000000020004" pitchFamily="50" charset="-127"/>
              </a:rPr>
              <a:t>원천</a:t>
            </a:r>
            <a:r>
              <a:rPr lang="ko-KR" altLang="en-US" sz="16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문서와 문서 처리 정책</a:t>
            </a:r>
            <a:r>
              <a:rPr lang="en-US" altLang="ko-KR" sz="16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문서 프로필</a:t>
            </a:r>
            <a:r>
              <a:rPr lang="en-US" altLang="ko-KR" sz="16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err="1">
                <a:solidFill>
                  <a:srgbClr val="1E2A5C"/>
                </a:solidFill>
                <a:latin typeface="Pretendard" panose="02000503000000020004" pitchFamily="50" charset="-127"/>
                <a:ea typeface="Pretendard" panose="02000503000000020004" pitchFamily="50" charset="-127"/>
                <a:cs typeface="Pretendard" panose="02000503000000020004" pitchFamily="50" charset="-127"/>
              </a:rPr>
              <a:t>임베딩</a:t>
            </a:r>
            <a:r>
              <a:rPr lang="ko-KR" altLang="en-US" sz="16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 설정이</a:t>
            </a:r>
            <a:r>
              <a:rPr lang="en-US" altLang="ko-KR" sz="16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dirty="0" err="1">
                <a:solidFill>
                  <a:srgbClr val="7C8598"/>
                </a:solidFill>
                <a:latin typeface="Pretendard" panose="02000503000000020004" pitchFamily="50" charset="-127"/>
                <a:ea typeface="Pretendard" panose="02000503000000020004" pitchFamily="50" charset="-127"/>
                <a:cs typeface="Pretendard" panose="02000503000000020004" pitchFamily="50" charset="-127"/>
              </a:rPr>
              <a:t>모두</a:t>
            </a:r>
            <a:r>
              <a:rPr lang="en-US" sz="1600" b="1" dirty="0">
                <a:solidFill>
                  <a:srgbClr val="7C8598"/>
                </a:solidFill>
                <a:latin typeface="Pretendard" panose="02000503000000020004" pitchFamily="50" charset="-127"/>
                <a:ea typeface="Pretendard" panose="02000503000000020004" pitchFamily="50" charset="-127"/>
                <a:cs typeface="Pretendard" panose="02000503000000020004" pitchFamily="50" charset="-127"/>
              </a:rPr>
              <a:t> 같고 전체 재색인이 아니면, </a:t>
            </a:r>
            <a:r>
              <a:rPr lang="ko-KR" altLang="en-US" sz="1600" b="1" dirty="0" err="1">
                <a:solidFill>
                  <a:srgbClr val="7C8598"/>
                </a:solidFill>
                <a:latin typeface="Pretendard" panose="02000503000000020004" pitchFamily="50" charset="-127"/>
                <a:ea typeface="Pretendard" panose="02000503000000020004" pitchFamily="50" charset="-127"/>
                <a:cs typeface="Pretendard" panose="02000503000000020004" pitchFamily="50" charset="-127"/>
              </a:rPr>
              <a:t>임베딩</a:t>
            </a:r>
            <a:r>
              <a:rPr lang="ko-KR" altLang="en-US" sz="1600" b="1" dirty="0">
                <a:solidFill>
                  <a:srgbClr val="7C8598"/>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dirty="0" err="1">
                <a:solidFill>
                  <a:srgbClr val="7C8598"/>
                </a:solidFill>
                <a:latin typeface="Pretendard" panose="02000503000000020004" pitchFamily="50" charset="-127"/>
                <a:ea typeface="Pretendard" panose="02000503000000020004" pitchFamily="50" charset="-127"/>
                <a:cs typeface="Pretendard" panose="02000503000000020004" pitchFamily="50" charset="-127"/>
              </a:rPr>
              <a:t>작업을</a:t>
            </a:r>
            <a:r>
              <a:rPr lang="en-US" sz="1600" b="1" dirty="0">
                <a:solidFill>
                  <a:srgbClr val="7C8598"/>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dirty="0" err="1">
                <a:solidFill>
                  <a:srgbClr val="7C8598"/>
                </a:solidFill>
                <a:latin typeface="Pretendard" panose="02000503000000020004" pitchFamily="50" charset="-127"/>
                <a:ea typeface="Pretendard" panose="02000503000000020004" pitchFamily="50" charset="-127"/>
                <a:cs typeface="Pretendard" panose="02000503000000020004" pitchFamily="50" charset="-127"/>
              </a:rPr>
              <a:t>생략</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a:extLst>
              <a:ext uri="{FF2B5EF4-FFF2-40B4-BE49-F238E27FC236}">
                <a16:creationId xmlns:a16="http://schemas.microsoft.com/office/drawing/2014/main" id="{BD877C37-BB67-9BC3-9C68-9E8DB84FAD09}"/>
              </a:ext>
            </a:extLst>
          </p:cNvPr>
          <p:cNvSpPr/>
          <p:nvPr/>
        </p:nvSpPr>
        <p:spPr>
          <a:xfrm>
            <a:off x="623867" y="2139948"/>
            <a:ext cx="6720840" cy="329184"/>
          </a:xfrm>
          <a:prstGeom prst="rect">
            <a:avLst/>
          </a:prstGeom>
          <a:noFill/>
          <a:ln/>
        </p:spPr>
        <p:txBody>
          <a:bodyPr wrap="square" lIns="0" tIns="0" rIns="0" bIns="0" rtlCol="0" anchor="ctr"/>
          <a:lstStyle/>
          <a:p>
            <a:pPr marL="0" indent="0">
              <a:buNone/>
            </a:pPr>
            <a:r>
              <a:rPr lang="en-US" sz="24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청크별 판단 순서</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7">
            <a:extLst>
              <a:ext uri="{FF2B5EF4-FFF2-40B4-BE49-F238E27FC236}">
                <a16:creationId xmlns:a16="http://schemas.microsoft.com/office/drawing/2014/main" id="{85B76630-BCAE-F89F-5B3E-2DD5688DAAEF}"/>
              </a:ext>
            </a:extLst>
          </p:cNvPr>
          <p:cNvSpPr/>
          <p:nvPr/>
        </p:nvSpPr>
        <p:spPr>
          <a:xfrm>
            <a:off x="7801907" y="2139948"/>
            <a:ext cx="6446520" cy="329184"/>
          </a:xfrm>
          <a:prstGeom prst="rect">
            <a:avLst/>
          </a:prstGeom>
          <a:noFill/>
          <a:ln/>
        </p:spPr>
        <p:txBody>
          <a:bodyPr wrap="square" lIns="0" tIns="0" rIns="0" bIns="0" rtlCol="0" anchor="ctr"/>
          <a:lstStyle/>
          <a:p>
            <a:pPr marL="0" indent="0">
              <a:buNone/>
            </a:pPr>
            <a:r>
              <a:rPr lang="en-US" sz="24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상황별 결정 예시</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Shape 8">
            <a:extLst>
              <a:ext uri="{FF2B5EF4-FFF2-40B4-BE49-F238E27FC236}">
                <a16:creationId xmlns:a16="http://schemas.microsoft.com/office/drawing/2014/main" id="{DBACB064-8BC2-A61C-8F57-3A42FC32094E}"/>
              </a:ext>
            </a:extLst>
          </p:cNvPr>
          <p:cNvSpPr/>
          <p:nvPr/>
        </p:nvSpPr>
        <p:spPr>
          <a:xfrm>
            <a:off x="623867" y="2642868"/>
            <a:ext cx="4681728" cy="786384"/>
          </a:xfrm>
          <a:prstGeom prst="rect">
            <a:avLst/>
          </a:prstGeom>
          <a:solidFill>
            <a:srgbClr val="F5F8FC"/>
          </a:solidFill>
          <a:ln w="12700">
            <a:solidFill>
              <a:srgbClr val="D9E0E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9">
            <a:extLst>
              <a:ext uri="{FF2B5EF4-FFF2-40B4-BE49-F238E27FC236}">
                <a16:creationId xmlns:a16="http://schemas.microsoft.com/office/drawing/2014/main" id="{813B5D32-8A06-78E6-9067-020868500CD2}"/>
              </a:ext>
            </a:extLst>
          </p:cNvPr>
          <p:cNvSpPr/>
          <p:nvPr/>
        </p:nvSpPr>
        <p:spPr>
          <a:xfrm>
            <a:off x="797603" y="2752596"/>
            <a:ext cx="4334256" cy="256032"/>
          </a:xfrm>
          <a:prstGeom prst="rect">
            <a:avLst/>
          </a:prstGeom>
          <a:noFill/>
          <a:ln/>
        </p:spPr>
        <p:txBody>
          <a:bodyPr wrap="square" lIns="0" tIns="0" rIns="0" bIns="0" rtlCol="0" anchor="ctr"/>
          <a:lstStyle/>
          <a:p>
            <a:pPr marL="0" indent="0">
              <a:buNone/>
            </a:pPr>
            <a:r>
              <a:rPr lang="en-US" sz="20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1  재사용 가능한 실행인가요?</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10">
            <a:extLst>
              <a:ext uri="{FF2B5EF4-FFF2-40B4-BE49-F238E27FC236}">
                <a16:creationId xmlns:a16="http://schemas.microsoft.com/office/drawing/2014/main" id="{A9361514-179C-DF6F-3EC6-51E9B8972E6A}"/>
              </a:ext>
            </a:extLst>
          </p:cNvPr>
          <p:cNvSpPr/>
          <p:nvPr/>
        </p:nvSpPr>
        <p:spPr>
          <a:xfrm>
            <a:off x="797603" y="3154932"/>
            <a:ext cx="4334256" cy="201168"/>
          </a:xfrm>
          <a:prstGeom prst="rect">
            <a:avLst/>
          </a:prstGeom>
          <a:noFill/>
          <a:ln/>
        </p:spPr>
        <p:txBody>
          <a:bodyPr wrap="square" lIns="0" tIns="0" rIns="0" bIns="0" rtlCol="0" anchor="ctr"/>
          <a:lstStyle/>
          <a:p>
            <a:pPr marL="0" indent="0">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활성 세대 있음 · </a:t>
            </a:r>
            <a:r>
              <a:rPr lang="en-US" sz="1400" dirty="0" err="1">
                <a:solidFill>
                  <a:srgbClr val="4A5364"/>
                </a:solidFill>
                <a:latin typeface="Pretendard" panose="02000503000000020004" pitchFamily="50" charset="-127"/>
                <a:ea typeface="Pretendard" panose="02000503000000020004" pitchFamily="50" charset="-127"/>
                <a:cs typeface="Pretendard" panose="02000503000000020004" pitchFamily="50" charset="-127"/>
              </a:rPr>
              <a:t>모델</a:t>
            </a:r>
            <a:r>
              <a:rPr lang="ko-KR" alt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과 </a:t>
            </a:r>
            <a:r>
              <a:rPr lang="ko-KR" altLang="en-US" sz="1400" dirty="0" err="1">
                <a:solidFill>
                  <a:srgbClr val="4A5364"/>
                </a:solidFill>
                <a:latin typeface="Pretendard" panose="02000503000000020004" pitchFamily="50" charset="-127"/>
                <a:ea typeface="Pretendard" panose="02000503000000020004" pitchFamily="50" charset="-127"/>
                <a:cs typeface="Pretendard" panose="02000503000000020004" pitchFamily="50" charset="-127"/>
              </a:rPr>
              <a:t>임베딩</a:t>
            </a:r>
            <a:r>
              <a:rPr lang="ko-KR" alt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 설정</a:t>
            </a: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 동일 · 강제 재색인 아님</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Shape 11">
            <a:extLst>
              <a:ext uri="{FF2B5EF4-FFF2-40B4-BE49-F238E27FC236}">
                <a16:creationId xmlns:a16="http://schemas.microsoft.com/office/drawing/2014/main" id="{BF058B3C-2819-E00C-B62A-401564343CA9}"/>
              </a:ext>
            </a:extLst>
          </p:cNvPr>
          <p:cNvSpPr/>
          <p:nvPr/>
        </p:nvSpPr>
        <p:spPr>
          <a:xfrm>
            <a:off x="623867" y="3859020"/>
            <a:ext cx="4681728" cy="685800"/>
          </a:xfrm>
          <a:prstGeom prst="rect">
            <a:avLst/>
          </a:prstGeom>
          <a:solidFill>
            <a:srgbClr val="F5F8FC"/>
          </a:solidFill>
          <a:ln w="12700">
            <a:solidFill>
              <a:srgbClr val="D9E0E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12">
            <a:extLst>
              <a:ext uri="{FF2B5EF4-FFF2-40B4-BE49-F238E27FC236}">
                <a16:creationId xmlns:a16="http://schemas.microsoft.com/office/drawing/2014/main" id="{B4EDD7F5-3CA8-AE29-187F-D36A64F978D8}"/>
              </a:ext>
            </a:extLst>
          </p:cNvPr>
          <p:cNvSpPr/>
          <p:nvPr/>
        </p:nvSpPr>
        <p:spPr>
          <a:xfrm>
            <a:off x="797603" y="3968748"/>
            <a:ext cx="4334256" cy="256032"/>
          </a:xfrm>
          <a:prstGeom prst="rect">
            <a:avLst/>
          </a:prstGeom>
          <a:noFill/>
          <a:ln/>
        </p:spPr>
        <p:txBody>
          <a:bodyPr wrap="square" lIns="0" tIns="0" rIns="0" bIns="0" rtlCol="0" anchor="ctr"/>
          <a:lstStyle/>
          <a:p>
            <a:pPr marL="0" indent="0">
              <a:buNone/>
            </a:pPr>
            <a:r>
              <a:rPr lang="en-US" sz="20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2  같은 정제 본문이 있나요?</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Text 13">
            <a:extLst>
              <a:ext uri="{FF2B5EF4-FFF2-40B4-BE49-F238E27FC236}">
                <a16:creationId xmlns:a16="http://schemas.microsoft.com/office/drawing/2014/main" id="{342A5462-54B6-3DCB-32DA-1475C45ACDA0}"/>
              </a:ext>
            </a:extLst>
          </p:cNvPr>
          <p:cNvSpPr/>
          <p:nvPr/>
        </p:nvSpPr>
        <p:spPr>
          <a:xfrm>
            <a:off x="797603" y="4270500"/>
            <a:ext cx="4334256" cy="201168"/>
          </a:xfrm>
          <a:prstGeom prst="rect">
            <a:avLst/>
          </a:prstGeom>
          <a:noFill/>
          <a:ln/>
        </p:spPr>
        <p:txBody>
          <a:bodyPr wrap="square" lIns="0" tIns="0" rIns="0" bIns="0" rtlCol="0" anchor="ctr"/>
          <a:lstStyle/>
          <a:p>
            <a:pPr marL="0" indent="0">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활성 세대의 text_hash 비교 · ID가 달라도 가능</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14">
            <a:extLst>
              <a:ext uri="{FF2B5EF4-FFF2-40B4-BE49-F238E27FC236}">
                <a16:creationId xmlns:a16="http://schemas.microsoft.com/office/drawing/2014/main" id="{16419117-B050-73D4-8C1D-3220EA62A44B}"/>
              </a:ext>
            </a:extLst>
          </p:cNvPr>
          <p:cNvSpPr/>
          <p:nvPr/>
        </p:nvSpPr>
        <p:spPr>
          <a:xfrm>
            <a:off x="623867" y="4974588"/>
            <a:ext cx="4681728" cy="685800"/>
          </a:xfrm>
          <a:prstGeom prst="rect">
            <a:avLst/>
          </a:prstGeom>
          <a:solidFill>
            <a:srgbClr val="F5F8FC"/>
          </a:solidFill>
          <a:ln w="12700">
            <a:solidFill>
              <a:srgbClr val="D9E0E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44" name="Text 15">
            <a:extLst>
              <a:ext uri="{FF2B5EF4-FFF2-40B4-BE49-F238E27FC236}">
                <a16:creationId xmlns:a16="http://schemas.microsoft.com/office/drawing/2014/main" id="{080CBECA-4380-6ABF-59E9-1741415C951B}"/>
              </a:ext>
            </a:extLst>
          </p:cNvPr>
          <p:cNvSpPr/>
          <p:nvPr/>
        </p:nvSpPr>
        <p:spPr>
          <a:xfrm>
            <a:off x="797603" y="5084316"/>
            <a:ext cx="4334256" cy="256032"/>
          </a:xfrm>
          <a:prstGeom prst="rect">
            <a:avLst/>
          </a:prstGeom>
          <a:noFill/>
          <a:ln/>
        </p:spPr>
        <p:txBody>
          <a:bodyPr wrap="square" lIns="0" tIns="0" rIns="0" bIns="0" rtlCol="0" anchor="ctr"/>
          <a:lstStyle/>
          <a:p>
            <a:pPr marL="0" indent="0">
              <a:buNone/>
            </a:pPr>
            <a:r>
              <a:rPr lang="en-US" sz="2000" b="1" dirty="0">
                <a:solidFill>
                  <a:srgbClr val="1E2A5C"/>
                </a:solidFill>
                <a:latin typeface="Pretendard" panose="02000503000000020004" pitchFamily="50" charset="-127"/>
                <a:ea typeface="Pretendard" panose="02000503000000020004" pitchFamily="50" charset="-127"/>
                <a:cs typeface="Pretendard" panose="02000503000000020004" pitchFamily="50" charset="-127"/>
              </a:rPr>
              <a:t>3  선택한 기존 벡터가 있나요?</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16">
            <a:extLst>
              <a:ext uri="{FF2B5EF4-FFF2-40B4-BE49-F238E27FC236}">
                <a16:creationId xmlns:a16="http://schemas.microsoft.com/office/drawing/2014/main" id="{C415CCB6-52DF-73CD-C210-C310A1F4C16F}"/>
              </a:ext>
            </a:extLst>
          </p:cNvPr>
          <p:cNvSpPr/>
          <p:nvPr/>
        </p:nvSpPr>
        <p:spPr>
          <a:xfrm>
            <a:off x="797603" y="5386068"/>
            <a:ext cx="4334256" cy="201168"/>
          </a:xfrm>
          <a:prstGeom prst="rect">
            <a:avLst/>
          </a:prstGeom>
          <a:noFill/>
          <a:ln/>
        </p:spPr>
        <p:txBody>
          <a:bodyPr wrap="square" lIns="0" tIns="0" rIns="0" bIns="0" rtlCol="0" anchor="ctr"/>
          <a:lstStyle/>
          <a:p>
            <a:pPr marL="0" indent="0">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get_vectors() 조회 결과에서 해당 ID 확인</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Shape 17">
            <a:extLst>
              <a:ext uri="{FF2B5EF4-FFF2-40B4-BE49-F238E27FC236}">
                <a16:creationId xmlns:a16="http://schemas.microsoft.com/office/drawing/2014/main" id="{27F1204A-CEA4-190E-50C7-1C982952C73C}"/>
              </a:ext>
            </a:extLst>
          </p:cNvPr>
          <p:cNvSpPr/>
          <p:nvPr/>
        </p:nvSpPr>
        <p:spPr>
          <a:xfrm>
            <a:off x="2964731" y="3456684"/>
            <a:ext cx="0" cy="338328"/>
          </a:xfrm>
          <a:prstGeom prst="line">
            <a:avLst/>
          </a:prstGeom>
          <a:noFill/>
          <a:ln w="25400">
            <a:solidFill>
              <a:srgbClr val="2E74C6"/>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Text 18">
            <a:extLst>
              <a:ext uri="{FF2B5EF4-FFF2-40B4-BE49-F238E27FC236}">
                <a16:creationId xmlns:a16="http://schemas.microsoft.com/office/drawing/2014/main" id="{4B698AB8-8922-1778-BE57-19074E217F2D}"/>
              </a:ext>
            </a:extLst>
          </p:cNvPr>
          <p:cNvSpPr/>
          <p:nvPr/>
        </p:nvSpPr>
        <p:spPr>
          <a:xfrm>
            <a:off x="3138467" y="3548124"/>
            <a:ext cx="365760" cy="201168"/>
          </a:xfrm>
          <a:prstGeom prst="rect">
            <a:avLst/>
          </a:prstGeom>
          <a:noFill/>
          <a:ln/>
        </p:spPr>
        <p:txBody>
          <a:bodyPr wrap="square" lIns="0" tIns="0" rIns="0" bIns="0" rtlCol="0" anchor="ctr"/>
          <a:lstStyle/>
          <a:p>
            <a:pPr marL="0" indent="0">
              <a:buNone/>
            </a:pPr>
            <a:r>
              <a:rPr lang="en-US" sz="1500" dirty="0">
                <a:solidFill>
                  <a:srgbClr val="2E74C6"/>
                </a:solidFill>
                <a:latin typeface="Pretendard" panose="02000503000000020004" pitchFamily="50" charset="-127"/>
                <a:ea typeface="Pretendard" panose="02000503000000020004" pitchFamily="50" charset="-127"/>
                <a:cs typeface="Pretendard" panose="02000503000000020004" pitchFamily="50" charset="-127"/>
              </a:rPr>
              <a:t>예</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9" name="Shape 19">
            <a:extLst>
              <a:ext uri="{FF2B5EF4-FFF2-40B4-BE49-F238E27FC236}">
                <a16:creationId xmlns:a16="http://schemas.microsoft.com/office/drawing/2014/main" id="{623EDD77-F6F3-BFB2-E8F6-B4DAC35A1C83}"/>
              </a:ext>
            </a:extLst>
          </p:cNvPr>
          <p:cNvSpPr/>
          <p:nvPr/>
        </p:nvSpPr>
        <p:spPr>
          <a:xfrm>
            <a:off x="2964731" y="4572252"/>
            <a:ext cx="0" cy="338328"/>
          </a:xfrm>
          <a:prstGeom prst="line">
            <a:avLst/>
          </a:prstGeom>
          <a:noFill/>
          <a:ln w="25400">
            <a:solidFill>
              <a:srgbClr val="2E74C6"/>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31" name="Text 20">
            <a:extLst>
              <a:ext uri="{FF2B5EF4-FFF2-40B4-BE49-F238E27FC236}">
                <a16:creationId xmlns:a16="http://schemas.microsoft.com/office/drawing/2014/main" id="{7AC02331-A313-2D9F-4660-7ED55B8A81C4}"/>
              </a:ext>
            </a:extLst>
          </p:cNvPr>
          <p:cNvSpPr/>
          <p:nvPr/>
        </p:nvSpPr>
        <p:spPr>
          <a:xfrm>
            <a:off x="3138467" y="4663692"/>
            <a:ext cx="365760" cy="201168"/>
          </a:xfrm>
          <a:prstGeom prst="rect">
            <a:avLst/>
          </a:prstGeom>
          <a:noFill/>
          <a:ln/>
        </p:spPr>
        <p:txBody>
          <a:bodyPr wrap="square" lIns="0" tIns="0" rIns="0" bIns="0" rtlCol="0" anchor="ctr"/>
          <a:lstStyle/>
          <a:p>
            <a:pPr marL="0" indent="0">
              <a:buNone/>
            </a:pPr>
            <a:r>
              <a:rPr lang="en-US" sz="1500" dirty="0">
                <a:solidFill>
                  <a:srgbClr val="2E74C6"/>
                </a:solidFill>
                <a:latin typeface="Pretendard" panose="02000503000000020004" pitchFamily="50" charset="-127"/>
                <a:ea typeface="Pretendard" panose="02000503000000020004" pitchFamily="50" charset="-127"/>
                <a:cs typeface="Pretendard" panose="02000503000000020004" pitchFamily="50" charset="-127"/>
              </a:rPr>
              <a:t>예</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3" name="Shape 21">
            <a:extLst>
              <a:ext uri="{FF2B5EF4-FFF2-40B4-BE49-F238E27FC236}">
                <a16:creationId xmlns:a16="http://schemas.microsoft.com/office/drawing/2014/main" id="{FABC06F9-0A88-BCB7-6E7A-62B1FD0BF30B}"/>
              </a:ext>
            </a:extLst>
          </p:cNvPr>
          <p:cNvSpPr/>
          <p:nvPr/>
        </p:nvSpPr>
        <p:spPr>
          <a:xfrm>
            <a:off x="2964731" y="5687820"/>
            <a:ext cx="0" cy="274320"/>
          </a:xfrm>
          <a:prstGeom prst="line">
            <a:avLst/>
          </a:prstGeom>
          <a:noFill/>
          <a:ln w="25400">
            <a:solidFill>
              <a:srgbClr val="2E74C6"/>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35" name="Text 22">
            <a:extLst>
              <a:ext uri="{FF2B5EF4-FFF2-40B4-BE49-F238E27FC236}">
                <a16:creationId xmlns:a16="http://schemas.microsoft.com/office/drawing/2014/main" id="{C01B38CE-2F82-4413-0222-C417D8BEF633}"/>
              </a:ext>
            </a:extLst>
          </p:cNvPr>
          <p:cNvSpPr/>
          <p:nvPr/>
        </p:nvSpPr>
        <p:spPr>
          <a:xfrm>
            <a:off x="3138467" y="5751828"/>
            <a:ext cx="365760" cy="201168"/>
          </a:xfrm>
          <a:prstGeom prst="rect">
            <a:avLst/>
          </a:prstGeom>
          <a:noFill/>
          <a:ln/>
        </p:spPr>
        <p:txBody>
          <a:bodyPr wrap="square" lIns="0" tIns="0" rIns="0" bIns="0" rtlCol="0" anchor="ctr"/>
          <a:lstStyle/>
          <a:p>
            <a:pPr marL="0" indent="0">
              <a:buNone/>
            </a:pPr>
            <a:r>
              <a:rPr lang="en-US" sz="1500" dirty="0">
                <a:solidFill>
                  <a:srgbClr val="2E74C6"/>
                </a:solidFill>
                <a:latin typeface="Pretendard" panose="02000503000000020004" pitchFamily="50" charset="-127"/>
                <a:ea typeface="Pretendard" panose="02000503000000020004" pitchFamily="50" charset="-127"/>
                <a:cs typeface="Pretendard" panose="02000503000000020004" pitchFamily="50" charset="-127"/>
              </a:rPr>
              <a:t>예</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7" name="Shape 23">
            <a:extLst>
              <a:ext uri="{FF2B5EF4-FFF2-40B4-BE49-F238E27FC236}">
                <a16:creationId xmlns:a16="http://schemas.microsoft.com/office/drawing/2014/main" id="{328081A8-FF42-8D7C-7733-D16B77E7C725}"/>
              </a:ext>
            </a:extLst>
          </p:cNvPr>
          <p:cNvSpPr/>
          <p:nvPr/>
        </p:nvSpPr>
        <p:spPr>
          <a:xfrm>
            <a:off x="5954819" y="3036060"/>
            <a:ext cx="0" cy="2281428"/>
          </a:xfrm>
          <a:prstGeom prst="line">
            <a:avLst/>
          </a:prstGeom>
          <a:noFill/>
          <a:ln w="22860">
            <a:solidFill>
              <a:srgbClr val="4A5364"/>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39" name="Shape 24">
            <a:extLst>
              <a:ext uri="{FF2B5EF4-FFF2-40B4-BE49-F238E27FC236}">
                <a16:creationId xmlns:a16="http://schemas.microsoft.com/office/drawing/2014/main" id="{CA24FB9E-1545-B30C-56EB-87DF05DFB6BD}"/>
              </a:ext>
            </a:extLst>
          </p:cNvPr>
          <p:cNvSpPr/>
          <p:nvPr/>
        </p:nvSpPr>
        <p:spPr>
          <a:xfrm>
            <a:off x="5333027" y="3036060"/>
            <a:ext cx="621792" cy="0"/>
          </a:xfrm>
          <a:prstGeom prst="line">
            <a:avLst/>
          </a:prstGeom>
          <a:noFill/>
          <a:ln w="22860">
            <a:solidFill>
              <a:srgbClr val="4A5364"/>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41" name="Text 25">
            <a:extLst>
              <a:ext uri="{FF2B5EF4-FFF2-40B4-BE49-F238E27FC236}">
                <a16:creationId xmlns:a16="http://schemas.microsoft.com/office/drawing/2014/main" id="{C81FDCDD-F97A-E960-1A14-0D126D139616}"/>
              </a:ext>
            </a:extLst>
          </p:cNvPr>
          <p:cNvSpPr/>
          <p:nvPr/>
        </p:nvSpPr>
        <p:spPr>
          <a:xfrm>
            <a:off x="5360459" y="2780028"/>
            <a:ext cx="585216" cy="201168"/>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아니요</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3" name="Shape 26">
            <a:extLst>
              <a:ext uri="{FF2B5EF4-FFF2-40B4-BE49-F238E27FC236}">
                <a16:creationId xmlns:a16="http://schemas.microsoft.com/office/drawing/2014/main" id="{FF0482E1-5461-DC08-BE7A-A663B9E8034F}"/>
              </a:ext>
            </a:extLst>
          </p:cNvPr>
          <p:cNvSpPr/>
          <p:nvPr/>
        </p:nvSpPr>
        <p:spPr>
          <a:xfrm>
            <a:off x="5333027" y="4201920"/>
            <a:ext cx="621792" cy="0"/>
          </a:xfrm>
          <a:prstGeom prst="line">
            <a:avLst/>
          </a:prstGeom>
          <a:noFill/>
          <a:ln w="22860">
            <a:solidFill>
              <a:srgbClr val="4A5364"/>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45" name="Text 27">
            <a:extLst>
              <a:ext uri="{FF2B5EF4-FFF2-40B4-BE49-F238E27FC236}">
                <a16:creationId xmlns:a16="http://schemas.microsoft.com/office/drawing/2014/main" id="{43BB9236-44B4-5E96-03C6-B59441B7364A}"/>
              </a:ext>
            </a:extLst>
          </p:cNvPr>
          <p:cNvSpPr/>
          <p:nvPr/>
        </p:nvSpPr>
        <p:spPr>
          <a:xfrm>
            <a:off x="5360459" y="3945888"/>
            <a:ext cx="585216" cy="201168"/>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아니요</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7" name="Shape 28">
            <a:extLst>
              <a:ext uri="{FF2B5EF4-FFF2-40B4-BE49-F238E27FC236}">
                <a16:creationId xmlns:a16="http://schemas.microsoft.com/office/drawing/2014/main" id="{3A22EFE9-5D47-BC4E-CB2C-3ADA11C6E85F}"/>
              </a:ext>
            </a:extLst>
          </p:cNvPr>
          <p:cNvSpPr/>
          <p:nvPr/>
        </p:nvSpPr>
        <p:spPr>
          <a:xfrm>
            <a:off x="5333027" y="5317488"/>
            <a:ext cx="621792" cy="0"/>
          </a:xfrm>
          <a:prstGeom prst="line">
            <a:avLst/>
          </a:prstGeom>
          <a:noFill/>
          <a:ln w="22860">
            <a:solidFill>
              <a:srgbClr val="4A5364"/>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49" name="Text 29">
            <a:extLst>
              <a:ext uri="{FF2B5EF4-FFF2-40B4-BE49-F238E27FC236}">
                <a16:creationId xmlns:a16="http://schemas.microsoft.com/office/drawing/2014/main" id="{D4D51051-586D-8F39-4193-87918936B24A}"/>
              </a:ext>
            </a:extLst>
          </p:cNvPr>
          <p:cNvSpPr/>
          <p:nvPr/>
        </p:nvSpPr>
        <p:spPr>
          <a:xfrm>
            <a:off x="5360459" y="5061456"/>
            <a:ext cx="585216" cy="201168"/>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아니요</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1" name="Shape 30">
            <a:extLst>
              <a:ext uri="{FF2B5EF4-FFF2-40B4-BE49-F238E27FC236}">
                <a16:creationId xmlns:a16="http://schemas.microsoft.com/office/drawing/2014/main" id="{EB7CC80F-7FFC-AAAC-C0E0-5D36230C2F7C}"/>
              </a:ext>
            </a:extLst>
          </p:cNvPr>
          <p:cNvSpPr/>
          <p:nvPr/>
        </p:nvSpPr>
        <p:spPr>
          <a:xfrm>
            <a:off x="5954819" y="4201920"/>
            <a:ext cx="274320" cy="0"/>
          </a:xfrm>
          <a:prstGeom prst="line">
            <a:avLst/>
          </a:prstGeom>
          <a:noFill/>
          <a:ln w="22860">
            <a:solidFill>
              <a:srgbClr val="4A5364"/>
            </a:solidFill>
            <a:prstDash val="solid"/>
            <a:tailEnd type="triangle"/>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53" name="Shape 31">
            <a:extLst>
              <a:ext uri="{FF2B5EF4-FFF2-40B4-BE49-F238E27FC236}">
                <a16:creationId xmlns:a16="http://schemas.microsoft.com/office/drawing/2014/main" id="{B0799379-1126-E0E1-F905-B65CFD2B2643}"/>
              </a:ext>
            </a:extLst>
          </p:cNvPr>
          <p:cNvSpPr/>
          <p:nvPr/>
        </p:nvSpPr>
        <p:spPr>
          <a:xfrm>
            <a:off x="6293147" y="3813300"/>
            <a:ext cx="1078992" cy="950976"/>
          </a:xfrm>
          <a:prstGeom prst="rect">
            <a:avLst/>
          </a:prstGeom>
          <a:solidFill>
            <a:srgbClr val="1E2A5C"/>
          </a:solidFill>
          <a:ln w="12700">
            <a:solidFill>
              <a:srgbClr val="1E2A5C"/>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55" name="Text 32">
            <a:extLst>
              <a:ext uri="{FF2B5EF4-FFF2-40B4-BE49-F238E27FC236}">
                <a16:creationId xmlns:a16="http://schemas.microsoft.com/office/drawing/2014/main" id="{CE2F6E80-6A87-9B62-1DA4-A106F5483BDA}"/>
              </a:ext>
            </a:extLst>
          </p:cNvPr>
          <p:cNvSpPr/>
          <p:nvPr/>
        </p:nvSpPr>
        <p:spPr>
          <a:xfrm>
            <a:off x="6375443" y="3977892"/>
            <a:ext cx="914400" cy="512064"/>
          </a:xfrm>
          <a:prstGeom prst="rect">
            <a:avLst/>
          </a:prstGeom>
          <a:noFill/>
          <a:ln/>
        </p:spPr>
        <p:txBody>
          <a:bodyPr wrap="square" lIns="0" tIns="0" rIns="0" bIns="0" rtlCol="0" anchor="ctr"/>
          <a:lstStyle/>
          <a:p>
            <a:pPr marL="0" indent="0" algn="ctr">
              <a:buNone/>
            </a:pPr>
            <a:r>
              <a:rPr lang="en-US" sz="21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새로</a:t>
            </a:r>
            <a:endParaRPr lang="en-US" sz="21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21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임베딩</a:t>
            </a:r>
            <a:endParaRPr lang="en-US" sz="2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7" name="Shape 33">
            <a:extLst>
              <a:ext uri="{FF2B5EF4-FFF2-40B4-BE49-F238E27FC236}">
                <a16:creationId xmlns:a16="http://schemas.microsoft.com/office/drawing/2014/main" id="{90A4BF13-EF07-A2AC-B69D-4BD5F9CB2696}"/>
              </a:ext>
            </a:extLst>
          </p:cNvPr>
          <p:cNvSpPr/>
          <p:nvPr/>
        </p:nvSpPr>
        <p:spPr>
          <a:xfrm>
            <a:off x="623867" y="6026148"/>
            <a:ext cx="4681728" cy="493776"/>
          </a:xfrm>
          <a:prstGeom prst="rect">
            <a:avLst/>
          </a:prstGeom>
          <a:solidFill>
            <a:srgbClr val="EEF3FA"/>
          </a:solidFill>
          <a:ln w="12700">
            <a:solidFill>
              <a:srgbClr val="2E74C6"/>
            </a:solidFill>
            <a:prstDash val="solid"/>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59" name="Text 34">
            <a:extLst>
              <a:ext uri="{FF2B5EF4-FFF2-40B4-BE49-F238E27FC236}">
                <a16:creationId xmlns:a16="http://schemas.microsoft.com/office/drawing/2014/main" id="{C7003A68-0F2B-17B6-126A-D611A44389F1}"/>
              </a:ext>
            </a:extLst>
          </p:cNvPr>
          <p:cNvSpPr/>
          <p:nvPr/>
        </p:nvSpPr>
        <p:spPr>
          <a:xfrm>
            <a:off x="806747" y="6135876"/>
            <a:ext cx="4315968" cy="256032"/>
          </a:xfrm>
          <a:prstGeom prst="rect">
            <a:avLst/>
          </a:prstGeom>
          <a:noFill/>
          <a:ln/>
        </p:spPr>
        <p:txBody>
          <a:bodyPr wrap="square" lIns="0" tIns="0" rIns="0" bIns="0" rtlCol="0" anchor="ctr"/>
          <a:lstStyle/>
          <a:p>
            <a:pPr marL="0" indent="0" algn="ctr">
              <a:buNone/>
            </a:pPr>
            <a:r>
              <a:rPr lang="en-US" sz="2100" b="1" dirty="0">
                <a:solidFill>
                  <a:srgbClr val="2E74C6"/>
                </a:solidFill>
                <a:latin typeface="Pretendard" panose="02000503000000020004" pitchFamily="50" charset="-127"/>
                <a:ea typeface="Pretendard" panose="02000503000000020004" pitchFamily="50" charset="-127"/>
                <a:cs typeface="Pretendard" panose="02000503000000020004" pitchFamily="50" charset="-127"/>
              </a:rPr>
              <a:t>기존 벡터 재사용</a:t>
            </a:r>
            <a:endParaRPr lang="en-US" sz="2100" dirty="0">
              <a:latin typeface="Pretendard" panose="02000503000000020004" pitchFamily="50" charset="-127"/>
              <a:ea typeface="Pretendard" panose="02000503000000020004" pitchFamily="50" charset="-127"/>
              <a:cs typeface="Pretendard" panose="02000503000000020004" pitchFamily="50" charset="-127"/>
            </a:endParaRPr>
          </a:p>
        </p:txBody>
      </p:sp>
      <p:graphicFrame>
        <p:nvGraphicFramePr>
          <p:cNvPr id="161" name="Table 0">
            <a:extLst>
              <a:ext uri="{FF2B5EF4-FFF2-40B4-BE49-F238E27FC236}">
                <a16:creationId xmlns:a16="http://schemas.microsoft.com/office/drawing/2014/main" id="{B4FBB820-5315-649A-1DE8-769EA402175F}"/>
              </a:ext>
            </a:extLst>
          </p:cNvPr>
          <p:cNvGraphicFramePr>
            <a:graphicFrameLocks noGrp="1"/>
          </p:cNvGraphicFramePr>
          <p:nvPr/>
        </p:nvGraphicFramePr>
        <p:xfrm>
          <a:off x="7801907" y="2642868"/>
          <a:ext cx="6446520" cy="3035808"/>
        </p:xfrm>
        <a:graphic>
          <a:graphicData uri="http://schemas.openxmlformats.org/drawingml/2006/table">
            <a:tbl>
              <a:tblPr/>
              <a:tblGrid>
                <a:gridCol w="4370832">
                  <a:extLst>
                    <a:ext uri="{9D8B030D-6E8A-4147-A177-3AD203B41FA5}">
                      <a16:colId xmlns:a16="http://schemas.microsoft.com/office/drawing/2014/main" val="20000"/>
                    </a:ext>
                  </a:extLst>
                </a:gridCol>
                <a:gridCol w="2075688">
                  <a:extLst>
                    <a:ext uri="{9D8B030D-6E8A-4147-A177-3AD203B41FA5}">
                      <a16:colId xmlns:a16="http://schemas.microsoft.com/office/drawing/2014/main" val="20001"/>
                    </a:ext>
                  </a:extLst>
                </a:gridCol>
              </a:tblGrid>
              <a:tr h="402336">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상황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결정</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66344">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출처·접근 등급 등 메타데이터만 변경</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벡터 재사용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6344">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ID 변경 · 정제 본문은 동일</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벡터 재사용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66344">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새 본문 · 일치하는 기존 해시 없음</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새 임베딩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6344">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선택한 기존 벡터가 조회 결과에 없음</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새 임베딩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768096">
                <a:tc>
                  <a:txBody>
                    <a:bodyPr/>
                    <a:lstStyle/>
                    <a:p>
                      <a:pPr marL="0" indent="0">
                        <a:buNone/>
                      </a:pPr>
                      <a:r>
                        <a:rPr lang="en-US" sz="1700" dirty="0" err="1">
                          <a:solidFill>
                            <a:srgbClr val="2B3242"/>
                          </a:solidFill>
                          <a:latin typeface="Pretendard" pitchFamily="34" charset="0"/>
                          <a:ea typeface="Pretendard" pitchFamily="34" charset="-122"/>
                          <a:cs typeface="Pretendard" pitchFamily="34" charset="-120"/>
                        </a:rPr>
                        <a:t>모델</a:t>
                      </a:r>
                      <a:r>
                        <a:rPr lang="ko-KR" altLang="en-US" sz="1700" dirty="0">
                          <a:solidFill>
                            <a:srgbClr val="2B3242"/>
                          </a:solidFill>
                          <a:latin typeface="Pretendard" pitchFamily="34" charset="0"/>
                          <a:ea typeface="Pretendard" pitchFamily="34" charset="-122"/>
                          <a:cs typeface="Pretendard" pitchFamily="34" charset="-120"/>
                        </a:rPr>
                        <a:t>과 </a:t>
                      </a:r>
                      <a:r>
                        <a:rPr lang="ko-KR" altLang="en-US" sz="1700" dirty="0" err="1">
                          <a:solidFill>
                            <a:srgbClr val="2B3242"/>
                          </a:solidFill>
                          <a:latin typeface="Pretendard" pitchFamily="34" charset="0"/>
                          <a:ea typeface="Pretendard" pitchFamily="34" charset="-122"/>
                          <a:cs typeface="Pretendard" pitchFamily="34" charset="-120"/>
                        </a:rPr>
                        <a:t>임베딩</a:t>
                      </a:r>
                      <a:r>
                        <a:rPr lang="ko-KR" altLang="en-US" sz="1700" dirty="0">
                          <a:solidFill>
                            <a:srgbClr val="2B3242"/>
                          </a:solidFill>
                          <a:latin typeface="Pretendard" pitchFamily="34" charset="0"/>
                          <a:ea typeface="Pretendard" pitchFamily="34" charset="-122"/>
                          <a:cs typeface="Pretendard" pitchFamily="34" charset="-120"/>
                        </a:rPr>
                        <a:t> 설정</a:t>
                      </a:r>
                      <a:r>
                        <a:rPr lang="en-US" sz="1700" dirty="0">
                          <a:solidFill>
                            <a:srgbClr val="2B3242"/>
                          </a:solidFill>
                          <a:latin typeface="Pretendard" pitchFamily="34" charset="0"/>
                          <a:ea typeface="Pretendard" pitchFamily="34" charset="-122"/>
                          <a:cs typeface="Pretendard" pitchFamily="34" charset="-120"/>
                        </a:rPr>
                        <a:t> 변경 또는</a:t>
                      </a:r>
                      <a:endParaRPr lang="en-US" sz="1700" dirty="0">
                        <a:latin typeface="Pretendard" charset="0"/>
                        <a:ea typeface="Pretendard" charset="0"/>
                        <a:cs typeface="Pretendard" charset="0"/>
                      </a:endParaRPr>
                    </a:p>
                    <a:p>
                      <a:pPr marL="0" indent="0">
                        <a:buNone/>
                      </a:pPr>
                      <a:r>
                        <a:rPr lang="en-US" sz="1700" dirty="0">
                          <a:solidFill>
                            <a:srgbClr val="2B3242"/>
                          </a:solidFill>
                          <a:latin typeface="Pretendard" pitchFamily="34" charset="0"/>
                          <a:ea typeface="Pretendard" pitchFamily="34" charset="-122"/>
                          <a:cs typeface="Pretendard" pitchFamily="34" charset="-120"/>
                        </a:rPr>
                        <a:t>full_reindex = true</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현재 대상 전부</a:t>
                      </a:r>
                      <a:endParaRPr lang="en-US" sz="1700" dirty="0">
                        <a:latin typeface="Pretendard" charset="0"/>
                        <a:ea typeface="Pretendard" charset="0"/>
                        <a:cs typeface="Pretendard" charset="0"/>
                      </a:endParaRPr>
                    </a:p>
                    <a:p>
                      <a:pPr marL="0" indent="0">
                        <a:buNone/>
                      </a:pPr>
                      <a:r>
                        <a:rPr lang="en-US" sz="1700" dirty="0">
                          <a:solidFill>
                            <a:srgbClr val="2B3242"/>
                          </a:solidFill>
                          <a:latin typeface="Pretendard" pitchFamily="34" charset="0"/>
                          <a:ea typeface="Pretendard" pitchFamily="34" charset="-122"/>
                          <a:cs typeface="Pretendard" pitchFamily="34" charset="-120"/>
                        </a:rPr>
                        <a:t>새 임베딩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5" name="Text 36">
            <a:extLst>
              <a:ext uri="{FF2B5EF4-FFF2-40B4-BE49-F238E27FC236}">
                <a16:creationId xmlns:a16="http://schemas.microsoft.com/office/drawing/2014/main" id="{F1D1DA77-4F73-2CC6-8281-5BB79B87CEA5}"/>
              </a:ext>
            </a:extLst>
          </p:cNvPr>
          <p:cNvSpPr/>
          <p:nvPr/>
        </p:nvSpPr>
        <p:spPr>
          <a:xfrm>
            <a:off x="7801907" y="5930027"/>
            <a:ext cx="6446520" cy="475488"/>
          </a:xfrm>
          <a:prstGeom prst="rect">
            <a:avLst/>
          </a:prstGeom>
          <a:noFill/>
          <a:ln/>
        </p:spPr>
        <p:txBody>
          <a:bodyPr wrap="square" lIns="0" tIns="0" rIns="0" bIns="0" rtlCol="0" anchor="ctr"/>
          <a:lstStyle/>
          <a:p>
            <a:pPr marL="0" indent="0">
              <a:buNone/>
            </a:pPr>
            <a:r>
              <a:rPr lang="en-US" sz="18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벡터를 재사용해도 최신 </a:t>
            </a:r>
            <a:r>
              <a:rPr lang="en-US" sz="1800" dirty="0" err="1">
                <a:solidFill>
                  <a:srgbClr val="4A5364"/>
                </a:solidFill>
                <a:latin typeface="Pretendard" panose="02000503000000020004" pitchFamily="50" charset="-127"/>
                <a:ea typeface="Pretendard" panose="02000503000000020004" pitchFamily="50" charset="-127"/>
                <a:cs typeface="Pretendard" panose="02000503000000020004" pitchFamily="50" charset="-127"/>
              </a:rPr>
              <a:t>메타데이터와</a:t>
            </a:r>
            <a:r>
              <a:rPr lang="en-US" sz="18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 </a:t>
            </a:r>
            <a:r>
              <a:rPr lang="en-US" sz="1800" dirty="0" err="1">
                <a:solidFill>
                  <a:srgbClr val="4A5364"/>
                </a:solidFill>
                <a:latin typeface="Pretendard" panose="02000503000000020004" pitchFamily="50" charset="-127"/>
                <a:ea typeface="Pretendard" panose="02000503000000020004" pitchFamily="50" charset="-127"/>
                <a:cs typeface="Pretendard" panose="02000503000000020004" pitchFamily="50" charset="-127"/>
              </a:rPr>
              <a:t>함께</a:t>
            </a:r>
            <a:r>
              <a:rPr lang="en-US" dirty="0">
                <a:latin typeface="Pretendard" panose="02000503000000020004" pitchFamily="50" charset="-127"/>
                <a:ea typeface="Pretendard" panose="02000503000000020004" pitchFamily="50" charset="-127"/>
                <a:cs typeface="Pretendard" panose="02000503000000020004" pitchFamily="50" charset="-127"/>
              </a:rPr>
              <a:t> </a:t>
            </a:r>
            <a:r>
              <a:rPr lang="en-US" sz="18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새 세대에 </a:t>
            </a:r>
            <a:r>
              <a:rPr lang="en-US" sz="1800" dirty="0" err="1">
                <a:solidFill>
                  <a:srgbClr val="4A5364"/>
                </a:solidFill>
                <a:latin typeface="Pretendard" panose="02000503000000020004" pitchFamily="50" charset="-127"/>
                <a:ea typeface="Pretendard" panose="02000503000000020004" pitchFamily="50" charset="-127"/>
                <a:cs typeface="Pretendard" panose="02000503000000020004" pitchFamily="50" charset="-127"/>
              </a:rPr>
              <a:t>다시</a:t>
            </a:r>
            <a:r>
              <a:rPr lang="en-US" sz="1800" dirty="0">
                <a:solidFill>
                  <a:srgbClr val="4A5364"/>
                </a:solidFill>
                <a:latin typeface="Pretendard" panose="02000503000000020004" pitchFamily="50" charset="-127"/>
                <a:ea typeface="Pretendard" panose="02000503000000020004" pitchFamily="50" charset="-127"/>
                <a:cs typeface="Pretendard" panose="02000503000000020004" pitchFamily="50" charset="-127"/>
              </a:rPr>
              <a:t> </a:t>
            </a:r>
            <a:r>
              <a:rPr lang="en-US" sz="1800" dirty="0" err="1">
                <a:solidFill>
                  <a:srgbClr val="4A5364"/>
                </a:solidFill>
                <a:latin typeface="Pretendard" panose="02000503000000020004" pitchFamily="50" charset="-127"/>
                <a:ea typeface="Pretendard" panose="02000503000000020004" pitchFamily="50" charset="-127"/>
                <a:cs typeface="Pretendard" panose="02000503000000020004" pitchFamily="50" charset="-127"/>
              </a:rPr>
              <a:t>적재</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3749762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인덱싱 </a:t>
            </a:r>
            <a:r>
              <a:rPr lang="en-US" altLang="ko-KR" dirty="0">
                <a:solidFill>
                  <a:srgbClr val="2C2926"/>
                </a:solidFill>
                <a:latin typeface="Pretendard" pitchFamily="34" charset="0"/>
                <a:ea typeface="Pretendard" pitchFamily="34" charset="-122"/>
                <a:cs typeface="Pretendard" pitchFamily="34" charset="-120"/>
              </a:rPr>
              <a:t>– S2. </a:t>
            </a:r>
            <a:r>
              <a:rPr lang="en-US" sz="3200" b="1" dirty="0" err="1">
                <a:solidFill>
                  <a:srgbClr val="2C2926"/>
                </a:solidFill>
                <a:latin typeface="Pretendard" pitchFamily="34" charset="0"/>
                <a:ea typeface="Pretendard" pitchFamily="34" charset="-122"/>
                <a:cs typeface="Pretendard" pitchFamily="34" charset="-120"/>
              </a:rPr>
              <a:t>키워드</a:t>
            </a:r>
            <a:r>
              <a:rPr lang="en-US" sz="3200" b="1" dirty="0">
                <a:solidFill>
                  <a:srgbClr val="2C2926"/>
                </a:solidFill>
                <a:latin typeface="Pretendard" pitchFamily="34" charset="0"/>
                <a:ea typeface="Pretendard" pitchFamily="34" charset="-122"/>
                <a:cs typeface="Pretendard" pitchFamily="34" charset="-120"/>
              </a:rPr>
              <a:t> 분석</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파이썬에서 Kiwi로 낱말을 잘라 넣고, BM25 점수는 검색 엔진이 검색할 때 계산함</a:t>
            </a:r>
            <a:endParaRPr lang="en-US" sz="1800" dirty="0"/>
          </a:p>
        </p:txBody>
      </p:sp>
      <p:sp>
        <p:nvSpPr>
          <p:cNvPr id="5" name="Shape 2"/>
          <p:cNvSpPr/>
          <p:nvPr/>
        </p:nvSpPr>
        <p:spPr>
          <a:xfrm>
            <a:off x="509321" y="1783080"/>
            <a:ext cx="914400" cy="1234440"/>
          </a:xfrm>
          <a:prstGeom prst="roundRect">
            <a:avLst>
              <a:gd name="adj" fmla="val 5000"/>
            </a:avLst>
          </a:prstGeom>
          <a:solidFill>
            <a:srgbClr val="404155"/>
          </a:solidFill>
          <a:ln/>
        </p:spPr>
        <p:txBody>
          <a:bodyPr/>
          <a:lstStyle/>
          <a:p>
            <a:endParaRPr lang="ko-KR" altLang="en-US"/>
          </a:p>
        </p:txBody>
      </p:sp>
      <p:sp>
        <p:nvSpPr>
          <p:cNvPr id="6" name="Text 3"/>
          <p:cNvSpPr txBox="1"/>
          <p:nvPr/>
        </p:nvSpPr>
        <p:spPr>
          <a:xfrm>
            <a:off x="509321" y="1783080"/>
            <a:ext cx="914400" cy="1234440"/>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색인 때</a:t>
            </a:r>
            <a:endParaRPr lang="en-US" sz="1700" dirty="0"/>
          </a:p>
        </p:txBody>
      </p:sp>
      <p:sp>
        <p:nvSpPr>
          <p:cNvPr id="7" name="Shape 4"/>
          <p:cNvSpPr/>
          <p:nvPr/>
        </p:nvSpPr>
        <p:spPr>
          <a:xfrm>
            <a:off x="509321" y="3657600"/>
            <a:ext cx="914400" cy="914400"/>
          </a:xfrm>
          <a:prstGeom prst="roundRect">
            <a:avLst>
              <a:gd name="adj" fmla="val 5000"/>
            </a:avLst>
          </a:prstGeom>
          <a:solidFill>
            <a:srgbClr val="404155"/>
          </a:solidFill>
          <a:ln/>
        </p:spPr>
        <p:txBody>
          <a:bodyPr/>
          <a:lstStyle/>
          <a:p>
            <a:endParaRPr lang="ko-KR" altLang="en-US"/>
          </a:p>
        </p:txBody>
      </p:sp>
      <p:sp>
        <p:nvSpPr>
          <p:cNvPr id="8" name="Text 5"/>
          <p:cNvSpPr txBox="1"/>
          <p:nvPr/>
        </p:nvSpPr>
        <p:spPr>
          <a:xfrm>
            <a:off x="509321" y="3657600"/>
            <a:ext cx="914400" cy="914400"/>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검색 때</a:t>
            </a:r>
            <a:endParaRPr lang="en-US" sz="1700" dirty="0"/>
          </a:p>
        </p:txBody>
      </p:sp>
      <p:sp>
        <p:nvSpPr>
          <p:cNvPr id="9" name="Shape 6"/>
          <p:cNvSpPr/>
          <p:nvPr/>
        </p:nvSpPr>
        <p:spPr>
          <a:xfrm>
            <a:off x="1600200" y="1783080"/>
            <a:ext cx="2250704" cy="1234440"/>
          </a:xfrm>
          <a:prstGeom prst="roundRect">
            <a:avLst>
              <a:gd name="adj" fmla="val 5926"/>
            </a:avLst>
          </a:prstGeom>
          <a:solidFill>
            <a:srgbClr val="EEF3FA"/>
          </a:solidFill>
          <a:ln w="12700">
            <a:solidFill>
              <a:srgbClr val="D9E0EC"/>
            </a:solidFill>
            <a:prstDash val="solid"/>
          </a:ln>
        </p:spPr>
        <p:txBody>
          <a:bodyPr/>
          <a:lstStyle/>
          <a:p>
            <a:endParaRPr lang="ko-KR" altLang="en-US"/>
          </a:p>
        </p:txBody>
      </p:sp>
      <p:sp>
        <p:nvSpPr>
          <p:cNvPr id="10" name="Text 7"/>
          <p:cNvSpPr txBox="1"/>
          <p:nvPr/>
        </p:nvSpPr>
        <p:spPr>
          <a:xfrm>
            <a:off x="1600200" y="1783080"/>
            <a:ext cx="2250704" cy="123444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청크 색인용 본문</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(머리말 포함)</a:t>
            </a:r>
            <a:endParaRPr lang="en-US" sz="1700" dirty="0"/>
          </a:p>
        </p:txBody>
      </p:sp>
      <p:sp>
        <p:nvSpPr>
          <p:cNvPr id="11" name="Shape 8"/>
          <p:cNvSpPr/>
          <p:nvPr/>
        </p:nvSpPr>
        <p:spPr>
          <a:xfrm>
            <a:off x="3887480" y="2400300"/>
            <a:ext cx="246888" cy="0"/>
          </a:xfrm>
          <a:prstGeom prst="line">
            <a:avLst/>
          </a:prstGeom>
          <a:noFill/>
          <a:ln w="19050">
            <a:solidFill>
              <a:srgbClr val="4A5364"/>
            </a:solidFill>
            <a:prstDash val="solid"/>
            <a:tailEnd type="triangle"/>
          </a:ln>
        </p:spPr>
        <p:txBody>
          <a:bodyPr/>
          <a:lstStyle/>
          <a:p>
            <a:endParaRPr lang="ko-KR" altLang="en-US"/>
          </a:p>
        </p:txBody>
      </p:sp>
      <p:sp>
        <p:nvSpPr>
          <p:cNvPr id="12" name="Shape 9"/>
          <p:cNvSpPr/>
          <p:nvPr/>
        </p:nvSpPr>
        <p:spPr>
          <a:xfrm>
            <a:off x="4170944" y="1783080"/>
            <a:ext cx="2250704" cy="1234440"/>
          </a:xfrm>
          <a:prstGeom prst="roundRect">
            <a:avLst>
              <a:gd name="adj" fmla="val 5926"/>
            </a:avLst>
          </a:prstGeom>
          <a:solidFill>
            <a:srgbClr val="1E2A5C"/>
          </a:solidFill>
          <a:ln/>
        </p:spPr>
        <p:txBody>
          <a:bodyPr/>
          <a:lstStyle/>
          <a:p>
            <a:endParaRPr lang="ko-KR" altLang="en-US"/>
          </a:p>
        </p:txBody>
      </p:sp>
      <p:sp>
        <p:nvSpPr>
          <p:cNvPr id="13" name="Text 10"/>
          <p:cNvSpPr txBox="1"/>
          <p:nvPr/>
        </p:nvSpPr>
        <p:spPr>
          <a:xfrm>
            <a:off x="4170944" y="1783080"/>
            <a:ext cx="2250704" cy="123444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FFFFFF"/>
                </a:solidFill>
                <a:latin typeface="Pretendard" pitchFamily="34" charset="0"/>
                <a:ea typeface="Pretendard" pitchFamily="34" charset="-122"/>
                <a:cs typeface="Pretendard" pitchFamily="34" charset="-120"/>
              </a:rPr>
              <a:t>Kiwi 토크나이저</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표기 통일</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카드명 </a:t>
            </a:r>
            <a:r>
              <a:rPr lang="en-US" sz="1500" dirty="0" err="1">
                <a:solidFill>
                  <a:srgbClr val="FFFFFF"/>
                </a:solidFill>
                <a:latin typeface="Pretendard" pitchFamily="34" charset="0"/>
                <a:ea typeface="Pretendard" pitchFamily="34" charset="-122"/>
                <a:cs typeface="Pretendard" pitchFamily="34" charset="-120"/>
              </a:rPr>
              <a:t>사전과</a:t>
            </a:r>
            <a:r>
              <a:rPr lang="en-US" sz="1500" dirty="0">
                <a:solidFill>
                  <a:srgbClr val="FFFFFF"/>
                </a:solidFill>
                <a:latin typeface="Pretendard" pitchFamily="34" charset="0"/>
                <a:ea typeface="Pretendard" pitchFamily="34" charset="-122"/>
                <a:cs typeface="Pretendard" pitchFamily="34" charset="-120"/>
              </a:rPr>
              <a:t> </a:t>
            </a:r>
            <a:r>
              <a:rPr lang="en-US" sz="1500" dirty="0" err="1">
                <a:solidFill>
                  <a:srgbClr val="FFFFFF"/>
                </a:solidFill>
                <a:latin typeface="Pretendard" pitchFamily="34" charset="0"/>
                <a:ea typeface="Pretendard" pitchFamily="34" charset="-122"/>
                <a:cs typeface="Pretendard" pitchFamily="34" charset="-120"/>
              </a:rPr>
              <a:t>별칭</a:t>
            </a:r>
            <a:r>
              <a:rPr lang="en-US" sz="1500" dirty="0">
                <a:solidFill>
                  <a:srgbClr val="FFFFFF"/>
                </a:solidFill>
                <a:latin typeface="Pretendard" pitchFamily="34" charset="0"/>
                <a:ea typeface="Pretendard" pitchFamily="34" charset="-122"/>
                <a:cs typeface="Pretendard" pitchFamily="34" charset="-120"/>
              </a:rPr>
              <a:t> </a:t>
            </a:r>
            <a:r>
              <a:rPr lang="ko-KR" altLang="en-US" sz="1500" dirty="0">
                <a:solidFill>
                  <a:srgbClr val="FFFFFF"/>
                </a:solidFill>
                <a:latin typeface="Pretendard" pitchFamily="34" charset="0"/>
                <a:ea typeface="Pretendard" pitchFamily="34" charset="-122"/>
                <a:cs typeface="Pretendard" pitchFamily="34" charset="-120"/>
              </a:rPr>
              <a:t>사전</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조사와 어미 빼고 원형 보충</a:t>
            </a:r>
            <a:endParaRPr lang="en-US" sz="1700" dirty="0"/>
          </a:p>
        </p:txBody>
      </p:sp>
      <p:sp>
        <p:nvSpPr>
          <p:cNvPr id="14" name="Shape 11"/>
          <p:cNvSpPr/>
          <p:nvPr/>
        </p:nvSpPr>
        <p:spPr>
          <a:xfrm>
            <a:off x="6458224" y="2400300"/>
            <a:ext cx="246888" cy="0"/>
          </a:xfrm>
          <a:prstGeom prst="line">
            <a:avLst/>
          </a:prstGeom>
          <a:noFill/>
          <a:ln w="19050">
            <a:solidFill>
              <a:srgbClr val="4A5364"/>
            </a:solidFill>
            <a:prstDash val="solid"/>
            <a:tailEnd type="triangle"/>
          </a:ln>
        </p:spPr>
        <p:txBody>
          <a:bodyPr/>
          <a:lstStyle/>
          <a:p>
            <a:endParaRPr lang="ko-KR" altLang="en-US"/>
          </a:p>
        </p:txBody>
      </p:sp>
      <p:sp>
        <p:nvSpPr>
          <p:cNvPr id="15" name="Shape 12"/>
          <p:cNvSpPr/>
          <p:nvPr/>
        </p:nvSpPr>
        <p:spPr>
          <a:xfrm>
            <a:off x="6741688" y="1783080"/>
            <a:ext cx="2250704" cy="1234440"/>
          </a:xfrm>
          <a:prstGeom prst="roundRect">
            <a:avLst>
              <a:gd name="adj" fmla="val 5926"/>
            </a:avLst>
          </a:prstGeom>
          <a:solidFill>
            <a:srgbClr val="FFFFFF"/>
          </a:solidFill>
          <a:ln w="12700">
            <a:solidFill>
              <a:srgbClr val="D9E0EC"/>
            </a:solidFill>
            <a:prstDash val="solid"/>
          </a:ln>
        </p:spPr>
        <p:txBody>
          <a:bodyPr/>
          <a:lstStyle/>
          <a:p>
            <a:endParaRPr lang="ko-KR" altLang="en-US"/>
          </a:p>
        </p:txBody>
      </p:sp>
      <p:sp>
        <p:nvSpPr>
          <p:cNvPr id="16" name="Text 13"/>
          <p:cNvSpPr txBox="1"/>
          <p:nvPr/>
        </p:nvSpPr>
        <p:spPr>
          <a:xfrm>
            <a:off x="6741688" y="1783080"/>
            <a:ext cx="2250704" cy="123444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text_tokens 필드</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낱말을 공백으로 이음</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예) 한빛가족돌봄 카드 30000원 …</a:t>
            </a:r>
            <a:endParaRPr lang="en-US" sz="1700" dirty="0"/>
          </a:p>
        </p:txBody>
      </p:sp>
      <p:sp>
        <p:nvSpPr>
          <p:cNvPr id="17" name="Shape 14"/>
          <p:cNvSpPr/>
          <p:nvPr/>
        </p:nvSpPr>
        <p:spPr>
          <a:xfrm>
            <a:off x="9028968" y="2400300"/>
            <a:ext cx="246888" cy="0"/>
          </a:xfrm>
          <a:prstGeom prst="line">
            <a:avLst/>
          </a:prstGeom>
          <a:noFill/>
          <a:ln w="19050">
            <a:solidFill>
              <a:srgbClr val="4A5364"/>
            </a:solidFill>
            <a:prstDash val="solid"/>
            <a:tailEnd type="triangle"/>
          </a:ln>
        </p:spPr>
        <p:txBody>
          <a:bodyPr/>
          <a:lstStyle/>
          <a:p>
            <a:endParaRPr lang="ko-KR" altLang="en-US"/>
          </a:p>
        </p:txBody>
      </p:sp>
      <p:sp>
        <p:nvSpPr>
          <p:cNvPr id="18" name="Shape 15"/>
          <p:cNvSpPr/>
          <p:nvPr/>
        </p:nvSpPr>
        <p:spPr>
          <a:xfrm>
            <a:off x="9312432" y="1783080"/>
            <a:ext cx="2250704" cy="1234440"/>
          </a:xfrm>
          <a:prstGeom prst="roundRect">
            <a:avLst>
              <a:gd name="adj" fmla="val 5926"/>
            </a:avLst>
          </a:prstGeom>
          <a:solidFill>
            <a:srgbClr val="FFFFFF"/>
          </a:solidFill>
          <a:ln w="12700">
            <a:solidFill>
              <a:srgbClr val="D9E0EC"/>
            </a:solidFill>
            <a:prstDash val="solid"/>
          </a:ln>
        </p:spPr>
        <p:txBody>
          <a:bodyPr/>
          <a:lstStyle/>
          <a:p>
            <a:endParaRPr lang="ko-KR" altLang="en-US"/>
          </a:p>
        </p:txBody>
      </p:sp>
      <p:sp>
        <p:nvSpPr>
          <p:cNvPr id="19" name="Text 16"/>
          <p:cNvSpPr txBox="1"/>
          <p:nvPr/>
        </p:nvSpPr>
        <p:spPr>
          <a:xfrm>
            <a:off x="9312432" y="1783080"/>
            <a:ext cx="2250704" cy="123444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whitespace 분석기</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공백으로만 자름</a:t>
            </a:r>
            <a:endParaRPr lang="en-US" sz="1700" dirty="0"/>
          </a:p>
        </p:txBody>
      </p:sp>
      <p:sp>
        <p:nvSpPr>
          <p:cNvPr id="20" name="Shape 17"/>
          <p:cNvSpPr/>
          <p:nvPr/>
        </p:nvSpPr>
        <p:spPr>
          <a:xfrm>
            <a:off x="11599713" y="2400300"/>
            <a:ext cx="246888" cy="0"/>
          </a:xfrm>
          <a:prstGeom prst="line">
            <a:avLst/>
          </a:prstGeom>
          <a:noFill/>
          <a:ln w="19050">
            <a:solidFill>
              <a:srgbClr val="4A5364"/>
            </a:solidFill>
            <a:prstDash val="solid"/>
            <a:tailEnd type="triangle"/>
          </a:ln>
        </p:spPr>
        <p:txBody>
          <a:bodyPr/>
          <a:lstStyle/>
          <a:p>
            <a:endParaRPr lang="ko-KR" altLang="en-US"/>
          </a:p>
        </p:txBody>
      </p:sp>
      <p:sp>
        <p:nvSpPr>
          <p:cNvPr id="21" name="Shape 18"/>
          <p:cNvSpPr/>
          <p:nvPr/>
        </p:nvSpPr>
        <p:spPr>
          <a:xfrm>
            <a:off x="11883177" y="1783080"/>
            <a:ext cx="2250704" cy="1234440"/>
          </a:xfrm>
          <a:prstGeom prst="roundRect">
            <a:avLst>
              <a:gd name="adj" fmla="val 5926"/>
            </a:avLst>
          </a:prstGeom>
          <a:solidFill>
            <a:srgbClr val="FFFFFF"/>
          </a:solidFill>
          <a:ln w="12700">
            <a:solidFill>
              <a:srgbClr val="D9E0EC"/>
            </a:solidFill>
            <a:prstDash val="solid"/>
          </a:ln>
        </p:spPr>
        <p:txBody>
          <a:bodyPr/>
          <a:lstStyle/>
          <a:p>
            <a:endParaRPr lang="ko-KR" altLang="en-US"/>
          </a:p>
        </p:txBody>
      </p:sp>
      <p:sp>
        <p:nvSpPr>
          <p:cNvPr id="22" name="Text 19"/>
          <p:cNvSpPr txBox="1"/>
          <p:nvPr/>
        </p:nvSpPr>
        <p:spPr>
          <a:xfrm>
            <a:off x="11883177" y="1783080"/>
            <a:ext cx="2250704" cy="123444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역색인</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낱말 → 청크 목록</a:t>
            </a:r>
            <a:endParaRPr lang="en-US" sz="1700" dirty="0"/>
          </a:p>
        </p:txBody>
      </p:sp>
      <p:sp>
        <p:nvSpPr>
          <p:cNvPr id="23" name="Shape 20"/>
          <p:cNvSpPr/>
          <p:nvPr/>
        </p:nvSpPr>
        <p:spPr>
          <a:xfrm>
            <a:off x="1600200" y="3657600"/>
            <a:ext cx="2250704" cy="914400"/>
          </a:xfrm>
          <a:prstGeom prst="roundRect">
            <a:avLst>
              <a:gd name="adj" fmla="val 8000"/>
            </a:avLst>
          </a:prstGeom>
          <a:solidFill>
            <a:srgbClr val="EEF3FA"/>
          </a:solidFill>
          <a:ln w="12700">
            <a:solidFill>
              <a:srgbClr val="D9E0EC"/>
            </a:solidFill>
            <a:prstDash val="solid"/>
          </a:ln>
        </p:spPr>
        <p:txBody>
          <a:bodyPr/>
          <a:lstStyle/>
          <a:p>
            <a:endParaRPr lang="ko-KR" altLang="en-US"/>
          </a:p>
        </p:txBody>
      </p:sp>
      <p:sp>
        <p:nvSpPr>
          <p:cNvPr id="24" name="Text 21"/>
          <p:cNvSpPr txBox="1"/>
          <p:nvPr/>
        </p:nvSpPr>
        <p:spPr>
          <a:xfrm>
            <a:off x="1600200" y="3657600"/>
            <a:ext cx="2250704" cy="91440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질문</a:t>
            </a:r>
            <a:endParaRPr lang="en-US" sz="1700" dirty="0"/>
          </a:p>
        </p:txBody>
      </p:sp>
      <p:sp>
        <p:nvSpPr>
          <p:cNvPr id="25" name="Shape 22"/>
          <p:cNvSpPr/>
          <p:nvPr/>
        </p:nvSpPr>
        <p:spPr>
          <a:xfrm>
            <a:off x="3887480" y="4114800"/>
            <a:ext cx="246888" cy="0"/>
          </a:xfrm>
          <a:prstGeom prst="line">
            <a:avLst/>
          </a:prstGeom>
          <a:noFill/>
          <a:ln w="19050">
            <a:solidFill>
              <a:srgbClr val="4A5364"/>
            </a:solidFill>
            <a:prstDash val="solid"/>
            <a:tailEnd type="triangle"/>
          </a:ln>
        </p:spPr>
        <p:txBody>
          <a:bodyPr/>
          <a:lstStyle/>
          <a:p>
            <a:endParaRPr lang="ko-KR" altLang="en-US"/>
          </a:p>
        </p:txBody>
      </p:sp>
      <p:sp>
        <p:nvSpPr>
          <p:cNvPr id="26" name="Shape 23"/>
          <p:cNvSpPr/>
          <p:nvPr/>
        </p:nvSpPr>
        <p:spPr>
          <a:xfrm>
            <a:off x="4170944" y="3657600"/>
            <a:ext cx="2250704" cy="914400"/>
          </a:xfrm>
          <a:prstGeom prst="roundRect">
            <a:avLst>
              <a:gd name="adj" fmla="val 8000"/>
            </a:avLst>
          </a:prstGeom>
          <a:solidFill>
            <a:srgbClr val="1E2A5C"/>
          </a:solidFill>
          <a:ln/>
        </p:spPr>
        <p:txBody>
          <a:bodyPr/>
          <a:lstStyle/>
          <a:p>
            <a:endParaRPr lang="ko-KR" altLang="en-US"/>
          </a:p>
        </p:txBody>
      </p:sp>
      <p:sp>
        <p:nvSpPr>
          <p:cNvPr id="27" name="Text 24"/>
          <p:cNvSpPr txBox="1"/>
          <p:nvPr/>
        </p:nvSpPr>
        <p:spPr>
          <a:xfrm>
            <a:off x="4170944" y="3657600"/>
            <a:ext cx="2250704" cy="91440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FFFFFF"/>
                </a:solidFill>
                <a:latin typeface="Pretendard" pitchFamily="34" charset="0"/>
                <a:ea typeface="Pretendard" pitchFamily="34" charset="-122"/>
                <a:cs typeface="Pretendard" pitchFamily="34" charset="-120"/>
              </a:rPr>
              <a:t>Kiwi 토크나이저</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(색인 때와 같은 것)</a:t>
            </a:r>
            <a:endParaRPr lang="en-US" sz="1700" dirty="0"/>
          </a:p>
        </p:txBody>
      </p:sp>
      <p:sp>
        <p:nvSpPr>
          <p:cNvPr id="28" name="Shape 25"/>
          <p:cNvSpPr/>
          <p:nvPr/>
        </p:nvSpPr>
        <p:spPr>
          <a:xfrm>
            <a:off x="6458224" y="4114800"/>
            <a:ext cx="246888" cy="0"/>
          </a:xfrm>
          <a:prstGeom prst="line">
            <a:avLst/>
          </a:prstGeom>
          <a:noFill/>
          <a:ln w="19050">
            <a:solidFill>
              <a:srgbClr val="4A5364"/>
            </a:solidFill>
            <a:prstDash val="solid"/>
            <a:tailEnd type="triangle"/>
          </a:ln>
        </p:spPr>
        <p:txBody>
          <a:bodyPr/>
          <a:lstStyle/>
          <a:p>
            <a:endParaRPr lang="ko-KR" altLang="en-US"/>
          </a:p>
        </p:txBody>
      </p:sp>
      <p:sp>
        <p:nvSpPr>
          <p:cNvPr id="29" name="Shape 26"/>
          <p:cNvSpPr/>
          <p:nvPr/>
        </p:nvSpPr>
        <p:spPr>
          <a:xfrm>
            <a:off x="6741688" y="3657600"/>
            <a:ext cx="2250704" cy="914400"/>
          </a:xfrm>
          <a:prstGeom prst="roundRect">
            <a:avLst>
              <a:gd name="adj" fmla="val 8000"/>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6741688" y="3657600"/>
            <a:ext cx="2250704" cy="91440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match 질의</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text_tokens 필드</a:t>
            </a:r>
            <a:endParaRPr lang="en-US" sz="1700" dirty="0"/>
          </a:p>
        </p:txBody>
      </p:sp>
      <p:sp>
        <p:nvSpPr>
          <p:cNvPr id="31" name="Shape 28"/>
          <p:cNvSpPr/>
          <p:nvPr/>
        </p:nvSpPr>
        <p:spPr>
          <a:xfrm>
            <a:off x="9028968" y="4114800"/>
            <a:ext cx="246888" cy="0"/>
          </a:xfrm>
          <a:prstGeom prst="line">
            <a:avLst/>
          </a:prstGeom>
          <a:noFill/>
          <a:ln w="19050">
            <a:solidFill>
              <a:srgbClr val="4A5364"/>
            </a:solidFill>
            <a:prstDash val="solid"/>
            <a:tailEnd type="triangle"/>
          </a:ln>
        </p:spPr>
        <p:txBody>
          <a:bodyPr/>
          <a:lstStyle/>
          <a:p>
            <a:endParaRPr lang="ko-KR" altLang="en-US"/>
          </a:p>
        </p:txBody>
      </p:sp>
      <p:sp>
        <p:nvSpPr>
          <p:cNvPr id="32" name="Shape 29"/>
          <p:cNvSpPr/>
          <p:nvPr/>
        </p:nvSpPr>
        <p:spPr>
          <a:xfrm>
            <a:off x="9312432" y="3657600"/>
            <a:ext cx="2250704" cy="914400"/>
          </a:xfrm>
          <a:prstGeom prst="roundRect">
            <a:avLst>
              <a:gd name="adj" fmla="val 8000"/>
            </a:avLst>
          </a:prstGeom>
          <a:solidFill>
            <a:srgbClr val="2E74C6"/>
          </a:solidFill>
          <a:ln/>
        </p:spPr>
        <p:txBody>
          <a:bodyPr/>
          <a:lstStyle/>
          <a:p>
            <a:endParaRPr lang="ko-KR" altLang="en-US"/>
          </a:p>
        </p:txBody>
      </p:sp>
      <p:sp>
        <p:nvSpPr>
          <p:cNvPr id="33" name="Text 30"/>
          <p:cNvSpPr txBox="1"/>
          <p:nvPr/>
        </p:nvSpPr>
        <p:spPr>
          <a:xfrm>
            <a:off x="9312432" y="3657600"/>
            <a:ext cx="2250704" cy="91440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FFFFFF"/>
                </a:solidFill>
                <a:latin typeface="Pretendard" pitchFamily="34" charset="0"/>
                <a:ea typeface="Pretendard" pitchFamily="34" charset="-122"/>
                <a:cs typeface="Pretendard" pitchFamily="34" charset="-120"/>
              </a:rPr>
              <a:t>BM25 점수 계산</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k1 1.5, b 0.75 (인덱스 설정)</a:t>
            </a:r>
            <a:endParaRPr lang="en-US" sz="1700" dirty="0"/>
          </a:p>
        </p:txBody>
      </p:sp>
      <p:sp>
        <p:nvSpPr>
          <p:cNvPr id="34" name="Shape 31"/>
          <p:cNvSpPr/>
          <p:nvPr/>
        </p:nvSpPr>
        <p:spPr>
          <a:xfrm>
            <a:off x="11599713" y="4114800"/>
            <a:ext cx="246888" cy="0"/>
          </a:xfrm>
          <a:prstGeom prst="line">
            <a:avLst/>
          </a:prstGeom>
          <a:noFill/>
          <a:ln w="19050">
            <a:solidFill>
              <a:srgbClr val="4A5364"/>
            </a:solidFill>
            <a:prstDash val="solid"/>
            <a:tailEnd type="triangle"/>
          </a:ln>
        </p:spPr>
        <p:txBody>
          <a:bodyPr/>
          <a:lstStyle/>
          <a:p>
            <a:endParaRPr lang="ko-KR" altLang="en-US"/>
          </a:p>
        </p:txBody>
      </p:sp>
      <p:sp>
        <p:nvSpPr>
          <p:cNvPr id="35" name="Shape 32"/>
          <p:cNvSpPr/>
          <p:nvPr/>
        </p:nvSpPr>
        <p:spPr>
          <a:xfrm>
            <a:off x="11883177" y="3657600"/>
            <a:ext cx="2250704" cy="914400"/>
          </a:xfrm>
          <a:prstGeom prst="roundRect">
            <a:avLst>
              <a:gd name="adj" fmla="val 8000"/>
            </a:avLst>
          </a:prstGeom>
          <a:solidFill>
            <a:srgbClr val="FFFFFF"/>
          </a:solidFill>
          <a:ln w="12700">
            <a:solidFill>
              <a:srgbClr val="D9E0EC"/>
            </a:solidFill>
            <a:prstDash val="solid"/>
          </a:ln>
        </p:spPr>
        <p:txBody>
          <a:bodyPr/>
          <a:lstStyle/>
          <a:p>
            <a:endParaRPr lang="ko-KR" altLang="en-US"/>
          </a:p>
        </p:txBody>
      </p:sp>
      <p:sp>
        <p:nvSpPr>
          <p:cNvPr id="36" name="Text 33"/>
          <p:cNvSpPr txBox="1"/>
          <p:nvPr/>
        </p:nvSpPr>
        <p:spPr>
          <a:xfrm>
            <a:off x="11883177" y="3657600"/>
            <a:ext cx="2250704" cy="914400"/>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상위 청크</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chunk_id 목록</a:t>
            </a:r>
            <a:endParaRPr lang="en-US" sz="1700" dirty="0"/>
          </a:p>
        </p:txBody>
      </p:sp>
      <p:sp>
        <p:nvSpPr>
          <p:cNvPr id="37" name="Shape 34"/>
          <p:cNvSpPr/>
          <p:nvPr/>
        </p:nvSpPr>
        <p:spPr>
          <a:xfrm>
            <a:off x="5296296" y="3044952"/>
            <a:ext cx="0" cy="585216"/>
          </a:xfrm>
          <a:prstGeom prst="line">
            <a:avLst/>
          </a:prstGeom>
          <a:noFill/>
          <a:ln w="19050">
            <a:solidFill>
              <a:srgbClr val="1E2A5C"/>
            </a:solidFill>
            <a:prstDash val="dash"/>
            <a:tailEnd type="none"/>
          </a:ln>
        </p:spPr>
        <p:txBody>
          <a:bodyPr/>
          <a:lstStyle/>
          <a:p>
            <a:endParaRPr lang="ko-KR" altLang="en-US"/>
          </a:p>
        </p:txBody>
      </p:sp>
      <p:sp>
        <p:nvSpPr>
          <p:cNvPr id="38" name="Text 35"/>
          <p:cNvSpPr txBox="1"/>
          <p:nvPr/>
        </p:nvSpPr>
        <p:spPr>
          <a:xfrm>
            <a:off x="5387736" y="3136392"/>
            <a:ext cx="2377440" cy="384048"/>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같은 사전, 같은 규칙</a:t>
            </a:r>
            <a:endParaRPr lang="en-US" sz="1500" dirty="0"/>
          </a:p>
        </p:txBody>
      </p:sp>
      <p:sp>
        <p:nvSpPr>
          <p:cNvPr id="39" name="Shape 36"/>
          <p:cNvSpPr/>
          <p:nvPr/>
        </p:nvSpPr>
        <p:spPr>
          <a:xfrm>
            <a:off x="13008529" y="3044952"/>
            <a:ext cx="0" cy="265176"/>
          </a:xfrm>
          <a:prstGeom prst="line">
            <a:avLst/>
          </a:prstGeom>
          <a:noFill/>
          <a:ln w="19050">
            <a:solidFill>
              <a:srgbClr val="2E74C6"/>
            </a:solidFill>
            <a:prstDash val="dash"/>
            <a:tailEnd type="none"/>
          </a:ln>
        </p:spPr>
        <p:txBody>
          <a:bodyPr/>
          <a:lstStyle/>
          <a:p>
            <a:endParaRPr lang="ko-KR" altLang="en-US"/>
          </a:p>
        </p:txBody>
      </p:sp>
      <p:sp>
        <p:nvSpPr>
          <p:cNvPr id="40" name="Shape 37"/>
          <p:cNvSpPr/>
          <p:nvPr/>
        </p:nvSpPr>
        <p:spPr>
          <a:xfrm flipH="1">
            <a:off x="10437785" y="3310128"/>
            <a:ext cx="2570744" cy="0"/>
          </a:xfrm>
          <a:prstGeom prst="line">
            <a:avLst/>
          </a:prstGeom>
          <a:noFill/>
          <a:ln w="19050">
            <a:solidFill>
              <a:srgbClr val="2E74C6"/>
            </a:solidFill>
            <a:prstDash val="dash"/>
            <a:tailEnd type="none"/>
          </a:ln>
        </p:spPr>
        <p:txBody>
          <a:bodyPr/>
          <a:lstStyle/>
          <a:p>
            <a:endParaRPr lang="ko-KR" altLang="en-US"/>
          </a:p>
        </p:txBody>
      </p:sp>
      <p:sp>
        <p:nvSpPr>
          <p:cNvPr id="41" name="Shape 38"/>
          <p:cNvSpPr/>
          <p:nvPr/>
        </p:nvSpPr>
        <p:spPr>
          <a:xfrm>
            <a:off x="10437785" y="3310128"/>
            <a:ext cx="0" cy="320040"/>
          </a:xfrm>
          <a:prstGeom prst="line">
            <a:avLst/>
          </a:prstGeom>
          <a:noFill/>
          <a:ln w="19050">
            <a:solidFill>
              <a:srgbClr val="2E74C6"/>
            </a:solidFill>
            <a:prstDash val="dash"/>
            <a:tailEnd type="triangle"/>
          </a:ln>
        </p:spPr>
        <p:txBody>
          <a:bodyPr/>
          <a:lstStyle/>
          <a:p>
            <a:endParaRPr lang="ko-KR" altLang="en-US"/>
          </a:p>
        </p:txBody>
      </p:sp>
      <p:sp>
        <p:nvSpPr>
          <p:cNvPr id="42" name="Text 39"/>
          <p:cNvSpPr txBox="1"/>
          <p:nvPr/>
        </p:nvSpPr>
        <p:spPr>
          <a:xfrm>
            <a:off x="9038112" y="2926080"/>
            <a:ext cx="2377440" cy="329184"/>
          </a:xfrm>
          <a:prstGeom prst="rect">
            <a:avLst/>
          </a:prstGeom>
          <a:noFill/>
          <a:ln/>
        </p:spPr>
        <p:txBody>
          <a:bodyPr wrap="square" lIns="762" tIns="762" rIns="762" bIns="762" rtlCol="0" anchor="ct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검색할 때 통계를 읽음</a:t>
            </a:r>
            <a:endParaRPr lang="en-US" sz="1400" dirty="0"/>
          </a:p>
        </p:txBody>
      </p:sp>
      <p:sp>
        <p:nvSpPr>
          <p:cNvPr id="43" name="Shape 40"/>
          <p:cNvSpPr/>
          <p:nvPr/>
        </p:nvSpPr>
        <p:spPr>
          <a:xfrm>
            <a:off x="509321" y="4800600"/>
            <a:ext cx="8595360" cy="411480"/>
          </a:xfrm>
          <a:prstGeom prst="roundRect">
            <a:avLst>
              <a:gd name="adj" fmla="val 13333"/>
            </a:avLst>
          </a:prstGeom>
          <a:solidFill>
            <a:srgbClr val="1E2A5C"/>
          </a:solidFill>
          <a:ln/>
        </p:spPr>
        <p:txBody>
          <a:bodyPr/>
          <a:lstStyle/>
          <a:p>
            <a:endParaRPr lang="ko-KR" altLang="en-US"/>
          </a:p>
        </p:txBody>
      </p:sp>
      <p:sp>
        <p:nvSpPr>
          <p:cNvPr id="44" name="Text 41"/>
          <p:cNvSpPr txBox="1"/>
          <p:nvPr/>
        </p:nvSpPr>
        <p:spPr>
          <a:xfrm>
            <a:off x="509321" y="4800600"/>
            <a:ext cx="8595360" cy="411480"/>
          </a:xfrm>
          <a:prstGeom prst="rect">
            <a:avLst/>
          </a:prstGeom>
          <a:noFill/>
          <a:ln/>
        </p:spPr>
        <p:txBody>
          <a:bodyPr wrap="square" lIns="1016" tIns="1016" rIns="1016" bIns="1016" rtlCol="0" anchor="ctr"/>
          <a:lstStyle/>
          <a:p>
            <a:pPr marL="0" indent="0" algn="ctr">
              <a:buNone/>
            </a:pPr>
            <a:r>
              <a:rPr lang="en-US" sz="1800" b="1" dirty="0" err="1">
                <a:solidFill>
                  <a:srgbClr val="FFFFFF"/>
                </a:solidFill>
                <a:latin typeface="Pretendard" pitchFamily="34" charset="0"/>
                <a:ea typeface="Pretendard" pitchFamily="34" charset="-122"/>
                <a:cs typeface="Pretendard" pitchFamily="34" charset="-120"/>
              </a:rPr>
              <a:t>벡터DB</a:t>
            </a:r>
            <a:r>
              <a:rPr lang="en-US" sz="1800" b="1" dirty="0">
                <a:solidFill>
                  <a:srgbClr val="FFFFFF"/>
                </a:solidFill>
                <a:latin typeface="Pretendard" pitchFamily="34" charset="0"/>
                <a:ea typeface="Pretendard" pitchFamily="34" charset="-122"/>
                <a:cs typeface="Pretendard" pitchFamily="34" charset="-120"/>
              </a:rPr>
              <a:t> </a:t>
            </a:r>
            <a:r>
              <a:rPr lang="en-US" sz="1800" b="1" dirty="0" err="1">
                <a:solidFill>
                  <a:srgbClr val="FFFFFF"/>
                </a:solidFill>
                <a:latin typeface="Pretendard" pitchFamily="34" charset="0"/>
                <a:ea typeface="Pretendard" pitchFamily="34" charset="-122"/>
                <a:cs typeface="Pretendard" pitchFamily="34" charset="-120"/>
              </a:rPr>
              <a:t>인덱싱의</a:t>
            </a:r>
            <a:r>
              <a:rPr lang="en-US" sz="1800" b="1" dirty="0">
                <a:solidFill>
                  <a:srgbClr val="FFFFFF"/>
                </a:solidFill>
                <a:latin typeface="Pretendard" pitchFamily="34" charset="0"/>
                <a:ea typeface="Pretendard" pitchFamily="34" charset="-122"/>
                <a:cs typeface="Pretendard" pitchFamily="34" charset="-120"/>
              </a:rPr>
              <a:t> BM25 색인과 다른 점</a:t>
            </a:r>
            <a:endParaRPr lang="en-US" sz="1800" dirty="0"/>
          </a:p>
        </p:txBody>
      </p:sp>
      <p:sp>
        <p:nvSpPr>
          <p:cNvPr id="45" name="Shape 42"/>
          <p:cNvSpPr/>
          <p:nvPr/>
        </p:nvSpPr>
        <p:spPr>
          <a:xfrm>
            <a:off x="2155241" y="5285232"/>
            <a:ext cx="3429000" cy="329184"/>
          </a:xfrm>
          <a:prstGeom prst="roundRect">
            <a:avLst>
              <a:gd name="adj" fmla="val 22222"/>
            </a:avLst>
          </a:prstGeom>
          <a:solidFill>
            <a:srgbClr val="E2EEF9"/>
          </a:solidFill>
          <a:ln/>
        </p:spPr>
        <p:txBody>
          <a:bodyPr/>
          <a:lstStyle/>
          <a:p>
            <a:endParaRPr lang="ko-KR" altLang="en-US"/>
          </a:p>
        </p:txBody>
      </p:sp>
      <p:sp>
        <p:nvSpPr>
          <p:cNvPr id="46" name="Text 43"/>
          <p:cNvSpPr txBox="1"/>
          <p:nvPr/>
        </p:nvSpPr>
        <p:spPr>
          <a:xfrm>
            <a:off x="2155241" y="5285232"/>
            <a:ext cx="342900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벡터DB 인덱싱 (bm25s)</a:t>
            </a:r>
            <a:endParaRPr lang="en-US" sz="1500" dirty="0"/>
          </a:p>
        </p:txBody>
      </p:sp>
      <p:sp>
        <p:nvSpPr>
          <p:cNvPr id="47" name="Shape 44"/>
          <p:cNvSpPr/>
          <p:nvPr/>
        </p:nvSpPr>
        <p:spPr>
          <a:xfrm>
            <a:off x="5675681" y="5285232"/>
            <a:ext cx="3429000" cy="329184"/>
          </a:xfrm>
          <a:prstGeom prst="roundRect">
            <a:avLst>
              <a:gd name="adj" fmla="val 22222"/>
            </a:avLst>
          </a:prstGeom>
          <a:solidFill>
            <a:srgbClr val="2E74C6"/>
          </a:solidFill>
          <a:ln/>
        </p:spPr>
        <p:txBody>
          <a:bodyPr/>
          <a:lstStyle/>
          <a:p>
            <a:endParaRPr lang="ko-KR" altLang="en-US"/>
          </a:p>
        </p:txBody>
      </p:sp>
      <p:sp>
        <p:nvSpPr>
          <p:cNvPr id="48" name="Text 45"/>
          <p:cNvSpPr txBox="1"/>
          <p:nvPr/>
        </p:nvSpPr>
        <p:spPr>
          <a:xfrm>
            <a:off x="5675681" y="5285232"/>
            <a:ext cx="3429000" cy="329184"/>
          </a:xfrm>
          <a:prstGeom prst="rect">
            <a:avLst/>
          </a:prstGeom>
          <a:noFill/>
          <a:ln/>
        </p:spPr>
        <p:txBody>
          <a:bodyPr wrap="square" lIns="1016" tIns="1016" rIns="1016" bIns="1016" rtlCol="0" anchor="ctr"/>
          <a:lstStyle/>
          <a:p>
            <a:pPr marL="0" indent="0" algn="ctr">
              <a:buNone/>
            </a:pPr>
            <a:r>
              <a:rPr lang="en-US" sz="1500" b="1" dirty="0" err="1">
                <a:solidFill>
                  <a:srgbClr val="FFFFFF"/>
                </a:solidFill>
                <a:latin typeface="Pretendard" pitchFamily="34" charset="0"/>
                <a:ea typeface="Pretendard" pitchFamily="34" charset="-122"/>
                <a:cs typeface="Pretendard" pitchFamily="34" charset="-120"/>
              </a:rPr>
              <a:t>검색</a:t>
            </a:r>
            <a:r>
              <a:rPr lang="en-US"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엔진</a:t>
            </a:r>
            <a:endParaRPr lang="en-US" sz="1500" dirty="0"/>
          </a:p>
        </p:txBody>
      </p:sp>
      <p:sp>
        <p:nvSpPr>
          <p:cNvPr id="49" name="Shape 46"/>
          <p:cNvSpPr/>
          <p:nvPr/>
        </p:nvSpPr>
        <p:spPr>
          <a:xfrm>
            <a:off x="509321" y="5687568"/>
            <a:ext cx="1554480" cy="512064"/>
          </a:xfrm>
          <a:prstGeom prst="roundRect">
            <a:avLst>
              <a:gd name="adj" fmla="val 8929"/>
            </a:avLst>
          </a:prstGeom>
          <a:solidFill>
            <a:srgbClr val="404155"/>
          </a:solidFill>
          <a:ln/>
        </p:spPr>
        <p:txBody>
          <a:bodyPr/>
          <a:lstStyle/>
          <a:p>
            <a:endParaRPr lang="ko-KR" altLang="en-US"/>
          </a:p>
        </p:txBody>
      </p:sp>
      <p:sp>
        <p:nvSpPr>
          <p:cNvPr id="50" name="Text 47"/>
          <p:cNvSpPr txBox="1"/>
          <p:nvPr/>
        </p:nvSpPr>
        <p:spPr>
          <a:xfrm>
            <a:off x="509321" y="5687568"/>
            <a:ext cx="1554480" cy="51206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점수 계산</a:t>
            </a:r>
            <a:endParaRPr lang="en-US" sz="1500" dirty="0"/>
          </a:p>
        </p:txBody>
      </p:sp>
      <p:sp>
        <p:nvSpPr>
          <p:cNvPr id="51" name="Shape 48"/>
          <p:cNvSpPr/>
          <p:nvPr/>
        </p:nvSpPr>
        <p:spPr>
          <a:xfrm>
            <a:off x="2155241" y="5687568"/>
            <a:ext cx="3429000" cy="512064"/>
          </a:xfrm>
          <a:prstGeom prst="roundRect">
            <a:avLst>
              <a:gd name="adj" fmla="val 14286"/>
            </a:avLst>
          </a:prstGeom>
          <a:solidFill>
            <a:srgbClr val="F5F8FC"/>
          </a:solidFill>
          <a:ln w="12700">
            <a:solidFill>
              <a:srgbClr val="D9E0EC"/>
            </a:solidFill>
            <a:prstDash val="solid"/>
          </a:ln>
        </p:spPr>
        <p:txBody>
          <a:bodyPr/>
          <a:lstStyle/>
          <a:p>
            <a:endParaRPr lang="ko-KR" altLang="en-US"/>
          </a:p>
        </p:txBody>
      </p:sp>
      <p:sp>
        <p:nvSpPr>
          <p:cNvPr id="52" name="Text 49"/>
          <p:cNvSpPr txBox="1"/>
          <p:nvPr/>
        </p:nvSpPr>
        <p:spPr>
          <a:xfrm>
            <a:off x="2155241" y="5687568"/>
            <a:ext cx="3429000" cy="512064"/>
          </a:xfrm>
          <a:prstGeom prst="rect">
            <a:avLst/>
          </a:prstGeom>
          <a:noFill/>
          <a:ln/>
        </p:spPr>
        <p:txBody>
          <a:bodyPr wrap="square" lIns="1016" tIns="1016" rIns="1016" bIns="1016" rtlCol="0" anchor="ctr"/>
          <a:lstStyle/>
          <a:p>
            <a:pPr marL="0" indent="0" algn="ctr">
              <a:buNone/>
            </a:pPr>
            <a:r>
              <a:rPr lang="en-US" sz="1500" dirty="0">
                <a:solidFill>
                  <a:srgbClr val="4A5364"/>
                </a:solidFill>
                <a:latin typeface="Pretendard" pitchFamily="34" charset="0"/>
                <a:ea typeface="Pretendard" pitchFamily="34" charset="-122"/>
                <a:cs typeface="Pretendard" pitchFamily="34" charset="-120"/>
              </a:rPr>
              <a:t>색인 때 점수표를 미리 만들어 저장</a:t>
            </a:r>
            <a:endParaRPr lang="en-US" sz="1500" dirty="0"/>
          </a:p>
        </p:txBody>
      </p:sp>
      <p:sp>
        <p:nvSpPr>
          <p:cNvPr id="53" name="Shape 50"/>
          <p:cNvSpPr/>
          <p:nvPr/>
        </p:nvSpPr>
        <p:spPr>
          <a:xfrm>
            <a:off x="5675681" y="5687568"/>
            <a:ext cx="3429000" cy="512064"/>
          </a:xfrm>
          <a:prstGeom prst="roundRect">
            <a:avLst>
              <a:gd name="adj" fmla="val 14286"/>
            </a:avLst>
          </a:prstGeom>
          <a:solidFill>
            <a:srgbClr val="EEF3FA"/>
          </a:solidFill>
          <a:ln w="12700">
            <a:solidFill>
              <a:srgbClr val="2E74C6"/>
            </a:solidFill>
            <a:prstDash val="solid"/>
          </a:ln>
        </p:spPr>
        <p:txBody>
          <a:bodyPr/>
          <a:lstStyle/>
          <a:p>
            <a:endParaRPr lang="ko-KR" altLang="en-US"/>
          </a:p>
        </p:txBody>
      </p:sp>
      <p:sp>
        <p:nvSpPr>
          <p:cNvPr id="54" name="Text 51"/>
          <p:cNvSpPr txBox="1"/>
          <p:nvPr/>
        </p:nvSpPr>
        <p:spPr>
          <a:xfrm>
            <a:off x="5675681" y="5687568"/>
            <a:ext cx="3429000" cy="51206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검색할 때 역색인 통계로 계산</a:t>
            </a:r>
            <a:endParaRPr lang="en-US" sz="1500" dirty="0"/>
          </a:p>
        </p:txBody>
      </p:sp>
      <p:sp>
        <p:nvSpPr>
          <p:cNvPr id="55" name="Shape 52"/>
          <p:cNvSpPr/>
          <p:nvPr/>
        </p:nvSpPr>
        <p:spPr>
          <a:xfrm>
            <a:off x="509321" y="6254496"/>
            <a:ext cx="1554480" cy="512064"/>
          </a:xfrm>
          <a:prstGeom prst="roundRect">
            <a:avLst>
              <a:gd name="adj" fmla="val 8929"/>
            </a:avLst>
          </a:prstGeom>
          <a:solidFill>
            <a:srgbClr val="404155"/>
          </a:solidFill>
          <a:ln/>
        </p:spPr>
        <p:txBody>
          <a:bodyPr/>
          <a:lstStyle/>
          <a:p>
            <a:endParaRPr lang="ko-KR" altLang="en-US"/>
          </a:p>
        </p:txBody>
      </p:sp>
      <p:sp>
        <p:nvSpPr>
          <p:cNvPr id="56" name="Text 53"/>
          <p:cNvSpPr txBox="1"/>
          <p:nvPr/>
        </p:nvSpPr>
        <p:spPr>
          <a:xfrm>
            <a:off x="509321" y="6254496"/>
            <a:ext cx="1554480" cy="51206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갱신</a:t>
            </a:r>
            <a:endParaRPr lang="en-US" sz="1500" dirty="0"/>
          </a:p>
        </p:txBody>
      </p:sp>
      <p:sp>
        <p:nvSpPr>
          <p:cNvPr id="57" name="Shape 54"/>
          <p:cNvSpPr/>
          <p:nvPr/>
        </p:nvSpPr>
        <p:spPr>
          <a:xfrm>
            <a:off x="2155241" y="6254496"/>
            <a:ext cx="3429000" cy="512064"/>
          </a:xfrm>
          <a:prstGeom prst="roundRect">
            <a:avLst>
              <a:gd name="adj" fmla="val 14286"/>
            </a:avLst>
          </a:prstGeom>
          <a:solidFill>
            <a:srgbClr val="F5F8FC"/>
          </a:solidFill>
          <a:ln w="12700">
            <a:solidFill>
              <a:srgbClr val="D9E0EC"/>
            </a:solidFill>
            <a:prstDash val="solid"/>
          </a:ln>
        </p:spPr>
        <p:txBody>
          <a:bodyPr/>
          <a:lstStyle/>
          <a:p>
            <a:endParaRPr lang="ko-KR" altLang="en-US"/>
          </a:p>
        </p:txBody>
      </p:sp>
      <p:sp>
        <p:nvSpPr>
          <p:cNvPr id="58" name="Text 55"/>
          <p:cNvSpPr txBox="1"/>
          <p:nvPr/>
        </p:nvSpPr>
        <p:spPr>
          <a:xfrm>
            <a:off x="2155241" y="6254496"/>
            <a:ext cx="3429000" cy="512064"/>
          </a:xfrm>
          <a:prstGeom prst="rect">
            <a:avLst/>
          </a:prstGeom>
          <a:noFill/>
          <a:ln/>
        </p:spPr>
        <p:txBody>
          <a:bodyPr wrap="square" lIns="1016" tIns="1016" rIns="1016" bIns="1016" rtlCol="0" anchor="ctr"/>
          <a:lstStyle/>
          <a:p>
            <a:pPr marL="0" indent="0" algn="ctr">
              <a:buNone/>
            </a:pPr>
            <a:r>
              <a:rPr lang="en-US" sz="1500" dirty="0">
                <a:solidFill>
                  <a:srgbClr val="4A5364"/>
                </a:solidFill>
                <a:latin typeface="Pretendard" pitchFamily="34" charset="0"/>
                <a:ea typeface="Pretendard" pitchFamily="34" charset="-122"/>
                <a:cs typeface="Pretendard" pitchFamily="34" charset="-120"/>
              </a:rPr>
              <a:t>하나만 바뀌어도 점수표를 다시 만듦</a:t>
            </a:r>
            <a:br/>
            <a:endParaRPr lang="en-US" sz="1500" dirty="0"/>
          </a:p>
        </p:txBody>
      </p:sp>
      <p:sp>
        <p:nvSpPr>
          <p:cNvPr id="59" name="Shape 56"/>
          <p:cNvSpPr/>
          <p:nvPr/>
        </p:nvSpPr>
        <p:spPr>
          <a:xfrm>
            <a:off x="5675681" y="6254496"/>
            <a:ext cx="3429000" cy="512064"/>
          </a:xfrm>
          <a:prstGeom prst="roundRect">
            <a:avLst>
              <a:gd name="adj" fmla="val 14286"/>
            </a:avLst>
          </a:prstGeom>
          <a:solidFill>
            <a:srgbClr val="EEF3FA"/>
          </a:solidFill>
          <a:ln w="12700">
            <a:solidFill>
              <a:srgbClr val="2E74C6"/>
            </a:solidFill>
            <a:prstDash val="solid"/>
          </a:ln>
        </p:spPr>
        <p:txBody>
          <a:bodyPr/>
          <a:lstStyle/>
          <a:p>
            <a:endParaRPr lang="ko-KR" altLang="en-US"/>
          </a:p>
        </p:txBody>
      </p:sp>
      <p:sp>
        <p:nvSpPr>
          <p:cNvPr id="60" name="Text 57"/>
          <p:cNvSpPr txBox="1"/>
          <p:nvPr/>
        </p:nvSpPr>
        <p:spPr>
          <a:xfrm>
            <a:off x="5675681" y="6254496"/>
            <a:ext cx="3429000" cy="51206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바뀐 문서만 지우고 넣음 (증분 색인)</a:t>
            </a:r>
            <a:endParaRPr lang="en-US" sz="1500" dirty="0"/>
          </a:p>
        </p:txBody>
      </p:sp>
      <p:sp>
        <p:nvSpPr>
          <p:cNvPr id="61" name="Shape 58"/>
          <p:cNvSpPr/>
          <p:nvPr/>
        </p:nvSpPr>
        <p:spPr>
          <a:xfrm>
            <a:off x="509321" y="6821424"/>
            <a:ext cx="1554480" cy="512064"/>
          </a:xfrm>
          <a:prstGeom prst="roundRect">
            <a:avLst>
              <a:gd name="adj" fmla="val 8929"/>
            </a:avLst>
          </a:prstGeom>
          <a:solidFill>
            <a:srgbClr val="404155"/>
          </a:solidFill>
          <a:ln/>
        </p:spPr>
        <p:txBody>
          <a:bodyPr/>
          <a:lstStyle/>
          <a:p>
            <a:endParaRPr lang="ko-KR" altLang="en-US"/>
          </a:p>
        </p:txBody>
      </p:sp>
      <p:sp>
        <p:nvSpPr>
          <p:cNvPr id="62" name="Text 59"/>
          <p:cNvSpPr txBox="1"/>
          <p:nvPr/>
        </p:nvSpPr>
        <p:spPr>
          <a:xfrm>
            <a:off x="509321" y="6821424"/>
            <a:ext cx="1554480" cy="512064"/>
          </a:xfrm>
          <a:prstGeom prst="rect">
            <a:avLst/>
          </a:prstGeom>
          <a:noFill/>
          <a:ln/>
        </p:spPr>
        <p:txBody>
          <a:bodyPr wrap="square" lIns="1016" tIns="1016" rIns="1016" bIns="1016" rtlCol="0" anchor="ctr"/>
          <a:lstStyle/>
          <a:p>
            <a:pPr marL="0" indent="0" algn="ctr">
              <a:buNone/>
            </a:pPr>
            <a:r>
              <a:rPr lang="ko-KR" altLang="en-US" sz="1500" b="1" dirty="0" err="1">
                <a:solidFill>
                  <a:srgbClr val="FFFFFF"/>
                </a:solidFill>
                <a:latin typeface="Pretendard" pitchFamily="34" charset="0"/>
                <a:ea typeface="Pretendard" pitchFamily="34" charset="-122"/>
                <a:cs typeface="Pretendard" pitchFamily="34" charset="-120"/>
              </a:rPr>
              <a:t>전체 재색인</a:t>
            </a:r>
            <a:endParaRPr lang="en-US" sz="1500" dirty="0"/>
          </a:p>
        </p:txBody>
      </p:sp>
      <p:sp>
        <p:nvSpPr>
          <p:cNvPr id="63" name="Shape 60"/>
          <p:cNvSpPr/>
          <p:nvPr/>
        </p:nvSpPr>
        <p:spPr>
          <a:xfrm>
            <a:off x="2155241" y="6821424"/>
            <a:ext cx="3429000" cy="512064"/>
          </a:xfrm>
          <a:prstGeom prst="roundRect">
            <a:avLst>
              <a:gd name="adj" fmla="val 14286"/>
            </a:avLst>
          </a:prstGeom>
          <a:solidFill>
            <a:srgbClr val="F5F8FC"/>
          </a:solidFill>
          <a:ln w="12700">
            <a:solidFill>
              <a:srgbClr val="D9E0EC"/>
            </a:solidFill>
            <a:prstDash val="solid"/>
          </a:ln>
        </p:spPr>
        <p:txBody>
          <a:bodyPr/>
          <a:lstStyle/>
          <a:p>
            <a:endParaRPr lang="ko-KR" altLang="en-US"/>
          </a:p>
        </p:txBody>
      </p:sp>
      <p:sp>
        <p:nvSpPr>
          <p:cNvPr id="64" name="Text 61"/>
          <p:cNvSpPr txBox="1"/>
          <p:nvPr/>
        </p:nvSpPr>
        <p:spPr>
          <a:xfrm>
            <a:off x="2155241" y="6821424"/>
            <a:ext cx="3429000" cy="512064"/>
          </a:xfrm>
          <a:prstGeom prst="rect">
            <a:avLst/>
          </a:prstGeom>
          <a:noFill/>
          <a:ln/>
        </p:spPr>
        <p:txBody>
          <a:bodyPr wrap="square" lIns="1016" tIns="1016" rIns="1016" bIns="1016" rtlCol="0" anchor="ctr"/>
          <a:lstStyle/>
          <a:p>
            <a:pPr marL="0" indent="0" algn="ctr">
              <a:buNone/>
            </a:pPr>
            <a:r>
              <a:rPr lang="ko-KR" altLang="en-US" sz="1500" dirty="0" err="1">
                <a:solidFill>
                  <a:srgbClr val="4A5364"/>
                </a:solidFill>
                <a:latin typeface="Pretendard" pitchFamily="34" charset="0"/>
                <a:ea typeface="Pretendard" pitchFamily="34" charset="-122"/>
                <a:cs typeface="Pretendard" pitchFamily="34" charset="-120"/>
              </a:rPr>
              <a:t>임시 폴더에서 만든 뒤 폴더 교체</a:t>
            </a:r>
            <a:endParaRPr lang="en-US" sz="1500" dirty="0"/>
          </a:p>
        </p:txBody>
      </p:sp>
      <p:sp>
        <p:nvSpPr>
          <p:cNvPr id="65" name="Shape 62"/>
          <p:cNvSpPr/>
          <p:nvPr/>
        </p:nvSpPr>
        <p:spPr>
          <a:xfrm>
            <a:off x="5675681" y="6821424"/>
            <a:ext cx="3429000" cy="512064"/>
          </a:xfrm>
          <a:prstGeom prst="roundRect">
            <a:avLst>
              <a:gd name="adj" fmla="val 14286"/>
            </a:avLst>
          </a:prstGeom>
          <a:solidFill>
            <a:srgbClr val="EEF3FA"/>
          </a:solidFill>
          <a:ln w="12700">
            <a:solidFill>
              <a:srgbClr val="2E74C6"/>
            </a:solidFill>
            <a:prstDash val="solid"/>
          </a:ln>
        </p:spPr>
        <p:txBody>
          <a:bodyPr/>
          <a:lstStyle/>
          <a:p>
            <a:endParaRPr lang="ko-KR" altLang="en-US"/>
          </a:p>
        </p:txBody>
      </p:sp>
      <p:sp>
        <p:nvSpPr>
          <p:cNvPr id="66" name="Text 63"/>
          <p:cNvSpPr txBox="1"/>
          <p:nvPr/>
        </p:nvSpPr>
        <p:spPr>
          <a:xfrm>
            <a:off x="5675681" y="6821424"/>
            <a:ext cx="3429000" cy="512064"/>
          </a:xfrm>
          <a:prstGeom prst="rect">
            <a:avLst/>
          </a:prstGeom>
          <a:noFill/>
          <a:ln/>
        </p:spPr>
        <p:txBody>
          <a:bodyPr wrap="square" lIns="1016" tIns="1016" rIns="1016" bIns="1016" rtlCol="0" anchor="ctr"/>
          <a:lstStyle/>
          <a:p>
            <a:pPr marL="0" indent="0" algn="ctr">
              <a:buNone/>
            </a:pPr>
            <a:r>
              <a:rPr lang="ko-KR" altLang="en-US" sz="1500" b="1" dirty="0" err="1">
                <a:solidFill>
                  <a:srgbClr val="1E2A5C"/>
                </a:solidFill>
                <a:latin typeface="Pretendard" pitchFamily="34" charset="0"/>
                <a:ea typeface="Pretendard" pitchFamily="34" charset="-122"/>
                <a:cs typeface="Pretendard" pitchFamily="34" charset="-120"/>
              </a:rPr>
              <a:t>새 세대 인덱스를 채운 뒤 별칭 전환</a:t>
            </a:r>
            <a:endParaRPr lang="en-US" sz="15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48</a:t>
            </a:fld>
            <a:endParaRPr lang="en-US" dirty="0"/>
          </a:p>
        </p:txBody>
      </p:sp>
      <p:sp>
        <p:nvSpPr>
          <p:cNvPr id="80" name="TextBox 79">
            <a:extLst>
              <a:ext uri="{FF2B5EF4-FFF2-40B4-BE49-F238E27FC236}">
                <a16:creationId xmlns:a16="http://schemas.microsoft.com/office/drawing/2014/main" id="{01DBB60A-5313-1078-5814-7C16F2656AD9}"/>
              </a:ext>
            </a:extLst>
          </p:cNvPr>
          <p:cNvSpPr txBox="1"/>
          <p:nvPr/>
        </p:nvSpPr>
        <p:spPr>
          <a:xfrm>
            <a:off x="509320" y="7461504"/>
            <a:ext cx="13624560" cy="307777"/>
          </a:xfrm>
          <a:prstGeom prst="rect">
            <a:avLst/>
          </a:prstGeom>
          <a:noFill/>
        </p:spPr>
        <p:txBody>
          <a:bodyPr wrap="square" lIns="0" rIns="0">
            <a:spAutoFit/>
          </a:bodyPr>
          <a:lstStyle/>
          <a:p>
            <a:pPr marL="0" indent="0">
              <a:buNone/>
            </a:pPr>
            <a:r>
              <a:rPr lang="en-US" altLang="ko-KR" sz="1400" dirty="0">
                <a:solidFill>
                  <a:srgbClr val="7C8598"/>
                </a:solidFill>
                <a:latin typeface="Pretendard" panose="02000503000000020004" pitchFamily="50" charset="-127"/>
                <a:ea typeface="Pretendard" panose="02000503000000020004" pitchFamily="50" charset="-127"/>
                <a:cs typeface="Pretendard" panose="02000503000000020004" pitchFamily="50" charset="-127"/>
              </a:rPr>
              <a:t>※ 점수 계산: 낱말마다 청크 안 빈도, 전체 청크 중 희소성, 청크 길이 보정을 합쳐 계산 (k1은 빈도, b는 길이 보정의 세기)</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p:txBody>
      </p:sp>
      <p:graphicFrame>
        <p:nvGraphicFramePr>
          <p:cNvPr id="79" name="표 78">
            <a:extLst>
              <a:ext uri="{FF2B5EF4-FFF2-40B4-BE49-F238E27FC236}">
                <a16:creationId xmlns:a16="http://schemas.microsoft.com/office/drawing/2014/main" id="{98053A09-4B13-9C95-EFE0-D7B3E5771E32}"/>
              </a:ext>
            </a:extLst>
          </p:cNvPr>
          <p:cNvGraphicFramePr>
            <a:graphicFrameLocks noGrp="1"/>
          </p:cNvGraphicFramePr>
          <p:nvPr>
            <p:extLst>
              <p:ext uri="{D42A27DB-BD31-4B8C-83A1-F6EECF244321}">
                <p14:modId xmlns:p14="http://schemas.microsoft.com/office/powerpoint/2010/main" val="2756432973"/>
              </p:ext>
            </p:extLst>
          </p:nvPr>
        </p:nvGraphicFramePr>
        <p:xfrm>
          <a:off x="9275855" y="4828031"/>
          <a:ext cx="4845223" cy="2523744"/>
        </p:xfrm>
        <a:graphic>
          <a:graphicData uri="http://schemas.openxmlformats.org/drawingml/2006/table">
            <a:tbl>
              <a:tblPr/>
              <a:tblGrid>
                <a:gridCol w="968399">
                  <a:extLst>
                    <a:ext uri="{9D8B030D-6E8A-4147-A177-3AD203B41FA5}">
                      <a16:colId xmlns:a16="http://schemas.microsoft.com/office/drawing/2014/main" val="3997576269"/>
                    </a:ext>
                  </a:extLst>
                </a:gridCol>
                <a:gridCol w="3876824">
                  <a:extLst>
                    <a:ext uri="{9D8B030D-6E8A-4147-A177-3AD203B41FA5}">
                      <a16:colId xmlns:a16="http://schemas.microsoft.com/office/drawing/2014/main" val="1820542587"/>
                    </a:ext>
                  </a:extLst>
                </a:gridCol>
              </a:tblGrid>
              <a:tr h="384048">
                <a:tc>
                  <a:txBody>
                    <a:bodyPr/>
                    <a:lstStyle/>
                    <a:p>
                      <a:pPr marL="0" indent="0">
                        <a:buNone/>
                      </a:pPr>
                      <a:r>
                        <a:rPr lang="en-US" sz="1200" b="1" dirty="0">
                          <a:solidFill>
                            <a:srgbClr val="1E2A5C"/>
                          </a:solidFill>
                          <a:latin typeface="Pretendard" pitchFamily="34" charset="0"/>
                          <a:ea typeface="Pretendard" pitchFamily="34" charset="-122"/>
                          <a:cs typeface="Pretendard" pitchFamily="34" charset="-120"/>
                        </a:rPr>
                        <a:t>단계</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marL="0" indent="0">
                        <a:buNone/>
                      </a:pPr>
                      <a:r>
                        <a:rPr lang="en-US" sz="1200" b="1" dirty="0">
                          <a:solidFill>
                            <a:srgbClr val="1E2A5C"/>
                          </a:solidFill>
                          <a:latin typeface="Pretendard" pitchFamily="34" charset="0"/>
                          <a:ea typeface="Pretendard" pitchFamily="34" charset="-122"/>
                          <a:cs typeface="Pretendard" pitchFamily="34" charset="-120"/>
                        </a:rPr>
                        <a:t>결과</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extLst>
                  <a:ext uri="{0D108BD9-81ED-4DB2-BD59-A6C34878D82A}">
                    <a16:rowId xmlns:a16="http://schemas.microsoft.com/office/drawing/2014/main" val="2059212142"/>
                  </a:ext>
                </a:extLst>
              </a:tr>
              <a:tr h="384048">
                <a:tc>
                  <a:txBody>
                    <a:bodyPr/>
                    <a:lstStyle/>
                    <a:p>
                      <a:pPr marL="0" indent="0">
                        <a:buNone/>
                      </a:pPr>
                      <a:r>
                        <a:rPr lang="en-US" sz="1200" b="1" dirty="0">
                          <a:solidFill>
                            <a:srgbClr val="1E2A5C"/>
                          </a:solidFill>
                          <a:latin typeface="Pretendard" pitchFamily="34" charset="0"/>
                          <a:ea typeface="Pretendard" pitchFamily="34" charset="-122"/>
                          <a:cs typeface="Pretendard" pitchFamily="34" charset="-120"/>
                        </a:rPr>
                        <a:t>원문</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200" dirty="0">
                          <a:solidFill>
                            <a:srgbClr val="3B4557"/>
                          </a:solidFill>
                          <a:latin typeface="Pretendard" pitchFamily="34" charset="0"/>
                          <a:ea typeface="Pretendard" pitchFamily="34" charset="-122"/>
                          <a:cs typeface="Pretendard" pitchFamily="34" charset="-120"/>
                        </a:rPr>
                        <a:t>한빛 가족돌봄 카드로 30,000원 이상 결제하면 KB-PAY 할인을 받습니다.</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extLst>
                  <a:ext uri="{0D108BD9-81ED-4DB2-BD59-A6C34878D82A}">
                    <a16:rowId xmlns:a16="http://schemas.microsoft.com/office/drawing/2014/main" val="2686258758"/>
                  </a:ext>
                </a:extLst>
              </a:tr>
              <a:tr h="384048">
                <a:tc>
                  <a:txBody>
                    <a:bodyPr/>
                    <a:lstStyle/>
                    <a:p>
                      <a:pPr marL="0" indent="0">
                        <a:buNone/>
                      </a:pPr>
                      <a:r>
                        <a:rPr lang="en-US" sz="1200" b="1" dirty="0">
                          <a:solidFill>
                            <a:srgbClr val="1E2A5C"/>
                          </a:solidFill>
                          <a:latin typeface="Pretendard" pitchFamily="34" charset="0"/>
                          <a:ea typeface="Pretendard" pitchFamily="34" charset="-122"/>
                          <a:cs typeface="Pretendard" pitchFamily="34" charset="-120"/>
                        </a:rPr>
                        <a:t>① 표기 통일</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200" dirty="0">
                          <a:solidFill>
                            <a:srgbClr val="3B4557"/>
                          </a:solidFill>
                          <a:latin typeface="Pretendard" pitchFamily="34" charset="0"/>
                          <a:ea typeface="Pretendard" pitchFamily="34" charset="-122"/>
                          <a:cs typeface="Pretendard" pitchFamily="34" charset="-120"/>
                        </a:rPr>
                        <a:t>한빛 가족돌봄 카드로 </a:t>
                      </a:r>
                      <a:r>
                        <a:rPr lang="en-US" sz="1200" b="1" dirty="0">
                          <a:solidFill>
                            <a:srgbClr val="2E74C6"/>
                          </a:solidFill>
                          <a:latin typeface="Pretendard" pitchFamily="34" charset="0"/>
                          <a:ea typeface="Pretendard" pitchFamily="34" charset="-122"/>
                          <a:cs typeface="Pretendard" pitchFamily="34" charset="-120"/>
                        </a:rPr>
                        <a:t>30000원</a:t>
                      </a:r>
                      <a:r>
                        <a:rPr lang="en-US" sz="1200" dirty="0">
                          <a:solidFill>
                            <a:srgbClr val="3B4557"/>
                          </a:solidFill>
                          <a:latin typeface="Pretendard" pitchFamily="34" charset="0"/>
                          <a:ea typeface="Pretendard" pitchFamily="34" charset="-122"/>
                          <a:cs typeface="Pretendard" pitchFamily="34" charset="-120"/>
                        </a:rPr>
                        <a:t> 이상 결제하면 </a:t>
                      </a:r>
                      <a:r>
                        <a:rPr lang="en-US" sz="1200" b="1" dirty="0">
                          <a:solidFill>
                            <a:srgbClr val="2E74C6"/>
                          </a:solidFill>
                          <a:latin typeface="Pretendard" pitchFamily="34" charset="0"/>
                          <a:ea typeface="Pretendard" pitchFamily="34" charset="-122"/>
                          <a:cs typeface="Pretendard" pitchFamily="34" charset="-120"/>
                        </a:rPr>
                        <a:t>kb-pay</a:t>
                      </a:r>
                      <a:r>
                        <a:rPr lang="en-US" sz="1200" dirty="0">
                          <a:solidFill>
                            <a:srgbClr val="3B4557"/>
                          </a:solidFill>
                          <a:latin typeface="Pretendard" pitchFamily="34" charset="0"/>
                          <a:ea typeface="Pretendard" pitchFamily="34" charset="-122"/>
                          <a:cs typeface="Pretendard" pitchFamily="34" charset="-120"/>
                        </a:rPr>
                        <a:t> 할인을 받습니다.</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extLst>
                  <a:ext uri="{0D108BD9-81ED-4DB2-BD59-A6C34878D82A}">
                    <a16:rowId xmlns:a16="http://schemas.microsoft.com/office/drawing/2014/main" val="271650552"/>
                  </a:ext>
                </a:extLst>
              </a:tr>
              <a:tr h="384048">
                <a:tc>
                  <a:txBody>
                    <a:bodyPr/>
                    <a:lstStyle/>
                    <a:p>
                      <a:pPr marL="0" indent="0">
                        <a:buNone/>
                      </a:pPr>
                      <a:r>
                        <a:rPr lang="en-US" sz="1200" b="1" dirty="0">
                          <a:solidFill>
                            <a:srgbClr val="1E2A5C"/>
                          </a:solidFill>
                          <a:latin typeface="Pretendard" pitchFamily="34" charset="0"/>
                          <a:ea typeface="Pretendard" pitchFamily="34" charset="-122"/>
                          <a:cs typeface="Pretendard" pitchFamily="34" charset="-120"/>
                        </a:rPr>
                        <a:t>② 남긴 단어</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200" b="1" dirty="0">
                          <a:solidFill>
                            <a:srgbClr val="2E74C6"/>
                          </a:solidFill>
                          <a:latin typeface="Pretendard" pitchFamily="34" charset="0"/>
                          <a:ea typeface="Pretendard" pitchFamily="34" charset="-122"/>
                          <a:cs typeface="Pretendard" pitchFamily="34" charset="-120"/>
                        </a:rPr>
                        <a:t>한빛가족돌봄</a:t>
                      </a:r>
                      <a:r>
                        <a:rPr lang="en-US" sz="1200" dirty="0">
                          <a:solidFill>
                            <a:srgbClr val="3B4557"/>
                          </a:solidFill>
                          <a:latin typeface="Pretendard" pitchFamily="34" charset="0"/>
                          <a:ea typeface="Pretendard" pitchFamily="34" charset="-122"/>
                          <a:cs typeface="Pretendard" pitchFamily="34" charset="-120"/>
                        </a:rPr>
                        <a:t> · 카드 · 30000 · 원 · 이상 · 결제 · kb · pay · 할인 · 받</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extLst>
                  <a:ext uri="{0D108BD9-81ED-4DB2-BD59-A6C34878D82A}">
                    <a16:rowId xmlns:a16="http://schemas.microsoft.com/office/drawing/2014/main" val="2008535222"/>
                  </a:ext>
                </a:extLst>
              </a:tr>
              <a:tr h="384048">
                <a:tc>
                  <a:txBody>
                    <a:bodyPr/>
                    <a:lstStyle/>
                    <a:p>
                      <a:pPr marL="0" indent="0">
                        <a:buNone/>
                      </a:pPr>
                      <a:r>
                        <a:rPr lang="en-US" sz="1200" b="1" dirty="0">
                          <a:solidFill>
                            <a:srgbClr val="1E2A5C"/>
                          </a:solidFill>
                          <a:latin typeface="Pretendard" pitchFamily="34" charset="0"/>
                          <a:ea typeface="Pretendard" pitchFamily="34" charset="-122"/>
                          <a:cs typeface="Pretendard" pitchFamily="34" charset="-120"/>
                        </a:rPr>
                        <a:t>③ 버린 조각</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200" dirty="0">
                          <a:solidFill>
                            <a:srgbClr val="7C8598"/>
                          </a:solidFill>
                          <a:latin typeface="Pretendard" pitchFamily="34" charset="0"/>
                          <a:ea typeface="Pretendard" pitchFamily="34" charset="-122"/>
                          <a:cs typeface="Pretendard" pitchFamily="34" charset="-120"/>
                        </a:rPr>
                        <a:t>로 · 하 · 면 · 을 · 습니다 · 하이픈 · 마침표   (조사·어미·접미사·기호)</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extLst>
                  <a:ext uri="{0D108BD9-81ED-4DB2-BD59-A6C34878D82A}">
                    <a16:rowId xmlns:a16="http://schemas.microsoft.com/office/drawing/2014/main" val="155023679"/>
                  </a:ext>
                </a:extLst>
              </a:tr>
              <a:tr h="384048">
                <a:tc>
                  <a:txBody>
                    <a:bodyPr/>
                    <a:lstStyle/>
                    <a:p>
                      <a:pPr marL="0" indent="0">
                        <a:buNone/>
                      </a:pPr>
                      <a:r>
                        <a:rPr lang="en-US" sz="1200" b="1" dirty="0">
                          <a:solidFill>
                            <a:srgbClr val="1E2A5C"/>
                          </a:solidFill>
                          <a:latin typeface="Pretendard" pitchFamily="34" charset="0"/>
                          <a:ea typeface="Pretendard" pitchFamily="34" charset="-122"/>
                          <a:cs typeface="Pretendard" pitchFamily="34" charset="-120"/>
                        </a:rPr>
                        <a:t>④ 원형 추가</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200" b="1" dirty="0">
                          <a:solidFill>
                            <a:srgbClr val="2E74C6"/>
                          </a:solidFill>
                          <a:latin typeface="Pretendard" pitchFamily="34" charset="0"/>
                          <a:ea typeface="Pretendard" pitchFamily="34" charset="-122"/>
                          <a:cs typeface="Pretendard" pitchFamily="34" charset="-120"/>
                        </a:rPr>
                        <a:t>30000원 · kb-pay</a:t>
                      </a:r>
                      <a:r>
                        <a:rPr lang="en-US" sz="1200" dirty="0">
                          <a:solidFill>
                            <a:srgbClr val="3B4557"/>
                          </a:solidFill>
                          <a:latin typeface="Pretendard" pitchFamily="34" charset="0"/>
                          <a:ea typeface="Pretendard" pitchFamily="34" charset="-122"/>
                          <a:cs typeface="Pretendard" pitchFamily="34" charset="-120"/>
                        </a:rPr>
                        <a:t>   (금액·코드를 통째로도 찾도록)</a:t>
                      </a:r>
                      <a:endParaRPr lang="en-US" sz="1200" dirty="0">
                        <a:latin typeface="Pretendard" charset="0"/>
                        <a:ea typeface="Pretendard" charset="0"/>
                        <a:cs typeface="Pretendard" charset="0"/>
                      </a:endParaRPr>
                    </a:p>
                  </a:txBody>
                  <a:tcPr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extLst>
                  <a:ext uri="{0D108BD9-81ED-4DB2-BD59-A6C34878D82A}">
                    <a16:rowId xmlns:a16="http://schemas.microsoft.com/office/drawing/2014/main" val="3405040365"/>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인덱싱 </a:t>
            </a:r>
            <a:r>
              <a:rPr lang="en-US" altLang="ko-KR" dirty="0">
                <a:solidFill>
                  <a:srgbClr val="2C2926"/>
                </a:solidFill>
                <a:latin typeface="Pretendard" pitchFamily="34" charset="0"/>
                <a:ea typeface="Pretendard" pitchFamily="34" charset="-122"/>
                <a:cs typeface="Pretendard" pitchFamily="34" charset="-120"/>
              </a:rPr>
              <a:t>– S2. </a:t>
            </a:r>
            <a:r>
              <a:rPr lang="ko-KR" altLang="en-US" sz="3200" b="1" dirty="0">
                <a:solidFill>
                  <a:srgbClr val="2C2926"/>
                </a:solidFill>
                <a:latin typeface="Pretendard" pitchFamily="34" charset="0"/>
                <a:ea typeface="Pretendard" pitchFamily="34" charset="-122"/>
                <a:cs typeface="Pretendard" pitchFamily="34" charset="-120"/>
              </a:rPr>
              <a:t>키워드 분석</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카드명 사전만 넣으면 줄여 부른 카드명 질문이 문서의 카드명 낱말과 겹치지 않음</a:t>
            </a:r>
            <a:endParaRPr lang="en-US" sz="1800" dirty="0"/>
          </a:p>
        </p:txBody>
      </p:sp>
      <p:sp>
        <p:nvSpPr>
          <p:cNvPr id="5" name="Shape 2"/>
          <p:cNvSpPr/>
          <p:nvPr/>
        </p:nvSpPr>
        <p:spPr>
          <a:xfrm>
            <a:off x="509321" y="1737360"/>
            <a:ext cx="822960" cy="347472"/>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6" name="Text 3"/>
          <p:cNvSpPr txBox="1"/>
          <p:nvPr/>
        </p:nvSpPr>
        <p:spPr>
          <a:xfrm>
            <a:off x="509321" y="1737360"/>
            <a:ext cx="822960" cy="347472"/>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문서</a:t>
            </a:r>
            <a:endParaRPr lang="en-US" sz="1500" dirty="0"/>
          </a:p>
        </p:txBody>
      </p:sp>
      <p:sp>
        <p:nvSpPr>
          <p:cNvPr id="7" name="Text 4"/>
          <p:cNvSpPr txBox="1"/>
          <p:nvPr/>
        </p:nvSpPr>
        <p:spPr>
          <a:xfrm>
            <a:off x="1423721" y="1719072"/>
            <a:ext cx="10972800" cy="384048"/>
          </a:xfrm>
          <a:prstGeom prst="rect">
            <a:avLst/>
          </a:prstGeom>
          <a:noFill/>
          <a:ln/>
        </p:spPr>
        <p:txBody>
          <a:bodyPr wrap="square" lIns="762" tIns="762" rIns="762" bIns="762" rtlCol="0" anchor="ctr"/>
          <a:lstStyle/>
          <a:p>
            <a:pPr marL="0" indent="0" algn="l">
              <a:buNone/>
            </a:pPr>
            <a:r>
              <a:rPr lang="en-US" sz="1700" dirty="0">
                <a:solidFill>
                  <a:srgbClr val="2B3242"/>
                </a:solidFill>
                <a:latin typeface="Pretendard" pitchFamily="34" charset="0"/>
                <a:ea typeface="Pretendard" pitchFamily="34" charset="-122"/>
                <a:cs typeface="Pretendard" pitchFamily="34" charset="-120"/>
              </a:rPr>
              <a:t>한빛 가족돌봄 카드로 30,000원 이상 결제하면 KB-PAY 할인을 받습니다.</a:t>
            </a:r>
            <a:endParaRPr lang="en-US" sz="1700" dirty="0"/>
          </a:p>
        </p:txBody>
      </p:sp>
      <p:sp>
        <p:nvSpPr>
          <p:cNvPr id="8" name="Shape 5"/>
          <p:cNvSpPr/>
          <p:nvPr/>
        </p:nvSpPr>
        <p:spPr>
          <a:xfrm>
            <a:off x="509321" y="2157984"/>
            <a:ext cx="822960" cy="347472"/>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9" name="Text 6"/>
          <p:cNvSpPr txBox="1"/>
          <p:nvPr/>
        </p:nvSpPr>
        <p:spPr>
          <a:xfrm>
            <a:off x="509321" y="2157984"/>
            <a:ext cx="822960" cy="347472"/>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질문</a:t>
            </a:r>
            <a:endParaRPr lang="en-US" sz="1500" dirty="0"/>
          </a:p>
        </p:txBody>
      </p:sp>
      <p:sp>
        <p:nvSpPr>
          <p:cNvPr id="10" name="Text 7"/>
          <p:cNvSpPr txBox="1"/>
          <p:nvPr/>
        </p:nvSpPr>
        <p:spPr>
          <a:xfrm>
            <a:off x="1423721" y="2139696"/>
            <a:ext cx="10972800" cy="384048"/>
          </a:xfrm>
          <a:prstGeom prst="rect">
            <a:avLst/>
          </a:prstGeom>
          <a:noFill/>
          <a:ln/>
        </p:spPr>
        <p:txBody>
          <a:bodyPr wrap="square" lIns="762" tIns="762" rIns="762" bIns="762" rtlCol="0" anchor="ctr"/>
          <a:lstStyle/>
          <a:p>
            <a:pPr marL="0" indent="0" algn="l">
              <a:buNone/>
            </a:pPr>
            <a:r>
              <a:rPr lang="en-US" sz="1700" b="1" dirty="0">
                <a:solidFill>
                  <a:srgbClr val="2B3242"/>
                </a:solidFill>
                <a:latin typeface="Pretendard" pitchFamily="34" charset="0"/>
                <a:ea typeface="Pretendard" pitchFamily="34" charset="-122"/>
                <a:cs typeface="Pretendard" pitchFamily="34" charset="-120"/>
              </a:rPr>
              <a:t>가족돌봄 카드 할인 조건이 뭐예요?</a:t>
            </a:r>
            <a:endParaRPr lang="en-US" sz="1700" dirty="0"/>
          </a:p>
        </p:txBody>
      </p:sp>
      <p:sp>
        <p:nvSpPr>
          <p:cNvPr id="11" name="Shape 8"/>
          <p:cNvSpPr/>
          <p:nvPr/>
        </p:nvSpPr>
        <p:spPr>
          <a:xfrm>
            <a:off x="509321" y="2697480"/>
            <a:ext cx="4358640" cy="438912"/>
          </a:xfrm>
          <a:prstGeom prst="roundRect">
            <a:avLst>
              <a:gd name="adj" fmla="val 12500"/>
            </a:avLst>
          </a:prstGeom>
          <a:solidFill>
            <a:srgbClr val="1E2A5C"/>
          </a:solidFill>
          <a:ln/>
        </p:spPr>
        <p:txBody>
          <a:bodyPr/>
          <a:lstStyle/>
          <a:p>
            <a:endParaRPr lang="ko-KR" altLang="en-US"/>
          </a:p>
        </p:txBody>
      </p:sp>
      <p:sp>
        <p:nvSpPr>
          <p:cNvPr id="12" name="Text 9"/>
          <p:cNvSpPr txBox="1"/>
          <p:nvPr/>
        </p:nvSpPr>
        <p:spPr>
          <a:xfrm>
            <a:off x="509321" y="2697480"/>
            <a:ext cx="4358640" cy="438912"/>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사전 없음</a:t>
            </a:r>
            <a:endParaRPr lang="en-US" sz="1800" dirty="0"/>
          </a:p>
        </p:txBody>
      </p:sp>
      <p:sp>
        <p:nvSpPr>
          <p:cNvPr id="13" name="Shape 10"/>
          <p:cNvSpPr/>
          <p:nvPr/>
        </p:nvSpPr>
        <p:spPr>
          <a:xfrm>
            <a:off x="509321" y="3200400"/>
            <a:ext cx="435864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14" name="Text 11"/>
          <p:cNvSpPr txBox="1"/>
          <p:nvPr/>
        </p:nvSpPr>
        <p:spPr>
          <a:xfrm>
            <a:off x="646481" y="3319272"/>
            <a:ext cx="640080" cy="38404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문서</a:t>
            </a:r>
            <a:endParaRPr lang="en-US" sz="1500" dirty="0"/>
          </a:p>
        </p:txBody>
      </p:sp>
      <p:sp>
        <p:nvSpPr>
          <p:cNvPr id="15" name="Shape 12"/>
          <p:cNvSpPr/>
          <p:nvPr/>
        </p:nvSpPr>
        <p:spPr>
          <a:xfrm>
            <a:off x="1332281" y="3319272"/>
            <a:ext cx="676656" cy="384048"/>
          </a:xfrm>
          <a:prstGeom prst="roundRect">
            <a:avLst>
              <a:gd name="adj" fmla="val 45000"/>
            </a:avLst>
          </a:prstGeom>
          <a:solidFill>
            <a:srgbClr val="FFFFFF"/>
          </a:solidFill>
          <a:ln w="12700">
            <a:solidFill>
              <a:srgbClr val="D9E0EC"/>
            </a:solidFill>
            <a:prstDash val="solid"/>
          </a:ln>
        </p:spPr>
        <p:txBody>
          <a:bodyPr/>
          <a:lstStyle/>
          <a:p>
            <a:endParaRPr lang="ko-KR" altLang="en-US"/>
          </a:p>
        </p:txBody>
      </p:sp>
      <p:sp>
        <p:nvSpPr>
          <p:cNvPr id="16" name="Text 13"/>
          <p:cNvSpPr txBox="1"/>
          <p:nvPr/>
        </p:nvSpPr>
        <p:spPr>
          <a:xfrm>
            <a:off x="1332281" y="3319272"/>
            <a:ext cx="676656" cy="384048"/>
          </a:xfrm>
          <a:prstGeom prst="rect">
            <a:avLst/>
          </a:prstGeom>
          <a:noFill/>
          <a:ln/>
        </p:spPr>
        <p:txBody>
          <a:bodyPr wrap="square" lIns="1016" tIns="1016" rIns="1016" bIns="1016" rtlCol="0" anchor="ctr"/>
          <a:lstStyle/>
          <a:p>
            <a:pPr marL="0" indent="0" algn="ctr">
              <a:buNone/>
            </a:pPr>
            <a:r>
              <a:rPr lang="en-US" sz="1600" dirty="0">
                <a:solidFill>
                  <a:srgbClr val="7C8598"/>
                </a:solidFill>
                <a:latin typeface="Pretendard" pitchFamily="34" charset="0"/>
                <a:ea typeface="Pretendard" pitchFamily="34" charset="-122"/>
                <a:cs typeface="Pretendard" pitchFamily="34" charset="-120"/>
              </a:rPr>
              <a:t>한빛</a:t>
            </a:r>
            <a:endParaRPr lang="en-US" sz="1600" dirty="0"/>
          </a:p>
        </p:txBody>
      </p:sp>
      <p:sp>
        <p:nvSpPr>
          <p:cNvPr id="17" name="Shape 14"/>
          <p:cNvSpPr/>
          <p:nvPr/>
        </p:nvSpPr>
        <p:spPr>
          <a:xfrm>
            <a:off x="2100377" y="3319272"/>
            <a:ext cx="676656" cy="384048"/>
          </a:xfrm>
          <a:prstGeom prst="roundRect">
            <a:avLst>
              <a:gd name="adj" fmla="val 45000"/>
            </a:avLst>
          </a:prstGeom>
          <a:solidFill>
            <a:srgbClr val="2E74C6"/>
          </a:solidFill>
          <a:ln/>
        </p:spPr>
        <p:txBody>
          <a:bodyPr/>
          <a:lstStyle/>
          <a:p>
            <a:endParaRPr lang="ko-KR" altLang="en-US"/>
          </a:p>
        </p:txBody>
      </p:sp>
      <p:sp>
        <p:nvSpPr>
          <p:cNvPr id="18" name="Text 15"/>
          <p:cNvSpPr txBox="1"/>
          <p:nvPr/>
        </p:nvSpPr>
        <p:spPr>
          <a:xfrm>
            <a:off x="2100377" y="3319272"/>
            <a:ext cx="676656"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가족</a:t>
            </a:r>
            <a:endParaRPr lang="en-US" sz="1600" dirty="0"/>
          </a:p>
        </p:txBody>
      </p:sp>
      <p:sp>
        <p:nvSpPr>
          <p:cNvPr id="19" name="Shape 16"/>
          <p:cNvSpPr/>
          <p:nvPr/>
        </p:nvSpPr>
        <p:spPr>
          <a:xfrm>
            <a:off x="2868473" y="3319272"/>
            <a:ext cx="676656" cy="384048"/>
          </a:xfrm>
          <a:prstGeom prst="roundRect">
            <a:avLst>
              <a:gd name="adj" fmla="val 45000"/>
            </a:avLst>
          </a:prstGeom>
          <a:solidFill>
            <a:srgbClr val="2E74C6"/>
          </a:solidFill>
          <a:ln/>
        </p:spPr>
        <p:txBody>
          <a:bodyPr/>
          <a:lstStyle/>
          <a:p>
            <a:endParaRPr lang="ko-KR" altLang="en-US"/>
          </a:p>
        </p:txBody>
      </p:sp>
      <p:sp>
        <p:nvSpPr>
          <p:cNvPr id="20" name="Text 17"/>
          <p:cNvSpPr txBox="1"/>
          <p:nvPr/>
        </p:nvSpPr>
        <p:spPr>
          <a:xfrm>
            <a:off x="2868473" y="3319272"/>
            <a:ext cx="676656"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돌봄</a:t>
            </a:r>
            <a:endParaRPr lang="en-US" sz="1600" dirty="0"/>
          </a:p>
        </p:txBody>
      </p:sp>
      <p:sp>
        <p:nvSpPr>
          <p:cNvPr id="21" name="Shape 18"/>
          <p:cNvSpPr/>
          <p:nvPr/>
        </p:nvSpPr>
        <p:spPr>
          <a:xfrm>
            <a:off x="3636569" y="3319272"/>
            <a:ext cx="1060704" cy="384048"/>
          </a:xfrm>
          <a:prstGeom prst="roundRect">
            <a:avLst>
              <a:gd name="adj" fmla="val 45000"/>
            </a:avLst>
          </a:prstGeom>
          <a:solidFill>
            <a:srgbClr val="2E74C6"/>
          </a:solidFill>
          <a:ln/>
        </p:spPr>
        <p:txBody>
          <a:bodyPr/>
          <a:lstStyle/>
          <a:p>
            <a:endParaRPr lang="ko-KR" altLang="en-US"/>
          </a:p>
        </p:txBody>
      </p:sp>
      <p:sp>
        <p:nvSpPr>
          <p:cNvPr id="22" name="Text 19"/>
          <p:cNvSpPr txBox="1"/>
          <p:nvPr/>
        </p:nvSpPr>
        <p:spPr>
          <a:xfrm>
            <a:off x="3636569" y="3319272"/>
            <a:ext cx="1060704"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가족돌봄</a:t>
            </a:r>
            <a:endParaRPr lang="en-US" sz="1600" dirty="0"/>
          </a:p>
        </p:txBody>
      </p:sp>
      <p:sp>
        <p:nvSpPr>
          <p:cNvPr id="23" name="Text 20"/>
          <p:cNvSpPr txBox="1"/>
          <p:nvPr/>
        </p:nvSpPr>
        <p:spPr>
          <a:xfrm>
            <a:off x="646481" y="3794760"/>
            <a:ext cx="640080" cy="38404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질문</a:t>
            </a:r>
            <a:endParaRPr lang="en-US" sz="1500" dirty="0"/>
          </a:p>
        </p:txBody>
      </p:sp>
      <p:sp>
        <p:nvSpPr>
          <p:cNvPr id="24" name="Shape 21"/>
          <p:cNvSpPr/>
          <p:nvPr/>
        </p:nvSpPr>
        <p:spPr>
          <a:xfrm>
            <a:off x="1332281" y="3794760"/>
            <a:ext cx="676656" cy="384048"/>
          </a:xfrm>
          <a:prstGeom prst="roundRect">
            <a:avLst>
              <a:gd name="adj" fmla="val 45000"/>
            </a:avLst>
          </a:prstGeom>
          <a:solidFill>
            <a:srgbClr val="2E74C6"/>
          </a:solidFill>
          <a:ln/>
        </p:spPr>
        <p:txBody>
          <a:bodyPr/>
          <a:lstStyle/>
          <a:p>
            <a:endParaRPr lang="ko-KR" altLang="en-US"/>
          </a:p>
        </p:txBody>
      </p:sp>
      <p:sp>
        <p:nvSpPr>
          <p:cNvPr id="25" name="Text 22"/>
          <p:cNvSpPr txBox="1"/>
          <p:nvPr/>
        </p:nvSpPr>
        <p:spPr>
          <a:xfrm>
            <a:off x="1332281" y="3794760"/>
            <a:ext cx="676656"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가족</a:t>
            </a:r>
            <a:endParaRPr lang="en-US" sz="1600" dirty="0"/>
          </a:p>
        </p:txBody>
      </p:sp>
      <p:sp>
        <p:nvSpPr>
          <p:cNvPr id="26" name="Shape 23"/>
          <p:cNvSpPr/>
          <p:nvPr/>
        </p:nvSpPr>
        <p:spPr>
          <a:xfrm>
            <a:off x="2100377" y="3794760"/>
            <a:ext cx="676656" cy="384048"/>
          </a:xfrm>
          <a:prstGeom prst="roundRect">
            <a:avLst>
              <a:gd name="adj" fmla="val 45000"/>
            </a:avLst>
          </a:prstGeom>
          <a:solidFill>
            <a:srgbClr val="2E74C6"/>
          </a:solidFill>
          <a:ln/>
        </p:spPr>
        <p:txBody>
          <a:bodyPr/>
          <a:lstStyle/>
          <a:p>
            <a:endParaRPr lang="ko-KR" altLang="en-US"/>
          </a:p>
        </p:txBody>
      </p:sp>
      <p:sp>
        <p:nvSpPr>
          <p:cNvPr id="27" name="Text 24"/>
          <p:cNvSpPr txBox="1"/>
          <p:nvPr/>
        </p:nvSpPr>
        <p:spPr>
          <a:xfrm>
            <a:off x="2100377" y="3794760"/>
            <a:ext cx="676656"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돌봄</a:t>
            </a:r>
            <a:endParaRPr lang="en-US" sz="1600" dirty="0"/>
          </a:p>
        </p:txBody>
      </p:sp>
      <p:sp>
        <p:nvSpPr>
          <p:cNvPr id="28" name="Shape 25"/>
          <p:cNvSpPr/>
          <p:nvPr/>
        </p:nvSpPr>
        <p:spPr>
          <a:xfrm>
            <a:off x="2868473" y="3794760"/>
            <a:ext cx="1060704" cy="384048"/>
          </a:xfrm>
          <a:prstGeom prst="roundRect">
            <a:avLst>
              <a:gd name="adj" fmla="val 45000"/>
            </a:avLst>
          </a:prstGeom>
          <a:solidFill>
            <a:srgbClr val="2E74C6"/>
          </a:solidFill>
          <a:ln/>
        </p:spPr>
        <p:txBody>
          <a:bodyPr/>
          <a:lstStyle/>
          <a:p>
            <a:endParaRPr lang="ko-KR" altLang="en-US"/>
          </a:p>
        </p:txBody>
      </p:sp>
      <p:sp>
        <p:nvSpPr>
          <p:cNvPr id="29" name="Text 26"/>
          <p:cNvSpPr txBox="1"/>
          <p:nvPr/>
        </p:nvSpPr>
        <p:spPr>
          <a:xfrm>
            <a:off x="2868473" y="3794760"/>
            <a:ext cx="1060704"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가족돌봄</a:t>
            </a:r>
            <a:endParaRPr lang="en-US" sz="1600" dirty="0"/>
          </a:p>
        </p:txBody>
      </p:sp>
      <p:sp>
        <p:nvSpPr>
          <p:cNvPr id="30" name="Shape 27"/>
          <p:cNvSpPr/>
          <p:nvPr/>
        </p:nvSpPr>
        <p:spPr>
          <a:xfrm>
            <a:off x="646481" y="4297680"/>
            <a:ext cx="4084320" cy="896112"/>
          </a:xfrm>
          <a:prstGeom prst="roundRect">
            <a:avLst>
              <a:gd name="adj" fmla="val 8163"/>
            </a:avLst>
          </a:prstGeom>
          <a:solidFill>
            <a:srgbClr val="F5F8FC"/>
          </a:solidFill>
          <a:ln w="12700">
            <a:solidFill>
              <a:srgbClr val="D9E0EC"/>
            </a:solidFill>
            <a:prstDash val="solid"/>
          </a:ln>
        </p:spPr>
        <p:txBody>
          <a:bodyPr/>
          <a:lstStyle/>
          <a:p>
            <a:endParaRPr lang="ko-KR" altLang="en-US"/>
          </a:p>
        </p:txBody>
      </p:sp>
      <p:sp>
        <p:nvSpPr>
          <p:cNvPr id="31" name="Text 28"/>
          <p:cNvSpPr txBox="1"/>
          <p:nvPr/>
        </p:nvSpPr>
        <p:spPr>
          <a:xfrm>
            <a:off x="646481" y="4297680"/>
            <a:ext cx="4084320" cy="89611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겹치지만 카드 구분이 약함</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'한빛'은 카드 64종 모두에,</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'가족'은 한빛 가족통신에도 나옴</a:t>
            </a:r>
            <a:endParaRPr lang="en-US" sz="1700" dirty="0"/>
          </a:p>
        </p:txBody>
      </p:sp>
      <p:sp>
        <p:nvSpPr>
          <p:cNvPr id="32" name="Shape 29"/>
          <p:cNvSpPr/>
          <p:nvPr/>
        </p:nvSpPr>
        <p:spPr>
          <a:xfrm>
            <a:off x="5142281" y="2697480"/>
            <a:ext cx="4358640" cy="438912"/>
          </a:xfrm>
          <a:prstGeom prst="roundRect">
            <a:avLst>
              <a:gd name="adj" fmla="val 12500"/>
            </a:avLst>
          </a:prstGeom>
          <a:solidFill>
            <a:srgbClr val="404155"/>
          </a:solidFill>
          <a:ln/>
        </p:spPr>
        <p:txBody>
          <a:bodyPr/>
          <a:lstStyle/>
          <a:p>
            <a:endParaRPr lang="ko-KR" altLang="en-US"/>
          </a:p>
        </p:txBody>
      </p:sp>
      <p:sp>
        <p:nvSpPr>
          <p:cNvPr id="33" name="Text 30"/>
          <p:cNvSpPr txBox="1"/>
          <p:nvPr/>
        </p:nvSpPr>
        <p:spPr>
          <a:xfrm>
            <a:off x="5142281" y="2697480"/>
            <a:ext cx="4358640" cy="438912"/>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카드명 사전만</a:t>
            </a:r>
            <a:endParaRPr lang="en-US" sz="1800" dirty="0"/>
          </a:p>
        </p:txBody>
      </p:sp>
      <p:sp>
        <p:nvSpPr>
          <p:cNvPr id="34" name="Shape 31"/>
          <p:cNvSpPr/>
          <p:nvPr/>
        </p:nvSpPr>
        <p:spPr>
          <a:xfrm>
            <a:off x="5142281" y="3200400"/>
            <a:ext cx="435864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35" name="Text 32"/>
          <p:cNvSpPr txBox="1"/>
          <p:nvPr/>
        </p:nvSpPr>
        <p:spPr>
          <a:xfrm>
            <a:off x="5279441" y="3319272"/>
            <a:ext cx="640080" cy="38404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문서</a:t>
            </a:r>
            <a:endParaRPr lang="en-US" sz="1500" dirty="0"/>
          </a:p>
        </p:txBody>
      </p:sp>
      <p:sp>
        <p:nvSpPr>
          <p:cNvPr id="36" name="Shape 33"/>
          <p:cNvSpPr/>
          <p:nvPr/>
        </p:nvSpPr>
        <p:spPr>
          <a:xfrm>
            <a:off x="5965241" y="3319272"/>
            <a:ext cx="1444752" cy="384048"/>
          </a:xfrm>
          <a:prstGeom prst="roundRect">
            <a:avLst>
              <a:gd name="adj" fmla="val 45000"/>
            </a:avLst>
          </a:prstGeom>
          <a:solidFill>
            <a:srgbClr val="FFFFFF"/>
          </a:solidFill>
          <a:ln w="12700">
            <a:solidFill>
              <a:srgbClr val="D9E0EC"/>
            </a:solidFill>
            <a:prstDash val="solid"/>
          </a:ln>
        </p:spPr>
        <p:txBody>
          <a:bodyPr/>
          <a:lstStyle/>
          <a:p>
            <a:endParaRPr lang="ko-KR" altLang="en-US"/>
          </a:p>
        </p:txBody>
      </p:sp>
      <p:sp>
        <p:nvSpPr>
          <p:cNvPr id="37" name="Text 34"/>
          <p:cNvSpPr txBox="1"/>
          <p:nvPr/>
        </p:nvSpPr>
        <p:spPr>
          <a:xfrm>
            <a:off x="5965241" y="3319272"/>
            <a:ext cx="1444752" cy="384048"/>
          </a:xfrm>
          <a:prstGeom prst="rect">
            <a:avLst/>
          </a:prstGeom>
          <a:noFill/>
          <a:ln/>
        </p:spPr>
        <p:txBody>
          <a:bodyPr wrap="square" lIns="1016" tIns="1016" rIns="1016" bIns="1016" rtlCol="0" anchor="ctr"/>
          <a:lstStyle/>
          <a:p>
            <a:pPr marL="0" indent="0" algn="ctr">
              <a:buNone/>
            </a:pPr>
            <a:r>
              <a:rPr lang="en-US" sz="1600" dirty="0">
                <a:solidFill>
                  <a:srgbClr val="7C8598"/>
                </a:solidFill>
                <a:latin typeface="Pretendard" pitchFamily="34" charset="0"/>
                <a:ea typeface="Pretendard" pitchFamily="34" charset="-122"/>
                <a:cs typeface="Pretendard" pitchFamily="34" charset="-120"/>
              </a:rPr>
              <a:t>한빛가족돌봄</a:t>
            </a:r>
            <a:endParaRPr lang="en-US" sz="1600" dirty="0"/>
          </a:p>
        </p:txBody>
      </p:sp>
      <p:sp>
        <p:nvSpPr>
          <p:cNvPr id="38" name="Text 35"/>
          <p:cNvSpPr txBox="1"/>
          <p:nvPr/>
        </p:nvSpPr>
        <p:spPr>
          <a:xfrm>
            <a:off x="5279441" y="3794760"/>
            <a:ext cx="640080" cy="38404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질문</a:t>
            </a:r>
            <a:endParaRPr lang="en-US" sz="1500" dirty="0"/>
          </a:p>
        </p:txBody>
      </p:sp>
      <p:sp>
        <p:nvSpPr>
          <p:cNvPr id="39" name="Shape 36"/>
          <p:cNvSpPr/>
          <p:nvPr/>
        </p:nvSpPr>
        <p:spPr>
          <a:xfrm>
            <a:off x="5965241" y="3794760"/>
            <a:ext cx="676656" cy="384048"/>
          </a:xfrm>
          <a:prstGeom prst="roundRect">
            <a:avLst>
              <a:gd name="adj" fmla="val 45000"/>
            </a:avLst>
          </a:prstGeom>
          <a:solidFill>
            <a:srgbClr val="FFFFFF"/>
          </a:solidFill>
          <a:ln w="12700">
            <a:solidFill>
              <a:srgbClr val="D9E0EC"/>
            </a:solidFill>
            <a:prstDash val="solid"/>
          </a:ln>
        </p:spPr>
        <p:txBody>
          <a:bodyPr/>
          <a:lstStyle/>
          <a:p>
            <a:endParaRPr lang="ko-KR" altLang="en-US"/>
          </a:p>
        </p:txBody>
      </p:sp>
      <p:sp>
        <p:nvSpPr>
          <p:cNvPr id="40" name="Text 37"/>
          <p:cNvSpPr txBox="1"/>
          <p:nvPr/>
        </p:nvSpPr>
        <p:spPr>
          <a:xfrm>
            <a:off x="5965241" y="3794760"/>
            <a:ext cx="676656" cy="384048"/>
          </a:xfrm>
          <a:prstGeom prst="rect">
            <a:avLst/>
          </a:prstGeom>
          <a:noFill/>
          <a:ln/>
        </p:spPr>
        <p:txBody>
          <a:bodyPr wrap="square" lIns="1016" tIns="1016" rIns="1016" bIns="1016" rtlCol="0" anchor="ctr"/>
          <a:lstStyle/>
          <a:p>
            <a:pPr marL="0" indent="0" algn="ctr">
              <a:buNone/>
            </a:pPr>
            <a:r>
              <a:rPr lang="en-US" sz="1600" dirty="0">
                <a:solidFill>
                  <a:srgbClr val="7C8598"/>
                </a:solidFill>
                <a:latin typeface="Pretendard" pitchFamily="34" charset="0"/>
                <a:ea typeface="Pretendard" pitchFamily="34" charset="-122"/>
                <a:cs typeface="Pretendard" pitchFamily="34" charset="-120"/>
              </a:rPr>
              <a:t>가족</a:t>
            </a:r>
            <a:endParaRPr lang="en-US" sz="1600" dirty="0"/>
          </a:p>
        </p:txBody>
      </p:sp>
      <p:sp>
        <p:nvSpPr>
          <p:cNvPr id="41" name="Shape 38"/>
          <p:cNvSpPr/>
          <p:nvPr/>
        </p:nvSpPr>
        <p:spPr>
          <a:xfrm>
            <a:off x="6733337" y="3794760"/>
            <a:ext cx="676656" cy="384048"/>
          </a:xfrm>
          <a:prstGeom prst="roundRect">
            <a:avLst>
              <a:gd name="adj" fmla="val 45000"/>
            </a:avLst>
          </a:prstGeom>
          <a:solidFill>
            <a:srgbClr val="FFFFFF"/>
          </a:solidFill>
          <a:ln w="12700">
            <a:solidFill>
              <a:srgbClr val="D9E0EC"/>
            </a:solidFill>
            <a:prstDash val="solid"/>
          </a:ln>
        </p:spPr>
        <p:txBody>
          <a:bodyPr/>
          <a:lstStyle/>
          <a:p>
            <a:endParaRPr lang="ko-KR" altLang="en-US"/>
          </a:p>
        </p:txBody>
      </p:sp>
      <p:sp>
        <p:nvSpPr>
          <p:cNvPr id="42" name="Text 39"/>
          <p:cNvSpPr txBox="1"/>
          <p:nvPr/>
        </p:nvSpPr>
        <p:spPr>
          <a:xfrm>
            <a:off x="6733337" y="3794760"/>
            <a:ext cx="676656" cy="384048"/>
          </a:xfrm>
          <a:prstGeom prst="rect">
            <a:avLst/>
          </a:prstGeom>
          <a:noFill/>
          <a:ln/>
        </p:spPr>
        <p:txBody>
          <a:bodyPr wrap="square" lIns="1016" tIns="1016" rIns="1016" bIns="1016" rtlCol="0" anchor="ctr"/>
          <a:lstStyle/>
          <a:p>
            <a:pPr marL="0" indent="0" algn="ctr">
              <a:buNone/>
            </a:pPr>
            <a:r>
              <a:rPr lang="en-US" sz="1600" dirty="0">
                <a:solidFill>
                  <a:srgbClr val="7C8598"/>
                </a:solidFill>
                <a:latin typeface="Pretendard" pitchFamily="34" charset="0"/>
                <a:ea typeface="Pretendard" pitchFamily="34" charset="-122"/>
                <a:cs typeface="Pretendard" pitchFamily="34" charset="-120"/>
              </a:rPr>
              <a:t>돌봄</a:t>
            </a:r>
            <a:endParaRPr lang="en-US" sz="1600" dirty="0"/>
          </a:p>
        </p:txBody>
      </p:sp>
      <p:sp>
        <p:nvSpPr>
          <p:cNvPr id="43" name="Shape 40"/>
          <p:cNvSpPr/>
          <p:nvPr/>
        </p:nvSpPr>
        <p:spPr>
          <a:xfrm>
            <a:off x="7501433" y="3794760"/>
            <a:ext cx="1060704" cy="384048"/>
          </a:xfrm>
          <a:prstGeom prst="roundRect">
            <a:avLst>
              <a:gd name="adj" fmla="val 45000"/>
            </a:avLst>
          </a:prstGeom>
          <a:solidFill>
            <a:srgbClr val="FFFFFF"/>
          </a:solidFill>
          <a:ln w="12700">
            <a:solidFill>
              <a:srgbClr val="D9E0EC"/>
            </a:solidFill>
            <a:prstDash val="solid"/>
          </a:ln>
        </p:spPr>
        <p:txBody>
          <a:bodyPr/>
          <a:lstStyle/>
          <a:p>
            <a:endParaRPr lang="ko-KR" altLang="en-US"/>
          </a:p>
        </p:txBody>
      </p:sp>
      <p:sp>
        <p:nvSpPr>
          <p:cNvPr id="44" name="Text 41"/>
          <p:cNvSpPr txBox="1"/>
          <p:nvPr/>
        </p:nvSpPr>
        <p:spPr>
          <a:xfrm>
            <a:off x="7501433" y="3794760"/>
            <a:ext cx="1060704" cy="384048"/>
          </a:xfrm>
          <a:prstGeom prst="rect">
            <a:avLst/>
          </a:prstGeom>
          <a:noFill/>
          <a:ln/>
        </p:spPr>
        <p:txBody>
          <a:bodyPr wrap="square" lIns="1016" tIns="1016" rIns="1016" bIns="1016" rtlCol="0" anchor="ctr"/>
          <a:lstStyle/>
          <a:p>
            <a:pPr marL="0" indent="0" algn="ctr">
              <a:buNone/>
            </a:pPr>
            <a:r>
              <a:rPr lang="en-US" sz="1600" dirty="0">
                <a:solidFill>
                  <a:srgbClr val="7C8598"/>
                </a:solidFill>
                <a:latin typeface="Pretendard" pitchFamily="34" charset="0"/>
                <a:ea typeface="Pretendard" pitchFamily="34" charset="-122"/>
                <a:cs typeface="Pretendard" pitchFamily="34" charset="-120"/>
              </a:rPr>
              <a:t>가족돌봄</a:t>
            </a:r>
            <a:endParaRPr lang="en-US" sz="1600" dirty="0"/>
          </a:p>
        </p:txBody>
      </p:sp>
      <p:sp>
        <p:nvSpPr>
          <p:cNvPr id="45" name="Shape 42"/>
          <p:cNvSpPr/>
          <p:nvPr/>
        </p:nvSpPr>
        <p:spPr>
          <a:xfrm>
            <a:off x="5279441" y="4297680"/>
            <a:ext cx="4084320" cy="896112"/>
          </a:xfrm>
          <a:prstGeom prst="roundRect">
            <a:avLst>
              <a:gd name="adj" fmla="val 8163"/>
            </a:avLst>
          </a:prstGeom>
          <a:solidFill>
            <a:srgbClr val="404155"/>
          </a:solidFill>
          <a:ln/>
        </p:spPr>
        <p:txBody>
          <a:bodyPr/>
          <a:lstStyle/>
          <a:p>
            <a:endParaRPr lang="ko-KR" altLang="en-US"/>
          </a:p>
        </p:txBody>
      </p:sp>
      <p:sp>
        <p:nvSpPr>
          <p:cNvPr id="46" name="Text 43"/>
          <p:cNvSpPr txBox="1"/>
          <p:nvPr/>
        </p:nvSpPr>
        <p:spPr>
          <a:xfrm>
            <a:off x="5279441" y="4297680"/>
            <a:ext cx="4084320" cy="89611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FFFFFF"/>
                </a:solidFill>
                <a:latin typeface="Pretendard" pitchFamily="34" charset="0"/>
                <a:ea typeface="Pretendard" pitchFamily="34" charset="-122"/>
                <a:cs typeface="Pretendard" pitchFamily="34" charset="-120"/>
              </a:rPr>
              <a:t>카드명이 하나도 안 겹침</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줄여 부르면 그 카드를 못 찾음</a:t>
            </a:r>
            <a:endParaRPr lang="en-US" sz="1700" dirty="0"/>
          </a:p>
        </p:txBody>
      </p:sp>
      <p:sp>
        <p:nvSpPr>
          <p:cNvPr id="47" name="Shape 44"/>
          <p:cNvSpPr/>
          <p:nvPr/>
        </p:nvSpPr>
        <p:spPr>
          <a:xfrm>
            <a:off x="9775241" y="2697480"/>
            <a:ext cx="4358640" cy="438912"/>
          </a:xfrm>
          <a:prstGeom prst="roundRect">
            <a:avLst>
              <a:gd name="adj" fmla="val 12500"/>
            </a:avLst>
          </a:prstGeom>
          <a:solidFill>
            <a:srgbClr val="2E74C6"/>
          </a:solidFill>
          <a:ln/>
        </p:spPr>
        <p:txBody>
          <a:bodyPr/>
          <a:lstStyle/>
          <a:p>
            <a:endParaRPr lang="ko-KR" altLang="en-US"/>
          </a:p>
        </p:txBody>
      </p:sp>
      <p:sp>
        <p:nvSpPr>
          <p:cNvPr id="48" name="Text 45"/>
          <p:cNvSpPr txBox="1"/>
          <p:nvPr/>
        </p:nvSpPr>
        <p:spPr>
          <a:xfrm>
            <a:off x="9775241" y="2697480"/>
            <a:ext cx="4358640" cy="438912"/>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카드명 사전 + 별칭</a:t>
            </a:r>
            <a:endParaRPr lang="en-US" sz="1800" dirty="0"/>
          </a:p>
        </p:txBody>
      </p:sp>
      <p:sp>
        <p:nvSpPr>
          <p:cNvPr id="49" name="Shape 46"/>
          <p:cNvSpPr/>
          <p:nvPr/>
        </p:nvSpPr>
        <p:spPr>
          <a:xfrm>
            <a:off x="9775241" y="3200400"/>
            <a:ext cx="435864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9912401" y="3319272"/>
            <a:ext cx="640080" cy="38404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문서</a:t>
            </a:r>
            <a:endParaRPr lang="en-US" sz="1500" dirty="0"/>
          </a:p>
        </p:txBody>
      </p:sp>
      <p:sp>
        <p:nvSpPr>
          <p:cNvPr id="51" name="Shape 48"/>
          <p:cNvSpPr/>
          <p:nvPr/>
        </p:nvSpPr>
        <p:spPr>
          <a:xfrm>
            <a:off x="10598201" y="3319272"/>
            <a:ext cx="1444752" cy="384048"/>
          </a:xfrm>
          <a:prstGeom prst="roundRect">
            <a:avLst>
              <a:gd name="adj" fmla="val 45000"/>
            </a:avLst>
          </a:prstGeom>
          <a:solidFill>
            <a:srgbClr val="2E74C6"/>
          </a:solidFill>
          <a:ln/>
        </p:spPr>
        <p:txBody>
          <a:bodyPr/>
          <a:lstStyle/>
          <a:p>
            <a:endParaRPr lang="ko-KR" altLang="en-US"/>
          </a:p>
        </p:txBody>
      </p:sp>
      <p:sp>
        <p:nvSpPr>
          <p:cNvPr id="52" name="Text 49"/>
          <p:cNvSpPr txBox="1"/>
          <p:nvPr/>
        </p:nvSpPr>
        <p:spPr>
          <a:xfrm>
            <a:off x="10598201" y="3319272"/>
            <a:ext cx="1444752"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한빛가족돌봄</a:t>
            </a:r>
            <a:endParaRPr lang="en-US" sz="1600" dirty="0"/>
          </a:p>
        </p:txBody>
      </p:sp>
      <p:sp>
        <p:nvSpPr>
          <p:cNvPr id="53" name="Text 50"/>
          <p:cNvSpPr txBox="1"/>
          <p:nvPr/>
        </p:nvSpPr>
        <p:spPr>
          <a:xfrm>
            <a:off x="9912401" y="3794760"/>
            <a:ext cx="640080" cy="38404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질문</a:t>
            </a:r>
            <a:endParaRPr lang="en-US" sz="1500" dirty="0"/>
          </a:p>
        </p:txBody>
      </p:sp>
      <p:sp>
        <p:nvSpPr>
          <p:cNvPr id="54" name="Shape 51"/>
          <p:cNvSpPr/>
          <p:nvPr/>
        </p:nvSpPr>
        <p:spPr>
          <a:xfrm>
            <a:off x="10598201" y="3794760"/>
            <a:ext cx="1444752" cy="384048"/>
          </a:xfrm>
          <a:prstGeom prst="roundRect">
            <a:avLst>
              <a:gd name="adj" fmla="val 45000"/>
            </a:avLst>
          </a:prstGeom>
          <a:solidFill>
            <a:srgbClr val="2E74C6"/>
          </a:solidFill>
          <a:ln/>
        </p:spPr>
        <p:txBody>
          <a:bodyPr/>
          <a:lstStyle/>
          <a:p>
            <a:endParaRPr lang="ko-KR" altLang="en-US"/>
          </a:p>
        </p:txBody>
      </p:sp>
      <p:sp>
        <p:nvSpPr>
          <p:cNvPr id="55" name="Text 52"/>
          <p:cNvSpPr txBox="1"/>
          <p:nvPr/>
        </p:nvSpPr>
        <p:spPr>
          <a:xfrm>
            <a:off x="10598201" y="3794760"/>
            <a:ext cx="1444752" cy="384048"/>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한빛가족돌봄</a:t>
            </a:r>
            <a:endParaRPr lang="en-US" sz="1600" dirty="0"/>
          </a:p>
        </p:txBody>
      </p:sp>
      <p:sp>
        <p:nvSpPr>
          <p:cNvPr id="56" name="Text 53"/>
          <p:cNvSpPr txBox="1"/>
          <p:nvPr/>
        </p:nvSpPr>
        <p:spPr>
          <a:xfrm>
            <a:off x="12134393" y="3794760"/>
            <a:ext cx="2011680" cy="384048"/>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 별칭이 바꿈</a:t>
            </a:r>
            <a:endParaRPr lang="en-US" sz="1400" dirty="0"/>
          </a:p>
        </p:txBody>
      </p:sp>
      <p:sp>
        <p:nvSpPr>
          <p:cNvPr id="57" name="Shape 54"/>
          <p:cNvSpPr/>
          <p:nvPr/>
        </p:nvSpPr>
        <p:spPr>
          <a:xfrm>
            <a:off x="9912401" y="4297680"/>
            <a:ext cx="4084320" cy="896112"/>
          </a:xfrm>
          <a:prstGeom prst="roundRect">
            <a:avLst>
              <a:gd name="adj" fmla="val 8163"/>
            </a:avLst>
          </a:prstGeom>
          <a:solidFill>
            <a:srgbClr val="2E74C6"/>
          </a:solidFill>
          <a:ln/>
        </p:spPr>
        <p:txBody>
          <a:bodyPr/>
          <a:lstStyle/>
          <a:p>
            <a:endParaRPr lang="ko-KR" altLang="en-US"/>
          </a:p>
        </p:txBody>
      </p:sp>
      <p:sp>
        <p:nvSpPr>
          <p:cNvPr id="58" name="Text 55"/>
          <p:cNvSpPr txBox="1"/>
          <p:nvPr/>
        </p:nvSpPr>
        <p:spPr>
          <a:xfrm>
            <a:off x="9912401" y="4297680"/>
            <a:ext cx="4084320" cy="89611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FFFFFF"/>
                </a:solidFill>
                <a:latin typeface="Pretendard" pitchFamily="34" charset="0"/>
                <a:ea typeface="Pretendard" pitchFamily="34" charset="-122"/>
                <a:cs typeface="Pretendard" pitchFamily="34" charset="-120"/>
              </a:rPr>
              <a:t>그 카드 한 단어로 정확히 겹침</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줄여 불러도 정식 카드명으로 찾음</a:t>
            </a:r>
            <a:endParaRPr lang="en-US" sz="1700" dirty="0"/>
          </a:p>
        </p:txBody>
      </p:sp>
      <p:sp>
        <p:nvSpPr>
          <p:cNvPr id="59" name="Text 56"/>
          <p:cNvSpPr txBox="1"/>
          <p:nvPr/>
        </p:nvSpPr>
        <p:spPr>
          <a:xfrm>
            <a:off x="509321" y="5358384"/>
            <a:ext cx="13624560" cy="310896"/>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파란 칩이 문서와 질문에서 겹친 낱말. 카드, 할인 같은 다른 낱말은 세 경우 모두 겹침</a:t>
            </a:r>
            <a:endParaRPr lang="en-US" sz="1400" dirty="0"/>
          </a:p>
        </p:txBody>
      </p:sp>
      <p:sp>
        <p:nvSpPr>
          <p:cNvPr id="60" name="Shape 57"/>
          <p:cNvSpPr/>
          <p:nvPr/>
        </p:nvSpPr>
        <p:spPr>
          <a:xfrm>
            <a:off x="509321" y="5779008"/>
            <a:ext cx="2377440" cy="365760"/>
          </a:xfrm>
          <a:prstGeom prst="roundRect">
            <a:avLst>
              <a:gd name="adj" fmla="val 12500"/>
            </a:avLst>
          </a:prstGeom>
          <a:solidFill>
            <a:srgbClr val="404155"/>
          </a:solidFill>
          <a:ln/>
        </p:spPr>
        <p:txBody>
          <a:bodyPr/>
          <a:lstStyle/>
          <a:p>
            <a:endParaRPr lang="ko-KR" altLang="en-US"/>
          </a:p>
        </p:txBody>
      </p:sp>
      <p:sp>
        <p:nvSpPr>
          <p:cNvPr id="61" name="Text 58"/>
          <p:cNvSpPr txBox="1"/>
          <p:nvPr/>
        </p:nvSpPr>
        <p:spPr>
          <a:xfrm>
            <a:off x="509321" y="5779008"/>
            <a:ext cx="23774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별칭 사전 만드는 법</a:t>
            </a:r>
            <a:endParaRPr lang="en-US" sz="1600" dirty="0"/>
          </a:p>
        </p:txBody>
      </p:sp>
      <p:sp>
        <p:nvSpPr>
          <p:cNvPr id="62" name="Text 59"/>
          <p:cNvSpPr txBox="1"/>
          <p:nvPr/>
        </p:nvSpPr>
        <p:spPr>
          <a:xfrm>
            <a:off x="3023921" y="5779008"/>
            <a:ext cx="11109960" cy="36576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사전이나 별칭이 바뀌면 문서 낱말도 바뀜 → 새 세대로 BM25 필드를 다시 만듦 (벡터는 재사용)</a:t>
            </a:r>
            <a:endParaRPr lang="en-US" sz="1500" dirty="0"/>
          </a:p>
        </p:txBody>
      </p:sp>
      <p:sp>
        <p:nvSpPr>
          <p:cNvPr id="63" name="Shape 60"/>
          <p:cNvSpPr/>
          <p:nvPr/>
        </p:nvSpPr>
        <p:spPr>
          <a:xfrm>
            <a:off x="509321" y="6236208"/>
            <a:ext cx="2505456" cy="987552"/>
          </a:xfrm>
          <a:prstGeom prst="roundRect">
            <a:avLst>
              <a:gd name="adj" fmla="val 7407"/>
            </a:avLst>
          </a:prstGeom>
          <a:solidFill>
            <a:srgbClr val="EEF3FA"/>
          </a:solidFill>
          <a:ln w="12700">
            <a:solidFill>
              <a:srgbClr val="D9E0EC"/>
            </a:solidFill>
            <a:prstDash val="solid"/>
          </a:ln>
        </p:spPr>
        <p:txBody>
          <a:bodyPr/>
          <a:lstStyle/>
          <a:p>
            <a:endParaRPr lang="ko-KR" altLang="en-US"/>
          </a:p>
        </p:txBody>
      </p:sp>
      <p:sp>
        <p:nvSpPr>
          <p:cNvPr id="64" name="Text 61"/>
          <p:cNvSpPr txBox="1"/>
          <p:nvPr/>
        </p:nvSpPr>
        <p:spPr>
          <a:xfrm>
            <a:off x="509321" y="6236208"/>
            <a:ext cx="2505456" cy="98755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정식 카드명 64개</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예) 한빛 가족돌봄</a:t>
            </a:r>
            <a:endParaRPr lang="en-US" sz="1700" dirty="0"/>
          </a:p>
        </p:txBody>
      </p:sp>
      <p:sp>
        <p:nvSpPr>
          <p:cNvPr id="65" name="Shape 62"/>
          <p:cNvSpPr/>
          <p:nvPr/>
        </p:nvSpPr>
        <p:spPr>
          <a:xfrm>
            <a:off x="3042209" y="6729984"/>
            <a:ext cx="219456" cy="0"/>
          </a:xfrm>
          <a:prstGeom prst="line">
            <a:avLst/>
          </a:prstGeom>
          <a:noFill/>
          <a:ln w="19050">
            <a:solidFill>
              <a:srgbClr val="4A5364"/>
            </a:solidFill>
            <a:prstDash val="solid"/>
            <a:tailEnd type="triangle"/>
          </a:ln>
        </p:spPr>
        <p:txBody>
          <a:bodyPr/>
          <a:lstStyle/>
          <a:p>
            <a:endParaRPr lang="ko-KR" altLang="en-US"/>
          </a:p>
        </p:txBody>
      </p:sp>
      <p:sp>
        <p:nvSpPr>
          <p:cNvPr id="66" name="Shape 63"/>
          <p:cNvSpPr/>
          <p:nvPr/>
        </p:nvSpPr>
        <p:spPr>
          <a:xfrm>
            <a:off x="3289097" y="6236208"/>
            <a:ext cx="2505456" cy="987552"/>
          </a:xfrm>
          <a:prstGeom prst="roundRect">
            <a:avLst>
              <a:gd name="adj" fmla="val 7407"/>
            </a:avLst>
          </a:prstGeom>
          <a:solidFill>
            <a:srgbClr val="FFFFFF"/>
          </a:solidFill>
          <a:ln w="12700">
            <a:solidFill>
              <a:srgbClr val="D9E0EC"/>
            </a:solidFill>
            <a:prstDash val="solid"/>
          </a:ln>
        </p:spPr>
        <p:txBody>
          <a:bodyPr/>
          <a:lstStyle/>
          <a:p>
            <a:endParaRPr lang="ko-KR" altLang="en-US"/>
          </a:p>
        </p:txBody>
      </p:sp>
      <p:sp>
        <p:nvSpPr>
          <p:cNvPr id="67" name="Text 64"/>
          <p:cNvSpPr txBox="1"/>
          <p:nvPr/>
        </p:nvSpPr>
        <p:spPr>
          <a:xfrm>
            <a:off x="3289097" y="6236208"/>
            <a:ext cx="2505456" cy="98755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규칙으로 자동 생성</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'한빛', '카드'를 떼고</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3글자 이상만</a:t>
            </a:r>
            <a:endParaRPr lang="en-US" sz="1700" dirty="0"/>
          </a:p>
        </p:txBody>
      </p:sp>
      <p:sp>
        <p:nvSpPr>
          <p:cNvPr id="68" name="Shape 65"/>
          <p:cNvSpPr/>
          <p:nvPr/>
        </p:nvSpPr>
        <p:spPr>
          <a:xfrm>
            <a:off x="5821985" y="6729984"/>
            <a:ext cx="219456" cy="0"/>
          </a:xfrm>
          <a:prstGeom prst="line">
            <a:avLst/>
          </a:prstGeom>
          <a:noFill/>
          <a:ln w="19050">
            <a:solidFill>
              <a:srgbClr val="4A5364"/>
            </a:solidFill>
            <a:prstDash val="solid"/>
            <a:tailEnd type="triangle"/>
          </a:ln>
        </p:spPr>
        <p:txBody>
          <a:bodyPr/>
          <a:lstStyle/>
          <a:p>
            <a:endParaRPr lang="ko-KR" altLang="en-US"/>
          </a:p>
        </p:txBody>
      </p:sp>
      <p:sp>
        <p:nvSpPr>
          <p:cNvPr id="69" name="Shape 66"/>
          <p:cNvSpPr/>
          <p:nvPr/>
        </p:nvSpPr>
        <p:spPr>
          <a:xfrm>
            <a:off x="6068873" y="6236208"/>
            <a:ext cx="2505456" cy="987552"/>
          </a:xfrm>
          <a:prstGeom prst="roundRect">
            <a:avLst>
              <a:gd name="adj" fmla="val 7407"/>
            </a:avLst>
          </a:prstGeom>
          <a:solidFill>
            <a:srgbClr val="2E74C6"/>
          </a:solidFill>
          <a:ln/>
        </p:spPr>
        <p:txBody>
          <a:bodyPr/>
          <a:lstStyle/>
          <a:p>
            <a:endParaRPr lang="ko-KR" altLang="en-US"/>
          </a:p>
        </p:txBody>
      </p:sp>
      <p:sp>
        <p:nvSpPr>
          <p:cNvPr id="70" name="Text 67"/>
          <p:cNvSpPr txBox="1"/>
          <p:nvPr/>
        </p:nvSpPr>
        <p:spPr>
          <a:xfrm>
            <a:off x="6068873" y="6236208"/>
            <a:ext cx="2505456" cy="98755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FFFFFF"/>
                </a:solidFill>
                <a:latin typeface="Pretendard" pitchFamily="34" charset="0"/>
                <a:ea typeface="Pretendard" pitchFamily="34" charset="-122"/>
                <a:cs typeface="Pretendard" pitchFamily="34" charset="-120"/>
              </a:rPr>
              <a:t>별칭 189개</a:t>
            </a:r>
            <a:endParaRPr lang="en-US" sz="17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가족돌봄 → 한빛가족돌봄</a:t>
            </a:r>
            <a:endParaRPr lang="en-US" sz="1700" dirty="0"/>
          </a:p>
        </p:txBody>
      </p:sp>
      <p:sp>
        <p:nvSpPr>
          <p:cNvPr id="71" name="Shape 68"/>
          <p:cNvSpPr/>
          <p:nvPr/>
        </p:nvSpPr>
        <p:spPr>
          <a:xfrm>
            <a:off x="8601761" y="6729984"/>
            <a:ext cx="219456" cy="0"/>
          </a:xfrm>
          <a:prstGeom prst="line">
            <a:avLst/>
          </a:prstGeom>
          <a:noFill/>
          <a:ln w="19050">
            <a:solidFill>
              <a:srgbClr val="4A5364"/>
            </a:solidFill>
            <a:prstDash val="solid"/>
            <a:tailEnd type="triangle"/>
          </a:ln>
        </p:spPr>
        <p:txBody>
          <a:bodyPr/>
          <a:lstStyle/>
          <a:p>
            <a:endParaRPr lang="ko-KR" altLang="en-US"/>
          </a:p>
        </p:txBody>
      </p:sp>
      <p:sp>
        <p:nvSpPr>
          <p:cNvPr id="72" name="Shape 69"/>
          <p:cNvSpPr/>
          <p:nvPr/>
        </p:nvSpPr>
        <p:spPr>
          <a:xfrm>
            <a:off x="8848649" y="6236208"/>
            <a:ext cx="2505456" cy="987552"/>
          </a:xfrm>
          <a:prstGeom prst="roundRect">
            <a:avLst>
              <a:gd name="adj" fmla="val 7407"/>
            </a:avLst>
          </a:prstGeom>
          <a:solidFill>
            <a:srgbClr val="FFFFFF"/>
          </a:solidFill>
          <a:ln w="12700">
            <a:solidFill>
              <a:srgbClr val="D9E0EC"/>
            </a:solidFill>
            <a:prstDash val="solid"/>
          </a:ln>
        </p:spPr>
        <p:txBody>
          <a:bodyPr/>
          <a:lstStyle/>
          <a:p>
            <a:endParaRPr lang="ko-KR" altLang="en-US"/>
          </a:p>
        </p:txBody>
      </p:sp>
      <p:sp>
        <p:nvSpPr>
          <p:cNvPr id="73" name="Text 70"/>
          <p:cNvSpPr txBox="1"/>
          <p:nvPr/>
        </p:nvSpPr>
        <p:spPr>
          <a:xfrm>
            <a:off x="8848649" y="6236208"/>
            <a:ext cx="2505456" cy="98755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일반 명사 자동 제외 3개</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대중교통, 장보기, 출퇴근</a:t>
            </a:r>
            <a:endParaRPr lang="en-US" sz="1700" dirty="0"/>
          </a:p>
        </p:txBody>
      </p:sp>
      <p:sp>
        <p:nvSpPr>
          <p:cNvPr id="74" name="Shape 71"/>
          <p:cNvSpPr/>
          <p:nvPr/>
        </p:nvSpPr>
        <p:spPr>
          <a:xfrm>
            <a:off x="11381537" y="6729984"/>
            <a:ext cx="219456" cy="0"/>
          </a:xfrm>
          <a:prstGeom prst="line">
            <a:avLst/>
          </a:prstGeom>
          <a:noFill/>
          <a:ln w="19050">
            <a:solidFill>
              <a:srgbClr val="4A5364"/>
            </a:solidFill>
            <a:prstDash val="solid"/>
            <a:tailEnd type="triangle"/>
          </a:ln>
        </p:spPr>
        <p:txBody>
          <a:bodyPr/>
          <a:lstStyle/>
          <a:p>
            <a:endParaRPr lang="ko-KR" altLang="en-US"/>
          </a:p>
        </p:txBody>
      </p:sp>
      <p:sp>
        <p:nvSpPr>
          <p:cNvPr id="75" name="Shape 72"/>
          <p:cNvSpPr/>
          <p:nvPr/>
        </p:nvSpPr>
        <p:spPr>
          <a:xfrm>
            <a:off x="11628425" y="6236208"/>
            <a:ext cx="2505456" cy="987552"/>
          </a:xfrm>
          <a:prstGeom prst="roundRect">
            <a:avLst>
              <a:gd name="adj" fmla="val 7407"/>
            </a:avLst>
          </a:prstGeom>
          <a:solidFill>
            <a:srgbClr val="FFFFFF"/>
          </a:solidFill>
          <a:ln w="12700">
            <a:solidFill>
              <a:srgbClr val="D9E0EC"/>
            </a:solidFill>
            <a:prstDash val="solid"/>
          </a:ln>
        </p:spPr>
        <p:txBody>
          <a:bodyPr/>
          <a:lstStyle/>
          <a:p>
            <a:endParaRPr lang="ko-KR" altLang="en-US"/>
          </a:p>
        </p:txBody>
      </p:sp>
      <p:sp>
        <p:nvSpPr>
          <p:cNvPr id="76" name="Text 73"/>
          <p:cNvSpPr txBox="1"/>
          <p:nvPr/>
        </p:nvSpPr>
        <p:spPr>
          <a:xfrm>
            <a:off x="11628425" y="6236208"/>
            <a:ext cx="2505456" cy="987552"/>
          </a:xfrm>
          <a:prstGeom prst="rect">
            <a:avLst/>
          </a:prstGeom>
          <a:noFill/>
          <a:ln/>
        </p:spPr>
        <p:txBody>
          <a:bodyPr wrap="square" lIns="1016" tIns="1016" rIns="1016" bIns="1016" rtlCol="0" anchor="ctr"/>
          <a:lstStyle/>
          <a:p>
            <a:pPr marL="0" indent="0" algn="ctr">
              <a:spcAft>
                <a:spcPts val="200"/>
              </a:spcAft>
              <a:buNone/>
            </a:pPr>
            <a:r>
              <a:rPr lang="en-US" sz="1700" b="1" dirty="0">
                <a:solidFill>
                  <a:srgbClr val="2B3242"/>
                </a:solidFill>
                <a:latin typeface="Pretendard" pitchFamily="34" charset="0"/>
                <a:ea typeface="Pretendard" pitchFamily="34" charset="-122"/>
                <a:cs typeface="Pretendard" pitchFamily="34" charset="-120"/>
              </a:rPr>
              <a:t>사람 검수</a:t>
            </a:r>
            <a:endParaRPr lang="en-US" sz="1700" dirty="0"/>
          </a:p>
          <a:p>
            <a:pPr marL="0" indent="0" algn="ctr">
              <a:spcAft>
                <a:spcPts val="200"/>
              </a:spcAft>
              <a:buNone/>
            </a:pPr>
            <a:r>
              <a:rPr lang="en-US" sz="1500" dirty="0">
                <a:solidFill>
                  <a:srgbClr val="2B3242"/>
                </a:solidFill>
                <a:latin typeface="Pretendard" pitchFamily="34" charset="0"/>
                <a:ea typeface="Pretendard" pitchFamily="34" charset="-122"/>
                <a:cs typeface="Pretendard" pitchFamily="34" charset="-120"/>
              </a:rPr>
              <a:t>추가 목록과 제외 목록</a:t>
            </a:r>
            <a:endParaRPr lang="en-US" sz="17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49</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인덱싱 </a:t>
            </a:r>
            <a:r>
              <a:rPr lang="en-US" altLang="ko-KR" dirty="0">
                <a:solidFill>
                  <a:srgbClr val="2C2926"/>
                </a:solidFill>
                <a:latin typeface="Pretendard" pitchFamily="34" charset="0"/>
                <a:ea typeface="Pretendard" pitchFamily="34" charset="-122"/>
                <a:cs typeface="Pretendard" pitchFamily="34" charset="-120"/>
              </a:rPr>
              <a:t>– S3. </a:t>
            </a:r>
            <a:r>
              <a:rPr lang="en-US" sz="3200" b="1" dirty="0" err="1">
                <a:solidFill>
                  <a:srgbClr val="2C2926"/>
                </a:solidFill>
                <a:latin typeface="Pretendard" pitchFamily="34" charset="0"/>
                <a:ea typeface="Pretendard" pitchFamily="34" charset="-122"/>
                <a:cs typeface="Pretendard" pitchFamily="34" charset="-120"/>
              </a:rPr>
              <a:t>검색</a:t>
            </a:r>
            <a:r>
              <a:rPr lang="en-US" sz="3200" b="1" dirty="0">
                <a:solidFill>
                  <a:srgbClr val="2C2926"/>
                </a:solidFill>
                <a:latin typeface="Pretendard" pitchFamily="34" charset="0"/>
                <a:ea typeface="Pretendard" pitchFamily="34" charset="-122"/>
                <a:cs typeface="Pretendard" pitchFamily="34" charset="-120"/>
              </a:rPr>
              <a:t> 엔진에 쓰기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문서 하나를 통째로 지우고 다시 넣어, 고친 문서의 옛 청크가 남지 않게 함</a:t>
            </a:r>
            <a:endParaRPr lang="en-US" sz="1800" dirty="0"/>
          </a:p>
        </p:txBody>
      </p:sp>
      <p:sp>
        <p:nvSpPr>
          <p:cNvPr id="5" name="Shape 2"/>
          <p:cNvSpPr/>
          <p:nvPr/>
        </p:nvSpPr>
        <p:spPr>
          <a:xfrm>
            <a:off x="509321" y="1810512"/>
            <a:ext cx="1325880" cy="420624"/>
          </a:xfrm>
          <a:prstGeom prst="roundRect">
            <a:avLst>
              <a:gd name="adj" fmla="val 10870"/>
            </a:avLst>
          </a:prstGeom>
          <a:solidFill>
            <a:srgbClr val="404155"/>
          </a:solidFill>
          <a:ln/>
        </p:spPr>
        <p:txBody>
          <a:bodyPr/>
          <a:lstStyle/>
          <a:p>
            <a:endParaRPr lang="ko-KR" altLang="en-US"/>
          </a:p>
        </p:txBody>
      </p:sp>
      <p:sp>
        <p:nvSpPr>
          <p:cNvPr id="6" name="Text 3"/>
          <p:cNvSpPr txBox="1"/>
          <p:nvPr/>
        </p:nvSpPr>
        <p:spPr>
          <a:xfrm>
            <a:off x="509321" y="1810512"/>
            <a:ext cx="1325880" cy="420624"/>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고친 문서</a:t>
            </a:r>
            <a:endParaRPr lang="en-US" sz="1600" dirty="0"/>
          </a:p>
        </p:txBody>
      </p:sp>
      <p:sp>
        <p:nvSpPr>
          <p:cNvPr id="7" name="Shape 4"/>
          <p:cNvSpPr/>
          <p:nvPr/>
        </p:nvSpPr>
        <p:spPr>
          <a:xfrm>
            <a:off x="2011680"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8" name="Text 5"/>
          <p:cNvSpPr txBox="1"/>
          <p:nvPr/>
        </p:nvSpPr>
        <p:spPr>
          <a:xfrm>
            <a:off x="2011680"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1</a:t>
            </a:r>
            <a:endParaRPr lang="en-US" sz="1400" dirty="0"/>
          </a:p>
        </p:txBody>
      </p:sp>
      <p:sp>
        <p:nvSpPr>
          <p:cNvPr id="9" name="Shape 6"/>
          <p:cNvSpPr/>
          <p:nvPr/>
        </p:nvSpPr>
        <p:spPr>
          <a:xfrm>
            <a:off x="2496312"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10" name="Text 7"/>
          <p:cNvSpPr txBox="1"/>
          <p:nvPr/>
        </p:nvSpPr>
        <p:spPr>
          <a:xfrm>
            <a:off x="2496312"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2</a:t>
            </a:r>
            <a:endParaRPr lang="en-US" sz="1400" dirty="0"/>
          </a:p>
        </p:txBody>
      </p:sp>
      <p:sp>
        <p:nvSpPr>
          <p:cNvPr id="11" name="Shape 8"/>
          <p:cNvSpPr/>
          <p:nvPr/>
        </p:nvSpPr>
        <p:spPr>
          <a:xfrm>
            <a:off x="2980944"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12" name="Text 9"/>
          <p:cNvSpPr txBox="1"/>
          <p:nvPr/>
        </p:nvSpPr>
        <p:spPr>
          <a:xfrm>
            <a:off x="2980944"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3</a:t>
            </a:r>
            <a:endParaRPr lang="en-US" sz="1400" dirty="0"/>
          </a:p>
        </p:txBody>
      </p:sp>
      <p:sp>
        <p:nvSpPr>
          <p:cNvPr id="13" name="Shape 10"/>
          <p:cNvSpPr/>
          <p:nvPr/>
        </p:nvSpPr>
        <p:spPr>
          <a:xfrm>
            <a:off x="3465576"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14" name="Text 11"/>
          <p:cNvSpPr txBox="1"/>
          <p:nvPr/>
        </p:nvSpPr>
        <p:spPr>
          <a:xfrm>
            <a:off x="3465576"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5" name="Shape 12"/>
          <p:cNvSpPr/>
          <p:nvPr/>
        </p:nvSpPr>
        <p:spPr>
          <a:xfrm>
            <a:off x="3950208"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16" name="Text 13"/>
          <p:cNvSpPr txBox="1"/>
          <p:nvPr/>
        </p:nvSpPr>
        <p:spPr>
          <a:xfrm>
            <a:off x="3950208"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5</a:t>
            </a:r>
            <a:endParaRPr lang="en-US" sz="1400" dirty="0"/>
          </a:p>
        </p:txBody>
      </p:sp>
      <p:sp>
        <p:nvSpPr>
          <p:cNvPr id="17" name="Shape 14"/>
          <p:cNvSpPr/>
          <p:nvPr/>
        </p:nvSpPr>
        <p:spPr>
          <a:xfrm>
            <a:off x="4434840"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18" name="Text 15"/>
          <p:cNvSpPr txBox="1"/>
          <p:nvPr/>
        </p:nvSpPr>
        <p:spPr>
          <a:xfrm>
            <a:off x="4434840"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19" name="Shape 16"/>
          <p:cNvSpPr/>
          <p:nvPr/>
        </p:nvSpPr>
        <p:spPr>
          <a:xfrm>
            <a:off x="4919472"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20" name="Text 17"/>
          <p:cNvSpPr txBox="1"/>
          <p:nvPr/>
        </p:nvSpPr>
        <p:spPr>
          <a:xfrm>
            <a:off x="4919472"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7</a:t>
            </a:r>
            <a:endParaRPr lang="en-US" sz="1400" dirty="0"/>
          </a:p>
        </p:txBody>
      </p:sp>
      <p:sp>
        <p:nvSpPr>
          <p:cNvPr id="21" name="Shape 18"/>
          <p:cNvSpPr/>
          <p:nvPr/>
        </p:nvSpPr>
        <p:spPr>
          <a:xfrm>
            <a:off x="5404104"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22" name="Text 19"/>
          <p:cNvSpPr txBox="1"/>
          <p:nvPr/>
        </p:nvSpPr>
        <p:spPr>
          <a:xfrm>
            <a:off x="5404104"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8</a:t>
            </a:r>
            <a:endParaRPr lang="en-US" sz="1400" dirty="0"/>
          </a:p>
        </p:txBody>
      </p:sp>
      <p:sp>
        <p:nvSpPr>
          <p:cNvPr id="23" name="Shape 20"/>
          <p:cNvSpPr/>
          <p:nvPr/>
        </p:nvSpPr>
        <p:spPr>
          <a:xfrm>
            <a:off x="5888736"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24" name="Text 21"/>
          <p:cNvSpPr txBox="1"/>
          <p:nvPr/>
        </p:nvSpPr>
        <p:spPr>
          <a:xfrm>
            <a:off x="5888736"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9</a:t>
            </a:r>
            <a:endParaRPr lang="en-US" sz="1400" dirty="0"/>
          </a:p>
        </p:txBody>
      </p:sp>
      <p:sp>
        <p:nvSpPr>
          <p:cNvPr id="25" name="Shape 22"/>
          <p:cNvSpPr/>
          <p:nvPr/>
        </p:nvSpPr>
        <p:spPr>
          <a:xfrm>
            <a:off x="6373368"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6373368"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10</a:t>
            </a:r>
            <a:endParaRPr lang="en-US" sz="1400" dirty="0"/>
          </a:p>
        </p:txBody>
      </p:sp>
      <p:sp>
        <p:nvSpPr>
          <p:cNvPr id="27" name="Text 24"/>
          <p:cNvSpPr txBox="1"/>
          <p:nvPr/>
        </p:nvSpPr>
        <p:spPr>
          <a:xfrm>
            <a:off x="2011680" y="2267712"/>
            <a:ext cx="4846320" cy="310896"/>
          </a:xfrm>
          <a:prstGeom prst="rect">
            <a:avLst/>
          </a:prstGeom>
          <a:noFill/>
          <a:ln/>
        </p:spPr>
        <p:txBody>
          <a:bodyPr wrap="square" lIns="762" tIns="762" rIns="762" bIns="762"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고치기 전 약관 문서 청크 10개</a:t>
            </a:r>
            <a:endParaRPr lang="en-US" sz="1400" dirty="0"/>
          </a:p>
        </p:txBody>
      </p:sp>
      <p:sp>
        <p:nvSpPr>
          <p:cNvPr id="28" name="Shape 25"/>
          <p:cNvSpPr/>
          <p:nvPr/>
        </p:nvSpPr>
        <p:spPr>
          <a:xfrm>
            <a:off x="6931152" y="2020824"/>
            <a:ext cx="2761488" cy="0"/>
          </a:xfrm>
          <a:prstGeom prst="line">
            <a:avLst/>
          </a:prstGeom>
          <a:noFill/>
          <a:ln w="25400">
            <a:solidFill>
              <a:srgbClr val="1E2A5C"/>
            </a:solidFill>
            <a:prstDash val="solid"/>
            <a:tailEnd type="triangle"/>
          </a:ln>
        </p:spPr>
        <p:txBody>
          <a:bodyPr/>
          <a:lstStyle/>
          <a:p>
            <a:endParaRPr lang="ko-KR" altLang="en-US"/>
          </a:p>
        </p:txBody>
      </p:sp>
      <p:sp>
        <p:nvSpPr>
          <p:cNvPr id="29" name="Text 26"/>
          <p:cNvSpPr txBox="1"/>
          <p:nvPr/>
        </p:nvSpPr>
        <p:spPr>
          <a:xfrm>
            <a:off x="6885432" y="2267712"/>
            <a:ext cx="2852928" cy="457200"/>
          </a:xfrm>
          <a:prstGeom prst="rect">
            <a:avLst/>
          </a:prstGeom>
          <a:noFill/>
          <a:ln/>
        </p:spPr>
        <p:txBody>
          <a:bodyPr wrap="square" lIns="762" tIns="762" rIns="762" bIns="762"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1번 본문 수정(ID 바뀜)</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10번 삭제</a:t>
            </a:r>
            <a:endParaRPr lang="en-US" sz="1400" dirty="0"/>
          </a:p>
        </p:txBody>
      </p:sp>
      <p:sp>
        <p:nvSpPr>
          <p:cNvPr id="30" name="Shape 27"/>
          <p:cNvSpPr/>
          <p:nvPr/>
        </p:nvSpPr>
        <p:spPr>
          <a:xfrm>
            <a:off x="9829800" y="1810512"/>
            <a:ext cx="420624" cy="420624"/>
          </a:xfrm>
          <a:prstGeom prst="roundRect">
            <a:avLst>
              <a:gd name="adj" fmla="val 10870"/>
            </a:avLst>
          </a:prstGeom>
          <a:solidFill>
            <a:srgbClr val="2E74C6"/>
          </a:solidFill>
          <a:ln/>
        </p:spPr>
        <p:txBody>
          <a:bodyPr/>
          <a:lstStyle/>
          <a:p>
            <a:endParaRPr lang="ko-KR" altLang="en-US"/>
          </a:p>
        </p:txBody>
      </p:sp>
      <p:sp>
        <p:nvSpPr>
          <p:cNvPr id="31" name="Text 28"/>
          <p:cNvSpPr txBox="1"/>
          <p:nvPr/>
        </p:nvSpPr>
        <p:spPr>
          <a:xfrm>
            <a:off x="9829800" y="1810512"/>
            <a:ext cx="420624" cy="42062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32" name="Shape 29"/>
          <p:cNvSpPr/>
          <p:nvPr/>
        </p:nvSpPr>
        <p:spPr>
          <a:xfrm>
            <a:off x="10314432"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33" name="Text 30"/>
          <p:cNvSpPr txBox="1"/>
          <p:nvPr/>
        </p:nvSpPr>
        <p:spPr>
          <a:xfrm>
            <a:off x="10314432"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2</a:t>
            </a:r>
            <a:endParaRPr lang="en-US" sz="1400" dirty="0"/>
          </a:p>
        </p:txBody>
      </p:sp>
      <p:sp>
        <p:nvSpPr>
          <p:cNvPr id="34" name="Shape 31"/>
          <p:cNvSpPr/>
          <p:nvPr/>
        </p:nvSpPr>
        <p:spPr>
          <a:xfrm>
            <a:off x="10799064"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35" name="Text 32"/>
          <p:cNvSpPr txBox="1"/>
          <p:nvPr/>
        </p:nvSpPr>
        <p:spPr>
          <a:xfrm>
            <a:off x="10799064"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3</a:t>
            </a:r>
            <a:endParaRPr lang="en-US" sz="1400" dirty="0"/>
          </a:p>
        </p:txBody>
      </p:sp>
      <p:sp>
        <p:nvSpPr>
          <p:cNvPr id="36" name="Shape 33"/>
          <p:cNvSpPr/>
          <p:nvPr/>
        </p:nvSpPr>
        <p:spPr>
          <a:xfrm>
            <a:off x="11283696"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37" name="Text 34"/>
          <p:cNvSpPr txBox="1"/>
          <p:nvPr/>
        </p:nvSpPr>
        <p:spPr>
          <a:xfrm>
            <a:off x="11283696"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4</a:t>
            </a:r>
            <a:endParaRPr lang="en-US" sz="1400" dirty="0"/>
          </a:p>
        </p:txBody>
      </p:sp>
      <p:sp>
        <p:nvSpPr>
          <p:cNvPr id="38" name="Shape 35"/>
          <p:cNvSpPr/>
          <p:nvPr/>
        </p:nvSpPr>
        <p:spPr>
          <a:xfrm>
            <a:off x="11768328"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39" name="Text 36"/>
          <p:cNvSpPr txBox="1"/>
          <p:nvPr/>
        </p:nvSpPr>
        <p:spPr>
          <a:xfrm>
            <a:off x="11768328"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5</a:t>
            </a:r>
            <a:endParaRPr lang="en-US" sz="1400" dirty="0"/>
          </a:p>
        </p:txBody>
      </p:sp>
      <p:sp>
        <p:nvSpPr>
          <p:cNvPr id="40" name="Shape 37"/>
          <p:cNvSpPr/>
          <p:nvPr/>
        </p:nvSpPr>
        <p:spPr>
          <a:xfrm>
            <a:off x="12252960"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41" name="Text 38"/>
          <p:cNvSpPr txBox="1"/>
          <p:nvPr/>
        </p:nvSpPr>
        <p:spPr>
          <a:xfrm>
            <a:off x="12252960"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42" name="Shape 39"/>
          <p:cNvSpPr/>
          <p:nvPr/>
        </p:nvSpPr>
        <p:spPr>
          <a:xfrm>
            <a:off x="12737592"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43" name="Text 40"/>
          <p:cNvSpPr txBox="1"/>
          <p:nvPr/>
        </p:nvSpPr>
        <p:spPr>
          <a:xfrm>
            <a:off x="12737592"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7</a:t>
            </a:r>
            <a:endParaRPr lang="en-US" sz="1400" dirty="0"/>
          </a:p>
        </p:txBody>
      </p:sp>
      <p:sp>
        <p:nvSpPr>
          <p:cNvPr id="44" name="Shape 41"/>
          <p:cNvSpPr/>
          <p:nvPr/>
        </p:nvSpPr>
        <p:spPr>
          <a:xfrm>
            <a:off x="13222224"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45" name="Text 42"/>
          <p:cNvSpPr txBox="1"/>
          <p:nvPr/>
        </p:nvSpPr>
        <p:spPr>
          <a:xfrm>
            <a:off x="13222224"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8</a:t>
            </a:r>
            <a:endParaRPr lang="en-US" sz="1400" dirty="0"/>
          </a:p>
        </p:txBody>
      </p:sp>
      <p:sp>
        <p:nvSpPr>
          <p:cNvPr id="46" name="Shape 43"/>
          <p:cNvSpPr/>
          <p:nvPr/>
        </p:nvSpPr>
        <p:spPr>
          <a:xfrm>
            <a:off x="13706856" y="1810512"/>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47" name="Text 44"/>
          <p:cNvSpPr txBox="1"/>
          <p:nvPr/>
        </p:nvSpPr>
        <p:spPr>
          <a:xfrm>
            <a:off x="13706856" y="1810512"/>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9</a:t>
            </a:r>
            <a:endParaRPr lang="en-US" sz="1400" dirty="0"/>
          </a:p>
        </p:txBody>
      </p:sp>
      <p:sp>
        <p:nvSpPr>
          <p:cNvPr id="48" name="Text 45"/>
          <p:cNvSpPr txBox="1"/>
          <p:nvPr/>
        </p:nvSpPr>
        <p:spPr>
          <a:xfrm>
            <a:off x="9829800" y="2267712"/>
            <a:ext cx="4297680" cy="310896"/>
          </a:xfrm>
          <a:prstGeom prst="rect">
            <a:avLst/>
          </a:prstGeom>
          <a:noFill/>
          <a:ln/>
        </p:spPr>
        <p:txBody>
          <a:bodyPr wrap="square" lIns="762" tIns="762" rIns="762" bIns="762" rtlCol="0" anchor="ctr"/>
          <a:lstStyle/>
          <a:p>
            <a:pPr marL="0" indent="0" algn="ctr">
              <a:buNone/>
            </a:pPr>
            <a:r>
              <a:rPr lang="en-US" sz="1400" dirty="0">
                <a:solidFill>
                  <a:srgbClr val="7C8598"/>
                </a:solidFill>
                <a:latin typeface="Pretendard" pitchFamily="34" charset="0"/>
                <a:ea typeface="Pretendard" pitchFamily="34" charset="-122"/>
                <a:cs typeface="Pretendard" pitchFamily="34" charset="-120"/>
              </a:rPr>
              <a:t>고친 뒤 9개</a:t>
            </a:r>
            <a:endParaRPr lang="en-US" sz="1400" dirty="0"/>
          </a:p>
        </p:txBody>
      </p:sp>
      <p:sp>
        <p:nvSpPr>
          <p:cNvPr id="49" name="Shape 46"/>
          <p:cNvSpPr/>
          <p:nvPr/>
        </p:nvSpPr>
        <p:spPr>
          <a:xfrm>
            <a:off x="509321" y="2816352"/>
            <a:ext cx="6675120" cy="411480"/>
          </a:xfrm>
          <a:prstGeom prst="roundRect">
            <a:avLst>
              <a:gd name="adj" fmla="val 13333"/>
            </a:avLst>
          </a:prstGeom>
          <a:solidFill>
            <a:srgbClr val="404155"/>
          </a:solidFill>
          <a:ln/>
        </p:spPr>
        <p:txBody>
          <a:bodyPr/>
          <a:lstStyle/>
          <a:p>
            <a:endParaRPr lang="ko-KR" altLang="en-US"/>
          </a:p>
        </p:txBody>
      </p:sp>
      <p:sp>
        <p:nvSpPr>
          <p:cNvPr id="50" name="Text 47"/>
          <p:cNvSpPr txBox="1"/>
          <p:nvPr/>
        </p:nvSpPr>
        <p:spPr>
          <a:xfrm>
            <a:off x="509321" y="2816352"/>
            <a:ext cx="6675120" cy="411480"/>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청크 단위로 교체하는 방식 (chunk_id 기준)</a:t>
            </a:r>
            <a:endParaRPr lang="en-US" sz="1700" dirty="0"/>
          </a:p>
        </p:txBody>
      </p:sp>
      <p:sp>
        <p:nvSpPr>
          <p:cNvPr id="51" name="Shape 48"/>
          <p:cNvSpPr/>
          <p:nvPr/>
        </p:nvSpPr>
        <p:spPr>
          <a:xfrm>
            <a:off x="7458761" y="2816352"/>
            <a:ext cx="6675120" cy="411480"/>
          </a:xfrm>
          <a:prstGeom prst="roundRect">
            <a:avLst>
              <a:gd name="adj" fmla="val 13333"/>
            </a:avLst>
          </a:prstGeom>
          <a:solidFill>
            <a:srgbClr val="2E74C6"/>
          </a:solidFill>
          <a:ln/>
        </p:spPr>
        <p:txBody>
          <a:bodyPr/>
          <a:lstStyle/>
          <a:p>
            <a:endParaRPr lang="ko-KR" altLang="en-US"/>
          </a:p>
        </p:txBody>
      </p:sp>
      <p:sp>
        <p:nvSpPr>
          <p:cNvPr id="52" name="Text 49"/>
          <p:cNvSpPr txBox="1"/>
          <p:nvPr/>
        </p:nvSpPr>
        <p:spPr>
          <a:xfrm>
            <a:off x="7458761" y="2816352"/>
            <a:ext cx="6675120" cy="411480"/>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문서 단위로 교체하는 방식 (doc_id 기준)</a:t>
            </a:r>
            <a:endParaRPr lang="en-US" sz="1700" dirty="0"/>
          </a:p>
        </p:txBody>
      </p:sp>
      <p:sp>
        <p:nvSpPr>
          <p:cNvPr id="53" name="Shape 50"/>
          <p:cNvSpPr/>
          <p:nvPr/>
        </p:nvSpPr>
        <p:spPr>
          <a:xfrm>
            <a:off x="509321" y="3291840"/>
            <a:ext cx="6675120" cy="1572768"/>
          </a:xfrm>
          <a:prstGeom prst="roundRect">
            <a:avLst>
              <a:gd name="adj" fmla="val 4651"/>
            </a:avLst>
          </a:prstGeom>
          <a:solidFill>
            <a:srgbClr val="FFFFFF"/>
          </a:solidFill>
          <a:ln w="12700">
            <a:solidFill>
              <a:srgbClr val="D9E0EC"/>
            </a:solidFill>
            <a:prstDash val="solid"/>
          </a:ln>
        </p:spPr>
        <p:txBody>
          <a:bodyPr/>
          <a:lstStyle/>
          <a:p>
            <a:endParaRPr lang="ko-KR" altLang="en-US"/>
          </a:p>
        </p:txBody>
      </p:sp>
      <p:sp>
        <p:nvSpPr>
          <p:cNvPr id="54" name="Shape 51"/>
          <p:cNvSpPr/>
          <p:nvPr/>
        </p:nvSpPr>
        <p:spPr>
          <a:xfrm>
            <a:off x="7458761" y="3291840"/>
            <a:ext cx="6675120" cy="1572768"/>
          </a:xfrm>
          <a:prstGeom prst="roundRect">
            <a:avLst>
              <a:gd name="adj" fmla="val 4651"/>
            </a:avLst>
          </a:prstGeom>
          <a:solidFill>
            <a:srgbClr val="FFFFFF"/>
          </a:solidFill>
          <a:ln w="12700">
            <a:solidFill>
              <a:srgbClr val="D9E0EC"/>
            </a:solidFill>
            <a:prstDash val="solid"/>
          </a:ln>
        </p:spPr>
        <p:txBody>
          <a:bodyPr/>
          <a:lstStyle/>
          <a:p>
            <a:endParaRPr lang="ko-KR" altLang="en-US"/>
          </a:p>
        </p:txBody>
      </p:sp>
      <p:sp>
        <p:nvSpPr>
          <p:cNvPr id="55" name="Text 52"/>
          <p:cNvSpPr txBox="1"/>
          <p:nvPr/>
        </p:nvSpPr>
        <p:spPr>
          <a:xfrm>
            <a:off x="692201" y="3346704"/>
            <a:ext cx="6309360" cy="365760"/>
          </a:xfrm>
          <a:prstGeom prst="rect">
            <a:avLst/>
          </a:prstGeom>
          <a:noFill/>
          <a:ln/>
        </p:spPr>
        <p:txBody>
          <a:bodyPr wrap="square" lIns="762" tIns="762" rIns="762" bIns="762" rtlCol="0" anchor="ctr"/>
          <a:lstStyle/>
          <a:p>
            <a:pPr marL="0" indent="0" algn="l">
              <a:buNone/>
            </a:pPr>
            <a:r>
              <a:rPr lang="en-US" sz="1500" dirty="0">
                <a:solidFill>
                  <a:srgbClr val="4A5364"/>
                </a:solidFill>
                <a:latin typeface="Pretendard" pitchFamily="34" charset="0"/>
                <a:ea typeface="Pretendard" pitchFamily="34" charset="-122"/>
                <a:cs typeface="Pretendard" pitchFamily="34" charset="-120"/>
              </a:rPr>
              <a:t>chunk_id로 덮어쓴 뒤 인덱스에 남은 청크</a:t>
            </a:r>
            <a:endParaRPr lang="en-US" sz="1500" dirty="0"/>
          </a:p>
        </p:txBody>
      </p:sp>
      <p:sp>
        <p:nvSpPr>
          <p:cNvPr id="56" name="Shape 53"/>
          <p:cNvSpPr/>
          <p:nvPr/>
        </p:nvSpPr>
        <p:spPr>
          <a:xfrm>
            <a:off x="1213409" y="3749040"/>
            <a:ext cx="420624" cy="420624"/>
          </a:xfrm>
          <a:prstGeom prst="roundRect">
            <a:avLst>
              <a:gd name="adj" fmla="val 10870"/>
            </a:avLst>
          </a:prstGeom>
          <a:solidFill>
            <a:srgbClr val="F5F8FC"/>
          </a:solidFill>
          <a:ln w="12700">
            <a:solidFill>
              <a:srgbClr val="7C8598"/>
            </a:solidFill>
            <a:prstDash val="dash"/>
          </a:ln>
        </p:spPr>
        <p:txBody>
          <a:bodyPr/>
          <a:lstStyle/>
          <a:p>
            <a:endParaRPr lang="ko-KR" altLang="en-US"/>
          </a:p>
        </p:txBody>
      </p:sp>
      <p:sp>
        <p:nvSpPr>
          <p:cNvPr id="57" name="Text 54"/>
          <p:cNvSpPr txBox="1"/>
          <p:nvPr/>
        </p:nvSpPr>
        <p:spPr>
          <a:xfrm>
            <a:off x="1213409" y="3749040"/>
            <a:ext cx="420624" cy="420624"/>
          </a:xfrm>
          <a:prstGeom prst="rect">
            <a:avLst/>
          </a:prstGeom>
          <a:noFill/>
          <a:ln/>
        </p:spPr>
        <p:txBody>
          <a:bodyPr wrap="square" lIns="1016" tIns="1016" rIns="1016" bIns="1016" rtlCol="0" anchor="ctr"/>
          <a:lstStyle/>
          <a:p>
            <a:pPr marL="0" indent="0" algn="ctr">
              <a:buNone/>
            </a:pPr>
            <a:r>
              <a:rPr lang="en-US" sz="1400" b="1" dirty="0">
                <a:solidFill>
                  <a:srgbClr val="7C8598"/>
                </a:solidFill>
                <a:latin typeface="Pretendard" pitchFamily="34" charset="0"/>
                <a:ea typeface="Pretendard" pitchFamily="34" charset="-122"/>
                <a:cs typeface="Pretendard" pitchFamily="34" charset="-120"/>
              </a:rPr>
              <a:t>옛1</a:t>
            </a:r>
            <a:endParaRPr lang="en-US" sz="1400" dirty="0"/>
          </a:p>
        </p:txBody>
      </p:sp>
      <p:sp>
        <p:nvSpPr>
          <p:cNvPr id="58" name="Shape 55"/>
          <p:cNvSpPr/>
          <p:nvPr/>
        </p:nvSpPr>
        <p:spPr>
          <a:xfrm>
            <a:off x="1698041" y="3749040"/>
            <a:ext cx="420624" cy="420624"/>
          </a:xfrm>
          <a:prstGeom prst="roundRect">
            <a:avLst>
              <a:gd name="adj" fmla="val 10870"/>
            </a:avLst>
          </a:prstGeom>
          <a:solidFill>
            <a:srgbClr val="2E74C6"/>
          </a:solidFill>
          <a:ln/>
        </p:spPr>
        <p:txBody>
          <a:bodyPr/>
          <a:lstStyle/>
          <a:p>
            <a:endParaRPr lang="ko-KR" altLang="en-US"/>
          </a:p>
        </p:txBody>
      </p:sp>
      <p:sp>
        <p:nvSpPr>
          <p:cNvPr id="59" name="Text 56"/>
          <p:cNvSpPr txBox="1"/>
          <p:nvPr/>
        </p:nvSpPr>
        <p:spPr>
          <a:xfrm>
            <a:off x="1698041" y="3749040"/>
            <a:ext cx="420624" cy="42062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60" name="Shape 57"/>
          <p:cNvSpPr/>
          <p:nvPr/>
        </p:nvSpPr>
        <p:spPr>
          <a:xfrm>
            <a:off x="2182673"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61" name="Text 58"/>
          <p:cNvSpPr txBox="1"/>
          <p:nvPr/>
        </p:nvSpPr>
        <p:spPr>
          <a:xfrm>
            <a:off x="2182673"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2</a:t>
            </a:r>
            <a:endParaRPr lang="en-US" sz="1400" dirty="0"/>
          </a:p>
        </p:txBody>
      </p:sp>
      <p:sp>
        <p:nvSpPr>
          <p:cNvPr id="62" name="Shape 59"/>
          <p:cNvSpPr/>
          <p:nvPr/>
        </p:nvSpPr>
        <p:spPr>
          <a:xfrm>
            <a:off x="2667305"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63" name="Text 60"/>
          <p:cNvSpPr txBox="1"/>
          <p:nvPr/>
        </p:nvSpPr>
        <p:spPr>
          <a:xfrm>
            <a:off x="2667305"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3</a:t>
            </a:r>
            <a:endParaRPr lang="en-US" sz="1400" dirty="0"/>
          </a:p>
        </p:txBody>
      </p:sp>
      <p:sp>
        <p:nvSpPr>
          <p:cNvPr id="64" name="Shape 61"/>
          <p:cNvSpPr/>
          <p:nvPr/>
        </p:nvSpPr>
        <p:spPr>
          <a:xfrm>
            <a:off x="3151937"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65" name="Text 62"/>
          <p:cNvSpPr txBox="1"/>
          <p:nvPr/>
        </p:nvSpPr>
        <p:spPr>
          <a:xfrm>
            <a:off x="3151937"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4</a:t>
            </a:r>
            <a:endParaRPr lang="en-US" sz="1400" dirty="0"/>
          </a:p>
        </p:txBody>
      </p:sp>
      <p:sp>
        <p:nvSpPr>
          <p:cNvPr id="66" name="Shape 63"/>
          <p:cNvSpPr/>
          <p:nvPr/>
        </p:nvSpPr>
        <p:spPr>
          <a:xfrm>
            <a:off x="3636569"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67" name="Text 64"/>
          <p:cNvSpPr txBox="1"/>
          <p:nvPr/>
        </p:nvSpPr>
        <p:spPr>
          <a:xfrm>
            <a:off x="3636569"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5</a:t>
            </a:r>
            <a:endParaRPr lang="en-US" sz="1400" dirty="0"/>
          </a:p>
        </p:txBody>
      </p:sp>
      <p:sp>
        <p:nvSpPr>
          <p:cNvPr id="68" name="Shape 65"/>
          <p:cNvSpPr/>
          <p:nvPr/>
        </p:nvSpPr>
        <p:spPr>
          <a:xfrm>
            <a:off x="4121201"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69" name="Text 66"/>
          <p:cNvSpPr txBox="1"/>
          <p:nvPr/>
        </p:nvSpPr>
        <p:spPr>
          <a:xfrm>
            <a:off x="4121201"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70" name="Shape 67"/>
          <p:cNvSpPr/>
          <p:nvPr/>
        </p:nvSpPr>
        <p:spPr>
          <a:xfrm>
            <a:off x="4605833"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71" name="Text 68"/>
          <p:cNvSpPr txBox="1"/>
          <p:nvPr/>
        </p:nvSpPr>
        <p:spPr>
          <a:xfrm>
            <a:off x="4605833"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7</a:t>
            </a:r>
            <a:endParaRPr lang="en-US" sz="1400" dirty="0"/>
          </a:p>
        </p:txBody>
      </p:sp>
      <p:sp>
        <p:nvSpPr>
          <p:cNvPr id="72" name="Shape 69"/>
          <p:cNvSpPr/>
          <p:nvPr/>
        </p:nvSpPr>
        <p:spPr>
          <a:xfrm>
            <a:off x="5090465"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73" name="Text 70"/>
          <p:cNvSpPr txBox="1"/>
          <p:nvPr/>
        </p:nvSpPr>
        <p:spPr>
          <a:xfrm>
            <a:off x="5090465"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8</a:t>
            </a:r>
            <a:endParaRPr lang="en-US" sz="1400" dirty="0"/>
          </a:p>
        </p:txBody>
      </p:sp>
      <p:sp>
        <p:nvSpPr>
          <p:cNvPr id="74" name="Shape 71"/>
          <p:cNvSpPr/>
          <p:nvPr/>
        </p:nvSpPr>
        <p:spPr>
          <a:xfrm>
            <a:off x="5575097"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75" name="Text 72"/>
          <p:cNvSpPr txBox="1"/>
          <p:nvPr/>
        </p:nvSpPr>
        <p:spPr>
          <a:xfrm>
            <a:off x="5575097"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9</a:t>
            </a:r>
            <a:endParaRPr lang="en-US" sz="1400" dirty="0"/>
          </a:p>
        </p:txBody>
      </p:sp>
      <p:sp>
        <p:nvSpPr>
          <p:cNvPr id="76" name="Shape 73"/>
          <p:cNvSpPr/>
          <p:nvPr/>
        </p:nvSpPr>
        <p:spPr>
          <a:xfrm>
            <a:off x="6059729" y="3749040"/>
            <a:ext cx="420624" cy="420624"/>
          </a:xfrm>
          <a:prstGeom prst="roundRect">
            <a:avLst>
              <a:gd name="adj" fmla="val 10870"/>
            </a:avLst>
          </a:prstGeom>
          <a:solidFill>
            <a:srgbClr val="F5F8FC"/>
          </a:solidFill>
          <a:ln w="12700">
            <a:solidFill>
              <a:srgbClr val="7C8598"/>
            </a:solidFill>
            <a:prstDash val="dash"/>
          </a:ln>
        </p:spPr>
        <p:txBody>
          <a:bodyPr/>
          <a:lstStyle/>
          <a:p>
            <a:endParaRPr lang="ko-KR" altLang="en-US"/>
          </a:p>
        </p:txBody>
      </p:sp>
      <p:sp>
        <p:nvSpPr>
          <p:cNvPr id="77" name="Text 74"/>
          <p:cNvSpPr txBox="1"/>
          <p:nvPr/>
        </p:nvSpPr>
        <p:spPr>
          <a:xfrm>
            <a:off x="6059729" y="3749040"/>
            <a:ext cx="420624" cy="420624"/>
          </a:xfrm>
          <a:prstGeom prst="rect">
            <a:avLst/>
          </a:prstGeom>
          <a:noFill/>
          <a:ln/>
        </p:spPr>
        <p:txBody>
          <a:bodyPr wrap="square" lIns="1016" tIns="1016" rIns="1016" bIns="1016" rtlCol="0" anchor="ctr"/>
          <a:lstStyle/>
          <a:p>
            <a:pPr marL="0" indent="0" algn="ctr">
              <a:buNone/>
            </a:pPr>
            <a:r>
              <a:rPr lang="en-US" sz="1400" b="1" dirty="0">
                <a:solidFill>
                  <a:srgbClr val="7C8598"/>
                </a:solidFill>
                <a:latin typeface="Pretendard" pitchFamily="34" charset="0"/>
                <a:ea typeface="Pretendard" pitchFamily="34" charset="-122"/>
                <a:cs typeface="Pretendard" pitchFamily="34" charset="-120"/>
              </a:rPr>
              <a:t>10</a:t>
            </a:r>
            <a:endParaRPr lang="en-US" sz="1400" dirty="0"/>
          </a:p>
        </p:txBody>
      </p:sp>
      <p:sp>
        <p:nvSpPr>
          <p:cNvPr id="78" name="Shape 75"/>
          <p:cNvSpPr/>
          <p:nvPr/>
        </p:nvSpPr>
        <p:spPr>
          <a:xfrm>
            <a:off x="692201" y="4242816"/>
            <a:ext cx="6309360" cy="548640"/>
          </a:xfrm>
          <a:prstGeom prst="roundRect">
            <a:avLst>
              <a:gd name="adj" fmla="val 13333"/>
            </a:avLst>
          </a:prstGeom>
          <a:solidFill>
            <a:srgbClr val="404155"/>
          </a:solidFill>
          <a:ln/>
        </p:spPr>
        <p:txBody>
          <a:bodyPr/>
          <a:lstStyle/>
          <a:p>
            <a:endParaRPr lang="ko-KR" altLang="en-US"/>
          </a:p>
        </p:txBody>
      </p:sp>
      <p:sp>
        <p:nvSpPr>
          <p:cNvPr id="79" name="Text 76"/>
          <p:cNvSpPr txBox="1"/>
          <p:nvPr/>
        </p:nvSpPr>
        <p:spPr>
          <a:xfrm>
            <a:off x="692201" y="4242816"/>
            <a:ext cx="6309360" cy="54864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FFFFFF"/>
                </a:solidFill>
                <a:latin typeface="Pretendard" pitchFamily="34" charset="0"/>
                <a:ea typeface="Pretendard" pitchFamily="34" charset="-122"/>
                <a:cs typeface="Pretendard" pitchFamily="34" charset="-120"/>
              </a:rPr>
              <a:t>11개 남음</a:t>
            </a:r>
            <a:endParaRPr lang="en-US" sz="16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옛 1번과 빠진 10번(고아)이 검색에 섞여 나옴</a:t>
            </a:r>
            <a:endParaRPr lang="en-US" sz="1600" dirty="0"/>
          </a:p>
        </p:txBody>
      </p:sp>
      <p:sp>
        <p:nvSpPr>
          <p:cNvPr id="80" name="Shape 77"/>
          <p:cNvSpPr/>
          <p:nvPr/>
        </p:nvSpPr>
        <p:spPr>
          <a:xfrm>
            <a:off x="7641641" y="3364992"/>
            <a:ext cx="2948940" cy="347472"/>
          </a:xfrm>
          <a:prstGeom prst="roundRect">
            <a:avLst>
              <a:gd name="adj" fmla="val 21053"/>
            </a:avLst>
          </a:prstGeom>
          <a:solidFill>
            <a:srgbClr val="EEF3FA"/>
          </a:solidFill>
          <a:ln w="12700">
            <a:solidFill>
              <a:srgbClr val="D9E0EC"/>
            </a:solidFill>
            <a:prstDash val="solid"/>
          </a:ln>
        </p:spPr>
        <p:txBody>
          <a:bodyPr/>
          <a:lstStyle/>
          <a:p>
            <a:endParaRPr lang="ko-KR" altLang="en-US"/>
          </a:p>
        </p:txBody>
      </p:sp>
      <p:sp>
        <p:nvSpPr>
          <p:cNvPr id="81" name="Text 78"/>
          <p:cNvSpPr txBox="1"/>
          <p:nvPr/>
        </p:nvSpPr>
        <p:spPr>
          <a:xfrm>
            <a:off x="7641641" y="3364992"/>
            <a:ext cx="2948940" cy="347472"/>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doc_id가 같은 청크 10개 지움</a:t>
            </a:r>
            <a:endParaRPr lang="en-US" sz="1500" dirty="0"/>
          </a:p>
        </p:txBody>
      </p:sp>
      <p:sp>
        <p:nvSpPr>
          <p:cNvPr id="82" name="Shape 79"/>
          <p:cNvSpPr/>
          <p:nvPr/>
        </p:nvSpPr>
        <p:spPr>
          <a:xfrm>
            <a:off x="10636301" y="3538728"/>
            <a:ext cx="320040" cy="0"/>
          </a:xfrm>
          <a:prstGeom prst="line">
            <a:avLst/>
          </a:prstGeom>
          <a:noFill/>
          <a:ln w="19050">
            <a:solidFill>
              <a:srgbClr val="4A5364"/>
            </a:solidFill>
            <a:prstDash val="solid"/>
            <a:tailEnd type="triangle"/>
          </a:ln>
        </p:spPr>
        <p:txBody>
          <a:bodyPr/>
          <a:lstStyle/>
          <a:p>
            <a:endParaRPr lang="ko-KR" altLang="en-US"/>
          </a:p>
        </p:txBody>
      </p:sp>
      <p:sp>
        <p:nvSpPr>
          <p:cNvPr id="83" name="Shape 80"/>
          <p:cNvSpPr/>
          <p:nvPr/>
        </p:nvSpPr>
        <p:spPr>
          <a:xfrm>
            <a:off x="11002061" y="3364992"/>
            <a:ext cx="2948940" cy="347472"/>
          </a:xfrm>
          <a:prstGeom prst="roundRect">
            <a:avLst>
              <a:gd name="adj" fmla="val 21053"/>
            </a:avLst>
          </a:prstGeom>
          <a:solidFill>
            <a:srgbClr val="EEF3FA"/>
          </a:solidFill>
          <a:ln w="12700">
            <a:solidFill>
              <a:srgbClr val="D9E0EC"/>
            </a:solidFill>
            <a:prstDash val="solid"/>
          </a:ln>
        </p:spPr>
        <p:txBody>
          <a:bodyPr/>
          <a:lstStyle/>
          <a:p>
            <a:endParaRPr lang="ko-KR" altLang="en-US"/>
          </a:p>
        </p:txBody>
      </p:sp>
      <p:sp>
        <p:nvSpPr>
          <p:cNvPr id="84" name="Text 81"/>
          <p:cNvSpPr txBox="1"/>
          <p:nvPr/>
        </p:nvSpPr>
        <p:spPr>
          <a:xfrm>
            <a:off x="11002061" y="3364992"/>
            <a:ext cx="2948940" cy="347472"/>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새 청크 9개 넣음</a:t>
            </a:r>
            <a:endParaRPr lang="en-US" sz="1500" dirty="0"/>
          </a:p>
        </p:txBody>
      </p:sp>
      <p:sp>
        <p:nvSpPr>
          <p:cNvPr id="85" name="Shape 82"/>
          <p:cNvSpPr/>
          <p:nvPr/>
        </p:nvSpPr>
        <p:spPr>
          <a:xfrm>
            <a:off x="8647481" y="3749040"/>
            <a:ext cx="420624" cy="420624"/>
          </a:xfrm>
          <a:prstGeom prst="roundRect">
            <a:avLst>
              <a:gd name="adj" fmla="val 10870"/>
            </a:avLst>
          </a:prstGeom>
          <a:solidFill>
            <a:srgbClr val="2E74C6"/>
          </a:solidFill>
          <a:ln/>
        </p:spPr>
        <p:txBody>
          <a:bodyPr/>
          <a:lstStyle/>
          <a:p>
            <a:endParaRPr lang="ko-KR" altLang="en-US"/>
          </a:p>
        </p:txBody>
      </p:sp>
      <p:sp>
        <p:nvSpPr>
          <p:cNvPr id="86" name="Text 83"/>
          <p:cNvSpPr txBox="1"/>
          <p:nvPr/>
        </p:nvSpPr>
        <p:spPr>
          <a:xfrm>
            <a:off x="8647481" y="3749040"/>
            <a:ext cx="420624" cy="42062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87" name="Shape 84"/>
          <p:cNvSpPr/>
          <p:nvPr/>
        </p:nvSpPr>
        <p:spPr>
          <a:xfrm>
            <a:off x="9132113"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88" name="Text 85"/>
          <p:cNvSpPr txBox="1"/>
          <p:nvPr/>
        </p:nvSpPr>
        <p:spPr>
          <a:xfrm>
            <a:off x="9132113"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2</a:t>
            </a:r>
            <a:endParaRPr lang="en-US" sz="1400" dirty="0"/>
          </a:p>
        </p:txBody>
      </p:sp>
      <p:sp>
        <p:nvSpPr>
          <p:cNvPr id="89" name="Shape 86"/>
          <p:cNvSpPr/>
          <p:nvPr/>
        </p:nvSpPr>
        <p:spPr>
          <a:xfrm>
            <a:off x="9616745"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90" name="Text 87"/>
          <p:cNvSpPr txBox="1"/>
          <p:nvPr/>
        </p:nvSpPr>
        <p:spPr>
          <a:xfrm>
            <a:off x="9616745"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3</a:t>
            </a:r>
            <a:endParaRPr lang="en-US" sz="1400" dirty="0"/>
          </a:p>
        </p:txBody>
      </p:sp>
      <p:sp>
        <p:nvSpPr>
          <p:cNvPr id="91" name="Shape 88"/>
          <p:cNvSpPr/>
          <p:nvPr/>
        </p:nvSpPr>
        <p:spPr>
          <a:xfrm>
            <a:off x="10101377"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92" name="Text 89"/>
          <p:cNvSpPr txBox="1"/>
          <p:nvPr/>
        </p:nvSpPr>
        <p:spPr>
          <a:xfrm>
            <a:off x="10101377"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4</a:t>
            </a:r>
            <a:endParaRPr lang="en-US" sz="1400" dirty="0"/>
          </a:p>
        </p:txBody>
      </p:sp>
      <p:sp>
        <p:nvSpPr>
          <p:cNvPr id="93" name="Shape 90"/>
          <p:cNvSpPr/>
          <p:nvPr/>
        </p:nvSpPr>
        <p:spPr>
          <a:xfrm>
            <a:off x="10586009"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94" name="Text 91"/>
          <p:cNvSpPr txBox="1"/>
          <p:nvPr/>
        </p:nvSpPr>
        <p:spPr>
          <a:xfrm>
            <a:off x="10586009"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5</a:t>
            </a:r>
            <a:endParaRPr lang="en-US" sz="1400" dirty="0"/>
          </a:p>
        </p:txBody>
      </p:sp>
      <p:sp>
        <p:nvSpPr>
          <p:cNvPr id="95" name="Shape 92"/>
          <p:cNvSpPr/>
          <p:nvPr/>
        </p:nvSpPr>
        <p:spPr>
          <a:xfrm>
            <a:off x="11070641"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96" name="Text 93"/>
          <p:cNvSpPr txBox="1"/>
          <p:nvPr/>
        </p:nvSpPr>
        <p:spPr>
          <a:xfrm>
            <a:off x="11070641"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97" name="Shape 94"/>
          <p:cNvSpPr/>
          <p:nvPr/>
        </p:nvSpPr>
        <p:spPr>
          <a:xfrm>
            <a:off x="11555273"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98" name="Text 95"/>
          <p:cNvSpPr txBox="1"/>
          <p:nvPr/>
        </p:nvSpPr>
        <p:spPr>
          <a:xfrm>
            <a:off x="11555273"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7</a:t>
            </a:r>
            <a:endParaRPr lang="en-US" sz="1400" dirty="0"/>
          </a:p>
        </p:txBody>
      </p:sp>
      <p:sp>
        <p:nvSpPr>
          <p:cNvPr id="99" name="Shape 96"/>
          <p:cNvSpPr/>
          <p:nvPr/>
        </p:nvSpPr>
        <p:spPr>
          <a:xfrm>
            <a:off x="12039905"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100" name="Text 97"/>
          <p:cNvSpPr txBox="1"/>
          <p:nvPr/>
        </p:nvSpPr>
        <p:spPr>
          <a:xfrm>
            <a:off x="12039905"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8</a:t>
            </a:r>
            <a:endParaRPr lang="en-US" sz="1400" dirty="0"/>
          </a:p>
        </p:txBody>
      </p:sp>
      <p:sp>
        <p:nvSpPr>
          <p:cNvPr id="101" name="Shape 98"/>
          <p:cNvSpPr/>
          <p:nvPr/>
        </p:nvSpPr>
        <p:spPr>
          <a:xfrm>
            <a:off x="12524537" y="3749040"/>
            <a:ext cx="420624" cy="420624"/>
          </a:xfrm>
          <a:prstGeom prst="roundRect">
            <a:avLst>
              <a:gd name="adj" fmla="val 10870"/>
            </a:avLst>
          </a:prstGeom>
          <a:solidFill>
            <a:srgbClr val="FFFFFF"/>
          </a:solidFill>
          <a:ln w="12700">
            <a:solidFill>
              <a:srgbClr val="D9E0EC"/>
            </a:solidFill>
            <a:prstDash val="solid"/>
          </a:ln>
        </p:spPr>
        <p:txBody>
          <a:bodyPr/>
          <a:lstStyle/>
          <a:p>
            <a:endParaRPr lang="ko-KR" altLang="en-US"/>
          </a:p>
        </p:txBody>
      </p:sp>
      <p:sp>
        <p:nvSpPr>
          <p:cNvPr id="102" name="Text 99"/>
          <p:cNvSpPr txBox="1"/>
          <p:nvPr/>
        </p:nvSpPr>
        <p:spPr>
          <a:xfrm>
            <a:off x="12524537" y="3749040"/>
            <a:ext cx="420624" cy="420624"/>
          </a:xfrm>
          <a:prstGeom prst="rect">
            <a:avLst/>
          </a:prstGeom>
          <a:noFill/>
          <a:ln/>
        </p:spPr>
        <p:txBody>
          <a:bodyPr wrap="square" lIns="1016" tIns="1016" rIns="1016" bIns="1016"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9</a:t>
            </a:r>
            <a:endParaRPr lang="en-US" sz="1400" dirty="0"/>
          </a:p>
        </p:txBody>
      </p:sp>
      <p:sp>
        <p:nvSpPr>
          <p:cNvPr id="103" name="Shape 100"/>
          <p:cNvSpPr/>
          <p:nvPr/>
        </p:nvSpPr>
        <p:spPr>
          <a:xfrm>
            <a:off x="7641641" y="4242816"/>
            <a:ext cx="6309360" cy="548640"/>
          </a:xfrm>
          <a:prstGeom prst="roundRect">
            <a:avLst>
              <a:gd name="adj" fmla="val 13333"/>
            </a:avLst>
          </a:prstGeom>
          <a:solidFill>
            <a:srgbClr val="2E74C6"/>
          </a:solidFill>
          <a:ln/>
        </p:spPr>
        <p:txBody>
          <a:bodyPr/>
          <a:lstStyle/>
          <a:p>
            <a:endParaRPr lang="ko-KR" altLang="en-US"/>
          </a:p>
        </p:txBody>
      </p:sp>
      <p:sp>
        <p:nvSpPr>
          <p:cNvPr id="104" name="Text 101"/>
          <p:cNvSpPr txBox="1"/>
          <p:nvPr/>
        </p:nvSpPr>
        <p:spPr>
          <a:xfrm>
            <a:off x="7641641" y="4242816"/>
            <a:ext cx="6309360" cy="54864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FFFFFF"/>
                </a:solidFill>
                <a:latin typeface="Pretendard" pitchFamily="34" charset="0"/>
                <a:ea typeface="Pretendard" pitchFamily="34" charset="-122"/>
                <a:cs typeface="Pretendard" pitchFamily="34" charset="-120"/>
              </a:rPr>
              <a:t>9개만 남음</a:t>
            </a:r>
            <a:endParaRPr lang="en-US" sz="1600" dirty="0"/>
          </a:p>
          <a:p>
            <a:pPr marL="0" indent="0" algn="ctr">
              <a:spcAft>
                <a:spcPts val="200"/>
              </a:spcAft>
              <a:buNone/>
            </a:pPr>
            <a:r>
              <a:rPr lang="en-US" sz="1500" dirty="0">
                <a:solidFill>
                  <a:srgbClr val="FFFFFF"/>
                </a:solidFill>
                <a:latin typeface="Pretendard" pitchFamily="34" charset="0"/>
                <a:ea typeface="Pretendard" pitchFamily="34" charset="-122"/>
                <a:cs typeface="Pretendard" pitchFamily="34" charset="-120"/>
              </a:rPr>
              <a:t>고친 내용만 검색되고 고아 청크 없음</a:t>
            </a:r>
            <a:endParaRPr lang="en-US" sz="1600" dirty="0"/>
          </a:p>
        </p:txBody>
      </p:sp>
      <p:sp>
        <p:nvSpPr>
          <p:cNvPr id="105" name="Shape 102"/>
          <p:cNvSpPr/>
          <p:nvPr/>
        </p:nvSpPr>
        <p:spPr>
          <a:xfrm>
            <a:off x="509321" y="5029200"/>
            <a:ext cx="13624560" cy="411480"/>
          </a:xfrm>
          <a:prstGeom prst="roundRect">
            <a:avLst>
              <a:gd name="adj" fmla="val 13333"/>
            </a:avLst>
          </a:prstGeom>
          <a:solidFill>
            <a:srgbClr val="1E2A5C"/>
          </a:solidFill>
          <a:ln/>
        </p:spPr>
        <p:txBody>
          <a:bodyPr/>
          <a:lstStyle/>
          <a:p>
            <a:endParaRPr lang="ko-KR" altLang="en-US"/>
          </a:p>
        </p:txBody>
      </p:sp>
      <p:sp>
        <p:nvSpPr>
          <p:cNvPr id="106" name="Text 103"/>
          <p:cNvSpPr txBox="1"/>
          <p:nvPr/>
        </p:nvSpPr>
        <p:spPr>
          <a:xfrm>
            <a:off x="509321" y="5029200"/>
            <a:ext cx="13624560" cy="41148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검색 엔진에 넣는 한 건 = 청크 하나</a:t>
            </a:r>
            <a:endParaRPr lang="en-US" sz="1800" dirty="0"/>
          </a:p>
        </p:txBody>
      </p:sp>
      <p:sp>
        <p:nvSpPr>
          <p:cNvPr id="107" name="Shape 104"/>
          <p:cNvSpPr/>
          <p:nvPr/>
        </p:nvSpPr>
        <p:spPr>
          <a:xfrm>
            <a:off x="509321" y="5532120"/>
            <a:ext cx="1852313" cy="868680"/>
          </a:xfrm>
          <a:prstGeom prst="roundRect">
            <a:avLst>
              <a:gd name="adj" fmla="val 8421"/>
            </a:avLst>
          </a:prstGeom>
          <a:solidFill>
            <a:srgbClr val="1E2A5C"/>
          </a:solidFill>
          <a:ln/>
        </p:spPr>
        <p:txBody>
          <a:bodyPr/>
          <a:lstStyle/>
          <a:p>
            <a:endParaRPr lang="ko-KR" altLang="en-US"/>
          </a:p>
        </p:txBody>
      </p:sp>
      <p:sp>
        <p:nvSpPr>
          <p:cNvPr id="108" name="Text 105"/>
          <p:cNvSpPr txBox="1"/>
          <p:nvPr/>
        </p:nvSpPr>
        <p:spPr>
          <a:xfrm>
            <a:off x="509321" y="5532120"/>
            <a:ext cx="1852313" cy="86868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FFFFFF"/>
                </a:solidFill>
                <a:latin typeface="Pretendard" pitchFamily="34" charset="0"/>
                <a:ea typeface="Pretendard" pitchFamily="34" charset="-122"/>
                <a:cs typeface="Pretendard" pitchFamily="34" charset="-120"/>
              </a:rPr>
              <a:t>_id = chunk_id</a:t>
            </a:r>
            <a:endParaRPr lang="en-US" sz="16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같은 청크는 덮어씀</a:t>
            </a:r>
            <a:endParaRPr lang="en-US" sz="1600" dirty="0"/>
          </a:p>
        </p:txBody>
      </p:sp>
      <p:sp>
        <p:nvSpPr>
          <p:cNvPr id="109" name="Shape 106"/>
          <p:cNvSpPr/>
          <p:nvPr/>
        </p:nvSpPr>
        <p:spPr>
          <a:xfrm>
            <a:off x="2471362" y="5532120"/>
            <a:ext cx="1852313" cy="868680"/>
          </a:xfrm>
          <a:prstGeom prst="roundRect">
            <a:avLst>
              <a:gd name="adj" fmla="val 8421"/>
            </a:avLst>
          </a:prstGeom>
          <a:solidFill>
            <a:srgbClr val="2E74C6"/>
          </a:solidFill>
          <a:ln/>
        </p:spPr>
        <p:txBody>
          <a:bodyPr/>
          <a:lstStyle/>
          <a:p>
            <a:endParaRPr lang="ko-KR" altLang="en-US"/>
          </a:p>
        </p:txBody>
      </p:sp>
      <p:sp>
        <p:nvSpPr>
          <p:cNvPr id="110" name="Text 107"/>
          <p:cNvSpPr txBox="1"/>
          <p:nvPr/>
        </p:nvSpPr>
        <p:spPr>
          <a:xfrm>
            <a:off x="2471362" y="5532120"/>
            <a:ext cx="1852313" cy="86868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FFFFFF"/>
                </a:solidFill>
                <a:latin typeface="Pretendard" pitchFamily="34" charset="0"/>
                <a:ea typeface="Pretendard" pitchFamily="34" charset="-122"/>
                <a:cs typeface="Pretendard" pitchFamily="34" charset="-120"/>
              </a:rPr>
              <a:t>doc_id</a:t>
            </a:r>
            <a:endParaRPr lang="en-US" sz="16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지울 때 쓰는 원천 문서 키</a:t>
            </a:r>
            <a:endParaRPr lang="en-US" sz="1600" dirty="0"/>
          </a:p>
        </p:txBody>
      </p:sp>
      <p:sp>
        <p:nvSpPr>
          <p:cNvPr id="111" name="Shape 108"/>
          <p:cNvSpPr/>
          <p:nvPr/>
        </p:nvSpPr>
        <p:spPr>
          <a:xfrm>
            <a:off x="4433403" y="5532120"/>
            <a:ext cx="1852313" cy="868680"/>
          </a:xfrm>
          <a:prstGeom prst="roundRect">
            <a:avLst>
              <a:gd name="adj" fmla="val 8421"/>
            </a:avLst>
          </a:prstGeom>
          <a:solidFill>
            <a:srgbClr val="F5F8FC"/>
          </a:solidFill>
          <a:ln w="12700">
            <a:solidFill>
              <a:srgbClr val="D9E0EC"/>
            </a:solidFill>
            <a:prstDash val="solid"/>
          </a:ln>
        </p:spPr>
        <p:txBody>
          <a:bodyPr/>
          <a:lstStyle/>
          <a:p>
            <a:endParaRPr lang="ko-KR" altLang="en-US"/>
          </a:p>
        </p:txBody>
      </p:sp>
      <p:sp>
        <p:nvSpPr>
          <p:cNvPr id="112" name="Text 109"/>
          <p:cNvSpPr txBox="1"/>
          <p:nvPr/>
        </p:nvSpPr>
        <p:spPr>
          <a:xfrm>
            <a:off x="4433403" y="5532120"/>
            <a:ext cx="1852313" cy="86868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2B3242"/>
                </a:solidFill>
                <a:latin typeface="Pretendard" pitchFamily="34" charset="0"/>
                <a:ea typeface="Pretendard" pitchFamily="34" charset="-122"/>
                <a:cs typeface="Pretendard" pitchFamily="34" charset="-120"/>
              </a:rPr>
              <a:t>text_hash</a:t>
            </a:r>
            <a:endParaRPr lang="en-US" sz="1600" dirty="0"/>
          </a:p>
          <a:p>
            <a:pPr marL="0" indent="0" algn="ctr">
              <a:spcAft>
                <a:spcPts val="200"/>
              </a:spcAft>
              <a:buNone/>
            </a:pPr>
            <a:r>
              <a:rPr lang="en-US" sz="1400" dirty="0">
                <a:solidFill>
                  <a:srgbClr val="2B3242"/>
                </a:solidFill>
                <a:latin typeface="Pretendard" pitchFamily="34" charset="0"/>
                <a:ea typeface="Pretendard" pitchFamily="34" charset="-122"/>
                <a:cs typeface="Pretendard" pitchFamily="34" charset="-120"/>
              </a:rPr>
              <a:t>벡터 재사용 판단</a:t>
            </a:r>
            <a:endParaRPr lang="en-US" sz="1600" dirty="0"/>
          </a:p>
        </p:txBody>
      </p:sp>
      <p:sp>
        <p:nvSpPr>
          <p:cNvPr id="113" name="Shape 110"/>
          <p:cNvSpPr/>
          <p:nvPr/>
        </p:nvSpPr>
        <p:spPr>
          <a:xfrm>
            <a:off x="6395444" y="5532120"/>
            <a:ext cx="1852313" cy="868680"/>
          </a:xfrm>
          <a:prstGeom prst="roundRect">
            <a:avLst>
              <a:gd name="adj" fmla="val 8421"/>
            </a:avLst>
          </a:prstGeom>
          <a:solidFill>
            <a:srgbClr val="F5F8FC"/>
          </a:solidFill>
          <a:ln w="12700">
            <a:solidFill>
              <a:srgbClr val="D9E0EC"/>
            </a:solidFill>
            <a:prstDash val="solid"/>
          </a:ln>
        </p:spPr>
        <p:txBody>
          <a:bodyPr/>
          <a:lstStyle/>
          <a:p>
            <a:endParaRPr lang="ko-KR" altLang="en-US"/>
          </a:p>
        </p:txBody>
      </p:sp>
      <p:sp>
        <p:nvSpPr>
          <p:cNvPr id="114" name="Text 111"/>
          <p:cNvSpPr txBox="1"/>
          <p:nvPr/>
        </p:nvSpPr>
        <p:spPr>
          <a:xfrm>
            <a:off x="6395444" y="5532120"/>
            <a:ext cx="1852313" cy="86868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2B3242"/>
                </a:solidFill>
                <a:latin typeface="Pretendard" pitchFamily="34" charset="0"/>
                <a:ea typeface="Pretendard" pitchFamily="34" charset="-122"/>
                <a:cs typeface="Pretendard" pitchFamily="34" charset="-120"/>
              </a:rPr>
              <a:t>text</a:t>
            </a:r>
            <a:endParaRPr lang="en-US" sz="1600" dirty="0"/>
          </a:p>
          <a:p>
            <a:pPr marL="0" indent="0" algn="ctr">
              <a:spcAft>
                <a:spcPts val="200"/>
              </a:spcAft>
              <a:buNone/>
            </a:pPr>
            <a:r>
              <a:rPr lang="en-US" sz="1400" dirty="0">
                <a:solidFill>
                  <a:srgbClr val="2B3242"/>
                </a:solidFill>
                <a:latin typeface="Pretendard" pitchFamily="34" charset="0"/>
                <a:ea typeface="Pretendard" pitchFamily="34" charset="-122"/>
                <a:cs typeface="Pretendard" pitchFamily="34" charset="-120"/>
              </a:rPr>
              <a:t>보여 주기용, 색인 안 함</a:t>
            </a:r>
            <a:endParaRPr lang="en-US" sz="1600" dirty="0"/>
          </a:p>
        </p:txBody>
      </p:sp>
      <p:sp>
        <p:nvSpPr>
          <p:cNvPr id="115" name="Shape 112"/>
          <p:cNvSpPr/>
          <p:nvPr/>
        </p:nvSpPr>
        <p:spPr>
          <a:xfrm>
            <a:off x="8357485" y="5532120"/>
            <a:ext cx="1852313" cy="868680"/>
          </a:xfrm>
          <a:prstGeom prst="roundRect">
            <a:avLst>
              <a:gd name="adj" fmla="val 8421"/>
            </a:avLst>
          </a:prstGeom>
          <a:solidFill>
            <a:srgbClr val="F5F8FC"/>
          </a:solidFill>
          <a:ln w="12700">
            <a:solidFill>
              <a:srgbClr val="D9E0EC"/>
            </a:solidFill>
            <a:prstDash val="solid"/>
          </a:ln>
        </p:spPr>
        <p:txBody>
          <a:bodyPr/>
          <a:lstStyle/>
          <a:p>
            <a:endParaRPr lang="ko-KR" altLang="en-US">
              <a:solidFill>
                <a:srgbClr val="0070C0"/>
              </a:solidFill>
            </a:endParaRPr>
          </a:p>
        </p:txBody>
      </p:sp>
      <p:sp>
        <p:nvSpPr>
          <p:cNvPr id="116" name="Text 113"/>
          <p:cNvSpPr txBox="1"/>
          <p:nvPr/>
        </p:nvSpPr>
        <p:spPr>
          <a:xfrm>
            <a:off x="8357485" y="5532120"/>
            <a:ext cx="1852313" cy="86868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0070C0"/>
                </a:solidFill>
                <a:latin typeface="Pretendard" pitchFamily="34" charset="0"/>
                <a:ea typeface="Pretendard" pitchFamily="34" charset="-122"/>
                <a:cs typeface="Pretendard" pitchFamily="34" charset="-120"/>
              </a:rPr>
              <a:t>text_tokens</a:t>
            </a:r>
            <a:endParaRPr lang="en-US" sz="1600" dirty="0">
              <a:solidFill>
                <a:srgbClr val="0070C0"/>
              </a:solidFill>
            </a:endParaRPr>
          </a:p>
          <a:p>
            <a:pPr marL="0" indent="0" algn="ctr">
              <a:spcAft>
                <a:spcPts val="200"/>
              </a:spcAft>
              <a:buNone/>
            </a:pPr>
            <a:r>
              <a:rPr lang="en-US" sz="1400" dirty="0">
                <a:solidFill>
                  <a:srgbClr val="0070C0"/>
                </a:solidFill>
                <a:latin typeface="Pretendard" pitchFamily="34" charset="0"/>
                <a:ea typeface="Pretendard" pitchFamily="34" charset="-122"/>
                <a:cs typeface="Pretendard" pitchFamily="34" charset="-120"/>
              </a:rPr>
              <a:t>토큰화된 낱말</a:t>
            </a:r>
            <a:endParaRPr lang="en-US" sz="1600" dirty="0">
              <a:solidFill>
                <a:srgbClr val="0070C0"/>
              </a:solidFill>
            </a:endParaRPr>
          </a:p>
        </p:txBody>
      </p:sp>
      <p:sp>
        <p:nvSpPr>
          <p:cNvPr id="117" name="Shape 114"/>
          <p:cNvSpPr/>
          <p:nvPr/>
        </p:nvSpPr>
        <p:spPr>
          <a:xfrm>
            <a:off x="10319527" y="5532120"/>
            <a:ext cx="1852313" cy="868680"/>
          </a:xfrm>
          <a:prstGeom prst="roundRect">
            <a:avLst>
              <a:gd name="adj" fmla="val 8421"/>
            </a:avLst>
          </a:prstGeom>
          <a:solidFill>
            <a:srgbClr val="F5F8FC"/>
          </a:solidFill>
          <a:ln w="12700">
            <a:solidFill>
              <a:srgbClr val="D9E0EC"/>
            </a:solidFill>
            <a:prstDash val="solid"/>
          </a:ln>
        </p:spPr>
        <p:txBody>
          <a:bodyPr/>
          <a:lstStyle/>
          <a:p>
            <a:endParaRPr lang="ko-KR" altLang="en-US">
              <a:solidFill>
                <a:srgbClr val="0070C0"/>
              </a:solidFill>
            </a:endParaRPr>
          </a:p>
        </p:txBody>
      </p:sp>
      <p:sp>
        <p:nvSpPr>
          <p:cNvPr id="118" name="Text 115"/>
          <p:cNvSpPr txBox="1"/>
          <p:nvPr/>
        </p:nvSpPr>
        <p:spPr>
          <a:xfrm>
            <a:off x="10319527" y="5532120"/>
            <a:ext cx="1852313" cy="868680"/>
          </a:xfrm>
          <a:prstGeom prst="rect">
            <a:avLst/>
          </a:prstGeom>
          <a:noFill/>
          <a:ln/>
        </p:spPr>
        <p:txBody>
          <a:bodyPr wrap="square" lIns="762" tIns="762" rIns="762" bIns="762" rtlCol="0" anchor="ctr"/>
          <a:lstStyle/>
          <a:p>
            <a:pPr marL="0" indent="0" algn="ctr">
              <a:spcAft>
                <a:spcPts val="200"/>
              </a:spcAft>
              <a:buNone/>
            </a:pPr>
            <a:r>
              <a:rPr lang="en-US" sz="1600" b="1" dirty="0">
                <a:solidFill>
                  <a:srgbClr val="0070C0"/>
                </a:solidFill>
                <a:latin typeface="Pretendard" pitchFamily="34" charset="0"/>
                <a:ea typeface="Pretendard" pitchFamily="34" charset="-122"/>
                <a:cs typeface="Pretendard" pitchFamily="34" charset="-120"/>
              </a:rPr>
              <a:t>embedding</a:t>
            </a:r>
            <a:endParaRPr lang="en-US" sz="1600" dirty="0">
              <a:solidFill>
                <a:srgbClr val="0070C0"/>
              </a:solidFill>
            </a:endParaRPr>
          </a:p>
          <a:p>
            <a:pPr marL="0" indent="0" algn="ctr">
              <a:spcAft>
                <a:spcPts val="200"/>
              </a:spcAft>
              <a:buNone/>
            </a:pPr>
            <a:r>
              <a:rPr lang="en-US" sz="1400" dirty="0">
                <a:solidFill>
                  <a:srgbClr val="0070C0"/>
                </a:solidFill>
                <a:latin typeface="Pretendard" pitchFamily="34" charset="0"/>
                <a:ea typeface="Pretendard" pitchFamily="34" charset="-122"/>
                <a:cs typeface="Pretendard" pitchFamily="34" charset="-120"/>
              </a:rPr>
              <a:t>색인용 본문을 벡터화</a:t>
            </a:r>
            <a:endParaRPr lang="en-US" sz="1600" dirty="0">
              <a:solidFill>
                <a:srgbClr val="0070C0"/>
              </a:solidFill>
            </a:endParaRPr>
          </a:p>
        </p:txBody>
      </p:sp>
      <p:sp>
        <p:nvSpPr>
          <p:cNvPr id="119" name="Shape 116"/>
          <p:cNvSpPr/>
          <p:nvPr/>
        </p:nvSpPr>
        <p:spPr>
          <a:xfrm>
            <a:off x="12281568" y="5532120"/>
            <a:ext cx="1852313" cy="868680"/>
          </a:xfrm>
          <a:prstGeom prst="roundRect">
            <a:avLst>
              <a:gd name="adj" fmla="val 8421"/>
            </a:avLst>
          </a:prstGeom>
          <a:solidFill>
            <a:srgbClr val="F5F8FC"/>
          </a:solidFill>
          <a:ln w="12700">
            <a:solidFill>
              <a:srgbClr val="D9E0EC"/>
            </a:solidFill>
            <a:prstDash val="solid"/>
          </a:ln>
        </p:spPr>
        <p:txBody>
          <a:bodyPr/>
          <a:lstStyle/>
          <a:p>
            <a:endParaRPr lang="ko-KR" altLang="en-US">
              <a:solidFill>
                <a:srgbClr val="0070C0"/>
              </a:solidFill>
            </a:endParaRPr>
          </a:p>
        </p:txBody>
      </p:sp>
      <p:sp>
        <p:nvSpPr>
          <p:cNvPr id="120" name="Text 117"/>
          <p:cNvSpPr txBox="1"/>
          <p:nvPr/>
        </p:nvSpPr>
        <p:spPr>
          <a:xfrm>
            <a:off x="12281568" y="5532120"/>
            <a:ext cx="1852313" cy="868680"/>
          </a:xfrm>
          <a:prstGeom prst="rect">
            <a:avLst/>
          </a:prstGeom>
          <a:noFill/>
          <a:ln/>
        </p:spPr>
        <p:txBody>
          <a:bodyPr wrap="square" lIns="762" tIns="762" rIns="762" bIns="762" rtlCol="0" anchor="ctr"/>
          <a:lstStyle>
            <a:defPPr>
              <a:defRPr lang="ko-KR"/>
            </a:defPPr>
            <a:lvl1pPr indent="0" algn="ctr">
              <a:spcAft>
                <a:spcPts val="200"/>
              </a:spcAft>
              <a:buNone/>
              <a:defRPr sz="1600" b="1">
                <a:solidFill>
                  <a:srgbClr val="2B3242"/>
                </a:solidFill>
                <a:latin typeface="Pretendard" pitchFamily="34" charset="0"/>
                <a:ea typeface="Pretendard" pitchFamily="34" charset="-122"/>
                <a:cs typeface="Pretendard" pitchFamily="34" charset="-120"/>
              </a:defRPr>
            </a:lvl1pPr>
          </a:lstStyle>
          <a:p>
            <a:r>
              <a:rPr lang="en-US" dirty="0" err="1"/>
              <a:t>메타데이터</a:t>
            </a:r>
            <a:endParaRPr lang="en-US" dirty="0"/>
          </a:p>
          <a:p>
            <a:r>
              <a:rPr lang="en-US" sz="1400" b="0" dirty="0"/>
              <a:t>카드명, 회원 키 등 </a:t>
            </a:r>
            <a:r>
              <a:rPr lang="en-US" sz="1400" b="0" dirty="0" err="1"/>
              <a:t>필터</a:t>
            </a:r>
            <a:endParaRPr lang="en-US" sz="1400" b="0" dirty="0"/>
          </a:p>
        </p:txBody>
      </p:sp>
      <p:sp>
        <p:nvSpPr>
          <p:cNvPr id="121" name="Shape 118"/>
          <p:cNvSpPr/>
          <p:nvPr/>
        </p:nvSpPr>
        <p:spPr>
          <a:xfrm>
            <a:off x="509321" y="6537960"/>
            <a:ext cx="1920240" cy="685800"/>
          </a:xfrm>
          <a:prstGeom prst="roundRect">
            <a:avLst>
              <a:gd name="adj" fmla="val 6667"/>
            </a:avLst>
          </a:prstGeom>
          <a:solidFill>
            <a:srgbClr val="404155"/>
          </a:solidFill>
          <a:ln/>
        </p:spPr>
        <p:txBody>
          <a:bodyPr/>
          <a:lstStyle/>
          <a:p>
            <a:endParaRPr lang="ko-KR" altLang="en-US"/>
          </a:p>
        </p:txBody>
      </p:sp>
      <p:sp>
        <p:nvSpPr>
          <p:cNvPr id="122" name="Text 119"/>
          <p:cNvSpPr txBox="1"/>
          <p:nvPr/>
        </p:nvSpPr>
        <p:spPr>
          <a:xfrm>
            <a:off x="509321" y="6537960"/>
            <a:ext cx="1920240" cy="68580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doc_id 만드는 법</a:t>
            </a:r>
            <a:endParaRPr lang="en-US" sz="1600" dirty="0"/>
          </a:p>
        </p:txBody>
      </p:sp>
      <p:sp>
        <p:nvSpPr>
          <p:cNvPr id="123" name="Shape 120"/>
          <p:cNvSpPr/>
          <p:nvPr/>
        </p:nvSpPr>
        <p:spPr>
          <a:xfrm>
            <a:off x="2566721" y="6537960"/>
            <a:ext cx="2834640" cy="685800"/>
          </a:xfrm>
          <a:prstGeom prst="roundRect">
            <a:avLst>
              <a:gd name="adj" fmla="val 5333"/>
            </a:avLst>
          </a:prstGeom>
          <a:solidFill>
            <a:srgbClr val="2E74C6"/>
          </a:solidFill>
          <a:ln/>
        </p:spPr>
        <p:txBody>
          <a:bodyPr/>
          <a:lstStyle/>
          <a:p>
            <a:endParaRPr lang="ko-KR" altLang="en-US"/>
          </a:p>
        </p:txBody>
      </p:sp>
      <p:sp>
        <p:nvSpPr>
          <p:cNvPr id="124" name="Text 121"/>
          <p:cNvSpPr txBox="1"/>
          <p:nvPr/>
        </p:nvSpPr>
        <p:spPr>
          <a:xfrm>
            <a:off x="2566721" y="6537960"/>
            <a:ext cx="2834640" cy="68580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FFFFFF"/>
                </a:solidFill>
                <a:latin typeface="Pretendard" pitchFamily="34" charset="0"/>
                <a:ea typeface="Pretendard" pitchFamily="34" charset="-122"/>
                <a:cs typeface="Pretendard" pitchFamily="34" charset="-120"/>
              </a:rPr>
              <a:t>D1_27223010abe31291</a:t>
            </a:r>
            <a:endParaRPr lang="en-US" sz="15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문서 키</a:t>
            </a:r>
            <a:endParaRPr lang="en-US" sz="1500" dirty="0"/>
          </a:p>
        </p:txBody>
      </p:sp>
      <p:sp>
        <p:nvSpPr>
          <p:cNvPr id="125" name="Shape 122"/>
          <p:cNvSpPr/>
          <p:nvPr/>
        </p:nvSpPr>
        <p:spPr>
          <a:xfrm>
            <a:off x="5437937" y="6537960"/>
            <a:ext cx="2560320" cy="6858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126" name="Text 123"/>
          <p:cNvSpPr txBox="1"/>
          <p:nvPr/>
        </p:nvSpPr>
        <p:spPr>
          <a:xfrm>
            <a:off x="5437937" y="6537960"/>
            <a:ext cx="2560320" cy="68580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2B3242"/>
                </a:solidFill>
                <a:latin typeface="Pretendard" pitchFamily="34" charset="0"/>
                <a:ea typeface="Pretendard" pitchFamily="34" charset="-122"/>
                <a:cs typeface="Pretendard" pitchFamily="34" charset="-120"/>
              </a:rPr>
              <a:t>_112f1e4abea05436</a:t>
            </a:r>
            <a:endParaRPr lang="en-US" sz="1500" dirty="0"/>
          </a:p>
          <a:p>
            <a:pPr marL="0" indent="0" algn="ctr">
              <a:spcAft>
                <a:spcPts val="200"/>
              </a:spcAft>
              <a:buNone/>
            </a:pPr>
            <a:r>
              <a:rPr lang="en-US" sz="1400" dirty="0">
                <a:solidFill>
                  <a:srgbClr val="2B3242"/>
                </a:solidFill>
                <a:latin typeface="Pretendard" pitchFamily="34" charset="0"/>
                <a:ea typeface="Pretendard" pitchFamily="34" charset="-122"/>
                <a:cs typeface="Pretendard" pitchFamily="34" charset="-120"/>
              </a:rPr>
              <a:t>본문 해시</a:t>
            </a:r>
            <a:endParaRPr lang="en-US" sz="1500" dirty="0"/>
          </a:p>
        </p:txBody>
      </p:sp>
      <p:sp>
        <p:nvSpPr>
          <p:cNvPr id="127" name="Shape 124"/>
          <p:cNvSpPr/>
          <p:nvPr/>
        </p:nvSpPr>
        <p:spPr>
          <a:xfrm>
            <a:off x="8034833" y="6537960"/>
            <a:ext cx="1097280" cy="6858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128" name="Text 125"/>
          <p:cNvSpPr txBox="1"/>
          <p:nvPr/>
        </p:nvSpPr>
        <p:spPr>
          <a:xfrm>
            <a:off x="8034833" y="6537960"/>
            <a:ext cx="1097280" cy="68580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2B3242"/>
                </a:solidFill>
                <a:latin typeface="Pretendard" pitchFamily="34" charset="0"/>
                <a:ea typeface="Pretendard" pitchFamily="34" charset="-122"/>
                <a:cs typeface="Pretendard" pitchFamily="34" charset="-120"/>
              </a:rPr>
              <a:t>_0000</a:t>
            </a:r>
            <a:endParaRPr lang="en-US" sz="1500" dirty="0"/>
          </a:p>
          <a:p>
            <a:pPr marL="0" indent="0" algn="ctr">
              <a:spcAft>
                <a:spcPts val="200"/>
              </a:spcAft>
              <a:buNone/>
            </a:pPr>
            <a:r>
              <a:rPr lang="en-US" sz="1400" dirty="0">
                <a:solidFill>
                  <a:srgbClr val="2B3242"/>
                </a:solidFill>
                <a:latin typeface="Pretendard" pitchFamily="34" charset="0"/>
                <a:ea typeface="Pretendard" pitchFamily="34" charset="-122"/>
                <a:cs typeface="Pretendard" pitchFamily="34" charset="-120"/>
              </a:rPr>
              <a:t>청크 순번</a:t>
            </a:r>
            <a:endParaRPr lang="en-US" sz="1500" dirty="0"/>
          </a:p>
        </p:txBody>
      </p:sp>
      <p:sp>
        <p:nvSpPr>
          <p:cNvPr id="130" name="Text 127"/>
          <p:cNvSpPr txBox="1"/>
          <p:nvPr/>
        </p:nvSpPr>
        <p:spPr>
          <a:xfrm>
            <a:off x="2670048" y="7251506"/>
            <a:ext cx="4370832" cy="685800"/>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chunk_id의 앞 칸만 남기면 doc_id.</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본문이 바뀌어도 문서 키는 그대로</a:t>
            </a:r>
            <a:endParaRPr lang="en-US" sz="15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50</a:t>
            </a:fld>
            <a:endParaRPr lang="en-US"/>
          </a:p>
        </p:txBody>
      </p:sp>
      <p:sp>
        <p:nvSpPr>
          <p:cNvPr id="131" name="왼쪽 중괄호 130">
            <a:extLst>
              <a:ext uri="{FF2B5EF4-FFF2-40B4-BE49-F238E27FC236}">
                <a16:creationId xmlns:a16="http://schemas.microsoft.com/office/drawing/2014/main" id="{EEC31742-00A5-D8E4-6B67-79EE804ABFBD}"/>
              </a:ext>
            </a:extLst>
          </p:cNvPr>
          <p:cNvSpPr/>
          <p:nvPr/>
        </p:nvSpPr>
        <p:spPr>
          <a:xfrm rot="16200000">
            <a:off x="10403280" y="5679985"/>
            <a:ext cx="301456" cy="20025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33" name="Text 127">
            <a:extLst>
              <a:ext uri="{FF2B5EF4-FFF2-40B4-BE49-F238E27FC236}">
                <a16:creationId xmlns:a16="http://schemas.microsoft.com/office/drawing/2014/main" id="{C0C30728-5C61-EB37-3639-A3C7229C9E5A}"/>
              </a:ext>
            </a:extLst>
          </p:cNvPr>
          <p:cNvSpPr txBox="1"/>
          <p:nvPr/>
        </p:nvSpPr>
        <p:spPr>
          <a:xfrm>
            <a:off x="9552737" y="6908606"/>
            <a:ext cx="4581144" cy="685800"/>
          </a:xfrm>
          <a:prstGeom prst="rect">
            <a:avLst/>
          </a:prstGeom>
          <a:noFill/>
          <a:ln/>
        </p:spPr>
        <p:txBody>
          <a:bodyPr wrap="square" lIns="762" tIns="762" rIns="762" bIns="762" rtlCol="0" anchor="ctr"/>
          <a:lstStyle/>
          <a:p>
            <a:pPr marL="0" indent="0" algn="l">
              <a:buNone/>
            </a:pPr>
            <a:r>
              <a:rPr lang="en-US" sz="1500" dirty="0" err="1"/>
              <a:t>text_tokens</a:t>
            </a:r>
            <a:r>
              <a:rPr lang="en-US" sz="1500" dirty="0"/>
              <a:t>: </a:t>
            </a:r>
            <a:r>
              <a:rPr lang="ko-KR" altLang="en-US" sz="1500" dirty="0"/>
              <a:t>키워드 분석 결과</a:t>
            </a:r>
            <a:r>
              <a:rPr lang="en-US" altLang="ko-KR" sz="1500" dirty="0"/>
              <a:t> -&gt; </a:t>
            </a:r>
            <a:r>
              <a:rPr lang="ko-KR" altLang="en-US" sz="1500" dirty="0"/>
              <a:t>키워드 </a:t>
            </a:r>
            <a:r>
              <a:rPr lang="ko-KR" altLang="en-US" sz="1500" dirty="0" err="1"/>
              <a:t>역색인</a:t>
            </a:r>
            <a:endParaRPr lang="en-US" altLang="ko-KR" sz="1500" dirty="0"/>
          </a:p>
          <a:p>
            <a:pPr marL="0" indent="0" algn="l">
              <a:buNone/>
            </a:pPr>
            <a:r>
              <a:rPr lang="en-US" sz="1500" dirty="0"/>
              <a:t>embedding: </a:t>
            </a:r>
            <a:r>
              <a:rPr lang="ko-KR" altLang="en-US" sz="1500" dirty="0" err="1"/>
              <a:t>임베딩</a:t>
            </a:r>
            <a:r>
              <a:rPr lang="ko-KR" altLang="en-US" sz="1500" dirty="0"/>
              <a:t> 결과 </a:t>
            </a:r>
            <a:r>
              <a:rPr lang="en-US" altLang="ko-KR" sz="1500" dirty="0"/>
              <a:t>-&gt; </a:t>
            </a:r>
            <a:r>
              <a:rPr lang="ko-KR" altLang="en-US" sz="1500" dirty="0"/>
              <a:t>벡터 인덱스</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인덱싱 </a:t>
            </a:r>
            <a:r>
              <a:rPr lang="en-US" altLang="ko-KR" dirty="0">
                <a:solidFill>
                  <a:srgbClr val="2C2926"/>
                </a:solidFill>
                <a:latin typeface="Pretendard" pitchFamily="34" charset="0"/>
                <a:ea typeface="Pretendard" pitchFamily="34" charset="-122"/>
                <a:cs typeface="Pretendard" pitchFamily="34" charset="-120"/>
              </a:rPr>
              <a:t>– S3. </a:t>
            </a:r>
            <a:r>
              <a:rPr lang="en-US" altLang="ko-KR" dirty="0" err="1">
                <a:solidFill>
                  <a:srgbClr val="2C2926"/>
                </a:solidFill>
                <a:latin typeface="Pretendard" pitchFamily="34" charset="0"/>
                <a:ea typeface="Pretendard" pitchFamily="34" charset="-122"/>
                <a:cs typeface="Pretendard" pitchFamily="34" charset="-120"/>
              </a:rPr>
              <a:t>검색</a:t>
            </a:r>
            <a:r>
              <a:rPr lang="en-US" altLang="ko-KR" dirty="0">
                <a:solidFill>
                  <a:srgbClr val="2C2926"/>
                </a:solidFill>
                <a:latin typeface="Pretendard" pitchFamily="34" charset="0"/>
                <a:ea typeface="Pretendard" pitchFamily="34" charset="-122"/>
                <a:cs typeface="Pretendard" pitchFamily="34" charset="-120"/>
              </a:rPr>
              <a:t> </a:t>
            </a:r>
            <a:r>
              <a:rPr lang="en-US" altLang="ko-KR" dirty="0" err="1">
                <a:solidFill>
                  <a:srgbClr val="2C2926"/>
                </a:solidFill>
                <a:latin typeface="Pretendard" pitchFamily="34" charset="0"/>
                <a:ea typeface="Pretendard" pitchFamily="34" charset="-122"/>
                <a:cs typeface="Pretendard" pitchFamily="34" charset="-120"/>
              </a:rPr>
              <a:t>엔진에</a:t>
            </a:r>
            <a:r>
              <a:rPr lang="en-US" altLang="ko-KR" dirty="0">
                <a:solidFill>
                  <a:srgbClr val="2C2926"/>
                </a:solidFill>
                <a:latin typeface="Pretendard" pitchFamily="34" charset="0"/>
                <a:ea typeface="Pretendard" pitchFamily="34" charset="-122"/>
                <a:cs typeface="Pretendard" pitchFamily="34" charset="-120"/>
              </a:rPr>
              <a:t> </a:t>
            </a:r>
            <a:r>
              <a:rPr lang="en-US" altLang="ko-KR" dirty="0" err="1">
                <a:solidFill>
                  <a:srgbClr val="2C2926"/>
                </a:solidFill>
                <a:latin typeface="Pretendard" pitchFamily="34" charset="0"/>
                <a:ea typeface="Pretendard" pitchFamily="34" charset="-122"/>
                <a:cs typeface="Pretendard" pitchFamily="34" charset="-120"/>
              </a:rPr>
              <a:t>쓰기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문서별로 묶고, 옛 청크를 지우고, 새 청크를 한꺼번에 넣은 뒤 바로 보이게 함</a:t>
            </a:r>
            <a:endParaRPr lang="en-US" sz="1800" dirty="0"/>
          </a:p>
        </p:txBody>
      </p:sp>
      <p:sp>
        <p:nvSpPr>
          <p:cNvPr id="5" name="Shape 2"/>
          <p:cNvSpPr/>
          <p:nvPr/>
        </p:nvSpPr>
        <p:spPr>
          <a:xfrm>
            <a:off x="509321" y="1737360"/>
            <a:ext cx="7223760" cy="5532120"/>
          </a:xfrm>
          <a:prstGeom prst="roundRect">
            <a:avLst>
              <a:gd name="adj" fmla="val 992"/>
            </a:avLst>
          </a:prstGeom>
          <a:solidFill>
            <a:srgbClr val="F5F8FC"/>
          </a:solidFill>
          <a:ln w="12700">
            <a:solidFill>
              <a:srgbClr val="D9E0EC"/>
            </a:solidFill>
            <a:prstDash val="solid"/>
          </a:ln>
        </p:spPr>
        <p:txBody>
          <a:bodyPr/>
          <a:lstStyle/>
          <a:p>
            <a:endParaRPr lang="ko-KR" altLang="en-US"/>
          </a:p>
        </p:txBody>
      </p:sp>
      <p:sp>
        <p:nvSpPr>
          <p:cNvPr id="6" name="Text 3"/>
          <p:cNvSpPr txBox="1"/>
          <p:nvPr/>
        </p:nvSpPr>
        <p:spPr>
          <a:xfrm>
            <a:off x="619049" y="1810512"/>
            <a:ext cx="7004304" cy="310896"/>
          </a:xfrm>
          <a:prstGeom prst="rect">
            <a:avLst/>
          </a:prstGeom>
          <a:noFill/>
          <a:ln/>
        </p:spPr>
        <p:txBody>
          <a:bodyPr wrap="square" lIns="762" tIns="762" rIns="762" bIns="762" rtlCol="0" anchor="ctr"/>
          <a:lstStyle/>
          <a:p>
            <a:pPr marL="0" indent="0" algn="l">
              <a:buNone/>
            </a:pPr>
            <a:r>
              <a:rPr lang="ko-KR" altLang="en-US" sz="1400" b="1" dirty="0">
                <a:solidFill>
                  <a:srgbClr val="7C8598"/>
                </a:solidFill>
                <a:latin typeface="Pretendard" pitchFamily="34" charset="0"/>
                <a:ea typeface="Pretendard" pitchFamily="34" charset="-122"/>
                <a:cs typeface="Pretendard" pitchFamily="34" charset="-120"/>
              </a:rPr>
              <a:t>예제 코드</a:t>
            </a:r>
            <a:endParaRPr lang="en-US" sz="1400" dirty="0"/>
          </a:p>
        </p:txBody>
      </p:sp>
      <p:sp>
        <p:nvSpPr>
          <p:cNvPr id="7" name="Text 4"/>
          <p:cNvSpPr txBox="1"/>
          <p:nvPr/>
        </p:nvSpPr>
        <p:spPr>
          <a:xfrm>
            <a:off x="619049" y="2139696"/>
            <a:ext cx="7004304" cy="507492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def step3_write_documents(client, index, documents):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 ① 문서(doc_id)별로 묶음</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grouped =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document in documents: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grouped.setdefault(document["doc_id"], []).append(document)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 ② 문서마다 옛 청크를 통째로 지움</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deleted = 0</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doc_id in grouped: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response = </a:t>
            </a:r>
            <a:r>
              <a:rPr lang="en-US" sz="1400" b="1" dirty="0">
                <a:solidFill>
                  <a:srgbClr val="2B3242"/>
                </a:solidFill>
                <a:latin typeface="Pretendard" pitchFamily="34" charset="0"/>
                <a:ea typeface="Pretendard" pitchFamily="34" charset="-122"/>
                <a:cs typeface="Pretendard" pitchFamily="34" charset="-120"/>
              </a:rPr>
              <a:t>client.delete_by_query</a:t>
            </a:r>
            <a:r>
              <a:rPr lang="en-US" sz="1400" dirty="0">
                <a:solidFill>
                  <a:srgbClr val="2B3242"/>
                </a:solidFill>
                <a:latin typeface="Pretendard" pitchFamily="34" charset="0"/>
                <a:ea typeface="Pretendard" pitchFamily="34" charset="-122"/>
                <a:cs typeface="Pretendard" pitchFamily="34" charset="-120"/>
              </a:rPr>
              <a: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index=index,</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body={"query": {"term": {"doc_id": doc_id}}},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refresh=True, conflicts="proceed")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deleted += response.get("deleted", 0)</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 ③ 새 청크를 한꺼번에 넣음 (_id = chunk_id)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actions = [{"_index": index, "_id": d["chunk_id"], "_source": d}</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docs in grouped.values() for d in docs]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t>
            </a:r>
            <a:r>
              <a:rPr lang="en-US" sz="1400" b="1" dirty="0">
                <a:solidFill>
                  <a:srgbClr val="2B3242"/>
                </a:solidFill>
                <a:latin typeface="Pretendard" pitchFamily="34" charset="0"/>
                <a:ea typeface="Pretendard" pitchFamily="34" charset="-122"/>
                <a:cs typeface="Pretendard" pitchFamily="34" charset="-120"/>
              </a:rPr>
              <a:t>helpers.bulk(client, actions, max_retries=3)</a:t>
            </a:r>
            <a:endParaRPr lang="en-US" sz="1400" b="1"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 ④ 바로 검색되게 반영</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client.indices.refresh(index=index)</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return WriteReport(deleted, len(actions), tuple(grouped))</a:t>
            </a:r>
            <a:endParaRPr lang="en-US" sz="1400" dirty="0"/>
          </a:p>
        </p:txBody>
      </p:sp>
      <p:sp>
        <p:nvSpPr>
          <p:cNvPr id="8" name="Shape 5"/>
          <p:cNvSpPr/>
          <p:nvPr/>
        </p:nvSpPr>
        <p:spPr>
          <a:xfrm>
            <a:off x="8007401" y="1737360"/>
            <a:ext cx="6126480" cy="713232"/>
          </a:xfrm>
          <a:prstGeom prst="roundRect">
            <a:avLst>
              <a:gd name="adj" fmla="val 10256"/>
            </a:avLst>
          </a:prstGeom>
          <a:solidFill>
            <a:srgbClr val="F5F8FC"/>
          </a:solidFill>
          <a:ln w="12700">
            <a:solidFill>
              <a:srgbClr val="D9E0EC"/>
            </a:solidFill>
            <a:prstDash val="solid"/>
          </a:ln>
        </p:spPr>
        <p:txBody>
          <a:bodyPr/>
          <a:lstStyle/>
          <a:p>
            <a:endParaRPr lang="ko-KR" altLang="en-US"/>
          </a:p>
        </p:txBody>
      </p:sp>
      <p:sp>
        <p:nvSpPr>
          <p:cNvPr id="9" name="Shape 6"/>
          <p:cNvSpPr/>
          <p:nvPr/>
        </p:nvSpPr>
        <p:spPr>
          <a:xfrm>
            <a:off x="8144561" y="1828800"/>
            <a:ext cx="347472" cy="347472"/>
          </a:xfrm>
          <a:prstGeom prst="roundRect">
            <a:avLst>
              <a:gd name="adj" fmla="val 13158"/>
            </a:avLst>
          </a:prstGeom>
          <a:solidFill>
            <a:srgbClr val="2E74C6"/>
          </a:solidFill>
          <a:ln/>
        </p:spPr>
        <p:txBody>
          <a:bodyPr/>
          <a:lstStyle/>
          <a:p>
            <a:endParaRPr lang="ko-KR" altLang="en-US"/>
          </a:p>
        </p:txBody>
      </p:sp>
      <p:sp>
        <p:nvSpPr>
          <p:cNvPr id="10" name="Text 7"/>
          <p:cNvSpPr txBox="1"/>
          <p:nvPr/>
        </p:nvSpPr>
        <p:spPr>
          <a:xfrm>
            <a:off x="8144561" y="182880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11" name="Text 8"/>
          <p:cNvSpPr txBox="1"/>
          <p:nvPr/>
        </p:nvSpPr>
        <p:spPr>
          <a:xfrm>
            <a:off x="8601761" y="1792224"/>
            <a:ext cx="5394960" cy="347472"/>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문서별로 묶음</a:t>
            </a:r>
            <a:endParaRPr lang="en-US" sz="1600" dirty="0"/>
          </a:p>
        </p:txBody>
      </p:sp>
      <p:sp>
        <p:nvSpPr>
          <p:cNvPr id="12" name="Text 9"/>
          <p:cNvSpPr txBox="1"/>
          <p:nvPr/>
        </p:nvSpPr>
        <p:spPr>
          <a:xfrm>
            <a:off x="8601761" y="2121408"/>
            <a:ext cx="5394960" cy="292608"/>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여러 문서가 한꺼번에 들어와도 문서마다 따로 지움</a:t>
            </a:r>
            <a:endParaRPr lang="en-US" sz="1400" dirty="0"/>
          </a:p>
        </p:txBody>
      </p:sp>
      <p:sp>
        <p:nvSpPr>
          <p:cNvPr id="13" name="Shape 10"/>
          <p:cNvSpPr/>
          <p:nvPr/>
        </p:nvSpPr>
        <p:spPr>
          <a:xfrm>
            <a:off x="8007401" y="2523744"/>
            <a:ext cx="6126480" cy="1097280"/>
          </a:xfrm>
          <a:prstGeom prst="roundRect">
            <a:avLst>
              <a:gd name="adj" fmla="val 6667"/>
            </a:avLst>
          </a:prstGeom>
          <a:solidFill>
            <a:srgbClr val="EEF3FA"/>
          </a:solidFill>
          <a:ln w="12700">
            <a:solidFill>
              <a:srgbClr val="D9E0EC"/>
            </a:solidFill>
            <a:prstDash val="solid"/>
          </a:ln>
        </p:spPr>
        <p:txBody>
          <a:bodyPr/>
          <a:lstStyle/>
          <a:p>
            <a:endParaRPr lang="ko-KR" altLang="en-US"/>
          </a:p>
        </p:txBody>
      </p:sp>
      <p:sp>
        <p:nvSpPr>
          <p:cNvPr id="14" name="Shape 11"/>
          <p:cNvSpPr/>
          <p:nvPr/>
        </p:nvSpPr>
        <p:spPr>
          <a:xfrm>
            <a:off x="8144561" y="2615184"/>
            <a:ext cx="347472" cy="347472"/>
          </a:xfrm>
          <a:prstGeom prst="roundRect">
            <a:avLst>
              <a:gd name="adj" fmla="val 13158"/>
            </a:avLst>
          </a:prstGeom>
          <a:solidFill>
            <a:srgbClr val="2E74C6"/>
          </a:solidFill>
          <a:ln/>
        </p:spPr>
        <p:txBody>
          <a:bodyPr/>
          <a:lstStyle/>
          <a:p>
            <a:endParaRPr lang="ko-KR" altLang="en-US"/>
          </a:p>
        </p:txBody>
      </p:sp>
      <p:sp>
        <p:nvSpPr>
          <p:cNvPr id="15" name="Text 12"/>
          <p:cNvSpPr txBox="1"/>
          <p:nvPr/>
        </p:nvSpPr>
        <p:spPr>
          <a:xfrm>
            <a:off x="8144561" y="261518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16" name="Text 13"/>
          <p:cNvSpPr txBox="1"/>
          <p:nvPr/>
        </p:nvSpPr>
        <p:spPr>
          <a:xfrm>
            <a:off x="8601761" y="2578608"/>
            <a:ext cx="5394960" cy="347472"/>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옛 청크 지우기</a:t>
            </a:r>
            <a:endParaRPr lang="en-US" sz="1600" dirty="0"/>
          </a:p>
        </p:txBody>
      </p:sp>
      <p:sp>
        <p:nvSpPr>
          <p:cNvPr id="17" name="Text 14"/>
          <p:cNvSpPr txBox="1"/>
          <p:nvPr/>
        </p:nvSpPr>
        <p:spPr>
          <a:xfrm>
            <a:off x="8601761" y="2907792"/>
            <a:ext cx="5394960" cy="676656"/>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term doc_id로 그 문서 청크를 모두 지움. refresh=True라 바로 반영되고, conflicts="proceed"는 충돌이 나도 멈추지 않음</a:t>
            </a:r>
            <a:endParaRPr lang="en-US" sz="1400" dirty="0"/>
          </a:p>
        </p:txBody>
      </p:sp>
      <p:sp>
        <p:nvSpPr>
          <p:cNvPr id="18" name="Shape 15"/>
          <p:cNvSpPr/>
          <p:nvPr/>
        </p:nvSpPr>
        <p:spPr>
          <a:xfrm>
            <a:off x="8007401" y="3694176"/>
            <a:ext cx="6126480" cy="896112"/>
          </a:xfrm>
          <a:prstGeom prst="roundRect">
            <a:avLst>
              <a:gd name="adj" fmla="val 8163"/>
            </a:avLst>
          </a:prstGeom>
          <a:solidFill>
            <a:srgbClr val="EEF3FA"/>
          </a:solidFill>
          <a:ln w="12700">
            <a:solidFill>
              <a:srgbClr val="D9E0EC"/>
            </a:solidFill>
            <a:prstDash val="solid"/>
          </a:ln>
        </p:spPr>
        <p:txBody>
          <a:bodyPr/>
          <a:lstStyle/>
          <a:p>
            <a:endParaRPr lang="ko-KR" altLang="en-US"/>
          </a:p>
        </p:txBody>
      </p:sp>
      <p:sp>
        <p:nvSpPr>
          <p:cNvPr id="19" name="Shape 16"/>
          <p:cNvSpPr/>
          <p:nvPr/>
        </p:nvSpPr>
        <p:spPr>
          <a:xfrm>
            <a:off x="8144561" y="3785616"/>
            <a:ext cx="347472" cy="347472"/>
          </a:xfrm>
          <a:prstGeom prst="roundRect">
            <a:avLst>
              <a:gd name="adj" fmla="val 13158"/>
            </a:avLst>
          </a:prstGeom>
          <a:solidFill>
            <a:srgbClr val="2E74C6"/>
          </a:solidFill>
          <a:ln/>
        </p:spPr>
        <p:txBody>
          <a:bodyPr/>
          <a:lstStyle/>
          <a:p>
            <a:endParaRPr lang="ko-KR" altLang="en-US"/>
          </a:p>
        </p:txBody>
      </p:sp>
      <p:sp>
        <p:nvSpPr>
          <p:cNvPr id="20" name="Text 17"/>
          <p:cNvSpPr txBox="1"/>
          <p:nvPr/>
        </p:nvSpPr>
        <p:spPr>
          <a:xfrm>
            <a:off x="8144561" y="378561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21" name="Text 18"/>
          <p:cNvSpPr txBox="1"/>
          <p:nvPr/>
        </p:nvSpPr>
        <p:spPr>
          <a:xfrm>
            <a:off x="8601761" y="3749040"/>
            <a:ext cx="5394960" cy="347472"/>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한꺼번에 넣기</a:t>
            </a:r>
            <a:endParaRPr lang="en-US" sz="1600" dirty="0"/>
          </a:p>
        </p:txBody>
      </p:sp>
      <p:sp>
        <p:nvSpPr>
          <p:cNvPr id="22" name="Text 19"/>
          <p:cNvSpPr txBox="1"/>
          <p:nvPr/>
        </p:nvSpPr>
        <p:spPr>
          <a:xfrm>
            <a:off x="8601761" y="4078224"/>
            <a:ext cx="5394960" cy="475488"/>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_id를 chunk_id로 고정해 같은 입력을 두 번 넣어도 건수가 그대로임. 일부가 실패하면 BulkIndexError</a:t>
            </a:r>
            <a:endParaRPr lang="en-US" sz="1400" dirty="0"/>
          </a:p>
        </p:txBody>
      </p:sp>
      <p:sp>
        <p:nvSpPr>
          <p:cNvPr id="23" name="Shape 20"/>
          <p:cNvSpPr/>
          <p:nvPr/>
        </p:nvSpPr>
        <p:spPr>
          <a:xfrm>
            <a:off x="8007401" y="4663440"/>
            <a:ext cx="6126480" cy="658368"/>
          </a:xfrm>
          <a:prstGeom prst="roundRect">
            <a:avLst>
              <a:gd name="adj" fmla="val 11111"/>
            </a:avLst>
          </a:prstGeom>
          <a:solidFill>
            <a:srgbClr val="F5F8FC"/>
          </a:solidFill>
          <a:ln w="12700">
            <a:solidFill>
              <a:srgbClr val="D9E0EC"/>
            </a:solidFill>
            <a:prstDash val="solid"/>
          </a:ln>
        </p:spPr>
        <p:txBody>
          <a:bodyPr/>
          <a:lstStyle/>
          <a:p>
            <a:endParaRPr lang="ko-KR" altLang="en-US"/>
          </a:p>
        </p:txBody>
      </p:sp>
      <p:sp>
        <p:nvSpPr>
          <p:cNvPr id="24" name="Shape 21"/>
          <p:cNvSpPr/>
          <p:nvPr/>
        </p:nvSpPr>
        <p:spPr>
          <a:xfrm>
            <a:off x="8144561" y="4754880"/>
            <a:ext cx="347472" cy="347472"/>
          </a:xfrm>
          <a:prstGeom prst="roundRect">
            <a:avLst>
              <a:gd name="adj" fmla="val 13158"/>
            </a:avLst>
          </a:prstGeom>
          <a:solidFill>
            <a:srgbClr val="2E74C6"/>
          </a:solidFill>
          <a:ln/>
        </p:spPr>
        <p:txBody>
          <a:bodyPr/>
          <a:lstStyle/>
          <a:p>
            <a:endParaRPr lang="ko-KR" altLang="en-US"/>
          </a:p>
        </p:txBody>
      </p:sp>
      <p:sp>
        <p:nvSpPr>
          <p:cNvPr id="25" name="Text 22"/>
          <p:cNvSpPr txBox="1"/>
          <p:nvPr/>
        </p:nvSpPr>
        <p:spPr>
          <a:xfrm>
            <a:off x="8144561" y="475488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26" name="Text 23"/>
          <p:cNvSpPr txBox="1"/>
          <p:nvPr/>
        </p:nvSpPr>
        <p:spPr>
          <a:xfrm>
            <a:off x="8601761" y="4718304"/>
            <a:ext cx="5394960" cy="347472"/>
          </a:xfrm>
          <a:prstGeom prst="rect">
            <a:avLst/>
          </a:prstGeom>
          <a:noFill/>
          <a:ln/>
        </p:spPr>
        <p:txBody>
          <a:bodyPr wrap="square" lIns="762" tIns="762" rIns="762" bIns="762"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반영</a:t>
            </a:r>
            <a:endParaRPr lang="en-US" sz="1600" dirty="0"/>
          </a:p>
        </p:txBody>
      </p:sp>
      <p:sp>
        <p:nvSpPr>
          <p:cNvPr id="27" name="Text 24"/>
          <p:cNvSpPr txBox="1"/>
          <p:nvPr/>
        </p:nvSpPr>
        <p:spPr>
          <a:xfrm>
            <a:off x="8601761" y="5047488"/>
            <a:ext cx="5394960" cy="237744"/>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넣은 청크가 다음 검색부터 보임</a:t>
            </a:r>
            <a:endParaRPr lang="en-US" sz="1400" dirty="0"/>
          </a:p>
        </p:txBody>
      </p:sp>
      <p:sp>
        <p:nvSpPr>
          <p:cNvPr id="28" name="Shape 25"/>
          <p:cNvSpPr/>
          <p:nvPr/>
        </p:nvSpPr>
        <p:spPr>
          <a:xfrm>
            <a:off x="8007401" y="5394960"/>
            <a:ext cx="6126480" cy="384048"/>
          </a:xfrm>
          <a:prstGeom prst="roundRect">
            <a:avLst>
              <a:gd name="adj" fmla="val 19048"/>
            </a:avLst>
          </a:prstGeom>
          <a:solidFill>
            <a:srgbClr val="2E74C6"/>
          </a:solidFill>
          <a:ln/>
        </p:spPr>
        <p:txBody>
          <a:bodyPr/>
          <a:lstStyle/>
          <a:p>
            <a:endParaRPr lang="ko-KR" altLang="en-US"/>
          </a:p>
        </p:txBody>
      </p:sp>
      <p:sp>
        <p:nvSpPr>
          <p:cNvPr id="29" name="Text 26"/>
          <p:cNvSpPr txBox="1"/>
          <p:nvPr/>
        </p:nvSpPr>
        <p:spPr>
          <a:xfrm>
            <a:off x="8007401" y="5394960"/>
            <a:ext cx="612648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시험 결과: 옛 청크 9개 지움 → 10개 넣음, 고아 0개</a:t>
            </a:r>
            <a:endParaRPr lang="en-US" sz="1500" dirty="0"/>
          </a:p>
        </p:txBody>
      </p:sp>
      <p:sp>
        <p:nvSpPr>
          <p:cNvPr id="30" name="Shape 27"/>
          <p:cNvSpPr/>
          <p:nvPr/>
        </p:nvSpPr>
        <p:spPr>
          <a:xfrm>
            <a:off x="8007401" y="5852160"/>
            <a:ext cx="64008" cy="548640"/>
          </a:xfrm>
          <a:prstGeom prst="rect">
            <a:avLst/>
          </a:prstGeom>
          <a:solidFill>
            <a:srgbClr val="2E74C6"/>
          </a:solidFill>
          <a:ln/>
        </p:spPr>
        <p:txBody>
          <a:bodyPr/>
          <a:lstStyle/>
          <a:p>
            <a:endParaRPr lang="ko-KR" altLang="en-US"/>
          </a:p>
        </p:txBody>
      </p:sp>
      <p:sp>
        <p:nvSpPr>
          <p:cNvPr id="31" name="Text 28"/>
          <p:cNvSpPr txBox="1"/>
          <p:nvPr/>
        </p:nvSpPr>
        <p:spPr>
          <a:xfrm>
            <a:off x="8171993" y="5852160"/>
            <a:ext cx="5961888" cy="548640"/>
          </a:xfrm>
          <a:prstGeom prst="rect">
            <a:avLst/>
          </a:prstGeom>
          <a:noFill/>
          <a:ln/>
        </p:spPr>
        <p:txBody>
          <a:bodyPr wrap="square" lIns="762" tIns="762" rIns="762" bIns="762"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운영 중인 인덱스에 바로 쓰면 ②와 ③ 사이에 그 문서가 잠깐 안 보임.</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그래서 전체 재색인은 새 세대에 쓰고 검색이 보는 이름표만 바꿈</a:t>
            </a:r>
            <a:endParaRPr lang="en-US" sz="1400" dirty="0"/>
          </a:p>
        </p:txBody>
      </p:sp>
      <p:sp>
        <p:nvSpPr>
          <p:cNvPr id="32" name="Shape 29"/>
          <p:cNvSpPr/>
          <p:nvPr/>
        </p:nvSpPr>
        <p:spPr>
          <a:xfrm>
            <a:off x="8007401" y="6473952"/>
            <a:ext cx="2994660" cy="795528"/>
          </a:xfrm>
          <a:prstGeom prst="roundRect">
            <a:avLst>
              <a:gd name="adj" fmla="val 9195"/>
            </a:avLst>
          </a:prstGeom>
          <a:solidFill>
            <a:srgbClr val="F5F8FC"/>
          </a:solidFill>
          <a:ln w="12700">
            <a:solidFill>
              <a:srgbClr val="D9E0EC"/>
            </a:solidFill>
            <a:prstDash val="solid"/>
          </a:ln>
        </p:spPr>
        <p:txBody>
          <a:bodyPr/>
          <a:lstStyle/>
          <a:p>
            <a:endParaRPr lang="ko-KR" altLang="en-US"/>
          </a:p>
        </p:txBody>
      </p:sp>
      <p:sp>
        <p:nvSpPr>
          <p:cNvPr id="33" name="Text 30"/>
          <p:cNvSpPr txBox="1"/>
          <p:nvPr/>
        </p:nvSpPr>
        <p:spPr>
          <a:xfrm>
            <a:off x="8007401" y="6473952"/>
            <a:ext cx="2994660" cy="795528"/>
          </a:xfrm>
          <a:prstGeom prst="rect">
            <a:avLst/>
          </a:prstGeom>
          <a:noFill/>
          <a:ln/>
        </p:spPr>
        <p:txBody>
          <a:bodyPr wrap="square" lIns="508" tIns="508" rIns="508" bIns="508" rtlCol="0" anchor="ctr"/>
          <a:lstStyle/>
          <a:p>
            <a:pPr marL="0" indent="0" algn="ctr">
              <a:buNone/>
            </a:pPr>
            <a:r>
              <a:rPr lang="ko-KR" altLang="en-US" sz="1500" b="1" dirty="0">
                <a:solidFill>
                  <a:srgbClr val="2B3242"/>
                </a:solidFill>
                <a:latin typeface="Pretendard" pitchFamily="34" charset="0"/>
                <a:ea typeface="Pretendard" pitchFamily="34" charset="-122"/>
                <a:cs typeface="Pretendard" pitchFamily="34" charset="-120"/>
              </a:rPr>
              <a:t>벡터</a:t>
            </a:r>
            <a:r>
              <a:rPr lang="en-US" altLang="ko-KR" sz="1500" b="1" dirty="0">
                <a:solidFill>
                  <a:srgbClr val="2B3242"/>
                </a:solidFill>
                <a:latin typeface="Pretendard" pitchFamily="34" charset="0"/>
                <a:ea typeface="Pretendard" pitchFamily="34" charset="-122"/>
                <a:cs typeface="Pretendard" pitchFamily="34" charset="-120"/>
              </a:rPr>
              <a:t>DB </a:t>
            </a:r>
            <a:r>
              <a:rPr lang="ko-KR" altLang="en-US" sz="1500" b="1" dirty="0">
                <a:solidFill>
                  <a:srgbClr val="2B3242"/>
                </a:solidFill>
                <a:latin typeface="Pretendard" pitchFamily="34" charset="0"/>
                <a:ea typeface="Pretendard" pitchFamily="34" charset="-122"/>
                <a:cs typeface="Pretendard" pitchFamily="34" charset="-120"/>
              </a:rPr>
              <a:t>인덱싱의</a:t>
            </a:r>
            <a:r>
              <a:rPr lang="en-US" sz="1500" b="1" dirty="0">
                <a:solidFill>
                  <a:srgbClr val="2B3242"/>
                </a:solidFill>
                <a:latin typeface="Pretendard" pitchFamily="34" charset="0"/>
                <a:ea typeface="Pretendard" pitchFamily="34" charset="-122"/>
                <a:cs typeface="Pretendard" pitchFamily="34" charset="-120"/>
              </a:rPr>
              <a:t> 활성 세대 파일</a:t>
            </a:r>
            <a:endParaRPr lang="en-US" sz="15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active_generation.json 교체</a:t>
            </a:r>
            <a:endParaRPr lang="en-US" sz="15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리트리버가 새 세대를 다시 읽어 올림</a:t>
            </a:r>
            <a:endParaRPr lang="en-US" sz="1500" dirty="0"/>
          </a:p>
        </p:txBody>
      </p:sp>
      <p:sp>
        <p:nvSpPr>
          <p:cNvPr id="34" name="Shape 31"/>
          <p:cNvSpPr/>
          <p:nvPr/>
        </p:nvSpPr>
        <p:spPr>
          <a:xfrm>
            <a:off x="11139221" y="6473952"/>
            <a:ext cx="2994660" cy="795528"/>
          </a:xfrm>
          <a:prstGeom prst="roundRect">
            <a:avLst>
              <a:gd name="adj" fmla="val 9195"/>
            </a:avLst>
          </a:prstGeom>
          <a:solidFill>
            <a:srgbClr val="EEF3FA"/>
          </a:solidFill>
          <a:ln w="12700">
            <a:solidFill>
              <a:srgbClr val="2E74C6"/>
            </a:solidFill>
            <a:prstDash val="solid"/>
          </a:ln>
        </p:spPr>
        <p:txBody>
          <a:bodyPr/>
          <a:lstStyle/>
          <a:p>
            <a:endParaRPr lang="ko-KR" altLang="en-US"/>
          </a:p>
        </p:txBody>
      </p:sp>
      <p:sp>
        <p:nvSpPr>
          <p:cNvPr id="35" name="Text 32"/>
          <p:cNvSpPr txBox="1"/>
          <p:nvPr/>
        </p:nvSpPr>
        <p:spPr>
          <a:xfrm>
            <a:off x="11139221" y="6473952"/>
            <a:ext cx="2994660" cy="795528"/>
          </a:xfrm>
          <a:prstGeom prst="rect">
            <a:avLst/>
          </a:prstGeom>
          <a:noFill/>
          <a:ln/>
        </p:spPr>
        <p:txBody>
          <a:bodyPr wrap="square" lIns="508" tIns="508" rIns="508" bIns="508" rtlCol="0" anchor="ctr"/>
          <a:lstStyle/>
          <a:p>
            <a:pPr marL="0" indent="0" algn="ctr">
              <a:buNone/>
            </a:pPr>
            <a:r>
              <a:rPr lang="ko-KR" altLang="en-US" sz="1500" b="1" dirty="0">
                <a:solidFill>
                  <a:srgbClr val="1E2A5C"/>
                </a:solidFill>
                <a:latin typeface="Pretendard" pitchFamily="34" charset="0"/>
                <a:ea typeface="Pretendard" pitchFamily="34" charset="-122"/>
                <a:cs typeface="Pretendard" pitchFamily="34" charset="-120"/>
              </a:rPr>
              <a:t>검색엔진</a:t>
            </a:r>
            <a:r>
              <a:rPr lang="en-US" sz="1500" b="1" dirty="0">
                <a:solidFill>
                  <a:srgbClr val="1E2A5C"/>
                </a:solidFill>
                <a:latin typeface="Pretendard" pitchFamily="34" charset="0"/>
                <a:ea typeface="Pretendard" pitchFamily="34" charset="-122"/>
                <a:cs typeface="Pretendard" pitchFamily="34" charset="-120"/>
              </a:rPr>
              <a:t> 별칭</a:t>
            </a:r>
            <a:endParaRPr lang="en-US" sz="1500" dirty="0"/>
          </a:p>
          <a:p>
            <a:pPr marL="0" indent="0" algn="ctr">
              <a:buNone/>
            </a:pPr>
            <a:r>
              <a:rPr lang="en-US" sz="1400" dirty="0">
                <a:solidFill>
                  <a:srgbClr val="1E2A5C"/>
                </a:solidFill>
                <a:latin typeface="Pretendard" pitchFamily="34" charset="0"/>
                <a:ea typeface="Pretendard" pitchFamily="34" charset="-122"/>
                <a:cs typeface="Pretendard" pitchFamily="34" charset="-120"/>
              </a:rPr>
              <a:t>card_chunks를 새 인덱스로 옮김</a:t>
            </a:r>
            <a:endParaRPr lang="en-US" sz="1500" dirty="0"/>
          </a:p>
          <a:p>
            <a:pPr marL="0" indent="0" algn="ctr">
              <a:buNone/>
            </a:pPr>
            <a:r>
              <a:rPr lang="en-US" sz="1400" dirty="0">
                <a:solidFill>
                  <a:srgbClr val="1E2A5C"/>
                </a:solidFill>
                <a:latin typeface="Pretendard" pitchFamily="34" charset="0"/>
                <a:ea typeface="Pretendard" pitchFamily="34" charset="-122"/>
                <a:cs typeface="Pretendard" pitchFamily="34" charset="-120"/>
              </a:rPr>
              <a:t>엔진 안 이름표라 모든 검색에 바로 적용</a:t>
            </a:r>
            <a:endParaRPr lang="en-US" sz="15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51</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r>
              <a:rPr lang="en-US" altLang="ko-KR" dirty="0">
                <a:solidFill>
                  <a:srgbClr val="2C2926"/>
                </a:solidFill>
                <a:latin typeface="Pretendard" pitchFamily="34" charset="0"/>
                <a:ea typeface="Pretendard" pitchFamily="34" charset="-122"/>
                <a:cs typeface="Pretendard" pitchFamily="34" charset="-120"/>
              </a:rPr>
              <a:t>2. </a:t>
            </a:r>
            <a:r>
              <a:rPr lang="ko-KR" altLang="en-US" dirty="0">
                <a:solidFill>
                  <a:srgbClr val="2C2926"/>
                </a:solidFill>
                <a:latin typeface="Pretendard" pitchFamily="34" charset="0"/>
                <a:ea typeface="Pretendard" pitchFamily="34" charset="-122"/>
                <a:cs typeface="Pretendard" pitchFamily="34" charset="-120"/>
              </a:rPr>
              <a:t>인덱싱</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⑤ 게시 </a:t>
            </a:r>
            <a:r>
              <a:rPr lang="en-US" altLang="ko-KR"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검색엔진 인덱스 </a:t>
            </a:r>
            <a:r>
              <a:rPr lang="en-US" sz="3200" b="1" dirty="0" err="1">
                <a:solidFill>
                  <a:srgbClr val="2C2926"/>
                </a:solidFill>
                <a:latin typeface="Pretendard" pitchFamily="34" charset="0"/>
                <a:ea typeface="Pretendard" pitchFamily="34" charset="-122"/>
                <a:cs typeface="Pretendard" pitchFamily="34" charset="-120"/>
              </a:rPr>
              <a:t>별칭</a:t>
            </a:r>
            <a:r>
              <a:rPr lang="en-US" sz="3200" b="1" dirty="0">
                <a:solidFill>
                  <a:srgbClr val="2C2926"/>
                </a:solidFill>
                <a:latin typeface="Pretendard" pitchFamily="34" charset="0"/>
                <a:ea typeface="Pretendard" pitchFamily="34" charset="-122"/>
                <a:cs typeface="Pretendard" pitchFamily="34" charset="-120"/>
              </a:rPr>
              <a:t> 전환</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새 세대 인덱스를 다 채우고 건수를 확인한 뒤, 검색이 보는 이름표(별칭)만 한 번에 옮김</a:t>
            </a:r>
            <a:endParaRPr lang="en-US" sz="1800" dirty="0"/>
          </a:p>
        </p:txBody>
      </p:sp>
      <p:sp>
        <p:nvSpPr>
          <p:cNvPr id="5" name="Shape 2"/>
          <p:cNvSpPr/>
          <p:nvPr/>
        </p:nvSpPr>
        <p:spPr>
          <a:xfrm>
            <a:off x="509321" y="1737360"/>
            <a:ext cx="4267200" cy="384048"/>
          </a:xfrm>
          <a:prstGeom prst="roundRect">
            <a:avLst>
              <a:gd name="adj" fmla="val 14286"/>
            </a:avLst>
          </a:prstGeom>
          <a:solidFill>
            <a:srgbClr val="404155"/>
          </a:solidFill>
          <a:ln/>
        </p:spPr>
        <p:txBody>
          <a:bodyPr/>
          <a:lstStyle/>
          <a:p>
            <a:endParaRPr lang="ko-KR" altLang="en-US"/>
          </a:p>
        </p:txBody>
      </p:sp>
      <p:sp>
        <p:nvSpPr>
          <p:cNvPr id="6" name="Text 3"/>
          <p:cNvSpPr txBox="1"/>
          <p:nvPr/>
        </p:nvSpPr>
        <p:spPr>
          <a:xfrm>
            <a:off x="509321" y="1737360"/>
            <a:ext cx="426720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전환 전</a:t>
            </a:r>
            <a:endParaRPr lang="en-US" sz="1700" dirty="0"/>
          </a:p>
        </p:txBody>
      </p:sp>
      <p:sp>
        <p:nvSpPr>
          <p:cNvPr id="7" name="Shape 4"/>
          <p:cNvSpPr/>
          <p:nvPr/>
        </p:nvSpPr>
        <p:spPr>
          <a:xfrm>
            <a:off x="509321" y="2194560"/>
            <a:ext cx="4267200" cy="1783080"/>
          </a:xfrm>
          <a:prstGeom prst="roundRect">
            <a:avLst>
              <a:gd name="adj" fmla="val 4103"/>
            </a:avLst>
          </a:prstGeom>
          <a:solidFill>
            <a:srgbClr val="FFFFFF"/>
          </a:solidFill>
          <a:ln w="12700">
            <a:solidFill>
              <a:srgbClr val="D9E0EC"/>
            </a:solidFill>
            <a:prstDash val="solid"/>
          </a:ln>
        </p:spPr>
        <p:txBody>
          <a:bodyPr/>
          <a:lstStyle/>
          <a:p>
            <a:endParaRPr lang="ko-KR" altLang="en-US"/>
          </a:p>
        </p:txBody>
      </p:sp>
      <p:sp>
        <p:nvSpPr>
          <p:cNvPr id="8" name="Shape 5"/>
          <p:cNvSpPr/>
          <p:nvPr/>
        </p:nvSpPr>
        <p:spPr>
          <a:xfrm>
            <a:off x="1591361" y="2331720"/>
            <a:ext cx="2103120" cy="365760"/>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9" name="Text 6"/>
          <p:cNvSpPr txBox="1"/>
          <p:nvPr/>
        </p:nvSpPr>
        <p:spPr>
          <a:xfrm>
            <a:off x="1591361" y="2331720"/>
            <a:ext cx="2103120" cy="365760"/>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별칭 card_chunks</a:t>
            </a:r>
            <a:endParaRPr lang="en-US" sz="1500" dirty="0"/>
          </a:p>
        </p:txBody>
      </p:sp>
      <p:sp>
        <p:nvSpPr>
          <p:cNvPr id="10" name="Shape 7"/>
          <p:cNvSpPr/>
          <p:nvPr/>
        </p:nvSpPr>
        <p:spPr>
          <a:xfrm>
            <a:off x="692201" y="3108960"/>
            <a:ext cx="1859280" cy="749808"/>
          </a:xfrm>
          <a:prstGeom prst="roundRect">
            <a:avLst>
              <a:gd name="adj" fmla="val 9756"/>
            </a:avLst>
          </a:prstGeom>
          <a:solidFill>
            <a:srgbClr val="1E2A5C"/>
          </a:solidFill>
          <a:ln/>
        </p:spPr>
        <p:txBody>
          <a:bodyPr/>
          <a:lstStyle/>
          <a:p>
            <a:endParaRPr lang="ko-KR" altLang="en-US"/>
          </a:p>
        </p:txBody>
      </p:sp>
      <p:sp>
        <p:nvSpPr>
          <p:cNvPr id="11" name="Text 8"/>
          <p:cNvSpPr txBox="1"/>
          <p:nvPr/>
        </p:nvSpPr>
        <p:spPr>
          <a:xfrm>
            <a:off x="692201" y="3108960"/>
            <a:ext cx="1859280" cy="749808"/>
          </a:xfrm>
          <a:prstGeom prst="rect">
            <a:avLst/>
          </a:prstGeom>
          <a:noFill/>
          <a:ln/>
        </p:spPr>
        <p:txBody>
          <a:bodyPr wrap="square" lIns="762" tIns="762" rIns="762" bIns="762" rtlCol="0" anchor="ctr"/>
          <a:lstStyle/>
          <a:p>
            <a:pPr marL="0" indent="0" algn="ctr">
              <a:spcAft>
                <a:spcPts val="200"/>
              </a:spcAft>
              <a:buNone/>
            </a:pPr>
            <a:r>
              <a:rPr lang="en-US" sz="1500" b="1" dirty="0">
                <a:solidFill>
                  <a:srgbClr val="FFFFFF"/>
                </a:solidFill>
                <a:latin typeface="Pretendard" pitchFamily="34" charset="0"/>
                <a:ea typeface="Pretendard" pitchFamily="34" charset="-122"/>
                <a:cs typeface="Pretendard" pitchFamily="34" charset="-120"/>
              </a:rPr>
              <a:t>1세대 인덱스</a:t>
            </a:r>
            <a:endParaRPr lang="en-US" sz="15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사용 중</a:t>
            </a:r>
            <a:endParaRPr lang="en-US" sz="1500" dirty="0"/>
          </a:p>
        </p:txBody>
      </p:sp>
      <p:sp>
        <p:nvSpPr>
          <p:cNvPr id="12" name="Shape 9"/>
          <p:cNvSpPr/>
          <p:nvPr/>
        </p:nvSpPr>
        <p:spPr>
          <a:xfrm>
            <a:off x="2734361" y="3108960"/>
            <a:ext cx="1859280" cy="749808"/>
          </a:xfrm>
          <a:prstGeom prst="roundRect">
            <a:avLst>
              <a:gd name="adj" fmla="val 9756"/>
            </a:avLst>
          </a:prstGeom>
          <a:solidFill>
            <a:srgbClr val="FFFFFF"/>
          </a:solidFill>
          <a:ln w="12700">
            <a:solidFill>
              <a:srgbClr val="7C8598"/>
            </a:solidFill>
            <a:prstDash val="dash"/>
          </a:ln>
        </p:spPr>
        <p:txBody>
          <a:bodyPr/>
          <a:lstStyle/>
          <a:p>
            <a:endParaRPr lang="ko-KR" altLang="en-US"/>
          </a:p>
        </p:txBody>
      </p:sp>
      <p:sp>
        <p:nvSpPr>
          <p:cNvPr id="13" name="Text 10"/>
          <p:cNvSpPr txBox="1"/>
          <p:nvPr/>
        </p:nvSpPr>
        <p:spPr>
          <a:xfrm>
            <a:off x="2734361" y="3108960"/>
            <a:ext cx="1859280" cy="749808"/>
          </a:xfrm>
          <a:prstGeom prst="rect">
            <a:avLst/>
          </a:prstGeom>
          <a:noFill/>
          <a:ln/>
        </p:spPr>
        <p:txBody>
          <a:bodyPr wrap="square" lIns="762" tIns="762" rIns="762" bIns="762" rtlCol="0" anchor="ctr"/>
          <a:lstStyle/>
          <a:p>
            <a:pPr marL="0" indent="0" algn="ctr">
              <a:spcAft>
                <a:spcPts val="200"/>
              </a:spcAft>
              <a:buNone/>
            </a:pPr>
            <a:r>
              <a:rPr lang="en-US" sz="1500" b="1" dirty="0">
                <a:solidFill>
                  <a:srgbClr val="4A5364"/>
                </a:solidFill>
                <a:latin typeface="Pretendard" pitchFamily="34" charset="0"/>
                <a:ea typeface="Pretendard" pitchFamily="34" charset="-122"/>
                <a:cs typeface="Pretendard" pitchFamily="34" charset="-120"/>
              </a:rPr>
              <a:t>2세대 인덱스</a:t>
            </a:r>
            <a:endParaRPr lang="en-US" sz="1500" dirty="0"/>
          </a:p>
          <a:p>
            <a:pPr marL="0" indent="0" algn="ctr">
              <a:spcAft>
                <a:spcPts val="200"/>
              </a:spcAft>
              <a:buNone/>
            </a:pPr>
            <a:r>
              <a:rPr lang="en-US" sz="1400" dirty="0">
                <a:solidFill>
                  <a:srgbClr val="4A5364"/>
                </a:solidFill>
                <a:latin typeface="Pretendard" pitchFamily="34" charset="0"/>
                <a:ea typeface="Pretendard" pitchFamily="34" charset="-122"/>
                <a:cs typeface="Pretendard" pitchFamily="34" charset="-120"/>
              </a:rPr>
              <a:t>채우는 중</a:t>
            </a:r>
            <a:endParaRPr lang="en-US" sz="1500" dirty="0"/>
          </a:p>
        </p:txBody>
      </p:sp>
      <p:sp>
        <p:nvSpPr>
          <p:cNvPr id="14" name="Shape 11"/>
          <p:cNvSpPr/>
          <p:nvPr/>
        </p:nvSpPr>
        <p:spPr>
          <a:xfrm flipH="1">
            <a:off x="1621841" y="2715768"/>
            <a:ext cx="1021080" cy="365760"/>
          </a:xfrm>
          <a:prstGeom prst="line">
            <a:avLst/>
          </a:prstGeom>
          <a:noFill/>
          <a:ln w="25400">
            <a:solidFill>
              <a:srgbClr val="1E2A5C"/>
            </a:solidFill>
            <a:prstDash val="solid"/>
            <a:tailEnd type="triangle"/>
          </a:ln>
        </p:spPr>
        <p:txBody>
          <a:bodyPr/>
          <a:lstStyle/>
          <a:p>
            <a:endParaRPr lang="ko-KR" altLang="en-US"/>
          </a:p>
        </p:txBody>
      </p:sp>
      <p:sp>
        <p:nvSpPr>
          <p:cNvPr id="15" name="Shape 12"/>
          <p:cNvSpPr/>
          <p:nvPr/>
        </p:nvSpPr>
        <p:spPr>
          <a:xfrm>
            <a:off x="4831385" y="3063240"/>
            <a:ext cx="301752" cy="0"/>
          </a:xfrm>
          <a:prstGeom prst="line">
            <a:avLst/>
          </a:prstGeom>
          <a:noFill/>
          <a:ln w="25400">
            <a:solidFill>
              <a:srgbClr val="4A5364"/>
            </a:solidFill>
            <a:prstDash val="solid"/>
            <a:tailEnd type="triangle"/>
          </a:ln>
        </p:spPr>
        <p:txBody>
          <a:bodyPr/>
          <a:lstStyle/>
          <a:p>
            <a:endParaRPr lang="ko-KR" altLang="en-US"/>
          </a:p>
        </p:txBody>
      </p:sp>
      <p:sp>
        <p:nvSpPr>
          <p:cNvPr id="16" name="Shape 13"/>
          <p:cNvSpPr/>
          <p:nvPr/>
        </p:nvSpPr>
        <p:spPr>
          <a:xfrm>
            <a:off x="5188001" y="1737360"/>
            <a:ext cx="4267200" cy="384048"/>
          </a:xfrm>
          <a:prstGeom prst="roundRect">
            <a:avLst>
              <a:gd name="adj" fmla="val 14286"/>
            </a:avLst>
          </a:prstGeom>
          <a:solidFill>
            <a:srgbClr val="404155"/>
          </a:solidFill>
          <a:ln/>
        </p:spPr>
        <p:txBody>
          <a:bodyPr/>
          <a:lstStyle/>
          <a:p>
            <a:endParaRPr lang="ko-KR" altLang="en-US"/>
          </a:p>
        </p:txBody>
      </p:sp>
      <p:sp>
        <p:nvSpPr>
          <p:cNvPr id="17" name="Text 14"/>
          <p:cNvSpPr txBox="1"/>
          <p:nvPr/>
        </p:nvSpPr>
        <p:spPr>
          <a:xfrm>
            <a:off x="5188001" y="1737360"/>
            <a:ext cx="426720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건수 확인</a:t>
            </a:r>
            <a:endParaRPr lang="en-US" sz="1700" dirty="0"/>
          </a:p>
        </p:txBody>
      </p:sp>
      <p:sp>
        <p:nvSpPr>
          <p:cNvPr id="18" name="Shape 15"/>
          <p:cNvSpPr/>
          <p:nvPr/>
        </p:nvSpPr>
        <p:spPr>
          <a:xfrm>
            <a:off x="5188001" y="2194560"/>
            <a:ext cx="4267200" cy="1783080"/>
          </a:xfrm>
          <a:prstGeom prst="roundRect">
            <a:avLst>
              <a:gd name="adj" fmla="val 4103"/>
            </a:avLst>
          </a:prstGeom>
          <a:solidFill>
            <a:srgbClr val="FFFFFF"/>
          </a:solidFill>
          <a:ln w="12700">
            <a:solidFill>
              <a:srgbClr val="D9E0EC"/>
            </a:solidFill>
            <a:prstDash val="solid"/>
          </a:ln>
        </p:spPr>
        <p:txBody>
          <a:bodyPr/>
          <a:lstStyle/>
          <a:p>
            <a:endParaRPr lang="ko-KR" altLang="en-US"/>
          </a:p>
        </p:txBody>
      </p:sp>
      <p:sp>
        <p:nvSpPr>
          <p:cNvPr id="19" name="Shape 16"/>
          <p:cNvSpPr/>
          <p:nvPr/>
        </p:nvSpPr>
        <p:spPr>
          <a:xfrm>
            <a:off x="5370881" y="2331720"/>
            <a:ext cx="2103120" cy="365760"/>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20" name="Text 17"/>
          <p:cNvSpPr txBox="1"/>
          <p:nvPr/>
        </p:nvSpPr>
        <p:spPr>
          <a:xfrm>
            <a:off x="5370881" y="2331720"/>
            <a:ext cx="2103120" cy="365760"/>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별칭 card_chunks</a:t>
            </a:r>
            <a:endParaRPr lang="en-US" sz="1500" dirty="0"/>
          </a:p>
        </p:txBody>
      </p:sp>
      <p:sp>
        <p:nvSpPr>
          <p:cNvPr id="21" name="Text 18"/>
          <p:cNvSpPr txBox="1"/>
          <p:nvPr/>
        </p:nvSpPr>
        <p:spPr>
          <a:xfrm>
            <a:off x="7565441" y="2258568"/>
            <a:ext cx="1798320" cy="548640"/>
          </a:xfrm>
          <a:prstGeom prst="rect">
            <a:avLst/>
          </a:prstGeom>
          <a:noFill/>
          <a:ln/>
        </p:spPr>
        <p:txBody>
          <a:bodyPr wrap="square" lIns="762" tIns="762" rIns="762" bIns="762"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refresh 뒤 건수 확인.</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다르면 전환 중단</a:t>
            </a:r>
            <a:endParaRPr lang="en-US" sz="1400" dirty="0"/>
          </a:p>
        </p:txBody>
      </p:sp>
      <p:sp>
        <p:nvSpPr>
          <p:cNvPr id="22" name="Shape 19"/>
          <p:cNvSpPr/>
          <p:nvPr/>
        </p:nvSpPr>
        <p:spPr>
          <a:xfrm>
            <a:off x="5370881" y="3108960"/>
            <a:ext cx="1859280" cy="749808"/>
          </a:xfrm>
          <a:prstGeom prst="roundRect">
            <a:avLst>
              <a:gd name="adj" fmla="val 9756"/>
            </a:avLst>
          </a:prstGeom>
          <a:solidFill>
            <a:srgbClr val="1E2A5C"/>
          </a:solidFill>
          <a:ln/>
        </p:spPr>
        <p:txBody>
          <a:bodyPr/>
          <a:lstStyle/>
          <a:p>
            <a:endParaRPr lang="ko-KR" altLang="en-US"/>
          </a:p>
        </p:txBody>
      </p:sp>
      <p:sp>
        <p:nvSpPr>
          <p:cNvPr id="23" name="Text 20"/>
          <p:cNvSpPr txBox="1"/>
          <p:nvPr/>
        </p:nvSpPr>
        <p:spPr>
          <a:xfrm>
            <a:off x="5370881" y="3108960"/>
            <a:ext cx="1859280" cy="749808"/>
          </a:xfrm>
          <a:prstGeom prst="rect">
            <a:avLst/>
          </a:prstGeom>
          <a:noFill/>
          <a:ln/>
        </p:spPr>
        <p:txBody>
          <a:bodyPr wrap="square" lIns="762" tIns="762" rIns="762" bIns="762" rtlCol="0" anchor="ctr"/>
          <a:lstStyle/>
          <a:p>
            <a:pPr marL="0" indent="0" algn="ctr">
              <a:spcAft>
                <a:spcPts val="200"/>
              </a:spcAft>
              <a:buNone/>
            </a:pPr>
            <a:r>
              <a:rPr lang="en-US" sz="1500" b="1" dirty="0">
                <a:solidFill>
                  <a:srgbClr val="FFFFFF"/>
                </a:solidFill>
                <a:latin typeface="Pretendard" pitchFamily="34" charset="0"/>
                <a:ea typeface="Pretendard" pitchFamily="34" charset="-122"/>
                <a:cs typeface="Pretendard" pitchFamily="34" charset="-120"/>
              </a:rPr>
              <a:t>1세대 인덱스</a:t>
            </a:r>
            <a:endParaRPr lang="en-US" sz="15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사용 중</a:t>
            </a:r>
            <a:endParaRPr lang="en-US" sz="1500" dirty="0"/>
          </a:p>
        </p:txBody>
      </p:sp>
      <p:sp>
        <p:nvSpPr>
          <p:cNvPr id="24" name="Shape 21"/>
          <p:cNvSpPr/>
          <p:nvPr/>
        </p:nvSpPr>
        <p:spPr>
          <a:xfrm>
            <a:off x="7413041" y="3108960"/>
            <a:ext cx="1859280" cy="749808"/>
          </a:xfrm>
          <a:prstGeom prst="roundRect">
            <a:avLst>
              <a:gd name="adj" fmla="val 9756"/>
            </a:avLst>
          </a:prstGeom>
          <a:solidFill>
            <a:srgbClr val="EEF3FA"/>
          </a:solidFill>
          <a:ln w="12700">
            <a:solidFill>
              <a:srgbClr val="2E74C6"/>
            </a:solidFill>
            <a:prstDash val="solid"/>
          </a:ln>
        </p:spPr>
        <p:txBody>
          <a:bodyPr/>
          <a:lstStyle/>
          <a:p>
            <a:endParaRPr lang="ko-KR" altLang="en-US"/>
          </a:p>
        </p:txBody>
      </p:sp>
      <p:sp>
        <p:nvSpPr>
          <p:cNvPr id="25" name="Text 22"/>
          <p:cNvSpPr txBox="1"/>
          <p:nvPr/>
        </p:nvSpPr>
        <p:spPr>
          <a:xfrm>
            <a:off x="7413041" y="3108960"/>
            <a:ext cx="1859280" cy="749808"/>
          </a:xfrm>
          <a:prstGeom prst="rect">
            <a:avLst/>
          </a:prstGeom>
          <a:noFill/>
          <a:ln/>
        </p:spPr>
        <p:txBody>
          <a:bodyPr wrap="square" lIns="762" tIns="762" rIns="762" bIns="762" rtlCol="0" anchor="ctr"/>
          <a:lstStyle/>
          <a:p>
            <a:pPr marL="0" indent="0" algn="ctr">
              <a:spcAft>
                <a:spcPts val="200"/>
              </a:spcAft>
              <a:buNone/>
            </a:pPr>
            <a:r>
              <a:rPr lang="en-US" sz="1500" b="1" dirty="0">
                <a:solidFill>
                  <a:srgbClr val="1E2A5C"/>
                </a:solidFill>
                <a:latin typeface="Pretendard" pitchFamily="34" charset="0"/>
                <a:ea typeface="Pretendard" pitchFamily="34" charset="-122"/>
                <a:cs typeface="Pretendard" pitchFamily="34" charset="-120"/>
              </a:rPr>
              <a:t>2세대 인덱스</a:t>
            </a:r>
            <a:endParaRPr lang="en-US" sz="1500" dirty="0"/>
          </a:p>
          <a:p>
            <a:pPr marL="0" indent="0" algn="ctr">
              <a:spcAft>
                <a:spcPts val="200"/>
              </a:spcAft>
              <a:buNone/>
            </a:pPr>
            <a:r>
              <a:rPr lang="ko-KR" altLang="en-US" sz="1400" dirty="0">
                <a:solidFill>
                  <a:srgbClr val="1E2A5C"/>
                </a:solidFill>
                <a:latin typeface="Pretendard" pitchFamily="34" charset="0"/>
                <a:ea typeface="Pretendard" pitchFamily="34" charset="-122"/>
                <a:cs typeface="Pretendard" pitchFamily="34" charset="-120"/>
              </a:rPr>
              <a:t>색인된 </a:t>
            </a:r>
            <a:r>
              <a:rPr lang="ko-KR" altLang="en-US" sz="1400" dirty="0" err="1">
                <a:solidFill>
                  <a:srgbClr val="1E2A5C"/>
                </a:solidFill>
                <a:latin typeface="Pretendard" pitchFamily="34" charset="0"/>
                <a:ea typeface="Pretendard" pitchFamily="34" charset="-122"/>
                <a:cs typeface="Pretendard" pitchFamily="34" charset="-120"/>
              </a:rPr>
              <a:t>청크</a:t>
            </a:r>
            <a:r>
              <a:rPr lang="en-US" sz="1400" dirty="0">
                <a:solidFill>
                  <a:srgbClr val="1E2A5C"/>
                </a:solidFill>
                <a:latin typeface="Pretendard" pitchFamily="34" charset="0"/>
                <a:ea typeface="Pretendard" pitchFamily="34" charset="-122"/>
                <a:cs typeface="Pretendard" pitchFamily="34" charset="-120"/>
              </a:rPr>
              <a:t> </a:t>
            </a:r>
            <a:r>
              <a:rPr lang="ko-KR" altLang="en-US" sz="1400" dirty="0">
                <a:solidFill>
                  <a:srgbClr val="1E2A5C"/>
                </a:solidFill>
                <a:latin typeface="Pretendard" pitchFamily="34" charset="0"/>
                <a:ea typeface="Pretendard" pitchFamily="34" charset="-122"/>
                <a:cs typeface="Pretendard" pitchFamily="34" charset="-120"/>
              </a:rPr>
              <a:t>수</a:t>
            </a:r>
            <a:r>
              <a:rPr lang="en-US" sz="1400" dirty="0">
                <a:solidFill>
                  <a:srgbClr val="1E2A5C"/>
                </a:solidFill>
                <a:latin typeface="Pretendard" pitchFamily="34" charset="0"/>
                <a:ea typeface="Pretendard" pitchFamily="34" charset="-122"/>
                <a:cs typeface="Pretendard" pitchFamily="34" charset="-120"/>
              </a:rPr>
              <a:t> = </a:t>
            </a:r>
            <a:br>
              <a:rPr lang="en-US" sz="1400" dirty="0">
                <a:solidFill>
                  <a:srgbClr val="1E2A5C"/>
                </a:solidFill>
                <a:latin typeface="Pretendard" pitchFamily="34" charset="0"/>
                <a:ea typeface="Pretendard" pitchFamily="34" charset="-122"/>
                <a:cs typeface="Pretendard" pitchFamily="34" charset="-120"/>
              </a:rPr>
            </a:br>
            <a:r>
              <a:rPr lang="ko-KR" altLang="en-US" sz="1400" dirty="0">
                <a:solidFill>
                  <a:srgbClr val="1E2A5C"/>
                </a:solidFill>
                <a:latin typeface="Pretendard" pitchFamily="34" charset="0"/>
                <a:ea typeface="Pretendard" pitchFamily="34" charset="-122"/>
                <a:cs typeface="Pretendard" pitchFamily="34" charset="-120"/>
              </a:rPr>
              <a:t>색인 대상 </a:t>
            </a:r>
            <a:r>
              <a:rPr lang="ko-KR" altLang="en-US" sz="1400" dirty="0" err="1">
                <a:solidFill>
                  <a:srgbClr val="1E2A5C"/>
                </a:solidFill>
                <a:latin typeface="Pretendard" pitchFamily="34" charset="0"/>
                <a:ea typeface="Pretendard" pitchFamily="34" charset="-122"/>
                <a:cs typeface="Pretendard" pitchFamily="34" charset="-120"/>
              </a:rPr>
              <a:t>청크</a:t>
            </a:r>
            <a:r>
              <a:rPr lang="ko-KR" altLang="en-US" sz="1400" dirty="0">
                <a:solidFill>
                  <a:srgbClr val="1E2A5C"/>
                </a:solidFill>
                <a:latin typeface="Pretendard" pitchFamily="34" charset="0"/>
                <a:ea typeface="Pretendard" pitchFamily="34" charset="-122"/>
                <a:cs typeface="Pretendard" pitchFamily="34" charset="-120"/>
              </a:rPr>
              <a:t> 수</a:t>
            </a:r>
            <a:endParaRPr lang="en-US" sz="1500" dirty="0"/>
          </a:p>
        </p:txBody>
      </p:sp>
      <p:sp>
        <p:nvSpPr>
          <p:cNvPr id="26" name="Shape 23"/>
          <p:cNvSpPr/>
          <p:nvPr/>
        </p:nvSpPr>
        <p:spPr>
          <a:xfrm flipH="1">
            <a:off x="6300521" y="2715768"/>
            <a:ext cx="121920" cy="365760"/>
          </a:xfrm>
          <a:prstGeom prst="line">
            <a:avLst/>
          </a:prstGeom>
          <a:noFill/>
          <a:ln w="25400">
            <a:solidFill>
              <a:srgbClr val="1E2A5C"/>
            </a:solidFill>
            <a:prstDash val="solid"/>
            <a:tailEnd type="triangle"/>
          </a:ln>
        </p:spPr>
        <p:txBody>
          <a:bodyPr/>
          <a:lstStyle/>
          <a:p>
            <a:endParaRPr lang="ko-KR" altLang="en-US"/>
          </a:p>
        </p:txBody>
      </p:sp>
      <p:sp>
        <p:nvSpPr>
          <p:cNvPr id="27" name="Shape 24"/>
          <p:cNvSpPr/>
          <p:nvPr/>
        </p:nvSpPr>
        <p:spPr>
          <a:xfrm>
            <a:off x="9510065" y="3063240"/>
            <a:ext cx="301752" cy="0"/>
          </a:xfrm>
          <a:prstGeom prst="line">
            <a:avLst/>
          </a:prstGeom>
          <a:noFill/>
          <a:ln w="25400">
            <a:solidFill>
              <a:srgbClr val="4A5364"/>
            </a:solidFill>
            <a:prstDash val="solid"/>
            <a:tailEnd type="triangle"/>
          </a:ln>
        </p:spPr>
        <p:txBody>
          <a:bodyPr/>
          <a:lstStyle/>
          <a:p>
            <a:endParaRPr lang="ko-KR" altLang="en-US"/>
          </a:p>
        </p:txBody>
      </p:sp>
      <p:sp>
        <p:nvSpPr>
          <p:cNvPr id="28" name="Shape 25"/>
          <p:cNvSpPr/>
          <p:nvPr/>
        </p:nvSpPr>
        <p:spPr>
          <a:xfrm>
            <a:off x="9866681" y="1737360"/>
            <a:ext cx="4267200" cy="384048"/>
          </a:xfrm>
          <a:prstGeom prst="roundRect">
            <a:avLst>
              <a:gd name="adj" fmla="val 14286"/>
            </a:avLst>
          </a:prstGeom>
          <a:solidFill>
            <a:srgbClr val="2E74C6"/>
          </a:solidFill>
          <a:ln/>
        </p:spPr>
        <p:txBody>
          <a:bodyPr/>
          <a:lstStyle/>
          <a:p>
            <a:endParaRPr lang="ko-KR" altLang="en-US"/>
          </a:p>
        </p:txBody>
      </p:sp>
      <p:sp>
        <p:nvSpPr>
          <p:cNvPr id="29" name="Text 26"/>
          <p:cNvSpPr txBox="1"/>
          <p:nvPr/>
        </p:nvSpPr>
        <p:spPr>
          <a:xfrm>
            <a:off x="9866681" y="1737360"/>
            <a:ext cx="4267200" cy="384048"/>
          </a:xfrm>
          <a:prstGeom prst="rect">
            <a:avLst/>
          </a:prstGeom>
          <a:noFill/>
          <a:ln/>
        </p:spPr>
        <p:txBody>
          <a:bodyPr wrap="square" lIns="1016" tIns="1016" rIns="1016" bIns="1016"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전환 후</a:t>
            </a:r>
            <a:endParaRPr lang="en-US" sz="1700" dirty="0"/>
          </a:p>
        </p:txBody>
      </p:sp>
      <p:sp>
        <p:nvSpPr>
          <p:cNvPr id="30" name="Shape 27"/>
          <p:cNvSpPr/>
          <p:nvPr/>
        </p:nvSpPr>
        <p:spPr>
          <a:xfrm>
            <a:off x="9866681" y="2194560"/>
            <a:ext cx="4267200" cy="1783080"/>
          </a:xfrm>
          <a:prstGeom prst="roundRect">
            <a:avLst>
              <a:gd name="adj" fmla="val 4103"/>
            </a:avLst>
          </a:prstGeom>
          <a:solidFill>
            <a:srgbClr val="FFFFFF"/>
          </a:solidFill>
          <a:ln w="12700">
            <a:solidFill>
              <a:srgbClr val="D9E0EC"/>
            </a:solidFill>
            <a:prstDash val="solid"/>
          </a:ln>
        </p:spPr>
        <p:txBody>
          <a:bodyPr/>
          <a:lstStyle/>
          <a:p>
            <a:endParaRPr lang="ko-KR" altLang="en-US"/>
          </a:p>
        </p:txBody>
      </p:sp>
      <p:sp>
        <p:nvSpPr>
          <p:cNvPr id="31" name="Shape 28"/>
          <p:cNvSpPr/>
          <p:nvPr/>
        </p:nvSpPr>
        <p:spPr>
          <a:xfrm>
            <a:off x="10948721" y="2331720"/>
            <a:ext cx="2103120" cy="365760"/>
          </a:xfrm>
          <a:prstGeom prst="roundRect">
            <a:avLst>
              <a:gd name="adj" fmla="val 45000"/>
            </a:avLst>
          </a:prstGeom>
          <a:solidFill>
            <a:srgbClr val="EEF3FA"/>
          </a:solidFill>
          <a:ln w="12700">
            <a:solidFill>
              <a:srgbClr val="C3CEE0"/>
            </a:solidFill>
            <a:prstDash val="solid"/>
          </a:ln>
        </p:spPr>
        <p:txBody>
          <a:bodyPr/>
          <a:lstStyle/>
          <a:p>
            <a:endParaRPr lang="ko-KR" altLang="en-US"/>
          </a:p>
        </p:txBody>
      </p:sp>
      <p:sp>
        <p:nvSpPr>
          <p:cNvPr id="32" name="Text 29"/>
          <p:cNvSpPr txBox="1"/>
          <p:nvPr/>
        </p:nvSpPr>
        <p:spPr>
          <a:xfrm>
            <a:off x="10948721" y="2331720"/>
            <a:ext cx="2103120" cy="365760"/>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별칭 card_chunks</a:t>
            </a:r>
            <a:endParaRPr lang="en-US" sz="1500" dirty="0"/>
          </a:p>
        </p:txBody>
      </p:sp>
      <p:sp>
        <p:nvSpPr>
          <p:cNvPr id="33" name="Shape 30"/>
          <p:cNvSpPr/>
          <p:nvPr/>
        </p:nvSpPr>
        <p:spPr>
          <a:xfrm>
            <a:off x="10049561" y="3108960"/>
            <a:ext cx="1859280" cy="749808"/>
          </a:xfrm>
          <a:prstGeom prst="roundRect">
            <a:avLst>
              <a:gd name="adj" fmla="val 9756"/>
            </a:avLst>
          </a:prstGeom>
          <a:solidFill>
            <a:srgbClr val="F5F8FC"/>
          </a:solidFill>
          <a:ln w="12700">
            <a:solidFill>
              <a:srgbClr val="D9E0EC"/>
            </a:solidFill>
            <a:prstDash val="solid"/>
          </a:ln>
        </p:spPr>
        <p:txBody>
          <a:bodyPr/>
          <a:lstStyle/>
          <a:p>
            <a:endParaRPr lang="ko-KR" altLang="en-US"/>
          </a:p>
        </p:txBody>
      </p:sp>
      <p:sp>
        <p:nvSpPr>
          <p:cNvPr id="34" name="Text 31"/>
          <p:cNvSpPr txBox="1"/>
          <p:nvPr/>
        </p:nvSpPr>
        <p:spPr>
          <a:xfrm>
            <a:off x="10049561" y="3108960"/>
            <a:ext cx="1859280" cy="749808"/>
          </a:xfrm>
          <a:prstGeom prst="rect">
            <a:avLst/>
          </a:prstGeom>
          <a:noFill/>
          <a:ln/>
        </p:spPr>
        <p:txBody>
          <a:bodyPr wrap="square" lIns="762" tIns="762" rIns="762" bIns="762" rtlCol="0" anchor="ctr"/>
          <a:lstStyle/>
          <a:p>
            <a:pPr marL="0" indent="0" algn="ctr">
              <a:spcAft>
                <a:spcPts val="200"/>
              </a:spcAft>
              <a:buNone/>
            </a:pPr>
            <a:r>
              <a:rPr lang="en-US" sz="1500" b="1" dirty="0">
                <a:solidFill>
                  <a:srgbClr val="7C8598"/>
                </a:solidFill>
                <a:latin typeface="Pretendard" pitchFamily="34" charset="0"/>
                <a:ea typeface="Pretendard" pitchFamily="34" charset="-122"/>
                <a:cs typeface="Pretendard" pitchFamily="34" charset="-120"/>
              </a:rPr>
              <a:t>1세대 인덱스</a:t>
            </a:r>
            <a:endParaRPr lang="en-US" sz="1500" dirty="0"/>
          </a:p>
          <a:p>
            <a:pPr marL="0" indent="0" algn="ctr">
              <a:spcAft>
                <a:spcPts val="200"/>
              </a:spcAft>
              <a:buNone/>
            </a:pPr>
            <a:r>
              <a:rPr lang="en-US" sz="1400" dirty="0">
                <a:solidFill>
                  <a:srgbClr val="7C8598"/>
                </a:solidFill>
                <a:latin typeface="Pretendard" pitchFamily="34" charset="0"/>
                <a:ea typeface="Pretendard" pitchFamily="34" charset="-122"/>
                <a:cs typeface="Pretendard" pitchFamily="34" charset="-120"/>
              </a:rPr>
              <a:t>남겨 둠 (되돌리기용)</a:t>
            </a:r>
            <a:endParaRPr lang="en-US" sz="1500" dirty="0"/>
          </a:p>
        </p:txBody>
      </p:sp>
      <p:sp>
        <p:nvSpPr>
          <p:cNvPr id="35" name="Shape 32"/>
          <p:cNvSpPr/>
          <p:nvPr/>
        </p:nvSpPr>
        <p:spPr>
          <a:xfrm>
            <a:off x="12091721" y="3108960"/>
            <a:ext cx="1859280" cy="749808"/>
          </a:xfrm>
          <a:prstGeom prst="roundRect">
            <a:avLst>
              <a:gd name="adj" fmla="val 9756"/>
            </a:avLst>
          </a:prstGeom>
          <a:solidFill>
            <a:srgbClr val="1E2A5C"/>
          </a:solidFill>
          <a:ln/>
        </p:spPr>
        <p:txBody>
          <a:bodyPr/>
          <a:lstStyle/>
          <a:p>
            <a:endParaRPr lang="ko-KR" altLang="en-US"/>
          </a:p>
        </p:txBody>
      </p:sp>
      <p:sp>
        <p:nvSpPr>
          <p:cNvPr id="36" name="Text 33"/>
          <p:cNvSpPr txBox="1"/>
          <p:nvPr/>
        </p:nvSpPr>
        <p:spPr>
          <a:xfrm>
            <a:off x="12091721" y="3108960"/>
            <a:ext cx="1859280" cy="749808"/>
          </a:xfrm>
          <a:prstGeom prst="rect">
            <a:avLst/>
          </a:prstGeom>
          <a:noFill/>
          <a:ln/>
        </p:spPr>
        <p:txBody>
          <a:bodyPr wrap="square" lIns="762" tIns="762" rIns="762" bIns="762" rtlCol="0" anchor="ctr"/>
          <a:lstStyle/>
          <a:p>
            <a:pPr marL="0" indent="0" algn="ctr">
              <a:spcAft>
                <a:spcPts val="200"/>
              </a:spcAft>
              <a:buNone/>
            </a:pPr>
            <a:r>
              <a:rPr lang="en-US" sz="1500" b="1" dirty="0">
                <a:solidFill>
                  <a:srgbClr val="FFFFFF"/>
                </a:solidFill>
                <a:latin typeface="Pretendard" pitchFamily="34" charset="0"/>
                <a:ea typeface="Pretendard" pitchFamily="34" charset="-122"/>
                <a:cs typeface="Pretendard" pitchFamily="34" charset="-120"/>
              </a:rPr>
              <a:t>2세대 인덱스</a:t>
            </a:r>
            <a:endParaRPr lang="en-US" sz="15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사용 중</a:t>
            </a:r>
            <a:endParaRPr lang="en-US" sz="1500" dirty="0"/>
          </a:p>
        </p:txBody>
      </p:sp>
      <p:sp>
        <p:nvSpPr>
          <p:cNvPr id="37" name="Shape 34"/>
          <p:cNvSpPr/>
          <p:nvPr/>
        </p:nvSpPr>
        <p:spPr>
          <a:xfrm>
            <a:off x="12000281" y="2715768"/>
            <a:ext cx="1021080" cy="365760"/>
          </a:xfrm>
          <a:prstGeom prst="line">
            <a:avLst/>
          </a:prstGeom>
          <a:noFill/>
          <a:ln w="25400">
            <a:solidFill>
              <a:srgbClr val="1E2A5C"/>
            </a:solidFill>
            <a:prstDash val="solid"/>
            <a:tailEnd type="triangle"/>
          </a:ln>
        </p:spPr>
        <p:txBody>
          <a:bodyPr/>
          <a:lstStyle/>
          <a:p>
            <a:endParaRPr lang="ko-KR" altLang="en-US"/>
          </a:p>
        </p:txBody>
      </p:sp>
      <p:sp>
        <p:nvSpPr>
          <p:cNvPr id="38" name="Shape 35"/>
          <p:cNvSpPr/>
          <p:nvPr/>
        </p:nvSpPr>
        <p:spPr>
          <a:xfrm>
            <a:off x="509321" y="4160520"/>
            <a:ext cx="2194560" cy="347472"/>
          </a:xfrm>
          <a:prstGeom prst="roundRect">
            <a:avLst>
              <a:gd name="adj" fmla="val 13158"/>
            </a:avLst>
          </a:prstGeom>
          <a:solidFill>
            <a:srgbClr val="404155"/>
          </a:solidFill>
          <a:ln/>
        </p:spPr>
        <p:txBody>
          <a:bodyPr/>
          <a:lstStyle/>
          <a:p>
            <a:endParaRPr lang="ko-KR" altLang="en-US"/>
          </a:p>
        </p:txBody>
      </p:sp>
      <p:sp>
        <p:nvSpPr>
          <p:cNvPr id="39" name="Text 36"/>
          <p:cNvSpPr txBox="1"/>
          <p:nvPr/>
        </p:nvSpPr>
        <p:spPr>
          <a:xfrm>
            <a:off x="509321" y="4160520"/>
            <a:ext cx="2194560" cy="34747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두 번 나눠 부르면</a:t>
            </a:r>
            <a:endParaRPr lang="en-US" sz="1500" dirty="0"/>
          </a:p>
        </p:txBody>
      </p:sp>
      <p:sp>
        <p:nvSpPr>
          <p:cNvPr id="40" name="Shape 37"/>
          <p:cNvSpPr/>
          <p:nvPr/>
        </p:nvSpPr>
        <p:spPr>
          <a:xfrm>
            <a:off x="7458761" y="4160520"/>
            <a:ext cx="2651760" cy="347472"/>
          </a:xfrm>
          <a:prstGeom prst="roundRect">
            <a:avLst>
              <a:gd name="adj" fmla="val 13158"/>
            </a:avLst>
          </a:prstGeom>
          <a:solidFill>
            <a:srgbClr val="2E74C6"/>
          </a:solidFill>
          <a:ln/>
        </p:spPr>
        <p:txBody>
          <a:bodyPr/>
          <a:lstStyle/>
          <a:p>
            <a:endParaRPr lang="ko-KR" altLang="en-US"/>
          </a:p>
        </p:txBody>
      </p:sp>
      <p:sp>
        <p:nvSpPr>
          <p:cNvPr id="41" name="Text 38"/>
          <p:cNvSpPr txBox="1"/>
          <p:nvPr/>
        </p:nvSpPr>
        <p:spPr>
          <a:xfrm>
            <a:off x="7458761" y="4160520"/>
            <a:ext cx="2651760" cy="34747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update_aliases 한 요청</a:t>
            </a:r>
            <a:endParaRPr lang="en-US" sz="1500" dirty="0"/>
          </a:p>
        </p:txBody>
      </p:sp>
      <p:sp>
        <p:nvSpPr>
          <p:cNvPr id="42" name="Shape 39"/>
          <p:cNvSpPr/>
          <p:nvPr/>
        </p:nvSpPr>
        <p:spPr>
          <a:xfrm>
            <a:off x="509321" y="4599432"/>
            <a:ext cx="2011680" cy="777240"/>
          </a:xfrm>
          <a:prstGeom prst="roundRect">
            <a:avLst>
              <a:gd name="adj" fmla="val 9412"/>
            </a:avLst>
          </a:prstGeom>
          <a:solidFill>
            <a:srgbClr val="FFFFFF"/>
          </a:solidFill>
          <a:ln w="12700">
            <a:solidFill>
              <a:srgbClr val="D9E0EC"/>
            </a:solidFill>
            <a:prstDash val="solid"/>
          </a:ln>
        </p:spPr>
        <p:txBody>
          <a:bodyPr/>
          <a:lstStyle/>
          <a:p>
            <a:endParaRPr lang="ko-KR" altLang="en-US"/>
          </a:p>
        </p:txBody>
      </p:sp>
      <p:sp>
        <p:nvSpPr>
          <p:cNvPr id="43" name="Text 40"/>
          <p:cNvSpPr txBox="1"/>
          <p:nvPr/>
        </p:nvSpPr>
        <p:spPr>
          <a:xfrm>
            <a:off x="509321" y="4599432"/>
            <a:ext cx="2011680" cy="77724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2B3242"/>
                </a:solidFill>
                <a:latin typeface="Pretendard" pitchFamily="34" charset="0"/>
                <a:ea typeface="Pretendard" pitchFamily="34" charset="-122"/>
                <a:cs typeface="Pretendard" pitchFamily="34" charset="-120"/>
              </a:rPr>
              <a:t>remove</a:t>
            </a:r>
            <a:endParaRPr lang="en-US" sz="1500" dirty="0"/>
          </a:p>
          <a:p>
            <a:pPr marL="0" indent="0" algn="ctr">
              <a:spcAft>
                <a:spcPts val="200"/>
              </a:spcAft>
              <a:buNone/>
            </a:pPr>
            <a:r>
              <a:rPr lang="en-US" sz="1400" dirty="0">
                <a:solidFill>
                  <a:srgbClr val="2B3242"/>
                </a:solidFill>
                <a:latin typeface="Pretendard" pitchFamily="34" charset="0"/>
                <a:ea typeface="Pretendard" pitchFamily="34" charset="-122"/>
                <a:cs typeface="Pretendard" pitchFamily="34" charset="-120"/>
              </a:rPr>
              <a:t>1세대에서 뺌</a:t>
            </a:r>
            <a:endParaRPr lang="en-US" sz="1500" dirty="0"/>
          </a:p>
        </p:txBody>
      </p:sp>
      <p:sp>
        <p:nvSpPr>
          <p:cNvPr id="44" name="Shape 41"/>
          <p:cNvSpPr/>
          <p:nvPr/>
        </p:nvSpPr>
        <p:spPr>
          <a:xfrm>
            <a:off x="2557577" y="4988052"/>
            <a:ext cx="246888" cy="0"/>
          </a:xfrm>
          <a:prstGeom prst="line">
            <a:avLst/>
          </a:prstGeom>
          <a:noFill/>
          <a:ln w="19050">
            <a:solidFill>
              <a:srgbClr val="4A5364"/>
            </a:solidFill>
            <a:prstDash val="solid"/>
            <a:tailEnd type="triangle"/>
          </a:ln>
        </p:spPr>
        <p:txBody>
          <a:bodyPr/>
          <a:lstStyle/>
          <a:p>
            <a:endParaRPr lang="ko-KR" altLang="en-US"/>
          </a:p>
        </p:txBody>
      </p:sp>
      <p:sp>
        <p:nvSpPr>
          <p:cNvPr id="45" name="Shape 42"/>
          <p:cNvSpPr/>
          <p:nvPr/>
        </p:nvSpPr>
        <p:spPr>
          <a:xfrm>
            <a:off x="2841041" y="4599432"/>
            <a:ext cx="2011680" cy="777240"/>
          </a:xfrm>
          <a:prstGeom prst="roundRect">
            <a:avLst>
              <a:gd name="adj" fmla="val 9412"/>
            </a:avLst>
          </a:prstGeom>
          <a:solidFill>
            <a:srgbClr val="404155"/>
          </a:solidFill>
          <a:ln/>
        </p:spPr>
        <p:txBody>
          <a:bodyPr/>
          <a:lstStyle/>
          <a:p>
            <a:endParaRPr lang="ko-KR" altLang="en-US"/>
          </a:p>
        </p:txBody>
      </p:sp>
      <p:sp>
        <p:nvSpPr>
          <p:cNvPr id="46" name="Text 43"/>
          <p:cNvSpPr txBox="1"/>
          <p:nvPr/>
        </p:nvSpPr>
        <p:spPr>
          <a:xfrm>
            <a:off x="2841041" y="4599432"/>
            <a:ext cx="2011680" cy="77724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FFFFFF"/>
                </a:solidFill>
                <a:latin typeface="Pretendard" pitchFamily="34" charset="0"/>
                <a:ea typeface="Pretendard" pitchFamily="34" charset="-122"/>
                <a:cs typeface="Pretendard" pitchFamily="34" charset="-120"/>
              </a:rPr>
              <a:t>별칭이 비어 있음</a:t>
            </a:r>
            <a:endParaRPr lang="en-US" sz="15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이 사이 검색 0건</a:t>
            </a:r>
            <a:endParaRPr lang="en-US" sz="1500" dirty="0"/>
          </a:p>
        </p:txBody>
      </p:sp>
      <p:sp>
        <p:nvSpPr>
          <p:cNvPr id="47" name="Shape 44"/>
          <p:cNvSpPr/>
          <p:nvPr/>
        </p:nvSpPr>
        <p:spPr>
          <a:xfrm>
            <a:off x="4889297" y="4988052"/>
            <a:ext cx="246888" cy="0"/>
          </a:xfrm>
          <a:prstGeom prst="line">
            <a:avLst/>
          </a:prstGeom>
          <a:noFill/>
          <a:ln w="19050">
            <a:solidFill>
              <a:srgbClr val="4A5364"/>
            </a:solidFill>
            <a:prstDash val="solid"/>
            <a:tailEnd type="triangle"/>
          </a:ln>
        </p:spPr>
        <p:txBody>
          <a:bodyPr/>
          <a:lstStyle/>
          <a:p>
            <a:endParaRPr lang="ko-KR" altLang="en-US"/>
          </a:p>
        </p:txBody>
      </p:sp>
      <p:sp>
        <p:nvSpPr>
          <p:cNvPr id="48" name="Shape 45"/>
          <p:cNvSpPr/>
          <p:nvPr/>
        </p:nvSpPr>
        <p:spPr>
          <a:xfrm>
            <a:off x="5172761" y="4599432"/>
            <a:ext cx="2011680" cy="777240"/>
          </a:xfrm>
          <a:prstGeom prst="roundRect">
            <a:avLst>
              <a:gd name="adj" fmla="val 9412"/>
            </a:avLst>
          </a:prstGeom>
          <a:solidFill>
            <a:srgbClr val="FFFFFF"/>
          </a:solidFill>
          <a:ln w="12700">
            <a:solidFill>
              <a:srgbClr val="D9E0EC"/>
            </a:solidFill>
            <a:prstDash val="solid"/>
          </a:ln>
        </p:spPr>
        <p:txBody>
          <a:bodyPr/>
          <a:lstStyle/>
          <a:p>
            <a:endParaRPr lang="ko-KR" altLang="en-US"/>
          </a:p>
        </p:txBody>
      </p:sp>
      <p:sp>
        <p:nvSpPr>
          <p:cNvPr id="49" name="Text 46"/>
          <p:cNvSpPr txBox="1"/>
          <p:nvPr/>
        </p:nvSpPr>
        <p:spPr>
          <a:xfrm>
            <a:off x="5172761" y="4599432"/>
            <a:ext cx="2011680" cy="77724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2B3242"/>
                </a:solidFill>
                <a:latin typeface="Pretendard" pitchFamily="34" charset="0"/>
                <a:ea typeface="Pretendard" pitchFamily="34" charset="-122"/>
                <a:cs typeface="Pretendard" pitchFamily="34" charset="-120"/>
              </a:rPr>
              <a:t>add</a:t>
            </a:r>
            <a:endParaRPr lang="en-US" sz="1500" dirty="0"/>
          </a:p>
          <a:p>
            <a:pPr marL="0" indent="0" algn="ctr">
              <a:spcAft>
                <a:spcPts val="200"/>
              </a:spcAft>
              <a:buNone/>
            </a:pPr>
            <a:r>
              <a:rPr lang="en-US" sz="1400" dirty="0">
                <a:solidFill>
                  <a:srgbClr val="2B3242"/>
                </a:solidFill>
                <a:latin typeface="Pretendard" pitchFamily="34" charset="0"/>
                <a:ea typeface="Pretendard" pitchFamily="34" charset="-122"/>
                <a:cs typeface="Pretendard" pitchFamily="34" charset="-120"/>
              </a:rPr>
              <a:t>2세대에 붙임</a:t>
            </a:r>
            <a:endParaRPr lang="en-US" sz="1500" dirty="0"/>
          </a:p>
        </p:txBody>
      </p:sp>
      <p:sp>
        <p:nvSpPr>
          <p:cNvPr id="50" name="Shape 47"/>
          <p:cNvSpPr/>
          <p:nvPr/>
        </p:nvSpPr>
        <p:spPr>
          <a:xfrm>
            <a:off x="7458761" y="4599432"/>
            <a:ext cx="3871570" cy="777240"/>
          </a:xfrm>
          <a:prstGeom prst="roundRect">
            <a:avLst>
              <a:gd name="adj" fmla="val 9412"/>
            </a:avLst>
          </a:prstGeom>
          <a:solidFill>
            <a:srgbClr val="EEF3FA"/>
          </a:solidFill>
          <a:ln w="12700">
            <a:solidFill>
              <a:srgbClr val="2E74C6"/>
            </a:solidFill>
            <a:prstDash val="solid"/>
          </a:ln>
        </p:spPr>
        <p:txBody>
          <a:bodyPr/>
          <a:lstStyle/>
          <a:p>
            <a:endParaRPr lang="ko-KR" altLang="en-US"/>
          </a:p>
        </p:txBody>
      </p:sp>
      <p:sp>
        <p:nvSpPr>
          <p:cNvPr id="51" name="Text 48"/>
          <p:cNvSpPr txBox="1"/>
          <p:nvPr/>
        </p:nvSpPr>
        <p:spPr>
          <a:xfrm>
            <a:off x="7458761" y="4599432"/>
            <a:ext cx="3871570" cy="77724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1E2A5C"/>
                </a:solidFill>
                <a:latin typeface="Pretendard" pitchFamily="34" charset="0"/>
                <a:ea typeface="Pretendard" pitchFamily="34" charset="-122"/>
                <a:cs typeface="Pretendard" pitchFamily="34" charset="-120"/>
              </a:rPr>
              <a:t>remove 1세대 + add 2세대</a:t>
            </a:r>
            <a:endParaRPr lang="en-US" sz="1500" dirty="0"/>
          </a:p>
          <a:p>
            <a:pPr marL="0" indent="0" algn="ctr">
              <a:spcAft>
                <a:spcPts val="200"/>
              </a:spcAft>
              <a:buNone/>
            </a:pPr>
            <a:r>
              <a:rPr lang="en-US" sz="1600" b="1" dirty="0">
                <a:solidFill>
                  <a:srgbClr val="FF0000"/>
                </a:solidFill>
                <a:latin typeface="Pretendard" pitchFamily="34" charset="0"/>
                <a:ea typeface="Pretendard" pitchFamily="34" charset="-122"/>
                <a:cs typeface="Pretendard" pitchFamily="34" charset="-120"/>
              </a:rPr>
              <a:t>한 요청에 함께 넣음</a:t>
            </a:r>
            <a:endParaRPr lang="en-US" sz="1500" b="1" dirty="0">
              <a:solidFill>
                <a:srgbClr val="FF0000"/>
              </a:solidFill>
            </a:endParaRPr>
          </a:p>
        </p:txBody>
      </p:sp>
      <p:sp>
        <p:nvSpPr>
          <p:cNvPr id="52" name="Shape 49"/>
          <p:cNvSpPr/>
          <p:nvPr/>
        </p:nvSpPr>
        <p:spPr>
          <a:xfrm>
            <a:off x="11366906" y="4988052"/>
            <a:ext cx="246888" cy="0"/>
          </a:xfrm>
          <a:prstGeom prst="line">
            <a:avLst/>
          </a:prstGeom>
          <a:noFill/>
          <a:ln w="19050">
            <a:solidFill>
              <a:srgbClr val="4A5364"/>
            </a:solidFill>
            <a:prstDash val="solid"/>
            <a:tailEnd type="triangle"/>
          </a:ln>
        </p:spPr>
        <p:txBody>
          <a:bodyPr/>
          <a:lstStyle/>
          <a:p>
            <a:endParaRPr lang="ko-KR" altLang="en-US"/>
          </a:p>
        </p:txBody>
      </p:sp>
      <p:sp>
        <p:nvSpPr>
          <p:cNvPr id="53" name="Shape 50"/>
          <p:cNvSpPr/>
          <p:nvPr/>
        </p:nvSpPr>
        <p:spPr>
          <a:xfrm>
            <a:off x="11650370" y="4599432"/>
            <a:ext cx="2483510" cy="777240"/>
          </a:xfrm>
          <a:prstGeom prst="roundRect">
            <a:avLst>
              <a:gd name="adj" fmla="val 9412"/>
            </a:avLst>
          </a:prstGeom>
          <a:solidFill>
            <a:srgbClr val="2E74C6"/>
          </a:solidFill>
          <a:ln/>
        </p:spPr>
        <p:txBody>
          <a:bodyPr/>
          <a:lstStyle/>
          <a:p>
            <a:endParaRPr lang="ko-KR" altLang="en-US"/>
          </a:p>
        </p:txBody>
      </p:sp>
      <p:sp>
        <p:nvSpPr>
          <p:cNvPr id="54" name="Text 51"/>
          <p:cNvSpPr txBox="1"/>
          <p:nvPr/>
        </p:nvSpPr>
        <p:spPr>
          <a:xfrm>
            <a:off x="11650370" y="4599432"/>
            <a:ext cx="2483510" cy="777240"/>
          </a:xfrm>
          <a:prstGeom prst="rect">
            <a:avLst/>
          </a:prstGeom>
          <a:noFill/>
          <a:ln/>
        </p:spPr>
        <p:txBody>
          <a:bodyPr wrap="square" lIns="762" tIns="762" rIns="762" bIns="762" rtlCol="0" anchor="ctr"/>
          <a:lstStyle/>
          <a:p>
            <a:pPr marL="0" indent="0" algn="ctr">
              <a:spcAft>
                <a:spcPts val="200"/>
              </a:spcAft>
              <a:buNone/>
            </a:pPr>
            <a:r>
              <a:rPr lang="en-US" sz="1500" b="1" dirty="0">
                <a:solidFill>
                  <a:srgbClr val="FFFFFF"/>
                </a:solidFill>
                <a:latin typeface="Pretendard" pitchFamily="34" charset="0"/>
                <a:ea typeface="Pretendard" pitchFamily="34" charset="-122"/>
                <a:cs typeface="Pretendard" pitchFamily="34" charset="-120"/>
              </a:rPr>
              <a:t>빈 순간 없음</a:t>
            </a:r>
            <a:endParaRPr lang="en-US" sz="1500" dirty="0"/>
          </a:p>
          <a:p>
            <a:pPr marL="0" indent="0" algn="ctr">
              <a:spcAft>
                <a:spcPts val="200"/>
              </a:spcAft>
              <a:buNone/>
            </a:pPr>
            <a:r>
              <a:rPr lang="en-US" sz="1400" dirty="0">
                <a:solidFill>
                  <a:srgbClr val="FFFFFF"/>
                </a:solidFill>
                <a:latin typeface="Pretendard" pitchFamily="34" charset="0"/>
                <a:ea typeface="Pretendard" pitchFamily="34" charset="-122"/>
                <a:cs typeface="Pretendard" pitchFamily="34" charset="-120"/>
              </a:rPr>
              <a:t>검색은 늘 한 세대를 봄</a:t>
            </a:r>
            <a:endParaRPr lang="en-US" sz="1500" dirty="0"/>
          </a:p>
        </p:txBody>
      </p:sp>
      <p:sp>
        <p:nvSpPr>
          <p:cNvPr id="55" name="Shape 52"/>
          <p:cNvSpPr/>
          <p:nvPr/>
        </p:nvSpPr>
        <p:spPr>
          <a:xfrm>
            <a:off x="509321" y="5577840"/>
            <a:ext cx="7498080" cy="1691640"/>
          </a:xfrm>
          <a:prstGeom prst="roundRect">
            <a:avLst>
              <a:gd name="adj" fmla="val 3243"/>
            </a:avLst>
          </a:prstGeom>
          <a:solidFill>
            <a:srgbClr val="F5F8FC"/>
          </a:solidFill>
          <a:ln w="12700">
            <a:solidFill>
              <a:srgbClr val="D9E0EC"/>
            </a:solidFill>
            <a:prstDash val="solid"/>
          </a:ln>
        </p:spPr>
        <p:txBody>
          <a:bodyPr/>
          <a:lstStyle/>
          <a:p>
            <a:endParaRPr lang="ko-KR" altLang="en-US"/>
          </a:p>
        </p:txBody>
      </p:sp>
      <p:sp>
        <p:nvSpPr>
          <p:cNvPr id="56" name="Text 53"/>
          <p:cNvSpPr txBox="1"/>
          <p:nvPr/>
        </p:nvSpPr>
        <p:spPr>
          <a:xfrm>
            <a:off x="619049" y="5650992"/>
            <a:ext cx="7278624" cy="310896"/>
          </a:xfrm>
          <a:prstGeom prst="rect">
            <a:avLst/>
          </a:prstGeom>
          <a:noFill/>
          <a:ln/>
        </p:spPr>
        <p:txBody>
          <a:bodyPr wrap="square" lIns="762" tIns="762" rIns="762" bIns="762" rtlCol="0" anchor="ctr"/>
          <a:lstStyle/>
          <a:p>
            <a:pPr marL="0" indent="0" algn="l">
              <a:buNone/>
            </a:pPr>
            <a:r>
              <a:rPr lang="ko-KR" altLang="en-US" sz="1400" b="1" dirty="0">
                <a:solidFill>
                  <a:srgbClr val="7C8598"/>
                </a:solidFill>
                <a:latin typeface="Pretendard" pitchFamily="34" charset="0"/>
                <a:ea typeface="Pretendard" pitchFamily="34" charset="-122"/>
                <a:cs typeface="Pretendard" pitchFamily="34" charset="-120"/>
              </a:rPr>
              <a:t>예제 코드</a:t>
            </a:r>
            <a:endParaRPr lang="en-US" sz="1400" dirty="0"/>
          </a:p>
        </p:txBody>
      </p:sp>
      <p:sp>
        <p:nvSpPr>
          <p:cNvPr id="57" name="Text 54"/>
          <p:cNvSpPr txBox="1"/>
          <p:nvPr/>
        </p:nvSpPr>
        <p:spPr>
          <a:xfrm>
            <a:off x="619049" y="5980176"/>
            <a:ext cx="7278624" cy="1234440"/>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previous = resolve_alias(client, alias)   # 지금 별칭이 가리키는 세대</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actions = [{"remove": {"index": name, "alias": alias}}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for name in previous]</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actions.append({"add": {"index": new_index, "alias": alias}})</a:t>
            </a:r>
            <a:endParaRPr lang="en-US" sz="1400" dirty="0"/>
          </a:p>
          <a:p>
            <a:pPr marL="0" indent="0">
              <a:lnSpc>
                <a:spcPct val="105000"/>
              </a:lnSpc>
              <a:buNone/>
            </a:pPr>
            <a:r>
              <a:rPr lang="en-US" sz="1400" b="1" dirty="0">
                <a:solidFill>
                  <a:srgbClr val="FF0000"/>
                </a:solidFill>
                <a:latin typeface="Pretendard" pitchFamily="34" charset="0"/>
                <a:ea typeface="Pretendard" pitchFamily="34" charset="-122"/>
                <a:cs typeface="Pretendard" pitchFamily="34" charset="-120"/>
              </a:rPr>
              <a:t>client.indices.update_aliases(body={"actions": actions})  # 한 요청</a:t>
            </a:r>
            <a:endParaRPr lang="en-US" sz="1400" b="1" dirty="0">
              <a:solidFill>
                <a:srgbClr val="FF0000"/>
              </a:solidFill>
            </a:endParaRPr>
          </a:p>
        </p:txBody>
      </p:sp>
      <p:sp>
        <p:nvSpPr>
          <p:cNvPr id="58" name="Shape 55"/>
          <p:cNvSpPr/>
          <p:nvPr/>
        </p:nvSpPr>
        <p:spPr>
          <a:xfrm>
            <a:off x="8281721" y="5577840"/>
            <a:ext cx="5852160" cy="411480"/>
          </a:xfrm>
          <a:prstGeom prst="roundRect">
            <a:avLst>
              <a:gd name="adj" fmla="val 17778"/>
            </a:avLst>
          </a:prstGeom>
          <a:solidFill>
            <a:srgbClr val="2E74C6"/>
          </a:solidFill>
          <a:ln/>
        </p:spPr>
        <p:txBody>
          <a:bodyPr/>
          <a:lstStyle/>
          <a:p>
            <a:endParaRPr lang="ko-KR" altLang="en-US"/>
          </a:p>
        </p:txBody>
      </p:sp>
      <p:sp>
        <p:nvSpPr>
          <p:cNvPr id="59" name="Text 56"/>
          <p:cNvSpPr txBox="1"/>
          <p:nvPr/>
        </p:nvSpPr>
        <p:spPr>
          <a:xfrm>
            <a:off x="8281721" y="5577840"/>
            <a:ext cx="5852160" cy="41148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되돌리기: 같은 함수에 1세대 인덱스를 넘김</a:t>
            </a:r>
            <a:endParaRPr lang="en-US" sz="1500" dirty="0"/>
          </a:p>
        </p:txBody>
      </p:sp>
      <p:sp>
        <p:nvSpPr>
          <p:cNvPr id="60" name="Shape 57"/>
          <p:cNvSpPr/>
          <p:nvPr/>
        </p:nvSpPr>
        <p:spPr>
          <a:xfrm>
            <a:off x="8281721" y="6062472"/>
            <a:ext cx="5852160" cy="749808"/>
          </a:xfrm>
          <a:prstGeom prst="roundRect">
            <a:avLst>
              <a:gd name="adj" fmla="val 9756"/>
            </a:avLst>
          </a:prstGeom>
          <a:solidFill>
            <a:srgbClr val="EEF3FA"/>
          </a:solidFill>
          <a:ln w="12700">
            <a:solidFill>
              <a:srgbClr val="D9E0EC"/>
            </a:solidFill>
            <a:prstDash val="solid"/>
          </a:ln>
        </p:spPr>
        <p:txBody>
          <a:bodyPr/>
          <a:lstStyle/>
          <a:p>
            <a:endParaRPr lang="ko-KR" altLang="en-US"/>
          </a:p>
        </p:txBody>
      </p:sp>
      <p:sp>
        <p:nvSpPr>
          <p:cNvPr id="61" name="Text 58"/>
          <p:cNvSpPr txBox="1"/>
          <p:nvPr/>
        </p:nvSpPr>
        <p:spPr>
          <a:xfrm>
            <a:off x="8281721" y="6062472"/>
            <a:ext cx="5852160" cy="749808"/>
          </a:xfrm>
          <a:prstGeom prst="rect">
            <a:avLst/>
          </a:prstGeom>
          <a:noFill/>
          <a:ln/>
        </p:spPr>
        <p:txBody>
          <a:bodyPr wrap="square" lIns="762" tIns="762" rIns="762" bIns="762" rtlCol="0" anchor="ctr"/>
          <a:lstStyle/>
          <a:p>
            <a:pPr marL="0" indent="0" algn="ctr">
              <a:spcAft>
                <a:spcPts val="200"/>
              </a:spcAft>
              <a:buNone/>
            </a:pPr>
            <a:r>
              <a:rPr lang="en-US" sz="1500" b="1" dirty="0">
                <a:solidFill>
                  <a:srgbClr val="1E2A5C"/>
                </a:solidFill>
                <a:latin typeface="Pretendard" pitchFamily="34" charset="0"/>
                <a:ea typeface="Pretendard" pitchFamily="34" charset="-122"/>
                <a:cs typeface="Pretendard" pitchFamily="34" charset="-120"/>
              </a:rPr>
              <a:t>시험: 전환 세 번 모두 통과</a:t>
            </a:r>
            <a:endParaRPr lang="en-US" sz="1500" dirty="0"/>
          </a:p>
          <a:p>
            <a:pPr marL="0" indent="0" algn="ctr">
              <a:spcAft>
                <a:spcPts val="200"/>
              </a:spcAft>
              <a:buNone/>
            </a:pPr>
            <a:r>
              <a:rPr lang="en-US" sz="1400" dirty="0">
                <a:solidFill>
                  <a:srgbClr val="1E2A5C"/>
                </a:solidFill>
                <a:latin typeface="Pretendard" pitchFamily="34" charset="0"/>
                <a:ea typeface="Pretendard" pitchFamily="34" charset="-122"/>
                <a:cs typeface="Pretendard" pitchFamily="34" charset="-120"/>
              </a:rPr>
              <a:t>없음 → 1세대, 1세대 → 2세대, 2세대 → 1세대(</a:t>
            </a:r>
            <a:r>
              <a:rPr lang="en-US" sz="1400" dirty="0" err="1">
                <a:solidFill>
                  <a:srgbClr val="1E2A5C"/>
                </a:solidFill>
                <a:latin typeface="Pretendard" pitchFamily="34" charset="0"/>
                <a:ea typeface="Pretendard" pitchFamily="34" charset="-122"/>
                <a:cs typeface="Pretendard" pitchFamily="34" charset="-120"/>
              </a:rPr>
              <a:t>되돌리기</a:t>
            </a:r>
            <a:r>
              <a:rPr lang="en-US" sz="1400" dirty="0">
                <a:solidFill>
                  <a:srgbClr val="1E2A5C"/>
                </a:solidFill>
                <a:latin typeface="Pretendard" pitchFamily="34" charset="0"/>
                <a:ea typeface="Pretendard" pitchFamily="34" charset="-122"/>
                <a:cs typeface="Pretendard" pitchFamily="34" charset="-120"/>
              </a:rPr>
              <a:t>)</a:t>
            </a:r>
            <a:endParaRPr lang="en-US" sz="1500" dirty="0"/>
          </a:p>
        </p:txBody>
      </p:sp>
      <p:sp>
        <p:nvSpPr>
          <p:cNvPr id="62" name="Shape 59"/>
          <p:cNvSpPr/>
          <p:nvPr/>
        </p:nvSpPr>
        <p:spPr>
          <a:xfrm>
            <a:off x="8281721" y="6885432"/>
            <a:ext cx="64008" cy="384048"/>
          </a:xfrm>
          <a:prstGeom prst="rect">
            <a:avLst/>
          </a:prstGeom>
          <a:solidFill>
            <a:srgbClr val="2E74C6"/>
          </a:solidFill>
          <a:ln/>
        </p:spPr>
        <p:txBody>
          <a:bodyPr/>
          <a:lstStyle/>
          <a:p>
            <a:endParaRPr lang="ko-KR" altLang="en-US"/>
          </a:p>
        </p:txBody>
      </p:sp>
      <p:sp>
        <p:nvSpPr>
          <p:cNvPr id="63" name="Text 60"/>
          <p:cNvSpPr txBox="1"/>
          <p:nvPr/>
        </p:nvSpPr>
        <p:spPr>
          <a:xfrm>
            <a:off x="8446313" y="6885432"/>
            <a:ext cx="5687568" cy="384048"/>
          </a:xfrm>
          <a:prstGeom prst="rect">
            <a:avLst/>
          </a:prstGeom>
          <a:noFill/>
          <a:ln/>
        </p:spPr>
        <p:txBody>
          <a:bodyPr wrap="square" lIns="762" tIns="762" rIns="762" bIns="762"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그래프(Neo4j) 세대도 같은 순간에 바꿔야 함. 예제는 검색 엔진 쪽만 구현</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p:cNvPicPr>
            <a:picLocks noChangeAspect="1"/>
          </p:cNvPicPr>
          <p:nvPr/>
        </p:nvPicPr>
        <p:blipFill>
          <a:blip r:embed="rId3"/>
          <a:stretch>
            <a:fillRect/>
          </a:stretch>
        </p:blipFill>
        <p:spPr>
          <a:xfrm>
            <a:off x="0" y="0"/>
            <a:ext cx="14630400" cy="8229600"/>
          </a:xfrm>
          <a:prstGeom prst="rect">
            <a:avLst/>
          </a:prstGeom>
        </p:spPr>
      </p:pic>
      <p:sp>
        <p:nvSpPr>
          <p:cNvPr id="4" name="Text 1">
            <a:extLst>
              <a:ext uri="{FF2B5EF4-FFF2-40B4-BE49-F238E27FC236}">
                <a16:creationId xmlns:a16="http://schemas.microsoft.com/office/drawing/2014/main" id="{402037DB-E2B0-4ACA-9B66-CBAC0A74D4F9}"/>
              </a:ext>
            </a:extLst>
          </p:cNvPr>
          <p:cNvSpPr>
            <a:spLocks noGrp="1"/>
          </p:cNvSpPr>
          <p:nvPr/>
        </p:nvSpPr>
        <p:spPr>
          <a:xfrm>
            <a:off x="561442" y="2796740"/>
            <a:ext cx="13042821" cy="2126456"/>
          </a:xfrm>
          <a:prstGeom prst="rect">
            <a:avLst/>
          </a:prstGeom>
          <a:noFill/>
        </p:spPr>
        <p:txBody>
          <a:bodyPr wrap="none" lIns="0" tIns="0" rIns="0" bIns="0" anchor="t"/>
          <a:lstStyle/>
          <a:p>
            <a:pPr marL="0" indent="0" algn="l">
              <a:lnSpc>
                <a:spcPts val="16700"/>
              </a:lnSpc>
              <a:buNone/>
            </a:pPr>
            <a:r>
              <a:rPr sz="13350">
                <a:solidFill>
                  <a:srgbClr val="1B1B27"/>
                </a:solidFill>
                <a:latin typeface="Chilgok Gwon Anja"/>
                <a:ea typeface="Chilgok Gwon Anja"/>
                <a:cs typeface="Chilgok Gwon Anja"/>
              </a:rPr>
              <a:t>Q&amp;A</a:t>
            </a:r>
            <a:endParaRPr sz="13350">
              <a:latin typeface="Chilgok Gwon Anja"/>
              <a:ea typeface="Chilgok Gwon Anja"/>
              <a:cs typeface="Chilgok Gwon Anja"/>
            </a:endParaRPr>
          </a:p>
        </p:txBody>
      </p:sp>
    </p:spTree>
    <p:extLst>
      <p:ext uri="{BB962C8B-B14F-4D97-AF65-F5344CB8AC3E}">
        <p14:creationId xmlns:p14="http://schemas.microsoft.com/office/powerpoint/2010/main" val="739755142"/>
      </p:ext>
    </p:extLst>
  </p:cSld>
  <p:clrMapOvr>
    <a:masterClrMapping/>
  </p:clrMapOvr>
</p:sld>
</file>

<file path=ppt/theme/theme1.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필수] 내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필수] Section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필수] 강의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C725160-ACE7-4F0C-B26E-CA73B1D5E3D4}">
  <we:reference id="wa200010001" version="1.0.0.1" store="en-US" storeType="OMEX"/>
  <we:alternateReferences>
    <we:reference id="WA200010001" version="1.0.0.1" store="" storeType="OMEX"/>
  </we:alternateReferences>
  <we:properties>
    <we:property name="claude.fileId" value="&quot;c4834d10-ecf6-4684-8316-a04da2616b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23247</TotalTime>
  <Words>21600</Words>
  <Application>Microsoft Office PowerPoint</Application>
  <DocSecurity>0</DocSecurity>
  <PresentationFormat>사용자 지정</PresentationFormat>
  <Paragraphs>2698</Paragraphs>
  <Slides>53</Slides>
  <Notes>53</Notes>
  <HiddenSlides>0</HiddenSlides>
  <MMClips>0</MMClips>
  <ScaleCrop>false</ScaleCrop>
  <HeadingPairs>
    <vt:vector size="6" baseType="variant">
      <vt:variant>
        <vt:lpstr>사용한 글꼴</vt:lpstr>
      </vt:variant>
      <vt:variant>
        <vt:i4>7</vt:i4>
      </vt:variant>
      <vt:variant>
        <vt:lpstr>테마</vt:lpstr>
      </vt:variant>
      <vt:variant>
        <vt:i4>4</vt:i4>
      </vt:variant>
      <vt:variant>
        <vt:lpstr>슬라이드 제목</vt:lpstr>
      </vt:variant>
      <vt:variant>
        <vt:i4>53</vt:i4>
      </vt:variant>
    </vt:vector>
  </HeadingPairs>
  <TitlesOfParts>
    <vt:vector size="64" baseType="lpstr">
      <vt:lpstr>Pretendard</vt:lpstr>
      <vt:lpstr>Pretendard Medium</vt:lpstr>
      <vt:lpstr>Calibri</vt:lpstr>
      <vt:lpstr>Pretendard SemiBold</vt:lpstr>
      <vt:lpstr>Chilgok Gwon Anja</vt:lpstr>
      <vt:lpstr>Arial</vt:lpstr>
      <vt:lpstr>맑은 고딕</vt:lpstr>
      <vt:lpstr>[필수] 레슨명</vt:lpstr>
      <vt:lpstr>[필수] 내용</vt:lpstr>
      <vt:lpstr>[필수] Section명</vt:lpstr>
      <vt:lpstr>[필수] 강의명</vt:lpstr>
      <vt:lpstr>PowerPoint 프레젠테이션</vt:lpstr>
      <vt:lpstr>PowerPoint 프레젠테이션</vt:lpstr>
      <vt:lpstr>PowerPoint 프레젠테이션</vt:lpstr>
      <vt:lpstr>GraphRAG 필요성</vt:lpstr>
      <vt:lpstr>우리 시스템에 그래프 검색이 필요한 이유</vt:lpstr>
      <vt:lpstr>지식 그래프(KG:Knowledge Graph)에는 ID와 최소 속성만 넣음</vt:lpstr>
      <vt:lpstr>KG 예시로 보는 '노드 탐색'과 '탐색된 노드의 제목'</vt:lpstr>
      <vt:lpstr>GraphRAG 용어 ① 그래프 기본 구조</vt:lpstr>
      <vt:lpstr>GraphRAG 용어 ② 인덱싱(그래프 만들기)</vt:lpstr>
      <vt:lpstr>GraphRAG 용어 ③ 검색(그래프에서 꺼내기)</vt:lpstr>
      <vt:lpstr>그래프DB 인덱싱 과정: 벡터DB와 비교</vt:lpstr>
      <vt:lpstr>그래프 검색 3가지 방식: Local · Global · Hybrid</vt:lpstr>
      <vt:lpstr>GraphRAG 대표 프레임워크: Neo4j · MS GraphRAG · LightRAG</vt:lpstr>
      <vt:lpstr>PowerPoint 프레젠테이션</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비정형 문서 → 스키마 설계 추출 방안</vt:lpstr>
      <vt:lpstr>[참고] 평가셋 25문항: 질문, 정답, 출처</vt:lpstr>
      <vt:lpstr>1. 스키마 도출: 단계 ① 역량 질문 정하기(예시: 상담 이력)</vt:lpstr>
      <vt:lpstr>1. 스키마 도출: 단계 ② 스키마 후보 넓게 뽑기(예시: 상담 이력)</vt:lpstr>
      <vt:lpstr>1. 스키마 도출: 단계 ③ 스키마 후보 확정(LLM 추천 + 사람 확정)</vt:lpstr>
      <vt:lpstr>1. 스키마 도출: 단계 ④ 채우기 시험(1) 실제 1건씩 대조</vt:lpstr>
      <vt:lpstr>1. 스키마 도출: 단계 ④ 채우기 시험(2) 전체 지표와 설명 고치기</vt:lpstr>
      <vt:lpstr>1. 스키마 도출: 단계 ⑤ 고정과 그 뒤</vt:lpstr>
      <vt:lpstr>1. 스키마 도출: 프롬프트로 비정형 문서의 스키마 도출</vt:lpstr>
      <vt:lpstr>2. 인덱싱: 저장소 구성 4가지 안 비교</vt:lpstr>
      <vt:lpstr>2. 인덱싱: 1-b 분리형(검색 엔진)의 인덱싱 파이프라인</vt:lpstr>
      <vt:lpstr>2. 인덱싱: 인덱싱 워크플로우 구성안</vt:lpstr>
      <vt:lpstr>2. 인덱싱: ① 세대 ID 발급, ② 공통 단계</vt:lpstr>
      <vt:lpstr>2. 인덱싱: KG 구축 - K1. 추출 단위 나누기</vt:lpstr>
      <vt:lpstr>[참고] KG의 모양</vt:lpstr>
      <vt:lpstr>2. 인덱싱: KG 구축 - K1. 추출 단위 나누기</vt:lpstr>
      <vt:lpstr>2. 인덱싱: KG 구축 - K2. 추출과 K3. 가지치기(Pruning)</vt:lpstr>
      <vt:lpstr>2. 인덱싱: KG 구축 - K2. 추출과 K3. 가지치기(Pruning)</vt:lpstr>
      <vt:lpstr>2. 인덱싱: KG 구축 - K4. 적재</vt:lpstr>
      <vt:lpstr>2. 인덱싱: KG 구축 - K4. 적재</vt:lpstr>
      <vt:lpstr>2. 인덱싱: KG 구축 - K5.병합</vt:lpstr>
      <vt:lpstr>2. 인덱싱: KG 구축 - K5.병합</vt:lpstr>
      <vt:lpstr>2. 인덱싱: KG 구축 - K5.병합</vt:lpstr>
      <vt:lpstr>2. 인덱싱: KG 구축 – K6. 엔티티 설명 임베딩</vt:lpstr>
      <vt:lpstr>2. 인덱싱: KG 구축 – K6. 엔티티 설명 임베딩</vt:lpstr>
      <vt:lpstr>2. 인덱싱: KG 구축 – K6. 엔티티 설명 임베딩</vt:lpstr>
      <vt:lpstr>2. 인덱싱: 검색엔진 인덱싱- 벡터 색인과 키워드 색인을 한 번에 구축</vt:lpstr>
      <vt:lpstr>2. 인덱싱: 검색엔진 인덱싱 인덱싱 – S1. 임베딩  </vt:lpstr>
      <vt:lpstr>2. 인덱싱: 검색엔진 인덱싱 인덱싱 – S1. 임베딩 </vt:lpstr>
      <vt:lpstr>2. 인덱싱: 검색엔진 인덱싱 – S2. 키워드 분석</vt:lpstr>
      <vt:lpstr>2. 인덱싱: 검색엔진 인덱싱 – S2. 키워드 분석</vt:lpstr>
      <vt:lpstr>2. 인덱싱: 검색엔진 인덱싱 – S3. 검색 엔진에 쓰기</vt:lpstr>
      <vt:lpstr>2. 인덱싱: 검색엔진 인덱싱 – S3. 검색 엔진에 쓰기</vt:lpstr>
      <vt:lpstr>2. 인덱싱: ⑤ 게시 – 검색엔진 인덱스 별칭 전환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해경 이</cp:lastModifiedBy>
  <cp:revision>1100</cp:revision>
  <dcterms:created xsi:type="dcterms:W3CDTF">2026-09-20T09:21:58Z</dcterms:created>
  <dcterms:modified xsi:type="dcterms:W3CDTF">2026-10-23T08:12:40Z</dcterms:modified>
</cp:coreProperties>
</file>