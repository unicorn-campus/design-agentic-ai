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패턴을 붙여도 다음 단계를 개발자가 그려 둔 분기가 정하면 워크플로우임. Agentic과의 차이는 패턴 수가 아니라 흐름의 운전대를 누가 잡았는지임.
단순 질문 「연회비 면제 조건은?」: 분류기에서 단순 → 원 질문 검색 → 채점 정확 → 답변 → 근거 검증 통과.
복합 질문 「올해 비용 면제와 포인트 적립 조건을 함께 알려주세요」: 분류기에서 복합 → 미리 분해 + 원 질문 검색 → 결과 병합 → 채점 → 답변 → 근거 검증.
분류기와 채점을 규칙·점수 기반으로 두면 이 두 자리에서는 LLM을 부르지 않음. LLM은 질문 변환·답변·재작성에만 씀.
Self-RAG의 '답변이 유용한가' 판단은 이 설계에 넣지 않음. 필요하면 근거 검증 뒤에 별도 관문으로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54112"/>
            <a:ext cx="13624560" cy="18288"/>
          </a:xfrm>
          <a:prstGeom prst="rect">
            <a:avLst/>
          </a:prstGeom>
          <a:solidFill>
            <a:srgbClr val="E9ECF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818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design-agentic-ai  ·  세 패턴 결합 워크플로우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na-bootcamp/aistudy/blob/main/agentic-ai/textbook/10.RAG.md" TargetMode="External"/><Relationship Id="rId2" Type="http://schemas.openxmlformats.org/officeDocument/2006/relationships/hyperlink" Target="https://arxiv.org/abs/2310.11511" TargetMode="External"/><Relationship Id="rId3" Type="http://schemas.openxmlformats.org/officeDocument/2006/relationships/hyperlink" Target="https://arxiv.org/abs/2401.15884" TargetMode="External"/><Relationship Id="rId4" Type="http://schemas.openxmlformats.org/officeDocument/2006/relationships/hyperlink" Target="https://arxiv.org/abs/2403.14403" TargetMode="External"/><Relationship Id="rId5" Type="http://schemas.openxmlformats.org/officeDocument/2006/relationships/hyperlink" Target="https://www.anthropic.com/engineering/building-effective-agents" TargetMode="Externa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5. 세 패턴 결합(워크플로우)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280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Self-RAG + Adaptive + CRAG 결합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자리 3곳(검색 전·검색 후·답변 후)을 미리 그린 분기로 잇는 워크플로우 — LLM이 흐름을 고르지 않아 비용·동작 예측 가능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574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흐름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7589520" cy="4590288"/>
          </a:xfrm>
          <a:prstGeom prst="roundRect">
            <a:avLst>
              <a:gd name="adj" fmla="val 199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6020" y="3127248"/>
            <a:ext cx="0" cy="128016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46020" y="3822192"/>
            <a:ext cx="0" cy="18288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46020" y="4462272"/>
            <a:ext cx="0" cy="25603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46020" y="5175504"/>
            <a:ext cx="0" cy="29260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46020" y="5833872"/>
            <a:ext cx="0" cy="16459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2761488"/>
            <a:ext cx="2971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76148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+ 역할(agent/auditor)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0120" y="3255264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255264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Adaptive 분류기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문장만 보고 판단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" y="4005072"/>
            <a:ext cx="2971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4005072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</a:t>
            </a:r>
            <a:pPr algn="ct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Vector·Hybrid·Rerank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0120" y="4718304"/>
            <a:ext cx="2971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718304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CRAG  </a:t>
            </a:r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채점</a:t>
            </a:r>
            <a:pPr algn="ct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(점수 기준)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0120" y="5468112"/>
            <a:ext cx="2971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546811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0120" y="5998464"/>
            <a:ext cx="2971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5998464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Self-RAG  </a:t>
            </a:r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검증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 flipH="1">
            <a:off x="758952" y="4946904"/>
            <a:ext cx="20116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758952" y="4233672"/>
            <a:ext cx="0" cy="713232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58952" y="4233672"/>
            <a:ext cx="20116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758952" y="6208776"/>
            <a:ext cx="20116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V="1">
            <a:off x="758952" y="5650992"/>
            <a:ext cx="0" cy="557784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58952" y="5650992"/>
            <a:ext cx="20116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251960" y="3108960"/>
            <a:ext cx="365760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3CE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25112" y="3108960"/>
            <a:ext cx="3511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Self-RAG  </a:t>
            </a:r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인사·잡담은 검색 없이 답변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Adaptive  </a:t>
            </a:r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→ 원 질문 검색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Adaptive  </a:t>
            </a:r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→ 미리 분해(+원 질문)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931920" y="3538728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251960" y="4535424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3CE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25112" y="4535424"/>
            <a:ext cx="3511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 → 답변으로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애매 → 질문 바꿔 재검색(상한 있음)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부정확 → web_search(선택) / 확인 필요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931920" y="4946904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251960" y="5998464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25112" y="599846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답변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931920" y="6208776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950208" y="57790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251960" y="5468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→ 재작성(최대 2회)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5800" y="66751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 분기는 모두 개발자가 미리 그린 조건부 엣지 · 반복은 고정 상한 · 끝내 부족하면 </a:t>
            </a:r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「확인 필요」로 종료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366760" y="205740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46" name="Text 44"/>
          <p:cNvSpPr/>
          <p:nvPr/>
        </p:nvSpPr>
        <p:spPr>
          <a:xfrm>
            <a:off x="8366760" y="2057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패턴별 자리와 Agentic과의 차이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366760" y="2633472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404155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26334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패턴별 자리와 판단 방식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3090672"/>
          <a:ext cx="57607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2423160"/>
                <a:gridCol w="5943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Adaptive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전(맨 앞)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문장 기반 가벼운 분류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Self-RAG 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분류기 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필요 없는 질문 걸러 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CRAG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직후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점수 채점 → 재작성·대체 검색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Self-RAG 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답변 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인용문 원문 대조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0" name="Text 47"/>
          <p:cNvSpPr/>
          <p:nvPr/>
        </p:nvSpPr>
        <p:spPr>
          <a:xfrm>
            <a:off x="8366760" y="52303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= 점수 미달 시 질문 변환·확인 필요 정지는 있음, 웹 검색 경로는 없음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8366760" y="5577840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404155"/>
          </a:solidFill>
          <a:ln/>
        </p:spPr>
      </p:sp>
      <p:sp>
        <p:nvSpPr>
          <p:cNvPr id="52" name="Text 49"/>
          <p:cNvSpPr/>
          <p:nvPr/>
        </p:nvSpPr>
        <p:spPr>
          <a:xfrm>
            <a:off x="8503920" y="5577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Agentic과 차이 — 운전대는 개발자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8385048" y="606247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E74C6"/>
          </a:solidFill>
          <a:ln/>
        </p:spPr>
      </p:sp>
      <p:sp>
        <p:nvSpPr>
          <p:cNvPr id="54" name="Text 51"/>
          <p:cNvSpPr/>
          <p:nvPr/>
        </p:nvSpPr>
        <p:spPr>
          <a:xfrm>
            <a:off x="8385048" y="60624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8714232" y="6035040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 </a:t>
            </a:r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그린 분기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(Agentic: LLM이 실행 중 선택)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8385048" y="642823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E74C6"/>
          </a:solidFill>
          <a:ln/>
        </p:spPr>
      </p:sp>
      <p:sp>
        <p:nvSpPr>
          <p:cNvPr id="57" name="Text 54"/>
          <p:cNvSpPr/>
          <p:nvPr/>
        </p:nvSpPr>
        <p:spPr>
          <a:xfrm>
            <a:off x="8385048" y="64282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8714232" y="6400800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 </a:t>
            </a:r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횟수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(Agentic: 목표 달성까지 판단)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8385048" y="679399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E74C6"/>
          </a:solidFill>
          <a:ln/>
        </p:spPr>
      </p:sp>
      <p:sp>
        <p:nvSpPr>
          <p:cNvPr id="60" name="Text 57"/>
          <p:cNvSpPr/>
          <p:nvPr/>
        </p:nvSpPr>
        <p:spPr>
          <a:xfrm>
            <a:off x="8385048" y="67939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8714232" y="6766560"/>
            <a:ext cx="5413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다단계 검색  </a:t>
            </a:r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분해 후 한 번에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(Agentic: 앞 결과 보고 다음 질문)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교재 「10. RAG」 5.2~5.4절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Self-RAG, Asai et al.(2023)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CRAG, Yan et al.(2024)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Adaptive-RAG, Jeong et al.(2024)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Anthropic, Building effective agents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Self-RAG + Adaptive + CRAG 결합</dc:title>
  <dc:subject>PptxGenJS Presentation</dc:subject>
  <dc:creator>PptxGenJS</dc:creator>
  <cp:lastModifiedBy>PptxGenJS</cp:lastModifiedBy>
  <cp:revision>1</cp:revision>
  <dcterms:created xsi:type="dcterms:W3CDTF">2026-10-02T07:55:27Z</dcterms:created>
  <dcterms:modified xsi:type="dcterms:W3CDTF">2026-10-02T07:55:27Z</dcterms:modified>
</cp:coreProperties>
</file>