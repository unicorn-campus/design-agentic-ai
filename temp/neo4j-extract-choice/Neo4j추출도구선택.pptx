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A는 청크를 노드·관계로 바꾸는 ④ 한 단계 부품이고, B는 추출기·저장기·병합기 같은 부품을 이어 붙이는 파이프라인임. B의 SimpleKGPipeline은 PDF 로드 → 분할 → 청크 임베딩 → 추출 → 가지치기 → 저장 → 병합으로 구성되며 정제·가명처리 단계가 없음. 원문을 그대로 넣으면 실명이 LLM에 전달되고 그래프에 저장됨. 그래서 로드·정제·가명처리·청킹은 벡터DB 인덱싱과 같은 코드로 한 번만 하고, 그 청크를 TextChunks로 바꿔 B의 추출기에 바로 넣음. 이렇게 하면 두 DB가 같은 청크를 씀. 둘 다 허용 노드·관계 목록과 (출발, 관계, 도착) 묶음으로 스키마를 제한할 수 있어 스키마 통제는 차이가 아님. 병합 차이: A도 저장할 때 MERGE로 이름이 완전히 같은 노드는 합침. 'A사'와 'A사(주)'처럼 조금 다른 이름은 A는 직접 짜야 하고, B는 Fuzzy·spaCy 병합기를 붙이면 됨. 노드 설명 임베딩과 사전요약(커뮤니티 요약)은 어느 쪽에도 없어 직접 만들어야 함. 사용도: 다운로드·개발 활동 모두 B가 큼. 단 Neo4j 공식 데모 도구(LLM Knowledge Graph Builder)는 A로 추출하고, A를 깔면 B도 같이 깔려 B 다운로드에 A 몫이 일부 섞임. 학습용 예제는 A가 많음. 추출 품질 우열을 비교한 공개 벤치마크는 없음. 수치는 2026-10-13 조회값(PyPI 최근 1개월 다운로드, GitHub 최근 90일 커밋).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내용_단쪽">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8406" y="868680"/>
            <a:ext cx="13613587" cy="0"/>
          </a:xfrm>
          <a:prstGeom prst="line">
            <a:avLst/>
          </a:prstGeom>
          <a:noFill/>
          <a:ln w="19050">
            <a:solidFill>
              <a:srgbClr val="E2E8F0"/>
            </a:solidFill>
            <a:prstDash val="solid"/>
          </a:ln>
        </p:spPr>
      </p:sp>
      <p:sp>
        <p:nvSpPr>
          <p:cNvPr id="3" name="Text 1"/>
          <p:cNvSpPr/>
          <p:nvPr/>
        </p:nvSpPr>
        <p:spPr>
          <a:xfrm>
            <a:off x="445770" y="7787945"/>
            <a:ext cx="1531620" cy="246888"/>
          </a:xfrm>
          <a:prstGeom prst="rect">
            <a:avLst/>
          </a:prstGeom>
          <a:noFill/>
          <a:ln/>
        </p:spPr>
        <p:txBody>
          <a:bodyPr wrap="square" lIns="0" tIns="0" rIns="0" bIns="0" rtlCol="0" anchor="ctr"/>
          <a:lstStyle/>
          <a:p>
            <a:pPr indent="0" marL="0">
              <a:buNone/>
            </a:pPr>
            <a:r>
              <a:rPr lang="en-US" sz="1200" dirty="0">
                <a:solidFill>
                  <a:srgbClr val="A6A6A6"/>
                </a:solidFill>
                <a:latin typeface="Pretendard" pitchFamily="34" charset="0"/>
                <a:ea typeface="Pretendard" pitchFamily="34" charset="-122"/>
                <a:cs typeface="Pretendard" pitchFamily="34" charset="-120"/>
              </a:rPr>
              <a:t>무단전재 및 배포 금지</a:t>
            </a:r>
            <a:endParaRPr lang="en-US" sz="1200" dirty="0"/>
          </a:p>
        </p:txBody>
      </p:sp>
      <p:sp>
        <p:nvSpPr>
          <p:cNvPr id="4" name="Text 2"/>
          <p:cNvSpPr/>
          <p:nvPr>
            <p:ph type="title"/>
          </p:nvPr>
        </p:nvSpPr>
        <p:spPr>
          <a:xfrm>
            <a:off x="509321" y="99670"/>
            <a:ext cx="13738860" cy="828446"/>
          </a:xfrm>
          <a:prstGeom prst="rect">
            <a:avLst/>
          </a:prstGeom>
          <a:noFill/>
          <a:ln/>
        </p:spPr>
        <p:txBody>
          <a:bodyPr wrap="square" rtlCol="0"/>
          <a:lstStyle>
            <a:lvl1pPr algn="l" indent="0" marL="0">
              <a:buNone/>
              <a:defRPr lang="en-US" sz="3200" b="1" dirty="0">
                <a:solidFill>
                  <a:srgbClr val="2C2926"/>
                </a:solidFill>
                <a:latin typeface="Pretendard" pitchFamily="34" charset="0"/>
                <a:ea typeface="Pretendard" pitchFamily="34" charset="-122"/>
                <a:cs typeface="Pretendard" pitchFamily="34" charset="-120"/>
              </a:defRPr>
            </a:lvl1pPr>
          </a:lstStyle>
          <a:p>
            <a:pPr algn="l" indent="0" marL="0">
              <a:buNone/>
            </a:pPr>
            <a:endParaRPr lang="en-US" sz="32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2"/>
          <p:cNvSpPr/>
          <p:nvPr>
            <p:ph type="title"/>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엔티티·관계 추출 도구 선택: LangChain + Neo4j vs Native Neo4j</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indent="0" marL="0">
              <a:buNone/>
            </a:pPr>
            <a:r>
              <a:rPr lang="en-US" sz="1800" dirty="0">
                <a:solidFill>
                  <a:srgbClr val="000000"/>
                </a:solidFill>
                <a:latin typeface="Pretendard SemiBold" pitchFamily="34" charset="0"/>
                <a:ea typeface="Pretendard SemiBold" pitchFamily="34" charset="-122"/>
                <a:cs typeface="Pretendard SemiBold" pitchFamily="34" charset="-120"/>
              </a:rPr>
              <a:t>둘 다 정제·가명처리는 없음 → 앞단은 벡터DB와 함께 쓰고, 추출부터 Native 부품으로 잇는 구성이 실무에 맞음</a:t>
            </a:r>
            <a:endParaRPr lang="en-US" sz="1800" dirty="0"/>
          </a:p>
        </p:txBody>
      </p:sp>
      <p:sp>
        <p:nvSpPr>
          <p:cNvPr id="5" name="Shape 2"/>
          <p:cNvSpPr/>
          <p:nvPr/>
        </p:nvSpPr>
        <p:spPr>
          <a:xfrm>
            <a:off x="509321" y="1737360"/>
            <a:ext cx="6675120" cy="548640"/>
          </a:xfrm>
          <a:prstGeom prst="roundRect">
            <a:avLst>
              <a:gd name="adj" fmla="val 10000"/>
            </a:avLst>
          </a:prstGeom>
          <a:solidFill>
            <a:srgbClr val="2E74C6"/>
          </a:solidFill>
          <a:ln/>
        </p:spPr>
      </p:sp>
      <p:sp>
        <p:nvSpPr>
          <p:cNvPr id="6" name="Shape 3"/>
          <p:cNvSpPr/>
          <p:nvPr/>
        </p:nvSpPr>
        <p:spPr>
          <a:xfrm>
            <a:off x="619049" y="1837944"/>
            <a:ext cx="365760" cy="365760"/>
          </a:xfrm>
          <a:prstGeom prst="roundRect">
            <a:avLst>
              <a:gd name="adj" fmla="val 12500"/>
            </a:avLst>
          </a:prstGeom>
          <a:solidFill>
            <a:srgbClr val="FFFFFF"/>
          </a:solidFill>
          <a:ln/>
        </p:spPr>
      </p:sp>
      <p:sp>
        <p:nvSpPr>
          <p:cNvPr id="7" name="Text 4"/>
          <p:cNvSpPr txBox="1"/>
          <p:nvPr/>
        </p:nvSpPr>
        <p:spPr>
          <a:xfrm>
            <a:off x="619049" y="1837944"/>
            <a:ext cx="365760" cy="365760"/>
          </a:xfrm>
          <a:prstGeom prst="rect">
            <a:avLst/>
          </a:prstGeom>
          <a:noFill/>
          <a:ln/>
        </p:spPr>
        <p:txBody>
          <a:bodyPr wrap="square" lIns="1016" tIns="1016" rIns="1016" bIns="1016" rtlCol="0" anchor="ctr"/>
          <a:lstStyle/>
          <a:p>
            <a:pPr algn="ctr" indent="0" marL="0">
              <a:buNone/>
            </a:pPr>
            <a:r>
              <a:rPr lang="en-US" sz="1800" b="1" dirty="0">
                <a:solidFill>
                  <a:srgbClr val="2E74C6"/>
                </a:solidFill>
                <a:latin typeface="Pretendard" pitchFamily="34" charset="0"/>
                <a:ea typeface="Pretendard" pitchFamily="34" charset="-122"/>
                <a:cs typeface="Pretendard" pitchFamily="34" charset="-120"/>
              </a:rPr>
              <a:t>A</a:t>
            </a:r>
            <a:endParaRPr lang="en-US" sz="1800" dirty="0"/>
          </a:p>
        </p:txBody>
      </p:sp>
      <p:sp>
        <p:nvSpPr>
          <p:cNvPr id="8" name="Text 5"/>
          <p:cNvSpPr txBox="1"/>
          <p:nvPr/>
        </p:nvSpPr>
        <p:spPr>
          <a:xfrm>
            <a:off x="1076249" y="1737360"/>
            <a:ext cx="6035040" cy="548640"/>
          </a:xfrm>
          <a:prstGeom prst="rect">
            <a:avLst/>
          </a:prstGeom>
          <a:noFill/>
          <a:ln/>
        </p:spPr>
        <p:txBody>
          <a:bodyPr wrap="square" lIns="254" tIns="254" rIns="254" bIns="254" rtlCol="0" anchor="ctr"/>
          <a:lstStyle/>
          <a:p>
            <a:pPr indent="0" marL="0">
              <a:buNone/>
            </a:pPr>
            <a:r>
              <a:rPr lang="en-US" sz="2100" b="1" dirty="0">
                <a:solidFill>
                  <a:srgbClr val="FFFFFF"/>
                </a:solidFill>
                <a:latin typeface="Pretendard" pitchFamily="34" charset="0"/>
                <a:ea typeface="Pretendard" pitchFamily="34" charset="-122"/>
                <a:cs typeface="Pretendard" pitchFamily="34" charset="-120"/>
              </a:rPr>
              <a:t>LangChain + Neo4j</a:t>
            </a:r>
            <a:pPr indent="0" marL="0">
              <a:buNone/>
            </a:pPr>
            <a:r>
              <a:rPr lang="en-US" sz="1400" dirty="0">
                <a:solidFill>
                  <a:srgbClr val="D9E3F5"/>
                </a:solidFill>
                <a:latin typeface="Pretendard" pitchFamily="34" charset="0"/>
                <a:ea typeface="Pretendard" pitchFamily="34" charset="-122"/>
                <a:cs typeface="Pretendard" pitchFamily="34" charset="-120"/>
              </a:rPr>
              <a:t>  langchain-neo4j · LLMGraphTransformer</a:t>
            </a:r>
            <a:endParaRPr lang="en-US" sz="2100" dirty="0"/>
          </a:p>
        </p:txBody>
      </p:sp>
      <p:sp>
        <p:nvSpPr>
          <p:cNvPr id="9" name="Text 6"/>
          <p:cNvSpPr txBox="1"/>
          <p:nvPr/>
        </p:nvSpPr>
        <p:spPr>
          <a:xfrm>
            <a:off x="509321" y="2377440"/>
            <a:ext cx="502920" cy="384048"/>
          </a:xfrm>
          <a:prstGeom prst="rect">
            <a:avLst/>
          </a:prstGeom>
          <a:noFill/>
          <a:ln/>
        </p:spPr>
        <p:txBody>
          <a:bodyPr wrap="square" lIns="0" tIns="0" rIns="0" bIns="0" rtlCol="0" anchor="ctr"/>
          <a:lstStyle/>
          <a:p>
            <a:pPr algn="l" indent="0" marL="0">
              <a:buNone/>
            </a:pPr>
            <a:r>
              <a:rPr lang="en-US" sz="1500" b="1" dirty="0">
                <a:solidFill>
                  <a:srgbClr val="1E2A5C"/>
                </a:solidFill>
                <a:latin typeface="Pretendard" pitchFamily="34" charset="0"/>
                <a:ea typeface="Pretendard" pitchFamily="34" charset="-122"/>
                <a:cs typeface="Pretendard" pitchFamily="34" charset="-120"/>
              </a:rPr>
              <a:t>범위</a:t>
            </a:r>
            <a:endParaRPr lang="en-US" sz="1500" dirty="0"/>
          </a:p>
        </p:txBody>
      </p:sp>
      <p:sp>
        <p:nvSpPr>
          <p:cNvPr id="10" name="Shape 7"/>
          <p:cNvSpPr/>
          <p:nvPr/>
        </p:nvSpPr>
        <p:spPr>
          <a:xfrm>
            <a:off x="1012241" y="2377440"/>
            <a:ext cx="834717" cy="384048"/>
          </a:xfrm>
          <a:prstGeom prst="roundRect">
            <a:avLst>
              <a:gd name="adj" fmla="val 45000"/>
            </a:avLst>
          </a:prstGeom>
          <a:solidFill>
            <a:srgbClr val="FFFFFF"/>
          </a:solidFill>
          <a:ln w="15875">
            <a:solidFill>
              <a:srgbClr val="7C8598"/>
            </a:solidFill>
            <a:prstDash val="dash"/>
          </a:ln>
        </p:spPr>
      </p:sp>
      <p:sp>
        <p:nvSpPr>
          <p:cNvPr id="11" name="Text 8"/>
          <p:cNvSpPr txBox="1"/>
          <p:nvPr/>
        </p:nvSpPr>
        <p:spPr>
          <a:xfrm>
            <a:off x="1012241" y="2377440"/>
            <a:ext cx="834717" cy="384048"/>
          </a:xfrm>
          <a:prstGeom prst="rect">
            <a:avLst/>
          </a:prstGeom>
          <a:noFill/>
          <a:ln/>
        </p:spPr>
        <p:txBody>
          <a:bodyPr wrap="square" lIns="1016" tIns="1016" rIns="1016" bIns="1016" rtlCol="0" anchor="ctr"/>
          <a:lstStyle/>
          <a:p>
            <a:pPr algn="ctr" indent="0" marL="0">
              <a:buNone/>
            </a:pPr>
            <a:r>
              <a:rPr lang="en-US" sz="1400" b="1" dirty="0">
                <a:solidFill>
                  <a:srgbClr val="7C8598"/>
                </a:solidFill>
                <a:latin typeface="Pretendard" pitchFamily="34" charset="0"/>
                <a:ea typeface="Pretendard" pitchFamily="34" charset="-122"/>
                <a:cs typeface="Pretendard" pitchFamily="34" charset="-120"/>
              </a:rPr>
              <a:t>로드</a:t>
            </a:r>
            <a:endParaRPr lang="en-US" sz="1400" dirty="0"/>
          </a:p>
        </p:txBody>
      </p:sp>
      <p:sp>
        <p:nvSpPr>
          <p:cNvPr id="12" name="Shape 9"/>
          <p:cNvSpPr/>
          <p:nvPr/>
        </p:nvSpPr>
        <p:spPr>
          <a:xfrm>
            <a:off x="1901821" y="2377440"/>
            <a:ext cx="834717" cy="384048"/>
          </a:xfrm>
          <a:prstGeom prst="roundRect">
            <a:avLst>
              <a:gd name="adj" fmla="val 45000"/>
            </a:avLst>
          </a:prstGeom>
          <a:solidFill>
            <a:srgbClr val="FFFFFF"/>
          </a:solidFill>
          <a:ln w="15875">
            <a:solidFill>
              <a:srgbClr val="7C8598"/>
            </a:solidFill>
            <a:prstDash val="dash"/>
          </a:ln>
        </p:spPr>
      </p:sp>
      <p:sp>
        <p:nvSpPr>
          <p:cNvPr id="13" name="Text 10"/>
          <p:cNvSpPr txBox="1"/>
          <p:nvPr/>
        </p:nvSpPr>
        <p:spPr>
          <a:xfrm>
            <a:off x="1901821" y="2377440"/>
            <a:ext cx="834717" cy="384048"/>
          </a:xfrm>
          <a:prstGeom prst="rect">
            <a:avLst/>
          </a:prstGeom>
          <a:noFill/>
          <a:ln/>
        </p:spPr>
        <p:txBody>
          <a:bodyPr wrap="square" lIns="1016" tIns="1016" rIns="1016" bIns="1016" rtlCol="0" anchor="ctr"/>
          <a:lstStyle/>
          <a:p>
            <a:pPr algn="ctr" indent="0" marL="0">
              <a:buNone/>
            </a:pPr>
            <a:r>
              <a:rPr lang="en-US" sz="1400" b="1" dirty="0">
                <a:solidFill>
                  <a:srgbClr val="7C8598"/>
                </a:solidFill>
                <a:latin typeface="Pretendard" pitchFamily="34" charset="0"/>
                <a:ea typeface="Pretendard" pitchFamily="34" charset="-122"/>
                <a:cs typeface="Pretendard" pitchFamily="34" charset="-120"/>
              </a:rPr>
              <a:t>가명처리</a:t>
            </a:r>
            <a:endParaRPr lang="en-US" sz="1400" dirty="0"/>
          </a:p>
        </p:txBody>
      </p:sp>
      <p:sp>
        <p:nvSpPr>
          <p:cNvPr id="14" name="Shape 11"/>
          <p:cNvSpPr/>
          <p:nvPr/>
        </p:nvSpPr>
        <p:spPr>
          <a:xfrm>
            <a:off x="2791402" y="2377440"/>
            <a:ext cx="834717" cy="384048"/>
          </a:xfrm>
          <a:prstGeom prst="roundRect">
            <a:avLst>
              <a:gd name="adj" fmla="val 45000"/>
            </a:avLst>
          </a:prstGeom>
          <a:solidFill>
            <a:srgbClr val="FFFFFF"/>
          </a:solidFill>
          <a:ln w="15875">
            <a:solidFill>
              <a:srgbClr val="7C8598"/>
            </a:solidFill>
            <a:prstDash val="dash"/>
          </a:ln>
        </p:spPr>
      </p:sp>
      <p:sp>
        <p:nvSpPr>
          <p:cNvPr id="15" name="Text 12"/>
          <p:cNvSpPr txBox="1"/>
          <p:nvPr/>
        </p:nvSpPr>
        <p:spPr>
          <a:xfrm>
            <a:off x="2791402" y="2377440"/>
            <a:ext cx="834717" cy="384048"/>
          </a:xfrm>
          <a:prstGeom prst="rect">
            <a:avLst/>
          </a:prstGeom>
          <a:noFill/>
          <a:ln/>
        </p:spPr>
        <p:txBody>
          <a:bodyPr wrap="square" lIns="1016" tIns="1016" rIns="1016" bIns="1016" rtlCol="0" anchor="ctr"/>
          <a:lstStyle/>
          <a:p>
            <a:pPr algn="ctr" indent="0" marL="0">
              <a:buNone/>
            </a:pPr>
            <a:r>
              <a:rPr lang="en-US" sz="1400" b="1" dirty="0">
                <a:solidFill>
                  <a:srgbClr val="7C8598"/>
                </a:solidFill>
                <a:latin typeface="Pretendard" pitchFamily="34" charset="0"/>
                <a:ea typeface="Pretendard" pitchFamily="34" charset="-122"/>
                <a:cs typeface="Pretendard" pitchFamily="34" charset="-120"/>
              </a:rPr>
              <a:t>청킹</a:t>
            </a:r>
            <a:endParaRPr lang="en-US" sz="1400" dirty="0"/>
          </a:p>
        </p:txBody>
      </p:sp>
      <p:sp>
        <p:nvSpPr>
          <p:cNvPr id="16" name="Shape 13"/>
          <p:cNvSpPr/>
          <p:nvPr/>
        </p:nvSpPr>
        <p:spPr>
          <a:xfrm>
            <a:off x="3680983" y="2377440"/>
            <a:ext cx="834717" cy="384048"/>
          </a:xfrm>
          <a:prstGeom prst="roundRect">
            <a:avLst>
              <a:gd name="adj" fmla="val 45000"/>
            </a:avLst>
          </a:prstGeom>
          <a:solidFill>
            <a:srgbClr val="2E74C6"/>
          </a:solidFill>
          <a:ln/>
        </p:spPr>
      </p:sp>
      <p:sp>
        <p:nvSpPr>
          <p:cNvPr id="17" name="Text 14"/>
          <p:cNvSpPr txBox="1"/>
          <p:nvPr/>
        </p:nvSpPr>
        <p:spPr>
          <a:xfrm>
            <a:off x="3680983" y="2377440"/>
            <a:ext cx="834717" cy="384048"/>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④ 추출</a:t>
            </a:r>
            <a:endParaRPr lang="en-US" sz="1400" dirty="0"/>
          </a:p>
        </p:txBody>
      </p:sp>
      <p:sp>
        <p:nvSpPr>
          <p:cNvPr id="18" name="Shape 15"/>
          <p:cNvSpPr/>
          <p:nvPr/>
        </p:nvSpPr>
        <p:spPr>
          <a:xfrm>
            <a:off x="4570563" y="2377440"/>
            <a:ext cx="834717" cy="384048"/>
          </a:xfrm>
          <a:prstGeom prst="roundRect">
            <a:avLst>
              <a:gd name="adj" fmla="val 45000"/>
            </a:avLst>
          </a:prstGeom>
          <a:solidFill>
            <a:srgbClr val="EEF3FA"/>
          </a:solidFill>
          <a:ln w="15875">
            <a:solidFill>
              <a:srgbClr val="2E74C6"/>
            </a:solidFill>
            <a:prstDash val="solid"/>
          </a:ln>
        </p:spPr>
      </p:sp>
      <p:sp>
        <p:nvSpPr>
          <p:cNvPr id="19" name="Text 16"/>
          <p:cNvSpPr txBox="1"/>
          <p:nvPr/>
        </p:nvSpPr>
        <p:spPr>
          <a:xfrm>
            <a:off x="4570563" y="2377440"/>
            <a:ext cx="834717" cy="384048"/>
          </a:xfrm>
          <a:prstGeom prst="rect">
            <a:avLst/>
          </a:prstGeom>
          <a:noFill/>
          <a:ln/>
        </p:spPr>
        <p:txBody>
          <a:bodyPr wrap="square" lIns="1016" tIns="1016" rIns="1016" bIns="1016" rtlCol="0" anchor="ctr"/>
          <a:lstStyle/>
          <a:p>
            <a:pPr algn="ctr" indent="0" marL="0">
              <a:buNone/>
            </a:pPr>
            <a:r>
              <a:rPr lang="en-US" sz="1400" b="1" dirty="0">
                <a:solidFill>
                  <a:srgbClr val="2E74C6"/>
                </a:solidFill>
                <a:latin typeface="Pretendard" pitchFamily="34" charset="0"/>
                <a:ea typeface="Pretendard" pitchFamily="34" charset="-122"/>
                <a:cs typeface="Pretendard" pitchFamily="34" charset="-120"/>
              </a:rPr>
              <a:t>병합</a:t>
            </a:r>
            <a:endParaRPr lang="en-US" sz="1400" dirty="0"/>
          </a:p>
        </p:txBody>
      </p:sp>
      <p:sp>
        <p:nvSpPr>
          <p:cNvPr id="20" name="Shape 17"/>
          <p:cNvSpPr/>
          <p:nvPr/>
        </p:nvSpPr>
        <p:spPr>
          <a:xfrm>
            <a:off x="5460144" y="2377440"/>
            <a:ext cx="834717" cy="384048"/>
          </a:xfrm>
          <a:prstGeom prst="roundRect">
            <a:avLst>
              <a:gd name="adj" fmla="val 45000"/>
            </a:avLst>
          </a:prstGeom>
          <a:solidFill>
            <a:srgbClr val="2E74C6"/>
          </a:solidFill>
          <a:ln/>
        </p:spPr>
      </p:sp>
      <p:sp>
        <p:nvSpPr>
          <p:cNvPr id="21" name="Text 18"/>
          <p:cNvSpPr txBox="1"/>
          <p:nvPr/>
        </p:nvSpPr>
        <p:spPr>
          <a:xfrm>
            <a:off x="5460144" y="2377440"/>
            <a:ext cx="834717" cy="384048"/>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KG 저장</a:t>
            </a:r>
            <a:endParaRPr lang="en-US" sz="1400" dirty="0"/>
          </a:p>
        </p:txBody>
      </p:sp>
      <p:sp>
        <p:nvSpPr>
          <p:cNvPr id="22" name="Shape 19"/>
          <p:cNvSpPr/>
          <p:nvPr/>
        </p:nvSpPr>
        <p:spPr>
          <a:xfrm>
            <a:off x="6349724" y="2377440"/>
            <a:ext cx="834717" cy="384048"/>
          </a:xfrm>
          <a:prstGeom prst="roundRect">
            <a:avLst>
              <a:gd name="adj" fmla="val 45000"/>
            </a:avLst>
          </a:prstGeom>
          <a:solidFill>
            <a:srgbClr val="FFFFFF"/>
          </a:solidFill>
          <a:ln w="15875">
            <a:solidFill>
              <a:srgbClr val="7C8598"/>
            </a:solidFill>
            <a:prstDash val="dash"/>
          </a:ln>
        </p:spPr>
      </p:sp>
      <p:sp>
        <p:nvSpPr>
          <p:cNvPr id="23" name="Text 20"/>
          <p:cNvSpPr txBox="1"/>
          <p:nvPr/>
        </p:nvSpPr>
        <p:spPr>
          <a:xfrm>
            <a:off x="6349724" y="2377440"/>
            <a:ext cx="834717" cy="384048"/>
          </a:xfrm>
          <a:prstGeom prst="rect">
            <a:avLst/>
          </a:prstGeom>
          <a:noFill/>
          <a:ln/>
        </p:spPr>
        <p:txBody>
          <a:bodyPr wrap="square" lIns="1016" tIns="1016" rIns="1016" bIns="1016" rtlCol="0" anchor="ctr"/>
          <a:lstStyle/>
          <a:p>
            <a:pPr algn="ctr" indent="0" marL="0">
              <a:buNone/>
            </a:pPr>
            <a:r>
              <a:rPr lang="en-US" sz="1400" b="1" dirty="0">
                <a:solidFill>
                  <a:srgbClr val="7C8598"/>
                </a:solidFill>
                <a:latin typeface="Pretendard" pitchFamily="34" charset="0"/>
                <a:ea typeface="Pretendard" pitchFamily="34" charset="-122"/>
                <a:cs typeface="Pretendard" pitchFamily="34" charset="-120"/>
              </a:rPr>
              <a:t>임베딩</a:t>
            </a:r>
            <a:endParaRPr lang="en-US" sz="1400" dirty="0"/>
          </a:p>
        </p:txBody>
      </p:sp>
      <p:sp>
        <p:nvSpPr>
          <p:cNvPr id="24" name="Text 21"/>
          <p:cNvSpPr txBox="1"/>
          <p:nvPr/>
        </p:nvSpPr>
        <p:spPr>
          <a:xfrm>
            <a:off x="1012241" y="2798064"/>
            <a:ext cx="6172200" cy="329184"/>
          </a:xfrm>
          <a:prstGeom prst="rect">
            <a:avLst/>
          </a:prstGeom>
          <a:noFill/>
          <a:ln/>
        </p:spPr>
        <p:txBody>
          <a:bodyPr wrap="square" lIns="0" tIns="0" rIns="0" bIns="0" rtlCol="0" anchor="ctr"/>
          <a:lstStyle/>
          <a:p>
            <a:pPr algn="l" indent="0" marL="0">
              <a:buNone/>
            </a:pPr>
            <a:r>
              <a:rPr lang="en-US" sz="1400" dirty="0">
                <a:solidFill>
                  <a:srgbClr val="4A5364"/>
                </a:solidFill>
                <a:latin typeface="Pretendard" pitchFamily="34" charset="0"/>
                <a:ea typeface="Pretendard" pitchFamily="34" charset="-122"/>
                <a:cs typeface="Pretendard" pitchFamily="34" charset="-120"/>
              </a:rPr>
              <a:t>병합은 같은 이름만 · 임베딩 연결·유사 이름 병합은 직접 조립</a:t>
            </a:r>
            <a:endParaRPr lang="en-US" sz="1400" dirty="0"/>
          </a:p>
        </p:txBody>
      </p:sp>
      <p:sp>
        <p:nvSpPr>
          <p:cNvPr id="25" name="Shape 22"/>
          <p:cNvSpPr/>
          <p:nvPr/>
        </p:nvSpPr>
        <p:spPr>
          <a:xfrm>
            <a:off x="509321" y="3127248"/>
            <a:ext cx="6675120" cy="822960"/>
          </a:xfrm>
          <a:prstGeom prst="roundRect">
            <a:avLst>
              <a:gd name="adj" fmla="val 6667"/>
            </a:avLst>
          </a:prstGeom>
          <a:solidFill>
            <a:srgbClr val="F5F8FC"/>
          </a:solidFill>
          <a:ln w="12700">
            <a:solidFill>
              <a:srgbClr val="D9E0EC"/>
            </a:solidFill>
            <a:prstDash val="solid"/>
          </a:ln>
        </p:spPr>
      </p:sp>
      <p:sp>
        <p:nvSpPr>
          <p:cNvPr id="26" name="Text 23"/>
          <p:cNvSpPr txBox="1"/>
          <p:nvPr/>
        </p:nvSpPr>
        <p:spPr>
          <a:xfrm>
            <a:off x="646481" y="3172968"/>
            <a:ext cx="6400800" cy="731520"/>
          </a:xfrm>
          <a:prstGeom prst="rect">
            <a:avLst/>
          </a:prstGeom>
          <a:noFill/>
          <a:ln/>
        </p:spPr>
        <p:txBody>
          <a:bodyPr wrap="square" lIns="254" tIns="254" rIns="254" bIns="254" rtlCol="0" anchor="ctr"/>
          <a:lstStyle/>
          <a:p>
            <a:pPr indent="0" marL="0">
              <a:lnSpc>
                <a:spcPct val="105000"/>
              </a:lnSpc>
              <a:buNone/>
            </a:pPr>
            <a:r>
              <a:rPr lang="en-US" sz="1500" dirty="0">
                <a:solidFill>
                  <a:srgbClr val="2B3242"/>
                </a:solidFill>
                <a:latin typeface="Pretendard" pitchFamily="34" charset="0"/>
                <a:ea typeface="Pretendard" pitchFamily="34" charset="-122"/>
                <a:cs typeface="Pretendard" pitchFamily="34" charset="-120"/>
              </a:rPr>
              <a:t>t = LLMGraphTransformer(llm=llm, allowed_nodes=[...])</a:t>
            </a:r>
            <a:endParaRPr lang="en-US" sz="1500" dirty="0"/>
          </a:p>
          <a:p>
            <a:pPr indent="0" marL="0">
              <a:lnSpc>
                <a:spcPct val="105000"/>
              </a:lnSpc>
              <a:buNone/>
            </a:pPr>
            <a:r>
              <a:rPr lang="en-US" sz="1500" dirty="0">
                <a:solidFill>
                  <a:srgbClr val="2B3242"/>
                </a:solidFill>
                <a:latin typeface="Pretendard" pitchFamily="34" charset="0"/>
                <a:ea typeface="Pretendard" pitchFamily="34" charset="-122"/>
                <a:cs typeface="Pretendard" pitchFamily="34" charset="-120"/>
              </a:rPr>
              <a:t>docs = t.convert_to_graph_documents(chunks)</a:t>
            </a:r>
            <a:endParaRPr lang="en-US" sz="1500" dirty="0"/>
          </a:p>
          <a:p>
            <a:pPr indent="0" marL="0">
              <a:lnSpc>
                <a:spcPct val="105000"/>
              </a:lnSpc>
              <a:buNone/>
            </a:pPr>
            <a:r>
              <a:rPr lang="en-US" sz="1500" dirty="0">
                <a:solidFill>
                  <a:srgbClr val="2B3242"/>
                </a:solidFill>
                <a:latin typeface="Pretendard" pitchFamily="34" charset="0"/>
                <a:ea typeface="Pretendard" pitchFamily="34" charset="-122"/>
                <a:cs typeface="Pretendard" pitchFamily="34" charset="-120"/>
              </a:rPr>
              <a:t>graph.add_graph_documents(docs, include_source=True)</a:t>
            </a:r>
            <a:endParaRPr lang="en-US" sz="1500" dirty="0"/>
          </a:p>
        </p:txBody>
      </p:sp>
      <p:sp>
        <p:nvSpPr>
          <p:cNvPr id="27" name="Shape 24"/>
          <p:cNvSpPr/>
          <p:nvPr/>
        </p:nvSpPr>
        <p:spPr>
          <a:xfrm>
            <a:off x="509321" y="4041648"/>
            <a:ext cx="6675120" cy="868680"/>
          </a:xfrm>
          <a:prstGeom prst="roundRect">
            <a:avLst>
              <a:gd name="adj" fmla="val 8421"/>
            </a:avLst>
          </a:prstGeom>
          <a:solidFill>
            <a:srgbClr val="EEF3FA"/>
          </a:solidFill>
          <a:ln w="12700">
            <a:solidFill>
              <a:srgbClr val="D9E0EC"/>
            </a:solidFill>
            <a:prstDash val="solid"/>
          </a:ln>
        </p:spPr>
      </p:sp>
      <p:sp>
        <p:nvSpPr>
          <p:cNvPr id="28" name="Shape 25"/>
          <p:cNvSpPr/>
          <p:nvPr/>
        </p:nvSpPr>
        <p:spPr>
          <a:xfrm>
            <a:off x="600761" y="4133088"/>
            <a:ext cx="658368" cy="685800"/>
          </a:xfrm>
          <a:prstGeom prst="roundRect">
            <a:avLst>
              <a:gd name="adj" fmla="val 6944"/>
            </a:avLst>
          </a:prstGeom>
          <a:solidFill>
            <a:srgbClr val="2E74C6"/>
          </a:solidFill>
          <a:ln/>
        </p:spPr>
      </p:sp>
      <p:sp>
        <p:nvSpPr>
          <p:cNvPr id="29" name="Text 26"/>
          <p:cNvSpPr txBox="1"/>
          <p:nvPr/>
        </p:nvSpPr>
        <p:spPr>
          <a:xfrm>
            <a:off x="600761" y="4133088"/>
            <a:ext cx="658368" cy="685800"/>
          </a:xfrm>
          <a:prstGeom prst="rect">
            <a:avLst/>
          </a:prstGeom>
          <a:noFill/>
          <a:ln/>
        </p:spPr>
        <p:txBody>
          <a:bodyPr wrap="square" lIns="1016" tIns="1016" rIns="1016" bIns="1016"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장점</a:t>
            </a:r>
            <a:endParaRPr lang="en-US" sz="1500" dirty="0"/>
          </a:p>
        </p:txBody>
      </p:sp>
      <p:sp>
        <p:nvSpPr>
          <p:cNvPr id="30" name="Text 27"/>
          <p:cNvSpPr txBox="1"/>
          <p:nvPr/>
        </p:nvSpPr>
        <p:spPr>
          <a:xfrm>
            <a:off x="1332281" y="4096512"/>
            <a:ext cx="237744" cy="265176"/>
          </a:xfrm>
          <a:prstGeom prst="rect">
            <a:avLst/>
          </a:prstGeom>
          <a:noFill/>
          <a:ln/>
        </p:spPr>
        <p:txBody>
          <a:bodyPr wrap="square" lIns="0" tIns="0" rIns="0" bIns="0" rtlCol="0" anchor="ctr"/>
          <a:lstStyle/>
          <a:p>
            <a:pPr algn="ctr" indent="0" marL="0">
              <a:buNone/>
            </a:pPr>
            <a:r>
              <a:rPr lang="en-US" sz="1500" b="1" dirty="0">
                <a:solidFill>
                  <a:srgbClr val="2E74C6"/>
                </a:solidFill>
                <a:latin typeface="Pretendard" pitchFamily="34" charset="0"/>
                <a:ea typeface="Pretendard" pitchFamily="34" charset="-122"/>
                <a:cs typeface="Pretendard" pitchFamily="34" charset="-120"/>
              </a:rPr>
              <a:t>+</a:t>
            </a:r>
            <a:endParaRPr lang="en-US" sz="1500" dirty="0"/>
          </a:p>
        </p:txBody>
      </p:sp>
      <p:sp>
        <p:nvSpPr>
          <p:cNvPr id="31" name="Text 28"/>
          <p:cNvSpPr txBox="1"/>
          <p:nvPr/>
        </p:nvSpPr>
        <p:spPr>
          <a:xfrm>
            <a:off x="1570025" y="4096512"/>
            <a:ext cx="5541264" cy="265176"/>
          </a:xfrm>
          <a:prstGeom prst="rect">
            <a:avLst/>
          </a:prstGeom>
          <a:noFill/>
          <a:ln/>
        </p:spPr>
        <p:txBody>
          <a:bodyPr wrap="square" lIns="0" tIns="0" rIns="0" bIns="0" rtlCol="0" anchor="ctr"/>
          <a:lstStyle/>
          <a:p>
            <a:pPr algn="l" indent="0" marL="0">
              <a:buNone/>
            </a:pPr>
            <a:r>
              <a:rPr lang="en-US" sz="1500" dirty="0">
                <a:solidFill>
                  <a:srgbClr val="2B3242"/>
                </a:solidFill>
                <a:latin typeface="Pretendard" pitchFamily="34" charset="0"/>
                <a:ea typeface="Pretendard" pitchFamily="34" charset="-122"/>
                <a:cs typeface="Pretendard" pitchFamily="34" charset="-120"/>
              </a:rPr>
              <a:t>코드 3줄로 첫 그래프 — 배우기·시연이 빠름</a:t>
            </a:r>
            <a:endParaRPr lang="en-US" sz="1500" dirty="0"/>
          </a:p>
        </p:txBody>
      </p:sp>
      <p:sp>
        <p:nvSpPr>
          <p:cNvPr id="32" name="Text 29"/>
          <p:cNvSpPr txBox="1"/>
          <p:nvPr/>
        </p:nvSpPr>
        <p:spPr>
          <a:xfrm>
            <a:off x="1332281" y="4366260"/>
            <a:ext cx="237744" cy="265176"/>
          </a:xfrm>
          <a:prstGeom prst="rect">
            <a:avLst/>
          </a:prstGeom>
          <a:noFill/>
          <a:ln/>
        </p:spPr>
        <p:txBody>
          <a:bodyPr wrap="square" lIns="0" tIns="0" rIns="0" bIns="0" rtlCol="0" anchor="ctr"/>
          <a:lstStyle/>
          <a:p>
            <a:pPr algn="ctr" indent="0" marL="0">
              <a:buNone/>
            </a:pPr>
            <a:r>
              <a:rPr lang="en-US" sz="1500" b="1" dirty="0">
                <a:solidFill>
                  <a:srgbClr val="2E74C6"/>
                </a:solidFill>
                <a:latin typeface="Pretendard" pitchFamily="34" charset="0"/>
                <a:ea typeface="Pretendard" pitchFamily="34" charset="-122"/>
                <a:cs typeface="Pretendard" pitchFamily="34" charset="-120"/>
              </a:rPr>
              <a:t>+</a:t>
            </a:r>
            <a:endParaRPr lang="en-US" sz="1500" dirty="0"/>
          </a:p>
        </p:txBody>
      </p:sp>
      <p:sp>
        <p:nvSpPr>
          <p:cNvPr id="33" name="Text 30"/>
          <p:cNvSpPr txBox="1"/>
          <p:nvPr/>
        </p:nvSpPr>
        <p:spPr>
          <a:xfrm>
            <a:off x="1570025" y="4366260"/>
            <a:ext cx="5541264" cy="265176"/>
          </a:xfrm>
          <a:prstGeom prst="rect">
            <a:avLst/>
          </a:prstGeom>
          <a:noFill/>
          <a:ln/>
        </p:spPr>
        <p:txBody>
          <a:bodyPr wrap="square" lIns="0" tIns="0" rIns="0" bIns="0" rtlCol="0" anchor="ctr"/>
          <a:lstStyle/>
          <a:p>
            <a:pPr algn="l" indent="0" marL="0">
              <a:buNone/>
            </a:pPr>
            <a:r>
              <a:rPr lang="en-US" sz="1500" dirty="0">
                <a:solidFill>
                  <a:srgbClr val="2B3242"/>
                </a:solidFill>
                <a:latin typeface="Pretendard" pitchFamily="34" charset="0"/>
                <a:ea typeface="Pretendard" pitchFamily="34" charset="-122"/>
                <a:cs typeface="Pretendard" pitchFamily="34" charset="-120"/>
              </a:rPr>
              <a:t>LLM 교체 쉬움 — ChatOpenAI·ChatOllama 객체만 바꿈</a:t>
            </a:r>
            <a:endParaRPr lang="en-US" sz="1500" dirty="0"/>
          </a:p>
        </p:txBody>
      </p:sp>
      <p:sp>
        <p:nvSpPr>
          <p:cNvPr id="34" name="Text 31"/>
          <p:cNvSpPr txBox="1"/>
          <p:nvPr/>
        </p:nvSpPr>
        <p:spPr>
          <a:xfrm>
            <a:off x="1332281" y="4636008"/>
            <a:ext cx="237744" cy="265176"/>
          </a:xfrm>
          <a:prstGeom prst="rect">
            <a:avLst/>
          </a:prstGeom>
          <a:noFill/>
          <a:ln/>
        </p:spPr>
        <p:txBody>
          <a:bodyPr wrap="square" lIns="0" tIns="0" rIns="0" bIns="0" rtlCol="0" anchor="ctr"/>
          <a:lstStyle/>
          <a:p>
            <a:pPr algn="ctr" indent="0" marL="0">
              <a:buNone/>
            </a:pPr>
            <a:r>
              <a:rPr lang="en-US" sz="1500" b="1" dirty="0">
                <a:solidFill>
                  <a:srgbClr val="2E74C6"/>
                </a:solidFill>
                <a:latin typeface="Pretendard" pitchFamily="34" charset="0"/>
                <a:ea typeface="Pretendard" pitchFamily="34" charset="-122"/>
                <a:cs typeface="Pretendard" pitchFamily="34" charset="-120"/>
              </a:rPr>
              <a:t>+</a:t>
            </a:r>
            <a:endParaRPr lang="en-US" sz="1500" dirty="0"/>
          </a:p>
        </p:txBody>
      </p:sp>
      <p:sp>
        <p:nvSpPr>
          <p:cNvPr id="35" name="Text 32"/>
          <p:cNvSpPr txBox="1"/>
          <p:nvPr/>
        </p:nvSpPr>
        <p:spPr>
          <a:xfrm>
            <a:off x="1570025" y="4636008"/>
            <a:ext cx="5541264" cy="265176"/>
          </a:xfrm>
          <a:prstGeom prst="rect">
            <a:avLst/>
          </a:prstGeom>
          <a:noFill/>
          <a:ln/>
        </p:spPr>
        <p:txBody>
          <a:bodyPr wrap="square" lIns="0" tIns="0" rIns="0" bIns="0" rtlCol="0" anchor="ctr"/>
          <a:lstStyle/>
          <a:p>
            <a:pPr algn="l" indent="0" marL="0">
              <a:buNone/>
            </a:pPr>
            <a:r>
              <a:rPr lang="en-US" sz="1500" dirty="0">
                <a:solidFill>
                  <a:srgbClr val="2B3242"/>
                </a:solidFill>
                <a:latin typeface="Pretendard" pitchFamily="34" charset="0"/>
                <a:ea typeface="Pretendard" pitchFamily="34" charset="-122"/>
                <a:cs typeface="Pretendard" pitchFamily="34" charset="-120"/>
              </a:rPr>
              <a:t>LangChain·LangGraph 흐름에 그대로 끼움</a:t>
            </a:r>
            <a:endParaRPr lang="en-US" sz="1500" dirty="0"/>
          </a:p>
        </p:txBody>
      </p:sp>
      <p:sp>
        <p:nvSpPr>
          <p:cNvPr id="36" name="Shape 33"/>
          <p:cNvSpPr/>
          <p:nvPr/>
        </p:nvSpPr>
        <p:spPr>
          <a:xfrm>
            <a:off x="509321" y="4965192"/>
            <a:ext cx="6675120" cy="868680"/>
          </a:xfrm>
          <a:prstGeom prst="roundRect">
            <a:avLst>
              <a:gd name="adj" fmla="val 8421"/>
            </a:avLst>
          </a:prstGeom>
          <a:solidFill>
            <a:srgbClr val="FFFFFF"/>
          </a:solidFill>
          <a:ln w="12700">
            <a:solidFill>
              <a:srgbClr val="D9E0EC"/>
            </a:solidFill>
            <a:prstDash val="solid"/>
          </a:ln>
        </p:spPr>
      </p:sp>
      <p:sp>
        <p:nvSpPr>
          <p:cNvPr id="37" name="Shape 34"/>
          <p:cNvSpPr/>
          <p:nvPr/>
        </p:nvSpPr>
        <p:spPr>
          <a:xfrm>
            <a:off x="600761" y="5056632"/>
            <a:ext cx="658368" cy="685800"/>
          </a:xfrm>
          <a:prstGeom prst="roundRect">
            <a:avLst>
              <a:gd name="adj" fmla="val 6944"/>
            </a:avLst>
          </a:prstGeom>
          <a:solidFill>
            <a:srgbClr val="404155"/>
          </a:solidFill>
          <a:ln/>
        </p:spPr>
      </p:sp>
      <p:sp>
        <p:nvSpPr>
          <p:cNvPr id="38" name="Text 35"/>
          <p:cNvSpPr txBox="1"/>
          <p:nvPr/>
        </p:nvSpPr>
        <p:spPr>
          <a:xfrm>
            <a:off x="600761" y="5056632"/>
            <a:ext cx="658368" cy="685800"/>
          </a:xfrm>
          <a:prstGeom prst="rect">
            <a:avLst/>
          </a:prstGeom>
          <a:noFill/>
          <a:ln/>
        </p:spPr>
        <p:txBody>
          <a:bodyPr wrap="square" lIns="1016" tIns="1016" rIns="1016" bIns="1016"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단점</a:t>
            </a:r>
            <a:endParaRPr lang="en-US" sz="1500" dirty="0"/>
          </a:p>
        </p:txBody>
      </p:sp>
      <p:sp>
        <p:nvSpPr>
          <p:cNvPr id="39" name="Text 36"/>
          <p:cNvSpPr txBox="1"/>
          <p:nvPr/>
        </p:nvSpPr>
        <p:spPr>
          <a:xfrm>
            <a:off x="1332281" y="5020056"/>
            <a:ext cx="237744" cy="265176"/>
          </a:xfrm>
          <a:prstGeom prst="rect">
            <a:avLst/>
          </a:prstGeom>
          <a:noFill/>
          <a:ln/>
        </p:spPr>
        <p:txBody>
          <a:bodyPr wrap="square" lIns="0" tIns="0" rIns="0" bIns="0" rtlCol="0" anchor="ctr"/>
          <a:lstStyle/>
          <a:p>
            <a:pPr algn="ctr" indent="0" marL="0">
              <a:buNone/>
            </a:pPr>
            <a:r>
              <a:rPr lang="en-US" sz="1500" b="1" dirty="0">
                <a:solidFill>
                  <a:srgbClr val="404155"/>
                </a:solidFill>
                <a:latin typeface="Pretendard" pitchFamily="34" charset="0"/>
                <a:ea typeface="Pretendard" pitchFamily="34" charset="-122"/>
                <a:cs typeface="Pretendard" pitchFamily="34" charset="-120"/>
              </a:rPr>
              <a:t>−</a:t>
            </a:r>
            <a:endParaRPr lang="en-US" sz="1500" dirty="0"/>
          </a:p>
        </p:txBody>
      </p:sp>
      <p:sp>
        <p:nvSpPr>
          <p:cNvPr id="40" name="Text 37"/>
          <p:cNvSpPr txBox="1"/>
          <p:nvPr/>
        </p:nvSpPr>
        <p:spPr>
          <a:xfrm>
            <a:off x="1570025" y="5020056"/>
            <a:ext cx="5541264" cy="265176"/>
          </a:xfrm>
          <a:prstGeom prst="rect">
            <a:avLst/>
          </a:prstGeom>
          <a:noFill/>
          <a:ln/>
        </p:spPr>
        <p:txBody>
          <a:bodyPr wrap="square" lIns="0" tIns="0" rIns="0" bIns="0" rtlCol="0" anchor="ctr"/>
          <a:lstStyle/>
          <a:p>
            <a:pPr algn="l" indent="0" marL="0">
              <a:buNone/>
            </a:pPr>
            <a:r>
              <a:rPr lang="en-US" sz="1500" dirty="0">
                <a:solidFill>
                  <a:srgbClr val="2B3242"/>
                </a:solidFill>
                <a:latin typeface="Pretendard" pitchFamily="34" charset="0"/>
                <a:ea typeface="Pretendard" pitchFamily="34" charset="-122"/>
                <a:cs typeface="Pretendard" pitchFamily="34" charset="-120"/>
              </a:rPr>
              <a:t>추출만 맡음 — 임베딩 연결(Neo4jVector)은 따로 조립</a:t>
            </a:r>
            <a:endParaRPr lang="en-US" sz="1500" dirty="0"/>
          </a:p>
        </p:txBody>
      </p:sp>
      <p:sp>
        <p:nvSpPr>
          <p:cNvPr id="41" name="Text 38"/>
          <p:cNvSpPr txBox="1"/>
          <p:nvPr/>
        </p:nvSpPr>
        <p:spPr>
          <a:xfrm>
            <a:off x="1332281" y="5289804"/>
            <a:ext cx="237744" cy="265176"/>
          </a:xfrm>
          <a:prstGeom prst="rect">
            <a:avLst/>
          </a:prstGeom>
          <a:noFill/>
          <a:ln/>
        </p:spPr>
        <p:txBody>
          <a:bodyPr wrap="square" lIns="0" tIns="0" rIns="0" bIns="0" rtlCol="0" anchor="ctr"/>
          <a:lstStyle/>
          <a:p>
            <a:pPr algn="ctr" indent="0" marL="0">
              <a:buNone/>
            </a:pPr>
            <a:r>
              <a:rPr lang="en-US" sz="1500" b="1" dirty="0">
                <a:solidFill>
                  <a:srgbClr val="404155"/>
                </a:solidFill>
                <a:latin typeface="Pretendard" pitchFamily="34" charset="0"/>
                <a:ea typeface="Pretendard" pitchFamily="34" charset="-122"/>
                <a:cs typeface="Pretendard" pitchFamily="34" charset="-120"/>
              </a:rPr>
              <a:t>−</a:t>
            </a:r>
            <a:endParaRPr lang="en-US" sz="1500" dirty="0"/>
          </a:p>
        </p:txBody>
      </p:sp>
      <p:sp>
        <p:nvSpPr>
          <p:cNvPr id="42" name="Text 39"/>
          <p:cNvSpPr txBox="1"/>
          <p:nvPr/>
        </p:nvSpPr>
        <p:spPr>
          <a:xfrm>
            <a:off x="1570025" y="5289804"/>
            <a:ext cx="5541264" cy="265176"/>
          </a:xfrm>
          <a:prstGeom prst="rect">
            <a:avLst/>
          </a:prstGeom>
          <a:noFill/>
          <a:ln/>
        </p:spPr>
        <p:txBody>
          <a:bodyPr wrap="square" lIns="0" tIns="0" rIns="0" bIns="0" rtlCol="0" anchor="ctr"/>
          <a:lstStyle/>
          <a:p>
            <a:pPr algn="l" indent="0" marL="0">
              <a:buNone/>
            </a:pPr>
            <a:r>
              <a:rPr lang="en-US" sz="1500" dirty="0">
                <a:solidFill>
                  <a:srgbClr val="2B3242"/>
                </a:solidFill>
                <a:latin typeface="Pretendard" pitchFamily="34" charset="0"/>
                <a:ea typeface="Pretendard" pitchFamily="34" charset="-122"/>
                <a:cs typeface="Pretendard" pitchFamily="34" charset="-120"/>
              </a:rPr>
              <a:t>유사 이름('A사'·'A사(주)') 병합은 직접 작성</a:t>
            </a:r>
            <a:endParaRPr lang="en-US" sz="1500" dirty="0"/>
          </a:p>
        </p:txBody>
      </p:sp>
      <p:sp>
        <p:nvSpPr>
          <p:cNvPr id="43" name="Text 40"/>
          <p:cNvSpPr txBox="1"/>
          <p:nvPr/>
        </p:nvSpPr>
        <p:spPr>
          <a:xfrm>
            <a:off x="1332281" y="5559552"/>
            <a:ext cx="237744" cy="265176"/>
          </a:xfrm>
          <a:prstGeom prst="rect">
            <a:avLst/>
          </a:prstGeom>
          <a:noFill/>
          <a:ln/>
        </p:spPr>
        <p:txBody>
          <a:bodyPr wrap="square" lIns="0" tIns="0" rIns="0" bIns="0" rtlCol="0" anchor="ctr"/>
          <a:lstStyle/>
          <a:p>
            <a:pPr algn="ctr" indent="0" marL="0">
              <a:buNone/>
            </a:pPr>
            <a:r>
              <a:rPr lang="en-US" sz="1500" b="1" dirty="0">
                <a:solidFill>
                  <a:srgbClr val="404155"/>
                </a:solidFill>
                <a:latin typeface="Pretendard" pitchFamily="34" charset="0"/>
                <a:ea typeface="Pretendard" pitchFamily="34" charset="-122"/>
                <a:cs typeface="Pretendard" pitchFamily="34" charset="-120"/>
              </a:rPr>
              <a:t>−</a:t>
            </a:r>
            <a:endParaRPr lang="en-US" sz="1500" dirty="0"/>
          </a:p>
        </p:txBody>
      </p:sp>
      <p:sp>
        <p:nvSpPr>
          <p:cNvPr id="44" name="Text 41"/>
          <p:cNvSpPr txBox="1"/>
          <p:nvPr/>
        </p:nvSpPr>
        <p:spPr>
          <a:xfrm>
            <a:off x="1570025" y="5559552"/>
            <a:ext cx="5541264" cy="265176"/>
          </a:xfrm>
          <a:prstGeom prst="rect">
            <a:avLst/>
          </a:prstGeom>
          <a:noFill/>
          <a:ln/>
        </p:spPr>
        <p:txBody>
          <a:bodyPr wrap="square" lIns="0" tIns="0" rIns="0" bIns="0" rtlCol="0" anchor="ctr"/>
          <a:lstStyle/>
          <a:p>
            <a:pPr algn="l" indent="0" marL="0">
              <a:buNone/>
            </a:pPr>
            <a:r>
              <a:rPr lang="en-US" sz="1500" dirty="0">
                <a:solidFill>
                  <a:srgbClr val="2B3242"/>
                </a:solidFill>
                <a:latin typeface="Pretendard" pitchFamily="34" charset="0"/>
                <a:ea typeface="Pretendard" pitchFamily="34" charset="-122"/>
                <a:cs typeface="Pretendard" pitchFamily="34" charset="-120"/>
              </a:rPr>
              <a:t>옛 예제의 langchain_experimental 경로는 종료</a:t>
            </a:r>
            <a:endParaRPr lang="en-US" sz="1500" dirty="0"/>
          </a:p>
        </p:txBody>
      </p:sp>
      <p:sp>
        <p:nvSpPr>
          <p:cNvPr id="45" name="Shape 42"/>
          <p:cNvSpPr/>
          <p:nvPr/>
        </p:nvSpPr>
        <p:spPr>
          <a:xfrm>
            <a:off x="7458761" y="1737360"/>
            <a:ext cx="6675120" cy="548640"/>
          </a:xfrm>
          <a:prstGeom prst="roundRect">
            <a:avLst>
              <a:gd name="adj" fmla="val 10000"/>
            </a:avLst>
          </a:prstGeom>
          <a:solidFill>
            <a:srgbClr val="1E2A5C"/>
          </a:solidFill>
          <a:ln/>
        </p:spPr>
      </p:sp>
      <p:sp>
        <p:nvSpPr>
          <p:cNvPr id="46" name="Shape 43"/>
          <p:cNvSpPr/>
          <p:nvPr/>
        </p:nvSpPr>
        <p:spPr>
          <a:xfrm>
            <a:off x="7568489" y="1837944"/>
            <a:ext cx="365760" cy="365760"/>
          </a:xfrm>
          <a:prstGeom prst="roundRect">
            <a:avLst>
              <a:gd name="adj" fmla="val 12500"/>
            </a:avLst>
          </a:prstGeom>
          <a:solidFill>
            <a:srgbClr val="FFFFFF"/>
          </a:solidFill>
          <a:ln/>
        </p:spPr>
      </p:sp>
      <p:sp>
        <p:nvSpPr>
          <p:cNvPr id="47" name="Text 44"/>
          <p:cNvSpPr txBox="1"/>
          <p:nvPr/>
        </p:nvSpPr>
        <p:spPr>
          <a:xfrm>
            <a:off x="7568489" y="1837944"/>
            <a:ext cx="365760" cy="365760"/>
          </a:xfrm>
          <a:prstGeom prst="rect">
            <a:avLst/>
          </a:prstGeom>
          <a:noFill/>
          <a:ln/>
        </p:spPr>
        <p:txBody>
          <a:bodyPr wrap="square" lIns="1016" tIns="1016" rIns="1016" bIns="1016" rtlCol="0" anchor="ctr"/>
          <a:lstStyle/>
          <a:p>
            <a:pPr algn="ctr" indent="0" marL="0">
              <a:buNone/>
            </a:pPr>
            <a:r>
              <a:rPr lang="en-US" sz="1800" b="1" dirty="0">
                <a:solidFill>
                  <a:srgbClr val="1E2A5C"/>
                </a:solidFill>
                <a:latin typeface="Pretendard" pitchFamily="34" charset="0"/>
                <a:ea typeface="Pretendard" pitchFamily="34" charset="-122"/>
                <a:cs typeface="Pretendard" pitchFamily="34" charset="-120"/>
              </a:rPr>
              <a:t>B</a:t>
            </a:r>
            <a:endParaRPr lang="en-US" sz="1800" dirty="0"/>
          </a:p>
        </p:txBody>
      </p:sp>
      <p:sp>
        <p:nvSpPr>
          <p:cNvPr id="48" name="Text 45"/>
          <p:cNvSpPr txBox="1"/>
          <p:nvPr/>
        </p:nvSpPr>
        <p:spPr>
          <a:xfrm>
            <a:off x="8025689" y="1737360"/>
            <a:ext cx="6035040" cy="548640"/>
          </a:xfrm>
          <a:prstGeom prst="rect">
            <a:avLst/>
          </a:prstGeom>
          <a:noFill/>
          <a:ln/>
        </p:spPr>
        <p:txBody>
          <a:bodyPr wrap="square" lIns="254" tIns="254" rIns="254" bIns="254" rtlCol="0" anchor="ctr"/>
          <a:lstStyle/>
          <a:p>
            <a:pPr indent="0" marL="0">
              <a:buNone/>
            </a:pPr>
            <a:r>
              <a:rPr lang="en-US" sz="2100" b="1" dirty="0">
                <a:solidFill>
                  <a:srgbClr val="FFFFFF"/>
                </a:solidFill>
                <a:latin typeface="Pretendard" pitchFamily="34" charset="0"/>
                <a:ea typeface="Pretendard" pitchFamily="34" charset="-122"/>
                <a:cs typeface="Pretendard" pitchFamily="34" charset="-120"/>
              </a:rPr>
              <a:t>Native Neo4j</a:t>
            </a:r>
            <a:pPr indent="0" marL="0">
              <a:buNone/>
            </a:pPr>
            <a:r>
              <a:rPr lang="en-US" sz="1400" dirty="0">
                <a:solidFill>
                  <a:srgbClr val="D9E3F5"/>
                </a:solidFill>
                <a:latin typeface="Pretendard" pitchFamily="34" charset="0"/>
                <a:ea typeface="Pretendard" pitchFamily="34" charset="-122"/>
                <a:cs typeface="Pretendard" pitchFamily="34" charset="-120"/>
              </a:rPr>
              <a:t>  neo4j-graphrag · 추출기·저장기·병합기 부품</a:t>
            </a:r>
            <a:endParaRPr lang="en-US" sz="2100" dirty="0"/>
          </a:p>
        </p:txBody>
      </p:sp>
      <p:sp>
        <p:nvSpPr>
          <p:cNvPr id="49" name="Text 46"/>
          <p:cNvSpPr txBox="1"/>
          <p:nvPr/>
        </p:nvSpPr>
        <p:spPr>
          <a:xfrm>
            <a:off x="7458761" y="2377440"/>
            <a:ext cx="502920" cy="384048"/>
          </a:xfrm>
          <a:prstGeom prst="rect">
            <a:avLst/>
          </a:prstGeom>
          <a:noFill/>
          <a:ln/>
        </p:spPr>
        <p:txBody>
          <a:bodyPr wrap="square" lIns="0" tIns="0" rIns="0" bIns="0" rtlCol="0" anchor="ctr"/>
          <a:lstStyle/>
          <a:p>
            <a:pPr algn="l" indent="0" marL="0">
              <a:buNone/>
            </a:pPr>
            <a:r>
              <a:rPr lang="en-US" sz="1500" b="1" dirty="0">
                <a:solidFill>
                  <a:srgbClr val="1E2A5C"/>
                </a:solidFill>
                <a:latin typeface="Pretendard" pitchFamily="34" charset="0"/>
                <a:ea typeface="Pretendard" pitchFamily="34" charset="-122"/>
                <a:cs typeface="Pretendard" pitchFamily="34" charset="-120"/>
              </a:rPr>
              <a:t>범위</a:t>
            </a:r>
            <a:endParaRPr lang="en-US" sz="1500" dirty="0"/>
          </a:p>
        </p:txBody>
      </p:sp>
      <p:sp>
        <p:nvSpPr>
          <p:cNvPr id="50" name="Shape 47"/>
          <p:cNvSpPr/>
          <p:nvPr/>
        </p:nvSpPr>
        <p:spPr>
          <a:xfrm>
            <a:off x="7961681" y="2377440"/>
            <a:ext cx="834717" cy="384048"/>
          </a:xfrm>
          <a:prstGeom prst="roundRect">
            <a:avLst>
              <a:gd name="adj" fmla="val 45000"/>
            </a:avLst>
          </a:prstGeom>
          <a:solidFill>
            <a:srgbClr val="1E2A5C"/>
          </a:solidFill>
          <a:ln/>
        </p:spPr>
      </p:sp>
      <p:sp>
        <p:nvSpPr>
          <p:cNvPr id="51" name="Text 48"/>
          <p:cNvSpPr txBox="1"/>
          <p:nvPr/>
        </p:nvSpPr>
        <p:spPr>
          <a:xfrm>
            <a:off x="7961681" y="2377440"/>
            <a:ext cx="834717" cy="384048"/>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로드</a:t>
            </a:r>
            <a:endParaRPr lang="en-US" sz="1400" dirty="0"/>
          </a:p>
        </p:txBody>
      </p:sp>
      <p:sp>
        <p:nvSpPr>
          <p:cNvPr id="52" name="Shape 49"/>
          <p:cNvSpPr/>
          <p:nvPr/>
        </p:nvSpPr>
        <p:spPr>
          <a:xfrm>
            <a:off x="8851261" y="2377440"/>
            <a:ext cx="834717" cy="384048"/>
          </a:xfrm>
          <a:prstGeom prst="roundRect">
            <a:avLst>
              <a:gd name="adj" fmla="val 45000"/>
            </a:avLst>
          </a:prstGeom>
          <a:solidFill>
            <a:srgbClr val="FFFFFF"/>
          </a:solidFill>
          <a:ln w="15875">
            <a:solidFill>
              <a:srgbClr val="7C8598"/>
            </a:solidFill>
            <a:prstDash val="dash"/>
          </a:ln>
        </p:spPr>
      </p:sp>
      <p:sp>
        <p:nvSpPr>
          <p:cNvPr id="53" name="Text 50"/>
          <p:cNvSpPr txBox="1"/>
          <p:nvPr/>
        </p:nvSpPr>
        <p:spPr>
          <a:xfrm>
            <a:off x="8851261" y="2377440"/>
            <a:ext cx="834717" cy="384048"/>
          </a:xfrm>
          <a:prstGeom prst="rect">
            <a:avLst/>
          </a:prstGeom>
          <a:noFill/>
          <a:ln/>
        </p:spPr>
        <p:txBody>
          <a:bodyPr wrap="square" lIns="1016" tIns="1016" rIns="1016" bIns="1016" rtlCol="0" anchor="ctr"/>
          <a:lstStyle/>
          <a:p>
            <a:pPr algn="ctr" indent="0" marL="0">
              <a:buNone/>
            </a:pPr>
            <a:r>
              <a:rPr lang="en-US" sz="1400" b="1" dirty="0">
                <a:solidFill>
                  <a:srgbClr val="7C8598"/>
                </a:solidFill>
                <a:latin typeface="Pretendard" pitchFamily="34" charset="0"/>
                <a:ea typeface="Pretendard" pitchFamily="34" charset="-122"/>
                <a:cs typeface="Pretendard" pitchFamily="34" charset="-120"/>
              </a:rPr>
              <a:t>가명처리</a:t>
            </a:r>
            <a:endParaRPr lang="en-US" sz="1400" dirty="0"/>
          </a:p>
        </p:txBody>
      </p:sp>
      <p:sp>
        <p:nvSpPr>
          <p:cNvPr id="54" name="Shape 51"/>
          <p:cNvSpPr/>
          <p:nvPr/>
        </p:nvSpPr>
        <p:spPr>
          <a:xfrm>
            <a:off x="9740842" y="2377440"/>
            <a:ext cx="834717" cy="384048"/>
          </a:xfrm>
          <a:prstGeom prst="roundRect">
            <a:avLst>
              <a:gd name="adj" fmla="val 45000"/>
            </a:avLst>
          </a:prstGeom>
          <a:solidFill>
            <a:srgbClr val="1E2A5C"/>
          </a:solidFill>
          <a:ln/>
        </p:spPr>
      </p:sp>
      <p:sp>
        <p:nvSpPr>
          <p:cNvPr id="55" name="Text 52"/>
          <p:cNvSpPr txBox="1"/>
          <p:nvPr/>
        </p:nvSpPr>
        <p:spPr>
          <a:xfrm>
            <a:off x="9740842" y="2377440"/>
            <a:ext cx="834717" cy="384048"/>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청킹</a:t>
            </a:r>
            <a:endParaRPr lang="en-US" sz="1400" dirty="0"/>
          </a:p>
        </p:txBody>
      </p:sp>
      <p:sp>
        <p:nvSpPr>
          <p:cNvPr id="56" name="Shape 53"/>
          <p:cNvSpPr/>
          <p:nvPr/>
        </p:nvSpPr>
        <p:spPr>
          <a:xfrm>
            <a:off x="10630423" y="2377440"/>
            <a:ext cx="834717" cy="384048"/>
          </a:xfrm>
          <a:prstGeom prst="roundRect">
            <a:avLst>
              <a:gd name="adj" fmla="val 45000"/>
            </a:avLst>
          </a:prstGeom>
          <a:solidFill>
            <a:srgbClr val="1E2A5C"/>
          </a:solidFill>
          <a:ln/>
        </p:spPr>
      </p:sp>
      <p:sp>
        <p:nvSpPr>
          <p:cNvPr id="57" name="Text 54"/>
          <p:cNvSpPr txBox="1"/>
          <p:nvPr/>
        </p:nvSpPr>
        <p:spPr>
          <a:xfrm>
            <a:off x="10630423" y="2377440"/>
            <a:ext cx="834717" cy="384048"/>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④ 추출</a:t>
            </a:r>
            <a:endParaRPr lang="en-US" sz="1400" dirty="0"/>
          </a:p>
        </p:txBody>
      </p:sp>
      <p:sp>
        <p:nvSpPr>
          <p:cNvPr id="58" name="Shape 55"/>
          <p:cNvSpPr/>
          <p:nvPr/>
        </p:nvSpPr>
        <p:spPr>
          <a:xfrm>
            <a:off x="11520003" y="2377440"/>
            <a:ext cx="834717" cy="384048"/>
          </a:xfrm>
          <a:prstGeom prst="roundRect">
            <a:avLst>
              <a:gd name="adj" fmla="val 45000"/>
            </a:avLst>
          </a:prstGeom>
          <a:solidFill>
            <a:srgbClr val="1E2A5C"/>
          </a:solidFill>
          <a:ln/>
        </p:spPr>
      </p:sp>
      <p:sp>
        <p:nvSpPr>
          <p:cNvPr id="59" name="Text 56"/>
          <p:cNvSpPr txBox="1"/>
          <p:nvPr/>
        </p:nvSpPr>
        <p:spPr>
          <a:xfrm>
            <a:off x="11520003" y="2377440"/>
            <a:ext cx="834717" cy="384048"/>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병합</a:t>
            </a:r>
            <a:endParaRPr lang="en-US" sz="1400" dirty="0"/>
          </a:p>
        </p:txBody>
      </p:sp>
      <p:sp>
        <p:nvSpPr>
          <p:cNvPr id="60" name="Shape 57"/>
          <p:cNvSpPr/>
          <p:nvPr/>
        </p:nvSpPr>
        <p:spPr>
          <a:xfrm>
            <a:off x="12409584" y="2377440"/>
            <a:ext cx="834717" cy="384048"/>
          </a:xfrm>
          <a:prstGeom prst="roundRect">
            <a:avLst>
              <a:gd name="adj" fmla="val 45000"/>
            </a:avLst>
          </a:prstGeom>
          <a:solidFill>
            <a:srgbClr val="1E2A5C"/>
          </a:solidFill>
          <a:ln/>
        </p:spPr>
      </p:sp>
      <p:sp>
        <p:nvSpPr>
          <p:cNvPr id="61" name="Text 58"/>
          <p:cNvSpPr txBox="1"/>
          <p:nvPr/>
        </p:nvSpPr>
        <p:spPr>
          <a:xfrm>
            <a:off x="12409584" y="2377440"/>
            <a:ext cx="834717" cy="384048"/>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KG 저장</a:t>
            </a:r>
            <a:endParaRPr lang="en-US" sz="1400" dirty="0"/>
          </a:p>
        </p:txBody>
      </p:sp>
      <p:sp>
        <p:nvSpPr>
          <p:cNvPr id="62" name="Shape 59"/>
          <p:cNvSpPr/>
          <p:nvPr/>
        </p:nvSpPr>
        <p:spPr>
          <a:xfrm>
            <a:off x="13299164" y="2377440"/>
            <a:ext cx="834717" cy="384048"/>
          </a:xfrm>
          <a:prstGeom prst="roundRect">
            <a:avLst>
              <a:gd name="adj" fmla="val 45000"/>
            </a:avLst>
          </a:prstGeom>
          <a:solidFill>
            <a:srgbClr val="EEF3FA"/>
          </a:solidFill>
          <a:ln w="15875">
            <a:solidFill>
              <a:srgbClr val="1E2A5C"/>
            </a:solidFill>
            <a:prstDash val="solid"/>
          </a:ln>
        </p:spPr>
      </p:sp>
      <p:sp>
        <p:nvSpPr>
          <p:cNvPr id="63" name="Text 60"/>
          <p:cNvSpPr txBox="1"/>
          <p:nvPr/>
        </p:nvSpPr>
        <p:spPr>
          <a:xfrm>
            <a:off x="13299164" y="2377440"/>
            <a:ext cx="834717" cy="384048"/>
          </a:xfrm>
          <a:prstGeom prst="rect">
            <a:avLst/>
          </a:prstGeom>
          <a:noFill/>
          <a:ln/>
        </p:spPr>
        <p:txBody>
          <a:bodyPr wrap="square" lIns="1016" tIns="1016" rIns="1016" bIns="1016"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임베딩</a:t>
            </a:r>
            <a:endParaRPr lang="en-US" sz="1400" dirty="0"/>
          </a:p>
        </p:txBody>
      </p:sp>
      <p:sp>
        <p:nvSpPr>
          <p:cNvPr id="64" name="Text 61"/>
          <p:cNvSpPr txBox="1"/>
          <p:nvPr/>
        </p:nvSpPr>
        <p:spPr>
          <a:xfrm>
            <a:off x="7961681" y="2798064"/>
            <a:ext cx="6172200" cy="329184"/>
          </a:xfrm>
          <a:prstGeom prst="rect">
            <a:avLst/>
          </a:prstGeom>
          <a:noFill/>
          <a:ln/>
        </p:spPr>
        <p:txBody>
          <a:bodyPr wrap="square" lIns="0" tIns="0" rIns="0" bIns="0" rtlCol="0" anchor="ctr"/>
          <a:lstStyle/>
          <a:p>
            <a:pPr algn="l" indent="0" marL="0">
              <a:buNone/>
            </a:pPr>
            <a:r>
              <a:rPr lang="en-US" sz="1400" dirty="0">
                <a:solidFill>
                  <a:srgbClr val="4A5364"/>
                </a:solidFill>
                <a:latin typeface="Pretendard" pitchFamily="34" charset="0"/>
                <a:ea typeface="Pretendard" pitchFamily="34" charset="-122"/>
                <a:cs typeface="Pretendard" pitchFamily="34" charset="-120"/>
              </a:rPr>
              <a:t>정제·가명처리 없음 · 임베딩은 청크만(노드 설명은 직접)</a:t>
            </a:r>
            <a:endParaRPr lang="en-US" sz="1400" dirty="0"/>
          </a:p>
        </p:txBody>
      </p:sp>
      <p:sp>
        <p:nvSpPr>
          <p:cNvPr id="65" name="Shape 62"/>
          <p:cNvSpPr/>
          <p:nvPr/>
        </p:nvSpPr>
        <p:spPr>
          <a:xfrm>
            <a:off x="7458761" y="3127248"/>
            <a:ext cx="6675120" cy="822960"/>
          </a:xfrm>
          <a:prstGeom prst="roundRect">
            <a:avLst>
              <a:gd name="adj" fmla="val 6667"/>
            </a:avLst>
          </a:prstGeom>
          <a:solidFill>
            <a:srgbClr val="F5F8FC"/>
          </a:solidFill>
          <a:ln w="12700">
            <a:solidFill>
              <a:srgbClr val="D9E0EC"/>
            </a:solidFill>
            <a:prstDash val="solid"/>
          </a:ln>
        </p:spPr>
      </p:sp>
      <p:sp>
        <p:nvSpPr>
          <p:cNvPr id="66" name="Text 63"/>
          <p:cNvSpPr txBox="1"/>
          <p:nvPr/>
        </p:nvSpPr>
        <p:spPr>
          <a:xfrm>
            <a:off x="7595921" y="3172968"/>
            <a:ext cx="6400800" cy="731520"/>
          </a:xfrm>
          <a:prstGeom prst="rect">
            <a:avLst/>
          </a:prstGeom>
          <a:noFill/>
          <a:ln/>
        </p:spPr>
        <p:txBody>
          <a:bodyPr wrap="square" lIns="254" tIns="254" rIns="254" bIns="254" rtlCol="0" anchor="ctr"/>
          <a:lstStyle/>
          <a:p>
            <a:pPr indent="0" marL="0">
              <a:lnSpc>
                <a:spcPct val="105000"/>
              </a:lnSpc>
              <a:buNone/>
            </a:pPr>
            <a:r>
              <a:rPr lang="en-US" sz="1500" dirty="0">
                <a:solidFill>
                  <a:srgbClr val="2B3242"/>
                </a:solidFill>
                <a:latin typeface="Pretendard" pitchFamily="34" charset="0"/>
                <a:ea typeface="Pretendard" pitchFamily="34" charset="-122"/>
                <a:cs typeface="Pretendard" pitchFamily="34" charset="-120"/>
              </a:rPr>
              <a:t>ext = LLMEntityRelationExtractor(llm=llm)</a:t>
            </a:r>
            <a:endParaRPr lang="en-US" sz="1500" dirty="0"/>
          </a:p>
          <a:p>
            <a:pPr indent="0" marL="0">
              <a:lnSpc>
                <a:spcPct val="105000"/>
              </a:lnSpc>
              <a:buNone/>
            </a:pPr>
            <a:r>
              <a:rPr lang="en-US" sz="1500" dirty="0">
                <a:solidFill>
                  <a:srgbClr val="2B3242"/>
                </a:solidFill>
                <a:latin typeface="Pretendard" pitchFamily="34" charset="0"/>
                <a:ea typeface="Pretendard" pitchFamily="34" charset="-122"/>
                <a:cs typeface="Pretendard" pitchFamily="34" charset="-120"/>
              </a:rPr>
              <a:t>graph = await ext.run(chunks=TextChunks(chunks=my_chunks))</a:t>
            </a:r>
            <a:endParaRPr lang="en-US" sz="1500" dirty="0"/>
          </a:p>
          <a:p>
            <a:pPr indent="0" marL="0">
              <a:lnSpc>
                <a:spcPct val="105000"/>
              </a:lnSpc>
              <a:buNone/>
            </a:pPr>
            <a:r>
              <a:rPr lang="en-US" sz="1500" dirty="0">
                <a:solidFill>
                  <a:srgbClr val="2B3242"/>
                </a:solidFill>
                <a:latin typeface="Pretendard" pitchFamily="34" charset="0"/>
                <a:ea typeface="Pretendard" pitchFamily="34" charset="-122"/>
                <a:cs typeface="Pretendard" pitchFamily="34" charset="-120"/>
              </a:rPr>
              <a:t>await Neo4jWriter(driver).run(graph)   # 이어서 병합기 실행</a:t>
            </a:r>
            <a:endParaRPr lang="en-US" sz="1500" dirty="0"/>
          </a:p>
        </p:txBody>
      </p:sp>
      <p:sp>
        <p:nvSpPr>
          <p:cNvPr id="67" name="Shape 64"/>
          <p:cNvSpPr/>
          <p:nvPr/>
        </p:nvSpPr>
        <p:spPr>
          <a:xfrm>
            <a:off x="7458761" y="4041648"/>
            <a:ext cx="6675120" cy="868680"/>
          </a:xfrm>
          <a:prstGeom prst="roundRect">
            <a:avLst>
              <a:gd name="adj" fmla="val 8421"/>
            </a:avLst>
          </a:prstGeom>
          <a:solidFill>
            <a:srgbClr val="EEF3FA"/>
          </a:solidFill>
          <a:ln w="12700">
            <a:solidFill>
              <a:srgbClr val="D9E0EC"/>
            </a:solidFill>
            <a:prstDash val="solid"/>
          </a:ln>
        </p:spPr>
      </p:sp>
      <p:sp>
        <p:nvSpPr>
          <p:cNvPr id="68" name="Shape 65"/>
          <p:cNvSpPr/>
          <p:nvPr/>
        </p:nvSpPr>
        <p:spPr>
          <a:xfrm>
            <a:off x="7550201" y="4133088"/>
            <a:ext cx="658368" cy="685800"/>
          </a:xfrm>
          <a:prstGeom prst="roundRect">
            <a:avLst>
              <a:gd name="adj" fmla="val 6944"/>
            </a:avLst>
          </a:prstGeom>
          <a:solidFill>
            <a:srgbClr val="1E2A5C"/>
          </a:solidFill>
          <a:ln/>
        </p:spPr>
      </p:sp>
      <p:sp>
        <p:nvSpPr>
          <p:cNvPr id="69" name="Text 66"/>
          <p:cNvSpPr txBox="1"/>
          <p:nvPr/>
        </p:nvSpPr>
        <p:spPr>
          <a:xfrm>
            <a:off x="7550201" y="4133088"/>
            <a:ext cx="658368" cy="685800"/>
          </a:xfrm>
          <a:prstGeom prst="rect">
            <a:avLst/>
          </a:prstGeom>
          <a:noFill/>
          <a:ln/>
        </p:spPr>
        <p:txBody>
          <a:bodyPr wrap="square" lIns="1016" tIns="1016" rIns="1016" bIns="1016"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장점</a:t>
            </a:r>
            <a:endParaRPr lang="en-US" sz="1500" dirty="0"/>
          </a:p>
        </p:txBody>
      </p:sp>
      <p:sp>
        <p:nvSpPr>
          <p:cNvPr id="70" name="Text 67"/>
          <p:cNvSpPr txBox="1"/>
          <p:nvPr/>
        </p:nvSpPr>
        <p:spPr>
          <a:xfrm>
            <a:off x="8281721" y="4096512"/>
            <a:ext cx="237744" cy="265176"/>
          </a:xfrm>
          <a:prstGeom prst="rect">
            <a:avLst/>
          </a:prstGeom>
          <a:noFill/>
          <a:ln/>
        </p:spPr>
        <p:txBody>
          <a:bodyPr wrap="square" lIns="0" tIns="0" rIns="0" bIns="0" rtlCol="0" anchor="ctr"/>
          <a:lstStyle/>
          <a:p>
            <a:pPr algn="ctr" indent="0" marL="0">
              <a:buNone/>
            </a:pPr>
            <a:r>
              <a:rPr lang="en-US" sz="1500" b="1" dirty="0">
                <a:solidFill>
                  <a:srgbClr val="1E2A5C"/>
                </a:solidFill>
                <a:latin typeface="Pretendard" pitchFamily="34" charset="0"/>
                <a:ea typeface="Pretendard" pitchFamily="34" charset="-122"/>
                <a:cs typeface="Pretendard" pitchFamily="34" charset="-120"/>
              </a:rPr>
              <a:t>+</a:t>
            </a:r>
            <a:endParaRPr lang="en-US" sz="1500" dirty="0"/>
          </a:p>
        </p:txBody>
      </p:sp>
      <p:sp>
        <p:nvSpPr>
          <p:cNvPr id="71" name="Text 68"/>
          <p:cNvSpPr txBox="1"/>
          <p:nvPr/>
        </p:nvSpPr>
        <p:spPr>
          <a:xfrm>
            <a:off x="8519465" y="4096512"/>
            <a:ext cx="5541264" cy="265176"/>
          </a:xfrm>
          <a:prstGeom prst="rect">
            <a:avLst/>
          </a:prstGeom>
          <a:noFill/>
          <a:ln/>
        </p:spPr>
        <p:txBody>
          <a:bodyPr wrap="square" lIns="0" tIns="0" rIns="0" bIns="0" rtlCol="0" anchor="ctr"/>
          <a:lstStyle/>
          <a:p>
            <a:pPr algn="l" indent="0" marL="0">
              <a:buNone/>
            </a:pPr>
            <a:r>
              <a:rPr lang="en-US" sz="1500" dirty="0">
                <a:solidFill>
                  <a:srgbClr val="2B3242"/>
                </a:solidFill>
                <a:latin typeface="Pretendard" pitchFamily="34" charset="0"/>
                <a:ea typeface="Pretendard" pitchFamily="34" charset="-122"/>
                <a:cs typeface="Pretendard" pitchFamily="34" charset="-120"/>
              </a:rPr>
              <a:t>벡터DB와 같은 청크를 추출기에 바로 넣음(부품 조립)</a:t>
            </a:r>
            <a:endParaRPr lang="en-US" sz="1500" dirty="0"/>
          </a:p>
        </p:txBody>
      </p:sp>
      <p:sp>
        <p:nvSpPr>
          <p:cNvPr id="72" name="Text 69"/>
          <p:cNvSpPr txBox="1"/>
          <p:nvPr/>
        </p:nvSpPr>
        <p:spPr>
          <a:xfrm>
            <a:off x="8281721" y="4366260"/>
            <a:ext cx="237744" cy="265176"/>
          </a:xfrm>
          <a:prstGeom prst="rect">
            <a:avLst/>
          </a:prstGeom>
          <a:noFill/>
          <a:ln/>
        </p:spPr>
        <p:txBody>
          <a:bodyPr wrap="square" lIns="0" tIns="0" rIns="0" bIns="0" rtlCol="0" anchor="ctr"/>
          <a:lstStyle/>
          <a:p>
            <a:pPr algn="ctr" indent="0" marL="0">
              <a:buNone/>
            </a:pPr>
            <a:r>
              <a:rPr lang="en-US" sz="1500" b="1" dirty="0">
                <a:solidFill>
                  <a:srgbClr val="1E2A5C"/>
                </a:solidFill>
                <a:latin typeface="Pretendard" pitchFamily="34" charset="0"/>
                <a:ea typeface="Pretendard" pitchFamily="34" charset="-122"/>
                <a:cs typeface="Pretendard" pitchFamily="34" charset="-120"/>
              </a:rPr>
              <a:t>+</a:t>
            </a:r>
            <a:endParaRPr lang="en-US" sz="1500" dirty="0"/>
          </a:p>
        </p:txBody>
      </p:sp>
      <p:sp>
        <p:nvSpPr>
          <p:cNvPr id="73" name="Text 70"/>
          <p:cNvSpPr txBox="1"/>
          <p:nvPr/>
        </p:nvSpPr>
        <p:spPr>
          <a:xfrm>
            <a:off x="8519465" y="4366260"/>
            <a:ext cx="5541264" cy="265176"/>
          </a:xfrm>
          <a:prstGeom prst="rect">
            <a:avLst/>
          </a:prstGeom>
          <a:noFill/>
          <a:ln/>
        </p:spPr>
        <p:txBody>
          <a:bodyPr wrap="square" lIns="0" tIns="0" rIns="0" bIns="0" rtlCol="0" anchor="ctr"/>
          <a:lstStyle/>
          <a:p>
            <a:pPr algn="l" indent="0" marL="0">
              <a:buNone/>
            </a:pPr>
            <a:r>
              <a:rPr lang="en-US" sz="1500" dirty="0">
                <a:solidFill>
                  <a:srgbClr val="2B3242"/>
                </a:solidFill>
                <a:latin typeface="Pretendard" pitchFamily="34" charset="0"/>
                <a:ea typeface="Pretendard" pitchFamily="34" charset="-122"/>
                <a:cs typeface="Pretendard" pitchFamily="34" charset="-120"/>
              </a:rPr>
              <a:t>같은 이름 병합 기본, 유사 이름 병합기 선택</a:t>
            </a:r>
            <a:endParaRPr lang="en-US" sz="1500" dirty="0"/>
          </a:p>
        </p:txBody>
      </p:sp>
      <p:sp>
        <p:nvSpPr>
          <p:cNvPr id="74" name="Text 71"/>
          <p:cNvSpPr txBox="1"/>
          <p:nvPr/>
        </p:nvSpPr>
        <p:spPr>
          <a:xfrm>
            <a:off x="8281721" y="4636008"/>
            <a:ext cx="237744" cy="265176"/>
          </a:xfrm>
          <a:prstGeom prst="rect">
            <a:avLst/>
          </a:prstGeom>
          <a:noFill/>
          <a:ln/>
        </p:spPr>
        <p:txBody>
          <a:bodyPr wrap="square" lIns="0" tIns="0" rIns="0" bIns="0" rtlCol="0" anchor="ctr"/>
          <a:lstStyle/>
          <a:p>
            <a:pPr algn="ctr" indent="0" marL="0">
              <a:buNone/>
            </a:pPr>
            <a:r>
              <a:rPr lang="en-US" sz="1500" b="1" dirty="0">
                <a:solidFill>
                  <a:srgbClr val="1E2A5C"/>
                </a:solidFill>
                <a:latin typeface="Pretendard" pitchFamily="34" charset="0"/>
                <a:ea typeface="Pretendard" pitchFamily="34" charset="-122"/>
                <a:cs typeface="Pretendard" pitchFamily="34" charset="-120"/>
              </a:rPr>
              <a:t>+</a:t>
            </a:r>
            <a:endParaRPr lang="en-US" sz="1500" dirty="0"/>
          </a:p>
        </p:txBody>
      </p:sp>
      <p:sp>
        <p:nvSpPr>
          <p:cNvPr id="75" name="Text 72"/>
          <p:cNvSpPr txBox="1"/>
          <p:nvPr/>
        </p:nvSpPr>
        <p:spPr>
          <a:xfrm>
            <a:off x="8519465" y="4636008"/>
            <a:ext cx="5541264" cy="265176"/>
          </a:xfrm>
          <a:prstGeom prst="rect">
            <a:avLst/>
          </a:prstGeom>
          <a:noFill/>
          <a:ln/>
        </p:spPr>
        <p:txBody>
          <a:bodyPr wrap="square" lIns="0" tIns="0" rIns="0" bIns="0" rtlCol="0" anchor="ctr"/>
          <a:lstStyle/>
          <a:p>
            <a:pPr algn="l" indent="0" marL="0">
              <a:buNone/>
            </a:pPr>
            <a:r>
              <a:rPr lang="en-US" sz="1500" dirty="0">
                <a:solidFill>
                  <a:srgbClr val="2B3242"/>
                </a:solidFill>
                <a:latin typeface="Pretendard" pitchFamily="34" charset="0"/>
                <a:ea typeface="Pretendard" pitchFamily="34" charset="-122"/>
                <a:cs typeface="Pretendard" pitchFamily="34" charset="-120"/>
              </a:rPr>
              <a:t>문서 – 청크 – 엔티티 연결을 자동으로 만듦</a:t>
            </a:r>
            <a:endParaRPr lang="en-US" sz="1500" dirty="0"/>
          </a:p>
        </p:txBody>
      </p:sp>
      <p:sp>
        <p:nvSpPr>
          <p:cNvPr id="76" name="Shape 73"/>
          <p:cNvSpPr/>
          <p:nvPr/>
        </p:nvSpPr>
        <p:spPr>
          <a:xfrm>
            <a:off x="7458761" y="4965192"/>
            <a:ext cx="6675120" cy="868680"/>
          </a:xfrm>
          <a:prstGeom prst="roundRect">
            <a:avLst>
              <a:gd name="adj" fmla="val 8421"/>
            </a:avLst>
          </a:prstGeom>
          <a:solidFill>
            <a:srgbClr val="FFFFFF"/>
          </a:solidFill>
          <a:ln w="12700">
            <a:solidFill>
              <a:srgbClr val="D9E0EC"/>
            </a:solidFill>
            <a:prstDash val="solid"/>
          </a:ln>
        </p:spPr>
      </p:sp>
      <p:sp>
        <p:nvSpPr>
          <p:cNvPr id="77" name="Shape 74"/>
          <p:cNvSpPr/>
          <p:nvPr/>
        </p:nvSpPr>
        <p:spPr>
          <a:xfrm>
            <a:off x="7550201" y="5056632"/>
            <a:ext cx="658368" cy="685800"/>
          </a:xfrm>
          <a:prstGeom prst="roundRect">
            <a:avLst>
              <a:gd name="adj" fmla="val 6944"/>
            </a:avLst>
          </a:prstGeom>
          <a:solidFill>
            <a:srgbClr val="404155"/>
          </a:solidFill>
          <a:ln/>
        </p:spPr>
      </p:sp>
      <p:sp>
        <p:nvSpPr>
          <p:cNvPr id="78" name="Text 75"/>
          <p:cNvSpPr txBox="1"/>
          <p:nvPr/>
        </p:nvSpPr>
        <p:spPr>
          <a:xfrm>
            <a:off x="7550201" y="5056632"/>
            <a:ext cx="658368" cy="685800"/>
          </a:xfrm>
          <a:prstGeom prst="rect">
            <a:avLst/>
          </a:prstGeom>
          <a:noFill/>
          <a:ln/>
        </p:spPr>
        <p:txBody>
          <a:bodyPr wrap="square" lIns="1016" tIns="1016" rIns="1016" bIns="1016"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단점</a:t>
            </a:r>
            <a:endParaRPr lang="en-US" sz="1500" dirty="0"/>
          </a:p>
        </p:txBody>
      </p:sp>
      <p:sp>
        <p:nvSpPr>
          <p:cNvPr id="79" name="Text 76"/>
          <p:cNvSpPr txBox="1"/>
          <p:nvPr/>
        </p:nvSpPr>
        <p:spPr>
          <a:xfrm>
            <a:off x="8281721" y="5020056"/>
            <a:ext cx="237744" cy="265176"/>
          </a:xfrm>
          <a:prstGeom prst="rect">
            <a:avLst/>
          </a:prstGeom>
          <a:noFill/>
          <a:ln/>
        </p:spPr>
        <p:txBody>
          <a:bodyPr wrap="square" lIns="0" tIns="0" rIns="0" bIns="0" rtlCol="0" anchor="ctr"/>
          <a:lstStyle/>
          <a:p>
            <a:pPr algn="ctr" indent="0" marL="0">
              <a:buNone/>
            </a:pPr>
            <a:r>
              <a:rPr lang="en-US" sz="1500" b="1" dirty="0">
                <a:solidFill>
                  <a:srgbClr val="404155"/>
                </a:solidFill>
                <a:latin typeface="Pretendard" pitchFamily="34" charset="0"/>
                <a:ea typeface="Pretendard" pitchFamily="34" charset="-122"/>
                <a:cs typeface="Pretendard" pitchFamily="34" charset="-120"/>
              </a:rPr>
              <a:t>−</a:t>
            </a:r>
            <a:endParaRPr lang="en-US" sz="1500" dirty="0"/>
          </a:p>
        </p:txBody>
      </p:sp>
      <p:sp>
        <p:nvSpPr>
          <p:cNvPr id="80" name="Text 77"/>
          <p:cNvSpPr txBox="1"/>
          <p:nvPr/>
        </p:nvSpPr>
        <p:spPr>
          <a:xfrm>
            <a:off x="8519465" y="5020056"/>
            <a:ext cx="5541264" cy="265176"/>
          </a:xfrm>
          <a:prstGeom prst="rect">
            <a:avLst/>
          </a:prstGeom>
          <a:noFill/>
          <a:ln/>
        </p:spPr>
        <p:txBody>
          <a:bodyPr wrap="square" lIns="0" tIns="0" rIns="0" bIns="0" rtlCol="0" anchor="ctr"/>
          <a:lstStyle/>
          <a:p>
            <a:pPr algn="l" indent="0" marL="0">
              <a:buNone/>
            </a:pPr>
            <a:r>
              <a:rPr lang="en-US" sz="1500" dirty="0">
                <a:solidFill>
                  <a:srgbClr val="2B3242"/>
                </a:solidFill>
                <a:latin typeface="Pretendard" pitchFamily="34" charset="0"/>
                <a:ea typeface="Pretendard" pitchFamily="34" charset="-122"/>
                <a:cs typeface="Pretendard" pitchFamily="34" charset="-120"/>
              </a:rPr>
              <a:t>개념(컴포넌트·파이프라인)이 많아 첫 장벽 높음</a:t>
            </a:r>
            <a:endParaRPr lang="en-US" sz="1500" dirty="0"/>
          </a:p>
        </p:txBody>
      </p:sp>
      <p:sp>
        <p:nvSpPr>
          <p:cNvPr id="81" name="Text 78"/>
          <p:cNvSpPr txBox="1"/>
          <p:nvPr/>
        </p:nvSpPr>
        <p:spPr>
          <a:xfrm>
            <a:off x="8281721" y="5289804"/>
            <a:ext cx="237744" cy="265176"/>
          </a:xfrm>
          <a:prstGeom prst="rect">
            <a:avLst/>
          </a:prstGeom>
          <a:noFill/>
          <a:ln/>
        </p:spPr>
        <p:txBody>
          <a:bodyPr wrap="square" lIns="0" tIns="0" rIns="0" bIns="0" rtlCol="0" anchor="ctr"/>
          <a:lstStyle/>
          <a:p>
            <a:pPr algn="ctr" indent="0" marL="0">
              <a:buNone/>
            </a:pPr>
            <a:r>
              <a:rPr lang="en-US" sz="1500" b="1" dirty="0">
                <a:solidFill>
                  <a:srgbClr val="404155"/>
                </a:solidFill>
                <a:latin typeface="Pretendard" pitchFamily="34" charset="0"/>
                <a:ea typeface="Pretendard" pitchFamily="34" charset="-122"/>
                <a:cs typeface="Pretendard" pitchFamily="34" charset="-120"/>
              </a:rPr>
              <a:t>−</a:t>
            </a:r>
            <a:endParaRPr lang="en-US" sz="1500" dirty="0"/>
          </a:p>
        </p:txBody>
      </p:sp>
      <p:sp>
        <p:nvSpPr>
          <p:cNvPr id="82" name="Text 79"/>
          <p:cNvSpPr txBox="1"/>
          <p:nvPr/>
        </p:nvSpPr>
        <p:spPr>
          <a:xfrm>
            <a:off x="8519465" y="5289804"/>
            <a:ext cx="5541264" cy="265176"/>
          </a:xfrm>
          <a:prstGeom prst="rect">
            <a:avLst/>
          </a:prstGeom>
          <a:noFill/>
          <a:ln/>
        </p:spPr>
        <p:txBody>
          <a:bodyPr wrap="square" lIns="0" tIns="0" rIns="0" bIns="0" rtlCol="0" anchor="ctr"/>
          <a:lstStyle/>
          <a:p>
            <a:pPr algn="l" indent="0" marL="0">
              <a:buNone/>
            </a:pPr>
            <a:r>
              <a:rPr lang="en-US" sz="1500" dirty="0">
                <a:solidFill>
                  <a:srgbClr val="2B3242"/>
                </a:solidFill>
                <a:latin typeface="Pretendard" pitchFamily="34" charset="0"/>
                <a:ea typeface="Pretendard" pitchFamily="34" charset="-122"/>
                <a:cs typeface="Pretendard" pitchFamily="34" charset="-120"/>
              </a:rPr>
              <a:t>Neo4j 전용 — 다른 그래프DB로 옮기기 어려움</a:t>
            </a:r>
            <a:endParaRPr lang="en-US" sz="1500" dirty="0"/>
          </a:p>
        </p:txBody>
      </p:sp>
      <p:sp>
        <p:nvSpPr>
          <p:cNvPr id="83" name="Text 80"/>
          <p:cNvSpPr txBox="1"/>
          <p:nvPr/>
        </p:nvSpPr>
        <p:spPr>
          <a:xfrm>
            <a:off x="8281721" y="5559552"/>
            <a:ext cx="237744" cy="265176"/>
          </a:xfrm>
          <a:prstGeom prst="rect">
            <a:avLst/>
          </a:prstGeom>
          <a:noFill/>
          <a:ln/>
        </p:spPr>
        <p:txBody>
          <a:bodyPr wrap="square" lIns="0" tIns="0" rIns="0" bIns="0" rtlCol="0" anchor="ctr"/>
          <a:lstStyle/>
          <a:p>
            <a:pPr algn="ctr" indent="0" marL="0">
              <a:buNone/>
            </a:pPr>
            <a:r>
              <a:rPr lang="en-US" sz="1500" b="1" dirty="0">
                <a:solidFill>
                  <a:srgbClr val="404155"/>
                </a:solidFill>
                <a:latin typeface="Pretendard" pitchFamily="34" charset="0"/>
                <a:ea typeface="Pretendard" pitchFamily="34" charset="-122"/>
                <a:cs typeface="Pretendard" pitchFamily="34" charset="-120"/>
              </a:rPr>
              <a:t>−</a:t>
            </a:r>
            <a:endParaRPr lang="en-US" sz="1500" dirty="0"/>
          </a:p>
        </p:txBody>
      </p:sp>
      <p:sp>
        <p:nvSpPr>
          <p:cNvPr id="84" name="Text 81"/>
          <p:cNvSpPr txBox="1"/>
          <p:nvPr/>
        </p:nvSpPr>
        <p:spPr>
          <a:xfrm>
            <a:off x="8519465" y="5559552"/>
            <a:ext cx="5541264" cy="265176"/>
          </a:xfrm>
          <a:prstGeom prst="rect">
            <a:avLst/>
          </a:prstGeom>
          <a:noFill/>
          <a:ln/>
        </p:spPr>
        <p:txBody>
          <a:bodyPr wrap="square" lIns="0" tIns="0" rIns="0" bIns="0" rtlCol="0" anchor="ctr"/>
          <a:lstStyle/>
          <a:p>
            <a:pPr algn="l" indent="0" marL="0">
              <a:buNone/>
            </a:pPr>
            <a:r>
              <a:rPr lang="en-US" sz="1500" dirty="0">
                <a:solidFill>
                  <a:srgbClr val="2B3242"/>
                </a:solidFill>
                <a:latin typeface="Pretendard" pitchFamily="34" charset="0"/>
                <a:ea typeface="Pretendard" pitchFamily="34" charset="-122"/>
                <a:cs typeface="Pretendard" pitchFamily="34" charset="-120"/>
              </a:rPr>
              <a:t>정제·가명처리 없음 — 원문 그대로면 실명이 LLM·그래프로</a:t>
            </a:r>
            <a:endParaRPr lang="en-US" sz="1500" dirty="0"/>
          </a:p>
        </p:txBody>
      </p:sp>
      <p:sp>
        <p:nvSpPr>
          <p:cNvPr id="85" name="Shape 82"/>
          <p:cNvSpPr/>
          <p:nvPr/>
        </p:nvSpPr>
        <p:spPr>
          <a:xfrm>
            <a:off x="7312457" y="1737360"/>
            <a:ext cx="18288" cy="3172968"/>
          </a:xfrm>
          <a:prstGeom prst="rect">
            <a:avLst/>
          </a:prstGeom>
          <a:solidFill>
            <a:srgbClr val="D9E0EC"/>
          </a:solidFill>
          <a:ln/>
        </p:spPr>
      </p:sp>
      <p:sp>
        <p:nvSpPr>
          <p:cNvPr id="86" name="Shape 83"/>
          <p:cNvSpPr/>
          <p:nvPr/>
        </p:nvSpPr>
        <p:spPr>
          <a:xfrm>
            <a:off x="509321" y="5934456"/>
            <a:ext cx="1143000" cy="1335024"/>
          </a:xfrm>
          <a:prstGeom prst="roundRect">
            <a:avLst>
              <a:gd name="adj" fmla="val 4800"/>
            </a:avLst>
          </a:prstGeom>
          <a:solidFill>
            <a:srgbClr val="404155"/>
          </a:solidFill>
          <a:ln/>
        </p:spPr>
      </p:sp>
      <p:sp>
        <p:nvSpPr>
          <p:cNvPr id="87" name="Text 84"/>
          <p:cNvSpPr txBox="1"/>
          <p:nvPr/>
        </p:nvSpPr>
        <p:spPr>
          <a:xfrm>
            <a:off x="509321" y="5934456"/>
            <a:ext cx="1143000" cy="1335024"/>
          </a:xfrm>
          <a:prstGeom prst="rect">
            <a:avLst/>
          </a:prstGeom>
          <a:noFill/>
          <a:ln/>
        </p:spPr>
        <p:txBody>
          <a:bodyPr wrap="square" lIns="508" tIns="508" rIns="508" bIns="508" rtlCol="0" anchor="ctr"/>
          <a:lstStyle/>
          <a:p>
            <a:pPr algn="ctr" indent="0" marL="0">
              <a:spcAft>
                <a:spcPts val="600"/>
              </a:spcAft>
              <a:buNone/>
            </a:pPr>
            <a:r>
              <a:rPr lang="en-US" sz="1800" b="1" dirty="0">
                <a:solidFill>
                  <a:srgbClr val="FFFFFF"/>
                </a:solidFill>
                <a:latin typeface="Pretendard" pitchFamily="34" charset="0"/>
                <a:ea typeface="Pretendard" pitchFamily="34" charset="-122"/>
                <a:cs typeface="Pretendard" pitchFamily="34" charset="-120"/>
              </a:rPr>
              <a:t>실무</a:t>
            </a:r>
            <a:endParaRPr lang="en-US" sz="1800" dirty="0"/>
          </a:p>
          <a:p>
            <a:pPr algn="ctr" indent="0" marL="0">
              <a:spcAft>
                <a:spcPts val="600"/>
              </a:spcAft>
              <a:buNone/>
            </a:pPr>
            <a:r>
              <a:rPr lang="en-US" sz="1800" b="1" dirty="0">
                <a:solidFill>
                  <a:srgbClr val="FFFFFF"/>
                </a:solidFill>
                <a:latin typeface="Pretendard" pitchFamily="34" charset="0"/>
                <a:ea typeface="Pretendard" pitchFamily="34" charset="-122"/>
                <a:cs typeface="Pretendard" pitchFamily="34" charset="-120"/>
              </a:rPr>
              <a:t>사용도</a:t>
            </a:r>
            <a:endParaRPr lang="en-US" sz="1800" dirty="0"/>
          </a:p>
          <a:p>
            <a:pPr algn="ctr" indent="0" marL="0">
              <a:spcAft>
                <a:spcPts val="600"/>
              </a:spcAft>
              <a:buNone/>
            </a:pPr>
            <a:r>
              <a:rPr lang="en-US" sz="1400" dirty="0">
                <a:solidFill>
                  <a:srgbClr val="D9E3F5"/>
                </a:solidFill>
                <a:latin typeface="Pretendard" pitchFamily="34" charset="0"/>
                <a:ea typeface="Pretendard" pitchFamily="34" charset="-122"/>
                <a:cs typeface="Pretendard" pitchFamily="34" charset="-120"/>
              </a:rPr>
              <a:t>2026-10-13</a:t>
            </a:r>
            <a:endParaRPr lang="en-US" sz="1800" dirty="0"/>
          </a:p>
          <a:p>
            <a:pPr algn="ctr" indent="0" marL="0">
              <a:spcAft>
                <a:spcPts val="600"/>
              </a:spcAft>
              <a:buNone/>
            </a:pPr>
            <a:r>
              <a:rPr lang="en-US" sz="1400" dirty="0">
                <a:solidFill>
                  <a:srgbClr val="D9E3F5"/>
                </a:solidFill>
                <a:latin typeface="Pretendard" pitchFamily="34" charset="0"/>
                <a:ea typeface="Pretendard" pitchFamily="34" charset="-122"/>
                <a:cs typeface="Pretendard" pitchFamily="34" charset="-120"/>
              </a:rPr>
              <a:t>기준</a:t>
            </a:r>
            <a:endParaRPr lang="en-US" sz="1800" dirty="0"/>
          </a:p>
        </p:txBody>
      </p:sp>
      <p:sp>
        <p:nvSpPr>
          <p:cNvPr id="88" name="Shape 85"/>
          <p:cNvSpPr/>
          <p:nvPr/>
        </p:nvSpPr>
        <p:spPr>
          <a:xfrm>
            <a:off x="1789481" y="5934456"/>
            <a:ext cx="2468880" cy="1335024"/>
          </a:xfrm>
          <a:prstGeom prst="roundRect">
            <a:avLst>
              <a:gd name="adj" fmla="val 5479"/>
            </a:avLst>
          </a:prstGeom>
          <a:solidFill>
            <a:srgbClr val="FFFFFF"/>
          </a:solidFill>
          <a:ln w="12700">
            <a:solidFill>
              <a:srgbClr val="D9E0EC"/>
            </a:solidFill>
            <a:prstDash val="solid"/>
          </a:ln>
        </p:spPr>
      </p:sp>
      <p:sp>
        <p:nvSpPr>
          <p:cNvPr id="89" name="Text 86"/>
          <p:cNvSpPr txBox="1"/>
          <p:nvPr/>
        </p:nvSpPr>
        <p:spPr>
          <a:xfrm>
            <a:off x="1926641" y="6025896"/>
            <a:ext cx="2194560" cy="329184"/>
          </a:xfrm>
          <a:prstGeom prst="rect">
            <a:avLst/>
          </a:prstGeom>
          <a:noFill/>
          <a:ln/>
        </p:spPr>
        <p:txBody>
          <a:bodyPr wrap="square" lIns="0" tIns="0" rIns="0" bIns="0" rtlCol="0" anchor="ctr"/>
          <a:lstStyle/>
          <a:p>
            <a:pPr algn="l" indent="0" marL="0">
              <a:buNone/>
            </a:pPr>
            <a:r>
              <a:rPr lang="en-US" sz="1500" b="1" dirty="0">
                <a:solidFill>
                  <a:srgbClr val="1E2A5C"/>
                </a:solidFill>
                <a:latin typeface="Pretendard" pitchFamily="34" charset="0"/>
                <a:ea typeface="Pretendard" pitchFamily="34" charset="-122"/>
                <a:cs typeface="Pretendard" pitchFamily="34" charset="-120"/>
              </a:rPr>
              <a:t>월 다운로드(PyPI)</a:t>
            </a:r>
            <a:endParaRPr lang="en-US" sz="1500" dirty="0"/>
          </a:p>
        </p:txBody>
      </p:sp>
      <p:sp>
        <p:nvSpPr>
          <p:cNvPr id="90" name="Text 87"/>
          <p:cNvSpPr txBox="1"/>
          <p:nvPr/>
        </p:nvSpPr>
        <p:spPr>
          <a:xfrm>
            <a:off x="1926641" y="6446520"/>
            <a:ext cx="320040" cy="292608"/>
          </a:xfrm>
          <a:prstGeom prst="rect">
            <a:avLst/>
          </a:prstGeom>
          <a:noFill/>
          <a:ln/>
        </p:spPr>
        <p:txBody>
          <a:bodyPr wrap="square" lIns="0" tIns="0" rIns="0" bIns="0" rtlCol="0" anchor="ctr"/>
          <a:lstStyle/>
          <a:p>
            <a:pPr algn="ctr" indent="0" marL="0">
              <a:buNone/>
            </a:pPr>
            <a:r>
              <a:rPr lang="en-US" sz="1500" b="1" dirty="0">
                <a:solidFill>
                  <a:srgbClr val="2E74C6"/>
                </a:solidFill>
                <a:latin typeface="Pretendard" pitchFamily="34" charset="0"/>
                <a:ea typeface="Pretendard" pitchFamily="34" charset="-122"/>
                <a:cs typeface="Pretendard" pitchFamily="34" charset="-120"/>
              </a:rPr>
              <a:t>A</a:t>
            </a:r>
            <a:endParaRPr lang="en-US" sz="1500" dirty="0"/>
          </a:p>
        </p:txBody>
      </p:sp>
      <p:sp>
        <p:nvSpPr>
          <p:cNvPr id="91" name="Shape 88"/>
          <p:cNvSpPr/>
          <p:nvPr/>
        </p:nvSpPr>
        <p:spPr>
          <a:xfrm>
            <a:off x="2292401" y="6483096"/>
            <a:ext cx="464825" cy="219456"/>
          </a:xfrm>
          <a:prstGeom prst="rect">
            <a:avLst/>
          </a:prstGeom>
          <a:solidFill>
            <a:srgbClr val="2E74C6"/>
          </a:solidFill>
          <a:ln/>
        </p:spPr>
      </p:sp>
      <p:sp>
        <p:nvSpPr>
          <p:cNvPr id="92" name="Text 89"/>
          <p:cNvSpPr txBox="1"/>
          <p:nvPr/>
        </p:nvSpPr>
        <p:spPr>
          <a:xfrm>
            <a:off x="2830378" y="6446520"/>
            <a:ext cx="1005840" cy="292608"/>
          </a:xfrm>
          <a:prstGeom prst="rect">
            <a:avLst/>
          </a:prstGeom>
          <a:noFill/>
          <a:ln/>
        </p:spPr>
        <p:txBody>
          <a:bodyPr wrap="square" lIns="0" tIns="0" rIns="0" bIns="0" rtlCol="0" anchor="ctr"/>
          <a:lstStyle/>
          <a:p>
            <a:pPr algn="l" indent="0" marL="0">
              <a:buNone/>
            </a:pPr>
            <a:r>
              <a:rPr lang="en-US" sz="1500" b="1" dirty="0">
                <a:solidFill>
                  <a:srgbClr val="2B3242"/>
                </a:solidFill>
                <a:latin typeface="Pretendard" pitchFamily="34" charset="0"/>
                <a:ea typeface="Pretendard" pitchFamily="34" charset="-122"/>
                <a:cs typeface="Pretendard" pitchFamily="34" charset="-120"/>
              </a:rPr>
              <a:t>약 14.4만</a:t>
            </a:r>
            <a:endParaRPr lang="en-US" sz="1500" dirty="0"/>
          </a:p>
        </p:txBody>
      </p:sp>
      <p:sp>
        <p:nvSpPr>
          <p:cNvPr id="93" name="Text 90"/>
          <p:cNvSpPr txBox="1"/>
          <p:nvPr/>
        </p:nvSpPr>
        <p:spPr>
          <a:xfrm>
            <a:off x="1926641" y="6812280"/>
            <a:ext cx="320040" cy="292608"/>
          </a:xfrm>
          <a:prstGeom prst="rect">
            <a:avLst/>
          </a:prstGeom>
          <a:noFill/>
          <a:ln/>
        </p:spPr>
        <p:txBody>
          <a:bodyPr wrap="square" lIns="0" tIns="0" rIns="0" bIns="0" rtlCol="0" anchor="ctr"/>
          <a:lstStyle/>
          <a:p>
            <a:pPr algn="ctr" indent="0" marL="0">
              <a:buNone/>
            </a:pPr>
            <a:r>
              <a:rPr lang="en-US" sz="1500" b="1" dirty="0">
                <a:solidFill>
                  <a:srgbClr val="1E2A5C"/>
                </a:solidFill>
                <a:latin typeface="Pretendard" pitchFamily="34" charset="0"/>
                <a:ea typeface="Pretendard" pitchFamily="34" charset="-122"/>
                <a:cs typeface="Pretendard" pitchFamily="34" charset="-120"/>
              </a:rPr>
              <a:t>B</a:t>
            </a:r>
            <a:endParaRPr lang="en-US" sz="1500" dirty="0"/>
          </a:p>
        </p:txBody>
      </p:sp>
      <p:sp>
        <p:nvSpPr>
          <p:cNvPr id="94" name="Shape 91"/>
          <p:cNvSpPr/>
          <p:nvPr/>
        </p:nvSpPr>
        <p:spPr>
          <a:xfrm>
            <a:off x="2292401" y="6848856"/>
            <a:ext cx="960120" cy="219456"/>
          </a:xfrm>
          <a:prstGeom prst="rect">
            <a:avLst/>
          </a:prstGeom>
          <a:solidFill>
            <a:srgbClr val="1E2A5C"/>
          </a:solidFill>
          <a:ln/>
        </p:spPr>
      </p:sp>
      <p:sp>
        <p:nvSpPr>
          <p:cNvPr id="95" name="Text 92"/>
          <p:cNvSpPr txBox="1"/>
          <p:nvPr/>
        </p:nvSpPr>
        <p:spPr>
          <a:xfrm>
            <a:off x="3325673" y="6812280"/>
            <a:ext cx="1005840" cy="292608"/>
          </a:xfrm>
          <a:prstGeom prst="rect">
            <a:avLst/>
          </a:prstGeom>
          <a:noFill/>
          <a:ln/>
        </p:spPr>
        <p:txBody>
          <a:bodyPr wrap="square" lIns="0" tIns="0" rIns="0" bIns="0" rtlCol="0" anchor="ctr"/>
          <a:lstStyle/>
          <a:p>
            <a:pPr algn="l" indent="0" marL="0">
              <a:buNone/>
            </a:pPr>
            <a:r>
              <a:rPr lang="en-US" sz="1500" b="1" dirty="0">
                <a:solidFill>
                  <a:srgbClr val="2B3242"/>
                </a:solidFill>
                <a:latin typeface="Pretendard" pitchFamily="34" charset="0"/>
                <a:ea typeface="Pretendard" pitchFamily="34" charset="-122"/>
                <a:cs typeface="Pretendard" pitchFamily="34" charset="-120"/>
              </a:rPr>
              <a:t>약 29.7만</a:t>
            </a:r>
            <a:endParaRPr lang="en-US" sz="1500" dirty="0"/>
          </a:p>
        </p:txBody>
      </p:sp>
      <p:sp>
        <p:nvSpPr>
          <p:cNvPr id="96" name="Shape 93"/>
          <p:cNvSpPr/>
          <p:nvPr/>
        </p:nvSpPr>
        <p:spPr>
          <a:xfrm>
            <a:off x="4395521" y="5934456"/>
            <a:ext cx="2468880" cy="1335024"/>
          </a:xfrm>
          <a:prstGeom prst="roundRect">
            <a:avLst>
              <a:gd name="adj" fmla="val 5479"/>
            </a:avLst>
          </a:prstGeom>
          <a:solidFill>
            <a:srgbClr val="FFFFFF"/>
          </a:solidFill>
          <a:ln w="12700">
            <a:solidFill>
              <a:srgbClr val="D9E0EC"/>
            </a:solidFill>
            <a:prstDash val="solid"/>
          </a:ln>
        </p:spPr>
      </p:sp>
      <p:sp>
        <p:nvSpPr>
          <p:cNvPr id="97" name="Text 94"/>
          <p:cNvSpPr txBox="1"/>
          <p:nvPr/>
        </p:nvSpPr>
        <p:spPr>
          <a:xfrm>
            <a:off x="4532681" y="6025896"/>
            <a:ext cx="2194560" cy="329184"/>
          </a:xfrm>
          <a:prstGeom prst="rect">
            <a:avLst/>
          </a:prstGeom>
          <a:noFill/>
          <a:ln/>
        </p:spPr>
        <p:txBody>
          <a:bodyPr wrap="square" lIns="0" tIns="0" rIns="0" bIns="0" rtlCol="0" anchor="ctr"/>
          <a:lstStyle/>
          <a:p>
            <a:pPr algn="l" indent="0" marL="0">
              <a:buNone/>
            </a:pPr>
            <a:r>
              <a:rPr lang="en-US" sz="1500" b="1" dirty="0">
                <a:solidFill>
                  <a:srgbClr val="1E2A5C"/>
                </a:solidFill>
                <a:latin typeface="Pretendard" pitchFamily="34" charset="0"/>
                <a:ea typeface="Pretendard" pitchFamily="34" charset="-122"/>
                <a:cs typeface="Pretendard" pitchFamily="34" charset="-120"/>
              </a:rPr>
              <a:t>최근 90일 커밋</a:t>
            </a:r>
            <a:endParaRPr lang="en-US" sz="1500" dirty="0"/>
          </a:p>
        </p:txBody>
      </p:sp>
      <p:sp>
        <p:nvSpPr>
          <p:cNvPr id="98" name="Text 95"/>
          <p:cNvSpPr txBox="1"/>
          <p:nvPr/>
        </p:nvSpPr>
        <p:spPr>
          <a:xfrm>
            <a:off x="4532681" y="6446520"/>
            <a:ext cx="320040" cy="292608"/>
          </a:xfrm>
          <a:prstGeom prst="rect">
            <a:avLst/>
          </a:prstGeom>
          <a:noFill/>
          <a:ln/>
        </p:spPr>
        <p:txBody>
          <a:bodyPr wrap="square" lIns="0" tIns="0" rIns="0" bIns="0" rtlCol="0" anchor="ctr"/>
          <a:lstStyle/>
          <a:p>
            <a:pPr algn="ctr" indent="0" marL="0">
              <a:buNone/>
            </a:pPr>
            <a:r>
              <a:rPr lang="en-US" sz="1500" b="1" dirty="0">
                <a:solidFill>
                  <a:srgbClr val="2E74C6"/>
                </a:solidFill>
                <a:latin typeface="Pretendard" pitchFamily="34" charset="0"/>
                <a:ea typeface="Pretendard" pitchFamily="34" charset="-122"/>
                <a:cs typeface="Pretendard" pitchFamily="34" charset="-120"/>
              </a:rPr>
              <a:t>A</a:t>
            </a:r>
            <a:endParaRPr lang="en-US" sz="1500" dirty="0"/>
          </a:p>
        </p:txBody>
      </p:sp>
      <p:sp>
        <p:nvSpPr>
          <p:cNvPr id="99" name="Shape 96"/>
          <p:cNvSpPr/>
          <p:nvPr/>
        </p:nvSpPr>
        <p:spPr>
          <a:xfrm>
            <a:off x="4898441" y="6483096"/>
            <a:ext cx="161818" cy="219456"/>
          </a:xfrm>
          <a:prstGeom prst="rect">
            <a:avLst/>
          </a:prstGeom>
          <a:solidFill>
            <a:srgbClr val="2E74C6"/>
          </a:solidFill>
          <a:ln/>
        </p:spPr>
      </p:sp>
      <p:sp>
        <p:nvSpPr>
          <p:cNvPr id="100" name="Text 97"/>
          <p:cNvSpPr txBox="1"/>
          <p:nvPr/>
        </p:nvSpPr>
        <p:spPr>
          <a:xfrm>
            <a:off x="5133411" y="6446520"/>
            <a:ext cx="1005840" cy="292608"/>
          </a:xfrm>
          <a:prstGeom prst="rect">
            <a:avLst/>
          </a:prstGeom>
          <a:noFill/>
          <a:ln/>
        </p:spPr>
        <p:txBody>
          <a:bodyPr wrap="square" lIns="0" tIns="0" rIns="0" bIns="0" rtlCol="0" anchor="ctr"/>
          <a:lstStyle/>
          <a:p>
            <a:pPr algn="l" indent="0" marL="0">
              <a:buNone/>
            </a:pPr>
            <a:r>
              <a:rPr lang="en-US" sz="1500" b="1" dirty="0">
                <a:solidFill>
                  <a:srgbClr val="2B3242"/>
                </a:solidFill>
                <a:latin typeface="Pretendard" pitchFamily="34" charset="0"/>
                <a:ea typeface="Pretendard" pitchFamily="34" charset="-122"/>
                <a:cs typeface="Pretendard" pitchFamily="34" charset="-120"/>
              </a:rPr>
              <a:t>15건</a:t>
            </a:r>
            <a:endParaRPr lang="en-US" sz="1500" dirty="0"/>
          </a:p>
        </p:txBody>
      </p:sp>
      <p:sp>
        <p:nvSpPr>
          <p:cNvPr id="101" name="Text 98"/>
          <p:cNvSpPr txBox="1"/>
          <p:nvPr/>
        </p:nvSpPr>
        <p:spPr>
          <a:xfrm>
            <a:off x="4532681" y="6812280"/>
            <a:ext cx="320040" cy="292608"/>
          </a:xfrm>
          <a:prstGeom prst="rect">
            <a:avLst/>
          </a:prstGeom>
          <a:noFill/>
          <a:ln/>
        </p:spPr>
        <p:txBody>
          <a:bodyPr wrap="square" lIns="0" tIns="0" rIns="0" bIns="0" rtlCol="0" anchor="ctr"/>
          <a:lstStyle/>
          <a:p>
            <a:pPr algn="ctr" indent="0" marL="0">
              <a:buNone/>
            </a:pPr>
            <a:r>
              <a:rPr lang="en-US" sz="1500" b="1" dirty="0">
                <a:solidFill>
                  <a:srgbClr val="1E2A5C"/>
                </a:solidFill>
                <a:latin typeface="Pretendard" pitchFamily="34" charset="0"/>
                <a:ea typeface="Pretendard" pitchFamily="34" charset="-122"/>
                <a:cs typeface="Pretendard" pitchFamily="34" charset="-120"/>
              </a:rPr>
              <a:t>B</a:t>
            </a:r>
            <a:endParaRPr lang="en-US" sz="1500" dirty="0"/>
          </a:p>
        </p:txBody>
      </p:sp>
      <p:sp>
        <p:nvSpPr>
          <p:cNvPr id="102" name="Shape 99"/>
          <p:cNvSpPr/>
          <p:nvPr/>
        </p:nvSpPr>
        <p:spPr>
          <a:xfrm>
            <a:off x="4898441" y="6848856"/>
            <a:ext cx="960120" cy="219456"/>
          </a:xfrm>
          <a:prstGeom prst="rect">
            <a:avLst/>
          </a:prstGeom>
          <a:solidFill>
            <a:srgbClr val="1E2A5C"/>
          </a:solidFill>
          <a:ln/>
        </p:spPr>
      </p:sp>
      <p:sp>
        <p:nvSpPr>
          <p:cNvPr id="103" name="Text 100"/>
          <p:cNvSpPr txBox="1"/>
          <p:nvPr/>
        </p:nvSpPr>
        <p:spPr>
          <a:xfrm>
            <a:off x="5931713" y="6812280"/>
            <a:ext cx="1005840" cy="292608"/>
          </a:xfrm>
          <a:prstGeom prst="rect">
            <a:avLst/>
          </a:prstGeom>
          <a:noFill/>
          <a:ln/>
        </p:spPr>
        <p:txBody>
          <a:bodyPr wrap="square" lIns="0" tIns="0" rIns="0" bIns="0" rtlCol="0" anchor="ctr"/>
          <a:lstStyle/>
          <a:p>
            <a:pPr algn="l" indent="0" marL="0">
              <a:buNone/>
            </a:pPr>
            <a:r>
              <a:rPr lang="en-US" sz="1500" b="1" dirty="0">
                <a:solidFill>
                  <a:srgbClr val="2B3242"/>
                </a:solidFill>
                <a:latin typeface="Pretendard" pitchFamily="34" charset="0"/>
                <a:ea typeface="Pretendard" pitchFamily="34" charset="-122"/>
                <a:cs typeface="Pretendard" pitchFamily="34" charset="-120"/>
              </a:rPr>
              <a:t>89건</a:t>
            </a:r>
            <a:endParaRPr lang="en-US" sz="1500" dirty="0"/>
          </a:p>
        </p:txBody>
      </p:sp>
      <p:sp>
        <p:nvSpPr>
          <p:cNvPr id="104" name="Shape 101"/>
          <p:cNvSpPr/>
          <p:nvPr/>
        </p:nvSpPr>
        <p:spPr>
          <a:xfrm>
            <a:off x="7001561" y="5934456"/>
            <a:ext cx="7132320" cy="1335024"/>
          </a:xfrm>
          <a:prstGeom prst="roundRect">
            <a:avLst>
              <a:gd name="adj" fmla="val 5479"/>
            </a:avLst>
          </a:prstGeom>
          <a:solidFill>
            <a:srgbClr val="EEF3FA"/>
          </a:solidFill>
          <a:ln w="19050">
            <a:solidFill>
              <a:srgbClr val="2E74C6"/>
            </a:solidFill>
            <a:prstDash val="solid"/>
          </a:ln>
        </p:spPr>
      </p:sp>
      <p:sp>
        <p:nvSpPr>
          <p:cNvPr id="105" name="Text 102"/>
          <p:cNvSpPr txBox="1"/>
          <p:nvPr/>
        </p:nvSpPr>
        <p:spPr>
          <a:xfrm>
            <a:off x="7138721" y="6007608"/>
            <a:ext cx="6858000" cy="329184"/>
          </a:xfrm>
          <a:prstGeom prst="rect">
            <a:avLst/>
          </a:prstGeom>
          <a:noFill/>
          <a:ln/>
        </p:spPr>
        <p:txBody>
          <a:bodyPr wrap="square" lIns="0" tIns="0" rIns="0" bIns="0" rtlCol="0" anchor="ctr"/>
          <a:lstStyle/>
          <a:p>
            <a:pPr algn="l" indent="0" marL="0">
              <a:buNone/>
            </a:pPr>
            <a:r>
              <a:rPr lang="en-US" sz="1700" b="1" dirty="0">
                <a:solidFill>
                  <a:srgbClr val="1E2A5C"/>
                </a:solidFill>
                <a:latin typeface="Pretendard" pitchFamily="34" charset="0"/>
                <a:ea typeface="Pretendard" pitchFamily="34" charset="-122"/>
                <a:cs typeface="Pretendard" pitchFamily="34" charset="-120"/>
              </a:rPr>
              <a:t>판정: 운영은 Native(B) — 앞단은 벡터DB 인덱싱과 함께</a:t>
            </a:r>
            <a:endParaRPr lang="en-US" sz="1700" dirty="0"/>
          </a:p>
        </p:txBody>
      </p:sp>
      <p:sp>
        <p:nvSpPr>
          <p:cNvPr id="106" name="Shape 103"/>
          <p:cNvSpPr/>
          <p:nvPr/>
        </p:nvSpPr>
        <p:spPr>
          <a:xfrm>
            <a:off x="7138721" y="6373368"/>
            <a:ext cx="975360" cy="347472"/>
          </a:xfrm>
          <a:prstGeom prst="roundRect">
            <a:avLst>
              <a:gd name="adj" fmla="val 45000"/>
            </a:avLst>
          </a:prstGeom>
          <a:solidFill>
            <a:srgbClr val="FFFFFF"/>
          </a:solidFill>
          <a:ln w="12700">
            <a:solidFill>
              <a:srgbClr val="4A5364"/>
            </a:solidFill>
            <a:prstDash val="solid"/>
          </a:ln>
        </p:spPr>
      </p:sp>
      <p:sp>
        <p:nvSpPr>
          <p:cNvPr id="107" name="Text 104"/>
          <p:cNvSpPr txBox="1"/>
          <p:nvPr/>
        </p:nvSpPr>
        <p:spPr>
          <a:xfrm>
            <a:off x="7138721" y="6373368"/>
            <a:ext cx="975360" cy="347472"/>
          </a:xfrm>
          <a:prstGeom prst="rect">
            <a:avLst/>
          </a:prstGeom>
          <a:noFill/>
          <a:ln/>
        </p:spPr>
        <p:txBody>
          <a:bodyPr wrap="square" lIns="1016" tIns="1016" rIns="1016" bIns="1016" rtlCol="0" anchor="ctr"/>
          <a:lstStyle/>
          <a:p>
            <a:pPr algn="ctr" indent="0" marL="0">
              <a:buNone/>
            </a:pPr>
            <a:r>
              <a:rPr lang="en-US" sz="1400" b="1" dirty="0">
                <a:solidFill>
                  <a:srgbClr val="4A5364"/>
                </a:solidFill>
                <a:latin typeface="Pretendard" pitchFamily="34" charset="0"/>
                <a:ea typeface="Pretendard" pitchFamily="34" charset="-122"/>
                <a:cs typeface="Pretendard" pitchFamily="34" charset="-120"/>
              </a:rPr>
              <a:t>로드</a:t>
            </a:r>
            <a:endParaRPr lang="en-US" sz="1400" dirty="0"/>
          </a:p>
        </p:txBody>
      </p:sp>
      <p:sp>
        <p:nvSpPr>
          <p:cNvPr id="108" name="Shape 105"/>
          <p:cNvSpPr/>
          <p:nvPr/>
        </p:nvSpPr>
        <p:spPr>
          <a:xfrm>
            <a:off x="8132369" y="6547104"/>
            <a:ext cx="164592" cy="0"/>
          </a:xfrm>
          <a:prstGeom prst="line">
            <a:avLst/>
          </a:prstGeom>
          <a:noFill/>
          <a:ln w="19050">
            <a:solidFill>
              <a:srgbClr val="4A5364"/>
            </a:solidFill>
            <a:prstDash val="solid"/>
            <a:tailEnd type="triangle"/>
          </a:ln>
        </p:spPr>
      </p:sp>
      <p:sp>
        <p:nvSpPr>
          <p:cNvPr id="109" name="Shape 106"/>
          <p:cNvSpPr/>
          <p:nvPr/>
        </p:nvSpPr>
        <p:spPr>
          <a:xfrm>
            <a:off x="8315249" y="6373368"/>
            <a:ext cx="975360" cy="347472"/>
          </a:xfrm>
          <a:prstGeom prst="roundRect">
            <a:avLst>
              <a:gd name="adj" fmla="val 45000"/>
            </a:avLst>
          </a:prstGeom>
          <a:solidFill>
            <a:srgbClr val="FFFFFF"/>
          </a:solidFill>
          <a:ln w="12700">
            <a:solidFill>
              <a:srgbClr val="4A5364"/>
            </a:solidFill>
            <a:prstDash val="solid"/>
          </a:ln>
        </p:spPr>
      </p:sp>
      <p:sp>
        <p:nvSpPr>
          <p:cNvPr id="110" name="Text 107"/>
          <p:cNvSpPr txBox="1"/>
          <p:nvPr/>
        </p:nvSpPr>
        <p:spPr>
          <a:xfrm>
            <a:off x="8315249" y="6373368"/>
            <a:ext cx="975360" cy="347472"/>
          </a:xfrm>
          <a:prstGeom prst="rect">
            <a:avLst/>
          </a:prstGeom>
          <a:noFill/>
          <a:ln/>
        </p:spPr>
        <p:txBody>
          <a:bodyPr wrap="square" lIns="1016" tIns="1016" rIns="1016" bIns="1016" rtlCol="0" anchor="ctr"/>
          <a:lstStyle/>
          <a:p>
            <a:pPr algn="ctr" indent="0" marL="0">
              <a:buNone/>
            </a:pPr>
            <a:r>
              <a:rPr lang="en-US" sz="1400" b="1" dirty="0">
                <a:solidFill>
                  <a:srgbClr val="4A5364"/>
                </a:solidFill>
                <a:latin typeface="Pretendard" pitchFamily="34" charset="0"/>
                <a:ea typeface="Pretendard" pitchFamily="34" charset="-122"/>
                <a:cs typeface="Pretendard" pitchFamily="34" charset="-120"/>
              </a:rPr>
              <a:t>가명처리</a:t>
            </a:r>
            <a:endParaRPr lang="en-US" sz="1400" dirty="0"/>
          </a:p>
        </p:txBody>
      </p:sp>
      <p:sp>
        <p:nvSpPr>
          <p:cNvPr id="111" name="Shape 108"/>
          <p:cNvSpPr/>
          <p:nvPr/>
        </p:nvSpPr>
        <p:spPr>
          <a:xfrm>
            <a:off x="9308897" y="6547104"/>
            <a:ext cx="164592" cy="0"/>
          </a:xfrm>
          <a:prstGeom prst="line">
            <a:avLst/>
          </a:prstGeom>
          <a:noFill/>
          <a:ln w="19050">
            <a:solidFill>
              <a:srgbClr val="4A5364"/>
            </a:solidFill>
            <a:prstDash val="solid"/>
            <a:tailEnd type="triangle"/>
          </a:ln>
        </p:spPr>
      </p:sp>
      <p:sp>
        <p:nvSpPr>
          <p:cNvPr id="112" name="Shape 109"/>
          <p:cNvSpPr/>
          <p:nvPr/>
        </p:nvSpPr>
        <p:spPr>
          <a:xfrm>
            <a:off x="9491777" y="6373368"/>
            <a:ext cx="975360" cy="347472"/>
          </a:xfrm>
          <a:prstGeom prst="roundRect">
            <a:avLst>
              <a:gd name="adj" fmla="val 45000"/>
            </a:avLst>
          </a:prstGeom>
          <a:solidFill>
            <a:srgbClr val="FFFFFF"/>
          </a:solidFill>
          <a:ln w="12700">
            <a:solidFill>
              <a:srgbClr val="4A5364"/>
            </a:solidFill>
            <a:prstDash val="solid"/>
          </a:ln>
        </p:spPr>
      </p:sp>
      <p:sp>
        <p:nvSpPr>
          <p:cNvPr id="113" name="Text 110"/>
          <p:cNvSpPr txBox="1"/>
          <p:nvPr/>
        </p:nvSpPr>
        <p:spPr>
          <a:xfrm>
            <a:off x="9491777" y="6373368"/>
            <a:ext cx="975360" cy="347472"/>
          </a:xfrm>
          <a:prstGeom prst="rect">
            <a:avLst/>
          </a:prstGeom>
          <a:noFill/>
          <a:ln/>
        </p:spPr>
        <p:txBody>
          <a:bodyPr wrap="square" lIns="1016" tIns="1016" rIns="1016" bIns="1016" rtlCol="0" anchor="ctr"/>
          <a:lstStyle/>
          <a:p>
            <a:pPr algn="ctr" indent="0" marL="0">
              <a:buNone/>
            </a:pPr>
            <a:r>
              <a:rPr lang="en-US" sz="1400" b="1" dirty="0">
                <a:solidFill>
                  <a:srgbClr val="4A5364"/>
                </a:solidFill>
                <a:latin typeface="Pretendard" pitchFamily="34" charset="0"/>
                <a:ea typeface="Pretendard" pitchFamily="34" charset="-122"/>
                <a:cs typeface="Pretendard" pitchFamily="34" charset="-120"/>
              </a:rPr>
              <a:t>청킹</a:t>
            </a:r>
            <a:endParaRPr lang="en-US" sz="1400" dirty="0"/>
          </a:p>
        </p:txBody>
      </p:sp>
      <p:sp>
        <p:nvSpPr>
          <p:cNvPr id="114" name="Shape 111"/>
          <p:cNvSpPr/>
          <p:nvPr/>
        </p:nvSpPr>
        <p:spPr>
          <a:xfrm>
            <a:off x="10485425" y="6547104"/>
            <a:ext cx="164592" cy="0"/>
          </a:xfrm>
          <a:prstGeom prst="line">
            <a:avLst/>
          </a:prstGeom>
          <a:noFill/>
          <a:ln w="19050">
            <a:solidFill>
              <a:srgbClr val="4A5364"/>
            </a:solidFill>
            <a:prstDash val="solid"/>
            <a:tailEnd type="triangle"/>
          </a:ln>
        </p:spPr>
      </p:sp>
      <p:sp>
        <p:nvSpPr>
          <p:cNvPr id="115" name="Shape 112"/>
          <p:cNvSpPr/>
          <p:nvPr/>
        </p:nvSpPr>
        <p:spPr>
          <a:xfrm>
            <a:off x="10668305" y="6373368"/>
            <a:ext cx="975360" cy="347472"/>
          </a:xfrm>
          <a:prstGeom prst="roundRect">
            <a:avLst>
              <a:gd name="adj" fmla="val 45000"/>
            </a:avLst>
          </a:prstGeom>
          <a:solidFill>
            <a:srgbClr val="1E2A5C"/>
          </a:solidFill>
          <a:ln/>
        </p:spPr>
      </p:sp>
      <p:sp>
        <p:nvSpPr>
          <p:cNvPr id="116" name="Text 113"/>
          <p:cNvSpPr txBox="1"/>
          <p:nvPr/>
        </p:nvSpPr>
        <p:spPr>
          <a:xfrm>
            <a:off x="10668305" y="6373368"/>
            <a:ext cx="975360" cy="347472"/>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④ 추출</a:t>
            </a:r>
            <a:endParaRPr lang="en-US" sz="1400" dirty="0"/>
          </a:p>
        </p:txBody>
      </p:sp>
      <p:sp>
        <p:nvSpPr>
          <p:cNvPr id="117" name="Shape 114"/>
          <p:cNvSpPr/>
          <p:nvPr/>
        </p:nvSpPr>
        <p:spPr>
          <a:xfrm>
            <a:off x="11661953" y="6547104"/>
            <a:ext cx="164592" cy="0"/>
          </a:xfrm>
          <a:prstGeom prst="line">
            <a:avLst/>
          </a:prstGeom>
          <a:noFill/>
          <a:ln w="19050">
            <a:solidFill>
              <a:srgbClr val="4A5364"/>
            </a:solidFill>
            <a:prstDash val="solid"/>
            <a:tailEnd type="triangle"/>
          </a:ln>
        </p:spPr>
      </p:sp>
      <p:sp>
        <p:nvSpPr>
          <p:cNvPr id="118" name="Shape 115"/>
          <p:cNvSpPr/>
          <p:nvPr/>
        </p:nvSpPr>
        <p:spPr>
          <a:xfrm>
            <a:off x="11844833" y="6373368"/>
            <a:ext cx="975360" cy="347472"/>
          </a:xfrm>
          <a:prstGeom prst="roundRect">
            <a:avLst>
              <a:gd name="adj" fmla="val 45000"/>
            </a:avLst>
          </a:prstGeom>
          <a:solidFill>
            <a:srgbClr val="1E2A5C"/>
          </a:solidFill>
          <a:ln/>
        </p:spPr>
      </p:sp>
      <p:sp>
        <p:nvSpPr>
          <p:cNvPr id="119" name="Text 116"/>
          <p:cNvSpPr txBox="1"/>
          <p:nvPr/>
        </p:nvSpPr>
        <p:spPr>
          <a:xfrm>
            <a:off x="11844833" y="6373368"/>
            <a:ext cx="975360" cy="347472"/>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KG 저장</a:t>
            </a:r>
            <a:endParaRPr lang="en-US" sz="1400" dirty="0"/>
          </a:p>
        </p:txBody>
      </p:sp>
      <p:sp>
        <p:nvSpPr>
          <p:cNvPr id="120" name="Shape 117"/>
          <p:cNvSpPr/>
          <p:nvPr/>
        </p:nvSpPr>
        <p:spPr>
          <a:xfrm>
            <a:off x="12838481" y="6547104"/>
            <a:ext cx="164592" cy="0"/>
          </a:xfrm>
          <a:prstGeom prst="line">
            <a:avLst/>
          </a:prstGeom>
          <a:noFill/>
          <a:ln w="19050">
            <a:solidFill>
              <a:srgbClr val="4A5364"/>
            </a:solidFill>
            <a:prstDash val="solid"/>
            <a:tailEnd type="triangle"/>
          </a:ln>
        </p:spPr>
      </p:sp>
      <p:sp>
        <p:nvSpPr>
          <p:cNvPr id="121" name="Shape 118"/>
          <p:cNvSpPr/>
          <p:nvPr/>
        </p:nvSpPr>
        <p:spPr>
          <a:xfrm>
            <a:off x="13021361" y="6373368"/>
            <a:ext cx="975360" cy="347472"/>
          </a:xfrm>
          <a:prstGeom prst="roundRect">
            <a:avLst>
              <a:gd name="adj" fmla="val 45000"/>
            </a:avLst>
          </a:prstGeom>
          <a:solidFill>
            <a:srgbClr val="1E2A5C"/>
          </a:solidFill>
          <a:ln/>
        </p:spPr>
      </p:sp>
      <p:sp>
        <p:nvSpPr>
          <p:cNvPr id="122" name="Text 119"/>
          <p:cNvSpPr txBox="1"/>
          <p:nvPr/>
        </p:nvSpPr>
        <p:spPr>
          <a:xfrm>
            <a:off x="13021361" y="6373368"/>
            <a:ext cx="975360" cy="347472"/>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병합</a:t>
            </a:r>
            <a:endParaRPr lang="en-US" sz="1400" dirty="0"/>
          </a:p>
        </p:txBody>
      </p:sp>
      <p:sp>
        <p:nvSpPr>
          <p:cNvPr id="123" name="Text 120"/>
          <p:cNvSpPr txBox="1"/>
          <p:nvPr/>
        </p:nvSpPr>
        <p:spPr>
          <a:xfrm>
            <a:off x="7138721" y="6739128"/>
            <a:ext cx="3328416" cy="256032"/>
          </a:xfrm>
          <a:prstGeom prst="rect">
            <a:avLst/>
          </a:prstGeom>
          <a:noFill/>
          <a:ln/>
        </p:spPr>
        <p:txBody>
          <a:bodyPr wrap="square" lIns="0" tIns="0" rIns="0" bIns="0" rtlCol="0" anchor="ctr"/>
          <a:lstStyle/>
          <a:p>
            <a:pPr algn="ctr" indent="0" marL="0">
              <a:buNone/>
            </a:pPr>
            <a:r>
              <a:rPr lang="en-US" sz="1400" dirty="0">
                <a:solidFill>
                  <a:srgbClr val="4A5364"/>
                </a:solidFill>
                <a:latin typeface="Pretendard" pitchFamily="34" charset="0"/>
                <a:ea typeface="Pretendard" pitchFamily="34" charset="-122"/>
                <a:cs typeface="Pretendard" pitchFamily="34" charset="-120"/>
              </a:rPr>
              <a:t>벡터DB와 같은 코드 · 같은 청크</a:t>
            </a:r>
            <a:endParaRPr lang="en-US" sz="1400" dirty="0"/>
          </a:p>
        </p:txBody>
      </p:sp>
      <p:sp>
        <p:nvSpPr>
          <p:cNvPr id="124" name="Text 121"/>
          <p:cNvSpPr txBox="1"/>
          <p:nvPr/>
        </p:nvSpPr>
        <p:spPr>
          <a:xfrm>
            <a:off x="10668305" y="6739128"/>
            <a:ext cx="3328416" cy="256032"/>
          </a:xfrm>
          <a:prstGeom prst="rect">
            <a:avLst/>
          </a:prstGeom>
          <a:noFill/>
          <a:ln/>
        </p:spPr>
        <p:txBody>
          <a:bodyPr wrap="square" lIns="0" tIns="0" rIns="0" bIns="0"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Native 부품으로 조립</a:t>
            </a:r>
            <a:endParaRPr lang="en-US" sz="1400" dirty="0"/>
          </a:p>
        </p:txBody>
      </p:sp>
      <p:sp>
        <p:nvSpPr>
          <p:cNvPr id="125" name="Text 122"/>
          <p:cNvSpPr txBox="1"/>
          <p:nvPr/>
        </p:nvSpPr>
        <p:spPr>
          <a:xfrm>
            <a:off x="7138721" y="6986016"/>
            <a:ext cx="6858000" cy="256032"/>
          </a:xfrm>
          <a:prstGeom prst="rect">
            <a:avLst/>
          </a:prstGeom>
          <a:noFill/>
          <a:ln/>
        </p:spPr>
        <p:txBody>
          <a:bodyPr wrap="square" lIns="0" tIns="0" rIns="0" bIns="0" rtlCol="0" anchor="ctr"/>
          <a:lstStyle/>
          <a:p>
            <a:pPr algn="l" indent="0" marL="0">
              <a:buNone/>
            </a:pPr>
            <a:r>
              <a:rPr lang="en-US" sz="1400" dirty="0">
                <a:solidFill>
                  <a:srgbClr val="4A5364"/>
                </a:solidFill>
                <a:latin typeface="Pretendard" pitchFamily="34" charset="0"/>
                <a:ea typeface="Pretendard" pitchFamily="34" charset="-122"/>
                <a:cs typeface="Pretendard" pitchFamily="34" charset="-120"/>
              </a:rPr>
              <a:t>※ 노드 설명 임베딩·사전요약은 어느 쪽이든 직접 · 다운로드는 설치 횟수(B에 A 몫 포함)</a:t>
            </a:r>
            <a:endParaRPr lang="en-US" sz="14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2026-10-13T13:57:39Z</dcterms:created>
  <dcterms:modified xsi:type="dcterms:W3CDTF">2026-10-13T13:57:39Z</dcterms:modified>
</cp:coreProperties>
</file>