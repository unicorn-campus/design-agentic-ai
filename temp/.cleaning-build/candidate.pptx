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발표자 설명
정제는 검색에 필요하지 않은 반복 문구와 형식 노이즈를 줄이는 처리입니다. 머리말과 꼬리말은 위치만 보고 지우면
본문 제목을 잘못 제거할 수 있으므로, 페이지 위·아래의 위치와 여러 페이지에서의 반복 여부를 함께 확인합니다.
페이지 번호는 검색 본문에서 제거해도 출처 표시에 필요하므로 페이지 메타데이터로 유지합니다. 조항 제목과 문단 경계처럼
의미를 나누는 구조는 보존합니다.
가명 처리 방법은 사용 목적에 따라 구분합니다. `[전화번호]`와 같은 유형 토큰은 값의 종류를 남기지만 같은 사람인지까지
연결하지 않습니다. `고객_001`과 같은 가명 ID는 정한 적용 범위 안에서 같은 대상에 같은 값을 부여하므로 여러 기록의
관계를 유지할 수 있습니다. 생년월일과 상세주소는 검색에 필요한 수준만 남도록 연령대와 넓은 지역으로 일반화할 수 있습니다.
가명 ID를 만들 때에는 같은 값을 유지할 범위를 문서, 데이터셋, 시스템 가운데 어디까지로 할지 먼저 정합니다. 원문과
가명 ID의 매핑표나 비밀키를 사용한다면 본문과 분리하고 접근을 제한합니다. 가명 처리는 원문 식별 가능성을 낮추는
처리이며, 이 슬라이드는 법적 익명화 완료나 모든 개인정보의 검출을 보증하지 않습니다.
화면의 가명 처리 예시는 일반적인 설계 예시입니다. 현재 `vector-bm25` 코드는 상담의 명시 필드와 전화번호, 이메일,
카드번호, 회원번호 형식을 찾아 본문에서 `[삭제]`로 치환하고, 생년월일·나이는 연령대로 바꿉니다. 회원과 상담사는
원문 문자열의 SHA-256 앞 16자리를 사용한 안정 가명 ID를 메타데이터에 저장합니다. 이 값은 비밀키 기반 암호화나
익명성 보증이 아닙니다. 잔존 검사도 코드에 정의된 형식을 확인하는 보완 검사이며 모든 개인정보 유형을 검출하지는 않습니다.
정제 규칙이 필요한 구분자와 구조를 보존하면 청킹 전에 적용해도 본질적인 문제가 없습니다. 이 장에서는 처리 시점보다
무엇을 제거하고, 무엇을 가명 ID·유형 토큰·일반화 값으로 남길지를 구분하는 데 초점을 둡니다.
### 출처
- 프로젝트 구현:
  `hybrid-ai-lab/indexer/vector-bm25/app/infrastructure/loaders.py`
- 프로젝트 정제·가명 ID 규칙:
  `hybrid-ai-lab/indexer/vector-bm25/app/domain/text_rules.py`
- Microsoft Presidio, Pseudonymization sample:
  &lt;https://data-privacy-stack.github.io/presidio/samples/python/pseudonymization/&gt;
화면 예시 조정: 가명 처리의 입력은 가상 인물 김민지(M-87321), 35세, minji@example.com입니다. 출력 고객_001, 30대, [이메일]은 설계 예시이며 현행 코드의 실행 결과가 아닙니다. 가명 ID의 동일성은 이름만으로 판단하지 않고 식별된 대상과 정한 적용 범위를 기준으로 관리합니다. 정규식은 형식이 있는 전화·이메일·고유번호 탐지에 쓰며, 자유서술 이름·주소는 필드값 사전 또는 문맥 기반 인식 등을 보완할 수 있습니다. 일반화 수준은 검색 목적에 맞게 정합니다. 페이지 번호도 위치와 반복 형식을 확인하므로 본문의 조항 번호를 무조건 제거하지 않습니다. 단순 치환이나 일반화 하나로 재식별 위험 제거를 보증하지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2064" y="320040"/>
            <a:ext cx="11887200" cy="237744"/>
          </a:xfrm>
          <a:prstGeom prst="rect">
            <a:avLst/>
          </a:prstGeom>
          <a:noFill/>
          <a:ln/>
        </p:spPr>
        <p:txBody>
          <a:bodyPr wrap="square" lIns="0" tIns="0" rIns="0" bIns="0" rtlCol="0" anchor="ctr"/>
          <a:lstStyle/>
          <a:p>
            <a:pPr algn="l" indent="0" marL="0">
              <a:buNone/>
            </a:pPr>
            <a:r>
              <a:rPr lang="en-US" sz="1500" dirty="0">
                <a:solidFill>
                  <a:srgbClr val="7C8598"/>
                </a:solidFill>
                <a:latin typeface="Pretendard" pitchFamily="34" charset="0"/>
                <a:ea typeface="Pretendard" pitchFamily="34" charset="-122"/>
                <a:cs typeface="Pretendard" pitchFamily="34" charset="-120"/>
              </a:rPr>
              <a:t>문서 인덱싱  ›  청킹</a:t>
            </a:r>
            <a:endParaRPr lang="en-US" sz="1500" dirty="0"/>
          </a:p>
        </p:txBody>
      </p:sp>
      <p:sp>
        <p:nvSpPr>
          <p:cNvPr id="3" name="Text 1"/>
          <p:cNvSpPr/>
          <p:nvPr/>
        </p:nvSpPr>
        <p:spPr>
          <a:xfrm>
            <a:off x="512064" y="704088"/>
            <a:ext cx="13606272" cy="640080"/>
          </a:xfrm>
          <a:prstGeom prst="rect">
            <a:avLst/>
          </a:prstGeom>
          <a:noFill/>
          <a:ln/>
        </p:spPr>
        <p:txBody>
          <a:bodyPr wrap="square" lIns="0" tIns="0" rIns="0" bIns="0" rtlCol="0" anchor="ctr"/>
          <a:lstStyle/>
          <a:p>
            <a:pPr algn="l" indent="0" marL="0">
              <a:buNone/>
            </a:pPr>
            <a:r>
              <a:rPr lang="en-US" sz="4800" b="1" dirty="0">
                <a:solidFill>
                  <a:srgbClr val="1E2A5C"/>
                </a:solidFill>
                <a:latin typeface="Pretendard" pitchFamily="34" charset="0"/>
                <a:ea typeface="Pretendard" pitchFamily="34" charset="-122"/>
                <a:cs typeface="Pretendard" pitchFamily="34" charset="-120"/>
              </a:rPr>
              <a:t>정제 및 가명 처리</a:t>
            </a:r>
            <a:endParaRPr lang="en-US" sz="4800" dirty="0"/>
          </a:p>
        </p:txBody>
      </p:sp>
      <p:sp>
        <p:nvSpPr>
          <p:cNvPr id="4" name="Shape 2"/>
          <p:cNvSpPr/>
          <p:nvPr/>
        </p:nvSpPr>
        <p:spPr>
          <a:xfrm>
            <a:off x="512064" y="1472184"/>
            <a:ext cx="13606272" cy="32004"/>
          </a:xfrm>
          <a:prstGeom prst="rect">
            <a:avLst/>
          </a:prstGeom>
          <a:solidFill>
            <a:srgbClr val="D9E0EC"/>
          </a:solidFill>
          <a:ln w="12700">
            <a:solidFill>
              <a:srgbClr val="D9E0EC"/>
            </a:solidFill>
            <a:prstDash val="solid"/>
          </a:ln>
        </p:spPr>
      </p:sp>
      <p:sp>
        <p:nvSpPr>
          <p:cNvPr id="5" name="Shape 3"/>
          <p:cNvSpPr/>
          <p:nvPr/>
        </p:nvSpPr>
        <p:spPr>
          <a:xfrm>
            <a:off x="512064" y="1472184"/>
            <a:ext cx="1901952" cy="32004"/>
          </a:xfrm>
          <a:prstGeom prst="rect">
            <a:avLst/>
          </a:prstGeom>
          <a:solidFill>
            <a:srgbClr val="2E74C6"/>
          </a:solidFill>
          <a:ln w="12700">
            <a:solidFill>
              <a:srgbClr val="2E74C6"/>
            </a:solidFill>
            <a:prstDash val="solid"/>
          </a:ln>
        </p:spPr>
      </p:sp>
      <p:sp>
        <p:nvSpPr>
          <p:cNvPr id="6" name="Text 4"/>
          <p:cNvSpPr/>
          <p:nvPr/>
        </p:nvSpPr>
        <p:spPr>
          <a:xfrm>
            <a:off x="512064" y="1673352"/>
            <a:ext cx="13606272" cy="466344"/>
          </a:xfrm>
          <a:prstGeom prst="rect">
            <a:avLst/>
          </a:prstGeom>
          <a:noFill/>
          <a:ln/>
        </p:spPr>
        <p:txBody>
          <a:bodyPr wrap="square" lIns="0" tIns="0" rIns="0" bIns="0" rtlCol="0" anchor="ctr"/>
          <a:lstStyle/>
          <a:p>
            <a:pPr algn="l" indent="0" marL="0">
              <a:buNone/>
            </a:pPr>
            <a:r>
              <a:rPr lang="en-US" sz="2200" dirty="0">
                <a:solidFill>
                  <a:srgbClr val="4A5364"/>
                </a:solidFill>
                <a:latin typeface="Pretendard" pitchFamily="34" charset="0"/>
                <a:ea typeface="Pretendard" pitchFamily="34" charset="-122"/>
                <a:cs typeface="Pretendard" pitchFamily="34" charset="-120"/>
              </a:rPr>
              <a:t>불필요한 반복 요소를 정리하고, 개인을 식별하는 값은 사용 목적에 맞게 바꿉니다.</a:t>
            </a:r>
            <a:endParaRPr lang="en-US" sz="2200" dirty="0"/>
          </a:p>
        </p:txBody>
      </p:sp>
      <p:sp>
        <p:nvSpPr>
          <p:cNvPr id="7" name="Text 5"/>
          <p:cNvSpPr/>
          <p:nvPr/>
        </p:nvSpPr>
        <p:spPr>
          <a:xfrm>
            <a:off x="512064" y="2240280"/>
            <a:ext cx="6556248" cy="393192"/>
          </a:xfrm>
          <a:prstGeom prst="rect">
            <a:avLst/>
          </a:prstGeom>
          <a:noFill/>
          <a:ln/>
        </p:spPr>
        <p:txBody>
          <a:bodyPr wrap="square" lIns="0" tIns="0" rIns="0" bIns="0" rtlCol="0" anchor="ctr"/>
          <a:lstStyle/>
          <a:p>
            <a:pPr algn="l" indent="0" marL="0">
              <a:buNone/>
            </a:pPr>
            <a:r>
              <a:rPr lang="en-US" sz="2900" b="1" dirty="0">
                <a:solidFill>
                  <a:srgbClr val="1E2A5C"/>
                </a:solidFill>
                <a:latin typeface="Pretendard" pitchFamily="34" charset="0"/>
                <a:ea typeface="Pretendard" pitchFamily="34" charset="-122"/>
                <a:cs typeface="Pretendard" pitchFamily="34" charset="-120"/>
              </a:rPr>
              <a:t>정제</a:t>
            </a:r>
            <a:endParaRPr lang="en-US" sz="2900" dirty="0"/>
          </a:p>
        </p:txBody>
      </p:sp>
      <p:sp>
        <p:nvSpPr>
          <p:cNvPr id="8" name="Text 6"/>
          <p:cNvSpPr/>
          <p:nvPr/>
        </p:nvSpPr>
        <p:spPr>
          <a:xfrm>
            <a:off x="7562088" y="2240280"/>
            <a:ext cx="6556248" cy="393192"/>
          </a:xfrm>
          <a:prstGeom prst="rect">
            <a:avLst/>
          </a:prstGeom>
          <a:noFill/>
          <a:ln/>
        </p:spPr>
        <p:txBody>
          <a:bodyPr wrap="square" lIns="0" tIns="0" rIns="0" bIns="0" rtlCol="0" anchor="ctr"/>
          <a:lstStyle/>
          <a:p>
            <a:pPr algn="l" indent="0" marL="0">
              <a:buNone/>
            </a:pPr>
            <a:r>
              <a:rPr lang="en-US" sz="2900" b="1" dirty="0">
                <a:solidFill>
                  <a:srgbClr val="2E74C6"/>
                </a:solidFill>
                <a:latin typeface="Pretendard" pitchFamily="34" charset="0"/>
                <a:ea typeface="Pretendard" pitchFamily="34" charset="-122"/>
                <a:cs typeface="Pretendard" pitchFamily="34" charset="-120"/>
              </a:rPr>
              <a:t>가명 처리</a:t>
            </a:r>
            <a:endParaRPr lang="en-US" sz="2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512064" y="2752344"/>
          <a:ext cx="6556248" cy="914400"/>
        </p:xfrm>
        <a:graphic>
          <a:graphicData uri="http://schemas.openxmlformats.org/drawingml/2006/table">
            <a:tbl>
              <a:tblPr/>
              <a:tblGrid>
                <a:gridCol w="2048256"/>
                <a:gridCol w="4507992"/>
              </a:tblGrid>
              <a:tr h="420624">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대상</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찾는 기준과 처리 방법</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r>
              <a:tr h="65836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머리말·꼬리말</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페이지 위·아래에서 반복되는</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위치와 문구를 확인한 뒤 제거</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r h="65836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페이지 번호</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위치·번호 패턴으로 찾아 본문에서 제거</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출처를 표시할 쪽 정보는 메타데이터에 유지</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5F8FC"/>
                    </a:solidFill>
                  </a:tcPr>
                </a:tc>
              </a:tr>
              <a:tr h="65836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공백·빈 줄</a:t>
                      </a:r>
                      <a:endParaRPr lang="en-US" sz="1800" dirty="0">
                        <a:latin typeface="Pretendard" charset="0"/>
                        <a:ea typeface="Pretendard" charset="0"/>
                        <a:cs typeface="Pretendard" charset="0"/>
                      </a:endParaRPr>
                    </a:p>
                    <a:p>
                      <a:pPr indent="0" marL="0">
                        <a:buNone/>
                      </a:pPr>
                      <a:r>
                        <a:rPr lang="en-US" sz="1800" b="1" dirty="0">
                          <a:solidFill>
                            <a:srgbClr val="2B3242"/>
                          </a:solidFill>
                          <a:latin typeface="Pretendard" pitchFamily="34" charset="0"/>
                          <a:ea typeface="Pretendard" pitchFamily="34" charset="-122"/>
                          <a:cs typeface="Pretendard" pitchFamily="34" charset="-120"/>
                        </a:rPr>
                        <a:t>제어문자</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과한 공백·빈 줄과 불필요한 문자를 정리</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제목·조항·문단 구분자는 보존</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bl>
          </a:graphicData>
        </a:graphic>
      </p:graphicFrame>
      <p:graphicFrame>
        <p:nvGraphicFramePr>
          <p:cNvPr id="3" name="Table 1"/>
          <p:cNvGraphicFramePr>
            <a:graphicFrameLocks noGrp="1"/>
          </p:cNvGraphicFramePr>
          <p:nvPr>
            <p:extLst>
              <p:ext uri="{D42A27DB-BD31-4B8C-83A1-F6EECF244321}">
                <p14:modId xmlns:p14="http://schemas.microsoft.com/office/powerpoint/2010/main" val="1579011935"/>
              </p:ext>
            </p:extLst>
          </p:nvPr>
        </p:nvGraphicFramePr>
        <p:xfrm>
          <a:off x="7562088" y="2752344"/>
          <a:ext cx="6556248" cy="914400"/>
        </p:xfrm>
        <a:graphic>
          <a:graphicData uri="http://schemas.openxmlformats.org/drawingml/2006/table">
            <a:tbl>
              <a:tblPr/>
              <a:tblGrid>
                <a:gridCol w="2048256"/>
                <a:gridCol w="4507992"/>
              </a:tblGrid>
              <a:tr h="420624">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대상</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c>
                  <a:txBody>
                    <a:bodyPr/>
                    <a:lstStyle/>
                    <a:p>
                      <a:pPr indent="0" marL="0">
                        <a:buNone/>
                      </a:pPr>
                      <a:r>
                        <a:rPr lang="en-US" sz="1800" b="1" dirty="0">
                          <a:solidFill>
                            <a:srgbClr val="1E2A5C"/>
                          </a:solidFill>
                          <a:latin typeface="Pretendard" pitchFamily="34" charset="0"/>
                          <a:ea typeface="Pretendard" pitchFamily="34" charset="-122"/>
                          <a:cs typeface="Pretendard" pitchFamily="34" charset="-120"/>
                        </a:rPr>
                        <a:t>목적에 맞는 처리 방법</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E2EEF9"/>
                    </a:solidFill>
                  </a:tcPr>
                </a:tc>
              </a:tr>
              <a:tr h="65836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이름·회원 ID</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관계를 유지하려면 가명 ID로 치환</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같은 대상에는 같은 고객_001을 부여</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r h="65836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전화·이메일</a:t>
                      </a:r>
                      <a:endParaRPr lang="en-US" sz="1800" dirty="0">
                        <a:latin typeface="Pretendard" charset="0"/>
                        <a:ea typeface="Pretendard" charset="0"/>
                        <a:cs typeface="Pretendard" charset="0"/>
                      </a:endParaRPr>
                    </a:p>
                    <a:p>
                      <a:pPr indent="0" marL="0">
                        <a:buNone/>
                      </a:pPr>
                      <a:r>
                        <a:rPr lang="en-US" sz="1800" b="1" dirty="0">
                          <a:solidFill>
                            <a:srgbClr val="2B3242"/>
                          </a:solidFill>
                          <a:latin typeface="Pretendard" pitchFamily="34" charset="0"/>
                          <a:ea typeface="Pretendard" pitchFamily="34" charset="-122"/>
                          <a:cs typeface="Pretendard" pitchFamily="34" charset="-120"/>
                        </a:rPr>
                        <a:t>고유번호</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5F8FC"/>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원래 값이 불필요하면 유형 토큰으로 치환</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예: [전화번호], [이메일], [카드번호]</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5F8FC"/>
                    </a:solidFill>
                  </a:tcPr>
                </a:tc>
              </a:tr>
              <a:tr h="658368">
                <a:tc>
                  <a:txBody>
                    <a:bodyPr/>
                    <a:lstStyle/>
                    <a:p>
                      <a:pPr indent="0" marL="0">
                        <a:buNone/>
                      </a:pPr>
                      <a:r>
                        <a:rPr lang="en-US" sz="1800" b="1" dirty="0">
                          <a:solidFill>
                            <a:srgbClr val="2B3242"/>
                          </a:solidFill>
                          <a:latin typeface="Pretendard" pitchFamily="34" charset="0"/>
                          <a:ea typeface="Pretendard" pitchFamily="34" charset="-122"/>
                          <a:cs typeface="Pretendard" pitchFamily="34" charset="-120"/>
                        </a:rPr>
                        <a:t>생년월일·상세주소</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c>
                  <a:txBody>
                    <a:bodyPr/>
                    <a:lstStyle/>
                    <a:p>
                      <a:pPr indent="0" marL="0">
                        <a:buNone/>
                      </a:pPr>
                      <a:r>
                        <a:rPr lang="en-US" sz="1800" dirty="0">
                          <a:solidFill>
                            <a:srgbClr val="2B3242"/>
                          </a:solidFill>
                          <a:latin typeface="Pretendard" pitchFamily="34" charset="0"/>
                          <a:ea typeface="Pretendard" pitchFamily="34" charset="-122"/>
                          <a:cs typeface="Pretendard" pitchFamily="34" charset="-120"/>
                        </a:rPr>
                        <a:t>필요한 수준으로 범위를 넓혀 일반화</a:t>
                      </a:r>
                      <a:endParaRPr lang="en-US" sz="1800" dirty="0">
                        <a:latin typeface="Pretendard" charset="0"/>
                        <a:ea typeface="Pretendard" charset="0"/>
                        <a:cs typeface="Pretendard" charset="0"/>
                      </a:endParaRPr>
                    </a:p>
                    <a:p>
                      <a:pPr indent="0" marL="0">
                        <a:buNone/>
                      </a:pPr>
                      <a:r>
                        <a:rPr lang="en-US" sz="1800" dirty="0">
                          <a:solidFill>
                            <a:srgbClr val="2B3242"/>
                          </a:solidFill>
                          <a:latin typeface="Pretendard" pitchFamily="34" charset="0"/>
                          <a:ea typeface="Pretendard" pitchFamily="34" charset="-122"/>
                          <a:cs typeface="Pretendard" pitchFamily="34" charset="-120"/>
                        </a:rPr>
                        <a:t>예: 연령대(30대), 지역(서울시)</a:t>
                      </a:r>
                      <a:endParaRPr lang="en-US" sz="1800" dirty="0">
                        <a:latin typeface="Pretendard" charset="0"/>
                        <a:ea typeface="Pretendard" charset="0"/>
                        <a:cs typeface="Pretendard" charset="0"/>
                      </a:endParaRPr>
                    </a:p>
                  </a:txBody>
                  <a:tcPr marL="146304" marR="146304" marT="100584" marB="100584" anchor="ctr">
                    <a:lnL w="8890" cap="flat" cmpd="sng" algn="ctr">
                      <a:solidFill>
                        <a:srgbClr val="D9E0EC"/>
                      </a:solidFill>
                      <a:prstDash val="solid"/>
                      <a:round/>
                      <a:headEnd type="none" w="med" len="med"/>
                      <a:tailEnd type="none" w="med" len="med"/>
                    </a:lnL>
                    <a:lnR w="8890" cap="flat" cmpd="sng" algn="ctr">
                      <a:solidFill>
                        <a:srgbClr val="D9E0EC"/>
                      </a:solidFill>
                      <a:prstDash val="solid"/>
                      <a:round/>
                      <a:headEnd type="none" w="med" len="med"/>
                      <a:tailEnd type="none" w="med" len="med"/>
                    </a:lnR>
                    <a:lnT w="8890" cap="flat" cmpd="sng" algn="ctr">
                      <a:solidFill>
                        <a:srgbClr val="D9E0EC"/>
                      </a:solidFill>
                      <a:prstDash val="solid"/>
                      <a:round/>
                      <a:headEnd type="none" w="med" len="med"/>
                      <a:tailEnd type="none" w="med" len="med"/>
                    </a:lnT>
                    <a:lnB w="8890" cap="flat" cmpd="sng" algn="ctr">
                      <a:solidFill>
                        <a:srgbClr val="D9E0EC"/>
                      </a:solidFill>
                      <a:prstDash val="solid"/>
                      <a:round/>
                      <a:headEnd type="none" w="med" len="med"/>
                      <a:tailEnd type="none" w="med" len="med"/>
                    </a:lnB>
                    <a:solidFill>
                      <a:srgbClr val="FFFFFF"/>
                    </a:solidFill>
                  </a:tcPr>
                </a:tc>
              </a:tr>
            </a:tbl>
          </a:graphicData>
        </a:graphic>
      </p:graphicFrame>
      <p:sp>
        <p:nvSpPr>
          <p:cNvPr id="11" name="Text 7"/>
          <p:cNvSpPr/>
          <p:nvPr/>
        </p:nvSpPr>
        <p:spPr>
          <a:xfrm>
            <a:off x="512064" y="5522976"/>
            <a:ext cx="6556248" cy="274320"/>
          </a:xfrm>
          <a:prstGeom prst="rect">
            <a:avLst/>
          </a:prstGeom>
          <a:noFill/>
          <a:ln/>
        </p:spPr>
        <p:txBody>
          <a:bodyPr wrap="square" lIns="0" tIns="0" rIns="0" bIns="0" rtlCol="0" anchor="ctr"/>
          <a:lstStyle/>
          <a:p>
            <a:pPr algn="l" indent="0" marL="0">
              <a:buNone/>
            </a:pPr>
            <a:r>
              <a:rPr lang="en-US" sz="1700" dirty="0">
                <a:solidFill>
                  <a:srgbClr val="4A5364"/>
                </a:solidFill>
                <a:latin typeface="Pretendard" pitchFamily="34" charset="0"/>
                <a:ea typeface="Pretendard" pitchFamily="34" charset="-122"/>
                <a:cs typeface="Pretendard" pitchFamily="34" charset="-120"/>
              </a:rPr>
              <a:t>정제 범위는 문서 형식에 맞춰 규칙으로 정합니다.</a:t>
            </a:r>
            <a:endParaRPr lang="en-US" sz="1700" dirty="0"/>
          </a:p>
        </p:txBody>
      </p:sp>
      <p:sp>
        <p:nvSpPr>
          <p:cNvPr id="12" name="Text 8"/>
          <p:cNvSpPr/>
          <p:nvPr/>
        </p:nvSpPr>
        <p:spPr>
          <a:xfrm>
            <a:off x="7562088" y="5522976"/>
            <a:ext cx="6556248" cy="274320"/>
          </a:xfrm>
          <a:prstGeom prst="rect">
            <a:avLst/>
          </a:prstGeom>
          <a:noFill/>
          <a:ln/>
        </p:spPr>
        <p:txBody>
          <a:bodyPr wrap="square" lIns="0" tIns="0" rIns="0" bIns="0" rtlCol="0" anchor="ctr"/>
          <a:lstStyle/>
          <a:p>
            <a:pPr algn="l" indent="0" marL="0">
              <a:buNone/>
            </a:pPr>
            <a:r>
              <a:rPr lang="en-US" sz="1700" dirty="0">
                <a:solidFill>
                  <a:srgbClr val="4A5364"/>
                </a:solidFill>
                <a:latin typeface="Pretendard" pitchFamily="34" charset="0"/>
                <a:ea typeface="Pretendard" pitchFamily="34" charset="-122"/>
                <a:cs typeface="Pretendard" pitchFamily="34" charset="-120"/>
              </a:rPr>
              <a:t>필드·정규식으로 탐지하고, 이름·주소는 문맥도 확인합니다.</a:t>
            </a:r>
            <a:endParaRPr lang="en-US" sz="1700" dirty="0"/>
          </a:p>
        </p:txBody>
      </p:sp>
      <p:sp>
        <p:nvSpPr>
          <p:cNvPr id="13" name="Text 9"/>
          <p:cNvSpPr/>
          <p:nvPr/>
        </p:nvSpPr>
        <p:spPr>
          <a:xfrm>
            <a:off x="512064" y="5897880"/>
            <a:ext cx="2880360" cy="274320"/>
          </a:xfrm>
          <a:prstGeom prst="rect">
            <a:avLst/>
          </a:prstGeom>
          <a:noFill/>
          <a:ln/>
        </p:spPr>
        <p:txBody>
          <a:bodyPr wrap="square" lIns="0" tIns="0" rIns="0" bIns="0" rtlCol="0" anchor="ctr"/>
          <a:lstStyle/>
          <a:p>
            <a:pPr algn="l" indent="0" marL="0">
              <a:buNone/>
            </a:pPr>
            <a:r>
              <a:rPr lang="en-US" sz="1700" b="1" dirty="0">
                <a:solidFill>
                  <a:srgbClr val="7C8598"/>
                </a:solidFill>
                <a:latin typeface="Pretendard" pitchFamily="34" charset="0"/>
                <a:ea typeface="Pretendard" pitchFamily="34" charset="-122"/>
                <a:cs typeface="Pretendard" pitchFamily="34" charset="-120"/>
              </a:rPr>
              <a:t>처리 전</a:t>
            </a:r>
            <a:endParaRPr lang="en-US" sz="1700" dirty="0"/>
          </a:p>
        </p:txBody>
      </p:sp>
      <p:sp>
        <p:nvSpPr>
          <p:cNvPr id="14" name="Text 10"/>
          <p:cNvSpPr/>
          <p:nvPr/>
        </p:nvSpPr>
        <p:spPr>
          <a:xfrm>
            <a:off x="4014216" y="5897880"/>
            <a:ext cx="3054096" cy="274320"/>
          </a:xfrm>
          <a:prstGeom prst="rect">
            <a:avLst/>
          </a:prstGeom>
          <a:noFill/>
          <a:ln/>
        </p:spPr>
        <p:txBody>
          <a:bodyPr wrap="square" lIns="0" tIns="0" rIns="0" bIns="0" rtlCol="0" anchor="ctr"/>
          <a:lstStyle/>
          <a:p>
            <a:pPr algn="l" indent="0" marL="0">
              <a:buNone/>
            </a:pPr>
            <a:r>
              <a:rPr lang="en-US" sz="1700" b="1" dirty="0">
                <a:solidFill>
                  <a:srgbClr val="2E74C6"/>
                </a:solidFill>
                <a:latin typeface="Pretendard" pitchFamily="34" charset="0"/>
                <a:ea typeface="Pretendard" pitchFamily="34" charset="-122"/>
                <a:cs typeface="Pretendard" pitchFamily="34" charset="-120"/>
              </a:rPr>
              <a:t>처리 후</a:t>
            </a:r>
            <a:endParaRPr lang="en-US" sz="1700" dirty="0"/>
          </a:p>
        </p:txBody>
      </p:sp>
      <p:sp>
        <p:nvSpPr>
          <p:cNvPr id="15" name="Text 11"/>
          <p:cNvSpPr/>
          <p:nvPr/>
        </p:nvSpPr>
        <p:spPr>
          <a:xfrm>
            <a:off x="512064" y="6281928"/>
            <a:ext cx="2962656" cy="795528"/>
          </a:xfrm>
          <a:prstGeom prst="rect">
            <a:avLst/>
          </a:prstGeom>
          <a:noFill/>
          <a:ln/>
        </p:spPr>
        <p:txBody>
          <a:bodyPr wrap="square" lIns="0" tIns="0" rIns="0" bIns="0" rtlCol="0" anchor="ctr"/>
          <a:lstStyle/>
          <a:p>
            <a:pPr algn="l" indent="0" marL="0">
              <a:buNone/>
            </a:pPr>
            <a:r>
              <a:rPr lang="en-US" sz="1900" dirty="0">
                <a:solidFill>
                  <a:srgbClr val="4A5364"/>
                </a:solidFill>
                <a:latin typeface="Pretendard" pitchFamily="34" charset="0"/>
                <a:ea typeface="Pretendard" pitchFamily="34" charset="-122"/>
                <a:cs typeface="Pretendard" pitchFamily="34" charset="-120"/>
              </a:rPr>
              <a:t>회원 표준약관</a:t>
            </a:r>
            <a:endParaRPr lang="en-US" sz="1900" dirty="0"/>
          </a:p>
          <a:p>
            <a:pPr algn="l" indent="0" marL="0">
              <a:buNone/>
            </a:pPr>
            <a:r>
              <a:rPr lang="en-US" sz="1900" dirty="0">
                <a:solidFill>
                  <a:srgbClr val="4A5364"/>
                </a:solidFill>
                <a:latin typeface="Pretendard" pitchFamily="34" charset="0"/>
                <a:ea typeface="Pretendard" pitchFamily="34" charset="-122"/>
                <a:cs typeface="Pretendard" pitchFamily="34" charset="-120"/>
              </a:rPr>
              <a:t>제6조 이용정지 …</a:t>
            </a:r>
            <a:endParaRPr lang="en-US" sz="1900" dirty="0"/>
          </a:p>
          <a:p>
            <a:pPr algn="l" indent="0" marL="0">
              <a:buNone/>
            </a:pPr>
            <a:r>
              <a:rPr lang="en-US" sz="1900" dirty="0">
                <a:solidFill>
                  <a:srgbClr val="4A5364"/>
                </a:solidFill>
                <a:latin typeface="Pretendard" pitchFamily="34" charset="0"/>
                <a:ea typeface="Pretendard" pitchFamily="34" charset="-122"/>
                <a:cs typeface="Pretendard" pitchFamily="34" charset="-120"/>
              </a:rPr>
              <a:t>- 12 -</a:t>
            </a:r>
            <a:endParaRPr lang="en-US" sz="1900" dirty="0"/>
          </a:p>
        </p:txBody>
      </p:sp>
      <p:sp>
        <p:nvSpPr>
          <p:cNvPr id="16" name="Shape 12"/>
          <p:cNvSpPr/>
          <p:nvPr/>
        </p:nvSpPr>
        <p:spPr>
          <a:xfrm>
            <a:off x="3593592" y="6675120"/>
            <a:ext cx="292608" cy="0"/>
          </a:xfrm>
          <a:prstGeom prst="line">
            <a:avLst/>
          </a:prstGeom>
          <a:noFill/>
          <a:ln w="20320">
            <a:solidFill>
              <a:srgbClr val="2E74C6"/>
            </a:solidFill>
            <a:prstDash val="solid"/>
            <a:tailEnd type="triangle"/>
          </a:ln>
        </p:spPr>
      </p:sp>
      <p:sp>
        <p:nvSpPr>
          <p:cNvPr id="17" name="Text 13"/>
          <p:cNvSpPr/>
          <p:nvPr/>
        </p:nvSpPr>
        <p:spPr>
          <a:xfrm>
            <a:off x="4014216" y="6281928"/>
            <a:ext cx="3054096" cy="795528"/>
          </a:xfrm>
          <a:prstGeom prst="rect">
            <a:avLst/>
          </a:prstGeom>
          <a:noFill/>
          <a:ln/>
        </p:spPr>
        <p:txBody>
          <a:bodyPr wrap="square" lIns="0" tIns="0" rIns="0" bIns="0" rtlCol="0" anchor="ctr"/>
          <a:lstStyle/>
          <a:p>
            <a:pPr algn="l" indent="0" marL="0">
              <a:buNone/>
            </a:pPr>
            <a:r>
              <a:rPr lang="en-US" sz="1900" b="1" dirty="0">
                <a:solidFill>
                  <a:srgbClr val="1E2A5C"/>
                </a:solidFill>
                <a:latin typeface="Pretendard" pitchFamily="34" charset="0"/>
                <a:ea typeface="Pretendard" pitchFamily="34" charset="-122"/>
                <a:cs typeface="Pretendard" pitchFamily="34" charset="-120"/>
              </a:rPr>
              <a:t>제6조 이용정지 …</a:t>
            </a:r>
            <a:endParaRPr lang="en-US" sz="1900" dirty="0"/>
          </a:p>
          <a:p>
            <a:pPr algn="l" indent="0" marL="0">
              <a:buNone/>
            </a:pPr>
            <a:endParaRPr lang="en-US" sz="1900" dirty="0"/>
          </a:p>
          <a:p>
            <a:pPr algn="l" indent="0" marL="0">
              <a:buNone/>
            </a:pPr>
            <a:r>
              <a:rPr lang="en-US" sz="1900" b="1" dirty="0">
                <a:solidFill>
                  <a:srgbClr val="1E2A5C"/>
                </a:solidFill>
                <a:latin typeface="Pretendard" pitchFamily="34" charset="0"/>
                <a:ea typeface="Pretendard" pitchFamily="34" charset="-122"/>
                <a:cs typeface="Pretendard" pitchFamily="34" charset="-120"/>
              </a:rPr>
              <a:t>메타데이터: page=12</a:t>
            </a:r>
            <a:endParaRPr lang="en-US" sz="1900" dirty="0"/>
          </a:p>
        </p:txBody>
      </p:sp>
      <p:sp>
        <p:nvSpPr>
          <p:cNvPr id="18" name="Text 14"/>
          <p:cNvSpPr/>
          <p:nvPr/>
        </p:nvSpPr>
        <p:spPr>
          <a:xfrm>
            <a:off x="7562088" y="5897880"/>
            <a:ext cx="2880360" cy="274320"/>
          </a:xfrm>
          <a:prstGeom prst="rect">
            <a:avLst/>
          </a:prstGeom>
          <a:noFill/>
          <a:ln/>
        </p:spPr>
        <p:txBody>
          <a:bodyPr wrap="square" lIns="0" tIns="0" rIns="0" bIns="0" rtlCol="0" anchor="ctr"/>
          <a:lstStyle/>
          <a:p>
            <a:pPr algn="l" indent="0" marL="0">
              <a:buNone/>
            </a:pPr>
            <a:r>
              <a:rPr lang="en-US" sz="1700" b="1" dirty="0">
                <a:solidFill>
                  <a:srgbClr val="7C8598"/>
                </a:solidFill>
                <a:latin typeface="Pretendard" pitchFamily="34" charset="0"/>
                <a:ea typeface="Pretendard" pitchFamily="34" charset="-122"/>
                <a:cs typeface="Pretendard" pitchFamily="34" charset="-120"/>
              </a:rPr>
              <a:t>처리 전</a:t>
            </a:r>
            <a:endParaRPr lang="en-US" sz="1700" dirty="0"/>
          </a:p>
        </p:txBody>
      </p:sp>
      <p:sp>
        <p:nvSpPr>
          <p:cNvPr id="19" name="Text 15"/>
          <p:cNvSpPr/>
          <p:nvPr/>
        </p:nvSpPr>
        <p:spPr>
          <a:xfrm>
            <a:off x="11064240" y="5897880"/>
            <a:ext cx="3054096" cy="274320"/>
          </a:xfrm>
          <a:prstGeom prst="rect">
            <a:avLst/>
          </a:prstGeom>
          <a:noFill/>
          <a:ln/>
        </p:spPr>
        <p:txBody>
          <a:bodyPr wrap="square" lIns="0" tIns="0" rIns="0" bIns="0" rtlCol="0" anchor="ctr"/>
          <a:lstStyle/>
          <a:p>
            <a:pPr algn="l" indent="0" marL="0">
              <a:buNone/>
            </a:pPr>
            <a:r>
              <a:rPr lang="en-US" sz="1700" b="1" dirty="0">
                <a:solidFill>
                  <a:srgbClr val="2E74C6"/>
                </a:solidFill>
                <a:latin typeface="Pretendard" pitchFamily="34" charset="0"/>
                <a:ea typeface="Pretendard" pitchFamily="34" charset="-122"/>
                <a:cs typeface="Pretendard" pitchFamily="34" charset="-120"/>
              </a:rPr>
              <a:t>처리 후</a:t>
            </a:r>
            <a:endParaRPr lang="en-US" sz="1700" dirty="0"/>
          </a:p>
        </p:txBody>
      </p:sp>
      <p:sp>
        <p:nvSpPr>
          <p:cNvPr id="20" name="Text 16"/>
          <p:cNvSpPr/>
          <p:nvPr/>
        </p:nvSpPr>
        <p:spPr>
          <a:xfrm>
            <a:off x="7562088" y="6281928"/>
            <a:ext cx="2962656" cy="795528"/>
          </a:xfrm>
          <a:prstGeom prst="rect">
            <a:avLst/>
          </a:prstGeom>
          <a:noFill/>
          <a:ln/>
        </p:spPr>
        <p:txBody>
          <a:bodyPr wrap="square" lIns="0" tIns="0" rIns="0" bIns="0" rtlCol="0" anchor="ctr"/>
          <a:lstStyle/>
          <a:p>
            <a:pPr algn="l" indent="0" marL="0">
              <a:buNone/>
            </a:pPr>
            <a:r>
              <a:rPr lang="en-US" sz="1900" dirty="0">
                <a:solidFill>
                  <a:srgbClr val="4A5364"/>
                </a:solidFill>
                <a:latin typeface="Pretendard" pitchFamily="34" charset="0"/>
                <a:ea typeface="Pretendard" pitchFamily="34" charset="-122"/>
                <a:cs typeface="Pretendard" pitchFamily="34" charset="-120"/>
              </a:rPr>
              <a:t>김민지(M-87321), 35세</a:t>
            </a:r>
            <a:endParaRPr lang="en-US" sz="1900" dirty="0"/>
          </a:p>
          <a:p>
            <a:pPr algn="l" indent="0" marL="0">
              <a:buNone/>
            </a:pPr>
            <a:r>
              <a:rPr lang="en-US" sz="1900" dirty="0">
                <a:solidFill>
                  <a:srgbClr val="4A5364"/>
                </a:solidFill>
                <a:latin typeface="Pretendard" pitchFamily="34" charset="0"/>
                <a:ea typeface="Pretendard" pitchFamily="34" charset="-122"/>
                <a:cs typeface="Pretendard" pitchFamily="34" charset="-120"/>
              </a:rPr>
              <a:t>minji@example.com</a:t>
            </a:r>
            <a:endParaRPr lang="en-US" sz="1900" dirty="0"/>
          </a:p>
        </p:txBody>
      </p:sp>
      <p:sp>
        <p:nvSpPr>
          <p:cNvPr id="21" name="Shape 17"/>
          <p:cNvSpPr/>
          <p:nvPr/>
        </p:nvSpPr>
        <p:spPr>
          <a:xfrm>
            <a:off x="10643616" y="6675120"/>
            <a:ext cx="292608" cy="0"/>
          </a:xfrm>
          <a:prstGeom prst="line">
            <a:avLst/>
          </a:prstGeom>
          <a:noFill/>
          <a:ln w="20320">
            <a:solidFill>
              <a:srgbClr val="2E74C6"/>
            </a:solidFill>
            <a:prstDash val="solid"/>
            <a:tailEnd type="triangle"/>
          </a:ln>
        </p:spPr>
      </p:sp>
      <p:sp>
        <p:nvSpPr>
          <p:cNvPr id="22" name="Text 18"/>
          <p:cNvSpPr/>
          <p:nvPr/>
        </p:nvSpPr>
        <p:spPr>
          <a:xfrm>
            <a:off x="11064240" y="6281928"/>
            <a:ext cx="3054096" cy="795528"/>
          </a:xfrm>
          <a:prstGeom prst="rect">
            <a:avLst/>
          </a:prstGeom>
          <a:noFill/>
          <a:ln/>
        </p:spPr>
        <p:txBody>
          <a:bodyPr wrap="square" lIns="0" tIns="0" rIns="0" bIns="0" rtlCol="0" anchor="ctr"/>
          <a:lstStyle/>
          <a:p>
            <a:pPr algn="l" indent="0" marL="0">
              <a:buNone/>
            </a:pPr>
            <a:r>
              <a:rPr lang="en-US" sz="1900" b="1" dirty="0">
                <a:solidFill>
                  <a:srgbClr val="1E2A5C"/>
                </a:solidFill>
                <a:latin typeface="Pretendard" pitchFamily="34" charset="0"/>
                <a:ea typeface="Pretendard" pitchFamily="34" charset="-122"/>
                <a:cs typeface="Pretendard" pitchFamily="34" charset="-120"/>
              </a:rPr>
              <a:t>고객_001, 30대</a:t>
            </a:r>
            <a:endParaRPr lang="en-US" sz="1900" dirty="0"/>
          </a:p>
          <a:p>
            <a:pPr algn="l" indent="0" marL="0">
              <a:buNone/>
            </a:pPr>
            <a:r>
              <a:rPr lang="en-US" sz="1900" b="1" dirty="0">
                <a:solidFill>
                  <a:srgbClr val="1E2A5C"/>
                </a:solidFill>
                <a:latin typeface="Pretendard" pitchFamily="34" charset="0"/>
                <a:ea typeface="Pretendard" pitchFamily="34" charset="-122"/>
                <a:cs typeface="Pretendard" pitchFamily="34" charset="-120"/>
              </a:rPr>
              <a:t>[이메일]</a:t>
            </a:r>
            <a:endParaRPr lang="en-US" sz="1900" dirty="0"/>
          </a:p>
        </p:txBody>
      </p:sp>
      <p:sp>
        <p:nvSpPr>
          <p:cNvPr id="23" name="Shape 19"/>
          <p:cNvSpPr/>
          <p:nvPr/>
        </p:nvSpPr>
        <p:spPr>
          <a:xfrm>
            <a:off x="512064" y="7269480"/>
            <a:ext cx="13606272" cy="402336"/>
          </a:xfrm>
          <a:prstGeom prst="rect">
            <a:avLst/>
          </a:prstGeom>
          <a:solidFill>
            <a:srgbClr val="EEF3FA"/>
          </a:solidFill>
          <a:ln w="12700">
            <a:solidFill>
              <a:srgbClr val="EEF3FA"/>
            </a:solidFill>
            <a:prstDash val="solid"/>
          </a:ln>
        </p:spPr>
      </p:sp>
      <p:sp>
        <p:nvSpPr>
          <p:cNvPr id="24" name="Text 20"/>
          <p:cNvSpPr/>
          <p:nvPr/>
        </p:nvSpPr>
        <p:spPr>
          <a:xfrm>
            <a:off x="704088" y="7315200"/>
            <a:ext cx="13222224" cy="283464"/>
          </a:xfrm>
          <a:prstGeom prst="rect">
            <a:avLst/>
          </a:prstGeom>
          <a:noFill/>
          <a:ln/>
        </p:spPr>
        <p:txBody>
          <a:bodyPr wrap="square" lIns="0" tIns="0" rIns="0" bIns="0" rtlCol="0" anchor="ctr"/>
          <a:lstStyle/>
          <a:p>
            <a:pPr algn="l" indent="0" marL="0">
              <a:buNone/>
            </a:pPr>
            <a:r>
              <a:rPr lang="en-US" sz="1900" b="1" dirty="0">
                <a:solidFill>
                  <a:srgbClr val="1E2A5C"/>
                </a:solidFill>
                <a:latin typeface="Pretendard" pitchFamily="34" charset="0"/>
                <a:ea typeface="Pretendard" pitchFamily="34" charset="-122"/>
                <a:cs typeface="Pretendard" pitchFamily="34" charset="-120"/>
              </a:rPr>
              <a:t>유형 토큰은 값의 종류를 남기고, 가명 ID는 정한 범위 안에서 같은 대상의 관계를 유지합니다.</a:t>
            </a:r>
            <a:endParaRPr lang="en-US" sz="1900" dirty="0"/>
          </a:p>
        </p:txBody>
      </p:sp>
      <p:sp>
        <p:nvSpPr>
          <p:cNvPr id="25" name="Shape 21"/>
          <p:cNvSpPr/>
          <p:nvPr/>
        </p:nvSpPr>
        <p:spPr>
          <a:xfrm>
            <a:off x="512064" y="7799832"/>
            <a:ext cx="13606272" cy="0"/>
          </a:xfrm>
          <a:prstGeom prst="line">
            <a:avLst/>
          </a:prstGeom>
          <a:noFill/>
          <a:ln w="20320">
            <a:solidFill>
              <a:srgbClr val="E9ECF3"/>
            </a:solidFill>
            <a:prstDash val="solid"/>
          </a:ln>
        </p:spPr>
      </p:sp>
      <p:sp>
        <p:nvSpPr>
          <p:cNvPr id="26" name="Text 22"/>
          <p:cNvSpPr/>
          <p:nvPr/>
        </p:nvSpPr>
        <p:spPr>
          <a:xfrm>
            <a:off x="512064" y="7900416"/>
            <a:ext cx="12664440" cy="210312"/>
          </a:xfrm>
          <a:prstGeom prst="rect">
            <a:avLst/>
          </a:prstGeom>
          <a:noFill/>
          <a:ln/>
        </p:spPr>
        <p:txBody>
          <a:bodyPr wrap="square" lIns="0" tIns="0" rIns="0" bIns="0" rtlCol="0" anchor="ctr"/>
          <a:lstStyle/>
          <a:p>
            <a:pPr algn="l" indent="0" marL="0">
              <a:buNone/>
            </a:pPr>
            <a:r>
              <a:rPr lang="en-US" sz="1400" dirty="0">
                <a:solidFill>
                  <a:srgbClr val="7C8598"/>
                </a:solidFill>
                <a:latin typeface="Pretendard" pitchFamily="34" charset="0"/>
                <a:ea typeface="Pretendard" pitchFamily="34" charset="-122"/>
                <a:cs typeface="Pretendard" pitchFamily="34" charset="-120"/>
              </a:rPr>
              <a:t>설명용 가상 예시 · 저장 전 본문과 메타데이터의 개인정보 잔존 여부를 확인합니다.</a:t>
            </a:r>
            <a:endParaRPr lang="en-US" sz="1400" dirty="0"/>
          </a:p>
        </p:txBody>
      </p:sp>
      <p:sp>
        <p:nvSpPr>
          <p:cNvPr id="27" name="Text 23"/>
          <p:cNvSpPr/>
          <p:nvPr/>
        </p:nvSpPr>
        <p:spPr>
          <a:xfrm>
            <a:off x="13368528" y="7882128"/>
            <a:ext cx="749808" cy="246888"/>
          </a:xfrm>
          <a:prstGeom prst="rect">
            <a:avLst/>
          </a:prstGeom>
          <a:noFill/>
          <a:ln/>
        </p:spPr>
        <p:txBody>
          <a:bodyPr wrap="square" lIns="0" tIns="0" rIns="0" bIns="0" rtlCol="0" anchor="ctr"/>
          <a:lstStyle/>
          <a:p>
            <a:pPr algn="r" indent="0" marL="0">
              <a:buNone/>
            </a:pPr>
            <a:r>
              <a:rPr lang="en-US" sz="1500" dirty="0">
                <a:solidFill>
                  <a:srgbClr val="1E2A5C"/>
                </a:solidFill>
                <a:latin typeface="Pretendard" pitchFamily="34" charset="0"/>
                <a:ea typeface="Pretendard" pitchFamily="34" charset="-122"/>
                <a:cs typeface="Pretendard" pitchFamily="34" charset="-120"/>
              </a:rPr>
              <a:t>01</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정제 및 가명 처리</dc:title>
  <dc:subject>대상과 방법, 처리 전후 예시</dc:subject>
  <dc:creator>design-agentic-ai</dc:creator>
  <cp:lastModifiedBy>design-agentic-ai</cp:lastModifiedBy>
  <cp:revision>1</cp:revision>
  <dcterms:created xsi:type="dcterms:W3CDTF">2026-10-01T12:38:37Z</dcterms:created>
  <dcterms:modified xsi:type="dcterms:W3CDTF">2026-10-01T12:38:37Z</dcterms:modified>
</cp:coreProperties>
</file>