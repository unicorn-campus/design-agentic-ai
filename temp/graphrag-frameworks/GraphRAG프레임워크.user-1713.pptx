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3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6560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프레임워크 모두 엔티티 · 관계를 LLM으로 뽑아 그래프를 만들고, 벡터로 진입점을 찾는 점은 같음. 차이 ① 저장: Neo4j는 DB 하나에 다 담고, MS는 파일 + 벡터 DB, LightRAG는 기본 파일(운영은 외부 DB). 차이 ② 전체 질문: Neo4j는 Cypher로 조건 · 집계, MS는 미리 만든 커뮤니티 요약, LightRAG는 상위 키워드로 관계 검색. 차이 ③ 갱신: MS는 커뮤니티를 다시 계산해야 해 전체 재인덱싱이 안전하고, LightRAG는 문서 단위 추가 · 삭제가 쉬움.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GraphRAG 대표 프레임워크: Neo4j · MS GraphRAG · LightRAG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그래프를 어디에 담고, 전체를 묻는 질문을 어떻게 푸는지가 세 프레임워크의 가장 큰 차이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389120" cy="5468112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09321" y="173736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46481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Neo4j GraphRAG · LangChain + Neo4j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6481" y="233172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46481" y="2331720"/>
            <a:ext cx="41148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DB에 담고 Cypher로 직접 묻기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6481" y="2880360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46481" y="2880360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469441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469441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136953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2136953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804465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804465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471977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3471977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3CE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39489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4139489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46481" y="34472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46481" y="34472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469441" y="3300984"/>
            <a:ext cx="329184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1542593" y="3300984"/>
            <a:ext cx="82296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2383841" y="3374136"/>
            <a:ext cx="11201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383841" y="3374136"/>
            <a:ext cx="11201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3567989" y="3374136"/>
            <a:ext cx="11201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3567989" y="3374136"/>
            <a:ext cx="112014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인덱스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469441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DB에 통합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6481" y="428853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46481" y="440740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46481" y="440740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469441" y="428853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벡터로 진입점 → Cypher로 주변 탐색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46481" y="483717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646481" y="495604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646481" y="495604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469441" y="483717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Cypher 조건 · 집계 + LLM 요약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46481" y="538581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646481" y="55046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646481" y="55046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1469441" y="538581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'Hybrid' = 벡터 + 키워드 검색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+ Global 결합은 직접 구성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46481" y="593445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646481" y="605332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646481" y="605332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갱신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1469441" y="593445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MERGE로 중복 없이 추가,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Cypher로 지우고 재삽입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646481" y="6556248"/>
            <a:ext cx="4114800" cy="539496"/>
          </a:xfrm>
          <a:prstGeom prst="roundRect">
            <a:avLst>
              <a:gd name="adj" fmla="val 10169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646481" y="6556248"/>
            <a:ext cx="41148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 데이터와 함께 쓰고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· 집계 질문이 많을 때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5127041" y="1737360"/>
            <a:ext cx="4389120" cy="5468112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5127041" y="173736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5264201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r>
              <a:rPr lang="en-US" sz="2000" b="1" baseline="30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</a:t>
            </a: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Microsoft Research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5264201" y="233172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5264201" y="2331720"/>
            <a:ext cx="41148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</a:t>
            </a:r>
            <a:r>
              <a:rPr lang="en-US" sz="1600" b="1" dirty="0" err="1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요약해</a:t>
            </a:r>
            <a:r>
              <a:rPr 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두</a:t>
            </a:r>
            <a:r>
              <a:rPr lang="ko-KR" alt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</a:t>
            </a:r>
            <a:r>
              <a:rPr lang="en-US" sz="16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전체 질문에 강함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5264201" y="2880360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5264201" y="2880360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6087161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6087161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6754673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6754673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7422185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7422185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8089697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8089697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8757209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8757209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5264201" y="34472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5264201" y="34472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6087161" y="3300984"/>
            <a:ext cx="160020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6087161" y="3300984"/>
            <a:ext cx="160020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Parquet 파일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(그래프)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7778801" y="3300984"/>
            <a:ext cx="160020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5875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7778801" y="3300984"/>
            <a:ext cx="160020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LanceDB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(벡터)</a:t>
            </a:r>
            <a:endParaRPr lang="en-US" sz="1400" dirty="0"/>
          </a:p>
        </p:txBody>
      </p:sp>
      <p:sp>
        <p:nvSpPr>
          <p:cNvPr id="72" name="Text 69"/>
          <p:cNvSpPr txBox="1"/>
          <p:nvPr/>
        </p:nvSpPr>
        <p:spPr>
          <a:xfrm>
            <a:off x="6087161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DB 불필요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5264201" y="428853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1"/>
          <p:cNvSpPr/>
          <p:nvPr/>
        </p:nvSpPr>
        <p:spPr>
          <a:xfrm>
            <a:off x="5264201" y="440740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5264201" y="440740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</p:txBody>
      </p:sp>
      <p:sp>
        <p:nvSpPr>
          <p:cNvPr id="76" name="Text 73"/>
          <p:cNvSpPr txBox="1"/>
          <p:nvPr/>
        </p:nvSpPr>
        <p:spPr>
          <a:xfrm>
            <a:off x="6087161" y="428853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 벡터 → 1홉 관계 · 원문 · 리포트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5264201" y="483717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5"/>
          <p:cNvSpPr/>
          <p:nvPr/>
        </p:nvSpPr>
        <p:spPr>
          <a:xfrm>
            <a:off x="5264201" y="495604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5264201" y="495604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</p:txBody>
      </p:sp>
      <p:sp>
        <p:nvSpPr>
          <p:cNvPr id="80" name="Text 77"/>
          <p:cNvSpPr txBox="1"/>
          <p:nvPr/>
        </p:nvSpPr>
        <p:spPr>
          <a:xfrm>
            <a:off x="6087161" y="483717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커뮤니티 리포트 map-reduce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5264201" y="538581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9"/>
          <p:cNvSpPr/>
          <p:nvPr/>
        </p:nvSpPr>
        <p:spPr>
          <a:xfrm>
            <a:off x="5264201" y="55046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0"/>
          <p:cNvSpPr txBox="1"/>
          <p:nvPr/>
        </p:nvSpPr>
        <p:spPr>
          <a:xfrm>
            <a:off x="5264201" y="55046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400" dirty="0"/>
          </a:p>
        </p:txBody>
      </p:sp>
      <p:sp>
        <p:nvSpPr>
          <p:cNvPr id="84" name="Text 81"/>
          <p:cNvSpPr txBox="1"/>
          <p:nvPr/>
        </p:nvSpPr>
        <p:spPr>
          <a:xfrm>
            <a:off x="6087161" y="538581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DRIFT: 요약 → 후속 질문 → Local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5264201" y="593445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Shape 83"/>
          <p:cNvSpPr/>
          <p:nvPr/>
        </p:nvSpPr>
        <p:spPr>
          <a:xfrm>
            <a:off x="5264201" y="605332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84"/>
          <p:cNvSpPr txBox="1"/>
          <p:nvPr/>
        </p:nvSpPr>
        <p:spPr>
          <a:xfrm>
            <a:off x="5264201" y="605332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갱신</a:t>
            </a:r>
            <a:endParaRPr lang="en-US" sz="1400" dirty="0"/>
          </a:p>
        </p:txBody>
      </p:sp>
      <p:sp>
        <p:nvSpPr>
          <p:cNvPr id="88" name="Text 85"/>
          <p:cNvSpPr txBox="1"/>
          <p:nvPr/>
        </p:nvSpPr>
        <p:spPr>
          <a:xfrm>
            <a:off x="6087161" y="593445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update는 새 문서만 이어 붙임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· 삭제는 전체 재인덱싱이 안전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5264201" y="6556248"/>
            <a:ext cx="4114800" cy="539496"/>
          </a:xfrm>
          <a:prstGeom prst="roundRect">
            <a:avLst>
              <a:gd name="adj" fmla="val 10169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 txBox="1"/>
          <p:nvPr/>
        </p:nvSpPr>
        <p:spPr>
          <a:xfrm>
            <a:off x="5264201" y="6556248"/>
            <a:ext cx="41148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주제 요약 품질이 최우선일 때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(인덱싱 비용 감수)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9744761" y="1737360"/>
            <a:ext cx="4389120" cy="5468112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89"/>
          <p:cNvSpPr/>
          <p:nvPr/>
        </p:nvSpPr>
        <p:spPr>
          <a:xfrm>
            <a:off x="9744761" y="173736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0"/>
          <p:cNvSpPr txBox="1"/>
          <p:nvPr/>
        </p:nvSpPr>
        <p:spPr>
          <a:xfrm>
            <a:off x="9881921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LightRAG</a:t>
            </a:r>
            <a:r>
              <a:rPr lang="en-US" sz="1400" dirty="0">
                <a:solidFill>
                  <a:srgbClr val="D9E3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HKUDS · 경량 GraphRAG</a:t>
            </a:r>
            <a:endParaRPr lang="en-US" sz="2000" dirty="0"/>
          </a:p>
        </p:txBody>
      </p:sp>
      <p:sp>
        <p:nvSpPr>
          <p:cNvPr id="94" name="Shape 91"/>
          <p:cNvSpPr/>
          <p:nvPr/>
        </p:nvSpPr>
        <p:spPr>
          <a:xfrm>
            <a:off x="9881921" y="233172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2"/>
          <p:cNvSpPr txBox="1"/>
          <p:nvPr/>
        </p:nvSpPr>
        <p:spPr>
          <a:xfrm>
            <a:off x="9881921" y="2331720"/>
            <a:ext cx="41148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 없이 가볍게, </a:t>
            </a:r>
            <a:r>
              <a:rPr lang="ko-KR" altLang="en-US" sz="16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듀얼레벨</a:t>
            </a:r>
            <a:r>
              <a:rPr lang="ko-KR" alt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키워드로</a:t>
            </a: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찾기</a:t>
            </a:r>
            <a:endParaRPr lang="en-US" sz="1600" dirty="0"/>
          </a:p>
        </p:txBody>
      </p:sp>
      <p:sp>
        <p:nvSpPr>
          <p:cNvPr id="96" name="Shape 93"/>
          <p:cNvSpPr/>
          <p:nvPr/>
        </p:nvSpPr>
        <p:spPr>
          <a:xfrm>
            <a:off x="9881921" y="2880360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9881921" y="2880360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10704881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6"/>
          <p:cNvSpPr txBox="1"/>
          <p:nvPr/>
        </p:nvSpPr>
        <p:spPr>
          <a:xfrm>
            <a:off x="10704881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11372393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8"/>
          <p:cNvSpPr txBox="1"/>
          <p:nvPr/>
        </p:nvSpPr>
        <p:spPr>
          <a:xfrm>
            <a:off x="11372393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추출</a:t>
            </a:r>
            <a:endParaRPr lang="en-US" sz="1400" dirty="0"/>
          </a:p>
        </p:txBody>
      </p:sp>
      <p:sp>
        <p:nvSpPr>
          <p:cNvPr id="102" name="Shape 99"/>
          <p:cNvSpPr/>
          <p:nvPr/>
        </p:nvSpPr>
        <p:spPr>
          <a:xfrm>
            <a:off x="12039905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0"/>
          <p:cNvSpPr txBox="1"/>
          <p:nvPr/>
        </p:nvSpPr>
        <p:spPr>
          <a:xfrm>
            <a:off x="12039905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KG 저장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12707417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3CE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102"/>
          <p:cNvSpPr txBox="1"/>
          <p:nvPr/>
        </p:nvSpPr>
        <p:spPr>
          <a:xfrm>
            <a:off x="12707417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3CEE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13374929" y="2880360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4"/>
          <p:cNvSpPr txBox="1"/>
          <p:nvPr/>
        </p:nvSpPr>
        <p:spPr>
          <a:xfrm>
            <a:off x="13374929" y="2880360"/>
            <a:ext cx="621792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00" dirty="0"/>
          </a:p>
        </p:txBody>
      </p:sp>
      <p:sp>
        <p:nvSpPr>
          <p:cNvPr id="108" name="Shape 105"/>
          <p:cNvSpPr/>
          <p:nvPr/>
        </p:nvSpPr>
        <p:spPr>
          <a:xfrm>
            <a:off x="9881921" y="34472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6"/>
          <p:cNvSpPr txBox="1"/>
          <p:nvPr/>
        </p:nvSpPr>
        <p:spPr>
          <a:xfrm>
            <a:off x="9881921" y="34472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1400" dirty="0"/>
          </a:p>
        </p:txBody>
      </p:sp>
      <p:sp>
        <p:nvSpPr>
          <p:cNvPr id="110" name="Shape 107"/>
          <p:cNvSpPr/>
          <p:nvPr/>
        </p:nvSpPr>
        <p:spPr>
          <a:xfrm>
            <a:off x="10704881" y="3300984"/>
            <a:ext cx="160020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587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8"/>
          <p:cNvSpPr txBox="1"/>
          <p:nvPr/>
        </p:nvSpPr>
        <p:spPr>
          <a:xfrm>
            <a:off x="10704881" y="3300984"/>
            <a:ext cx="160020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(파일 · Neo4j 등)</a:t>
            </a:r>
            <a:endParaRPr lang="en-US" sz="1400" dirty="0"/>
          </a:p>
        </p:txBody>
      </p:sp>
      <p:sp>
        <p:nvSpPr>
          <p:cNvPr id="112" name="Shape 109"/>
          <p:cNvSpPr/>
          <p:nvPr/>
        </p:nvSpPr>
        <p:spPr>
          <a:xfrm>
            <a:off x="12396521" y="3300984"/>
            <a:ext cx="1600200" cy="603504"/>
          </a:xfrm>
          <a:prstGeom prst="roundRect">
            <a:avLst>
              <a:gd name="adj" fmla="val 9091"/>
            </a:avLst>
          </a:prstGeom>
          <a:solidFill>
            <a:srgbClr val="F5F8FC"/>
          </a:solidFill>
          <a:ln w="15875">
            <a:solidFill>
              <a:srgbClr val="40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0"/>
          <p:cNvSpPr txBox="1"/>
          <p:nvPr/>
        </p:nvSpPr>
        <p:spPr>
          <a:xfrm>
            <a:off x="12396521" y="3300984"/>
            <a:ext cx="1600200" cy="6035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(내장 · Milvus 등)</a:t>
            </a:r>
            <a:endParaRPr lang="en-US" sz="1400" dirty="0"/>
          </a:p>
        </p:txBody>
      </p:sp>
      <p:sp>
        <p:nvSpPr>
          <p:cNvPr id="114" name="Text 111"/>
          <p:cNvSpPr txBox="1"/>
          <p:nvPr/>
        </p:nvSpPr>
        <p:spPr>
          <a:xfrm>
            <a:off x="10704881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기본은 파일(테스트용)</a:t>
            </a:r>
            <a:endParaRPr lang="en-US" sz="1400" dirty="0"/>
          </a:p>
        </p:txBody>
      </p:sp>
      <p:sp>
        <p:nvSpPr>
          <p:cNvPr id="115" name="Shape 112"/>
          <p:cNvSpPr/>
          <p:nvPr/>
        </p:nvSpPr>
        <p:spPr>
          <a:xfrm>
            <a:off x="9881921" y="428853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Shape 113"/>
          <p:cNvSpPr/>
          <p:nvPr/>
        </p:nvSpPr>
        <p:spPr>
          <a:xfrm>
            <a:off x="9881921" y="440740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Text 114"/>
          <p:cNvSpPr txBox="1"/>
          <p:nvPr/>
        </p:nvSpPr>
        <p:spPr>
          <a:xfrm>
            <a:off x="9881921" y="440740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</p:txBody>
      </p:sp>
      <p:sp>
        <p:nvSpPr>
          <p:cNvPr id="118" name="Text 115"/>
          <p:cNvSpPr txBox="1"/>
          <p:nvPr/>
        </p:nvSpPr>
        <p:spPr>
          <a:xfrm>
            <a:off x="10704881" y="428853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Low-level 키워드 → 엔티티 벡터</a:t>
            </a:r>
            <a:endParaRPr lang="en-US" sz="1400" dirty="0"/>
          </a:p>
        </p:txBody>
      </p:sp>
      <p:sp>
        <p:nvSpPr>
          <p:cNvPr id="119" name="Shape 116"/>
          <p:cNvSpPr/>
          <p:nvPr/>
        </p:nvSpPr>
        <p:spPr>
          <a:xfrm>
            <a:off x="9881921" y="483717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Shape 117"/>
          <p:cNvSpPr/>
          <p:nvPr/>
        </p:nvSpPr>
        <p:spPr>
          <a:xfrm>
            <a:off x="9881921" y="495604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Text 118"/>
          <p:cNvSpPr txBox="1"/>
          <p:nvPr/>
        </p:nvSpPr>
        <p:spPr>
          <a:xfrm>
            <a:off x="9881921" y="495604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</p:txBody>
      </p:sp>
      <p:sp>
        <p:nvSpPr>
          <p:cNvPr id="122" name="Text 119"/>
          <p:cNvSpPr txBox="1"/>
          <p:nvPr/>
        </p:nvSpPr>
        <p:spPr>
          <a:xfrm>
            <a:off x="10704881" y="483717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High-level 키워드 → 관계 벡터</a:t>
            </a:r>
            <a:endParaRPr lang="en-US" sz="1400" dirty="0"/>
          </a:p>
        </p:txBody>
      </p:sp>
      <p:sp>
        <p:nvSpPr>
          <p:cNvPr id="123" name="Shape 120"/>
          <p:cNvSpPr/>
          <p:nvPr/>
        </p:nvSpPr>
        <p:spPr>
          <a:xfrm>
            <a:off x="9881921" y="538581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121"/>
          <p:cNvSpPr/>
          <p:nvPr/>
        </p:nvSpPr>
        <p:spPr>
          <a:xfrm>
            <a:off x="9881921" y="550468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122"/>
          <p:cNvSpPr txBox="1"/>
          <p:nvPr/>
        </p:nvSpPr>
        <p:spPr>
          <a:xfrm>
            <a:off x="9881921" y="550468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400" dirty="0"/>
          </a:p>
        </p:txBody>
      </p:sp>
      <p:sp>
        <p:nvSpPr>
          <p:cNvPr id="126" name="Text 123"/>
          <p:cNvSpPr txBox="1"/>
          <p:nvPr/>
        </p:nvSpPr>
        <p:spPr>
          <a:xfrm>
            <a:off x="10704881" y="538581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hybrid: Low + High 둘 다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mix는 원문 벡터까지 추가</a:t>
            </a:r>
            <a:endParaRPr lang="en-US" sz="1400" dirty="0"/>
          </a:p>
        </p:txBody>
      </p:sp>
      <p:sp>
        <p:nvSpPr>
          <p:cNvPr id="127" name="Shape 124"/>
          <p:cNvSpPr/>
          <p:nvPr/>
        </p:nvSpPr>
        <p:spPr>
          <a:xfrm>
            <a:off x="9881921" y="5934456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Shape 125"/>
          <p:cNvSpPr/>
          <p:nvPr/>
        </p:nvSpPr>
        <p:spPr>
          <a:xfrm>
            <a:off x="9881921" y="6053328"/>
            <a:ext cx="749808" cy="310896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126"/>
          <p:cNvSpPr txBox="1"/>
          <p:nvPr/>
        </p:nvSpPr>
        <p:spPr>
          <a:xfrm>
            <a:off x="9881921" y="6053328"/>
            <a:ext cx="749808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갱신</a:t>
            </a:r>
            <a:endParaRPr lang="en-US" sz="1400" dirty="0"/>
          </a:p>
        </p:txBody>
      </p:sp>
      <p:sp>
        <p:nvSpPr>
          <p:cNvPr id="130" name="Text 127"/>
          <p:cNvSpPr txBox="1"/>
          <p:nvPr/>
        </p:nvSpPr>
        <p:spPr>
          <a:xfrm>
            <a:off x="10704881" y="5934456"/>
            <a:ext cx="329184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문서는 바로 병합,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수정은 문서 삭제 후 재삽입</a:t>
            </a:r>
            <a:endParaRPr lang="en-US" sz="1400" dirty="0"/>
          </a:p>
        </p:txBody>
      </p:sp>
      <p:sp>
        <p:nvSpPr>
          <p:cNvPr id="131" name="Shape 128"/>
          <p:cNvSpPr/>
          <p:nvPr/>
        </p:nvSpPr>
        <p:spPr>
          <a:xfrm>
            <a:off x="9881921" y="6556248"/>
            <a:ext cx="4114800" cy="539496"/>
          </a:xfrm>
          <a:prstGeom prst="roundRect">
            <a:avLst>
              <a:gd name="adj" fmla="val 1016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2" name="Text 129"/>
          <p:cNvSpPr txBox="1"/>
          <p:nvPr/>
        </p:nvSpPr>
        <p:spPr>
          <a:xfrm>
            <a:off x="9881921" y="6556248"/>
            <a:ext cx="4114800" cy="539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· 속도가 중요하고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문서가 자주 늘 때</a:t>
            </a:r>
            <a:endParaRPr lang="en-US" sz="1500" dirty="0"/>
          </a:p>
        </p:txBody>
      </p:sp>
      <p:sp>
        <p:nvSpPr>
          <p:cNvPr id="133" name="Text 130"/>
          <p:cNvSpPr txBox="1"/>
          <p:nvPr/>
        </p:nvSpPr>
        <p:spPr>
          <a:xfrm>
            <a:off x="509321" y="7260336"/>
            <a:ext cx="13624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1) MS GraphRAG는 현재 유지보수 모드: 새 기능 추가 없이 버그 · 보안 수정만 이어 가는 상태 (2026-08 공지)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395</Words>
  <Application>Microsoft Office PowerPoint</Application>
  <PresentationFormat>사용자 지정</PresentationFormat>
  <Paragraphs>82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Pretendard</vt:lpstr>
      <vt:lpstr>Pretendard SemiBold</vt:lpstr>
      <vt:lpstr>Office Theme</vt:lpstr>
      <vt:lpstr>GraphRAG 대표 프레임워크: Neo4j · MS GraphRAG · LightRAG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2026-10-13T07:51:31Z</dcterms:created>
  <dcterms:modified xsi:type="dcterms:W3CDTF">2026-10-13T08:13:57Z</dcterms:modified>
</cp:coreProperties>
</file>