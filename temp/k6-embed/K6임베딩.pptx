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K6을 설명하기 전에 왜 필요한지부터 보겠습니다. 그래프 탐색은 시작 엔티티를 정해야 시작할 수 있고, 시작 엔티티를 찾는 방식은 두 가지입니다.
첫째는 검색엔진 경유 검색입니다. 질문으로 검색엔진을 먼저 검색해 검색결과 청크를 얻고, 그 청크와 chunk_id가 같은 청크 노드를 찾은 뒤, 그 청크 노드에 FROM_CHUNK로 이어진 엔티티를 시작 엔티티로 씁니다. 검색엔진 결과에 기대므로 K6이 없어도 됩니다.
둘째는 엔티티 직접 검색입니다. 검색엔진을 거치지 않고, 질문과 뜻이 가까운 엔티티를 엔티티 설명 벡터로 바로 찾아 시작 엔티티로 씁니다. 검색엔진과 따로, 동시에 돌릴 수 있습니다. 이 벡터를 만드는 단계가 K6입니다. 그래서 검색엔진 경유 검색만 쓴다면 K6은 필요 없습니다.
같은 질문 20개로 비교해 보니 두 방식은 놓치는 질문이 달랐습니다. 할부 철회 기한을 구어체로 물으면 검색엔진이 말투가 비슷한 상담 청크를 1위로 올려 검색엔진 경유 검색이 놓쳤지만, 엔티티 직접 검색은 철회 기한 엔티티를 1위로 찾았습니다. 반대로 오랫동안 카드를 안 쓰면 어떻게 되는지 물으면 엔티티 직접 검색은 5위 안에 정답이 없었고, 검색엔진 경유 검색은 청크 2개 안에서 찾았습니다.
두 방식을 함께 쓰고 결과를 합치면 20개 중 18개에 닿아 가장 많았습니다. 다만 표본이 작은 실험이라 전체 데이터에서는 숫자가 달라질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K6은 K5까지 마친 엔티티에 뜻을 담은 벡터를 붙이는 단계입니다. 엔티티에는 문장이 따로 없기 때문에, 라벨과 속성을 「라벨: 속성=값」 꼴의 설명 글로 이어 붙여 만듭니다. 세대나 실행 표시 같은 관리용 속성은 뜻과 상관이 없어서 뺍니다. 이 글을 검색엔진과 같은 KURE-v2 모델로 임베딩해 엔티티에 저장하고, 엔티티 전체에 벡터 인덱스를 만듭니다.
이렇게 해 두면 질문 하나로 뜻이 가까운 엔티티를 바로 찾을 수 있습니다. 「할부 수수료는 언제 알려 주나요?」로 찾으면 할부 조항의 충족 조건 엔티티가 가장 먼저 나옵니다. 찾은 엔티티를 시작 엔티티로 삼아 관계를 따라가면 그래프 탐색이 시작됩니다. 이것이 엔티티 직접 검색입니다.
청크 노드는 임베딩하지 않습니다. 청크의 벡터는 검색엔진이 이미 갖고 있기 때문입니다. 그리고 임베딩은 합치기가 끝난 뒤에 하므로, 합쳐질 노드를 여러 번 임베딩하지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코드는 세 단계입니다. 먼저 임베딩이 없는 엔티티의 라벨과 속성을 읽고, 관리용 속성을 뺀 설명 글을 만듭니다. 다음으로 글 전체를 한 번에 임베딩해 엔티티마다 embedding 속성으로 저장합니다. 마지막으로 벡터 인덱스를 만드는데, 이미 있으면 그대로 둡니다.
v0 표본 전체 재색인에서는 91개를 임베딩했습니다. 증분 색인 때는 임베딩이 없는 새 엔티티만 임베딩합니다. 청크 노드는 엔티티가 아니라서 임베딩하지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KG 구축 K6이 필요한 이유</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검색엔진 경유 검색과 엔티티 직접 검색은 놓치는 질문이 달라 함께 써야 하고, K6은 엔티티 직접 검색을 가능하게 함</a:t>
            </a:r>
            <a:endParaRPr lang="en-US" sz="1800" dirty="0"/>
          </a:p>
        </p:txBody>
      </p:sp>
      <p:sp>
        <p:nvSpPr>
          <p:cNvPr id="5" name="Shape 2"/>
          <p:cNvSpPr/>
          <p:nvPr/>
        </p:nvSpPr>
        <p:spPr>
          <a:xfrm>
            <a:off x="509321" y="1737360"/>
            <a:ext cx="6675120" cy="2514600"/>
          </a:xfrm>
          <a:prstGeom prst="roundRect">
            <a:avLst>
              <a:gd name="adj" fmla="val 2909"/>
            </a:avLst>
          </a:prstGeom>
          <a:solidFill>
            <a:srgbClr val="FFFFFF"/>
          </a:solidFill>
          <a:ln w="12700">
            <a:solidFill>
              <a:srgbClr val="D9E0EC"/>
            </a:solidFill>
            <a:prstDash val="solid"/>
          </a:ln>
        </p:spPr>
      </p:sp>
      <p:sp>
        <p:nvSpPr>
          <p:cNvPr id="6" name="Shape 3"/>
          <p:cNvSpPr/>
          <p:nvPr/>
        </p:nvSpPr>
        <p:spPr>
          <a:xfrm>
            <a:off x="509321" y="1737360"/>
            <a:ext cx="6675120" cy="402336"/>
          </a:xfrm>
          <a:prstGeom prst="roundRect">
            <a:avLst>
              <a:gd name="adj" fmla="val 13636"/>
            </a:avLst>
          </a:prstGeom>
          <a:solidFill>
            <a:srgbClr val="1E2A5C"/>
          </a:solidFill>
          <a:ln/>
        </p:spPr>
      </p:sp>
      <p:sp>
        <p:nvSpPr>
          <p:cNvPr id="7" name="Text 4"/>
          <p:cNvSpPr txBox="1"/>
          <p:nvPr/>
        </p:nvSpPr>
        <p:spPr>
          <a:xfrm>
            <a:off x="509321" y="1737360"/>
            <a:ext cx="6675120" cy="402336"/>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검색엔진 경유 검색</a:t>
            </a:r>
            <a:endParaRPr lang="en-US" sz="1600" dirty="0"/>
          </a:p>
        </p:txBody>
      </p:sp>
      <p:sp>
        <p:nvSpPr>
          <p:cNvPr id="8" name="Shape 5"/>
          <p:cNvSpPr/>
          <p:nvPr/>
        </p:nvSpPr>
        <p:spPr>
          <a:xfrm>
            <a:off x="646481" y="2286000"/>
            <a:ext cx="1421892" cy="603504"/>
          </a:xfrm>
          <a:prstGeom prst="roundRect">
            <a:avLst>
              <a:gd name="adj" fmla="val 30303"/>
            </a:avLst>
          </a:prstGeom>
          <a:solidFill>
            <a:srgbClr val="FFFFFF"/>
          </a:solidFill>
          <a:ln w="12700">
            <a:solidFill>
              <a:srgbClr val="C3CEE0"/>
            </a:solidFill>
            <a:prstDash val="solid"/>
          </a:ln>
        </p:spPr>
      </p:sp>
      <p:sp>
        <p:nvSpPr>
          <p:cNvPr id="9" name="Text 6"/>
          <p:cNvSpPr txBox="1"/>
          <p:nvPr/>
        </p:nvSpPr>
        <p:spPr>
          <a:xfrm>
            <a:off x="646481" y="2286000"/>
            <a:ext cx="1421892" cy="60350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질문</a:t>
            </a:r>
            <a:endParaRPr lang="en-US" sz="1400" dirty="0"/>
          </a:p>
        </p:txBody>
      </p:sp>
      <p:sp>
        <p:nvSpPr>
          <p:cNvPr id="10" name="Shape 7"/>
          <p:cNvSpPr/>
          <p:nvPr/>
        </p:nvSpPr>
        <p:spPr>
          <a:xfrm>
            <a:off x="2095805" y="2587752"/>
            <a:ext cx="182880" cy="0"/>
          </a:xfrm>
          <a:prstGeom prst="line">
            <a:avLst/>
          </a:prstGeom>
          <a:noFill/>
          <a:ln w="22225">
            <a:solidFill>
              <a:srgbClr val="1E2A5C"/>
            </a:solidFill>
            <a:prstDash val="solid"/>
            <a:tailEnd type="triangle"/>
          </a:ln>
        </p:spPr>
      </p:sp>
      <p:sp>
        <p:nvSpPr>
          <p:cNvPr id="11" name="Shape 8"/>
          <p:cNvSpPr/>
          <p:nvPr/>
        </p:nvSpPr>
        <p:spPr>
          <a:xfrm>
            <a:off x="2306117" y="2286000"/>
            <a:ext cx="1421892" cy="603504"/>
          </a:xfrm>
          <a:prstGeom prst="roundRect">
            <a:avLst>
              <a:gd name="adj" fmla="val 30303"/>
            </a:avLst>
          </a:prstGeom>
          <a:solidFill>
            <a:srgbClr val="FFFFFF"/>
          </a:solidFill>
          <a:ln w="12700">
            <a:solidFill>
              <a:srgbClr val="C3CEE0"/>
            </a:solidFill>
            <a:prstDash val="solid"/>
          </a:ln>
        </p:spPr>
      </p:sp>
      <p:sp>
        <p:nvSpPr>
          <p:cNvPr id="12" name="Text 9"/>
          <p:cNvSpPr txBox="1"/>
          <p:nvPr/>
        </p:nvSpPr>
        <p:spPr>
          <a:xfrm>
            <a:off x="2306117" y="2286000"/>
            <a:ext cx="1421892" cy="60350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검색결과 청크</a:t>
            </a:r>
            <a:endParaRPr lang="en-US" sz="1400" dirty="0"/>
          </a:p>
        </p:txBody>
      </p:sp>
      <p:sp>
        <p:nvSpPr>
          <p:cNvPr id="13" name="Shape 10"/>
          <p:cNvSpPr/>
          <p:nvPr/>
        </p:nvSpPr>
        <p:spPr>
          <a:xfrm>
            <a:off x="3755441" y="2587752"/>
            <a:ext cx="182880" cy="0"/>
          </a:xfrm>
          <a:prstGeom prst="line">
            <a:avLst/>
          </a:prstGeom>
          <a:noFill/>
          <a:ln w="22225">
            <a:solidFill>
              <a:srgbClr val="1E2A5C"/>
            </a:solidFill>
            <a:prstDash val="solid"/>
            <a:tailEnd type="triangle"/>
          </a:ln>
        </p:spPr>
      </p:sp>
      <p:sp>
        <p:nvSpPr>
          <p:cNvPr id="14" name="Shape 11"/>
          <p:cNvSpPr/>
          <p:nvPr/>
        </p:nvSpPr>
        <p:spPr>
          <a:xfrm>
            <a:off x="3965753" y="2286000"/>
            <a:ext cx="1421892" cy="603504"/>
          </a:xfrm>
          <a:prstGeom prst="roundRect">
            <a:avLst>
              <a:gd name="adj" fmla="val 30303"/>
            </a:avLst>
          </a:prstGeom>
          <a:solidFill>
            <a:srgbClr val="FFFFFF"/>
          </a:solidFill>
          <a:ln w="12700">
            <a:solidFill>
              <a:srgbClr val="C3CEE0"/>
            </a:solidFill>
            <a:prstDash val="solid"/>
          </a:ln>
        </p:spPr>
      </p:sp>
      <p:sp>
        <p:nvSpPr>
          <p:cNvPr id="15" name="Text 12"/>
          <p:cNvSpPr txBox="1"/>
          <p:nvPr/>
        </p:nvSpPr>
        <p:spPr>
          <a:xfrm>
            <a:off x="3965753" y="2286000"/>
            <a:ext cx="1421892" cy="60350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같은 chunk_id의 청크 노드</a:t>
            </a:r>
            <a:endParaRPr lang="en-US" sz="1400" dirty="0"/>
          </a:p>
        </p:txBody>
      </p:sp>
      <p:sp>
        <p:nvSpPr>
          <p:cNvPr id="16" name="Shape 13"/>
          <p:cNvSpPr/>
          <p:nvPr/>
        </p:nvSpPr>
        <p:spPr>
          <a:xfrm>
            <a:off x="5415077" y="2587752"/>
            <a:ext cx="182880" cy="0"/>
          </a:xfrm>
          <a:prstGeom prst="line">
            <a:avLst/>
          </a:prstGeom>
          <a:noFill/>
          <a:ln w="22225">
            <a:solidFill>
              <a:srgbClr val="1E2A5C"/>
            </a:solidFill>
            <a:prstDash val="solid"/>
            <a:tailEnd type="triangle"/>
          </a:ln>
        </p:spPr>
      </p:sp>
      <p:sp>
        <p:nvSpPr>
          <p:cNvPr id="17" name="Shape 14"/>
          <p:cNvSpPr/>
          <p:nvPr/>
        </p:nvSpPr>
        <p:spPr>
          <a:xfrm>
            <a:off x="5625389" y="2286000"/>
            <a:ext cx="1421892" cy="603504"/>
          </a:xfrm>
          <a:prstGeom prst="roundRect">
            <a:avLst>
              <a:gd name="adj" fmla="val 30303"/>
            </a:avLst>
          </a:prstGeom>
          <a:solidFill>
            <a:srgbClr val="FFFFFF"/>
          </a:solidFill>
          <a:ln w="12700">
            <a:solidFill>
              <a:srgbClr val="C3CEE0"/>
            </a:solidFill>
            <a:prstDash val="solid"/>
          </a:ln>
        </p:spPr>
      </p:sp>
      <p:sp>
        <p:nvSpPr>
          <p:cNvPr id="18" name="Text 15"/>
          <p:cNvSpPr txBox="1"/>
          <p:nvPr/>
        </p:nvSpPr>
        <p:spPr>
          <a:xfrm>
            <a:off x="5625389" y="2286000"/>
            <a:ext cx="1421892" cy="60350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FROM_CHUNK로 이어진 엔티티</a:t>
            </a:r>
            <a:endParaRPr lang="en-US" sz="1400" dirty="0"/>
          </a:p>
        </p:txBody>
      </p:sp>
      <p:sp>
        <p:nvSpPr>
          <p:cNvPr id="19" name="Shape 16"/>
          <p:cNvSpPr/>
          <p:nvPr/>
        </p:nvSpPr>
        <p:spPr>
          <a:xfrm>
            <a:off x="646481" y="3136392"/>
            <a:ext cx="731520" cy="347472"/>
          </a:xfrm>
          <a:prstGeom prst="roundRect">
            <a:avLst>
              <a:gd name="adj" fmla="val 31579"/>
            </a:avLst>
          </a:prstGeom>
          <a:solidFill>
            <a:srgbClr val="2E74C6"/>
          </a:solidFill>
          <a:ln/>
        </p:spPr>
      </p:sp>
      <p:sp>
        <p:nvSpPr>
          <p:cNvPr id="20" name="Text 17"/>
          <p:cNvSpPr txBox="1"/>
          <p:nvPr/>
        </p:nvSpPr>
        <p:spPr>
          <a:xfrm>
            <a:off x="646481" y="3136392"/>
            <a:ext cx="731520" cy="347472"/>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강점</a:t>
            </a:r>
            <a:endParaRPr lang="en-US" sz="1400" dirty="0"/>
          </a:p>
        </p:txBody>
      </p:sp>
      <p:sp>
        <p:nvSpPr>
          <p:cNvPr id="21" name="Text 18"/>
          <p:cNvSpPr txBox="1"/>
          <p:nvPr/>
        </p:nvSpPr>
        <p:spPr>
          <a:xfrm>
            <a:off x="1469441" y="3063240"/>
            <a:ext cx="5577840" cy="493776"/>
          </a:xfrm>
          <a:prstGeom prst="rect">
            <a:avLst/>
          </a:prstGeom>
          <a:noFill/>
          <a:ln/>
        </p:spPr>
        <p:txBody>
          <a:bodyPr wrap="square" lIns="762" tIns="762" rIns="762" bIns="762"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청크 본문에 맥락이 있어 표현이 달라도 맞음. K6 없이 가능</a:t>
            </a:r>
            <a:endParaRPr lang="en-US" sz="1500" dirty="0"/>
          </a:p>
        </p:txBody>
      </p:sp>
      <p:sp>
        <p:nvSpPr>
          <p:cNvPr id="22" name="Shape 19"/>
          <p:cNvSpPr/>
          <p:nvPr/>
        </p:nvSpPr>
        <p:spPr>
          <a:xfrm>
            <a:off x="646481" y="3703320"/>
            <a:ext cx="731520" cy="347472"/>
          </a:xfrm>
          <a:prstGeom prst="roundRect">
            <a:avLst>
              <a:gd name="adj" fmla="val 31579"/>
            </a:avLst>
          </a:prstGeom>
          <a:solidFill>
            <a:srgbClr val="4A5364"/>
          </a:solidFill>
          <a:ln/>
        </p:spPr>
      </p:sp>
      <p:sp>
        <p:nvSpPr>
          <p:cNvPr id="23" name="Text 20"/>
          <p:cNvSpPr txBox="1"/>
          <p:nvPr/>
        </p:nvSpPr>
        <p:spPr>
          <a:xfrm>
            <a:off x="646481" y="3703320"/>
            <a:ext cx="731520" cy="347472"/>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약점</a:t>
            </a:r>
            <a:endParaRPr lang="en-US" sz="1400" dirty="0"/>
          </a:p>
        </p:txBody>
      </p:sp>
      <p:sp>
        <p:nvSpPr>
          <p:cNvPr id="24" name="Text 21"/>
          <p:cNvSpPr txBox="1"/>
          <p:nvPr/>
        </p:nvSpPr>
        <p:spPr>
          <a:xfrm>
            <a:off x="1469441" y="3630168"/>
            <a:ext cx="5577840" cy="493776"/>
          </a:xfrm>
          <a:prstGeom prst="rect">
            <a:avLst/>
          </a:prstGeom>
          <a:noFill/>
          <a:ln/>
        </p:spPr>
        <p:txBody>
          <a:bodyPr wrap="square" lIns="762" tIns="762" rIns="762" bIns="762"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후보가 많음(청크 1개에 평균 9.8개). 검색엔진이 다른 문서 청크를 1위로 올리면 함께 빗나감</a:t>
            </a:r>
            <a:endParaRPr lang="en-US" sz="1500" dirty="0"/>
          </a:p>
        </p:txBody>
      </p:sp>
      <p:sp>
        <p:nvSpPr>
          <p:cNvPr id="25" name="Shape 22"/>
          <p:cNvSpPr/>
          <p:nvPr/>
        </p:nvSpPr>
        <p:spPr>
          <a:xfrm>
            <a:off x="7458761" y="1737360"/>
            <a:ext cx="6675120" cy="2514600"/>
          </a:xfrm>
          <a:prstGeom prst="roundRect">
            <a:avLst>
              <a:gd name="adj" fmla="val 2909"/>
            </a:avLst>
          </a:prstGeom>
          <a:solidFill>
            <a:srgbClr val="EEF3FA"/>
          </a:solidFill>
          <a:ln w="12700">
            <a:solidFill>
              <a:srgbClr val="2E74C6"/>
            </a:solidFill>
            <a:prstDash val="solid"/>
          </a:ln>
        </p:spPr>
      </p:sp>
      <p:sp>
        <p:nvSpPr>
          <p:cNvPr id="26" name="Shape 23"/>
          <p:cNvSpPr/>
          <p:nvPr/>
        </p:nvSpPr>
        <p:spPr>
          <a:xfrm>
            <a:off x="7458761" y="1737360"/>
            <a:ext cx="6675120" cy="402336"/>
          </a:xfrm>
          <a:prstGeom prst="roundRect">
            <a:avLst>
              <a:gd name="adj" fmla="val 13636"/>
            </a:avLst>
          </a:prstGeom>
          <a:solidFill>
            <a:srgbClr val="2E74C6"/>
          </a:solidFill>
          <a:ln/>
        </p:spPr>
      </p:sp>
      <p:sp>
        <p:nvSpPr>
          <p:cNvPr id="27" name="Text 24"/>
          <p:cNvSpPr txBox="1"/>
          <p:nvPr/>
        </p:nvSpPr>
        <p:spPr>
          <a:xfrm>
            <a:off x="7458761" y="1737360"/>
            <a:ext cx="6675120" cy="402336"/>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엔티티 직접 검색</a:t>
            </a:r>
            <a:endParaRPr lang="en-US" sz="1600" dirty="0"/>
          </a:p>
        </p:txBody>
      </p:sp>
      <p:sp>
        <p:nvSpPr>
          <p:cNvPr id="28" name="Shape 25"/>
          <p:cNvSpPr/>
          <p:nvPr/>
        </p:nvSpPr>
        <p:spPr>
          <a:xfrm>
            <a:off x="7595921" y="2286000"/>
            <a:ext cx="1975104" cy="603504"/>
          </a:xfrm>
          <a:prstGeom prst="roundRect">
            <a:avLst>
              <a:gd name="adj" fmla="val 30303"/>
            </a:avLst>
          </a:prstGeom>
          <a:solidFill>
            <a:srgbClr val="FFFFFF"/>
          </a:solidFill>
          <a:ln w="12700">
            <a:solidFill>
              <a:srgbClr val="C3CEE0"/>
            </a:solidFill>
            <a:prstDash val="solid"/>
          </a:ln>
        </p:spPr>
      </p:sp>
      <p:sp>
        <p:nvSpPr>
          <p:cNvPr id="29" name="Text 26"/>
          <p:cNvSpPr txBox="1"/>
          <p:nvPr/>
        </p:nvSpPr>
        <p:spPr>
          <a:xfrm>
            <a:off x="7595921" y="2286000"/>
            <a:ext cx="1975104" cy="60350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질문</a:t>
            </a:r>
            <a:endParaRPr lang="en-US" sz="1400" dirty="0"/>
          </a:p>
        </p:txBody>
      </p:sp>
      <p:sp>
        <p:nvSpPr>
          <p:cNvPr id="30" name="Shape 27"/>
          <p:cNvSpPr/>
          <p:nvPr/>
        </p:nvSpPr>
        <p:spPr>
          <a:xfrm>
            <a:off x="9598457" y="2587752"/>
            <a:ext cx="182880" cy="0"/>
          </a:xfrm>
          <a:prstGeom prst="line">
            <a:avLst/>
          </a:prstGeom>
          <a:noFill/>
          <a:ln w="22225">
            <a:solidFill>
              <a:srgbClr val="1E2A5C"/>
            </a:solidFill>
            <a:prstDash val="solid"/>
            <a:tailEnd type="triangle"/>
          </a:ln>
        </p:spPr>
      </p:sp>
      <p:sp>
        <p:nvSpPr>
          <p:cNvPr id="31" name="Shape 28"/>
          <p:cNvSpPr/>
          <p:nvPr/>
        </p:nvSpPr>
        <p:spPr>
          <a:xfrm>
            <a:off x="9808769" y="2286000"/>
            <a:ext cx="1975104" cy="603504"/>
          </a:xfrm>
          <a:prstGeom prst="roundRect">
            <a:avLst>
              <a:gd name="adj" fmla="val 30303"/>
            </a:avLst>
          </a:prstGeom>
          <a:solidFill>
            <a:srgbClr val="FFFFFF"/>
          </a:solidFill>
          <a:ln w="12700">
            <a:solidFill>
              <a:srgbClr val="C3CEE0"/>
            </a:solidFill>
            <a:prstDash val="solid"/>
          </a:ln>
        </p:spPr>
      </p:sp>
      <p:sp>
        <p:nvSpPr>
          <p:cNvPr id="32" name="Text 29"/>
          <p:cNvSpPr txBox="1"/>
          <p:nvPr/>
        </p:nvSpPr>
        <p:spPr>
          <a:xfrm>
            <a:off x="9808769" y="2286000"/>
            <a:ext cx="1975104" cy="60350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K6 엔티티 설명 벡터</a:t>
            </a:r>
            <a:endParaRPr lang="en-US" sz="1400" dirty="0"/>
          </a:p>
        </p:txBody>
      </p:sp>
      <p:sp>
        <p:nvSpPr>
          <p:cNvPr id="33" name="Shape 30"/>
          <p:cNvSpPr/>
          <p:nvPr/>
        </p:nvSpPr>
        <p:spPr>
          <a:xfrm>
            <a:off x="11811305" y="2587752"/>
            <a:ext cx="182880" cy="0"/>
          </a:xfrm>
          <a:prstGeom prst="line">
            <a:avLst/>
          </a:prstGeom>
          <a:noFill/>
          <a:ln w="22225">
            <a:solidFill>
              <a:srgbClr val="1E2A5C"/>
            </a:solidFill>
            <a:prstDash val="solid"/>
            <a:tailEnd type="triangle"/>
          </a:ln>
        </p:spPr>
      </p:sp>
      <p:sp>
        <p:nvSpPr>
          <p:cNvPr id="34" name="Shape 31"/>
          <p:cNvSpPr/>
          <p:nvPr/>
        </p:nvSpPr>
        <p:spPr>
          <a:xfrm>
            <a:off x="12021617" y="2286000"/>
            <a:ext cx="1975104" cy="603504"/>
          </a:xfrm>
          <a:prstGeom prst="roundRect">
            <a:avLst>
              <a:gd name="adj" fmla="val 30303"/>
            </a:avLst>
          </a:prstGeom>
          <a:solidFill>
            <a:srgbClr val="FFFFFF"/>
          </a:solidFill>
          <a:ln w="12700">
            <a:solidFill>
              <a:srgbClr val="C3CEE0"/>
            </a:solidFill>
            <a:prstDash val="solid"/>
          </a:ln>
        </p:spPr>
      </p:sp>
      <p:sp>
        <p:nvSpPr>
          <p:cNvPr id="35" name="Text 32"/>
          <p:cNvSpPr txBox="1"/>
          <p:nvPr/>
        </p:nvSpPr>
        <p:spPr>
          <a:xfrm>
            <a:off x="12021617" y="2286000"/>
            <a:ext cx="1975104" cy="60350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뜻이 가까운 엔티티</a:t>
            </a:r>
            <a:endParaRPr lang="en-US" sz="1400" dirty="0"/>
          </a:p>
        </p:txBody>
      </p:sp>
      <p:sp>
        <p:nvSpPr>
          <p:cNvPr id="36" name="Shape 33"/>
          <p:cNvSpPr/>
          <p:nvPr/>
        </p:nvSpPr>
        <p:spPr>
          <a:xfrm>
            <a:off x="7595921" y="3136392"/>
            <a:ext cx="731520" cy="347472"/>
          </a:xfrm>
          <a:prstGeom prst="roundRect">
            <a:avLst>
              <a:gd name="adj" fmla="val 31579"/>
            </a:avLst>
          </a:prstGeom>
          <a:solidFill>
            <a:srgbClr val="2E74C6"/>
          </a:solidFill>
          <a:ln/>
        </p:spPr>
      </p:sp>
      <p:sp>
        <p:nvSpPr>
          <p:cNvPr id="37" name="Text 34"/>
          <p:cNvSpPr txBox="1"/>
          <p:nvPr/>
        </p:nvSpPr>
        <p:spPr>
          <a:xfrm>
            <a:off x="7595921" y="3136392"/>
            <a:ext cx="731520" cy="347472"/>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강점</a:t>
            </a:r>
            <a:endParaRPr lang="en-US" sz="1400" dirty="0"/>
          </a:p>
        </p:txBody>
      </p:sp>
      <p:sp>
        <p:nvSpPr>
          <p:cNvPr id="38" name="Text 35"/>
          <p:cNvSpPr txBox="1"/>
          <p:nvPr/>
        </p:nvSpPr>
        <p:spPr>
          <a:xfrm>
            <a:off x="8418881" y="3063240"/>
            <a:ext cx="5577840" cy="493776"/>
          </a:xfrm>
          <a:prstGeom prst="rect">
            <a:avLst/>
          </a:prstGeom>
          <a:noFill/>
          <a:ln/>
        </p:spPr>
        <p:txBody>
          <a:bodyPr wrap="square" lIns="762" tIns="762" rIns="762" bIns="762"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검색엔진과 따로 돌고, 사실 하나를 바로 짚음(후보 5개)</a:t>
            </a:r>
            <a:endParaRPr lang="en-US" sz="1500" dirty="0"/>
          </a:p>
        </p:txBody>
      </p:sp>
      <p:sp>
        <p:nvSpPr>
          <p:cNvPr id="39" name="Shape 36"/>
          <p:cNvSpPr/>
          <p:nvPr/>
        </p:nvSpPr>
        <p:spPr>
          <a:xfrm>
            <a:off x="7595921" y="3703320"/>
            <a:ext cx="731520" cy="347472"/>
          </a:xfrm>
          <a:prstGeom prst="roundRect">
            <a:avLst>
              <a:gd name="adj" fmla="val 31579"/>
            </a:avLst>
          </a:prstGeom>
          <a:solidFill>
            <a:srgbClr val="4A5364"/>
          </a:solidFill>
          <a:ln/>
        </p:spPr>
      </p:sp>
      <p:sp>
        <p:nvSpPr>
          <p:cNvPr id="40" name="Text 37"/>
          <p:cNvSpPr txBox="1"/>
          <p:nvPr/>
        </p:nvSpPr>
        <p:spPr>
          <a:xfrm>
            <a:off x="7595921" y="3703320"/>
            <a:ext cx="731520" cy="347472"/>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약점</a:t>
            </a:r>
            <a:endParaRPr lang="en-US" sz="1400" dirty="0"/>
          </a:p>
        </p:txBody>
      </p:sp>
      <p:sp>
        <p:nvSpPr>
          <p:cNvPr id="41" name="Text 38"/>
          <p:cNvSpPr txBox="1"/>
          <p:nvPr/>
        </p:nvSpPr>
        <p:spPr>
          <a:xfrm>
            <a:off x="8418881" y="3630168"/>
            <a:ext cx="5577840" cy="493776"/>
          </a:xfrm>
          <a:prstGeom prst="rect">
            <a:avLst/>
          </a:prstGeom>
          <a:noFill/>
          <a:ln/>
        </p:spPr>
        <p:txBody>
          <a:bodyPr wrap="square" lIns="762" tIns="762" rIns="762" bIns="762"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설명 글이 짧아 맥락이 빠지면 놓침. 인덱싱에 K6 단계를 더 해야 함</a:t>
            </a:r>
            <a:endParaRPr lang="en-US" sz="1500" dirty="0"/>
          </a:p>
        </p:txBody>
      </p:sp>
      <p:sp>
        <p:nvSpPr>
          <p:cNvPr id="42" name="Text 39"/>
          <p:cNvSpPr txBox="1"/>
          <p:nvPr/>
        </p:nvSpPr>
        <p:spPr>
          <a:xfrm>
            <a:off x="509321" y="4480560"/>
            <a:ext cx="7680960" cy="347472"/>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같은 질문 20개로 비교 (v0 표본: 청크 9개, 엔티티 83개)</a:t>
            </a:r>
            <a:endParaRPr lang="en-US" sz="1500" dirty="0"/>
          </a:p>
        </p:txBody>
      </p:sp>
      <p:sp>
        <p:nvSpPr>
          <p:cNvPr id="43" name="Text 40"/>
          <p:cNvSpPr txBox="1"/>
          <p:nvPr/>
        </p:nvSpPr>
        <p:spPr>
          <a:xfrm>
            <a:off x="509321" y="4937760"/>
            <a:ext cx="2514600" cy="438912"/>
          </a:xfrm>
          <a:prstGeom prst="rect">
            <a:avLst/>
          </a:prstGeom>
          <a:noFill/>
          <a:ln/>
        </p:spPr>
        <p:txBody>
          <a:bodyPr wrap="square" lIns="762" tIns="762" rIns="762" bIns="762"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검색엔진 경유, 청크 1개</a:t>
            </a:r>
            <a:endParaRPr lang="en-US" sz="1500" dirty="0"/>
          </a:p>
        </p:txBody>
      </p:sp>
      <p:sp>
        <p:nvSpPr>
          <p:cNvPr id="44" name="Shape 41"/>
          <p:cNvSpPr/>
          <p:nvPr/>
        </p:nvSpPr>
        <p:spPr>
          <a:xfrm>
            <a:off x="3023921" y="4992624"/>
            <a:ext cx="2834640" cy="329184"/>
          </a:xfrm>
          <a:prstGeom prst="rect">
            <a:avLst/>
          </a:prstGeom>
          <a:solidFill>
            <a:srgbClr val="EDF0F6"/>
          </a:solidFill>
          <a:ln/>
        </p:spPr>
      </p:sp>
      <p:sp>
        <p:nvSpPr>
          <p:cNvPr id="45" name="Shape 42"/>
          <p:cNvSpPr/>
          <p:nvPr/>
        </p:nvSpPr>
        <p:spPr>
          <a:xfrm>
            <a:off x="3023921" y="4992624"/>
            <a:ext cx="1275588" cy="329184"/>
          </a:xfrm>
          <a:prstGeom prst="rect">
            <a:avLst/>
          </a:prstGeom>
          <a:solidFill>
            <a:srgbClr val="C3CEE0"/>
          </a:solidFill>
          <a:ln/>
        </p:spPr>
      </p:sp>
      <p:sp>
        <p:nvSpPr>
          <p:cNvPr id="46" name="Text 43"/>
          <p:cNvSpPr txBox="1"/>
          <p:nvPr/>
        </p:nvSpPr>
        <p:spPr>
          <a:xfrm>
            <a:off x="5950001" y="4937760"/>
            <a:ext cx="2240280" cy="438912"/>
          </a:xfrm>
          <a:prstGeom prst="rect">
            <a:avLst/>
          </a:prstGeom>
          <a:noFill/>
          <a:ln/>
        </p:spPr>
        <p:txBody>
          <a:bodyPr wrap="square" lIns="762" tIns="762" rIns="762" bIns="762" rtlCol="0" anchor="ctr"/>
          <a:lstStyle/>
          <a:p>
            <a:pPr algn="l" indent="0" marL="0">
              <a:buNone/>
            </a:pPr>
            <a:r>
              <a:rPr lang="en-US" sz="1500" dirty="0">
                <a:solidFill>
                  <a:srgbClr val="3B4557"/>
                </a:solidFill>
                <a:latin typeface="Pretendard" pitchFamily="34" charset="0"/>
                <a:ea typeface="Pretendard" pitchFamily="34" charset="-122"/>
                <a:cs typeface="Pretendard" pitchFamily="34" charset="-120"/>
              </a:rPr>
              <a:t>9 / 20  (후보 9.8)</a:t>
            </a:r>
            <a:endParaRPr lang="en-US" sz="1500" dirty="0"/>
          </a:p>
        </p:txBody>
      </p:sp>
      <p:sp>
        <p:nvSpPr>
          <p:cNvPr id="47" name="Text 44"/>
          <p:cNvSpPr txBox="1"/>
          <p:nvPr/>
        </p:nvSpPr>
        <p:spPr>
          <a:xfrm>
            <a:off x="509321" y="5541264"/>
            <a:ext cx="2514600" cy="438912"/>
          </a:xfrm>
          <a:prstGeom prst="rect">
            <a:avLst/>
          </a:prstGeom>
          <a:noFill/>
          <a:ln/>
        </p:spPr>
        <p:txBody>
          <a:bodyPr wrap="square" lIns="762" tIns="762" rIns="762" bIns="762"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검색엔진 경유, 청크 2개</a:t>
            </a:r>
            <a:endParaRPr lang="en-US" sz="1500" dirty="0"/>
          </a:p>
        </p:txBody>
      </p:sp>
      <p:sp>
        <p:nvSpPr>
          <p:cNvPr id="48" name="Shape 45"/>
          <p:cNvSpPr/>
          <p:nvPr/>
        </p:nvSpPr>
        <p:spPr>
          <a:xfrm>
            <a:off x="3023921" y="5596128"/>
            <a:ext cx="2834640" cy="329184"/>
          </a:xfrm>
          <a:prstGeom prst="rect">
            <a:avLst/>
          </a:prstGeom>
          <a:solidFill>
            <a:srgbClr val="EDF0F6"/>
          </a:solidFill>
          <a:ln/>
        </p:spPr>
      </p:sp>
      <p:sp>
        <p:nvSpPr>
          <p:cNvPr id="49" name="Shape 46"/>
          <p:cNvSpPr/>
          <p:nvPr/>
        </p:nvSpPr>
        <p:spPr>
          <a:xfrm>
            <a:off x="3023921" y="5596128"/>
            <a:ext cx="2267712" cy="329184"/>
          </a:xfrm>
          <a:prstGeom prst="rect">
            <a:avLst/>
          </a:prstGeom>
          <a:solidFill>
            <a:srgbClr val="C3CEE0"/>
          </a:solidFill>
          <a:ln/>
        </p:spPr>
      </p:sp>
      <p:sp>
        <p:nvSpPr>
          <p:cNvPr id="50" name="Text 47"/>
          <p:cNvSpPr txBox="1"/>
          <p:nvPr/>
        </p:nvSpPr>
        <p:spPr>
          <a:xfrm>
            <a:off x="5950001" y="5541264"/>
            <a:ext cx="2240280" cy="438912"/>
          </a:xfrm>
          <a:prstGeom prst="rect">
            <a:avLst/>
          </a:prstGeom>
          <a:noFill/>
          <a:ln/>
        </p:spPr>
        <p:txBody>
          <a:bodyPr wrap="square" lIns="762" tIns="762" rIns="762" bIns="762" rtlCol="0" anchor="ctr"/>
          <a:lstStyle/>
          <a:p>
            <a:pPr algn="l" indent="0" marL="0">
              <a:buNone/>
            </a:pPr>
            <a:r>
              <a:rPr lang="en-US" sz="1500" dirty="0">
                <a:solidFill>
                  <a:srgbClr val="3B4557"/>
                </a:solidFill>
                <a:latin typeface="Pretendard" pitchFamily="34" charset="0"/>
                <a:ea typeface="Pretendard" pitchFamily="34" charset="-122"/>
                <a:cs typeface="Pretendard" pitchFamily="34" charset="-120"/>
              </a:rPr>
              <a:t>16 / 20  (후보 20.5)</a:t>
            </a:r>
            <a:endParaRPr lang="en-US" sz="1500" dirty="0"/>
          </a:p>
        </p:txBody>
      </p:sp>
      <p:sp>
        <p:nvSpPr>
          <p:cNvPr id="51" name="Text 48"/>
          <p:cNvSpPr txBox="1"/>
          <p:nvPr/>
        </p:nvSpPr>
        <p:spPr>
          <a:xfrm>
            <a:off x="509321" y="6144768"/>
            <a:ext cx="2514600" cy="438912"/>
          </a:xfrm>
          <a:prstGeom prst="rect">
            <a:avLst/>
          </a:prstGeom>
          <a:noFill/>
          <a:ln/>
        </p:spPr>
        <p:txBody>
          <a:bodyPr wrap="square" lIns="762" tIns="762" rIns="762" bIns="762" rtlCol="0" anchor="ctr"/>
          <a:lstStyle/>
          <a:p>
            <a:pPr algn="l" indent="0" marL="0">
              <a:buNone/>
            </a:pPr>
            <a:r>
              <a:rPr lang="en-US" sz="1500" dirty="0">
                <a:solidFill>
                  <a:srgbClr val="2B3242"/>
                </a:solidFill>
                <a:latin typeface="Pretendard" pitchFamily="34" charset="0"/>
                <a:ea typeface="Pretendard" pitchFamily="34" charset="-122"/>
                <a:cs typeface="Pretendard" pitchFamily="34" charset="-120"/>
              </a:rPr>
              <a:t>엔티티 직접, 5개</a:t>
            </a:r>
            <a:endParaRPr lang="en-US" sz="1500" dirty="0"/>
          </a:p>
        </p:txBody>
      </p:sp>
      <p:sp>
        <p:nvSpPr>
          <p:cNvPr id="52" name="Shape 49"/>
          <p:cNvSpPr/>
          <p:nvPr/>
        </p:nvSpPr>
        <p:spPr>
          <a:xfrm>
            <a:off x="3023921" y="6199632"/>
            <a:ext cx="2834640" cy="329184"/>
          </a:xfrm>
          <a:prstGeom prst="rect">
            <a:avLst/>
          </a:prstGeom>
          <a:solidFill>
            <a:srgbClr val="EDF0F6"/>
          </a:solidFill>
          <a:ln/>
        </p:spPr>
      </p:sp>
      <p:sp>
        <p:nvSpPr>
          <p:cNvPr id="53" name="Shape 50"/>
          <p:cNvSpPr/>
          <p:nvPr/>
        </p:nvSpPr>
        <p:spPr>
          <a:xfrm>
            <a:off x="3023921" y="6199632"/>
            <a:ext cx="2267712" cy="329184"/>
          </a:xfrm>
          <a:prstGeom prst="rect">
            <a:avLst/>
          </a:prstGeom>
          <a:solidFill>
            <a:srgbClr val="2E74C6"/>
          </a:solidFill>
          <a:ln/>
        </p:spPr>
      </p:sp>
      <p:sp>
        <p:nvSpPr>
          <p:cNvPr id="54" name="Text 51"/>
          <p:cNvSpPr txBox="1"/>
          <p:nvPr/>
        </p:nvSpPr>
        <p:spPr>
          <a:xfrm>
            <a:off x="5950001" y="6144768"/>
            <a:ext cx="2240280" cy="438912"/>
          </a:xfrm>
          <a:prstGeom prst="rect">
            <a:avLst/>
          </a:prstGeom>
          <a:noFill/>
          <a:ln/>
        </p:spPr>
        <p:txBody>
          <a:bodyPr wrap="square" lIns="762" tIns="762" rIns="762" bIns="762" rtlCol="0" anchor="ctr"/>
          <a:lstStyle/>
          <a:p>
            <a:pPr algn="l" indent="0" marL="0">
              <a:buNone/>
            </a:pPr>
            <a:r>
              <a:rPr lang="en-US" sz="1500" dirty="0">
                <a:solidFill>
                  <a:srgbClr val="3B4557"/>
                </a:solidFill>
                <a:latin typeface="Pretendard" pitchFamily="34" charset="0"/>
                <a:ea typeface="Pretendard" pitchFamily="34" charset="-122"/>
                <a:cs typeface="Pretendard" pitchFamily="34" charset="-120"/>
              </a:rPr>
              <a:t>16 / 20  (후보 5)</a:t>
            </a:r>
            <a:endParaRPr lang="en-US" sz="1500" dirty="0"/>
          </a:p>
        </p:txBody>
      </p:sp>
      <p:sp>
        <p:nvSpPr>
          <p:cNvPr id="55" name="Text 52"/>
          <p:cNvSpPr txBox="1"/>
          <p:nvPr/>
        </p:nvSpPr>
        <p:spPr>
          <a:xfrm>
            <a:off x="509321" y="6748272"/>
            <a:ext cx="2514600" cy="438912"/>
          </a:xfrm>
          <a:prstGeom prst="rect">
            <a:avLst/>
          </a:prstGeom>
          <a:noFill/>
          <a:ln/>
        </p:spPr>
        <p:txBody>
          <a:bodyPr wrap="square" lIns="762" tIns="762" rIns="762" bIns="762" rtlCol="0" anchor="ctr"/>
          <a:lstStyle/>
          <a:p>
            <a:pPr algn="l" indent="0" marL="0">
              <a:buNone/>
            </a:pPr>
            <a:r>
              <a:rPr lang="en-US" sz="1500" b="1" dirty="0">
                <a:solidFill>
                  <a:srgbClr val="2B3242"/>
                </a:solidFill>
                <a:latin typeface="Pretendard" pitchFamily="34" charset="0"/>
                <a:ea typeface="Pretendard" pitchFamily="34" charset="-122"/>
                <a:cs typeface="Pretendard" pitchFamily="34" charset="-120"/>
              </a:rPr>
              <a:t>함께 (청크 2 + 엔티티 5)</a:t>
            </a:r>
            <a:endParaRPr lang="en-US" sz="1500" dirty="0"/>
          </a:p>
        </p:txBody>
      </p:sp>
      <p:sp>
        <p:nvSpPr>
          <p:cNvPr id="56" name="Shape 53"/>
          <p:cNvSpPr/>
          <p:nvPr/>
        </p:nvSpPr>
        <p:spPr>
          <a:xfrm>
            <a:off x="3023921" y="6803136"/>
            <a:ext cx="2834640" cy="329184"/>
          </a:xfrm>
          <a:prstGeom prst="rect">
            <a:avLst/>
          </a:prstGeom>
          <a:solidFill>
            <a:srgbClr val="EDF0F6"/>
          </a:solidFill>
          <a:ln/>
        </p:spPr>
      </p:sp>
      <p:sp>
        <p:nvSpPr>
          <p:cNvPr id="57" name="Shape 54"/>
          <p:cNvSpPr/>
          <p:nvPr/>
        </p:nvSpPr>
        <p:spPr>
          <a:xfrm>
            <a:off x="3023921" y="6803136"/>
            <a:ext cx="2551176" cy="329184"/>
          </a:xfrm>
          <a:prstGeom prst="rect">
            <a:avLst/>
          </a:prstGeom>
          <a:solidFill>
            <a:srgbClr val="1E2A5C"/>
          </a:solidFill>
          <a:ln/>
        </p:spPr>
      </p:sp>
      <p:sp>
        <p:nvSpPr>
          <p:cNvPr id="58" name="Text 55"/>
          <p:cNvSpPr txBox="1"/>
          <p:nvPr/>
        </p:nvSpPr>
        <p:spPr>
          <a:xfrm>
            <a:off x="5950001" y="6748272"/>
            <a:ext cx="2240280" cy="438912"/>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18 / 20  (후보 25.5 이하)</a:t>
            </a:r>
            <a:endParaRPr lang="en-US" sz="1500" dirty="0"/>
          </a:p>
        </p:txBody>
      </p:sp>
      <p:sp>
        <p:nvSpPr>
          <p:cNvPr id="59" name="Text 56"/>
          <p:cNvSpPr txBox="1"/>
          <p:nvPr/>
        </p:nvSpPr>
        <p:spPr>
          <a:xfrm>
            <a:off x="8464601" y="4480560"/>
            <a:ext cx="5669280" cy="347472"/>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서로 메운 예</a:t>
            </a:r>
            <a:endParaRPr lang="en-US" sz="1500" dirty="0"/>
          </a:p>
        </p:txBody>
      </p:sp>
      <p:sp>
        <p:nvSpPr>
          <p:cNvPr id="60" name="Shape 57"/>
          <p:cNvSpPr/>
          <p:nvPr/>
        </p:nvSpPr>
        <p:spPr>
          <a:xfrm>
            <a:off x="8464601" y="4882896"/>
            <a:ext cx="5669280" cy="713232"/>
          </a:xfrm>
          <a:prstGeom prst="roundRect">
            <a:avLst>
              <a:gd name="adj" fmla="val 10256"/>
            </a:avLst>
          </a:prstGeom>
          <a:solidFill>
            <a:srgbClr val="F5F8FC"/>
          </a:solidFill>
          <a:ln w="12700">
            <a:solidFill>
              <a:srgbClr val="D9E0EC"/>
            </a:solidFill>
            <a:prstDash val="solid"/>
          </a:ln>
        </p:spPr>
      </p:sp>
      <p:sp>
        <p:nvSpPr>
          <p:cNvPr id="61" name="Text 58"/>
          <p:cNvSpPr txBox="1"/>
          <p:nvPr/>
        </p:nvSpPr>
        <p:spPr>
          <a:xfrm>
            <a:off x="8464601" y="4882896"/>
            <a:ext cx="5669280" cy="713232"/>
          </a:xfrm>
          <a:prstGeom prst="rect">
            <a:avLst/>
          </a:prstGeom>
          <a:noFill/>
          <a:ln/>
        </p:spPr>
        <p:txBody>
          <a:bodyPr wrap="square" lIns="127000" tIns="38100" rIns="127000" bIns="38100" rtlCol="0" anchor="ctr"/>
          <a:lstStyle/>
          <a:p>
            <a:pPr algn="l" indent="0" marL="0">
              <a:spcAft>
                <a:spcPts val="100"/>
              </a:spcAft>
              <a:buNone/>
            </a:pPr>
            <a:r>
              <a:rPr lang="en-US" sz="1500" b="1" dirty="0">
                <a:solidFill>
                  <a:srgbClr val="2B3242"/>
                </a:solidFill>
                <a:latin typeface="Pretendard" pitchFamily="34" charset="0"/>
                <a:ea typeface="Pretendard" pitchFamily="34" charset="-122"/>
                <a:cs typeface="Pretendard" pitchFamily="34" charset="-120"/>
              </a:rPr>
              <a:t>「할부로 산 물건을 무르고 싶은데…」</a:t>
            </a:r>
            <a:endParaRPr lang="en-US" sz="1500" dirty="0"/>
          </a:p>
          <a:p>
            <a:pPr algn="l" indent="0" marL="0">
              <a:spcAft>
                <a:spcPts val="100"/>
              </a:spcAft>
              <a:buNone/>
            </a:pPr>
            <a:r>
              <a:rPr lang="en-US" sz="1400" dirty="0">
                <a:solidFill>
                  <a:srgbClr val="2B3242"/>
                </a:solidFill>
                <a:latin typeface="Pretendard" pitchFamily="34" charset="0"/>
                <a:ea typeface="Pretendard" pitchFamily="34" charset="-122"/>
                <a:cs typeface="Pretendard" pitchFamily="34" charset="-120"/>
              </a:rPr>
              <a:t>검색엔진 경유: 상담 청크가 1위라 놓침 → 엔티티 직접: 철회 기한 엔티티 1위</a:t>
            </a:r>
            <a:endParaRPr lang="en-US" sz="1500" dirty="0"/>
          </a:p>
        </p:txBody>
      </p:sp>
      <p:sp>
        <p:nvSpPr>
          <p:cNvPr id="62" name="Shape 59"/>
          <p:cNvSpPr/>
          <p:nvPr/>
        </p:nvSpPr>
        <p:spPr>
          <a:xfrm>
            <a:off x="8464601" y="5650992"/>
            <a:ext cx="5669280" cy="713232"/>
          </a:xfrm>
          <a:prstGeom prst="roundRect">
            <a:avLst>
              <a:gd name="adj" fmla="val 10256"/>
            </a:avLst>
          </a:prstGeom>
          <a:solidFill>
            <a:srgbClr val="F5F8FC"/>
          </a:solidFill>
          <a:ln w="12700">
            <a:solidFill>
              <a:srgbClr val="D9E0EC"/>
            </a:solidFill>
            <a:prstDash val="solid"/>
          </a:ln>
        </p:spPr>
      </p:sp>
      <p:sp>
        <p:nvSpPr>
          <p:cNvPr id="63" name="Text 60"/>
          <p:cNvSpPr txBox="1"/>
          <p:nvPr/>
        </p:nvSpPr>
        <p:spPr>
          <a:xfrm>
            <a:off x="8464601" y="5650992"/>
            <a:ext cx="5669280" cy="713232"/>
          </a:xfrm>
          <a:prstGeom prst="rect">
            <a:avLst/>
          </a:prstGeom>
          <a:noFill/>
          <a:ln/>
        </p:spPr>
        <p:txBody>
          <a:bodyPr wrap="square" lIns="127000" tIns="38100" rIns="127000" bIns="38100" rtlCol="0" anchor="ctr"/>
          <a:lstStyle/>
          <a:p>
            <a:pPr algn="l" indent="0" marL="0">
              <a:spcAft>
                <a:spcPts val="100"/>
              </a:spcAft>
              <a:buNone/>
            </a:pPr>
            <a:r>
              <a:rPr lang="en-US" sz="1500" b="1" dirty="0">
                <a:solidFill>
                  <a:srgbClr val="2B3242"/>
                </a:solidFill>
                <a:latin typeface="Pretendard" pitchFamily="34" charset="0"/>
                <a:ea typeface="Pretendard" pitchFamily="34" charset="-122"/>
                <a:cs typeface="Pretendard" pitchFamily="34" charset="-120"/>
              </a:rPr>
              <a:t>「오랫동안 카드를 안 쓰면…」</a:t>
            </a:r>
            <a:endParaRPr lang="en-US" sz="1500" dirty="0"/>
          </a:p>
          <a:p>
            <a:pPr algn="l" indent="0" marL="0">
              <a:spcAft>
                <a:spcPts val="100"/>
              </a:spcAft>
              <a:buNone/>
            </a:pPr>
            <a:r>
              <a:rPr lang="en-US" sz="1400" dirty="0">
                <a:solidFill>
                  <a:srgbClr val="2B3242"/>
                </a:solidFill>
                <a:latin typeface="Pretendard" pitchFamily="34" charset="0"/>
                <a:ea typeface="Pretendard" pitchFamily="34" charset="-122"/>
                <a:cs typeface="Pretendard" pitchFamily="34" charset="-120"/>
              </a:rPr>
              <a:t>엔티티 직접: 5위 안에 정답 없음 → 검색엔진 경유: 청크 2개 안에 정답</a:t>
            </a:r>
            <a:endParaRPr lang="en-US" sz="1500" dirty="0"/>
          </a:p>
        </p:txBody>
      </p:sp>
      <p:sp>
        <p:nvSpPr>
          <p:cNvPr id="64" name="Shape 61"/>
          <p:cNvSpPr/>
          <p:nvPr/>
        </p:nvSpPr>
        <p:spPr>
          <a:xfrm>
            <a:off x="8464601" y="6419088"/>
            <a:ext cx="5669280" cy="850392"/>
          </a:xfrm>
          <a:prstGeom prst="roundRect">
            <a:avLst>
              <a:gd name="adj" fmla="val 8602"/>
            </a:avLst>
          </a:prstGeom>
          <a:solidFill>
            <a:srgbClr val="1E2A5C"/>
          </a:solidFill>
          <a:ln/>
        </p:spPr>
      </p:sp>
      <p:sp>
        <p:nvSpPr>
          <p:cNvPr id="65" name="Text 62"/>
          <p:cNvSpPr txBox="1"/>
          <p:nvPr/>
        </p:nvSpPr>
        <p:spPr>
          <a:xfrm>
            <a:off x="8464601" y="6419088"/>
            <a:ext cx="5669280" cy="850392"/>
          </a:xfrm>
          <a:prstGeom prst="rect">
            <a:avLst/>
          </a:prstGeom>
          <a:noFill/>
          <a:ln/>
        </p:spPr>
        <p:txBody>
          <a:bodyPr wrap="square" lIns="635" tIns="635" rIns="635" bIns="635" rtlCol="0" anchor="ctr"/>
          <a:lstStyle/>
          <a:p>
            <a:pPr algn="ctr" indent="0" marL="0">
              <a:spcAft>
                <a:spcPts val="100"/>
              </a:spcAft>
              <a:buNone/>
            </a:pPr>
            <a:r>
              <a:rPr lang="en-US" sz="1600" b="1" dirty="0">
                <a:solidFill>
                  <a:srgbClr val="FFFFFF"/>
                </a:solidFill>
                <a:latin typeface="Pretendard" pitchFamily="34" charset="0"/>
                <a:ea typeface="Pretendard" pitchFamily="34" charset="-122"/>
                <a:cs typeface="Pretendard" pitchFamily="34" charset="-120"/>
              </a:rPr>
              <a:t>두 방식을 함께 쓰고 결과를 합침</a:t>
            </a:r>
            <a:endParaRPr lang="en-US" sz="1600" dirty="0"/>
          </a:p>
          <a:p>
            <a:pPr algn="ctr" indent="0" marL="0">
              <a:spcAft>
                <a:spcPts val="100"/>
              </a:spcAft>
              <a:buNone/>
            </a:pPr>
            <a:r>
              <a:rPr lang="en-US" sz="1500" dirty="0">
                <a:solidFill>
                  <a:srgbClr val="FFFFFF"/>
                </a:solidFill>
                <a:latin typeface="Pretendard" pitchFamily="34" charset="0"/>
                <a:ea typeface="Pretendard" pitchFamily="34" charset="-122"/>
                <a:cs typeface="Pretendard" pitchFamily="34" charset="-120"/>
              </a:rPr>
              <a:t>검색엔진 경유 검색만 쓰면 K6은 필요 없음</a:t>
            </a:r>
            <a:endParaRPr lang="en-US" sz="16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KG 구축 K6 노드 설명 임베딩</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엔티티마다 「라벨: 속성=값」 설명 글을 만들어 임베딩하고, 벡터 인덱스로 질문과 뜻이 가까운 엔티티를 찾게 함</a:t>
            </a:r>
            <a:endParaRPr lang="en-US" sz="1800" dirty="0"/>
          </a:p>
        </p:txBody>
      </p:sp>
      <p:sp>
        <p:nvSpPr>
          <p:cNvPr id="5" name="Shape 2"/>
          <p:cNvSpPr/>
          <p:nvPr/>
        </p:nvSpPr>
        <p:spPr>
          <a:xfrm>
            <a:off x="509321" y="1737360"/>
            <a:ext cx="3166110" cy="384048"/>
          </a:xfrm>
          <a:prstGeom prst="roundRect">
            <a:avLst>
              <a:gd name="adj" fmla="val 11905"/>
            </a:avLst>
          </a:prstGeom>
          <a:solidFill>
            <a:srgbClr val="1E2A5C"/>
          </a:solidFill>
          <a:ln/>
        </p:spPr>
      </p:sp>
      <p:sp>
        <p:nvSpPr>
          <p:cNvPr id="6" name="Text 3"/>
          <p:cNvSpPr txBox="1"/>
          <p:nvPr/>
        </p:nvSpPr>
        <p:spPr>
          <a:xfrm>
            <a:off x="509321" y="1737360"/>
            <a:ext cx="3166110" cy="384048"/>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① 엔티티</a:t>
            </a:r>
            <a:endParaRPr lang="en-US" sz="1600" dirty="0"/>
          </a:p>
        </p:txBody>
      </p:sp>
      <p:sp>
        <p:nvSpPr>
          <p:cNvPr id="7" name="Shape 4"/>
          <p:cNvSpPr/>
          <p:nvPr/>
        </p:nvSpPr>
        <p:spPr>
          <a:xfrm>
            <a:off x="509321" y="2212848"/>
            <a:ext cx="3166110" cy="1234440"/>
          </a:xfrm>
          <a:prstGeom prst="roundRect">
            <a:avLst>
              <a:gd name="adj" fmla="val 5926"/>
            </a:avLst>
          </a:prstGeom>
          <a:solidFill>
            <a:srgbClr val="FFFFFF"/>
          </a:solidFill>
          <a:ln w="12700">
            <a:solidFill>
              <a:srgbClr val="D9E0EC"/>
            </a:solidFill>
            <a:prstDash val="solid"/>
          </a:ln>
        </p:spPr>
      </p:sp>
      <p:sp>
        <p:nvSpPr>
          <p:cNvPr id="8" name="Text 5"/>
          <p:cNvSpPr txBox="1"/>
          <p:nvPr/>
        </p:nvSpPr>
        <p:spPr>
          <a:xfrm>
            <a:off x="509321" y="2212848"/>
            <a:ext cx="3166110" cy="1234440"/>
          </a:xfrm>
          <a:prstGeom prst="rect">
            <a:avLst/>
          </a:prstGeom>
          <a:noFill/>
          <a:ln/>
        </p:spPr>
        <p:txBody>
          <a:bodyPr wrap="square" lIns="635" tIns="635" rIns="635" bIns="635" rtlCol="0" anchor="ctr"/>
          <a:lstStyle/>
          <a:p>
            <a:pPr algn="ctr" indent="0" marL="0">
              <a:spcAft>
                <a:spcPts val="100"/>
              </a:spcAft>
              <a:buNone/>
            </a:pPr>
            <a:r>
              <a:rPr lang="en-US" sz="1600" b="1" dirty="0">
                <a:solidFill>
                  <a:srgbClr val="2B3242"/>
                </a:solidFill>
                <a:latin typeface="Pretendard" pitchFamily="34" charset="0"/>
                <a:ea typeface="Pretendard" pitchFamily="34" charset="-122"/>
                <a:cs typeface="Pretendard" pitchFamily="34" charset="-120"/>
              </a:rPr>
              <a:t>Proposal</a:t>
            </a:r>
            <a:endParaRPr lang="en-US" sz="1600" dirty="0"/>
          </a:p>
          <a:p>
            <a:pPr algn="ctr" indent="0" marL="0">
              <a:spcAft>
                <a:spcPts val="100"/>
              </a:spcAft>
              <a:buNone/>
            </a:pPr>
            <a:r>
              <a:rPr lang="en-US" sz="1500" dirty="0">
                <a:solidFill>
                  <a:srgbClr val="2B3242"/>
                </a:solidFill>
                <a:latin typeface="Pretendard" pitchFamily="34" charset="0"/>
                <a:ea typeface="Pretendard" pitchFamily="34" charset="-122"/>
                <a:cs typeface="Pretendard" pitchFamily="34" charset="-120"/>
              </a:rPr>
              <a:t>content, decision, generation, run_id</a:t>
            </a:r>
            <a:endParaRPr lang="en-US" sz="1600" dirty="0"/>
          </a:p>
        </p:txBody>
      </p:sp>
      <p:sp>
        <p:nvSpPr>
          <p:cNvPr id="9" name="Shape 6"/>
          <p:cNvSpPr/>
          <p:nvPr/>
        </p:nvSpPr>
        <p:spPr>
          <a:xfrm>
            <a:off x="3712007" y="2830068"/>
            <a:ext cx="246888" cy="0"/>
          </a:xfrm>
          <a:prstGeom prst="line">
            <a:avLst/>
          </a:prstGeom>
          <a:noFill/>
          <a:ln w="31750">
            <a:solidFill>
              <a:srgbClr val="1E2A5C"/>
            </a:solidFill>
            <a:prstDash val="solid"/>
            <a:tailEnd type="triangle"/>
          </a:ln>
        </p:spPr>
      </p:sp>
      <p:sp>
        <p:nvSpPr>
          <p:cNvPr id="10" name="Shape 7"/>
          <p:cNvSpPr/>
          <p:nvPr/>
        </p:nvSpPr>
        <p:spPr>
          <a:xfrm>
            <a:off x="3995471" y="1737360"/>
            <a:ext cx="3166110" cy="384048"/>
          </a:xfrm>
          <a:prstGeom prst="roundRect">
            <a:avLst>
              <a:gd name="adj" fmla="val 11905"/>
            </a:avLst>
          </a:prstGeom>
          <a:solidFill>
            <a:srgbClr val="2E74C6"/>
          </a:solidFill>
          <a:ln/>
        </p:spPr>
      </p:sp>
      <p:sp>
        <p:nvSpPr>
          <p:cNvPr id="11" name="Text 8"/>
          <p:cNvSpPr txBox="1"/>
          <p:nvPr/>
        </p:nvSpPr>
        <p:spPr>
          <a:xfrm>
            <a:off x="3995471" y="1737360"/>
            <a:ext cx="3166110" cy="384048"/>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② 설명 글 만들기</a:t>
            </a:r>
            <a:endParaRPr lang="en-US" sz="1600" dirty="0"/>
          </a:p>
        </p:txBody>
      </p:sp>
      <p:sp>
        <p:nvSpPr>
          <p:cNvPr id="12" name="Shape 9"/>
          <p:cNvSpPr/>
          <p:nvPr/>
        </p:nvSpPr>
        <p:spPr>
          <a:xfrm>
            <a:off x="3995471" y="2212848"/>
            <a:ext cx="3166110" cy="1234440"/>
          </a:xfrm>
          <a:prstGeom prst="roundRect">
            <a:avLst>
              <a:gd name="adj" fmla="val 5926"/>
            </a:avLst>
          </a:prstGeom>
          <a:solidFill>
            <a:srgbClr val="EEF3FA"/>
          </a:solidFill>
          <a:ln w="12700">
            <a:solidFill>
              <a:srgbClr val="2E74C6"/>
            </a:solidFill>
            <a:prstDash val="solid"/>
          </a:ln>
        </p:spPr>
      </p:sp>
      <p:sp>
        <p:nvSpPr>
          <p:cNvPr id="13" name="Text 10"/>
          <p:cNvSpPr txBox="1"/>
          <p:nvPr/>
        </p:nvSpPr>
        <p:spPr>
          <a:xfrm>
            <a:off x="3995471" y="2212848"/>
            <a:ext cx="3166110" cy="1234440"/>
          </a:xfrm>
          <a:prstGeom prst="rect">
            <a:avLst/>
          </a:prstGeom>
          <a:noFill/>
          <a:ln/>
        </p:spPr>
        <p:txBody>
          <a:bodyPr wrap="square" lIns="635" tIns="635" rIns="635" bIns="635" rtlCol="0" anchor="ctr"/>
          <a:lstStyle/>
          <a:p>
            <a:pPr algn="ctr" indent="0" marL="0">
              <a:spcAft>
                <a:spcPts val="100"/>
              </a:spcAft>
              <a:buNone/>
            </a:pPr>
            <a:r>
              <a:rPr lang="en-US" sz="1600" b="1" dirty="0">
                <a:solidFill>
                  <a:srgbClr val="1E2A5C"/>
                </a:solidFill>
                <a:latin typeface="Pretendard" pitchFamily="34" charset="0"/>
                <a:ea typeface="Pretendard" pitchFamily="34" charset="-122"/>
                <a:cs typeface="Pretendard" pitchFamily="34" charset="-120"/>
              </a:rPr>
              <a:t>Proposal: content=그러면 주문</a:t>
            </a:r>
            <a:endParaRPr lang="en-US" sz="1600" dirty="0"/>
          </a:p>
          <a:p>
            <a:pPr algn="ctr" indent="0" marL="0">
              <a:spcAft>
                <a:spcPts val="100"/>
              </a:spcAft>
              <a:buNone/>
            </a:pPr>
            <a:r>
              <a:rPr lang="en-US" sz="1500" dirty="0">
                <a:solidFill>
                  <a:srgbClr val="1E2A5C"/>
                </a:solidFill>
                <a:latin typeface="Pretendard" pitchFamily="34" charset="0"/>
                <a:ea typeface="Pretendard" pitchFamily="34" charset="-122"/>
                <a:cs typeface="Pretendard" pitchFamily="34" charset="-120"/>
              </a:rPr>
              <a:t>내역 화면으로 …, decision=수용</a:t>
            </a:r>
            <a:endParaRPr lang="en-US" sz="1600" dirty="0"/>
          </a:p>
        </p:txBody>
      </p:sp>
      <p:sp>
        <p:nvSpPr>
          <p:cNvPr id="14" name="Shape 11"/>
          <p:cNvSpPr/>
          <p:nvPr/>
        </p:nvSpPr>
        <p:spPr>
          <a:xfrm>
            <a:off x="7198157" y="2830068"/>
            <a:ext cx="246888" cy="0"/>
          </a:xfrm>
          <a:prstGeom prst="line">
            <a:avLst/>
          </a:prstGeom>
          <a:noFill/>
          <a:ln w="31750">
            <a:solidFill>
              <a:srgbClr val="1E2A5C"/>
            </a:solidFill>
            <a:prstDash val="solid"/>
            <a:tailEnd type="triangle"/>
          </a:ln>
        </p:spPr>
      </p:sp>
      <p:sp>
        <p:nvSpPr>
          <p:cNvPr id="15" name="Shape 12"/>
          <p:cNvSpPr/>
          <p:nvPr/>
        </p:nvSpPr>
        <p:spPr>
          <a:xfrm>
            <a:off x="7481621" y="1737360"/>
            <a:ext cx="3166110" cy="384048"/>
          </a:xfrm>
          <a:prstGeom prst="roundRect">
            <a:avLst>
              <a:gd name="adj" fmla="val 11905"/>
            </a:avLst>
          </a:prstGeom>
          <a:solidFill>
            <a:srgbClr val="1E2A5C"/>
          </a:solidFill>
          <a:ln/>
        </p:spPr>
      </p:sp>
      <p:sp>
        <p:nvSpPr>
          <p:cNvPr id="16" name="Text 13"/>
          <p:cNvSpPr txBox="1"/>
          <p:nvPr/>
        </p:nvSpPr>
        <p:spPr>
          <a:xfrm>
            <a:off x="7481621" y="1737360"/>
            <a:ext cx="3166110" cy="384048"/>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③ KURE-v2 임베딩</a:t>
            </a:r>
            <a:endParaRPr lang="en-US" sz="1600" dirty="0"/>
          </a:p>
        </p:txBody>
      </p:sp>
      <p:sp>
        <p:nvSpPr>
          <p:cNvPr id="17" name="Shape 14"/>
          <p:cNvSpPr/>
          <p:nvPr/>
        </p:nvSpPr>
        <p:spPr>
          <a:xfrm>
            <a:off x="7481621" y="2212848"/>
            <a:ext cx="3166110" cy="1234440"/>
          </a:xfrm>
          <a:prstGeom prst="roundRect">
            <a:avLst>
              <a:gd name="adj" fmla="val 5926"/>
            </a:avLst>
          </a:prstGeom>
          <a:solidFill>
            <a:srgbClr val="FFFFFF"/>
          </a:solidFill>
          <a:ln w="12700">
            <a:solidFill>
              <a:srgbClr val="D9E0EC"/>
            </a:solidFill>
            <a:prstDash val="solid"/>
          </a:ln>
        </p:spPr>
      </p:sp>
      <p:sp>
        <p:nvSpPr>
          <p:cNvPr id="18" name="Text 15"/>
          <p:cNvSpPr txBox="1"/>
          <p:nvPr/>
        </p:nvSpPr>
        <p:spPr>
          <a:xfrm>
            <a:off x="7481621" y="2212848"/>
            <a:ext cx="3166110" cy="1234440"/>
          </a:xfrm>
          <a:prstGeom prst="rect">
            <a:avLst/>
          </a:prstGeom>
          <a:noFill/>
          <a:ln/>
        </p:spPr>
        <p:txBody>
          <a:bodyPr wrap="square" lIns="635" tIns="635" rIns="635" bIns="635" rtlCol="0" anchor="ctr"/>
          <a:lstStyle/>
          <a:p>
            <a:pPr algn="ctr" indent="0" marL="0">
              <a:spcAft>
                <a:spcPts val="100"/>
              </a:spcAft>
              <a:buNone/>
            </a:pPr>
            <a:r>
              <a:rPr lang="en-US" sz="1600" b="1" dirty="0">
                <a:solidFill>
                  <a:srgbClr val="2B3242"/>
                </a:solidFill>
                <a:latin typeface="Pretendard" pitchFamily="34" charset="0"/>
                <a:ea typeface="Pretendard" pitchFamily="34" charset="-122"/>
                <a:cs typeface="Pretendard" pitchFamily="34" charset="-120"/>
              </a:rPr>
              <a:t>768차원 벡터</a:t>
            </a:r>
            <a:endParaRPr lang="en-US" sz="1600" dirty="0"/>
          </a:p>
          <a:p>
            <a:pPr algn="ctr" indent="0" marL="0">
              <a:spcAft>
                <a:spcPts val="100"/>
              </a:spcAft>
              <a:buNone/>
            </a:pPr>
            <a:r>
              <a:rPr lang="en-US" sz="1500" dirty="0">
                <a:solidFill>
                  <a:srgbClr val="2B3242"/>
                </a:solidFill>
                <a:latin typeface="Pretendard" pitchFamily="34" charset="0"/>
                <a:ea typeface="Pretendard" pitchFamily="34" charset="-122"/>
                <a:cs typeface="Pretendard" pitchFamily="34" charset="-120"/>
              </a:rPr>
              <a:t>검색엔진 S1과 같은 모델</a:t>
            </a:r>
            <a:endParaRPr lang="en-US" sz="1600" dirty="0"/>
          </a:p>
        </p:txBody>
      </p:sp>
      <p:sp>
        <p:nvSpPr>
          <p:cNvPr id="19" name="Shape 16"/>
          <p:cNvSpPr/>
          <p:nvPr/>
        </p:nvSpPr>
        <p:spPr>
          <a:xfrm>
            <a:off x="10684307" y="2830068"/>
            <a:ext cx="246888" cy="0"/>
          </a:xfrm>
          <a:prstGeom prst="line">
            <a:avLst/>
          </a:prstGeom>
          <a:noFill/>
          <a:ln w="31750">
            <a:solidFill>
              <a:srgbClr val="1E2A5C"/>
            </a:solidFill>
            <a:prstDash val="solid"/>
            <a:tailEnd type="triangle"/>
          </a:ln>
        </p:spPr>
      </p:sp>
      <p:sp>
        <p:nvSpPr>
          <p:cNvPr id="20" name="Shape 17"/>
          <p:cNvSpPr/>
          <p:nvPr/>
        </p:nvSpPr>
        <p:spPr>
          <a:xfrm>
            <a:off x="10967771" y="1737360"/>
            <a:ext cx="3166110" cy="384048"/>
          </a:xfrm>
          <a:prstGeom prst="roundRect">
            <a:avLst>
              <a:gd name="adj" fmla="val 11905"/>
            </a:avLst>
          </a:prstGeom>
          <a:solidFill>
            <a:srgbClr val="1E2A5C"/>
          </a:solidFill>
          <a:ln/>
        </p:spPr>
      </p:sp>
      <p:sp>
        <p:nvSpPr>
          <p:cNvPr id="21" name="Text 18"/>
          <p:cNvSpPr txBox="1"/>
          <p:nvPr/>
        </p:nvSpPr>
        <p:spPr>
          <a:xfrm>
            <a:off x="10967771" y="1737360"/>
            <a:ext cx="3166110" cy="384048"/>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④ 저장과 벡터 인덱스</a:t>
            </a:r>
            <a:endParaRPr lang="en-US" sz="1600" dirty="0"/>
          </a:p>
        </p:txBody>
      </p:sp>
      <p:sp>
        <p:nvSpPr>
          <p:cNvPr id="22" name="Shape 19"/>
          <p:cNvSpPr/>
          <p:nvPr/>
        </p:nvSpPr>
        <p:spPr>
          <a:xfrm>
            <a:off x="10967771" y="2212848"/>
            <a:ext cx="3166110" cy="1234440"/>
          </a:xfrm>
          <a:prstGeom prst="roundRect">
            <a:avLst>
              <a:gd name="adj" fmla="val 5926"/>
            </a:avLst>
          </a:prstGeom>
          <a:solidFill>
            <a:srgbClr val="FFFFFF"/>
          </a:solidFill>
          <a:ln w="12700">
            <a:solidFill>
              <a:srgbClr val="D9E0EC"/>
            </a:solidFill>
            <a:prstDash val="solid"/>
          </a:ln>
        </p:spPr>
      </p:sp>
      <p:sp>
        <p:nvSpPr>
          <p:cNvPr id="23" name="Text 20"/>
          <p:cNvSpPr txBox="1"/>
          <p:nvPr/>
        </p:nvSpPr>
        <p:spPr>
          <a:xfrm>
            <a:off x="10967771" y="2212848"/>
            <a:ext cx="3166110" cy="1234440"/>
          </a:xfrm>
          <a:prstGeom prst="rect">
            <a:avLst/>
          </a:prstGeom>
          <a:noFill/>
          <a:ln/>
        </p:spPr>
        <p:txBody>
          <a:bodyPr wrap="square" lIns="635" tIns="635" rIns="635" bIns="635" rtlCol="0" anchor="ctr"/>
          <a:lstStyle/>
          <a:p>
            <a:pPr algn="ctr" indent="0" marL="0">
              <a:spcAft>
                <a:spcPts val="100"/>
              </a:spcAft>
              <a:buNone/>
            </a:pPr>
            <a:r>
              <a:rPr lang="en-US" sz="1600" b="1" dirty="0">
                <a:solidFill>
                  <a:srgbClr val="2B3242"/>
                </a:solidFill>
                <a:latin typeface="Pretendard" pitchFamily="34" charset="0"/>
                <a:ea typeface="Pretendard" pitchFamily="34" charset="-122"/>
                <a:cs typeface="Pretendard" pitchFamily="34" charset="-120"/>
              </a:rPr>
              <a:t>엔티티의 embedding 속성</a:t>
            </a:r>
            <a:endParaRPr lang="en-US" sz="1600" dirty="0"/>
          </a:p>
          <a:p>
            <a:pPr algn="ctr" indent="0" marL="0">
              <a:spcAft>
                <a:spcPts val="100"/>
              </a:spcAft>
              <a:buNone/>
            </a:pPr>
            <a:r>
              <a:rPr lang="en-US" sz="1500" dirty="0">
                <a:solidFill>
                  <a:srgbClr val="2B3242"/>
                </a:solidFill>
                <a:latin typeface="Pretendard" pitchFamily="34" charset="0"/>
                <a:ea typeface="Pretendard" pitchFamily="34" charset="-122"/>
                <a:cs typeface="Pretendard" pitchFamily="34" charset="-120"/>
              </a:rPr>
              <a:t>kg_entity_embedding (코사인)</a:t>
            </a:r>
            <a:endParaRPr lang="en-US" sz="1600" dirty="0"/>
          </a:p>
        </p:txBody>
      </p:sp>
      <p:sp>
        <p:nvSpPr>
          <p:cNvPr id="24" name="Text 21"/>
          <p:cNvSpPr txBox="1"/>
          <p:nvPr/>
        </p:nvSpPr>
        <p:spPr>
          <a:xfrm>
            <a:off x="509321" y="3675888"/>
            <a:ext cx="6675120" cy="347472"/>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실제 설명 글 (v0 표본)</a:t>
            </a:r>
            <a:endParaRPr lang="en-US" sz="1500" dirty="0"/>
          </a:p>
        </p:txBody>
      </p:sp>
      <p:sp>
        <p:nvSpPr>
          <p:cNvPr id="25" name="Shape 22"/>
          <p:cNvSpPr/>
          <p:nvPr/>
        </p:nvSpPr>
        <p:spPr>
          <a:xfrm>
            <a:off x="509321" y="4059936"/>
            <a:ext cx="6675120" cy="1655064"/>
          </a:xfrm>
          <a:prstGeom prst="roundRect">
            <a:avLst>
              <a:gd name="adj" fmla="val 3315"/>
            </a:avLst>
          </a:prstGeom>
          <a:solidFill>
            <a:srgbClr val="F5F8FC"/>
          </a:solidFill>
          <a:ln w="12700">
            <a:solidFill>
              <a:srgbClr val="D9E0EC"/>
            </a:solidFill>
            <a:prstDash val="solid"/>
          </a:ln>
        </p:spPr>
      </p:sp>
      <p:sp>
        <p:nvSpPr>
          <p:cNvPr id="26" name="Text 23"/>
          <p:cNvSpPr txBox="1"/>
          <p:nvPr/>
        </p:nvSpPr>
        <p:spPr>
          <a:xfrm>
            <a:off x="619049" y="4133088"/>
            <a:ext cx="6455664" cy="1527048"/>
          </a:xfrm>
          <a:prstGeom prst="rect">
            <a:avLst/>
          </a:prstGeom>
          <a:noFill/>
          <a:ln/>
        </p:spPr>
        <p:txBody>
          <a:bodyPr wrap="square" lIns="254" tIns="254" rIns="254" bIns="254" rtlCol="0" anchor="t"/>
          <a:lstStyle/>
          <a:p>
            <a:pPr indent="0" marL="0">
              <a:lnSpc>
                <a:spcPct val="105000"/>
              </a:lnSpc>
              <a:buNone/>
            </a:pPr>
            <a:r>
              <a:rPr lang="en-US" sz="1500" dirty="0">
                <a:solidFill>
                  <a:srgbClr val="2B3242"/>
                </a:solidFill>
                <a:latin typeface="Pretendard" pitchFamily="34" charset="0"/>
                <a:ea typeface="Pretendard" pitchFamily="34" charset="-122"/>
                <a:cs typeface="Pretendard" pitchFamily="34" charset="-120"/>
              </a:rPr>
              <a:t>TermsDocument: effective_date=2027-01-15, supersedes=1.1, version=1.2</a:t>
            </a:r>
            <a:endParaRPr lang="en-US" sz="1500" dirty="0"/>
          </a:p>
          <a:p>
            <a:pPr indent="0" marL="0">
              <a:lnSpc>
                <a:spcPct val="105000"/>
              </a:lnSpc>
              <a:buNone/>
            </a:pPr>
            <a:r>
              <a:rPr lang="en-US" sz="1500" dirty="0">
                <a:solidFill>
                  <a:srgbClr val="2B3242"/>
                </a:solidFill>
                <a:latin typeface="Pretendard" pitchFamily="34" charset="0"/>
                <a:ea typeface="Pretendard" pitchFamily="34" charset="-122"/>
                <a:cs typeface="Pretendard" pitchFamily="34" charset="-120"/>
              </a:rPr>
              <a:t>Clause: clause_no=제13조, title=이용 원칙</a:t>
            </a:r>
            <a:endParaRPr lang="en-US" sz="1500" dirty="0"/>
          </a:p>
          <a:p>
            <a:pPr indent="0" marL="0">
              <a:lnSpc>
                <a:spcPct val="105000"/>
              </a:lnSpc>
              <a:buNone/>
            </a:pPr>
            <a:r>
              <a:rPr lang="en-US" sz="1500" dirty="0">
                <a:solidFill>
                  <a:srgbClr val="2B3242"/>
                </a:solidFill>
                <a:latin typeface="Pretendard" pitchFamily="34" charset="0"/>
                <a:ea typeface="Pretendard" pitchFamily="34" charset="-122"/>
                <a:cs typeface="Pretendard" pitchFamily="34" charset="-120"/>
              </a:rPr>
              <a:t>Requirement: description=카드는 회원 본인이 유효기간과 이용한도 안에서 사용합니다.</a:t>
            </a:r>
            <a:endParaRPr lang="en-US" sz="1500" dirty="0"/>
          </a:p>
        </p:txBody>
      </p:sp>
      <p:sp>
        <p:nvSpPr>
          <p:cNvPr id="27" name="Text 24"/>
          <p:cNvSpPr txBox="1"/>
          <p:nvPr/>
        </p:nvSpPr>
        <p:spPr>
          <a:xfrm>
            <a:off x="7504481" y="3675888"/>
            <a:ext cx="6629400" cy="347472"/>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어디에 쓰나: 엔티티 직접 검색 (조회 예시)</a:t>
            </a:r>
            <a:endParaRPr lang="en-US" sz="1500" dirty="0"/>
          </a:p>
        </p:txBody>
      </p:sp>
      <p:sp>
        <p:nvSpPr>
          <p:cNvPr id="28" name="Shape 25"/>
          <p:cNvSpPr/>
          <p:nvPr/>
        </p:nvSpPr>
        <p:spPr>
          <a:xfrm>
            <a:off x="7504481" y="4059936"/>
            <a:ext cx="6629400" cy="420624"/>
          </a:xfrm>
          <a:prstGeom prst="roundRect">
            <a:avLst>
              <a:gd name="adj" fmla="val 17391"/>
            </a:avLst>
          </a:prstGeom>
          <a:solidFill>
            <a:srgbClr val="EEF3FA"/>
          </a:solidFill>
          <a:ln w="12700">
            <a:solidFill>
              <a:srgbClr val="2E74C6"/>
            </a:solidFill>
            <a:prstDash val="solid"/>
          </a:ln>
        </p:spPr>
      </p:sp>
      <p:sp>
        <p:nvSpPr>
          <p:cNvPr id="29" name="Text 26"/>
          <p:cNvSpPr txBox="1"/>
          <p:nvPr/>
        </p:nvSpPr>
        <p:spPr>
          <a:xfrm>
            <a:off x="7504481" y="4059936"/>
            <a:ext cx="6629400" cy="420624"/>
          </a:xfrm>
          <a:prstGeom prst="rect">
            <a:avLst/>
          </a:prstGeom>
          <a:noFill/>
          <a:ln/>
        </p:spPr>
        <p:txBody>
          <a:bodyPr wrap="square" lIns="1016" tIns="1016" rIns="1016" bIns="1016" rtlCol="0" anchor="ctr"/>
          <a:lstStyle/>
          <a:p>
            <a:pPr algn="ctr" indent="0" marL="0">
              <a:buNone/>
            </a:pPr>
            <a:r>
              <a:rPr lang="en-US" sz="1500" b="1" dirty="0">
                <a:solidFill>
                  <a:srgbClr val="1E2A5C"/>
                </a:solidFill>
                <a:latin typeface="Pretendard" pitchFamily="34" charset="0"/>
                <a:ea typeface="Pretendard" pitchFamily="34" charset="-122"/>
                <a:cs typeface="Pretendard" pitchFamily="34" charset="-120"/>
              </a:rPr>
              <a:t>질문: 할부 수수료는 언제 알려 주나요?</a:t>
            </a:r>
            <a:endParaRPr lang="en-US" sz="1500" dirty="0"/>
          </a:p>
        </p:txBody>
      </p:sp>
      <p:sp>
        <p:nvSpPr>
          <p:cNvPr id="30" name="Shape 27"/>
          <p:cNvSpPr/>
          <p:nvPr/>
        </p:nvSpPr>
        <p:spPr>
          <a:xfrm>
            <a:off x="10819181" y="4498848"/>
            <a:ext cx="0" cy="164592"/>
          </a:xfrm>
          <a:prstGeom prst="line">
            <a:avLst/>
          </a:prstGeom>
          <a:noFill/>
          <a:ln w="25400">
            <a:solidFill>
              <a:srgbClr val="1E2A5C"/>
            </a:solidFill>
            <a:prstDash val="solid"/>
            <a:tailEnd type="triangle"/>
          </a:ln>
        </p:spPr>
      </p:sp>
      <p:sp>
        <p:nvSpPr>
          <p:cNvPr id="31" name="Shape 28"/>
          <p:cNvSpPr/>
          <p:nvPr/>
        </p:nvSpPr>
        <p:spPr>
          <a:xfrm>
            <a:off x="7504481" y="4700016"/>
            <a:ext cx="6629400" cy="402336"/>
          </a:xfrm>
          <a:prstGeom prst="roundRect">
            <a:avLst>
              <a:gd name="adj" fmla="val 18182"/>
            </a:avLst>
          </a:prstGeom>
          <a:solidFill>
            <a:srgbClr val="FFFFFF"/>
          </a:solidFill>
          <a:ln w="12700">
            <a:solidFill>
              <a:srgbClr val="D9E0EC"/>
            </a:solidFill>
            <a:prstDash val="solid"/>
          </a:ln>
        </p:spPr>
      </p:sp>
      <p:sp>
        <p:nvSpPr>
          <p:cNvPr id="32" name="Text 29"/>
          <p:cNvSpPr txBox="1"/>
          <p:nvPr/>
        </p:nvSpPr>
        <p:spPr>
          <a:xfrm>
            <a:off x="7595921" y="4700016"/>
            <a:ext cx="2011680" cy="402336"/>
          </a:xfrm>
          <a:prstGeom prst="rect">
            <a:avLst/>
          </a:prstGeom>
          <a:noFill/>
          <a:ln/>
        </p:spPr>
        <p:txBody>
          <a:bodyPr wrap="square" lIns="762" tIns="762" rIns="762" bIns="762"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Requirement 0.866</a:t>
            </a:r>
            <a:endParaRPr lang="en-US" sz="1400" dirty="0"/>
          </a:p>
        </p:txBody>
      </p:sp>
      <p:sp>
        <p:nvSpPr>
          <p:cNvPr id="33" name="Text 30"/>
          <p:cNvSpPr txBox="1"/>
          <p:nvPr/>
        </p:nvSpPr>
        <p:spPr>
          <a:xfrm>
            <a:off x="9607601" y="4700016"/>
            <a:ext cx="4434840" cy="402336"/>
          </a:xfrm>
          <a:prstGeom prst="rect">
            <a:avLst/>
          </a:prstGeom>
          <a:noFill/>
          <a:ln/>
        </p:spPr>
        <p:txBody>
          <a:bodyPr wrap="square" lIns="762" tIns="762" rIns="762" bIns="762"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할부 거래의 개월 수, 회차별 금액과 가상 수수료율은 …</a:t>
            </a:r>
            <a:endParaRPr lang="en-US" sz="1400" dirty="0"/>
          </a:p>
        </p:txBody>
      </p:sp>
      <p:sp>
        <p:nvSpPr>
          <p:cNvPr id="34" name="Shape 31"/>
          <p:cNvSpPr/>
          <p:nvPr/>
        </p:nvSpPr>
        <p:spPr>
          <a:xfrm>
            <a:off x="7504481" y="5157216"/>
            <a:ext cx="6629400" cy="402336"/>
          </a:xfrm>
          <a:prstGeom prst="roundRect">
            <a:avLst>
              <a:gd name="adj" fmla="val 18182"/>
            </a:avLst>
          </a:prstGeom>
          <a:solidFill>
            <a:srgbClr val="FFFFFF"/>
          </a:solidFill>
          <a:ln w="12700">
            <a:solidFill>
              <a:srgbClr val="D9E0EC"/>
            </a:solidFill>
            <a:prstDash val="solid"/>
          </a:ln>
        </p:spPr>
      </p:sp>
      <p:sp>
        <p:nvSpPr>
          <p:cNvPr id="35" name="Text 32"/>
          <p:cNvSpPr txBox="1"/>
          <p:nvPr/>
        </p:nvSpPr>
        <p:spPr>
          <a:xfrm>
            <a:off x="7595921" y="5157216"/>
            <a:ext cx="2011680" cy="402336"/>
          </a:xfrm>
          <a:prstGeom prst="rect">
            <a:avLst/>
          </a:prstGeom>
          <a:noFill/>
          <a:ln/>
        </p:spPr>
        <p:txBody>
          <a:bodyPr wrap="square" lIns="762" tIns="762" rIns="762" bIns="762"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Clause 0.836</a:t>
            </a:r>
            <a:endParaRPr lang="en-US" sz="1400" dirty="0"/>
          </a:p>
        </p:txBody>
      </p:sp>
      <p:sp>
        <p:nvSpPr>
          <p:cNvPr id="36" name="Text 33"/>
          <p:cNvSpPr txBox="1"/>
          <p:nvPr/>
        </p:nvSpPr>
        <p:spPr>
          <a:xfrm>
            <a:off x="9607601" y="5157216"/>
            <a:ext cx="4434840" cy="402336"/>
          </a:xfrm>
          <a:prstGeom prst="rect">
            <a:avLst/>
          </a:prstGeom>
          <a:noFill/>
          <a:ln/>
        </p:spPr>
        <p:txBody>
          <a:bodyPr wrap="square" lIns="762" tIns="762" rIns="762" bIns="762"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할부 거래</a:t>
            </a:r>
            <a:endParaRPr lang="en-US" sz="1400" dirty="0"/>
          </a:p>
        </p:txBody>
      </p:sp>
      <p:sp>
        <p:nvSpPr>
          <p:cNvPr id="37" name="Text 34"/>
          <p:cNvSpPr txBox="1"/>
          <p:nvPr/>
        </p:nvSpPr>
        <p:spPr>
          <a:xfrm>
            <a:off x="7504481" y="5632704"/>
            <a:ext cx="6629400" cy="82296"/>
          </a:xfrm>
          <a:prstGeom prst="rect">
            <a:avLst/>
          </a:prstGeom>
          <a:noFill/>
          <a:ln/>
        </p:spPr>
        <p:txBody>
          <a:bodyPr wrap="square" lIns="762" tIns="762" rIns="762" bIns="762"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 찾은 엔티티를 시작 엔티티로 관계를 따라 그래프 탐색</a:t>
            </a:r>
            <a:endParaRPr lang="en-US" sz="1400" dirty="0"/>
          </a:p>
        </p:txBody>
      </p:sp>
      <p:sp>
        <p:nvSpPr>
          <p:cNvPr id="38" name="Shape 35"/>
          <p:cNvSpPr/>
          <p:nvPr/>
        </p:nvSpPr>
        <p:spPr>
          <a:xfrm>
            <a:off x="509321" y="5943600"/>
            <a:ext cx="4419600" cy="1325880"/>
          </a:xfrm>
          <a:prstGeom prst="roundRect">
            <a:avLst>
              <a:gd name="adj" fmla="val 5517"/>
            </a:avLst>
          </a:prstGeom>
          <a:solidFill>
            <a:srgbClr val="F5F8FC"/>
          </a:solidFill>
          <a:ln w="12700">
            <a:solidFill>
              <a:srgbClr val="D9E0EC"/>
            </a:solidFill>
            <a:prstDash val="solid"/>
          </a:ln>
        </p:spPr>
      </p:sp>
      <p:sp>
        <p:nvSpPr>
          <p:cNvPr id="39" name="Shape 36"/>
          <p:cNvSpPr/>
          <p:nvPr/>
        </p:nvSpPr>
        <p:spPr>
          <a:xfrm>
            <a:off x="619049" y="6080760"/>
            <a:ext cx="329184" cy="329184"/>
          </a:xfrm>
          <a:prstGeom prst="roundRect">
            <a:avLst>
              <a:gd name="adj" fmla="val 13889"/>
            </a:avLst>
          </a:prstGeom>
          <a:solidFill>
            <a:srgbClr val="2E74C6"/>
          </a:solidFill>
          <a:ln/>
        </p:spPr>
      </p:sp>
      <p:sp>
        <p:nvSpPr>
          <p:cNvPr id="40" name="Text 37"/>
          <p:cNvSpPr txBox="1"/>
          <p:nvPr/>
        </p:nvSpPr>
        <p:spPr>
          <a:xfrm>
            <a:off x="619049" y="6080760"/>
            <a:ext cx="329184" cy="329184"/>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41" name="Text 38"/>
          <p:cNvSpPr txBox="1"/>
          <p:nvPr/>
        </p:nvSpPr>
        <p:spPr>
          <a:xfrm>
            <a:off x="1012241" y="5998464"/>
            <a:ext cx="3825240" cy="502920"/>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엔티티만 임베딩</a:t>
            </a:r>
            <a:endParaRPr lang="en-US" sz="1500" dirty="0"/>
          </a:p>
        </p:txBody>
      </p:sp>
      <p:sp>
        <p:nvSpPr>
          <p:cNvPr id="42" name="Text 39"/>
          <p:cNvSpPr txBox="1"/>
          <p:nvPr/>
        </p:nvSpPr>
        <p:spPr>
          <a:xfrm>
            <a:off x="646481" y="6528816"/>
            <a:ext cx="4145280" cy="685800"/>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청크 노드는 뺌. 청크 벡터는 검색엔진에 이미 있음</a:t>
            </a:r>
            <a:endParaRPr lang="en-US" sz="1400" dirty="0"/>
          </a:p>
        </p:txBody>
      </p:sp>
      <p:sp>
        <p:nvSpPr>
          <p:cNvPr id="43" name="Shape 40"/>
          <p:cNvSpPr/>
          <p:nvPr/>
        </p:nvSpPr>
        <p:spPr>
          <a:xfrm>
            <a:off x="5111801" y="5943600"/>
            <a:ext cx="4419600" cy="1325880"/>
          </a:xfrm>
          <a:prstGeom prst="roundRect">
            <a:avLst>
              <a:gd name="adj" fmla="val 5517"/>
            </a:avLst>
          </a:prstGeom>
          <a:solidFill>
            <a:srgbClr val="F5F8FC"/>
          </a:solidFill>
          <a:ln w="12700">
            <a:solidFill>
              <a:srgbClr val="D9E0EC"/>
            </a:solidFill>
            <a:prstDash val="solid"/>
          </a:ln>
        </p:spPr>
      </p:sp>
      <p:sp>
        <p:nvSpPr>
          <p:cNvPr id="44" name="Shape 41"/>
          <p:cNvSpPr/>
          <p:nvPr/>
        </p:nvSpPr>
        <p:spPr>
          <a:xfrm>
            <a:off x="5221529" y="6080760"/>
            <a:ext cx="329184" cy="329184"/>
          </a:xfrm>
          <a:prstGeom prst="roundRect">
            <a:avLst>
              <a:gd name="adj" fmla="val 13889"/>
            </a:avLst>
          </a:prstGeom>
          <a:solidFill>
            <a:srgbClr val="2E74C6"/>
          </a:solidFill>
          <a:ln/>
        </p:spPr>
      </p:sp>
      <p:sp>
        <p:nvSpPr>
          <p:cNvPr id="45" name="Text 42"/>
          <p:cNvSpPr txBox="1"/>
          <p:nvPr/>
        </p:nvSpPr>
        <p:spPr>
          <a:xfrm>
            <a:off x="5221529" y="6080760"/>
            <a:ext cx="329184" cy="329184"/>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2</a:t>
            </a:r>
            <a:endParaRPr lang="en-US" sz="1500" dirty="0"/>
          </a:p>
        </p:txBody>
      </p:sp>
      <p:sp>
        <p:nvSpPr>
          <p:cNvPr id="46" name="Text 43"/>
          <p:cNvSpPr txBox="1"/>
          <p:nvPr/>
        </p:nvSpPr>
        <p:spPr>
          <a:xfrm>
            <a:off x="5614721" y="5998464"/>
            <a:ext cx="3825240" cy="502920"/>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관리용 속성은 뺌</a:t>
            </a:r>
            <a:endParaRPr lang="en-US" sz="1500" dirty="0"/>
          </a:p>
        </p:txBody>
      </p:sp>
      <p:sp>
        <p:nvSpPr>
          <p:cNvPr id="47" name="Text 44"/>
          <p:cNvSpPr txBox="1"/>
          <p:nvPr/>
        </p:nvSpPr>
        <p:spPr>
          <a:xfrm>
            <a:off x="5248961" y="6528816"/>
            <a:ext cx="4145280" cy="685800"/>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generation, run_id는 설명 글에 넣지 않음. 속성은 이름순</a:t>
            </a:r>
            <a:endParaRPr lang="en-US" sz="1400" dirty="0"/>
          </a:p>
        </p:txBody>
      </p:sp>
      <p:sp>
        <p:nvSpPr>
          <p:cNvPr id="48" name="Shape 45"/>
          <p:cNvSpPr/>
          <p:nvPr/>
        </p:nvSpPr>
        <p:spPr>
          <a:xfrm>
            <a:off x="9714281" y="5943600"/>
            <a:ext cx="4419600" cy="1325880"/>
          </a:xfrm>
          <a:prstGeom prst="roundRect">
            <a:avLst>
              <a:gd name="adj" fmla="val 5517"/>
            </a:avLst>
          </a:prstGeom>
          <a:solidFill>
            <a:srgbClr val="F5F8FC"/>
          </a:solidFill>
          <a:ln w="12700">
            <a:solidFill>
              <a:srgbClr val="D9E0EC"/>
            </a:solidFill>
            <a:prstDash val="solid"/>
          </a:ln>
        </p:spPr>
      </p:sp>
      <p:sp>
        <p:nvSpPr>
          <p:cNvPr id="49" name="Shape 46"/>
          <p:cNvSpPr/>
          <p:nvPr/>
        </p:nvSpPr>
        <p:spPr>
          <a:xfrm>
            <a:off x="9824009" y="6080760"/>
            <a:ext cx="329184" cy="329184"/>
          </a:xfrm>
          <a:prstGeom prst="roundRect">
            <a:avLst>
              <a:gd name="adj" fmla="val 13889"/>
            </a:avLst>
          </a:prstGeom>
          <a:solidFill>
            <a:srgbClr val="2E74C6"/>
          </a:solidFill>
          <a:ln/>
        </p:spPr>
      </p:sp>
      <p:sp>
        <p:nvSpPr>
          <p:cNvPr id="50" name="Text 47"/>
          <p:cNvSpPr txBox="1"/>
          <p:nvPr/>
        </p:nvSpPr>
        <p:spPr>
          <a:xfrm>
            <a:off x="9824009" y="6080760"/>
            <a:ext cx="329184" cy="329184"/>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51" name="Text 48"/>
          <p:cNvSpPr txBox="1"/>
          <p:nvPr/>
        </p:nvSpPr>
        <p:spPr>
          <a:xfrm>
            <a:off x="10217201" y="5998464"/>
            <a:ext cx="3825240" cy="502920"/>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K5 병합 뒤에 임베딩</a:t>
            </a:r>
            <a:endParaRPr lang="en-US" sz="1500" dirty="0"/>
          </a:p>
        </p:txBody>
      </p:sp>
      <p:sp>
        <p:nvSpPr>
          <p:cNvPr id="52" name="Text 49"/>
          <p:cNvSpPr txBox="1"/>
          <p:nvPr/>
        </p:nvSpPr>
        <p:spPr>
          <a:xfrm>
            <a:off x="9851441" y="6528816"/>
            <a:ext cx="4145280" cy="685800"/>
          </a:xfrm>
          <a:prstGeom prst="rect">
            <a:avLst/>
          </a:prstGeom>
          <a:noFill/>
          <a:ln/>
        </p:spPr>
        <p:txBody>
          <a:bodyPr wrap="square" lIns="762" tIns="762" rIns="762" bIns="762" rtlCol="0" anchor="t"/>
          <a:lstStyle/>
          <a:p>
            <a:pPr algn="l" indent="0" marL="0">
              <a:buNone/>
            </a:pPr>
            <a:r>
              <a:rPr lang="en-US" sz="1400" dirty="0">
                <a:solidFill>
                  <a:srgbClr val="3B4557"/>
                </a:solidFill>
                <a:latin typeface="Pretendard" pitchFamily="34" charset="0"/>
                <a:ea typeface="Pretendard" pitchFamily="34" charset="-122"/>
                <a:cs typeface="Pretendard" pitchFamily="34" charset="-120"/>
              </a:rPr>
              <a:t>합쳐져 사라질 엔티티는 임베딩하지 않고, 남은 엔티티의 속성과 벡터가 맞게 함</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K6 노드 설명 임베딩 코드 (kg_build.py)</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임베딩이 없는 엔티티를 읽어 설명 글을 만들고, 한 번에 임베딩해 저장한 뒤 벡터 인덱스를 만듦</a:t>
            </a:r>
            <a:endParaRPr lang="en-US" sz="1800" dirty="0"/>
          </a:p>
        </p:txBody>
      </p:sp>
      <p:sp>
        <p:nvSpPr>
          <p:cNvPr id="5" name="Shape 2"/>
          <p:cNvSpPr/>
          <p:nvPr/>
        </p:nvSpPr>
        <p:spPr>
          <a:xfrm>
            <a:off x="509321" y="1737360"/>
            <a:ext cx="7360920" cy="5532120"/>
          </a:xfrm>
          <a:prstGeom prst="roundRect">
            <a:avLst>
              <a:gd name="adj" fmla="val 992"/>
            </a:avLst>
          </a:prstGeom>
          <a:solidFill>
            <a:srgbClr val="F5F8FC"/>
          </a:solidFill>
          <a:ln w="12700">
            <a:solidFill>
              <a:srgbClr val="D9E0EC"/>
            </a:solidFill>
            <a:prstDash val="solid"/>
          </a:ln>
        </p:spPr>
      </p:sp>
      <p:sp>
        <p:nvSpPr>
          <p:cNvPr id="6" name="Text 3"/>
          <p:cNvSpPr txBox="1"/>
          <p:nvPr/>
        </p:nvSpPr>
        <p:spPr>
          <a:xfrm>
            <a:off x="619049" y="1810512"/>
            <a:ext cx="7141464" cy="310896"/>
          </a:xfrm>
          <a:prstGeom prst="rect">
            <a:avLst/>
          </a:prstGeom>
          <a:noFill/>
          <a:ln/>
        </p:spPr>
        <p:txBody>
          <a:bodyPr wrap="square" lIns="762" tIns="762" rIns="762" bIns="762" rtlCol="0" anchor="ctr"/>
          <a:lstStyle/>
          <a:p>
            <a:pPr algn="l" indent="0" marL="0">
              <a:buNone/>
            </a:pPr>
            <a:r>
              <a:rPr lang="en-US" sz="1400" b="1" dirty="0">
                <a:solidFill>
                  <a:srgbClr val="7C8598"/>
                </a:solidFill>
                <a:latin typeface="Pretendard" pitchFamily="34" charset="0"/>
                <a:ea typeface="Pretendard" pitchFamily="34" charset="-122"/>
                <a:cs typeface="Pretendard" pitchFamily="34" charset="-120"/>
              </a:rPr>
              <a:t>k6_embed_descriptions (kg_build.py 발췌)</a:t>
            </a:r>
            <a:endParaRPr lang="en-US" sz="1400" dirty="0"/>
          </a:p>
        </p:txBody>
      </p:sp>
      <p:sp>
        <p:nvSpPr>
          <p:cNvPr id="7" name="Text 4"/>
          <p:cNvSpPr txBox="1"/>
          <p:nvPr/>
        </p:nvSpPr>
        <p:spPr>
          <a:xfrm>
            <a:off x="619049" y="2139696"/>
            <a:ext cx="7141464" cy="5074920"/>
          </a:xfrm>
          <a:prstGeom prst="rect">
            <a:avLst/>
          </a:prstGeom>
          <a:noFill/>
          <a:ln/>
        </p:spPr>
        <p:txBody>
          <a:bodyPr wrap="square" lIns="254" tIns="254" rIns="254" bIns="254" rtlCol="0" anchor="t"/>
          <a:lstStyle/>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SYSTEM_PROPS = {"generation", "run_id", "embedding"}   # 설명에서 뺌</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def k6_embed_descriptions(driver, generation):</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records, _, _ = driver.execute_query(</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"MATCH (n:__Entity__ {generation: $g}) WHERE n.embedding IS NULL "</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"RETURN elementId(n) AS id, "</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"[l IN labels(n) WHERE NOT l STARTS WITH '__'][0] AS label, "</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"properties(n) AS props", g=generation)</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rows = [dict(r) for r in records]</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texts = [f"{r['label']}: " + ", ".join(</a:t>
            </a:r>
            <a:pPr indent="0" marL="0">
              <a:lnSpc>
                <a:spcPct val="105000"/>
              </a:lnSpc>
              <a:buNone/>
            </a:pP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f"{k}={v}" for k, v in sorted(r["props"].items())</a:t>
            </a:r>
            <a:pPr indent="0" marL="0">
              <a:lnSpc>
                <a:spcPct val="105000"/>
              </a:lnSpc>
              <a:buNone/>
            </a:pP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if k not in SYSTEM_PROPS) for r in rows]</a:t>
            </a:r>
            <a:pPr indent="0" marL="0">
              <a:lnSpc>
                <a:spcPct val="105000"/>
              </a:lnSpc>
              <a:buNone/>
            </a:pP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vectors = embed(texts)</a:t>
            </a:r>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 KURE-v2, 768차원</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driver.execute_query(</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"UNWIND $rows AS row MATCH (n) WHERE elementId(n) = row.id "</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"CALL db.create.setNodeVectorProperty(n, 'embedding', row.vec)",</a:t>
            </a:r>
            <a:pPr indent="0" marL="0">
              <a:lnSpc>
                <a:spcPct val="105000"/>
              </a:lnSpc>
              <a:buNone/>
            </a:pP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rows=[{"id": r["id"], "vec": v} for r, v in zip(rows, vectors)])</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driver.execute_query(</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"CREATE VECTOR INDEX kg_entity_embedding IF NOT EXISTS "</a:t>
            </a:r>
            <a:pPr indent="0" marL="0">
              <a:lnSpc>
                <a:spcPct val="105000"/>
              </a:lnSpc>
              <a:buNone/>
            </a:pP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a:t>
            </a:r>
            <a:pPr indent="0" marL="0">
              <a:lnSpc>
                <a:spcPct val="105000"/>
              </a:lnSpc>
              <a:buNone/>
            </a:pPr>
            <a:r>
              <a:rPr lang="en-US" sz="1400" b="1" dirty="0">
                <a:solidFill>
                  <a:srgbClr val="2B3242"/>
                </a:solidFill>
                <a:latin typeface="Pretendard" pitchFamily="34" charset="0"/>
                <a:ea typeface="Pretendard" pitchFamily="34" charset="-122"/>
                <a:cs typeface="Pretendard" pitchFamily="34" charset="-120"/>
              </a:rPr>
              <a:t>"FOR (n:__Entity__) ON n.embedding "</a:t>
            </a:r>
            <a:pPr indent="0" marL="0">
              <a:lnSpc>
                <a:spcPct val="105000"/>
              </a:lnSpc>
              <a:buNone/>
            </a:pP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"OPTIONS {indexConfig: {`vector.dimensions`: $d, "</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"`vector.similarity_function`: 'cosine'}}", d=config.EMBED_DIMENSION)</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return len(rows)</a:t>
            </a:r>
            <a:endParaRPr lang="en-US" sz="1400" dirty="0"/>
          </a:p>
        </p:txBody>
      </p:sp>
      <p:sp>
        <p:nvSpPr>
          <p:cNvPr id="8" name="Shape 5"/>
          <p:cNvSpPr/>
          <p:nvPr/>
        </p:nvSpPr>
        <p:spPr>
          <a:xfrm>
            <a:off x="8144561" y="1737360"/>
            <a:ext cx="5989320" cy="2103120"/>
          </a:xfrm>
          <a:prstGeom prst="roundRect">
            <a:avLst>
              <a:gd name="adj" fmla="val 2609"/>
            </a:avLst>
          </a:prstGeom>
          <a:solidFill>
            <a:srgbClr val="F5F8FC"/>
          </a:solidFill>
          <a:ln w="12700">
            <a:solidFill>
              <a:srgbClr val="D9E0EC"/>
            </a:solidFill>
            <a:prstDash val="solid"/>
          </a:ln>
        </p:spPr>
      </p:sp>
      <p:sp>
        <p:nvSpPr>
          <p:cNvPr id="9" name="Text 6"/>
          <p:cNvSpPr txBox="1"/>
          <p:nvPr/>
        </p:nvSpPr>
        <p:spPr>
          <a:xfrm>
            <a:off x="8254289" y="1810512"/>
            <a:ext cx="5769864" cy="310896"/>
          </a:xfrm>
          <a:prstGeom prst="rect">
            <a:avLst/>
          </a:prstGeom>
          <a:noFill/>
          <a:ln/>
        </p:spPr>
        <p:txBody>
          <a:bodyPr wrap="square" lIns="762" tIns="762" rIns="762" bIns="762" rtlCol="0" anchor="ctr"/>
          <a:lstStyle/>
          <a:p>
            <a:pPr algn="l" indent="0" marL="0">
              <a:buNone/>
            </a:pPr>
            <a:r>
              <a:rPr lang="en-US" sz="1400" b="1" dirty="0">
                <a:solidFill>
                  <a:srgbClr val="7C8598"/>
                </a:solidFill>
                <a:latin typeface="Pretendard" pitchFamily="34" charset="0"/>
                <a:ea typeface="Pretendard" pitchFamily="34" charset="-122"/>
                <a:cs typeface="Pretendard" pitchFamily="34" charset="-120"/>
              </a:rPr>
              <a:t>만들어진 설명 글 (v0 표본)</a:t>
            </a:r>
            <a:endParaRPr lang="en-US" sz="1400" dirty="0"/>
          </a:p>
        </p:txBody>
      </p:sp>
      <p:sp>
        <p:nvSpPr>
          <p:cNvPr id="10" name="Text 7"/>
          <p:cNvSpPr txBox="1"/>
          <p:nvPr/>
        </p:nvSpPr>
        <p:spPr>
          <a:xfrm>
            <a:off x="8254289" y="2139696"/>
            <a:ext cx="5769864" cy="1645920"/>
          </a:xfrm>
          <a:prstGeom prst="rect">
            <a:avLst/>
          </a:prstGeom>
          <a:noFill/>
          <a:ln/>
        </p:spPr>
        <p:txBody>
          <a:bodyPr wrap="square" lIns="254" tIns="254" rIns="254" bIns="254" rtlCol="0" anchor="t"/>
          <a:lstStyle/>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TermsDocument: effective_date=2027-01-15, supersedes=1.1, version=1.2</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Clause: clause_no=제13조, title=이용 원칙</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Requirement: description=카드는 회원 본인이 유효기간과 이용한도 안에서 사용합니다.</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Proposal: content=화면을 같이 보면서 그 기간이 적힌 자리를 짚어 드릴까요?, decision=수용, reason=…</a:t>
            </a:r>
            <a:endParaRPr lang="en-US" sz="1400" dirty="0"/>
          </a:p>
        </p:txBody>
      </p:sp>
      <p:sp>
        <p:nvSpPr>
          <p:cNvPr id="11" name="Text 8"/>
          <p:cNvSpPr txBox="1"/>
          <p:nvPr/>
        </p:nvSpPr>
        <p:spPr>
          <a:xfrm>
            <a:off x="8144561" y="3950208"/>
            <a:ext cx="5989320" cy="347472"/>
          </a:xfrm>
          <a:prstGeom prst="rect">
            <a:avLst/>
          </a:prstGeom>
          <a:noFill/>
          <a:ln/>
        </p:spPr>
        <p:txBody>
          <a:bodyPr wrap="square" lIns="762" tIns="762" rIns="762" bIns="762" rtlCol="0" anchor="ctr"/>
          <a:lstStyle/>
          <a:p>
            <a:pPr algn="l" indent="0" marL="0">
              <a:buNone/>
            </a:pPr>
            <a:r>
              <a:rPr lang="en-US" sz="1500" b="1" dirty="0">
                <a:solidFill>
                  <a:srgbClr val="1E2A5C"/>
                </a:solidFill>
                <a:latin typeface="Pretendard" pitchFamily="34" charset="0"/>
                <a:ea typeface="Pretendard" pitchFamily="34" charset="-122"/>
                <a:cs typeface="Pretendard" pitchFamily="34" charset="-120"/>
              </a:rPr>
              <a:t>벡터 인덱스 (SHOW VECTOR INDEXES)</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44561" y="4334256"/>
          <a:ext cx="5989320" cy="914400"/>
        </p:xfrm>
        <a:graphic>
          <a:graphicData uri="http://schemas.openxmlformats.org/drawingml/2006/table">
            <a:tbl>
              <a:tblPr/>
              <a:tblGrid>
                <a:gridCol w="1280160"/>
                <a:gridCol w="4709160"/>
              </a:tblGrid>
              <a:tr h="384048">
                <a:tc>
                  <a:txBody>
                    <a:bodyPr/>
                    <a:lstStyle/>
                    <a:p>
                      <a:pPr algn="ctr" indent="0" marL="0">
                        <a:buNone/>
                      </a:pPr>
                      <a:r>
                        <a:rPr lang="en-US" sz="1500" b="1" dirty="0">
                          <a:solidFill>
                            <a:srgbClr val="1E2A5C"/>
                          </a:solidFill>
                          <a:latin typeface="Pretendard" pitchFamily="34" charset="0"/>
                          <a:ea typeface="Pretendard" pitchFamily="34" charset="-122"/>
                          <a:cs typeface="Pretendard" pitchFamily="34" charset="-120"/>
                        </a:rPr>
                        <a:t>항목</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algn="ctr" indent="0" marL="0">
                        <a:buNone/>
                      </a:pPr>
                      <a:r>
                        <a:rPr lang="en-US" sz="1500" b="1" dirty="0">
                          <a:solidFill>
                            <a:srgbClr val="1E2A5C"/>
                          </a:solidFill>
                          <a:latin typeface="Pretendard" pitchFamily="34" charset="0"/>
                          <a:ea typeface="Pretendard" pitchFamily="34" charset="-122"/>
                          <a:cs typeface="Pretendard" pitchFamily="34" charset="-120"/>
                        </a:rPr>
                        <a:t>값</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384048">
                <a:tc>
                  <a:txBody>
                    <a:bodyPr/>
                    <a:lstStyle/>
                    <a:p>
                      <a:pPr indent="0" marL="0">
                        <a:buNone/>
                      </a:pPr>
                      <a:r>
                        <a:rPr lang="en-US" sz="1500" b="1" dirty="0">
                          <a:solidFill>
                            <a:srgbClr val="3B4557"/>
                          </a:solidFill>
                          <a:latin typeface="Pretendard" pitchFamily="34" charset="0"/>
                          <a:ea typeface="Pretendard" pitchFamily="34" charset="-122"/>
                          <a:cs typeface="Pretendard" pitchFamily="34" charset="-120"/>
                        </a:rPr>
                        <a:t>이름</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kg_entity_embedding</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384048">
                <a:tc>
                  <a:txBody>
                    <a:bodyPr/>
                    <a:lstStyle/>
                    <a:p>
                      <a:pPr indent="0" marL="0">
                        <a:buNone/>
                      </a:pPr>
                      <a:r>
                        <a:rPr lang="en-US" sz="1500" b="1" dirty="0">
                          <a:solidFill>
                            <a:srgbClr val="3B4557"/>
                          </a:solidFill>
                          <a:latin typeface="Pretendard" pitchFamily="34" charset="0"/>
                          <a:ea typeface="Pretendard" pitchFamily="34" charset="-122"/>
                          <a:cs typeface="Pretendard" pitchFamily="34" charset="-120"/>
                        </a:rPr>
                        <a:t>대상</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__Entity__ 라벨의 embedding 속성</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384048">
                <a:tc>
                  <a:txBody>
                    <a:bodyPr/>
                    <a:lstStyle/>
                    <a:p>
                      <a:pPr indent="0" marL="0">
                        <a:buNone/>
                      </a:pPr>
                      <a:r>
                        <a:rPr lang="en-US" sz="1500" b="1" dirty="0">
                          <a:solidFill>
                            <a:srgbClr val="3B4557"/>
                          </a:solidFill>
                          <a:latin typeface="Pretendard" pitchFamily="34" charset="0"/>
                          <a:ea typeface="Pretendard" pitchFamily="34" charset="-122"/>
                          <a:cs typeface="Pretendard" pitchFamily="34" charset="-120"/>
                        </a:rPr>
                        <a:t>설정</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500" dirty="0">
                          <a:solidFill>
                            <a:srgbClr val="3B4557"/>
                          </a:solidFill>
                          <a:latin typeface="Pretendard" pitchFamily="34" charset="0"/>
                          <a:ea typeface="Pretendard" pitchFamily="34" charset="-122"/>
                          <a:cs typeface="Pretendard" pitchFamily="34" charset="-120"/>
                        </a:rPr>
                        <a:t>768차원, COSINE, ONLINE</a:t>
                      </a:r>
                      <a:endParaRPr lang="en-US" sz="1500" dirty="0">
                        <a:latin typeface="Pretendard" charset="0"/>
                        <a:ea typeface="Pretendard" charset="0"/>
                        <a:cs typeface="Pretendard" charset="0"/>
                      </a:endParaRPr>
                    </a:p>
                  </a:txBody>
                  <a:tcPr marL="73152" marR="73152" marT="27432" marB="27432"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13" name="Shape 9"/>
          <p:cNvSpPr/>
          <p:nvPr/>
        </p:nvSpPr>
        <p:spPr>
          <a:xfrm>
            <a:off x="8144561" y="5989320"/>
            <a:ext cx="5989320" cy="1280160"/>
          </a:xfrm>
          <a:prstGeom prst="roundRect">
            <a:avLst>
              <a:gd name="adj" fmla="val 5714"/>
            </a:avLst>
          </a:prstGeom>
          <a:solidFill>
            <a:srgbClr val="2E74C6"/>
          </a:solidFill>
          <a:ln/>
        </p:spPr>
      </p:sp>
      <p:sp>
        <p:nvSpPr>
          <p:cNvPr id="14" name="Text 10"/>
          <p:cNvSpPr txBox="1"/>
          <p:nvPr/>
        </p:nvSpPr>
        <p:spPr>
          <a:xfrm>
            <a:off x="8144561" y="5989320"/>
            <a:ext cx="5989320" cy="1280160"/>
          </a:xfrm>
          <a:prstGeom prst="rect">
            <a:avLst/>
          </a:prstGeom>
          <a:noFill/>
          <a:ln/>
        </p:spPr>
        <p:txBody>
          <a:bodyPr wrap="square" lIns="635" tIns="635" rIns="635" bIns="635" rtlCol="0" anchor="ctr"/>
          <a:lstStyle/>
          <a:p>
            <a:pPr algn="ctr" indent="0" marL="0">
              <a:spcAft>
                <a:spcPts val="100"/>
              </a:spcAft>
              <a:buNone/>
            </a:pPr>
            <a:r>
              <a:rPr lang="en-US" sz="1600" b="1" dirty="0">
                <a:solidFill>
                  <a:srgbClr val="FFFFFF"/>
                </a:solidFill>
                <a:latin typeface="Pretendard" pitchFamily="34" charset="0"/>
                <a:ea typeface="Pretendard" pitchFamily="34" charset="-122"/>
                <a:cs typeface="Pretendard" pitchFamily="34" charset="-120"/>
              </a:rPr>
              <a:t>v0 표본 결과</a:t>
            </a:r>
            <a:endParaRPr lang="en-US" sz="1600" dirty="0"/>
          </a:p>
          <a:p>
            <a:pPr algn="ctr" indent="0" marL="0">
              <a:spcAft>
                <a:spcPts val="100"/>
              </a:spcAft>
              <a:buNone/>
            </a:pPr>
            <a:r>
              <a:rPr lang="en-US" sz="1500" dirty="0">
                <a:solidFill>
                  <a:srgbClr val="FFFFFF"/>
                </a:solidFill>
                <a:latin typeface="Pretendard" pitchFamily="34" charset="0"/>
                <a:ea typeface="Pretendard" pitchFamily="34" charset="-122"/>
                <a:cs typeface="Pretendard" pitchFamily="34" charset="-120"/>
              </a:rPr>
              <a:t>전체 재색인 91개, 증분 색인은 새 엔티티만</a:t>
            </a:r>
            <a:endParaRPr lang="en-US" sz="1600" dirty="0"/>
          </a:p>
          <a:p>
            <a:pPr algn="ctr" indent="0" marL="0">
              <a:spcAft>
                <a:spcPts val="100"/>
              </a:spcAft>
              <a:buNone/>
            </a:pPr>
            <a:r>
              <a:rPr lang="en-US" sz="1500" dirty="0">
                <a:solidFill>
                  <a:srgbClr val="FFFFFF"/>
                </a:solidFill>
                <a:latin typeface="Pretendard" pitchFamily="34" charset="0"/>
                <a:ea typeface="Pretendard" pitchFamily="34" charset="-122"/>
                <a:cs typeface="Pretendard" pitchFamily="34" charset="-120"/>
              </a:rPr>
              <a:t>청크 노드는 0개 (엔티티가 아니라 임베딩 안 함)</a:t>
            </a:r>
            <a:endParaRPr lang="en-US" sz="16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2026-10-23T07:31:46Z</dcterms:created>
  <dcterms:modified xsi:type="dcterms:W3CDTF">2026-10-23T07:31:46Z</dcterms:modified>
</cp:coreProperties>
</file>