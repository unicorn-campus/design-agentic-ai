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Sparse는 벡터 대부분이 0이라 '드문(sparse)', Dense는 모든 칸에 숫자가 차 있어 '빽빽한(dense)'이라는 이름이 붙음.
네 방식은 경쟁 관계가 아니라 들어오는 질문에 따라 고르는 선택지임.
우리 프로젝트는 약관 조항 번호(Sparse 유리)와 상담 대화체 질문(Dense 유리)이 함께 들어오므로 Hybrid를 기본으로 둠. GraphRAG는 별도 교재 주제임.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한국어는 '연회비는/연회비가/연회비를'이 서로 다른 글자라 그대로 비교하면 같은 말을 못 알아봄. 그래서 Kiwi로 조사를 떼고 뜻 있는 낱말만 남김.
토큰 예시는 프로젝트 가상환경에서 실제로 실행한 결과임. 토크나이저 서명(SHA-256)이 색인과 다르면 검색을 거부함.
막대 값: TF 항 = tf×(k1+1)/(tf+k1×(1−b+b×문서길이/평균길이)), k1=1.5, b=0.75. IDF 그림의 문서 수는 설명용 예시임.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Dense의 장점은 문서에 없는 표현('안 내도 되는')으로 물어도 '면제 조건' 문서를 찾는다는 점임.
약점은 'D1 제10조' 같은 딱 떨어지는 코드·조항을 흐릿하게 본다는 점이며, 그래서 다음 장의 Hybrid가 필요함.
벡터 공간 그림은 설명용 예시임. MMR은 결과 5개가 사실상 같은 내용일 때 켜는 옵션이며 프로젝트 기본값은 similarity임.
KURE-v2 모델 페이지 설명은 바뀌었으므로 768차원은 프로젝트 색인에서 직접 읽은 값을 근거로 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RRF는 '몇 점인지'는 잊고 '몇 등인지'만 보는 방식이라 단위가 다른 검색기를 섞을 때 안전함. 예시 수치는 교재 §4.2.3 그대로임.
프로젝트는 두 점수를 각각 최소 0·최대 1로 다시 펴서 6:4로 더함(scoring.py fuse). 1등의 점수 차를 살리는 대신, 후보 집합이 바뀌면 정규화 결과도 바뀜.
실측 응답 시간은 평균이 아니라 중앙값임. 평균은 각 모드 첫 질문의 모델 적재 시간이 섞여 부풀려져 있음.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› 4. Techniques › 4.2 Retrieval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362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방식 4종 한눈에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3624560" cy="36576"/>
          </a:xfrm>
          <a:prstGeom prst="rect">
            <a:avLst/>
          </a:prstGeom>
          <a:solidFill>
            <a:srgbClr val="D9E0E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89888"/>
            <a:ext cx="1920240" cy="36576"/>
          </a:xfrm>
          <a:prstGeom prst="rect">
            <a:avLst/>
          </a:prstGeom>
          <a:solidFill>
            <a:srgbClr val="2E74C6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17904"/>
            <a:ext cx="1362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질문도 "낱말로 찾기"와 "뜻으로 찾기"는 서로 다른 문서를 데려옴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2103120"/>
            <a:ext cx="323469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E0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03120"/>
            <a:ext cx="3234690" cy="548640"/>
          </a:xfrm>
          <a:prstGeom prst="roundRect">
            <a:avLst>
              <a:gd name="adj" fmla="val 12000"/>
            </a:avLst>
          </a:prstGeom>
          <a:solidFill>
            <a:srgbClr val="1E2A5C"/>
          </a:solidFill>
          <a:ln w="12700">
            <a:solidFill>
              <a:srgbClr val="1E2A5C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Sparse (BM25)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2724912"/>
            <a:ext cx="29603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낱말이 문서에 있는지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67512" y="3200400"/>
            <a:ext cx="2905506" cy="178308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3337560"/>
            <a:ext cx="841248" cy="384048"/>
          </a:xfrm>
          <a:prstGeom prst="roundRect">
            <a:avLst>
              <a:gd name="adj" fmla="val 50000"/>
            </a:avLst>
          </a:prstGeom>
          <a:solidFill>
            <a:srgbClr val="2E74C6"/>
          </a:solidFill>
          <a:ln w="12700">
            <a:solidFill>
              <a:srgbClr val="2E74C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연회비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91640" y="3337560"/>
            <a:ext cx="841248" cy="384048"/>
          </a:xfrm>
          <a:prstGeom prst="roundRect">
            <a:avLst>
              <a:gd name="adj" fmla="val 50000"/>
            </a:avLst>
          </a:prstGeom>
          <a:solidFill>
            <a:srgbClr val="2E74C6"/>
          </a:solidFill>
          <a:ln w="12700">
            <a:solidFill>
              <a:srgbClr val="2E74C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면제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624328" y="333756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← 질문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13232" y="4096512"/>
            <a:ext cx="281635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E74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4270248"/>
            <a:ext cx="841248" cy="384048"/>
          </a:xfrm>
          <a:prstGeom prst="roundRect">
            <a:avLst>
              <a:gd name="adj" fmla="val 50000"/>
            </a:avLst>
          </a:prstGeom>
          <a:solidFill>
            <a:srgbClr val="2E74C6"/>
          </a:solidFill>
          <a:ln w="12700">
            <a:solidFill>
              <a:srgbClr val="2E74C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연회비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91640" y="4270248"/>
            <a:ext cx="841248" cy="384048"/>
          </a:xfrm>
          <a:prstGeom prst="roundRect">
            <a:avLst>
              <a:gd name="adj" fmla="val 50000"/>
            </a:avLst>
          </a:prstGeom>
          <a:solidFill>
            <a:srgbClr val="2E74C6"/>
          </a:solidFill>
          <a:ln w="12700">
            <a:solidFill>
              <a:srgbClr val="2E74C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면제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624328" y="4270248"/>
            <a:ext cx="84124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3CEE0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79576" y="3730752"/>
            <a:ext cx="0" cy="521208"/>
          </a:xfrm>
          <a:prstGeom prst="line">
            <a:avLst/>
          </a:prstGeom>
          <a:noFill/>
          <a:ln w="2540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112264" y="3730752"/>
            <a:ext cx="0" cy="521208"/>
          </a:xfrm>
          <a:prstGeom prst="line">
            <a:avLst/>
          </a:prstGeom>
          <a:noFill/>
          <a:ln w="2540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2624328" y="3767328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7512" y="5166360"/>
            <a:ext cx="658368" cy="365760"/>
          </a:xfrm>
          <a:prstGeom prst="roundRect">
            <a:avLst>
              <a:gd name="adj" fmla="val 50000"/>
            </a:avLst>
          </a:prstGeom>
          <a:solidFill>
            <a:srgbClr val="2E74C6"/>
          </a:solidFill>
          <a:ln w="12700">
            <a:solidFill>
              <a:srgbClr val="2E74C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강점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5120640"/>
            <a:ext cx="22105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조항 번호·상품 코드 등 정확한 용어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7512" y="5715000"/>
            <a:ext cx="658368" cy="365760"/>
          </a:xfrm>
          <a:prstGeom prst="roundRect">
            <a:avLst>
              <a:gd name="adj" fmla="val 50000"/>
            </a:avLst>
          </a:prstGeom>
          <a:solidFill>
            <a:srgbClr val="7C8598"/>
          </a:solidFill>
          <a:ln w="12700">
            <a:solidFill>
              <a:srgbClr val="7C8598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약점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17320" y="5669280"/>
            <a:ext cx="22105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말로 물으면 못 찾음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966210" y="2103120"/>
            <a:ext cx="323469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E0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66210" y="2103120"/>
            <a:ext cx="3234690" cy="548640"/>
          </a:xfrm>
          <a:prstGeom prst="roundRect">
            <a:avLst>
              <a:gd name="adj" fmla="val 12000"/>
            </a:avLst>
          </a:prstGeom>
          <a:solidFill>
            <a:srgbClr val="1E2A5C"/>
          </a:solidFill>
          <a:ln w="12700">
            <a:solidFill>
              <a:srgbClr val="1E2A5C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Dense (임베딩)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103370" y="2724912"/>
            <a:ext cx="29603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문장 뜻이 얼마나 가까운지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130802" y="3200400"/>
            <a:ext cx="2905506" cy="178308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4405122" y="4526280"/>
            <a:ext cx="2194560" cy="274320"/>
          </a:xfrm>
          <a:prstGeom prst="line">
            <a:avLst/>
          </a:prstGeom>
          <a:noFill/>
          <a:ln w="25400">
            <a:solidFill>
              <a:srgbClr val="7C859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V="1">
            <a:off x="4405122" y="3383280"/>
            <a:ext cx="1280160" cy="1417320"/>
          </a:xfrm>
          <a:prstGeom prst="line">
            <a:avLst/>
          </a:prstGeom>
          <a:noFill/>
          <a:ln w="31750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V="1">
            <a:off x="4405122" y="3794760"/>
            <a:ext cx="1828800" cy="1005840"/>
          </a:xfrm>
          <a:prstGeom prst="line">
            <a:avLst/>
          </a:prstGeom>
          <a:noFill/>
          <a:ln w="4445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341114" y="4736592"/>
            <a:ext cx="128016" cy="128016"/>
          </a:xfrm>
          <a:prstGeom prst="ellipse">
            <a:avLst/>
          </a:prstGeom>
          <a:solidFill>
            <a:srgbClr val="2B3242"/>
          </a:solidFill>
          <a:ln w="19050">
            <a:solidFill>
              <a:srgbClr val="2B32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79642" y="359359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731002" y="322783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가까운 문서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959602" y="41239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 문서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130802" y="5166360"/>
            <a:ext cx="658368" cy="365760"/>
          </a:xfrm>
          <a:prstGeom prst="roundRect">
            <a:avLst>
              <a:gd name="adj" fmla="val 50000"/>
            </a:avLst>
          </a:prstGeom>
          <a:solidFill>
            <a:srgbClr val="2E74C6"/>
          </a:solidFill>
          <a:ln w="12700">
            <a:solidFill>
              <a:srgbClr val="2E74C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강점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880610" y="5120640"/>
            <a:ext cx="22105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구어체·돌려 말한 질문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130802" y="5715000"/>
            <a:ext cx="658368" cy="365760"/>
          </a:xfrm>
          <a:prstGeom prst="roundRect">
            <a:avLst>
              <a:gd name="adj" fmla="val 50000"/>
            </a:avLst>
          </a:prstGeom>
          <a:solidFill>
            <a:srgbClr val="7C8598"/>
          </a:solidFill>
          <a:ln w="12700">
            <a:solidFill>
              <a:srgbClr val="7C8598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약점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880610" y="5669280"/>
            <a:ext cx="22105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드문 고유명사·숫자 코드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7429500" y="2103120"/>
            <a:ext cx="323469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E0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29500" y="2103120"/>
            <a:ext cx="3234690" cy="548640"/>
          </a:xfrm>
          <a:prstGeom prst="roundRect">
            <a:avLst>
              <a:gd name="adj" fmla="val 12000"/>
            </a:avLst>
          </a:prstGeom>
          <a:solidFill>
            <a:srgbClr val="2E74C6"/>
          </a:solidFill>
          <a:ln w="12700">
            <a:solidFill>
              <a:srgbClr val="2E74C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Hybrid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7566660" y="2724912"/>
            <a:ext cx="29603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점수를 합쳐서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594092" y="3200400"/>
            <a:ext cx="2905506" cy="178308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85532" y="3383280"/>
            <a:ext cx="1280160" cy="502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E2A5C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BM25 점수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7685532" y="4251960"/>
            <a:ext cx="1280160" cy="502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E2A5C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Vector 점수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9377172" y="3813048"/>
            <a:ext cx="1078992" cy="548640"/>
          </a:xfrm>
          <a:prstGeom prst="roundRect">
            <a:avLst>
              <a:gd name="adj" fmla="val 15000"/>
            </a:avLst>
          </a:prstGeom>
          <a:solidFill>
            <a:srgbClr val="2E74C6"/>
          </a:solidFill>
          <a:ln w="12700">
            <a:solidFill>
              <a:srgbClr val="2E74C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합친 점수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8965692" y="3639312"/>
            <a:ext cx="393192" cy="338328"/>
          </a:xfrm>
          <a:prstGeom prst="line">
            <a:avLst/>
          </a:prstGeom>
          <a:noFill/>
          <a:ln w="2540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 flipV="1">
            <a:off x="8965692" y="4206240"/>
            <a:ext cx="393192" cy="292608"/>
          </a:xfrm>
          <a:prstGeom prst="line">
            <a:avLst/>
          </a:prstGeom>
          <a:noFill/>
          <a:ln w="2540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7594092" y="5166360"/>
            <a:ext cx="658368" cy="365760"/>
          </a:xfrm>
          <a:prstGeom prst="roundRect">
            <a:avLst>
              <a:gd name="adj" fmla="val 50000"/>
            </a:avLst>
          </a:prstGeom>
          <a:solidFill>
            <a:srgbClr val="2E74C6"/>
          </a:solidFill>
          <a:ln w="12700">
            <a:solidFill>
              <a:srgbClr val="2E74C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강점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8343900" y="5120640"/>
            <a:ext cx="22105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용어와 자연어가 섞인 질문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7594092" y="5715000"/>
            <a:ext cx="658368" cy="365760"/>
          </a:xfrm>
          <a:prstGeom prst="roundRect">
            <a:avLst>
              <a:gd name="adj" fmla="val 50000"/>
            </a:avLst>
          </a:prstGeom>
          <a:solidFill>
            <a:srgbClr val="7C8598"/>
          </a:solidFill>
          <a:ln w="12700">
            <a:solidFill>
              <a:srgbClr val="7C8598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약점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8343900" y="5669280"/>
            <a:ext cx="22105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검색기 2개 관리·비중 조정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10892790" y="2103120"/>
            <a:ext cx="323469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E0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892790" y="2103120"/>
            <a:ext cx="3234690" cy="548640"/>
          </a:xfrm>
          <a:prstGeom prst="roundRect">
            <a:avLst>
              <a:gd name="adj" fmla="val 12000"/>
            </a:avLst>
          </a:prstGeom>
          <a:solidFill>
            <a:srgbClr val="404155"/>
          </a:solidFill>
          <a:ln w="12700">
            <a:solidFill>
              <a:srgbClr val="404155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GraphRAG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11029950" y="2724912"/>
            <a:ext cx="29603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뜻 + 개체 사이의 관계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1057382" y="3200400"/>
            <a:ext cx="2905506" cy="178308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11551158" y="3694176"/>
            <a:ext cx="960120" cy="777240"/>
          </a:xfrm>
          <a:prstGeom prst="line">
            <a:avLst/>
          </a:prstGeom>
          <a:noFill/>
          <a:ln w="25400">
            <a:solidFill>
              <a:srgbClr val="40415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2511278" y="3694176"/>
            <a:ext cx="960120" cy="777240"/>
          </a:xfrm>
          <a:prstGeom prst="line">
            <a:avLst/>
          </a:prstGeom>
          <a:noFill/>
          <a:ln w="25400">
            <a:solidFill>
              <a:srgbClr val="40415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1194542" y="4114800"/>
            <a:ext cx="713232" cy="7132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155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회원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12154662" y="3337560"/>
            <a:ext cx="713232" cy="713232"/>
          </a:xfrm>
          <a:prstGeom prst="ellipse">
            <a:avLst/>
          </a:prstGeom>
          <a:solidFill>
            <a:srgbClr val="404155"/>
          </a:solidFill>
          <a:ln w="19050">
            <a:solidFill>
              <a:srgbClr val="404155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13114782" y="4114800"/>
            <a:ext cx="713232" cy="7132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155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혜택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11240262" y="35844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보유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13069062" y="35844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제공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11057382" y="5166360"/>
            <a:ext cx="658368" cy="365760"/>
          </a:xfrm>
          <a:prstGeom prst="roundRect">
            <a:avLst>
              <a:gd name="adj" fmla="val 50000"/>
            </a:avLst>
          </a:prstGeom>
          <a:solidFill>
            <a:srgbClr val="2E74C6"/>
          </a:solidFill>
          <a:ln w="12700">
            <a:solidFill>
              <a:srgbClr val="2E74C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강점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11807190" y="5120640"/>
            <a:ext cx="22105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"A와 이어진 B" 관계 추적</a:t>
            </a:r>
            <a:endParaRPr lang="en-US" sz="1500" dirty="0"/>
          </a:p>
        </p:txBody>
      </p:sp>
      <p:sp>
        <p:nvSpPr>
          <p:cNvPr id="66" name="Text 64"/>
          <p:cNvSpPr/>
          <p:nvPr/>
        </p:nvSpPr>
        <p:spPr>
          <a:xfrm>
            <a:off x="11057382" y="5715000"/>
            <a:ext cx="658368" cy="365760"/>
          </a:xfrm>
          <a:prstGeom prst="roundRect">
            <a:avLst>
              <a:gd name="adj" fmla="val 50000"/>
            </a:avLst>
          </a:prstGeom>
          <a:solidFill>
            <a:srgbClr val="7C8598"/>
          </a:solidFill>
          <a:ln w="12700">
            <a:solidFill>
              <a:srgbClr val="7C8598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약점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11807190" y="5669280"/>
            <a:ext cx="22105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그래프 구축 비용이 큼</a:t>
            </a:r>
            <a:endParaRPr lang="en-US" sz="1500" dirty="0"/>
          </a:p>
        </p:txBody>
      </p:sp>
      <p:sp>
        <p:nvSpPr>
          <p:cNvPr id="68" name="Shape 66"/>
          <p:cNvSpPr/>
          <p:nvPr/>
        </p:nvSpPr>
        <p:spPr>
          <a:xfrm>
            <a:off x="502920" y="6446520"/>
            <a:ext cx="13624560" cy="914400"/>
          </a:xfrm>
          <a:prstGeom prst="roundRect">
            <a:avLst>
              <a:gd name="adj" fmla="val 1200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85800" y="6675120"/>
            <a:ext cx="2103120" cy="457200"/>
          </a:xfrm>
          <a:prstGeom prst="roundRect">
            <a:avLst>
              <a:gd name="adj" fmla="val 15000"/>
            </a:avLst>
          </a:prstGeom>
          <a:solidFill>
            <a:srgbClr val="404155"/>
          </a:solidFill>
          <a:ln w="12700">
            <a:solidFill>
              <a:srgbClr val="404155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프로젝트의 선택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2971800" y="6675120"/>
            <a:ext cx="264033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3CEE0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Sparse · BM25S + Kiwi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5749290" y="6675120"/>
            <a:ext cx="264033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3CEE0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Dense · KURE-v2 + Chroma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8526780" y="6675120"/>
            <a:ext cx="2640330" cy="457200"/>
          </a:xfrm>
          <a:prstGeom prst="roundRect">
            <a:avLst>
              <a:gd name="adj" fmla="val 50000"/>
            </a:avLst>
          </a:prstGeom>
          <a:solidFill>
            <a:srgbClr val="2E74C6"/>
          </a:solidFill>
          <a:ln w="12700">
            <a:solidFill>
              <a:srgbClr val="2E74C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Hybrid · 벡터 6 : BM25 4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11304270" y="6675120"/>
            <a:ext cx="264033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3CEE0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GraphRAG · 미적용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502920" y="7616952"/>
            <a:ext cx="13624560" cy="18288"/>
          </a:xfrm>
          <a:prstGeom prst="rect">
            <a:avLst/>
          </a:prstGeom>
          <a:solidFill>
            <a:srgbClr val="E9ECF3"/>
          </a:solidFill>
          <a:ln w="12700">
            <a:solidFill>
              <a:srgbClr val="E9ECF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02920" y="7680960"/>
            <a:ext cx="1252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cna-bootcamp/aistudy 교재 10.RAG.md §4.2 Retrieval · hybrid-ai-lab retriever/vector-retriever/README.md</a:t>
            </a:r>
            <a:endParaRPr lang="en-US" sz="1400" dirty="0"/>
          </a:p>
        </p:txBody>
      </p:sp>
      <p:sp>
        <p:nvSpPr>
          <p:cNvPr id="76" name="Text 74"/>
          <p:cNvSpPr/>
          <p:nvPr/>
        </p:nvSpPr>
        <p:spPr>
          <a:xfrm>
            <a:off x="13121640" y="7680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/ 4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› 4.2 Retrieval › 4.2.1 Sparse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362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Sparse Retrieval — BM25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3624560" cy="36576"/>
          </a:xfrm>
          <a:prstGeom prst="rect">
            <a:avLst/>
          </a:prstGeom>
          <a:solidFill>
            <a:srgbClr val="D9E0E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89888"/>
            <a:ext cx="1920240" cy="36576"/>
          </a:xfrm>
          <a:prstGeom prst="rect">
            <a:avLst/>
          </a:prstGeom>
          <a:solidFill>
            <a:srgbClr val="2E74C6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17904"/>
            <a:ext cx="1362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BM25는 "질문 낱말이 이 문서에 얼마나 자주, 전체 문서에서 얼마나 드물게 나오나"로 점수를 매김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2743200" cy="10515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E2A5C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</a:t>
            </a:r>
            <a:endParaRPr lang="en-US" sz="16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“연회비 면제 조건은?”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30168" y="2103120"/>
            <a:ext cx="2468880" cy="1051560"/>
          </a:xfrm>
          <a:prstGeom prst="roundRect">
            <a:avLst>
              <a:gd name="adj" fmla="val 15000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정규화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NFKC · 소문자 · 숫자 쉼표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83096" y="2103120"/>
            <a:ext cx="2103120" cy="1051560"/>
          </a:xfrm>
          <a:prstGeom prst="roundRect">
            <a:avLst>
              <a:gd name="adj" fmla="val 15000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Kiwi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형태소 분석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970264" y="2103120"/>
            <a:ext cx="2834640" cy="1051560"/>
          </a:xfrm>
          <a:prstGeom prst="roundRect">
            <a:avLst>
              <a:gd name="adj" fmla="val 1500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70264" y="21762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남은 낱말 (조사 탈락)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061704" y="2606040"/>
            <a:ext cx="749808" cy="384048"/>
          </a:xfrm>
          <a:prstGeom prst="roundRect">
            <a:avLst>
              <a:gd name="adj" fmla="val 50000"/>
            </a:avLst>
          </a:prstGeom>
          <a:solidFill>
            <a:srgbClr val="2E74C6"/>
          </a:solidFill>
          <a:ln w="12700">
            <a:solidFill>
              <a:srgbClr val="2E74C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연회비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866376" y="2606040"/>
            <a:ext cx="621792" cy="384048"/>
          </a:xfrm>
          <a:prstGeom prst="roundRect">
            <a:avLst>
              <a:gd name="adj" fmla="val 50000"/>
            </a:avLst>
          </a:prstGeom>
          <a:solidFill>
            <a:srgbClr val="2E74C6"/>
          </a:solidFill>
          <a:ln w="12700">
            <a:solidFill>
              <a:srgbClr val="2E74C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43032" y="2606040"/>
            <a:ext cx="621792" cy="384048"/>
          </a:xfrm>
          <a:prstGeom prst="roundRect">
            <a:avLst>
              <a:gd name="adj" fmla="val 50000"/>
            </a:avLst>
          </a:prstGeom>
          <a:solidFill>
            <a:srgbClr val="2E74C6"/>
          </a:solidFill>
          <a:ln w="12700">
            <a:solidFill>
              <a:srgbClr val="2E74C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219688" y="2606040"/>
            <a:ext cx="5486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3CEE0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strike="sngStrike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은?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188952" y="2103120"/>
            <a:ext cx="1938528" cy="1051560"/>
          </a:xfrm>
          <a:prstGeom prst="roundRect">
            <a:avLst>
              <a:gd name="adj" fmla="val 15000"/>
            </a:avLst>
          </a:prstGeom>
          <a:solidFill>
            <a:srgbClr val="2E74C6"/>
          </a:solidFill>
          <a:ln w="12700">
            <a:solidFill>
              <a:srgbClr val="2E74C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BM25S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점수 계산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91840" y="2473452"/>
            <a:ext cx="292608" cy="310896"/>
          </a:xfrm>
          <a:prstGeom prst="rightArrow">
            <a:avLst/>
          </a:prstGeom>
          <a:solidFill>
            <a:srgbClr val="2E74C6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44768" y="2473452"/>
            <a:ext cx="292608" cy="310896"/>
          </a:xfrm>
          <a:prstGeom prst="rightArrow">
            <a:avLst/>
          </a:prstGeom>
          <a:solidFill>
            <a:srgbClr val="2E74C6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31936" y="2473452"/>
            <a:ext cx="292608" cy="310896"/>
          </a:xfrm>
          <a:prstGeom prst="rightArrow">
            <a:avLst/>
          </a:prstGeom>
          <a:solidFill>
            <a:srgbClr val="2E74C6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850624" y="2473452"/>
            <a:ext cx="292608" cy="310896"/>
          </a:xfrm>
          <a:prstGeom prst="rightArrow">
            <a:avLst/>
          </a:prstGeom>
          <a:solidFill>
            <a:srgbClr val="2E74C6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291840"/>
            <a:ext cx="64008" cy="411480"/>
          </a:xfrm>
          <a:prstGeom prst="rect">
            <a:avLst/>
          </a:prstGeom>
          <a:solidFill>
            <a:srgbClr val="2E74C6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291840"/>
            <a:ext cx="1344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색인할 때와 질문할 때 같은 토크나이저를 씀 — 서명이 다르면 검색 자체를 거부함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2920" y="3931920"/>
            <a:ext cx="4389120" cy="2971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E0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114800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1E2A5C"/>
          </a:solidFill>
          <a:ln w="12700">
            <a:solidFill>
              <a:srgbClr val="1E2A5C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16152" y="4114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TF — 많이 나올수록 ↑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120640" y="3931920"/>
            <a:ext cx="4389120" cy="2971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E0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0" y="4114800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1E2A5C"/>
          </a:solidFill>
          <a:ln w="12700">
            <a:solidFill>
              <a:srgbClr val="1E2A5C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833872" y="4114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IDF — 드문 낱말일수록 ↑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9738360" y="3931920"/>
            <a:ext cx="4389120" cy="2971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E0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21240" y="4114800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1E2A5C"/>
          </a:solidFill>
          <a:ln w="12700">
            <a:solidFill>
              <a:srgbClr val="1E2A5C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451592" y="4114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 — 긴 문서는 깎음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914400" y="4892040"/>
            <a:ext cx="3749040" cy="0"/>
          </a:xfrm>
          <a:prstGeom prst="line">
            <a:avLst/>
          </a:prstGeom>
          <a:noFill/>
          <a:ln w="19050">
            <a:solidFill>
              <a:srgbClr val="7C8598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914400" y="461772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 2.5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68680" y="5943600"/>
            <a:ext cx="3840480" cy="18288"/>
          </a:xfrm>
          <a:prstGeom prst="rect">
            <a:avLst/>
          </a:prstGeom>
          <a:solidFill>
            <a:srgbClr val="7C8598"/>
          </a:solidFill>
          <a:ln w="12700">
            <a:solidFill>
              <a:srgbClr val="7C859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51560" y="5522976"/>
            <a:ext cx="457200" cy="420624"/>
          </a:xfrm>
          <a:prstGeom prst="rect">
            <a:avLst/>
          </a:prstGeom>
          <a:solidFill>
            <a:srgbClr val="2E74C6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5559552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1.00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14400" y="5971032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1회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1801368" y="5342709"/>
            <a:ext cx="457200" cy="600891"/>
          </a:xfrm>
          <a:prstGeom prst="rect">
            <a:avLst/>
          </a:prstGeom>
          <a:solidFill>
            <a:srgbClr val="2E74C6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664208" y="5379285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1.43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664208" y="5971032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2회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2551176" y="5242560"/>
            <a:ext cx="457200" cy="701040"/>
          </a:xfrm>
          <a:prstGeom prst="rect">
            <a:avLst/>
          </a:prstGeom>
          <a:solidFill>
            <a:srgbClr val="2E74C6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14016" y="5279136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1.67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2414016" y="5971032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3회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300984" y="5134708"/>
            <a:ext cx="457200" cy="808892"/>
          </a:xfrm>
          <a:prstGeom prst="rect">
            <a:avLst/>
          </a:prstGeom>
          <a:solidFill>
            <a:srgbClr val="2E74C6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63824" y="5171284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1.92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3163824" y="5971032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5회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050792" y="5029200"/>
            <a:ext cx="457200" cy="914400"/>
          </a:xfrm>
          <a:prstGeom prst="rect">
            <a:avLst/>
          </a:prstGeom>
          <a:solidFill>
            <a:srgbClr val="1E2A5C"/>
          </a:solidFill>
          <a:ln w="12700">
            <a:solidFill>
              <a:srgbClr val="1E2A5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13632" y="5065776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2.17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3913632" y="5971032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10회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85800" y="63276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10번 나와도 1번의 10배가 아님 (k1 = 1.5)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6172200" y="459028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등장한 문서 (예시)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8138160" y="459028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가중치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5303520" y="4937760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2A5C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6217920" y="4937760"/>
            <a:ext cx="274320" cy="384048"/>
          </a:xfrm>
          <a:prstGeom prst="rect">
            <a:avLst/>
          </a:prstGeom>
          <a:solidFill>
            <a:srgbClr val="1E2A5C"/>
          </a:solidFill>
          <a:ln w="12700">
            <a:solidFill>
              <a:srgbClr val="1E2A5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583680" y="4937760"/>
            <a:ext cx="274320" cy="384048"/>
          </a:xfrm>
          <a:prstGeom prst="rect">
            <a:avLst/>
          </a:prstGeom>
          <a:solidFill>
            <a:srgbClr val="1E2A5C"/>
          </a:solidFill>
          <a:ln w="12700">
            <a:solidFill>
              <a:srgbClr val="1E2A5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949440" y="4937760"/>
            <a:ext cx="274320" cy="384048"/>
          </a:xfrm>
          <a:prstGeom prst="rect">
            <a:avLst/>
          </a:prstGeom>
          <a:solidFill>
            <a:srgbClr val="1E2A5C"/>
          </a:solidFill>
          <a:ln w="12700">
            <a:solidFill>
              <a:srgbClr val="1E2A5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315200" y="4937760"/>
            <a:ext cx="274320" cy="384048"/>
          </a:xfrm>
          <a:prstGeom prst="rect">
            <a:avLst/>
          </a:prstGeom>
          <a:solidFill>
            <a:srgbClr val="1E2A5C"/>
          </a:solidFill>
          <a:ln w="12700">
            <a:solidFill>
              <a:srgbClr val="1E2A5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680960" y="4937760"/>
            <a:ext cx="274320" cy="384048"/>
          </a:xfrm>
          <a:prstGeom prst="rect">
            <a:avLst/>
          </a:prstGeom>
          <a:solidFill>
            <a:srgbClr val="1E2A5C"/>
          </a:solidFill>
          <a:ln w="12700">
            <a:solidFill>
              <a:srgbClr val="1E2A5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138160" y="4992624"/>
            <a:ext cx="320040" cy="274320"/>
          </a:xfrm>
          <a:prstGeom prst="rect">
            <a:avLst/>
          </a:prstGeom>
          <a:solidFill>
            <a:srgbClr val="2E74C6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531352" y="49377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5303520" y="5596128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2A5C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연회비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6217920" y="5596128"/>
            <a:ext cx="274320" cy="384048"/>
          </a:xfrm>
          <a:prstGeom prst="rect">
            <a:avLst/>
          </a:prstGeom>
          <a:solidFill>
            <a:srgbClr val="1E2A5C"/>
          </a:solidFill>
          <a:ln w="12700">
            <a:solidFill>
              <a:srgbClr val="1E2A5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583680" y="5596128"/>
            <a:ext cx="274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49440" y="5596128"/>
            <a:ext cx="274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00" y="5596128"/>
            <a:ext cx="274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680960" y="5596128"/>
            <a:ext cx="274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138160" y="5650992"/>
            <a:ext cx="1097280" cy="274320"/>
          </a:xfrm>
          <a:prstGeom prst="rect">
            <a:avLst/>
          </a:prstGeom>
          <a:solidFill>
            <a:srgbClr val="2E74C6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308592" y="559612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</a:t>
            </a:r>
            <a:endParaRPr lang="en-US" sz="1500" dirty="0"/>
          </a:p>
        </p:txBody>
      </p:sp>
      <p:sp>
        <p:nvSpPr>
          <p:cNvPr id="69" name="Text 67"/>
          <p:cNvSpPr/>
          <p:nvPr/>
        </p:nvSpPr>
        <p:spPr>
          <a:xfrm>
            <a:off x="5303520" y="63276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흔한 말은 약하게, 드문 말은 강하게 쳐줌</a:t>
            </a:r>
            <a:endParaRPr lang="en-US" sz="1500" dirty="0"/>
          </a:p>
        </p:txBody>
      </p:sp>
      <p:sp>
        <p:nvSpPr>
          <p:cNvPr id="70" name="Shape 68"/>
          <p:cNvSpPr/>
          <p:nvPr/>
        </p:nvSpPr>
        <p:spPr>
          <a:xfrm>
            <a:off x="10058400" y="5303520"/>
            <a:ext cx="82296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A5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195560" y="5468112"/>
            <a:ext cx="548640" cy="54864"/>
          </a:xfrm>
          <a:prstGeom prst="rect">
            <a:avLst/>
          </a:prstGeom>
          <a:solidFill>
            <a:srgbClr val="D9E0E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195560" y="5650992"/>
            <a:ext cx="548640" cy="54864"/>
          </a:xfrm>
          <a:prstGeom prst="rect">
            <a:avLst/>
          </a:prstGeom>
          <a:solidFill>
            <a:srgbClr val="D9E0E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921240" y="6016752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짧은 문서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11064240" y="4709160"/>
            <a:ext cx="8229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A5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201400" y="4873752"/>
            <a:ext cx="548640" cy="54864"/>
          </a:xfrm>
          <a:prstGeom prst="rect">
            <a:avLst/>
          </a:prstGeom>
          <a:solidFill>
            <a:srgbClr val="D9E0E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201400" y="5056632"/>
            <a:ext cx="548640" cy="54864"/>
          </a:xfrm>
          <a:prstGeom prst="rect">
            <a:avLst/>
          </a:prstGeom>
          <a:solidFill>
            <a:srgbClr val="D9E0E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1201400" y="5239512"/>
            <a:ext cx="548640" cy="54864"/>
          </a:xfrm>
          <a:prstGeom prst="rect">
            <a:avLst/>
          </a:prstGeom>
          <a:solidFill>
            <a:srgbClr val="D9E0E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1201400" y="5422392"/>
            <a:ext cx="548640" cy="54864"/>
          </a:xfrm>
          <a:prstGeom prst="rect">
            <a:avLst/>
          </a:prstGeom>
          <a:solidFill>
            <a:srgbClr val="D9E0E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1201400" y="5605272"/>
            <a:ext cx="548640" cy="54864"/>
          </a:xfrm>
          <a:prstGeom prst="rect">
            <a:avLst/>
          </a:prstGeom>
          <a:solidFill>
            <a:srgbClr val="D9E0E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1201400" y="5788152"/>
            <a:ext cx="548640" cy="54864"/>
          </a:xfrm>
          <a:prstGeom prst="rect">
            <a:avLst/>
          </a:prstGeom>
          <a:solidFill>
            <a:srgbClr val="D9E0E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0927080" y="6016752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 문서</a:t>
            </a:r>
            <a:endParaRPr lang="en-US" sz="1400" dirty="0"/>
          </a:p>
        </p:txBody>
      </p:sp>
      <p:sp>
        <p:nvSpPr>
          <p:cNvPr id="82" name="Text 80"/>
          <p:cNvSpPr/>
          <p:nvPr/>
        </p:nvSpPr>
        <p:spPr>
          <a:xfrm>
            <a:off x="12070080" y="459028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2회의 TF 점수</a:t>
            </a:r>
            <a:endParaRPr lang="en-US" sz="1400" dirty="0"/>
          </a:p>
        </p:txBody>
      </p:sp>
      <p:sp>
        <p:nvSpPr>
          <p:cNvPr id="83" name="Shape 81"/>
          <p:cNvSpPr/>
          <p:nvPr/>
        </p:nvSpPr>
        <p:spPr>
          <a:xfrm>
            <a:off x="12115800" y="5989320"/>
            <a:ext cx="1828800" cy="18288"/>
          </a:xfrm>
          <a:prstGeom prst="rect">
            <a:avLst/>
          </a:prstGeom>
          <a:solidFill>
            <a:srgbClr val="7C8598"/>
          </a:solidFill>
          <a:ln w="12700">
            <a:solidFill>
              <a:srgbClr val="7C859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2344400" y="5212080"/>
            <a:ext cx="502920" cy="777240"/>
          </a:xfrm>
          <a:prstGeom prst="rect">
            <a:avLst/>
          </a:prstGeom>
          <a:solidFill>
            <a:srgbClr val="2E74C6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2207240" y="4946904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1.70</a:t>
            </a:r>
            <a:endParaRPr lang="en-US" sz="1400" dirty="0"/>
          </a:p>
        </p:txBody>
      </p:sp>
      <p:sp>
        <p:nvSpPr>
          <p:cNvPr id="86" name="Text 84"/>
          <p:cNvSpPr/>
          <p:nvPr/>
        </p:nvSpPr>
        <p:spPr>
          <a:xfrm>
            <a:off x="12207240" y="6016752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짧은</a:t>
            </a:r>
            <a:endParaRPr lang="en-US" sz="1400" dirty="0"/>
          </a:p>
        </p:txBody>
      </p:sp>
      <p:sp>
        <p:nvSpPr>
          <p:cNvPr id="87" name="Shape 85"/>
          <p:cNvSpPr/>
          <p:nvPr/>
        </p:nvSpPr>
        <p:spPr>
          <a:xfrm>
            <a:off x="13121640" y="5495544"/>
            <a:ext cx="502920" cy="493776"/>
          </a:xfrm>
          <a:prstGeom prst="rect">
            <a:avLst/>
          </a:prstGeom>
          <a:solidFill>
            <a:srgbClr val="1E2A5C"/>
          </a:solidFill>
          <a:ln w="12700">
            <a:solidFill>
              <a:srgbClr val="1E2A5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2984480" y="523036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1.08</a:t>
            </a:r>
            <a:endParaRPr lang="en-US" sz="1400" dirty="0"/>
          </a:p>
        </p:txBody>
      </p:sp>
      <p:sp>
        <p:nvSpPr>
          <p:cNvPr id="89" name="Text 87"/>
          <p:cNvSpPr/>
          <p:nvPr/>
        </p:nvSpPr>
        <p:spPr>
          <a:xfrm>
            <a:off x="12984480" y="6016752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</a:t>
            </a:r>
            <a:endParaRPr lang="en-US" sz="1400" dirty="0"/>
          </a:p>
        </p:txBody>
      </p:sp>
      <p:sp>
        <p:nvSpPr>
          <p:cNvPr id="90" name="Text 88"/>
          <p:cNvSpPr/>
          <p:nvPr/>
        </p:nvSpPr>
        <p:spPr>
          <a:xfrm>
            <a:off x="9921240" y="63276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 문서가 거저 얻는 점수를 덜어냄 (b = 0.75)</a:t>
            </a:r>
            <a:endParaRPr lang="en-US" sz="1500" dirty="0"/>
          </a:p>
        </p:txBody>
      </p:sp>
      <p:sp>
        <p:nvSpPr>
          <p:cNvPr id="91" name="Text 89"/>
          <p:cNvSpPr/>
          <p:nvPr/>
        </p:nvSpPr>
        <p:spPr>
          <a:xfrm>
            <a:off x="502920" y="7040880"/>
            <a:ext cx="1920240" cy="411480"/>
          </a:xfrm>
          <a:prstGeom prst="roundRect">
            <a:avLst>
              <a:gd name="adj" fmla="val 15000"/>
            </a:avLst>
          </a:prstGeom>
          <a:solidFill>
            <a:srgbClr val="404155"/>
          </a:solidFill>
          <a:ln w="12700">
            <a:solidFill>
              <a:srgbClr val="404155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설정</a:t>
            </a:r>
            <a:endParaRPr lang="en-US" sz="1500" dirty="0"/>
          </a:p>
        </p:txBody>
      </p:sp>
      <p:sp>
        <p:nvSpPr>
          <p:cNvPr id="92" name="Text 90"/>
          <p:cNvSpPr/>
          <p:nvPr/>
        </p:nvSpPr>
        <p:spPr>
          <a:xfrm>
            <a:off x="2606040" y="7040880"/>
            <a:ext cx="137160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3CEE0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k1 = 1.5</a:t>
            </a:r>
            <a:endParaRPr lang="en-US" sz="1500" dirty="0"/>
          </a:p>
        </p:txBody>
      </p:sp>
      <p:sp>
        <p:nvSpPr>
          <p:cNvPr id="93" name="Text 91"/>
          <p:cNvSpPr/>
          <p:nvPr/>
        </p:nvSpPr>
        <p:spPr>
          <a:xfrm>
            <a:off x="4114800" y="7040880"/>
            <a:ext cx="137160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3CEE0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 = 0.75</a:t>
            </a:r>
            <a:endParaRPr lang="en-US" sz="1500" dirty="0"/>
          </a:p>
        </p:txBody>
      </p:sp>
      <p:sp>
        <p:nvSpPr>
          <p:cNvPr id="94" name="Text 92"/>
          <p:cNvSpPr/>
          <p:nvPr/>
        </p:nvSpPr>
        <p:spPr>
          <a:xfrm>
            <a:off x="5623560" y="7040880"/>
            <a:ext cx="265176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3CEE0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BM25S · lucene 방식</a:t>
            </a:r>
            <a:endParaRPr lang="en-US" sz="1500" dirty="0"/>
          </a:p>
        </p:txBody>
      </p:sp>
      <p:sp>
        <p:nvSpPr>
          <p:cNvPr id="95" name="Text 93"/>
          <p:cNvSpPr/>
          <p:nvPr/>
        </p:nvSpPr>
        <p:spPr>
          <a:xfrm>
            <a:off x="8412480" y="7040880"/>
            <a:ext cx="329184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3CEE0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Kiwi + 카드명 사용자 사전</a:t>
            </a:r>
            <a:endParaRPr lang="en-US" sz="1500" dirty="0"/>
          </a:p>
        </p:txBody>
      </p:sp>
      <p:sp>
        <p:nvSpPr>
          <p:cNvPr id="96" name="Shape 94"/>
          <p:cNvSpPr/>
          <p:nvPr/>
        </p:nvSpPr>
        <p:spPr>
          <a:xfrm>
            <a:off x="502920" y="7616952"/>
            <a:ext cx="13624560" cy="18288"/>
          </a:xfrm>
          <a:prstGeom prst="rect">
            <a:avLst/>
          </a:prstGeom>
          <a:solidFill>
            <a:srgbClr val="E9ECF3"/>
          </a:solidFill>
          <a:ln w="12700">
            <a:solidFill>
              <a:srgbClr val="E9ECF3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02920" y="7680960"/>
            <a:ext cx="1252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교재 10.RAG.md §4.2.1 · Robertson &amp; Zaragoza(2009) BM25 and Beyond · github.com/bab2min/Kiwi · github.com/xhluca/bm25s · indexer lexical_index.py · retriever korean_tokenizer.py · 막대 값은 BM25 TF 항으로 계산</a:t>
            </a:r>
            <a:endParaRPr lang="en-US" sz="1400" dirty="0"/>
          </a:p>
        </p:txBody>
      </p:sp>
      <p:sp>
        <p:nvSpPr>
          <p:cNvPr id="98" name="Text 96"/>
          <p:cNvSpPr/>
          <p:nvPr/>
        </p:nvSpPr>
        <p:spPr>
          <a:xfrm>
            <a:off x="13121640" y="7680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/ 4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› 4.2 Retrieval › 4.2.2 Dense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362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Dense Retrieval — 임베딩과 코사인 유사도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3624560" cy="36576"/>
          </a:xfrm>
          <a:prstGeom prst="rect">
            <a:avLst/>
          </a:prstGeom>
          <a:solidFill>
            <a:srgbClr val="D9E0E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89888"/>
            <a:ext cx="1920240" cy="36576"/>
          </a:xfrm>
          <a:prstGeom prst="rect">
            <a:avLst/>
          </a:prstGeom>
          <a:solidFill>
            <a:srgbClr val="2E74C6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17904"/>
            <a:ext cx="1362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문장을 숫자 목록(벡터)으로 바꾼 뒤, 질문과 "방향"이 가장 비슷한 문서를 고름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3108960" cy="10515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E2A5C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</a:t>
            </a:r>
            <a:endParaRPr lang="en-US" sz="16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“연회비 안 내도 되는 경우”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995928" y="2103120"/>
            <a:ext cx="2103120" cy="1051560"/>
          </a:xfrm>
          <a:prstGeom prst="roundRect">
            <a:avLst>
              <a:gd name="adj" fmla="val 15000"/>
            </a:avLst>
          </a:prstGeom>
          <a:solidFill>
            <a:srgbClr val="1E2A5C"/>
          </a:solidFill>
          <a:ln w="12700">
            <a:solidFill>
              <a:srgbClr val="1E2A5C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KURE-v2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임베딩 모델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83096" y="2103120"/>
            <a:ext cx="3017520" cy="1051560"/>
          </a:xfrm>
          <a:prstGeom prst="roundRect">
            <a:avLst>
              <a:gd name="adj" fmla="val 1500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38544" y="2231136"/>
            <a:ext cx="603504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E74C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0.12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296912" y="2231136"/>
            <a:ext cx="676656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E74C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-0.34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28432" y="2231136"/>
            <a:ext cx="603504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E74C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0.56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0" y="2231136"/>
            <a:ext cx="603504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E74C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…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83096" y="270662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숫자 768개 (벡터)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884664" y="2103120"/>
            <a:ext cx="2103120" cy="1051560"/>
          </a:xfrm>
          <a:prstGeom prst="roundRect">
            <a:avLst>
              <a:gd name="adj" fmla="val 15000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ChromaDB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코사인 비교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71832" y="2103120"/>
            <a:ext cx="1755648" cy="1051560"/>
          </a:xfrm>
          <a:prstGeom prst="roundRect">
            <a:avLst>
              <a:gd name="adj" fmla="val 15000"/>
            </a:avLst>
          </a:prstGeom>
          <a:solidFill>
            <a:srgbClr val="2E74C6"/>
          </a:solidFill>
          <a:ln w="12700">
            <a:solidFill>
              <a:srgbClr val="2E74C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Top-K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 ×4 수집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57600" y="2473452"/>
            <a:ext cx="292608" cy="310896"/>
          </a:xfrm>
          <a:prstGeom prst="rightArrow">
            <a:avLst/>
          </a:prstGeom>
          <a:solidFill>
            <a:srgbClr val="2E74C6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44768" y="2473452"/>
            <a:ext cx="292608" cy="310896"/>
          </a:xfrm>
          <a:prstGeom prst="rightArrow">
            <a:avLst/>
          </a:prstGeom>
          <a:solidFill>
            <a:srgbClr val="2E74C6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546336" y="2473452"/>
            <a:ext cx="292608" cy="310896"/>
          </a:xfrm>
          <a:prstGeom prst="rightArrow">
            <a:avLst/>
          </a:prstGeom>
          <a:solidFill>
            <a:srgbClr val="2E74C6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033504" y="2473452"/>
            <a:ext cx="292608" cy="310896"/>
          </a:xfrm>
          <a:prstGeom prst="rightArrow">
            <a:avLst/>
          </a:prstGeom>
          <a:solidFill>
            <a:srgbClr val="2E74C6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383280"/>
            <a:ext cx="694944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E0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520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벡터 공간에서 보기 (예시)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143000" y="6903720"/>
            <a:ext cx="5120640" cy="0"/>
          </a:xfrm>
          <a:prstGeom prst="line">
            <a:avLst/>
          </a:prstGeom>
          <a:noFill/>
          <a:ln w="19050">
            <a:solidFill>
              <a:srgbClr val="D9E0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1143000" y="3977640"/>
            <a:ext cx="0" cy="2926080"/>
          </a:xfrm>
          <a:prstGeom prst="line">
            <a:avLst/>
          </a:prstGeom>
          <a:noFill/>
          <a:ln w="19050">
            <a:solidFill>
              <a:srgbClr val="D9E0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1143000" y="6263640"/>
            <a:ext cx="4206240" cy="640080"/>
          </a:xfrm>
          <a:prstGeom prst="line">
            <a:avLst/>
          </a:prstGeom>
          <a:noFill/>
          <a:ln w="31750">
            <a:solidFill>
              <a:srgbClr val="7C859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V="1">
            <a:off x="1143000" y="4434840"/>
            <a:ext cx="822960" cy="2468880"/>
          </a:xfrm>
          <a:prstGeom prst="line">
            <a:avLst/>
          </a:prstGeom>
          <a:noFill/>
          <a:ln w="31750">
            <a:solidFill>
              <a:srgbClr val="7C859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1143000" y="4434840"/>
            <a:ext cx="2743200" cy="2468880"/>
          </a:xfrm>
          <a:prstGeom prst="line">
            <a:avLst/>
          </a:prstGeom>
          <a:noFill/>
          <a:ln w="38100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V="1">
            <a:off x="1143000" y="4526280"/>
            <a:ext cx="3840480" cy="2377440"/>
          </a:xfrm>
          <a:prstGeom prst="line">
            <a:avLst/>
          </a:prstGeom>
          <a:noFill/>
          <a:ln w="5715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69848" y="6830568"/>
            <a:ext cx="146304" cy="146304"/>
          </a:xfrm>
          <a:prstGeom prst="ellipse">
            <a:avLst/>
          </a:prstGeom>
          <a:solidFill>
            <a:srgbClr val="2B3242"/>
          </a:solidFill>
          <a:ln w="19050">
            <a:solidFill>
              <a:srgbClr val="2B32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432511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3246120" y="400507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“연회비 면제 조건” ✓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80160" y="4069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“해외 결제”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800600" y="64648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“포인트 적립”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31520" y="699516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각도가 작을수록 유사 · 화살표 길이는 무시 · 점수 = 1 − 거리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680960" y="3383280"/>
            <a:ext cx="644652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E0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0" y="3383280"/>
            <a:ext cx="6446520" cy="502920"/>
          </a:xfrm>
          <a:prstGeom prst="roundRect">
            <a:avLst>
              <a:gd name="adj" fmla="val 12000"/>
            </a:avLst>
          </a:prstGeom>
          <a:solidFill>
            <a:srgbClr val="2E74C6"/>
          </a:solidFill>
          <a:ln w="12700">
            <a:solidFill>
              <a:srgbClr val="2E74C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MMR — 비슷한 결과 쏠림 줄이기 (선택 옵션)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909560" y="4160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similarity (기본)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10149840" y="4160520"/>
            <a:ext cx="548640" cy="502920"/>
          </a:xfrm>
          <a:prstGeom prst="roundRect">
            <a:avLst>
              <a:gd name="adj" fmla="val 12000"/>
            </a:avLst>
          </a:prstGeom>
          <a:solidFill>
            <a:srgbClr val="1E2A5C"/>
          </a:solidFill>
          <a:ln w="12700">
            <a:solidFill>
              <a:srgbClr val="1E2A5C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808208" y="4160520"/>
            <a:ext cx="548640" cy="502920"/>
          </a:xfrm>
          <a:prstGeom prst="roundRect">
            <a:avLst>
              <a:gd name="adj" fmla="val 12000"/>
            </a:avLst>
          </a:prstGeom>
          <a:solidFill>
            <a:srgbClr val="1E2A5C"/>
          </a:solidFill>
          <a:ln w="12700">
            <a:solidFill>
              <a:srgbClr val="1E2A5C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466576" y="4160520"/>
            <a:ext cx="548640" cy="502920"/>
          </a:xfrm>
          <a:prstGeom prst="roundRect">
            <a:avLst>
              <a:gd name="adj" fmla="val 12000"/>
            </a:avLst>
          </a:prstGeom>
          <a:solidFill>
            <a:srgbClr val="1E2A5C"/>
          </a:solidFill>
          <a:ln w="12700">
            <a:solidFill>
              <a:srgbClr val="1E2A5C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2124944" y="4160520"/>
            <a:ext cx="548640" cy="502920"/>
          </a:xfrm>
          <a:prstGeom prst="roundRect">
            <a:avLst>
              <a:gd name="adj" fmla="val 12000"/>
            </a:avLst>
          </a:prstGeom>
          <a:solidFill>
            <a:srgbClr val="1E2A5C"/>
          </a:solidFill>
          <a:ln w="12700">
            <a:solidFill>
              <a:srgbClr val="1E2A5C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2783312" y="4160520"/>
            <a:ext cx="548640" cy="502920"/>
          </a:xfrm>
          <a:prstGeom prst="roundRect">
            <a:avLst>
              <a:gd name="adj" fmla="val 12000"/>
            </a:avLst>
          </a:prstGeom>
          <a:solidFill>
            <a:srgbClr val="2E74C6"/>
          </a:solidFill>
          <a:ln w="12700">
            <a:solidFill>
              <a:srgbClr val="2E74C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149840" y="46908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내용이 반복됨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909560" y="5166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mmr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10149840" y="5166360"/>
            <a:ext cx="548640" cy="502920"/>
          </a:xfrm>
          <a:prstGeom prst="roundRect">
            <a:avLst>
              <a:gd name="adj" fmla="val 12000"/>
            </a:avLst>
          </a:prstGeom>
          <a:solidFill>
            <a:srgbClr val="1E2A5C"/>
          </a:solidFill>
          <a:ln w="12700">
            <a:solidFill>
              <a:srgbClr val="1E2A5C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808208" y="5166360"/>
            <a:ext cx="548640" cy="502920"/>
          </a:xfrm>
          <a:prstGeom prst="roundRect">
            <a:avLst>
              <a:gd name="adj" fmla="val 12000"/>
            </a:avLst>
          </a:prstGeom>
          <a:solidFill>
            <a:srgbClr val="2E74C6"/>
          </a:solidFill>
          <a:ln w="12700">
            <a:solidFill>
              <a:srgbClr val="2E74C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466576" y="5166360"/>
            <a:ext cx="548640" cy="502920"/>
          </a:xfrm>
          <a:prstGeom prst="roundRect">
            <a:avLst>
              <a:gd name="adj" fmla="val 12000"/>
            </a:avLst>
          </a:prstGeom>
          <a:solidFill>
            <a:srgbClr val="404155"/>
          </a:solidFill>
          <a:ln w="12700">
            <a:solidFill>
              <a:srgbClr val="404155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2124944" y="5166360"/>
            <a:ext cx="548640" cy="502920"/>
          </a:xfrm>
          <a:prstGeom prst="roundRect">
            <a:avLst>
              <a:gd name="adj" fmla="val 12000"/>
            </a:avLst>
          </a:prstGeom>
          <a:solidFill>
            <a:srgbClr val="1E2A5C"/>
          </a:solidFill>
          <a:ln w="12700">
            <a:solidFill>
              <a:srgbClr val="1E2A5C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2783312" y="5166360"/>
            <a:ext cx="548640" cy="502920"/>
          </a:xfrm>
          <a:prstGeom prst="roundRect">
            <a:avLst>
              <a:gd name="adj" fmla="val 12000"/>
            </a:avLst>
          </a:prstGeom>
          <a:solidFill>
            <a:srgbClr val="7C8598"/>
          </a:solidFill>
          <a:ln w="12700">
            <a:solidFill>
              <a:srgbClr val="7C8598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149840" y="56967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관련성 + 다양성을 함께 봄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9441180" y="6108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λ = 0.5 (MMR_LAMBDA_MULT)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8229600" y="6492240"/>
            <a:ext cx="5349240" cy="91440"/>
          </a:xfrm>
          <a:prstGeom prst="roundRect">
            <a:avLst>
              <a:gd name="adj" fmla="val 50000"/>
            </a:avLst>
          </a:prstGeom>
          <a:solidFill>
            <a:srgbClr val="D9E0E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767060" y="6400800"/>
            <a:ext cx="274320" cy="274320"/>
          </a:xfrm>
          <a:prstGeom prst="ellipse">
            <a:avLst/>
          </a:prstGeom>
          <a:solidFill>
            <a:srgbClr val="2E74C6"/>
          </a:solidFill>
          <a:ln w="19050">
            <a:solidFill>
              <a:srgbClr val="2E74C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955280" y="6656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 · 다양성 우선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11841480" y="6656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· 관련성 우선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7909560" y="6995160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기본값은 꺼짐 · MMR을 써도 결과 점수는 원래 코사인 값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502920" y="7616952"/>
            <a:ext cx="13624560" cy="18288"/>
          </a:xfrm>
          <a:prstGeom prst="rect">
            <a:avLst/>
          </a:prstGeom>
          <a:solidFill>
            <a:srgbClr val="E9ECF3"/>
          </a:solidFill>
          <a:ln w="12700">
            <a:solidFill>
              <a:srgbClr val="E9ECF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2920" y="7680960"/>
            <a:ext cx="1252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교재 10.RAG.md §4.2.2 · Carbonell &amp; Goldstein(1998) MMR · huggingface.co/nlpai-lab/KURE-v2 · vector-retriever settings.py, chroma_store.py · 768차원은 프로젝트 색인 /health 실측값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13121640" y="7680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/ 4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› 4.2 Retrieval › 4.2.3 Hybrid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362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Hybrid Search — 두 점수를 합치는 두 가지 방법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3624560" cy="36576"/>
          </a:xfrm>
          <a:prstGeom prst="rect">
            <a:avLst/>
          </a:prstGeom>
          <a:solidFill>
            <a:srgbClr val="D9E0E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89888"/>
            <a:ext cx="1920240" cy="36576"/>
          </a:xfrm>
          <a:prstGeom prst="rect">
            <a:avLst/>
          </a:prstGeom>
          <a:solidFill>
            <a:srgbClr val="2E74C6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17904"/>
            <a:ext cx="1362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BM25 점수와 코사인 점수는 단위가 달라 그냥 더할 수 없음 — 교재는 "순위"로, 프로젝트는 "0 ~ 1 점수"로 합침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2103120"/>
            <a:ext cx="6675120" cy="3703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E0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03120"/>
            <a:ext cx="6675120" cy="502920"/>
          </a:xfrm>
          <a:prstGeom prst="roundRect">
            <a:avLst>
              <a:gd name="adj" fmla="val 12000"/>
            </a:avLst>
          </a:prstGeom>
          <a:solidFill>
            <a:srgbClr val="1E2A5C"/>
          </a:solidFill>
          <a:ln w="12700">
            <a:solidFill>
              <a:srgbClr val="1E2A5C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교재 — RRF (순위로 합치기)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269748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점수 = Σ 1 ÷ (60 + 순위)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502920" cy="502920"/>
          </a:xfrm>
          <a:prstGeom prst="ellipse">
            <a:avLst/>
          </a:prstGeom>
          <a:solidFill>
            <a:srgbClr val="404155"/>
          </a:solidFill>
          <a:ln w="12700">
            <a:solidFill>
              <a:srgbClr val="404155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3255264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1E2A5C"/>
          </a:solidFill>
          <a:ln w="12700">
            <a:solidFill>
              <a:srgbClr val="1E2A5C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BM25 1위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88920" y="3255264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2E74C6"/>
          </a:solidFill>
          <a:ln w="12700">
            <a:solidFill>
              <a:srgbClr val="2E74C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Dense 3위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51960" y="325526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1/61 + 1/63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417320" y="3730752"/>
            <a:ext cx="4206240" cy="274320"/>
          </a:xfrm>
          <a:prstGeom prst="rect">
            <a:avLst/>
          </a:prstGeom>
          <a:solidFill>
            <a:srgbClr val="1E2A5C"/>
          </a:solidFill>
          <a:ln w="12700">
            <a:solidFill>
              <a:srgbClr val="1E2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0" y="37124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0.0323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4114800"/>
            <a:ext cx="502920" cy="502920"/>
          </a:xfrm>
          <a:prstGeom prst="ellipse">
            <a:avLst/>
          </a:prstGeom>
          <a:solidFill>
            <a:srgbClr val="404155"/>
          </a:solidFill>
          <a:ln w="12700">
            <a:solidFill>
              <a:srgbClr val="404155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4169664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1E2A5C"/>
          </a:solidFill>
          <a:ln w="12700">
            <a:solidFill>
              <a:srgbClr val="1E2A5C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BM25 5위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788920" y="4169664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2E74C6"/>
          </a:solidFill>
          <a:ln w="12700">
            <a:solidFill>
              <a:srgbClr val="2E74C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Dense 1위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51960" y="416966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1/65 + 1/61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417320" y="4645152"/>
            <a:ext cx="4141128" cy="274320"/>
          </a:xfrm>
          <a:prstGeom prst="rect">
            <a:avLst/>
          </a:prstGeom>
          <a:solidFill>
            <a:srgbClr val="7C8598"/>
          </a:solidFill>
          <a:ln w="12700">
            <a:solidFill>
              <a:srgbClr val="7C859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49888" y="46268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0.0318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31520" y="5166360"/>
            <a:ext cx="64008" cy="411480"/>
          </a:xfrm>
          <a:prstGeom prst="rect">
            <a:avLst/>
          </a:prstGeom>
          <a:solidFill>
            <a:srgbClr val="2E74C6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16636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A가 근소하게 위 — 몇 점인지 버리고 몇 등인지만 봄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452360" y="2103120"/>
            <a:ext cx="6675120" cy="3703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E0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52360" y="2103120"/>
            <a:ext cx="6675120" cy="502920"/>
          </a:xfrm>
          <a:prstGeom prst="roundRect">
            <a:avLst>
              <a:gd name="adj" fmla="val 12000"/>
            </a:avLst>
          </a:prstGeom>
          <a:solidFill>
            <a:srgbClr val="2E74C6"/>
          </a:solidFill>
          <a:ln w="12700">
            <a:solidFill>
              <a:srgbClr val="2E74C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프로젝트 — 정규화 가중합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680960" y="26974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0 ~ 1로 다시 펴기 (최소-최대 정규화)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772400" y="4297680"/>
            <a:ext cx="1965960" cy="18288"/>
          </a:xfrm>
          <a:prstGeom prst="rect">
            <a:avLst/>
          </a:prstGeom>
          <a:solidFill>
            <a:srgbClr val="7C8598"/>
          </a:solidFill>
          <a:ln w="12700">
            <a:solidFill>
              <a:srgbClr val="7C859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63840" y="4078224"/>
            <a:ext cx="411480" cy="219456"/>
          </a:xfrm>
          <a:prstGeom prst="rect">
            <a:avLst/>
          </a:prstGeom>
          <a:solidFill>
            <a:srgbClr val="7C8598"/>
          </a:solidFill>
          <a:ln w="12700">
            <a:solidFill>
              <a:srgbClr val="7C859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26680" y="3813048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485632" y="3749040"/>
            <a:ext cx="411480" cy="548640"/>
          </a:xfrm>
          <a:prstGeom prst="rect">
            <a:avLst/>
          </a:prstGeom>
          <a:solidFill>
            <a:srgbClr val="7C8598"/>
          </a:solidFill>
          <a:ln w="12700">
            <a:solidFill>
              <a:srgbClr val="7C859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48472" y="3483864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107424" y="3419856"/>
            <a:ext cx="411480" cy="877824"/>
          </a:xfrm>
          <a:prstGeom prst="rect">
            <a:avLst/>
          </a:prstGeom>
          <a:solidFill>
            <a:srgbClr val="7C8598"/>
          </a:solidFill>
          <a:ln w="12700">
            <a:solidFill>
              <a:srgbClr val="7C859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70264" y="3154680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772400" y="433425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원점수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0378440" y="4297680"/>
            <a:ext cx="1965960" cy="18288"/>
          </a:xfrm>
          <a:prstGeom prst="rect">
            <a:avLst/>
          </a:prstGeom>
          <a:solidFill>
            <a:srgbClr val="7C8598"/>
          </a:solidFill>
          <a:ln w="12700">
            <a:solidFill>
              <a:srgbClr val="7C859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469880" y="4270248"/>
            <a:ext cx="411480" cy="27432"/>
          </a:xfrm>
          <a:prstGeom prst="rect">
            <a:avLst/>
          </a:prstGeom>
          <a:solidFill>
            <a:srgbClr val="2E74C6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332720" y="4005072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0.0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11091672" y="3858768"/>
            <a:ext cx="411480" cy="438912"/>
          </a:xfrm>
          <a:prstGeom prst="rect">
            <a:avLst/>
          </a:prstGeom>
          <a:solidFill>
            <a:srgbClr val="2E74C6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954512" y="3593592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0.5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11713464" y="3419856"/>
            <a:ext cx="411480" cy="877824"/>
          </a:xfrm>
          <a:prstGeom prst="rect">
            <a:avLst/>
          </a:prstGeom>
          <a:solidFill>
            <a:srgbClr val="2E74C6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576304" y="3154680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1.0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0378440" y="433425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정규화 점수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9875520" y="3593592"/>
            <a:ext cx="292608" cy="310896"/>
          </a:xfrm>
          <a:prstGeom prst="rightArrow">
            <a:avLst/>
          </a:prstGeom>
          <a:solidFill>
            <a:srgbClr val="2E74C6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2435840" y="32918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(점수 − 최소)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÷ (최대 − 최소)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680960" y="47091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6 : 4로 더하기 — 점수 차 크기까지 반영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680960" y="5148072"/>
            <a:ext cx="3730752" cy="457200"/>
          </a:xfrm>
          <a:prstGeom prst="roundRect">
            <a:avLst>
              <a:gd name="adj" fmla="val 10000"/>
            </a:avLst>
          </a:prstGeom>
          <a:solidFill>
            <a:srgbClr val="2E74C6"/>
          </a:solidFill>
          <a:ln w="12700">
            <a:solidFill>
              <a:srgbClr val="2E74C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Vector × 0.6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411712" y="5148072"/>
            <a:ext cx="2487168" cy="457200"/>
          </a:xfrm>
          <a:prstGeom prst="roundRect">
            <a:avLst>
              <a:gd name="adj" fmla="val 10000"/>
            </a:avLst>
          </a:prstGeom>
          <a:solidFill>
            <a:srgbClr val="1E2A5C"/>
          </a:solidFill>
          <a:ln w="12700">
            <a:solidFill>
              <a:srgbClr val="1E2A5C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BM25 × 0.4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02920" y="5989320"/>
            <a:ext cx="13624560" cy="1481328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5800" y="6108192"/>
            <a:ext cx="777240" cy="329184"/>
          </a:xfrm>
          <a:prstGeom prst="roundRect">
            <a:avLst>
              <a:gd name="adj" fmla="val 15000"/>
            </a:avLst>
          </a:prstGeom>
          <a:solidFill>
            <a:srgbClr val="404155"/>
          </a:solidFill>
          <a:ln w="12700">
            <a:solidFill>
              <a:srgbClr val="404155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실측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600200" y="610819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2026-09-20 · 질문 10건 · Top-5 · 질문 변환 off   (● 정답 문서 찾음  ○ 놓침)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731520" y="653796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vector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874520" y="6565392"/>
            <a:ext cx="274320" cy="274320"/>
          </a:xfrm>
          <a:prstGeom prst="ellipse">
            <a:avLst/>
          </a:prstGeom>
          <a:solidFill>
            <a:srgbClr val="1E2A5C"/>
          </a:solidFill>
          <a:ln w="19050">
            <a:solidFill>
              <a:srgbClr val="1E2A5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276856" y="6565392"/>
            <a:ext cx="274320" cy="274320"/>
          </a:xfrm>
          <a:prstGeom prst="ellipse">
            <a:avLst/>
          </a:prstGeom>
          <a:solidFill>
            <a:srgbClr val="1E2A5C"/>
          </a:solidFill>
          <a:ln w="19050">
            <a:solidFill>
              <a:srgbClr val="1E2A5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679192" y="6565392"/>
            <a:ext cx="274320" cy="274320"/>
          </a:xfrm>
          <a:prstGeom prst="ellipse">
            <a:avLst/>
          </a:prstGeom>
          <a:solidFill>
            <a:srgbClr val="1E2A5C"/>
          </a:solidFill>
          <a:ln w="19050">
            <a:solidFill>
              <a:srgbClr val="1E2A5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081528" y="6565392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859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483864" y="6565392"/>
            <a:ext cx="274320" cy="274320"/>
          </a:xfrm>
          <a:prstGeom prst="ellipse">
            <a:avLst/>
          </a:prstGeom>
          <a:solidFill>
            <a:srgbClr val="1E2A5C"/>
          </a:solidFill>
          <a:ln w="19050">
            <a:solidFill>
              <a:srgbClr val="1E2A5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886200" y="6565392"/>
            <a:ext cx="274320" cy="274320"/>
          </a:xfrm>
          <a:prstGeom prst="ellipse">
            <a:avLst/>
          </a:prstGeom>
          <a:solidFill>
            <a:srgbClr val="1E2A5C"/>
          </a:solidFill>
          <a:ln w="19050">
            <a:solidFill>
              <a:srgbClr val="1E2A5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288536" y="6565392"/>
            <a:ext cx="274320" cy="274320"/>
          </a:xfrm>
          <a:prstGeom prst="ellipse">
            <a:avLst/>
          </a:prstGeom>
          <a:solidFill>
            <a:srgbClr val="1E2A5C"/>
          </a:solidFill>
          <a:ln w="19050">
            <a:solidFill>
              <a:srgbClr val="1E2A5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690872" y="6565392"/>
            <a:ext cx="274320" cy="274320"/>
          </a:xfrm>
          <a:prstGeom prst="ellipse">
            <a:avLst/>
          </a:prstGeom>
          <a:solidFill>
            <a:srgbClr val="1E2A5C"/>
          </a:solidFill>
          <a:ln w="19050">
            <a:solidFill>
              <a:srgbClr val="1E2A5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093208" y="6565392"/>
            <a:ext cx="274320" cy="274320"/>
          </a:xfrm>
          <a:prstGeom prst="ellipse">
            <a:avLst/>
          </a:prstGeom>
          <a:solidFill>
            <a:srgbClr val="1E2A5C"/>
          </a:solidFill>
          <a:ln w="19050">
            <a:solidFill>
              <a:srgbClr val="1E2A5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495544" y="6565392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859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989320" y="653796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/ 10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731520" y="699516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hybrid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1874520" y="7022592"/>
            <a:ext cx="274320" cy="274320"/>
          </a:xfrm>
          <a:prstGeom prst="ellipse">
            <a:avLst/>
          </a:prstGeom>
          <a:solidFill>
            <a:srgbClr val="2E74C6"/>
          </a:solidFill>
          <a:ln w="19050">
            <a:solidFill>
              <a:srgbClr val="2E74C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276856" y="7022592"/>
            <a:ext cx="274320" cy="274320"/>
          </a:xfrm>
          <a:prstGeom prst="ellipse">
            <a:avLst/>
          </a:prstGeom>
          <a:solidFill>
            <a:srgbClr val="2E74C6"/>
          </a:solidFill>
          <a:ln w="19050">
            <a:solidFill>
              <a:srgbClr val="2E74C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679192" y="7022592"/>
            <a:ext cx="274320" cy="274320"/>
          </a:xfrm>
          <a:prstGeom prst="ellipse">
            <a:avLst/>
          </a:prstGeom>
          <a:solidFill>
            <a:srgbClr val="2E74C6"/>
          </a:solidFill>
          <a:ln w="19050">
            <a:solidFill>
              <a:srgbClr val="2E74C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081528" y="7022592"/>
            <a:ext cx="274320" cy="274320"/>
          </a:xfrm>
          <a:prstGeom prst="ellipse">
            <a:avLst/>
          </a:prstGeom>
          <a:solidFill>
            <a:srgbClr val="2E74C6"/>
          </a:solidFill>
          <a:ln w="19050">
            <a:solidFill>
              <a:srgbClr val="2E74C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483864" y="7022592"/>
            <a:ext cx="274320" cy="274320"/>
          </a:xfrm>
          <a:prstGeom prst="ellipse">
            <a:avLst/>
          </a:prstGeom>
          <a:solidFill>
            <a:srgbClr val="2E74C6"/>
          </a:solidFill>
          <a:ln w="19050">
            <a:solidFill>
              <a:srgbClr val="2E74C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886200" y="7022592"/>
            <a:ext cx="274320" cy="274320"/>
          </a:xfrm>
          <a:prstGeom prst="ellipse">
            <a:avLst/>
          </a:prstGeom>
          <a:solidFill>
            <a:srgbClr val="2E74C6"/>
          </a:solidFill>
          <a:ln w="19050">
            <a:solidFill>
              <a:srgbClr val="2E74C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288536" y="7022592"/>
            <a:ext cx="274320" cy="274320"/>
          </a:xfrm>
          <a:prstGeom prst="ellipse">
            <a:avLst/>
          </a:prstGeom>
          <a:solidFill>
            <a:srgbClr val="2E74C6"/>
          </a:solidFill>
          <a:ln w="19050">
            <a:solidFill>
              <a:srgbClr val="2E74C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690872" y="7022592"/>
            <a:ext cx="274320" cy="274320"/>
          </a:xfrm>
          <a:prstGeom prst="ellipse">
            <a:avLst/>
          </a:prstGeom>
          <a:solidFill>
            <a:srgbClr val="2E74C6"/>
          </a:solidFill>
          <a:ln w="19050">
            <a:solidFill>
              <a:srgbClr val="2E74C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093208" y="7022592"/>
            <a:ext cx="274320" cy="274320"/>
          </a:xfrm>
          <a:prstGeom prst="ellipse">
            <a:avLst/>
          </a:prstGeom>
          <a:solidFill>
            <a:srgbClr val="2E74C6"/>
          </a:solidFill>
          <a:ln w="19050">
            <a:solidFill>
              <a:srgbClr val="2E74C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495544" y="7022592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859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989320" y="699516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/ 10</a:t>
            </a:r>
            <a:endParaRPr lang="en-US" sz="1800" dirty="0"/>
          </a:p>
        </p:txBody>
      </p:sp>
      <p:sp>
        <p:nvSpPr>
          <p:cNvPr id="75" name="Shape 73"/>
          <p:cNvSpPr/>
          <p:nvPr/>
        </p:nvSpPr>
        <p:spPr>
          <a:xfrm>
            <a:off x="7635240" y="6172200"/>
            <a:ext cx="18288" cy="1143000"/>
          </a:xfrm>
          <a:prstGeom prst="rect">
            <a:avLst/>
          </a:prstGeom>
          <a:solidFill>
            <a:srgbClr val="D9E0E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863840" y="6108192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응답 시간 중앙값 — 거의 같음</a:t>
            </a:r>
            <a:endParaRPr lang="en-US" sz="1400" dirty="0"/>
          </a:p>
        </p:txBody>
      </p:sp>
      <p:sp>
        <p:nvSpPr>
          <p:cNvPr id="77" name="Text 75"/>
          <p:cNvSpPr/>
          <p:nvPr/>
        </p:nvSpPr>
        <p:spPr>
          <a:xfrm>
            <a:off x="7863840" y="653796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vector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9052560" y="6574536"/>
            <a:ext cx="3067995" cy="274320"/>
          </a:xfrm>
          <a:prstGeom prst="rect">
            <a:avLst/>
          </a:prstGeom>
          <a:solidFill>
            <a:srgbClr val="1E2A5C"/>
          </a:solidFill>
          <a:ln w="12700">
            <a:solidFill>
              <a:srgbClr val="1E2A5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2211995" y="653796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186ms</a:t>
            </a:r>
            <a:endParaRPr lang="en-US" sz="1500" dirty="0"/>
          </a:p>
        </p:txBody>
      </p:sp>
      <p:sp>
        <p:nvSpPr>
          <p:cNvPr id="80" name="Text 78"/>
          <p:cNvSpPr/>
          <p:nvPr/>
        </p:nvSpPr>
        <p:spPr>
          <a:xfrm>
            <a:off x="7863840" y="699516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hybrid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9052560" y="7031736"/>
            <a:ext cx="3216128" cy="274320"/>
          </a:xfrm>
          <a:prstGeom prst="rect">
            <a:avLst/>
          </a:prstGeom>
          <a:solidFill>
            <a:srgbClr val="2E74C6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2360128" y="699516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195ms</a:t>
            </a:r>
            <a:endParaRPr lang="en-US" sz="1500" dirty="0"/>
          </a:p>
        </p:txBody>
      </p:sp>
      <p:sp>
        <p:nvSpPr>
          <p:cNvPr id="83" name="Shape 81"/>
          <p:cNvSpPr/>
          <p:nvPr/>
        </p:nvSpPr>
        <p:spPr>
          <a:xfrm>
            <a:off x="502920" y="7616952"/>
            <a:ext cx="13624560" cy="18288"/>
          </a:xfrm>
          <a:prstGeom prst="rect">
            <a:avLst/>
          </a:prstGeom>
          <a:solidFill>
            <a:srgbClr val="E9ECF3"/>
          </a:solidFill>
          <a:ln w="12700">
            <a:solidFill>
              <a:srgbClr val="E9ECF3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02920" y="7680960"/>
            <a:ext cx="1252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교재 10.RAG.md §4.2.3 (RRF 예시) · Cormack et al.(2009, SIGIR) RRF · vector-retriever scoring.py, settings.py · data/retriever_10q_4mode_results.json</a:t>
            </a:r>
            <a:endParaRPr lang="en-US" sz="1400" dirty="0"/>
          </a:p>
        </p:txBody>
      </p:sp>
      <p:sp>
        <p:nvSpPr>
          <p:cNvPr id="85" name="Text 83"/>
          <p:cNvSpPr/>
          <p:nvPr/>
        </p:nvSpPr>
        <p:spPr>
          <a:xfrm>
            <a:off x="13121640" y="7680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/ 4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검색 테크닉</dc:title>
  <dc:subject>PptxGenJS Presentation</dc:subject>
  <dc:creator>PptxGenJS</dc:creator>
  <cp:lastModifiedBy>PptxGenJS</cp:lastModifiedBy>
  <cp:revision>1</cp:revision>
  <dcterms:created xsi:type="dcterms:W3CDTF">2026-10-02T11:30:06Z</dcterms:created>
  <dcterms:modified xsi:type="dcterms:W3CDTF">2026-10-02T11:30:06Z</dcterms:modified>
</cp:coreProperties>
</file>