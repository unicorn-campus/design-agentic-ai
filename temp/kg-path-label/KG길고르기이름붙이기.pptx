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소비 비중은 매달 바뀌는 집계값이라 그래프에 넣지 않음. 600명 × 8업종 관계(4,694개)를 매달 다시 맞출 필요가 없어짐. 노드 탐색: 그래프 안에서는 '업종명=식비'로 출발 노드를 찾고, '대상'·'제공' 관계만 거꾸로 따라감. 관계는 '혜택 -대상→ 업종', '상품 -제공→ 혜택' 방향으로 저장되지만, 그래프DB는 거꾸로 따라가도 비용이 같음. 비중은 2025-08 ~ 2026-08 승인 거래 기준임. 쇼핑·주유 쪽 혜택은 출발 노드가 아니라 들르지 않음.탐색된 노드의 제목: 도착한 상품·혜택 노드에는 ID(D2-C005, D2-C005-B01)와 함께 사람이 읽는 제목(상품명·혜택명)이 있어 그대로 답에 씀. Neo4j 도구에서는 이를 표시 이름(caption)이라고 부름. 회원-업종 관계는 '소비 패턴이 비슷한 회원 찾기'처럼 회원끼리 비교하는 질문을 쓸 때만 월 1회 배치로 만듦. '대상' 관계는 혜택 문서에서 뽑아야 하며, 이 장의 관계는 설명용 예시임.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 예시로 보는 '노드 탐색'과 '탐색된 노드의 제목'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자주 바뀌는 비중은 SQL로 계산해 출발 노드만 정하고, 그래프에서는 노드를 탐색하고 제목을 읽음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9189720" cy="384048"/>
          </a:xfrm>
          <a:prstGeom prst="roundRect">
            <a:avLst>
              <a:gd name="adj" fmla="val 14286"/>
            </a:avLst>
          </a:prstGeom>
          <a:solidFill>
            <a:srgbClr val="2E74C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9321" y="1737360"/>
            <a:ext cx="91897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 예시: 질문 하나를 SQL + 그래프로 풀기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9321" y="2231136"/>
            <a:ext cx="731520" cy="329184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9321" y="2231136"/>
            <a:ext cx="73152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350569" y="2212848"/>
            <a:ext cx="8348472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"M-6001 회원이 많이 쓰는 업종에 혜택을 주는 카드는?"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85800" y="272491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5800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2706624"/>
            <a:ext cx="23774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출발 노드 정하기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337560" y="272491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337560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749040" y="2706624"/>
            <a:ext cx="23774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탐색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949440" y="272491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949440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360920" y="2706624"/>
            <a:ext cx="23774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탐색된 노드의 제목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85800" y="3200400"/>
            <a:ext cx="2148840" cy="37033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85800" y="320040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1E2A5C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5800" y="3200400"/>
            <a:ext cx="214884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정형 DB (SQL)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58952" y="3639312"/>
            <a:ext cx="2002536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M-6001 업종별 소비 비중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" y="4023360"/>
          <a:ext cx="1929384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923544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업종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비중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식비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63.7%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쇼핑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20.8%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생활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10.6%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주유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1.1%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7C859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 외 4개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7C859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3.9%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795528" y="6300216"/>
            <a:ext cx="1929384" cy="457200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95528" y="6300216"/>
            <a:ext cx="1929384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1위 업종 = 식비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3154680" y="3200400"/>
            <a:ext cx="6452921" cy="3703320"/>
          </a:xfrm>
          <a:prstGeom prst="roundRect">
            <a:avLst>
              <a:gd name="adj" fmla="val 197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154680" y="3200400"/>
            <a:ext cx="6452921" cy="384048"/>
          </a:xfrm>
          <a:prstGeom prst="roundRect">
            <a:avLst>
              <a:gd name="adj" fmla="val 19048"/>
            </a:avLst>
          </a:prstGeom>
          <a:solidFill>
            <a:srgbClr val="2E74C6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3154680" y="3200400"/>
            <a:ext cx="6452921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(Neo4j)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 flipV="1">
            <a:off x="4389120" y="4197096"/>
            <a:ext cx="411480" cy="603504"/>
          </a:xfrm>
          <a:prstGeom prst="line">
            <a:avLst/>
          </a:prstGeom>
          <a:noFill/>
          <a:ln w="2540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6583680" y="4197096"/>
            <a:ext cx="365760" cy="0"/>
          </a:xfrm>
          <a:prstGeom prst="line">
            <a:avLst/>
          </a:prstGeom>
          <a:noFill/>
          <a:ln w="2540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4389120" y="4800600"/>
            <a:ext cx="411480" cy="0"/>
          </a:xfrm>
          <a:prstGeom prst="line">
            <a:avLst/>
          </a:prstGeom>
          <a:noFill/>
          <a:ln w="2540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32" name="Shape 28"/>
          <p:cNvSpPr/>
          <p:nvPr/>
        </p:nvSpPr>
        <p:spPr>
          <a:xfrm>
            <a:off x="6583680" y="4800600"/>
            <a:ext cx="365760" cy="0"/>
          </a:xfrm>
          <a:prstGeom prst="line">
            <a:avLst/>
          </a:prstGeom>
          <a:noFill/>
          <a:ln w="2540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33" name="Shape 29"/>
          <p:cNvSpPr/>
          <p:nvPr/>
        </p:nvSpPr>
        <p:spPr>
          <a:xfrm>
            <a:off x="4389120" y="4800600"/>
            <a:ext cx="411480" cy="603504"/>
          </a:xfrm>
          <a:prstGeom prst="line">
            <a:avLst/>
          </a:prstGeom>
          <a:noFill/>
          <a:ln w="2540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34" name="Shape 30"/>
          <p:cNvSpPr/>
          <p:nvPr/>
        </p:nvSpPr>
        <p:spPr>
          <a:xfrm>
            <a:off x="6583680" y="5404104"/>
            <a:ext cx="365760" cy="0"/>
          </a:xfrm>
          <a:prstGeom prst="line">
            <a:avLst/>
          </a:prstGeom>
          <a:noFill/>
          <a:ln w="2540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35" name="Shape 31"/>
          <p:cNvSpPr/>
          <p:nvPr/>
        </p:nvSpPr>
        <p:spPr>
          <a:xfrm>
            <a:off x="4389120" y="6062472"/>
            <a:ext cx="411480" cy="0"/>
          </a:xfrm>
          <a:prstGeom prst="line">
            <a:avLst/>
          </a:prstGeom>
          <a:noFill/>
          <a:ln w="15875">
            <a:solidFill>
              <a:srgbClr val="7C8598"/>
            </a:solidFill>
            <a:prstDash val="dash"/>
            <a:tailEnd type="triangle"/>
          </a:ln>
        </p:spPr>
      </p:sp>
      <p:sp>
        <p:nvSpPr>
          <p:cNvPr id="36" name="Shape 32"/>
          <p:cNvSpPr/>
          <p:nvPr/>
        </p:nvSpPr>
        <p:spPr>
          <a:xfrm>
            <a:off x="6583680" y="6062472"/>
            <a:ext cx="365760" cy="0"/>
          </a:xfrm>
          <a:prstGeom prst="line">
            <a:avLst/>
          </a:prstGeom>
          <a:noFill/>
          <a:ln w="15875">
            <a:solidFill>
              <a:srgbClr val="7C8598"/>
            </a:solidFill>
            <a:prstDash val="dash"/>
            <a:tailEnd type="triangle"/>
          </a:ln>
        </p:spPr>
      </p:sp>
      <p:sp>
        <p:nvSpPr>
          <p:cNvPr id="37" name="Shape 33"/>
          <p:cNvSpPr/>
          <p:nvPr/>
        </p:nvSpPr>
        <p:spPr>
          <a:xfrm>
            <a:off x="4389120" y="6611112"/>
            <a:ext cx="411480" cy="0"/>
          </a:xfrm>
          <a:prstGeom prst="line">
            <a:avLst/>
          </a:prstGeom>
          <a:noFill/>
          <a:ln w="15875">
            <a:solidFill>
              <a:srgbClr val="7C8598"/>
            </a:solidFill>
            <a:prstDash val="dash"/>
            <a:tailEnd type="triangle"/>
          </a:ln>
        </p:spPr>
      </p:sp>
      <p:sp>
        <p:nvSpPr>
          <p:cNvPr id="38" name="Shape 34"/>
          <p:cNvSpPr/>
          <p:nvPr/>
        </p:nvSpPr>
        <p:spPr>
          <a:xfrm>
            <a:off x="6583680" y="6611112"/>
            <a:ext cx="365760" cy="0"/>
          </a:xfrm>
          <a:prstGeom prst="line">
            <a:avLst/>
          </a:prstGeom>
          <a:noFill/>
          <a:ln w="15875">
            <a:solidFill>
              <a:srgbClr val="7C8598"/>
            </a:solidFill>
            <a:prstDash val="dash"/>
            <a:tailEnd type="triangle"/>
          </a:ln>
        </p:spPr>
      </p:sp>
      <p:sp>
        <p:nvSpPr>
          <p:cNvPr id="39" name="Shape 35"/>
          <p:cNvSpPr/>
          <p:nvPr/>
        </p:nvSpPr>
        <p:spPr>
          <a:xfrm>
            <a:off x="3337560" y="4553712"/>
            <a:ext cx="1051560" cy="493776"/>
          </a:xfrm>
          <a:prstGeom prst="roundRect">
            <a:avLst>
              <a:gd name="adj" fmla="val 18519"/>
            </a:avLst>
          </a:prstGeom>
          <a:solidFill>
            <a:srgbClr val="2E74C6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3337560" y="4553712"/>
            <a:ext cx="105156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식비</a:t>
            </a:r>
            <a:endParaRPr lang="en-US" sz="1700" dirty="0"/>
          </a:p>
        </p:txBody>
      </p:sp>
      <p:sp>
        <p:nvSpPr>
          <p:cNvPr id="41" name="Shape 37"/>
          <p:cNvSpPr/>
          <p:nvPr/>
        </p:nvSpPr>
        <p:spPr>
          <a:xfrm>
            <a:off x="3337560" y="5815584"/>
            <a:ext cx="1051560" cy="493776"/>
          </a:xfrm>
          <a:prstGeom prst="roundRect">
            <a:avLst>
              <a:gd name="adj" fmla="val 18519"/>
            </a:avLst>
          </a:prstGeom>
          <a:solidFill>
            <a:srgbClr val="EEF0F4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3337560" y="5815584"/>
            <a:ext cx="105156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쇼핑</a:t>
            </a:r>
            <a:endParaRPr lang="en-US" sz="1700" dirty="0"/>
          </a:p>
        </p:txBody>
      </p:sp>
      <p:sp>
        <p:nvSpPr>
          <p:cNvPr id="43" name="Shape 39"/>
          <p:cNvSpPr/>
          <p:nvPr/>
        </p:nvSpPr>
        <p:spPr>
          <a:xfrm>
            <a:off x="3337560" y="6364224"/>
            <a:ext cx="1051560" cy="493776"/>
          </a:xfrm>
          <a:prstGeom prst="roundRect">
            <a:avLst>
              <a:gd name="adj" fmla="val 18519"/>
            </a:avLst>
          </a:prstGeom>
          <a:solidFill>
            <a:srgbClr val="EEF0F4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3337560" y="6364224"/>
            <a:ext cx="105156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주유</a:t>
            </a:r>
            <a:endParaRPr lang="en-US" sz="1700" dirty="0"/>
          </a:p>
        </p:txBody>
      </p:sp>
      <p:sp>
        <p:nvSpPr>
          <p:cNvPr id="45" name="Shape 41"/>
          <p:cNvSpPr/>
          <p:nvPr/>
        </p:nvSpPr>
        <p:spPr>
          <a:xfrm>
            <a:off x="4800600" y="3950208"/>
            <a:ext cx="178308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25400">
            <a:solidFill>
              <a:srgbClr val="2E74C6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4800600" y="3950208"/>
            <a:ext cx="178308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시간대 할인</a:t>
            </a:r>
            <a:endParaRPr lang="en-US" sz="1400" dirty="0"/>
          </a:p>
        </p:txBody>
      </p:sp>
      <p:sp>
        <p:nvSpPr>
          <p:cNvPr id="47" name="Shape 43"/>
          <p:cNvSpPr/>
          <p:nvPr/>
        </p:nvSpPr>
        <p:spPr>
          <a:xfrm>
            <a:off x="6949440" y="3950208"/>
            <a:ext cx="91440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25400">
            <a:solidFill>
              <a:srgbClr val="2E74C6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6949440" y="3950208"/>
            <a:ext cx="91440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D2-C005</a:t>
            </a:r>
            <a:endParaRPr lang="en-US" sz="1400" dirty="0"/>
          </a:p>
        </p:txBody>
      </p:sp>
      <p:sp>
        <p:nvSpPr>
          <p:cNvPr id="49" name="Shape 45"/>
          <p:cNvSpPr/>
          <p:nvPr/>
        </p:nvSpPr>
        <p:spPr>
          <a:xfrm>
            <a:off x="7863840" y="4197096"/>
            <a:ext cx="109728" cy="0"/>
          </a:xfrm>
          <a:prstGeom prst="line">
            <a:avLst/>
          </a:prstGeom>
          <a:noFill/>
          <a:ln w="25400">
            <a:solidFill>
              <a:srgbClr val="2E74C6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7973568" y="3950208"/>
            <a:ext cx="1554480" cy="493776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</p:sp>
      <p:sp>
        <p:nvSpPr>
          <p:cNvPr id="51" name="Text 47"/>
          <p:cNvSpPr txBox="1"/>
          <p:nvPr/>
        </p:nvSpPr>
        <p:spPr>
          <a:xfrm>
            <a:off x="7973568" y="3950208"/>
            <a:ext cx="155448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한빛 하루절약</a:t>
            </a:r>
            <a:endParaRPr lang="en-US" sz="1400" dirty="0"/>
          </a:p>
        </p:txBody>
      </p:sp>
      <p:sp>
        <p:nvSpPr>
          <p:cNvPr id="52" name="Shape 48"/>
          <p:cNvSpPr/>
          <p:nvPr/>
        </p:nvSpPr>
        <p:spPr>
          <a:xfrm>
            <a:off x="4800600" y="4553712"/>
            <a:ext cx="178308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25400">
            <a:solidFill>
              <a:srgbClr val="2E74C6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4800600" y="4553712"/>
            <a:ext cx="178308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배달앱 할인</a:t>
            </a:r>
            <a:endParaRPr lang="en-US" sz="1400" dirty="0"/>
          </a:p>
        </p:txBody>
      </p:sp>
      <p:sp>
        <p:nvSpPr>
          <p:cNvPr id="54" name="Shape 50"/>
          <p:cNvSpPr/>
          <p:nvPr/>
        </p:nvSpPr>
        <p:spPr>
          <a:xfrm>
            <a:off x="6949440" y="4553712"/>
            <a:ext cx="91440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25400">
            <a:solidFill>
              <a:srgbClr val="2E74C6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6949440" y="4553712"/>
            <a:ext cx="91440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D2-C033</a:t>
            </a:r>
            <a:endParaRPr lang="en-US" sz="1400" dirty="0"/>
          </a:p>
        </p:txBody>
      </p:sp>
      <p:sp>
        <p:nvSpPr>
          <p:cNvPr id="56" name="Shape 52"/>
          <p:cNvSpPr/>
          <p:nvPr/>
        </p:nvSpPr>
        <p:spPr>
          <a:xfrm>
            <a:off x="7863840" y="4800600"/>
            <a:ext cx="109728" cy="0"/>
          </a:xfrm>
          <a:prstGeom prst="line">
            <a:avLst/>
          </a:prstGeom>
          <a:noFill/>
          <a:ln w="25400">
            <a:solidFill>
              <a:srgbClr val="2E74C6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7973568" y="4553712"/>
            <a:ext cx="1554480" cy="493776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</p:sp>
      <p:sp>
        <p:nvSpPr>
          <p:cNvPr id="58" name="Text 54"/>
          <p:cNvSpPr txBox="1"/>
          <p:nvPr/>
        </p:nvSpPr>
        <p:spPr>
          <a:xfrm>
            <a:off x="7973568" y="4553712"/>
            <a:ext cx="155448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한빛 한끼친구</a:t>
            </a:r>
            <a:endParaRPr lang="en-US" sz="1400" dirty="0"/>
          </a:p>
        </p:txBody>
      </p:sp>
      <p:sp>
        <p:nvSpPr>
          <p:cNvPr id="59" name="Shape 55"/>
          <p:cNvSpPr/>
          <p:nvPr/>
        </p:nvSpPr>
        <p:spPr>
          <a:xfrm>
            <a:off x="4800600" y="5157216"/>
            <a:ext cx="178308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25400">
            <a:solidFill>
              <a:srgbClr val="2E74C6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4800600" y="5157216"/>
            <a:ext cx="178308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주말 외식 적립</a:t>
            </a:r>
            <a:endParaRPr lang="en-US" sz="1400" dirty="0"/>
          </a:p>
        </p:txBody>
      </p:sp>
      <p:sp>
        <p:nvSpPr>
          <p:cNvPr id="61" name="Shape 57"/>
          <p:cNvSpPr/>
          <p:nvPr/>
        </p:nvSpPr>
        <p:spPr>
          <a:xfrm>
            <a:off x="6949440" y="5157216"/>
            <a:ext cx="91440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25400">
            <a:solidFill>
              <a:srgbClr val="2E74C6"/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6949440" y="5157216"/>
            <a:ext cx="91440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D2-C035</a:t>
            </a:r>
            <a:endParaRPr lang="en-US" sz="1400" dirty="0"/>
          </a:p>
        </p:txBody>
      </p:sp>
      <p:sp>
        <p:nvSpPr>
          <p:cNvPr id="63" name="Shape 59"/>
          <p:cNvSpPr/>
          <p:nvPr/>
        </p:nvSpPr>
        <p:spPr>
          <a:xfrm>
            <a:off x="7863840" y="5404104"/>
            <a:ext cx="109728" cy="0"/>
          </a:xfrm>
          <a:prstGeom prst="line">
            <a:avLst/>
          </a:prstGeom>
          <a:noFill/>
          <a:ln w="25400">
            <a:solidFill>
              <a:srgbClr val="2E74C6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7973568" y="5157216"/>
            <a:ext cx="1554480" cy="493776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</p:sp>
      <p:sp>
        <p:nvSpPr>
          <p:cNvPr id="65" name="Text 61"/>
          <p:cNvSpPr txBox="1"/>
          <p:nvPr/>
        </p:nvSpPr>
        <p:spPr>
          <a:xfrm>
            <a:off x="7973568" y="5157216"/>
            <a:ext cx="155448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한빛 일상포인트</a:t>
            </a:r>
            <a:endParaRPr lang="en-US" sz="1400" dirty="0"/>
          </a:p>
        </p:txBody>
      </p:sp>
      <p:sp>
        <p:nvSpPr>
          <p:cNvPr id="66" name="Shape 62"/>
          <p:cNvSpPr/>
          <p:nvPr/>
        </p:nvSpPr>
        <p:spPr>
          <a:xfrm>
            <a:off x="4800600" y="5815584"/>
            <a:ext cx="178308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7" name="Text 63"/>
          <p:cNvSpPr txBox="1"/>
          <p:nvPr/>
        </p:nvSpPr>
        <p:spPr>
          <a:xfrm>
            <a:off x="4800600" y="5815584"/>
            <a:ext cx="178308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생활쇼핑 할인</a:t>
            </a:r>
            <a:endParaRPr lang="en-US" sz="1400" dirty="0"/>
          </a:p>
        </p:txBody>
      </p:sp>
      <p:sp>
        <p:nvSpPr>
          <p:cNvPr id="68" name="Shape 64"/>
          <p:cNvSpPr/>
          <p:nvPr/>
        </p:nvSpPr>
        <p:spPr>
          <a:xfrm>
            <a:off x="6949440" y="5815584"/>
            <a:ext cx="91440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9" name="Text 65"/>
          <p:cNvSpPr txBox="1"/>
          <p:nvPr/>
        </p:nvSpPr>
        <p:spPr>
          <a:xfrm>
            <a:off x="6949440" y="5815584"/>
            <a:ext cx="91440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D2-C058</a:t>
            </a:r>
            <a:endParaRPr lang="en-US" sz="1400" dirty="0"/>
          </a:p>
        </p:txBody>
      </p:sp>
      <p:sp>
        <p:nvSpPr>
          <p:cNvPr id="70" name="Shape 66"/>
          <p:cNvSpPr/>
          <p:nvPr/>
        </p:nvSpPr>
        <p:spPr>
          <a:xfrm>
            <a:off x="7863840" y="6062472"/>
            <a:ext cx="109728" cy="0"/>
          </a:xfrm>
          <a:prstGeom prst="line">
            <a:avLst/>
          </a:prstGeom>
          <a:noFill/>
          <a:ln w="12700">
            <a:solidFill>
              <a:srgbClr val="D9E0EC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7973568" y="5815584"/>
            <a:ext cx="1554480" cy="493776"/>
          </a:xfrm>
          <a:prstGeom prst="roundRect">
            <a:avLst>
              <a:gd name="adj" fmla="val 45000"/>
            </a:avLst>
          </a:prstGeom>
          <a:solidFill>
            <a:srgbClr val="EEF0F4"/>
          </a:solidFill>
          <a:ln/>
        </p:spPr>
      </p:sp>
      <p:sp>
        <p:nvSpPr>
          <p:cNvPr id="72" name="Text 68"/>
          <p:cNvSpPr txBox="1"/>
          <p:nvPr/>
        </p:nvSpPr>
        <p:spPr>
          <a:xfrm>
            <a:off x="7973568" y="5815584"/>
            <a:ext cx="155448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한빛 반려동행</a:t>
            </a:r>
            <a:endParaRPr lang="en-US" sz="1400" dirty="0"/>
          </a:p>
        </p:txBody>
      </p:sp>
      <p:sp>
        <p:nvSpPr>
          <p:cNvPr id="73" name="Shape 69"/>
          <p:cNvSpPr/>
          <p:nvPr/>
        </p:nvSpPr>
        <p:spPr>
          <a:xfrm>
            <a:off x="4800600" y="6364224"/>
            <a:ext cx="178308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4" name="Text 70"/>
          <p:cNvSpPr txBox="1"/>
          <p:nvPr/>
        </p:nvSpPr>
        <p:spPr>
          <a:xfrm>
            <a:off x="4800600" y="6364224"/>
            <a:ext cx="178308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 주유소 할인</a:t>
            </a:r>
            <a:endParaRPr lang="en-US" sz="1400" dirty="0"/>
          </a:p>
        </p:txBody>
      </p:sp>
      <p:sp>
        <p:nvSpPr>
          <p:cNvPr id="75" name="Shape 71"/>
          <p:cNvSpPr/>
          <p:nvPr/>
        </p:nvSpPr>
        <p:spPr>
          <a:xfrm>
            <a:off x="6949440" y="6364224"/>
            <a:ext cx="91440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6" name="Text 72"/>
          <p:cNvSpPr txBox="1"/>
          <p:nvPr/>
        </p:nvSpPr>
        <p:spPr>
          <a:xfrm>
            <a:off x="6949440" y="6364224"/>
            <a:ext cx="91440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D2-C007</a:t>
            </a:r>
            <a:endParaRPr lang="en-US" sz="1400" dirty="0"/>
          </a:p>
        </p:txBody>
      </p:sp>
      <p:sp>
        <p:nvSpPr>
          <p:cNvPr id="77" name="Shape 73"/>
          <p:cNvSpPr/>
          <p:nvPr/>
        </p:nvSpPr>
        <p:spPr>
          <a:xfrm>
            <a:off x="7863840" y="6611112"/>
            <a:ext cx="109728" cy="0"/>
          </a:xfrm>
          <a:prstGeom prst="line">
            <a:avLst/>
          </a:prstGeom>
          <a:noFill/>
          <a:ln w="12700">
            <a:solidFill>
              <a:srgbClr val="D9E0EC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7973568" y="6364224"/>
            <a:ext cx="1554480" cy="493776"/>
          </a:xfrm>
          <a:prstGeom prst="roundRect">
            <a:avLst>
              <a:gd name="adj" fmla="val 45000"/>
            </a:avLst>
          </a:prstGeom>
          <a:solidFill>
            <a:srgbClr val="EEF0F4"/>
          </a:solidFill>
          <a:ln/>
        </p:spPr>
      </p:sp>
      <p:sp>
        <p:nvSpPr>
          <p:cNvPr id="79" name="Text 75"/>
          <p:cNvSpPr txBox="1"/>
          <p:nvPr/>
        </p:nvSpPr>
        <p:spPr>
          <a:xfrm>
            <a:off x="7973568" y="6364224"/>
            <a:ext cx="155448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한빛 주유동행</a:t>
            </a:r>
            <a:endParaRPr lang="en-US" sz="1400" dirty="0"/>
          </a:p>
        </p:txBody>
      </p:sp>
      <p:sp>
        <p:nvSpPr>
          <p:cNvPr id="80" name="Shape 76"/>
          <p:cNvSpPr/>
          <p:nvPr/>
        </p:nvSpPr>
        <p:spPr>
          <a:xfrm>
            <a:off x="4137660" y="3621024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</p:sp>
      <p:sp>
        <p:nvSpPr>
          <p:cNvPr id="81" name="Text 77"/>
          <p:cNvSpPr txBox="1"/>
          <p:nvPr/>
        </p:nvSpPr>
        <p:spPr>
          <a:xfrm>
            <a:off x="4137660" y="3621024"/>
            <a:ext cx="91440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혜택</a:t>
            </a:r>
            <a:endParaRPr lang="en-US" sz="1400" dirty="0"/>
          </a:p>
        </p:txBody>
      </p:sp>
      <p:sp>
        <p:nvSpPr>
          <p:cNvPr id="82" name="Shape 78"/>
          <p:cNvSpPr/>
          <p:nvPr/>
        </p:nvSpPr>
        <p:spPr>
          <a:xfrm>
            <a:off x="6309360" y="3621024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</p:sp>
      <p:sp>
        <p:nvSpPr>
          <p:cNvPr id="83" name="Text 79"/>
          <p:cNvSpPr txBox="1"/>
          <p:nvPr/>
        </p:nvSpPr>
        <p:spPr>
          <a:xfrm>
            <a:off x="6309360" y="3621024"/>
            <a:ext cx="91440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제공 상품</a:t>
            </a:r>
            <a:endParaRPr lang="en-US" sz="1400" dirty="0"/>
          </a:p>
        </p:txBody>
      </p:sp>
      <p:sp>
        <p:nvSpPr>
          <p:cNvPr id="84" name="Text 80"/>
          <p:cNvSpPr txBox="1"/>
          <p:nvPr/>
        </p:nvSpPr>
        <p:spPr>
          <a:xfrm>
            <a:off x="3337560" y="3611880"/>
            <a:ext cx="105156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업종</a:t>
            </a:r>
            <a:endParaRPr lang="en-US" sz="1400" dirty="0"/>
          </a:p>
        </p:txBody>
      </p:sp>
      <p:sp>
        <p:nvSpPr>
          <p:cNvPr id="85" name="Text 81"/>
          <p:cNvSpPr txBox="1"/>
          <p:nvPr/>
        </p:nvSpPr>
        <p:spPr>
          <a:xfrm>
            <a:off x="4800600" y="3611880"/>
            <a:ext cx="17830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혜택</a:t>
            </a:r>
            <a:endParaRPr lang="en-US" sz="1400" dirty="0"/>
          </a:p>
        </p:txBody>
      </p:sp>
      <p:sp>
        <p:nvSpPr>
          <p:cNvPr id="86" name="Text 82"/>
          <p:cNvSpPr txBox="1"/>
          <p:nvPr/>
        </p:nvSpPr>
        <p:spPr>
          <a:xfrm>
            <a:off x="6949440" y="3611880"/>
            <a:ext cx="2578608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(ID · 제목)</a:t>
            </a:r>
            <a:endParaRPr lang="en-US" sz="1400" dirty="0"/>
          </a:p>
        </p:txBody>
      </p:sp>
      <p:sp>
        <p:nvSpPr>
          <p:cNvPr id="87" name="Shape 83"/>
          <p:cNvSpPr/>
          <p:nvPr/>
        </p:nvSpPr>
        <p:spPr>
          <a:xfrm>
            <a:off x="2834640" y="4800600"/>
            <a:ext cx="502920" cy="0"/>
          </a:xfrm>
          <a:prstGeom prst="line">
            <a:avLst/>
          </a:prstGeom>
          <a:noFill/>
          <a:ln w="3175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88" name="Text 84"/>
          <p:cNvSpPr txBox="1"/>
          <p:nvPr/>
        </p:nvSpPr>
        <p:spPr>
          <a:xfrm>
            <a:off x="685800" y="6949440"/>
            <a:ext cx="891540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화살표 = 찾아가는 방향. 저장은 '혜택 →대상→ 업종'·'상품 →제공→ 혜택'이며 거꾸로 따라감</a:t>
            </a:r>
            <a:endParaRPr lang="en-US" sz="1400" dirty="0"/>
          </a:p>
        </p:txBody>
      </p:sp>
      <p:sp>
        <p:nvSpPr>
          <p:cNvPr id="89" name="Shape 85"/>
          <p:cNvSpPr/>
          <p:nvPr/>
        </p:nvSpPr>
        <p:spPr>
          <a:xfrm>
            <a:off x="9881921" y="1737360"/>
            <a:ext cx="4251960" cy="384048"/>
          </a:xfrm>
          <a:prstGeom prst="roundRect">
            <a:avLst>
              <a:gd name="adj" fmla="val 14286"/>
            </a:avLst>
          </a:prstGeom>
          <a:solidFill>
            <a:srgbClr val="1E2A5C"/>
          </a:solidFill>
          <a:ln/>
        </p:spPr>
      </p:sp>
      <p:sp>
        <p:nvSpPr>
          <p:cNvPr id="90" name="Text 86"/>
          <p:cNvSpPr txBox="1"/>
          <p:nvPr/>
        </p:nvSpPr>
        <p:spPr>
          <a:xfrm>
            <a:off x="9881921" y="1737360"/>
            <a:ext cx="425196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단계가 뜻하는 것</a:t>
            </a:r>
            <a:endParaRPr lang="en-US" sz="1700" dirty="0"/>
          </a:p>
        </p:txBody>
      </p:sp>
      <p:sp>
        <p:nvSpPr>
          <p:cNvPr id="91" name="Shape 87"/>
          <p:cNvSpPr/>
          <p:nvPr/>
        </p:nvSpPr>
        <p:spPr>
          <a:xfrm>
            <a:off x="9881921" y="2212848"/>
            <a:ext cx="4251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10019081" y="233172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/>
        </p:spPr>
      </p:sp>
      <p:sp>
        <p:nvSpPr>
          <p:cNvPr id="93" name="Text 89"/>
          <p:cNvSpPr txBox="1"/>
          <p:nvPr/>
        </p:nvSpPr>
        <p:spPr>
          <a:xfrm>
            <a:off x="10019081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94" name="Text 90"/>
          <p:cNvSpPr txBox="1"/>
          <p:nvPr/>
        </p:nvSpPr>
        <p:spPr>
          <a:xfrm>
            <a:off x="10476281" y="2304288"/>
            <a:ext cx="356616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출발 노드 정하기 · SQL</a:t>
            </a:r>
            <a:endParaRPr lang="en-US" sz="1700" dirty="0"/>
          </a:p>
        </p:txBody>
      </p:sp>
      <p:sp>
        <p:nvSpPr>
          <p:cNvPr id="95" name="Text 91"/>
          <p:cNvSpPr txBox="1"/>
          <p:nvPr/>
        </p:nvSpPr>
        <p:spPr>
          <a:xfrm>
            <a:off x="10019081" y="2761488"/>
            <a:ext cx="3977640" cy="7223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매달 바뀌는 소비 비중은 SQL로 계산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식비</a:t>
            </a:r>
            <a:endParaRPr lang="en-US" sz="1400" dirty="0"/>
          </a:p>
        </p:txBody>
      </p:sp>
      <p:sp>
        <p:nvSpPr>
          <p:cNvPr id="96" name="Shape 92"/>
          <p:cNvSpPr/>
          <p:nvPr/>
        </p:nvSpPr>
        <p:spPr>
          <a:xfrm>
            <a:off x="9881921" y="3630168"/>
            <a:ext cx="4251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10019081" y="37490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/>
        </p:spPr>
      </p:sp>
      <p:sp>
        <p:nvSpPr>
          <p:cNvPr id="98" name="Text 94"/>
          <p:cNvSpPr txBox="1"/>
          <p:nvPr/>
        </p:nvSpPr>
        <p:spPr>
          <a:xfrm>
            <a:off x="10019081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99" name="Text 95"/>
          <p:cNvSpPr txBox="1"/>
          <p:nvPr/>
        </p:nvSpPr>
        <p:spPr>
          <a:xfrm>
            <a:off x="10476281" y="3721608"/>
            <a:ext cx="356616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탐색 · 그래프</a:t>
            </a:r>
            <a:endParaRPr lang="en-US" sz="1700" dirty="0"/>
          </a:p>
        </p:txBody>
      </p:sp>
      <p:sp>
        <p:nvSpPr>
          <p:cNvPr id="100" name="Text 96"/>
          <p:cNvSpPr txBox="1"/>
          <p:nvPr/>
        </p:nvSpPr>
        <p:spPr>
          <a:xfrm>
            <a:off x="10019081" y="4178808"/>
            <a:ext cx="3977640" cy="7223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업종명으로 출발 노드를 찾고, 관계로 갈 길을 거름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쓰는 것 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업종명, 관계(대상·제공)</a:t>
            </a:r>
            <a:endParaRPr lang="en-US" sz="1400" dirty="0"/>
          </a:p>
        </p:txBody>
      </p:sp>
      <p:sp>
        <p:nvSpPr>
          <p:cNvPr id="101" name="Shape 97"/>
          <p:cNvSpPr/>
          <p:nvPr/>
        </p:nvSpPr>
        <p:spPr>
          <a:xfrm>
            <a:off x="9881921" y="5047488"/>
            <a:ext cx="4251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10019081" y="516636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/>
        </p:spPr>
      </p:sp>
      <p:sp>
        <p:nvSpPr>
          <p:cNvPr id="103" name="Text 99"/>
          <p:cNvSpPr txBox="1"/>
          <p:nvPr/>
        </p:nvSpPr>
        <p:spPr>
          <a:xfrm>
            <a:off x="10019081" y="5166360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04" name="Text 100"/>
          <p:cNvSpPr txBox="1"/>
          <p:nvPr/>
        </p:nvSpPr>
        <p:spPr>
          <a:xfrm>
            <a:off x="10476281" y="5138928"/>
            <a:ext cx="356616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탐색된 노드의 제목 · 그래프</a:t>
            </a:r>
            <a:endParaRPr lang="en-US" sz="1700" dirty="0"/>
          </a:p>
        </p:txBody>
      </p:sp>
      <p:sp>
        <p:nvSpPr>
          <p:cNvPr id="105" name="Text 101"/>
          <p:cNvSpPr txBox="1"/>
          <p:nvPr/>
        </p:nvSpPr>
        <p:spPr>
          <a:xfrm>
            <a:off x="10019081" y="5596128"/>
            <a:ext cx="3977640" cy="7223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도착한 노드의 ID 대신 사람이 읽는 제목을 씀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쓰는 것 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상품명, 혜택명</a:t>
            </a:r>
            <a:endParaRPr lang="en-US" sz="1400" dirty="0"/>
          </a:p>
        </p:txBody>
      </p:sp>
      <p:sp>
        <p:nvSpPr>
          <p:cNvPr id="106" name="Shape 102"/>
          <p:cNvSpPr/>
          <p:nvPr/>
        </p:nvSpPr>
        <p:spPr>
          <a:xfrm>
            <a:off x="9881921" y="6464808"/>
            <a:ext cx="4251960" cy="804672"/>
          </a:xfrm>
          <a:prstGeom prst="roundRect">
            <a:avLst>
              <a:gd name="adj" fmla="val 9091"/>
            </a:avLst>
          </a:prstGeom>
          <a:solidFill>
            <a:srgbClr val="EEF3FA"/>
          </a:solidFill>
          <a:ln/>
        </p:spPr>
      </p:sp>
      <p:sp>
        <p:nvSpPr>
          <p:cNvPr id="107" name="Text 103"/>
          <p:cNvSpPr txBox="1"/>
          <p:nvPr/>
        </p:nvSpPr>
        <p:spPr>
          <a:xfrm>
            <a:off x="10019081" y="6464808"/>
            <a:ext cx="3977640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  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하루절약 · 한끼친구 · 일상포인트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연회비·혜택률은 상품 ID로 따로 가져옴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2026-10-12T07:03:13Z</dcterms:created>
  <dcterms:modified xsi:type="dcterms:W3CDTF">2026-10-12T07:03:13Z</dcterms:modified>
</cp:coreProperties>
</file>