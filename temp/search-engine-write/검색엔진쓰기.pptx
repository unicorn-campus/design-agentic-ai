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4630400" cy="8229600"/>
  <p:notesSz cx="8229600" cy="146304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검색 엔진에 쓸 때는 청크 하나를 엔진 문서 하나로 넣습니다. 문제는 문서를 고쳤을 때입니다. 청크 ID에는 본문 해시가 들어 있어서 본문이 바뀌면 ID도 바뀝니다. 그래서 청크 ID로 덮어쓰기만 하면 옛 ID의 청크와 빠진 청크가 지울 주인 없이 남습니다. 이렇게 남은 고아 청크는 이미 고친 옛 내용을 검색 결과에 섞어 냅니다.
그래서 문서 키로 그 문서의 청크를 먼저 모두 지우고 새 청크를 넣습니다. 문서 키는 청크 ID의 앞 칸이라 본문이 바뀌어도 변하지 않습니다.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코드는 네 덩어리입니다. 먼저 들어온 청크를 문서 키로 묶습니다. 다음으로 문서마다 delete_by_query로 그 문서의 옛 청크를 모두 지웁니다. refresh를 켜 두어야 지운 결과가 바로 반영됩니다. 그다음 bulk로 새 청크를 한꺼번에 넣는데, 이때 _id를 청크 ID로 고정해 두면 같은 입력을 두 번 넣어도 건수가 늘지 않습니다. 마지막으로 refresh를 불러 다음 검색부터 보이게 합니다.
시험에서는 고친 문서를 다시 쓸 때 옛 청크 9개를 지우고 10개를 넣었고, 남은 고아 청크는 없었습니다. 지금 쓰는 인덱스에 바로 쓰면 지우기와 넣기 사이에 그 문서가 잠깐 보이지 않으므로, 전체 재색인은 새 세대에 쓰고 별칭을 바꿉니다.
별칭은 1-a의 활성 세대 파일(active_generation.json)과 같은 역할입니다. 둘 다 검색이 보는 이름표이고, 새 세대를 다 만든 뒤 이름표만 바꿉니다. 차이는 반영 방식입니다. 1-a는 리트리버가 파일을 읽고 새 세대를 메모리에 다시 올려야 하고, 1-b는 이름표가 검색 엔진 안에 있어 바꾸는 즉시 모든 검색에 적용됩니다.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검색 엔진 방식에서는 따로 된 벡터DB가 없습니다. 검색 엔진 인덱스 하나에 벡터 필드와 키워드 필드가 함께 있어서, 청크 한 건을 넣으면 벡터 색인과 키워드 역색인이 같은 순간에 갱신됩니다. 다만 벡터를 만드는 임베딩과 낱말을 만드는 키워드 분석은 그 전에 파이썬에서 따로 합니다.
벡터DB 인덱싱은 벡터를 Chroma에, 점수표를 파일에 따로 만든 뒤 활성 세대 파일 하나로 함께 바꿉니다. 어느 쪽이든 벡터 검색과 키워드 검색은 늘 같은 세대를 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내용_단쪽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8406" y="868680"/>
            <a:ext cx="13613587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45770" y="7787945"/>
            <a:ext cx="15316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6A6A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무단전재 및 배포 금지</a:t>
            </a:r>
            <a:endParaRPr lang="en-US" sz="1200" dirty="0"/>
          </a:p>
        </p:txBody>
      </p:sp>
      <p:sp>
        <p:nvSpPr>
          <p:cNvPr id="4" name="Text 2"/>
          <p:cNvSpPr/>
          <p:nvPr>
            <p:ph type="title"/>
          </p:nvPr>
        </p:nvSpPr>
        <p:spPr>
          <a:xfrm>
            <a:off x="509321" y="99670"/>
            <a:ext cx="13738860" cy="828446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rgbClr val="2C29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idx="4"/>
          </p:nvPr>
        </p:nvSpPr>
        <p:spPr>
          <a:xfrm>
            <a:off x="10893247" y="7787945"/>
            <a:ext cx="32918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600">
                <a:solidFill>
                  <a:srgbClr val="6B6B7B"/>
                </a:solidFill>
                <a:latin typeface="Pretendard"/>
                <a:ea typeface="Pretendard"/>
                <a:cs typeface="Pretendard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93247" y="7787945"/>
            <a:ext cx="32918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600">
                <a:solidFill>
                  <a:srgbClr val="6B6B7B"/>
                </a:solidFill>
                <a:latin typeface="Pretendard"/>
                <a:ea typeface="Pretendard"/>
                <a:cs typeface="Pretendard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type="title"/>
          </p:nvPr>
        </p:nvSpPr>
        <p:spPr>
          <a:xfrm>
            <a:off x="509321" y="99670"/>
            <a:ext cx="13738860" cy="8284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C29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검색 갈래 ③ 검색 엔진에 쓰기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09321" y="1151230"/>
            <a:ext cx="1362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문서 하나를 통째로 지우고 다시 넣어, 고친 문서의 옛 청크가 남지 않게 함</a:t>
            </a:r>
            <a:endParaRPr lang="en-US" sz="1800" dirty="0"/>
          </a:p>
        </p:txBody>
      </p:sp>
      <p:sp>
        <p:nvSpPr>
          <p:cNvPr id="5" name="Shape 2"/>
          <p:cNvSpPr/>
          <p:nvPr/>
        </p:nvSpPr>
        <p:spPr>
          <a:xfrm>
            <a:off x="509321" y="1810512"/>
            <a:ext cx="1325880" cy="420624"/>
          </a:xfrm>
          <a:prstGeom prst="roundRect">
            <a:avLst>
              <a:gd name="adj" fmla="val 10870"/>
            </a:avLst>
          </a:prstGeom>
          <a:solidFill>
            <a:srgbClr val="404155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509321" y="1810512"/>
            <a:ext cx="1325880" cy="420624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고친 문서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2011680" y="1810512"/>
            <a:ext cx="420624" cy="420624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 w="12700">
            <a:solidFill>
              <a:srgbClr val="D9E0EC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2011680" y="1810512"/>
            <a:ext cx="420624" cy="420624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2496312" y="1810512"/>
            <a:ext cx="420624" cy="420624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 w="12700">
            <a:solidFill>
              <a:srgbClr val="D9E0EC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2496312" y="1810512"/>
            <a:ext cx="420624" cy="420624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2980944" y="1810512"/>
            <a:ext cx="420624" cy="420624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 w="12700">
            <a:solidFill>
              <a:srgbClr val="D9E0EC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2980944" y="1810512"/>
            <a:ext cx="420624" cy="420624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3465576" y="1810512"/>
            <a:ext cx="420624" cy="420624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 w="12700">
            <a:solidFill>
              <a:srgbClr val="D9E0EC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3465576" y="1810512"/>
            <a:ext cx="420624" cy="420624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3950208" y="1810512"/>
            <a:ext cx="420624" cy="420624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 w="12700">
            <a:solidFill>
              <a:srgbClr val="D9E0EC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3950208" y="1810512"/>
            <a:ext cx="420624" cy="420624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</a:t>
            </a:r>
            <a:endParaRPr lang="en-US" sz="1400" dirty="0"/>
          </a:p>
        </p:txBody>
      </p:sp>
      <p:sp>
        <p:nvSpPr>
          <p:cNvPr id="17" name="Shape 14"/>
          <p:cNvSpPr/>
          <p:nvPr/>
        </p:nvSpPr>
        <p:spPr>
          <a:xfrm>
            <a:off x="4434840" y="1810512"/>
            <a:ext cx="420624" cy="420624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 w="12700">
            <a:solidFill>
              <a:srgbClr val="D9E0EC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4434840" y="1810512"/>
            <a:ext cx="420624" cy="420624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6</a:t>
            </a:r>
            <a:endParaRPr lang="en-US" sz="1400" dirty="0"/>
          </a:p>
        </p:txBody>
      </p:sp>
      <p:sp>
        <p:nvSpPr>
          <p:cNvPr id="19" name="Shape 16"/>
          <p:cNvSpPr/>
          <p:nvPr/>
        </p:nvSpPr>
        <p:spPr>
          <a:xfrm>
            <a:off x="4919472" y="1810512"/>
            <a:ext cx="420624" cy="420624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 w="12700">
            <a:solidFill>
              <a:srgbClr val="D9E0EC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4919472" y="1810512"/>
            <a:ext cx="420624" cy="420624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7</a:t>
            </a:r>
            <a:endParaRPr lang="en-US" sz="1400" dirty="0"/>
          </a:p>
        </p:txBody>
      </p:sp>
      <p:sp>
        <p:nvSpPr>
          <p:cNvPr id="21" name="Shape 18"/>
          <p:cNvSpPr/>
          <p:nvPr/>
        </p:nvSpPr>
        <p:spPr>
          <a:xfrm>
            <a:off x="5404104" y="1810512"/>
            <a:ext cx="420624" cy="420624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 w="12700">
            <a:solidFill>
              <a:srgbClr val="D9E0EC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5404104" y="1810512"/>
            <a:ext cx="420624" cy="420624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8</a:t>
            </a:r>
            <a:endParaRPr lang="en-US" sz="1400" dirty="0"/>
          </a:p>
        </p:txBody>
      </p:sp>
      <p:sp>
        <p:nvSpPr>
          <p:cNvPr id="23" name="Shape 20"/>
          <p:cNvSpPr/>
          <p:nvPr/>
        </p:nvSpPr>
        <p:spPr>
          <a:xfrm>
            <a:off x="5888736" y="1810512"/>
            <a:ext cx="420624" cy="420624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 w="12700">
            <a:solidFill>
              <a:srgbClr val="D9E0EC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5888736" y="1810512"/>
            <a:ext cx="420624" cy="420624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9</a:t>
            </a:r>
            <a:endParaRPr lang="en-US" sz="1400" dirty="0"/>
          </a:p>
        </p:txBody>
      </p:sp>
      <p:sp>
        <p:nvSpPr>
          <p:cNvPr id="25" name="Shape 22"/>
          <p:cNvSpPr/>
          <p:nvPr/>
        </p:nvSpPr>
        <p:spPr>
          <a:xfrm>
            <a:off x="6373368" y="1810512"/>
            <a:ext cx="420624" cy="420624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 w="12700">
            <a:solidFill>
              <a:srgbClr val="D9E0EC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6373368" y="1810512"/>
            <a:ext cx="420624" cy="420624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10</a:t>
            </a:r>
            <a:endParaRPr lang="en-US" sz="1400" dirty="0"/>
          </a:p>
        </p:txBody>
      </p:sp>
      <p:sp>
        <p:nvSpPr>
          <p:cNvPr id="27" name="Text 24"/>
          <p:cNvSpPr txBox="1"/>
          <p:nvPr/>
        </p:nvSpPr>
        <p:spPr>
          <a:xfrm>
            <a:off x="2011680" y="2267712"/>
            <a:ext cx="4846320" cy="310896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7C859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고치기 전 약관 문서 청크 10개</a:t>
            </a:r>
            <a:endParaRPr lang="en-US" sz="1400" dirty="0"/>
          </a:p>
        </p:txBody>
      </p:sp>
      <p:sp>
        <p:nvSpPr>
          <p:cNvPr id="28" name="Shape 25"/>
          <p:cNvSpPr/>
          <p:nvPr/>
        </p:nvSpPr>
        <p:spPr>
          <a:xfrm>
            <a:off x="6931152" y="2020824"/>
            <a:ext cx="2761488" cy="0"/>
          </a:xfrm>
          <a:prstGeom prst="line">
            <a:avLst/>
          </a:prstGeom>
          <a:noFill/>
          <a:ln w="25400">
            <a:solidFill>
              <a:srgbClr val="1E2A5C"/>
            </a:solidFill>
            <a:prstDash val="solid"/>
            <a:tailEnd type="triangle"/>
          </a:ln>
        </p:spPr>
      </p:sp>
      <p:sp>
        <p:nvSpPr>
          <p:cNvPr id="29" name="Text 26"/>
          <p:cNvSpPr txBox="1"/>
          <p:nvPr/>
        </p:nvSpPr>
        <p:spPr>
          <a:xfrm>
            <a:off x="6885432" y="2267712"/>
            <a:ext cx="2852928" cy="4572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1번 본문 수정(ID 바뀜)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10번 삭제</a:t>
            </a:r>
            <a:endParaRPr lang="en-US" sz="1400" dirty="0"/>
          </a:p>
        </p:txBody>
      </p:sp>
      <p:sp>
        <p:nvSpPr>
          <p:cNvPr id="30" name="Shape 27"/>
          <p:cNvSpPr/>
          <p:nvPr/>
        </p:nvSpPr>
        <p:spPr>
          <a:xfrm>
            <a:off x="9829800" y="1810512"/>
            <a:ext cx="420624" cy="420624"/>
          </a:xfrm>
          <a:prstGeom prst="roundRect">
            <a:avLst>
              <a:gd name="adj" fmla="val 10870"/>
            </a:avLst>
          </a:prstGeom>
          <a:solidFill>
            <a:srgbClr val="2E74C6"/>
          </a:solidFill>
          <a:ln/>
        </p:spPr>
      </p:sp>
      <p:sp>
        <p:nvSpPr>
          <p:cNvPr id="31" name="Text 28"/>
          <p:cNvSpPr txBox="1"/>
          <p:nvPr/>
        </p:nvSpPr>
        <p:spPr>
          <a:xfrm>
            <a:off x="9829800" y="1810512"/>
            <a:ext cx="420624" cy="420624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1′</a:t>
            </a:r>
            <a:endParaRPr lang="en-US" sz="1400" dirty="0"/>
          </a:p>
        </p:txBody>
      </p:sp>
      <p:sp>
        <p:nvSpPr>
          <p:cNvPr id="32" name="Shape 29"/>
          <p:cNvSpPr/>
          <p:nvPr/>
        </p:nvSpPr>
        <p:spPr>
          <a:xfrm>
            <a:off x="10314432" y="1810512"/>
            <a:ext cx="420624" cy="420624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 w="12700">
            <a:solidFill>
              <a:srgbClr val="D9E0EC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10314432" y="1810512"/>
            <a:ext cx="420624" cy="420624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</a:t>
            </a:r>
            <a:endParaRPr lang="en-US" sz="1400" dirty="0"/>
          </a:p>
        </p:txBody>
      </p:sp>
      <p:sp>
        <p:nvSpPr>
          <p:cNvPr id="34" name="Shape 31"/>
          <p:cNvSpPr/>
          <p:nvPr/>
        </p:nvSpPr>
        <p:spPr>
          <a:xfrm>
            <a:off x="10799064" y="1810512"/>
            <a:ext cx="420624" cy="420624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 w="12700">
            <a:solidFill>
              <a:srgbClr val="D9E0EC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10799064" y="1810512"/>
            <a:ext cx="420624" cy="420624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</a:t>
            </a:r>
            <a:endParaRPr lang="en-US" sz="1400" dirty="0"/>
          </a:p>
        </p:txBody>
      </p:sp>
      <p:sp>
        <p:nvSpPr>
          <p:cNvPr id="36" name="Shape 33"/>
          <p:cNvSpPr/>
          <p:nvPr/>
        </p:nvSpPr>
        <p:spPr>
          <a:xfrm>
            <a:off x="11283696" y="1810512"/>
            <a:ext cx="420624" cy="420624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 w="12700">
            <a:solidFill>
              <a:srgbClr val="D9E0EC"/>
            </a:solidFill>
            <a:prstDash val="solid"/>
          </a:ln>
        </p:spPr>
      </p:sp>
      <p:sp>
        <p:nvSpPr>
          <p:cNvPr id="37" name="Text 34"/>
          <p:cNvSpPr txBox="1"/>
          <p:nvPr/>
        </p:nvSpPr>
        <p:spPr>
          <a:xfrm>
            <a:off x="11283696" y="1810512"/>
            <a:ext cx="420624" cy="420624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</a:t>
            </a:r>
            <a:endParaRPr lang="en-US" sz="1400" dirty="0"/>
          </a:p>
        </p:txBody>
      </p:sp>
      <p:sp>
        <p:nvSpPr>
          <p:cNvPr id="38" name="Shape 35"/>
          <p:cNvSpPr/>
          <p:nvPr/>
        </p:nvSpPr>
        <p:spPr>
          <a:xfrm>
            <a:off x="11768328" y="1810512"/>
            <a:ext cx="420624" cy="420624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 w="12700">
            <a:solidFill>
              <a:srgbClr val="D9E0EC"/>
            </a:solidFill>
            <a:prstDash val="solid"/>
          </a:ln>
        </p:spPr>
      </p:sp>
      <p:sp>
        <p:nvSpPr>
          <p:cNvPr id="39" name="Text 36"/>
          <p:cNvSpPr txBox="1"/>
          <p:nvPr/>
        </p:nvSpPr>
        <p:spPr>
          <a:xfrm>
            <a:off x="11768328" y="1810512"/>
            <a:ext cx="420624" cy="420624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</a:t>
            </a:r>
            <a:endParaRPr lang="en-US" sz="1400" dirty="0"/>
          </a:p>
        </p:txBody>
      </p:sp>
      <p:sp>
        <p:nvSpPr>
          <p:cNvPr id="40" name="Shape 37"/>
          <p:cNvSpPr/>
          <p:nvPr/>
        </p:nvSpPr>
        <p:spPr>
          <a:xfrm>
            <a:off x="12252960" y="1810512"/>
            <a:ext cx="420624" cy="420624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 w="12700">
            <a:solidFill>
              <a:srgbClr val="D9E0EC"/>
            </a:solidFill>
            <a:prstDash val="solid"/>
          </a:ln>
        </p:spPr>
      </p:sp>
      <p:sp>
        <p:nvSpPr>
          <p:cNvPr id="41" name="Text 38"/>
          <p:cNvSpPr txBox="1"/>
          <p:nvPr/>
        </p:nvSpPr>
        <p:spPr>
          <a:xfrm>
            <a:off x="12252960" y="1810512"/>
            <a:ext cx="420624" cy="420624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6</a:t>
            </a:r>
            <a:endParaRPr lang="en-US" sz="1400" dirty="0"/>
          </a:p>
        </p:txBody>
      </p:sp>
      <p:sp>
        <p:nvSpPr>
          <p:cNvPr id="42" name="Shape 39"/>
          <p:cNvSpPr/>
          <p:nvPr/>
        </p:nvSpPr>
        <p:spPr>
          <a:xfrm>
            <a:off x="12737592" y="1810512"/>
            <a:ext cx="420624" cy="420624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 w="12700">
            <a:solidFill>
              <a:srgbClr val="D9E0EC"/>
            </a:solidFill>
            <a:prstDash val="solid"/>
          </a:ln>
        </p:spPr>
      </p:sp>
      <p:sp>
        <p:nvSpPr>
          <p:cNvPr id="43" name="Text 40"/>
          <p:cNvSpPr txBox="1"/>
          <p:nvPr/>
        </p:nvSpPr>
        <p:spPr>
          <a:xfrm>
            <a:off x="12737592" y="1810512"/>
            <a:ext cx="420624" cy="420624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7</a:t>
            </a:r>
            <a:endParaRPr lang="en-US" sz="1400" dirty="0"/>
          </a:p>
        </p:txBody>
      </p:sp>
      <p:sp>
        <p:nvSpPr>
          <p:cNvPr id="44" name="Shape 41"/>
          <p:cNvSpPr/>
          <p:nvPr/>
        </p:nvSpPr>
        <p:spPr>
          <a:xfrm>
            <a:off x="13222224" y="1810512"/>
            <a:ext cx="420624" cy="420624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 w="12700">
            <a:solidFill>
              <a:srgbClr val="D9E0EC"/>
            </a:solidFill>
            <a:prstDash val="solid"/>
          </a:ln>
        </p:spPr>
      </p:sp>
      <p:sp>
        <p:nvSpPr>
          <p:cNvPr id="45" name="Text 42"/>
          <p:cNvSpPr txBox="1"/>
          <p:nvPr/>
        </p:nvSpPr>
        <p:spPr>
          <a:xfrm>
            <a:off x="13222224" y="1810512"/>
            <a:ext cx="420624" cy="420624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8</a:t>
            </a:r>
            <a:endParaRPr lang="en-US" sz="1400" dirty="0"/>
          </a:p>
        </p:txBody>
      </p:sp>
      <p:sp>
        <p:nvSpPr>
          <p:cNvPr id="46" name="Shape 43"/>
          <p:cNvSpPr/>
          <p:nvPr/>
        </p:nvSpPr>
        <p:spPr>
          <a:xfrm>
            <a:off x="13706856" y="1810512"/>
            <a:ext cx="420624" cy="420624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 w="12700">
            <a:solidFill>
              <a:srgbClr val="D9E0EC"/>
            </a:solidFill>
            <a:prstDash val="solid"/>
          </a:ln>
        </p:spPr>
      </p:sp>
      <p:sp>
        <p:nvSpPr>
          <p:cNvPr id="47" name="Text 44"/>
          <p:cNvSpPr txBox="1"/>
          <p:nvPr/>
        </p:nvSpPr>
        <p:spPr>
          <a:xfrm>
            <a:off x="13706856" y="1810512"/>
            <a:ext cx="420624" cy="420624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9</a:t>
            </a:r>
            <a:endParaRPr lang="en-US" sz="1400" dirty="0"/>
          </a:p>
        </p:txBody>
      </p:sp>
      <p:sp>
        <p:nvSpPr>
          <p:cNvPr id="48" name="Text 45"/>
          <p:cNvSpPr txBox="1"/>
          <p:nvPr/>
        </p:nvSpPr>
        <p:spPr>
          <a:xfrm>
            <a:off x="9829800" y="2267712"/>
            <a:ext cx="4297680" cy="310896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7C859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고친 뒤 9개</a:t>
            </a:r>
            <a:endParaRPr lang="en-US" sz="1400" dirty="0"/>
          </a:p>
        </p:txBody>
      </p:sp>
      <p:sp>
        <p:nvSpPr>
          <p:cNvPr id="49" name="Shape 46"/>
          <p:cNvSpPr/>
          <p:nvPr/>
        </p:nvSpPr>
        <p:spPr>
          <a:xfrm>
            <a:off x="509321" y="2816352"/>
            <a:ext cx="6675120" cy="411480"/>
          </a:xfrm>
          <a:prstGeom prst="roundRect">
            <a:avLst>
              <a:gd name="adj" fmla="val 13333"/>
            </a:avLst>
          </a:prstGeom>
          <a:solidFill>
            <a:srgbClr val="404155"/>
          </a:solidFill>
          <a:ln/>
        </p:spPr>
      </p:sp>
      <p:sp>
        <p:nvSpPr>
          <p:cNvPr id="50" name="Text 47"/>
          <p:cNvSpPr txBox="1"/>
          <p:nvPr/>
        </p:nvSpPr>
        <p:spPr>
          <a:xfrm>
            <a:off x="509321" y="2816352"/>
            <a:ext cx="6675120" cy="4114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청크 단위로 교체하는 방식 (chunk_id 기준)</a:t>
            </a:r>
            <a:endParaRPr lang="en-US" sz="1700" dirty="0"/>
          </a:p>
        </p:txBody>
      </p:sp>
      <p:sp>
        <p:nvSpPr>
          <p:cNvPr id="51" name="Shape 48"/>
          <p:cNvSpPr/>
          <p:nvPr/>
        </p:nvSpPr>
        <p:spPr>
          <a:xfrm>
            <a:off x="7458761" y="2816352"/>
            <a:ext cx="6675120" cy="411480"/>
          </a:xfrm>
          <a:prstGeom prst="roundRect">
            <a:avLst>
              <a:gd name="adj" fmla="val 13333"/>
            </a:avLst>
          </a:prstGeom>
          <a:solidFill>
            <a:srgbClr val="2E74C6"/>
          </a:solidFill>
          <a:ln/>
        </p:spPr>
      </p:sp>
      <p:sp>
        <p:nvSpPr>
          <p:cNvPr id="52" name="Text 49"/>
          <p:cNvSpPr txBox="1"/>
          <p:nvPr/>
        </p:nvSpPr>
        <p:spPr>
          <a:xfrm>
            <a:off x="7458761" y="2816352"/>
            <a:ext cx="6675120" cy="4114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문서 단위로 교체하는 방식 (doc_id 기준)</a:t>
            </a:r>
            <a:endParaRPr lang="en-US" sz="1700" dirty="0"/>
          </a:p>
        </p:txBody>
      </p:sp>
      <p:sp>
        <p:nvSpPr>
          <p:cNvPr id="53" name="Shape 50"/>
          <p:cNvSpPr/>
          <p:nvPr/>
        </p:nvSpPr>
        <p:spPr>
          <a:xfrm>
            <a:off x="509321" y="3291840"/>
            <a:ext cx="6675120" cy="1572768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D9E0EC"/>
            </a:solidFill>
            <a:prstDash val="solid"/>
          </a:ln>
        </p:spPr>
      </p:sp>
      <p:sp>
        <p:nvSpPr>
          <p:cNvPr id="54" name="Shape 51"/>
          <p:cNvSpPr/>
          <p:nvPr/>
        </p:nvSpPr>
        <p:spPr>
          <a:xfrm>
            <a:off x="7458761" y="3291840"/>
            <a:ext cx="6675120" cy="1572768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D9E0EC"/>
            </a:solidFill>
            <a:prstDash val="solid"/>
          </a:ln>
        </p:spPr>
      </p:sp>
      <p:sp>
        <p:nvSpPr>
          <p:cNvPr id="55" name="Text 52"/>
          <p:cNvSpPr txBox="1"/>
          <p:nvPr/>
        </p:nvSpPr>
        <p:spPr>
          <a:xfrm>
            <a:off x="692201" y="3346704"/>
            <a:ext cx="6309360" cy="3657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4A536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chunk_id로 덮어쓴 뒤 인덱스에 남은 청크</a:t>
            </a:r>
            <a:endParaRPr lang="en-US" sz="1500" dirty="0"/>
          </a:p>
        </p:txBody>
      </p:sp>
      <p:sp>
        <p:nvSpPr>
          <p:cNvPr id="56" name="Shape 53"/>
          <p:cNvSpPr/>
          <p:nvPr/>
        </p:nvSpPr>
        <p:spPr>
          <a:xfrm>
            <a:off x="1213409" y="3749040"/>
            <a:ext cx="420624" cy="420624"/>
          </a:xfrm>
          <a:prstGeom prst="roundRect">
            <a:avLst>
              <a:gd name="adj" fmla="val 10870"/>
            </a:avLst>
          </a:prstGeom>
          <a:solidFill>
            <a:srgbClr val="F5F8FC"/>
          </a:solidFill>
          <a:ln w="12700">
            <a:solidFill>
              <a:srgbClr val="7C8598"/>
            </a:solidFill>
            <a:prstDash val="dash"/>
          </a:ln>
        </p:spPr>
      </p:sp>
      <p:sp>
        <p:nvSpPr>
          <p:cNvPr id="57" name="Text 54"/>
          <p:cNvSpPr txBox="1"/>
          <p:nvPr/>
        </p:nvSpPr>
        <p:spPr>
          <a:xfrm>
            <a:off x="1213409" y="3749040"/>
            <a:ext cx="420624" cy="420624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7C859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옛1</a:t>
            </a:r>
            <a:endParaRPr lang="en-US" sz="1400" dirty="0"/>
          </a:p>
        </p:txBody>
      </p:sp>
      <p:sp>
        <p:nvSpPr>
          <p:cNvPr id="58" name="Shape 55"/>
          <p:cNvSpPr/>
          <p:nvPr/>
        </p:nvSpPr>
        <p:spPr>
          <a:xfrm>
            <a:off x="1698041" y="3749040"/>
            <a:ext cx="420624" cy="420624"/>
          </a:xfrm>
          <a:prstGeom prst="roundRect">
            <a:avLst>
              <a:gd name="adj" fmla="val 10870"/>
            </a:avLst>
          </a:prstGeom>
          <a:solidFill>
            <a:srgbClr val="2E74C6"/>
          </a:solidFill>
          <a:ln/>
        </p:spPr>
      </p:sp>
      <p:sp>
        <p:nvSpPr>
          <p:cNvPr id="59" name="Text 56"/>
          <p:cNvSpPr txBox="1"/>
          <p:nvPr/>
        </p:nvSpPr>
        <p:spPr>
          <a:xfrm>
            <a:off x="1698041" y="3749040"/>
            <a:ext cx="420624" cy="420624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1′</a:t>
            </a:r>
            <a:endParaRPr lang="en-US" sz="1400" dirty="0"/>
          </a:p>
        </p:txBody>
      </p:sp>
      <p:sp>
        <p:nvSpPr>
          <p:cNvPr id="60" name="Shape 57"/>
          <p:cNvSpPr/>
          <p:nvPr/>
        </p:nvSpPr>
        <p:spPr>
          <a:xfrm>
            <a:off x="2182673" y="3749040"/>
            <a:ext cx="420624" cy="420624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 w="12700">
            <a:solidFill>
              <a:srgbClr val="D9E0EC"/>
            </a:solidFill>
            <a:prstDash val="solid"/>
          </a:ln>
        </p:spPr>
      </p:sp>
      <p:sp>
        <p:nvSpPr>
          <p:cNvPr id="61" name="Text 58"/>
          <p:cNvSpPr txBox="1"/>
          <p:nvPr/>
        </p:nvSpPr>
        <p:spPr>
          <a:xfrm>
            <a:off x="2182673" y="3749040"/>
            <a:ext cx="420624" cy="420624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</a:t>
            </a:r>
            <a:endParaRPr lang="en-US" sz="1400" dirty="0"/>
          </a:p>
        </p:txBody>
      </p:sp>
      <p:sp>
        <p:nvSpPr>
          <p:cNvPr id="62" name="Shape 59"/>
          <p:cNvSpPr/>
          <p:nvPr/>
        </p:nvSpPr>
        <p:spPr>
          <a:xfrm>
            <a:off x="2667305" y="3749040"/>
            <a:ext cx="420624" cy="420624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 w="12700">
            <a:solidFill>
              <a:srgbClr val="D9E0EC"/>
            </a:solidFill>
            <a:prstDash val="solid"/>
          </a:ln>
        </p:spPr>
      </p:sp>
      <p:sp>
        <p:nvSpPr>
          <p:cNvPr id="63" name="Text 60"/>
          <p:cNvSpPr txBox="1"/>
          <p:nvPr/>
        </p:nvSpPr>
        <p:spPr>
          <a:xfrm>
            <a:off x="2667305" y="3749040"/>
            <a:ext cx="420624" cy="420624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</a:t>
            </a:r>
            <a:endParaRPr lang="en-US" sz="1400" dirty="0"/>
          </a:p>
        </p:txBody>
      </p:sp>
      <p:sp>
        <p:nvSpPr>
          <p:cNvPr id="64" name="Shape 61"/>
          <p:cNvSpPr/>
          <p:nvPr/>
        </p:nvSpPr>
        <p:spPr>
          <a:xfrm>
            <a:off x="3151937" y="3749040"/>
            <a:ext cx="420624" cy="420624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 w="12700">
            <a:solidFill>
              <a:srgbClr val="D9E0EC"/>
            </a:solidFill>
            <a:prstDash val="solid"/>
          </a:ln>
        </p:spPr>
      </p:sp>
      <p:sp>
        <p:nvSpPr>
          <p:cNvPr id="65" name="Text 62"/>
          <p:cNvSpPr txBox="1"/>
          <p:nvPr/>
        </p:nvSpPr>
        <p:spPr>
          <a:xfrm>
            <a:off x="3151937" y="3749040"/>
            <a:ext cx="420624" cy="420624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</a:t>
            </a:r>
            <a:endParaRPr lang="en-US" sz="1400" dirty="0"/>
          </a:p>
        </p:txBody>
      </p:sp>
      <p:sp>
        <p:nvSpPr>
          <p:cNvPr id="66" name="Shape 63"/>
          <p:cNvSpPr/>
          <p:nvPr/>
        </p:nvSpPr>
        <p:spPr>
          <a:xfrm>
            <a:off x="3636569" y="3749040"/>
            <a:ext cx="420624" cy="420624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 w="12700">
            <a:solidFill>
              <a:srgbClr val="D9E0EC"/>
            </a:solidFill>
            <a:prstDash val="solid"/>
          </a:ln>
        </p:spPr>
      </p:sp>
      <p:sp>
        <p:nvSpPr>
          <p:cNvPr id="67" name="Text 64"/>
          <p:cNvSpPr txBox="1"/>
          <p:nvPr/>
        </p:nvSpPr>
        <p:spPr>
          <a:xfrm>
            <a:off x="3636569" y="3749040"/>
            <a:ext cx="420624" cy="420624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</a:t>
            </a:r>
            <a:endParaRPr lang="en-US" sz="1400" dirty="0"/>
          </a:p>
        </p:txBody>
      </p:sp>
      <p:sp>
        <p:nvSpPr>
          <p:cNvPr id="68" name="Shape 65"/>
          <p:cNvSpPr/>
          <p:nvPr/>
        </p:nvSpPr>
        <p:spPr>
          <a:xfrm>
            <a:off x="4121201" y="3749040"/>
            <a:ext cx="420624" cy="420624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 w="12700">
            <a:solidFill>
              <a:srgbClr val="D9E0EC"/>
            </a:solidFill>
            <a:prstDash val="solid"/>
          </a:ln>
        </p:spPr>
      </p:sp>
      <p:sp>
        <p:nvSpPr>
          <p:cNvPr id="69" name="Text 66"/>
          <p:cNvSpPr txBox="1"/>
          <p:nvPr/>
        </p:nvSpPr>
        <p:spPr>
          <a:xfrm>
            <a:off x="4121201" y="3749040"/>
            <a:ext cx="420624" cy="420624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6</a:t>
            </a:r>
            <a:endParaRPr lang="en-US" sz="1400" dirty="0"/>
          </a:p>
        </p:txBody>
      </p:sp>
      <p:sp>
        <p:nvSpPr>
          <p:cNvPr id="70" name="Shape 67"/>
          <p:cNvSpPr/>
          <p:nvPr/>
        </p:nvSpPr>
        <p:spPr>
          <a:xfrm>
            <a:off x="4605833" y="3749040"/>
            <a:ext cx="420624" cy="420624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 w="12700">
            <a:solidFill>
              <a:srgbClr val="D9E0EC"/>
            </a:solidFill>
            <a:prstDash val="solid"/>
          </a:ln>
        </p:spPr>
      </p:sp>
      <p:sp>
        <p:nvSpPr>
          <p:cNvPr id="71" name="Text 68"/>
          <p:cNvSpPr txBox="1"/>
          <p:nvPr/>
        </p:nvSpPr>
        <p:spPr>
          <a:xfrm>
            <a:off x="4605833" y="3749040"/>
            <a:ext cx="420624" cy="420624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7</a:t>
            </a:r>
            <a:endParaRPr lang="en-US" sz="1400" dirty="0"/>
          </a:p>
        </p:txBody>
      </p:sp>
      <p:sp>
        <p:nvSpPr>
          <p:cNvPr id="72" name="Shape 69"/>
          <p:cNvSpPr/>
          <p:nvPr/>
        </p:nvSpPr>
        <p:spPr>
          <a:xfrm>
            <a:off x="5090465" y="3749040"/>
            <a:ext cx="420624" cy="420624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 w="12700">
            <a:solidFill>
              <a:srgbClr val="D9E0EC"/>
            </a:solidFill>
            <a:prstDash val="solid"/>
          </a:ln>
        </p:spPr>
      </p:sp>
      <p:sp>
        <p:nvSpPr>
          <p:cNvPr id="73" name="Text 70"/>
          <p:cNvSpPr txBox="1"/>
          <p:nvPr/>
        </p:nvSpPr>
        <p:spPr>
          <a:xfrm>
            <a:off x="5090465" y="3749040"/>
            <a:ext cx="420624" cy="420624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8</a:t>
            </a:r>
            <a:endParaRPr lang="en-US" sz="1400" dirty="0"/>
          </a:p>
        </p:txBody>
      </p:sp>
      <p:sp>
        <p:nvSpPr>
          <p:cNvPr id="74" name="Shape 71"/>
          <p:cNvSpPr/>
          <p:nvPr/>
        </p:nvSpPr>
        <p:spPr>
          <a:xfrm>
            <a:off x="5575097" y="3749040"/>
            <a:ext cx="420624" cy="420624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 w="12700">
            <a:solidFill>
              <a:srgbClr val="D9E0EC"/>
            </a:solidFill>
            <a:prstDash val="solid"/>
          </a:ln>
        </p:spPr>
      </p:sp>
      <p:sp>
        <p:nvSpPr>
          <p:cNvPr id="75" name="Text 72"/>
          <p:cNvSpPr txBox="1"/>
          <p:nvPr/>
        </p:nvSpPr>
        <p:spPr>
          <a:xfrm>
            <a:off x="5575097" y="3749040"/>
            <a:ext cx="420624" cy="420624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9</a:t>
            </a:r>
            <a:endParaRPr lang="en-US" sz="1400" dirty="0"/>
          </a:p>
        </p:txBody>
      </p:sp>
      <p:sp>
        <p:nvSpPr>
          <p:cNvPr id="76" name="Shape 73"/>
          <p:cNvSpPr/>
          <p:nvPr/>
        </p:nvSpPr>
        <p:spPr>
          <a:xfrm>
            <a:off x="6059729" y="3749040"/>
            <a:ext cx="420624" cy="420624"/>
          </a:xfrm>
          <a:prstGeom prst="roundRect">
            <a:avLst>
              <a:gd name="adj" fmla="val 10870"/>
            </a:avLst>
          </a:prstGeom>
          <a:solidFill>
            <a:srgbClr val="F5F8FC"/>
          </a:solidFill>
          <a:ln w="12700">
            <a:solidFill>
              <a:srgbClr val="7C8598"/>
            </a:solidFill>
            <a:prstDash val="dash"/>
          </a:ln>
        </p:spPr>
      </p:sp>
      <p:sp>
        <p:nvSpPr>
          <p:cNvPr id="77" name="Text 74"/>
          <p:cNvSpPr txBox="1"/>
          <p:nvPr/>
        </p:nvSpPr>
        <p:spPr>
          <a:xfrm>
            <a:off x="6059729" y="3749040"/>
            <a:ext cx="420624" cy="420624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7C859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10</a:t>
            </a:r>
            <a:endParaRPr lang="en-US" sz="1400" dirty="0"/>
          </a:p>
        </p:txBody>
      </p:sp>
      <p:sp>
        <p:nvSpPr>
          <p:cNvPr id="78" name="Shape 75"/>
          <p:cNvSpPr/>
          <p:nvPr/>
        </p:nvSpPr>
        <p:spPr>
          <a:xfrm>
            <a:off x="692201" y="4242816"/>
            <a:ext cx="6309360" cy="548640"/>
          </a:xfrm>
          <a:prstGeom prst="roundRect">
            <a:avLst>
              <a:gd name="adj" fmla="val 13333"/>
            </a:avLst>
          </a:prstGeom>
          <a:solidFill>
            <a:srgbClr val="404155"/>
          </a:solidFill>
          <a:ln/>
        </p:spPr>
      </p:sp>
      <p:sp>
        <p:nvSpPr>
          <p:cNvPr id="79" name="Text 76"/>
          <p:cNvSpPr txBox="1"/>
          <p:nvPr/>
        </p:nvSpPr>
        <p:spPr>
          <a:xfrm>
            <a:off x="692201" y="4242816"/>
            <a:ext cx="6309360" cy="5486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11개 남음</a:t>
            </a:r>
            <a:endParaRPr lang="en-US" sz="1600" dirty="0"/>
          </a:p>
          <a:p>
            <a:pPr algn="ctr" indent="0" marL="0">
              <a:spcAft>
                <a:spcPts val="200"/>
              </a:spcAft>
              <a:buNone/>
            </a:pPr>
            <a:r>
              <a:rPr lang="en-US" sz="15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옛 1번과 빠진 10번(고아)이 검색에 섞여 나옴</a:t>
            </a:r>
            <a:endParaRPr lang="en-US" sz="1600" dirty="0"/>
          </a:p>
        </p:txBody>
      </p:sp>
      <p:sp>
        <p:nvSpPr>
          <p:cNvPr id="80" name="Shape 77"/>
          <p:cNvSpPr/>
          <p:nvPr/>
        </p:nvSpPr>
        <p:spPr>
          <a:xfrm>
            <a:off x="7641641" y="3364992"/>
            <a:ext cx="2948940" cy="347472"/>
          </a:xfrm>
          <a:prstGeom prst="roundRect">
            <a:avLst>
              <a:gd name="adj" fmla="val 21053"/>
            </a:avLst>
          </a:prstGeom>
          <a:solidFill>
            <a:srgbClr val="EEF3FA"/>
          </a:solidFill>
          <a:ln w="12700">
            <a:solidFill>
              <a:srgbClr val="D9E0EC"/>
            </a:solidFill>
            <a:prstDash val="solid"/>
          </a:ln>
        </p:spPr>
      </p:sp>
      <p:sp>
        <p:nvSpPr>
          <p:cNvPr id="81" name="Text 78"/>
          <p:cNvSpPr txBox="1"/>
          <p:nvPr/>
        </p:nvSpPr>
        <p:spPr>
          <a:xfrm>
            <a:off x="7641641" y="3364992"/>
            <a:ext cx="2948940" cy="34747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doc_id가 같은 청크 10개 지움</a:t>
            </a:r>
            <a:endParaRPr lang="en-US" sz="1500" dirty="0"/>
          </a:p>
        </p:txBody>
      </p:sp>
      <p:sp>
        <p:nvSpPr>
          <p:cNvPr id="82" name="Shape 79"/>
          <p:cNvSpPr/>
          <p:nvPr/>
        </p:nvSpPr>
        <p:spPr>
          <a:xfrm>
            <a:off x="10636301" y="3538728"/>
            <a:ext cx="320040" cy="0"/>
          </a:xfrm>
          <a:prstGeom prst="line">
            <a:avLst/>
          </a:prstGeom>
          <a:noFill/>
          <a:ln w="19050">
            <a:solidFill>
              <a:srgbClr val="4A5364"/>
            </a:solidFill>
            <a:prstDash val="solid"/>
            <a:tailEnd type="triangle"/>
          </a:ln>
        </p:spPr>
      </p:sp>
      <p:sp>
        <p:nvSpPr>
          <p:cNvPr id="83" name="Shape 80"/>
          <p:cNvSpPr/>
          <p:nvPr/>
        </p:nvSpPr>
        <p:spPr>
          <a:xfrm>
            <a:off x="11002061" y="3364992"/>
            <a:ext cx="2948940" cy="347472"/>
          </a:xfrm>
          <a:prstGeom prst="roundRect">
            <a:avLst>
              <a:gd name="adj" fmla="val 21053"/>
            </a:avLst>
          </a:prstGeom>
          <a:solidFill>
            <a:srgbClr val="EEF3FA"/>
          </a:solidFill>
          <a:ln w="12700">
            <a:solidFill>
              <a:srgbClr val="D9E0EC"/>
            </a:solidFill>
            <a:prstDash val="solid"/>
          </a:ln>
        </p:spPr>
      </p:sp>
      <p:sp>
        <p:nvSpPr>
          <p:cNvPr id="84" name="Text 81"/>
          <p:cNvSpPr txBox="1"/>
          <p:nvPr/>
        </p:nvSpPr>
        <p:spPr>
          <a:xfrm>
            <a:off x="11002061" y="3364992"/>
            <a:ext cx="2948940" cy="34747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새 청크 9개 넣음</a:t>
            </a:r>
            <a:endParaRPr lang="en-US" sz="1500" dirty="0"/>
          </a:p>
        </p:txBody>
      </p:sp>
      <p:sp>
        <p:nvSpPr>
          <p:cNvPr id="85" name="Shape 82"/>
          <p:cNvSpPr/>
          <p:nvPr/>
        </p:nvSpPr>
        <p:spPr>
          <a:xfrm>
            <a:off x="8647481" y="3749040"/>
            <a:ext cx="420624" cy="420624"/>
          </a:xfrm>
          <a:prstGeom prst="roundRect">
            <a:avLst>
              <a:gd name="adj" fmla="val 10870"/>
            </a:avLst>
          </a:prstGeom>
          <a:solidFill>
            <a:srgbClr val="2E74C6"/>
          </a:solidFill>
          <a:ln/>
        </p:spPr>
      </p:sp>
      <p:sp>
        <p:nvSpPr>
          <p:cNvPr id="86" name="Text 83"/>
          <p:cNvSpPr txBox="1"/>
          <p:nvPr/>
        </p:nvSpPr>
        <p:spPr>
          <a:xfrm>
            <a:off x="8647481" y="3749040"/>
            <a:ext cx="420624" cy="420624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1′</a:t>
            </a:r>
            <a:endParaRPr lang="en-US" sz="1400" dirty="0"/>
          </a:p>
        </p:txBody>
      </p:sp>
      <p:sp>
        <p:nvSpPr>
          <p:cNvPr id="87" name="Shape 84"/>
          <p:cNvSpPr/>
          <p:nvPr/>
        </p:nvSpPr>
        <p:spPr>
          <a:xfrm>
            <a:off x="9132113" y="3749040"/>
            <a:ext cx="420624" cy="420624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 w="12700">
            <a:solidFill>
              <a:srgbClr val="D9E0EC"/>
            </a:solidFill>
            <a:prstDash val="solid"/>
          </a:ln>
        </p:spPr>
      </p:sp>
      <p:sp>
        <p:nvSpPr>
          <p:cNvPr id="88" name="Text 85"/>
          <p:cNvSpPr txBox="1"/>
          <p:nvPr/>
        </p:nvSpPr>
        <p:spPr>
          <a:xfrm>
            <a:off x="9132113" y="3749040"/>
            <a:ext cx="420624" cy="420624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</a:t>
            </a:r>
            <a:endParaRPr lang="en-US" sz="1400" dirty="0"/>
          </a:p>
        </p:txBody>
      </p:sp>
      <p:sp>
        <p:nvSpPr>
          <p:cNvPr id="89" name="Shape 86"/>
          <p:cNvSpPr/>
          <p:nvPr/>
        </p:nvSpPr>
        <p:spPr>
          <a:xfrm>
            <a:off x="9616745" y="3749040"/>
            <a:ext cx="420624" cy="420624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 w="12700">
            <a:solidFill>
              <a:srgbClr val="D9E0EC"/>
            </a:solidFill>
            <a:prstDash val="solid"/>
          </a:ln>
        </p:spPr>
      </p:sp>
      <p:sp>
        <p:nvSpPr>
          <p:cNvPr id="90" name="Text 87"/>
          <p:cNvSpPr txBox="1"/>
          <p:nvPr/>
        </p:nvSpPr>
        <p:spPr>
          <a:xfrm>
            <a:off x="9616745" y="3749040"/>
            <a:ext cx="420624" cy="420624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</a:t>
            </a:r>
            <a:endParaRPr lang="en-US" sz="1400" dirty="0"/>
          </a:p>
        </p:txBody>
      </p:sp>
      <p:sp>
        <p:nvSpPr>
          <p:cNvPr id="91" name="Shape 88"/>
          <p:cNvSpPr/>
          <p:nvPr/>
        </p:nvSpPr>
        <p:spPr>
          <a:xfrm>
            <a:off x="10101377" y="3749040"/>
            <a:ext cx="420624" cy="420624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 w="12700">
            <a:solidFill>
              <a:srgbClr val="D9E0EC"/>
            </a:solidFill>
            <a:prstDash val="solid"/>
          </a:ln>
        </p:spPr>
      </p:sp>
      <p:sp>
        <p:nvSpPr>
          <p:cNvPr id="92" name="Text 89"/>
          <p:cNvSpPr txBox="1"/>
          <p:nvPr/>
        </p:nvSpPr>
        <p:spPr>
          <a:xfrm>
            <a:off x="10101377" y="3749040"/>
            <a:ext cx="420624" cy="420624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</a:t>
            </a:r>
            <a:endParaRPr lang="en-US" sz="1400" dirty="0"/>
          </a:p>
        </p:txBody>
      </p:sp>
      <p:sp>
        <p:nvSpPr>
          <p:cNvPr id="93" name="Shape 90"/>
          <p:cNvSpPr/>
          <p:nvPr/>
        </p:nvSpPr>
        <p:spPr>
          <a:xfrm>
            <a:off x="10586009" y="3749040"/>
            <a:ext cx="420624" cy="420624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 w="12700">
            <a:solidFill>
              <a:srgbClr val="D9E0EC"/>
            </a:solidFill>
            <a:prstDash val="solid"/>
          </a:ln>
        </p:spPr>
      </p:sp>
      <p:sp>
        <p:nvSpPr>
          <p:cNvPr id="94" name="Text 91"/>
          <p:cNvSpPr txBox="1"/>
          <p:nvPr/>
        </p:nvSpPr>
        <p:spPr>
          <a:xfrm>
            <a:off x="10586009" y="3749040"/>
            <a:ext cx="420624" cy="420624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</a:t>
            </a:r>
            <a:endParaRPr lang="en-US" sz="1400" dirty="0"/>
          </a:p>
        </p:txBody>
      </p:sp>
      <p:sp>
        <p:nvSpPr>
          <p:cNvPr id="95" name="Shape 92"/>
          <p:cNvSpPr/>
          <p:nvPr/>
        </p:nvSpPr>
        <p:spPr>
          <a:xfrm>
            <a:off x="11070641" y="3749040"/>
            <a:ext cx="420624" cy="420624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 w="12700">
            <a:solidFill>
              <a:srgbClr val="D9E0EC"/>
            </a:solidFill>
            <a:prstDash val="solid"/>
          </a:ln>
        </p:spPr>
      </p:sp>
      <p:sp>
        <p:nvSpPr>
          <p:cNvPr id="96" name="Text 93"/>
          <p:cNvSpPr txBox="1"/>
          <p:nvPr/>
        </p:nvSpPr>
        <p:spPr>
          <a:xfrm>
            <a:off x="11070641" y="3749040"/>
            <a:ext cx="420624" cy="420624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6</a:t>
            </a:r>
            <a:endParaRPr lang="en-US" sz="1400" dirty="0"/>
          </a:p>
        </p:txBody>
      </p:sp>
      <p:sp>
        <p:nvSpPr>
          <p:cNvPr id="97" name="Shape 94"/>
          <p:cNvSpPr/>
          <p:nvPr/>
        </p:nvSpPr>
        <p:spPr>
          <a:xfrm>
            <a:off x="11555273" y="3749040"/>
            <a:ext cx="420624" cy="420624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 w="12700">
            <a:solidFill>
              <a:srgbClr val="D9E0EC"/>
            </a:solidFill>
            <a:prstDash val="solid"/>
          </a:ln>
        </p:spPr>
      </p:sp>
      <p:sp>
        <p:nvSpPr>
          <p:cNvPr id="98" name="Text 95"/>
          <p:cNvSpPr txBox="1"/>
          <p:nvPr/>
        </p:nvSpPr>
        <p:spPr>
          <a:xfrm>
            <a:off x="11555273" y="3749040"/>
            <a:ext cx="420624" cy="420624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7</a:t>
            </a:r>
            <a:endParaRPr lang="en-US" sz="1400" dirty="0"/>
          </a:p>
        </p:txBody>
      </p:sp>
      <p:sp>
        <p:nvSpPr>
          <p:cNvPr id="99" name="Shape 96"/>
          <p:cNvSpPr/>
          <p:nvPr/>
        </p:nvSpPr>
        <p:spPr>
          <a:xfrm>
            <a:off x="12039905" y="3749040"/>
            <a:ext cx="420624" cy="420624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 w="12700">
            <a:solidFill>
              <a:srgbClr val="D9E0EC"/>
            </a:solidFill>
            <a:prstDash val="solid"/>
          </a:ln>
        </p:spPr>
      </p:sp>
      <p:sp>
        <p:nvSpPr>
          <p:cNvPr id="100" name="Text 97"/>
          <p:cNvSpPr txBox="1"/>
          <p:nvPr/>
        </p:nvSpPr>
        <p:spPr>
          <a:xfrm>
            <a:off x="12039905" y="3749040"/>
            <a:ext cx="420624" cy="420624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8</a:t>
            </a:r>
            <a:endParaRPr lang="en-US" sz="1400" dirty="0"/>
          </a:p>
        </p:txBody>
      </p:sp>
      <p:sp>
        <p:nvSpPr>
          <p:cNvPr id="101" name="Shape 98"/>
          <p:cNvSpPr/>
          <p:nvPr/>
        </p:nvSpPr>
        <p:spPr>
          <a:xfrm>
            <a:off x="12524537" y="3749040"/>
            <a:ext cx="420624" cy="420624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 w="12700">
            <a:solidFill>
              <a:srgbClr val="D9E0EC"/>
            </a:solidFill>
            <a:prstDash val="solid"/>
          </a:ln>
        </p:spPr>
      </p:sp>
      <p:sp>
        <p:nvSpPr>
          <p:cNvPr id="102" name="Text 99"/>
          <p:cNvSpPr txBox="1"/>
          <p:nvPr/>
        </p:nvSpPr>
        <p:spPr>
          <a:xfrm>
            <a:off x="12524537" y="3749040"/>
            <a:ext cx="420624" cy="420624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9</a:t>
            </a:r>
            <a:endParaRPr lang="en-US" sz="1400" dirty="0"/>
          </a:p>
        </p:txBody>
      </p:sp>
      <p:sp>
        <p:nvSpPr>
          <p:cNvPr id="103" name="Shape 100"/>
          <p:cNvSpPr/>
          <p:nvPr/>
        </p:nvSpPr>
        <p:spPr>
          <a:xfrm>
            <a:off x="7641641" y="4242816"/>
            <a:ext cx="6309360" cy="548640"/>
          </a:xfrm>
          <a:prstGeom prst="roundRect">
            <a:avLst>
              <a:gd name="adj" fmla="val 13333"/>
            </a:avLst>
          </a:prstGeom>
          <a:solidFill>
            <a:srgbClr val="2E74C6"/>
          </a:solidFill>
          <a:ln/>
        </p:spPr>
      </p:sp>
      <p:sp>
        <p:nvSpPr>
          <p:cNvPr id="104" name="Text 101"/>
          <p:cNvSpPr txBox="1"/>
          <p:nvPr/>
        </p:nvSpPr>
        <p:spPr>
          <a:xfrm>
            <a:off x="7641641" y="4242816"/>
            <a:ext cx="6309360" cy="5486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9개만 남음</a:t>
            </a:r>
            <a:endParaRPr lang="en-US" sz="1600" dirty="0"/>
          </a:p>
          <a:p>
            <a:pPr algn="ctr" indent="0" marL="0">
              <a:spcAft>
                <a:spcPts val="200"/>
              </a:spcAft>
              <a:buNone/>
            </a:pPr>
            <a:r>
              <a:rPr lang="en-US" sz="15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고친 내용만 검색되고 고아 청크 없음</a:t>
            </a:r>
            <a:endParaRPr lang="en-US" sz="1600" dirty="0"/>
          </a:p>
        </p:txBody>
      </p:sp>
      <p:sp>
        <p:nvSpPr>
          <p:cNvPr id="105" name="Shape 102"/>
          <p:cNvSpPr/>
          <p:nvPr/>
        </p:nvSpPr>
        <p:spPr>
          <a:xfrm>
            <a:off x="509321" y="5029200"/>
            <a:ext cx="13624560" cy="411480"/>
          </a:xfrm>
          <a:prstGeom prst="roundRect">
            <a:avLst>
              <a:gd name="adj" fmla="val 13333"/>
            </a:avLst>
          </a:prstGeom>
          <a:solidFill>
            <a:srgbClr val="1E2A5C"/>
          </a:solidFill>
          <a:ln/>
        </p:spPr>
      </p:sp>
      <p:sp>
        <p:nvSpPr>
          <p:cNvPr id="106" name="Text 103"/>
          <p:cNvSpPr txBox="1"/>
          <p:nvPr/>
        </p:nvSpPr>
        <p:spPr>
          <a:xfrm>
            <a:off x="509321" y="5029200"/>
            <a:ext cx="13624560" cy="4114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검색 엔진에 넣는 한 건 = 청크 하나</a:t>
            </a:r>
            <a:endParaRPr lang="en-US" sz="1800" dirty="0"/>
          </a:p>
        </p:txBody>
      </p:sp>
      <p:sp>
        <p:nvSpPr>
          <p:cNvPr id="107" name="Shape 104"/>
          <p:cNvSpPr/>
          <p:nvPr/>
        </p:nvSpPr>
        <p:spPr>
          <a:xfrm>
            <a:off x="509321" y="5532120"/>
            <a:ext cx="1852313" cy="868680"/>
          </a:xfrm>
          <a:prstGeom prst="roundRect">
            <a:avLst>
              <a:gd name="adj" fmla="val 8421"/>
            </a:avLst>
          </a:prstGeom>
          <a:solidFill>
            <a:srgbClr val="1E2A5C"/>
          </a:solidFill>
          <a:ln/>
        </p:spPr>
      </p:sp>
      <p:sp>
        <p:nvSpPr>
          <p:cNvPr id="108" name="Text 105"/>
          <p:cNvSpPr txBox="1"/>
          <p:nvPr/>
        </p:nvSpPr>
        <p:spPr>
          <a:xfrm>
            <a:off x="509321" y="5532120"/>
            <a:ext cx="1852313" cy="8686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_id = chunk_id</a:t>
            </a:r>
            <a:endParaRPr lang="en-US" sz="1600" dirty="0"/>
          </a:p>
          <a:p>
            <a:pPr algn="ctr"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같은 청크는 덮어씀</a:t>
            </a:r>
            <a:endParaRPr lang="en-US" sz="1600" dirty="0"/>
          </a:p>
        </p:txBody>
      </p:sp>
      <p:sp>
        <p:nvSpPr>
          <p:cNvPr id="109" name="Shape 106"/>
          <p:cNvSpPr/>
          <p:nvPr/>
        </p:nvSpPr>
        <p:spPr>
          <a:xfrm>
            <a:off x="2471362" y="5532120"/>
            <a:ext cx="1852313" cy="868680"/>
          </a:xfrm>
          <a:prstGeom prst="roundRect">
            <a:avLst>
              <a:gd name="adj" fmla="val 8421"/>
            </a:avLst>
          </a:prstGeom>
          <a:solidFill>
            <a:srgbClr val="2E74C6"/>
          </a:solidFill>
          <a:ln/>
        </p:spPr>
      </p:sp>
      <p:sp>
        <p:nvSpPr>
          <p:cNvPr id="110" name="Text 107"/>
          <p:cNvSpPr txBox="1"/>
          <p:nvPr/>
        </p:nvSpPr>
        <p:spPr>
          <a:xfrm>
            <a:off x="2471362" y="5532120"/>
            <a:ext cx="1852313" cy="8686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doc_id</a:t>
            </a:r>
            <a:endParaRPr lang="en-US" sz="1600" dirty="0"/>
          </a:p>
          <a:p>
            <a:pPr algn="ctr"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지울 때 쓰는 원천 문서 키</a:t>
            </a:r>
            <a:endParaRPr lang="en-US" sz="1600" dirty="0"/>
          </a:p>
        </p:txBody>
      </p:sp>
      <p:sp>
        <p:nvSpPr>
          <p:cNvPr id="111" name="Shape 108"/>
          <p:cNvSpPr/>
          <p:nvPr/>
        </p:nvSpPr>
        <p:spPr>
          <a:xfrm>
            <a:off x="4433403" y="5532120"/>
            <a:ext cx="1852313" cy="868680"/>
          </a:xfrm>
          <a:prstGeom prst="roundRect">
            <a:avLst>
              <a:gd name="adj" fmla="val 8421"/>
            </a:avLst>
          </a:prstGeom>
          <a:solidFill>
            <a:srgbClr val="F5F8FC"/>
          </a:solidFill>
          <a:ln w="12700">
            <a:solidFill>
              <a:srgbClr val="D9E0EC"/>
            </a:solidFill>
            <a:prstDash val="solid"/>
          </a:ln>
        </p:spPr>
      </p:sp>
      <p:sp>
        <p:nvSpPr>
          <p:cNvPr id="112" name="Text 109"/>
          <p:cNvSpPr txBox="1"/>
          <p:nvPr/>
        </p:nvSpPr>
        <p:spPr>
          <a:xfrm>
            <a:off x="4433403" y="5532120"/>
            <a:ext cx="1852313" cy="8686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1600" b="1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text_hash</a:t>
            </a:r>
            <a:endParaRPr lang="en-US" sz="1600" dirty="0"/>
          </a:p>
          <a:p>
            <a:pPr algn="ctr"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벡터 재사용 판단</a:t>
            </a:r>
            <a:endParaRPr lang="en-US" sz="1600" dirty="0"/>
          </a:p>
        </p:txBody>
      </p:sp>
      <p:sp>
        <p:nvSpPr>
          <p:cNvPr id="113" name="Shape 110"/>
          <p:cNvSpPr/>
          <p:nvPr/>
        </p:nvSpPr>
        <p:spPr>
          <a:xfrm>
            <a:off x="6395444" y="5532120"/>
            <a:ext cx="1852313" cy="868680"/>
          </a:xfrm>
          <a:prstGeom prst="roundRect">
            <a:avLst>
              <a:gd name="adj" fmla="val 8421"/>
            </a:avLst>
          </a:prstGeom>
          <a:solidFill>
            <a:srgbClr val="F5F8FC"/>
          </a:solidFill>
          <a:ln w="12700">
            <a:solidFill>
              <a:srgbClr val="D9E0EC"/>
            </a:solidFill>
            <a:prstDash val="solid"/>
          </a:ln>
        </p:spPr>
      </p:sp>
      <p:sp>
        <p:nvSpPr>
          <p:cNvPr id="114" name="Text 111"/>
          <p:cNvSpPr txBox="1"/>
          <p:nvPr/>
        </p:nvSpPr>
        <p:spPr>
          <a:xfrm>
            <a:off x="6395444" y="5532120"/>
            <a:ext cx="1852313" cy="8686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1600" b="1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text</a:t>
            </a:r>
            <a:endParaRPr lang="en-US" sz="1600" dirty="0"/>
          </a:p>
          <a:p>
            <a:pPr algn="ctr"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보여 주기용, 색인 안 함</a:t>
            </a:r>
            <a:endParaRPr lang="en-US" sz="1600" dirty="0"/>
          </a:p>
        </p:txBody>
      </p:sp>
      <p:sp>
        <p:nvSpPr>
          <p:cNvPr id="115" name="Shape 112"/>
          <p:cNvSpPr/>
          <p:nvPr/>
        </p:nvSpPr>
        <p:spPr>
          <a:xfrm>
            <a:off x="8357485" y="5532120"/>
            <a:ext cx="1852313" cy="868680"/>
          </a:xfrm>
          <a:prstGeom prst="roundRect">
            <a:avLst>
              <a:gd name="adj" fmla="val 8421"/>
            </a:avLst>
          </a:prstGeom>
          <a:solidFill>
            <a:srgbClr val="F5F8FC"/>
          </a:solidFill>
          <a:ln w="12700">
            <a:solidFill>
              <a:srgbClr val="D9E0EC"/>
            </a:solidFill>
            <a:prstDash val="solid"/>
          </a:ln>
        </p:spPr>
      </p:sp>
      <p:sp>
        <p:nvSpPr>
          <p:cNvPr id="116" name="Text 113"/>
          <p:cNvSpPr txBox="1"/>
          <p:nvPr/>
        </p:nvSpPr>
        <p:spPr>
          <a:xfrm>
            <a:off x="8357485" y="5532120"/>
            <a:ext cx="1852313" cy="8686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1600" b="1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text_tokens</a:t>
            </a:r>
            <a:endParaRPr lang="en-US" sz="1600" dirty="0"/>
          </a:p>
          <a:p>
            <a:pPr algn="ctr"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토큰화된 낱말</a:t>
            </a:r>
            <a:endParaRPr lang="en-US" sz="1600" dirty="0"/>
          </a:p>
        </p:txBody>
      </p:sp>
      <p:sp>
        <p:nvSpPr>
          <p:cNvPr id="117" name="Shape 114"/>
          <p:cNvSpPr/>
          <p:nvPr/>
        </p:nvSpPr>
        <p:spPr>
          <a:xfrm>
            <a:off x="10319527" y="5532120"/>
            <a:ext cx="1852313" cy="868680"/>
          </a:xfrm>
          <a:prstGeom prst="roundRect">
            <a:avLst>
              <a:gd name="adj" fmla="val 8421"/>
            </a:avLst>
          </a:prstGeom>
          <a:solidFill>
            <a:srgbClr val="F5F8FC"/>
          </a:solidFill>
          <a:ln w="12700">
            <a:solidFill>
              <a:srgbClr val="D9E0EC"/>
            </a:solidFill>
            <a:prstDash val="solid"/>
          </a:ln>
        </p:spPr>
      </p:sp>
      <p:sp>
        <p:nvSpPr>
          <p:cNvPr id="118" name="Text 115"/>
          <p:cNvSpPr txBox="1"/>
          <p:nvPr/>
        </p:nvSpPr>
        <p:spPr>
          <a:xfrm>
            <a:off x="10319527" y="5532120"/>
            <a:ext cx="1852313" cy="8686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1600" b="1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embedding</a:t>
            </a:r>
            <a:endParaRPr lang="en-US" sz="1600" dirty="0"/>
          </a:p>
          <a:p>
            <a:pPr algn="ctr"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색인용 본문을 벡터화</a:t>
            </a:r>
            <a:endParaRPr lang="en-US" sz="1600" dirty="0"/>
          </a:p>
        </p:txBody>
      </p:sp>
      <p:sp>
        <p:nvSpPr>
          <p:cNvPr id="119" name="Shape 116"/>
          <p:cNvSpPr/>
          <p:nvPr/>
        </p:nvSpPr>
        <p:spPr>
          <a:xfrm>
            <a:off x="12281568" y="5532120"/>
            <a:ext cx="1852313" cy="868680"/>
          </a:xfrm>
          <a:prstGeom prst="roundRect">
            <a:avLst>
              <a:gd name="adj" fmla="val 8421"/>
            </a:avLst>
          </a:prstGeom>
          <a:solidFill>
            <a:srgbClr val="F5F8FC"/>
          </a:solidFill>
          <a:ln w="12700">
            <a:solidFill>
              <a:srgbClr val="D9E0EC"/>
            </a:solidFill>
            <a:prstDash val="solid"/>
          </a:ln>
        </p:spPr>
      </p:sp>
      <p:sp>
        <p:nvSpPr>
          <p:cNvPr id="120" name="Text 117"/>
          <p:cNvSpPr txBox="1"/>
          <p:nvPr/>
        </p:nvSpPr>
        <p:spPr>
          <a:xfrm>
            <a:off x="12281568" y="5532120"/>
            <a:ext cx="1852313" cy="8686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1600" b="1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메타데이터</a:t>
            </a:r>
            <a:endParaRPr lang="en-US" sz="1600" dirty="0"/>
          </a:p>
          <a:p>
            <a:pPr algn="ctr"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카드명, 회원 키 등 필터</a:t>
            </a:r>
            <a:endParaRPr lang="en-US" sz="1600" dirty="0"/>
          </a:p>
        </p:txBody>
      </p:sp>
      <p:sp>
        <p:nvSpPr>
          <p:cNvPr id="121" name="Shape 118"/>
          <p:cNvSpPr/>
          <p:nvPr/>
        </p:nvSpPr>
        <p:spPr>
          <a:xfrm>
            <a:off x="509321" y="6537960"/>
            <a:ext cx="1920240" cy="685800"/>
          </a:xfrm>
          <a:prstGeom prst="roundRect">
            <a:avLst>
              <a:gd name="adj" fmla="val 6667"/>
            </a:avLst>
          </a:prstGeom>
          <a:solidFill>
            <a:srgbClr val="404155"/>
          </a:solidFill>
          <a:ln/>
        </p:spPr>
      </p:sp>
      <p:sp>
        <p:nvSpPr>
          <p:cNvPr id="122" name="Text 119"/>
          <p:cNvSpPr txBox="1"/>
          <p:nvPr/>
        </p:nvSpPr>
        <p:spPr>
          <a:xfrm>
            <a:off x="509321" y="6537960"/>
            <a:ext cx="1920240" cy="6858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doc_id 만드는 법</a:t>
            </a:r>
            <a:endParaRPr lang="en-US" sz="1600" dirty="0"/>
          </a:p>
        </p:txBody>
      </p:sp>
      <p:sp>
        <p:nvSpPr>
          <p:cNvPr id="123" name="Shape 120"/>
          <p:cNvSpPr/>
          <p:nvPr/>
        </p:nvSpPr>
        <p:spPr>
          <a:xfrm>
            <a:off x="2566721" y="6537960"/>
            <a:ext cx="2834640" cy="685800"/>
          </a:xfrm>
          <a:prstGeom prst="roundRect">
            <a:avLst>
              <a:gd name="adj" fmla="val 5333"/>
            </a:avLst>
          </a:prstGeom>
          <a:solidFill>
            <a:srgbClr val="2E74C6"/>
          </a:solidFill>
          <a:ln/>
        </p:spPr>
      </p:sp>
      <p:sp>
        <p:nvSpPr>
          <p:cNvPr id="124" name="Text 121"/>
          <p:cNvSpPr txBox="1"/>
          <p:nvPr/>
        </p:nvSpPr>
        <p:spPr>
          <a:xfrm>
            <a:off x="2566721" y="6537960"/>
            <a:ext cx="2834640" cy="6858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15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D1_27223010abe31291</a:t>
            </a:r>
            <a:endParaRPr lang="en-US" sz="1500" dirty="0"/>
          </a:p>
          <a:p>
            <a:pPr algn="ctr"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문서 키</a:t>
            </a:r>
            <a:endParaRPr lang="en-US" sz="1500" dirty="0"/>
          </a:p>
        </p:txBody>
      </p:sp>
      <p:sp>
        <p:nvSpPr>
          <p:cNvPr id="125" name="Shape 122"/>
          <p:cNvSpPr/>
          <p:nvPr/>
        </p:nvSpPr>
        <p:spPr>
          <a:xfrm>
            <a:off x="5437937" y="6537960"/>
            <a:ext cx="2560320" cy="6858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D9E0EC"/>
            </a:solidFill>
            <a:prstDash val="solid"/>
          </a:ln>
        </p:spPr>
      </p:sp>
      <p:sp>
        <p:nvSpPr>
          <p:cNvPr id="126" name="Text 123"/>
          <p:cNvSpPr txBox="1"/>
          <p:nvPr/>
        </p:nvSpPr>
        <p:spPr>
          <a:xfrm>
            <a:off x="5437937" y="6537960"/>
            <a:ext cx="2560320" cy="6858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1500" b="1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_112f1e4abea05436</a:t>
            </a:r>
            <a:endParaRPr lang="en-US" sz="1500" dirty="0"/>
          </a:p>
          <a:p>
            <a:pPr algn="ctr"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본문 해시</a:t>
            </a:r>
            <a:endParaRPr lang="en-US" sz="1500" dirty="0"/>
          </a:p>
        </p:txBody>
      </p:sp>
      <p:sp>
        <p:nvSpPr>
          <p:cNvPr id="127" name="Shape 124"/>
          <p:cNvSpPr/>
          <p:nvPr/>
        </p:nvSpPr>
        <p:spPr>
          <a:xfrm>
            <a:off x="8034833" y="6537960"/>
            <a:ext cx="1097280" cy="6858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D9E0EC"/>
            </a:solidFill>
            <a:prstDash val="solid"/>
          </a:ln>
        </p:spPr>
      </p:sp>
      <p:sp>
        <p:nvSpPr>
          <p:cNvPr id="128" name="Text 125"/>
          <p:cNvSpPr txBox="1"/>
          <p:nvPr/>
        </p:nvSpPr>
        <p:spPr>
          <a:xfrm>
            <a:off x="8034833" y="6537960"/>
            <a:ext cx="1097280" cy="6858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1500" b="1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_0000</a:t>
            </a:r>
            <a:endParaRPr lang="en-US" sz="1500" dirty="0"/>
          </a:p>
          <a:p>
            <a:pPr algn="ctr"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청크 순번</a:t>
            </a:r>
            <a:endParaRPr lang="en-US" sz="1500" dirty="0"/>
          </a:p>
        </p:txBody>
      </p:sp>
      <p:sp>
        <p:nvSpPr>
          <p:cNvPr id="129" name="Shape 126"/>
          <p:cNvSpPr/>
          <p:nvPr/>
        </p:nvSpPr>
        <p:spPr>
          <a:xfrm>
            <a:off x="9260129" y="6880860"/>
            <a:ext cx="411480" cy="0"/>
          </a:xfrm>
          <a:prstGeom prst="line">
            <a:avLst/>
          </a:prstGeom>
          <a:noFill/>
          <a:ln w="25400">
            <a:solidFill>
              <a:srgbClr val="1E2A5C"/>
            </a:solidFill>
            <a:prstDash val="solid"/>
            <a:tailEnd type="triangle"/>
          </a:ln>
        </p:spPr>
      </p:sp>
      <p:sp>
        <p:nvSpPr>
          <p:cNvPr id="130" name="Text 127"/>
          <p:cNvSpPr txBox="1"/>
          <p:nvPr/>
        </p:nvSpPr>
        <p:spPr>
          <a:xfrm>
            <a:off x="9763049" y="6537960"/>
            <a:ext cx="4370832" cy="6858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chunk_id의 앞 칸만 남기면 doc_id.</a:t>
            </a:r>
            <a:endParaRPr lang="en-US" sz="1500" dirty="0"/>
          </a:p>
          <a:p>
            <a:pPr algn="l" indent="0" marL="0">
              <a:buNone/>
            </a:pPr>
            <a:r>
              <a:rPr lang="en-US" sz="15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본문이 바뀌어도 문서 키는 그대로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idx="4"/>
          </p:nvPr>
        </p:nvSpPr>
        <p:spPr>
          <a:xfrm>
            <a:off x="10893247" y="7787945"/>
            <a:ext cx="32918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600">
                <a:solidFill>
                  <a:srgbClr val="6B6B7B"/>
                </a:solidFill>
                <a:latin typeface="Pretendard"/>
                <a:ea typeface="Pretendard"/>
                <a:cs typeface="Pretendard"/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type="title"/>
          </p:nvPr>
        </p:nvSpPr>
        <p:spPr>
          <a:xfrm>
            <a:off x="509321" y="99670"/>
            <a:ext cx="13738860" cy="8284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C29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③ 검색 엔진에 쓰기 코드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09321" y="1151230"/>
            <a:ext cx="1362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문서별로 묶고, 옛 청크를 지우고, 새 청크를 한꺼번에 넣은 뒤 바로 보이게 함</a:t>
            </a:r>
            <a:endParaRPr lang="en-US" sz="1800" dirty="0"/>
          </a:p>
        </p:txBody>
      </p:sp>
      <p:sp>
        <p:nvSpPr>
          <p:cNvPr id="5" name="Shape 2"/>
          <p:cNvSpPr/>
          <p:nvPr/>
        </p:nvSpPr>
        <p:spPr>
          <a:xfrm>
            <a:off x="509321" y="1737360"/>
            <a:ext cx="7223760" cy="5532120"/>
          </a:xfrm>
          <a:prstGeom prst="roundRect">
            <a:avLst>
              <a:gd name="adj" fmla="val 992"/>
            </a:avLst>
          </a:prstGeom>
          <a:solidFill>
            <a:srgbClr val="F5F8FC"/>
          </a:solidFill>
          <a:ln w="12700">
            <a:solidFill>
              <a:srgbClr val="D9E0EC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619049" y="1810512"/>
            <a:ext cx="7004304" cy="310896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7C859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search_branch.py 발췌 (타입 표기와 설명 주석은 줄임)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619049" y="2139696"/>
            <a:ext cx="7004304" cy="5074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def step3_write_documents(client, index, documents):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  # ① 문서(doc_id)별로 묶음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  grouped = {}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  for document in documents: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      grouped.setdefault(document["doc_id"], []).append(document)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  # ② 문서마다 옛 청크를 통째로 지움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  deleted = 0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  for doc_id in grouped: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      response = client.delete_by_query(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          index=index,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          body={"query": {"term": {"doc_id": doc_id}}},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          refresh=True, conflicts="proceed")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      deleted += response.get("deleted", 0)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  # ③ 새 청크를 한꺼번에 넣음 (_id = chunk_id)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  actions = [{"_index": index, "_id": d["chunk_id"], "_source": d}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             for docs in grouped.values() for d in docs]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  helpers.bulk(client, actions, max_retries=3)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  # ④ 바로 검색되게 반영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  client.indices.refresh(index=index)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  return WriteReport(deleted, len(actions), tuple(grouped))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8007401" y="1737360"/>
            <a:ext cx="6126480" cy="713232"/>
          </a:xfrm>
          <a:prstGeom prst="roundRect">
            <a:avLst>
              <a:gd name="adj" fmla="val 10256"/>
            </a:avLst>
          </a:prstGeom>
          <a:solidFill>
            <a:srgbClr val="F5F8FC"/>
          </a:solidFill>
          <a:ln w="12700">
            <a:solidFill>
              <a:srgbClr val="D9E0EC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8144561" y="1828800"/>
            <a:ext cx="347472" cy="347472"/>
          </a:xfrm>
          <a:prstGeom prst="roundRect">
            <a:avLst>
              <a:gd name="adj" fmla="val 13158"/>
            </a:avLst>
          </a:prstGeom>
          <a:solidFill>
            <a:srgbClr val="2E74C6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8144561" y="1828800"/>
            <a:ext cx="347472" cy="34747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</a:t>
            </a:r>
            <a:endParaRPr lang="en-US" sz="1600" dirty="0"/>
          </a:p>
        </p:txBody>
      </p:sp>
      <p:sp>
        <p:nvSpPr>
          <p:cNvPr id="11" name="Text 8"/>
          <p:cNvSpPr txBox="1"/>
          <p:nvPr/>
        </p:nvSpPr>
        <p:spPr>
          <a:xfrm>
            <a:off x="8601761" y="1792224"/>
            <a:ext cx="5394960" cy="34747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문서별로 묶음</a:t>
            </a:r>
            <a:endParaRPr lang="en-US" sz="1600" dirty="0"/>
          </a:p>
        </p:txBody>
      </p:sp>
      <p:sp>
        <p:nvSpPr>
          <p:cNvPr id="12" name="Text 9"/>
          <p:cNvSpPr txBox="1"/>
          <p:nvPr/>
        </p:nvSpPr>
        <p:spPr>
          <a:xfrm>
            <a:off x="8601761" y="2121408"/>
            <a:ext cx="5394960" cy="29260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3B455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여러 문서가 한꺼번에 들어와도 문서마다 따로 지움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8007401" y="2523744"/>
            <a:ext cx="6126480" cy="1097280"/>
          </a:xfrm>
          <a:prstGeom prst="roundRect">
            <a:avLst>
              <a:gd name="adj" fmla="val 6667"/>
            </a:avLst>
          </a:prstGeom>
          <a:solidFill>
            <a:srgbClr val="EEF3FA"/>
          </a:solidFill>
          <a:ln w="12700">
            <a:solidFill>
              <a:srgbClr val="D9E0EC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8144561" y="2615184"/>
            <a:ext cx="347472" cy="347472"/>
          </a:xfrm>
          <a:prstGeom prst="roundRect">
            <a:avLst>
              <a:gd name="adj" fmla="val 13158"/>
            </a:avLst>
          </a:prstGeom>
          <a:solidFill>
            <a:srgbClr val="2E74C6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8144561" y="2615184"/>
            <a:ext cx="347472" cy="34747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</a:t>
            </a:r>
            <a:endParaRPr lang="en-US" sz="1600" dirty="0"/>
          </a:p>
        </p:txBody>
      </p:sp>
      <p:sp>
        <p:nvSpPr>
          <p:cNvPr id="16" name="Text 13"/>
          <p:cNvSpPr txBox="1"/>
          <p:nvPr/>
        </p:nvSpPr>
        <p:spPr>
          <a:xfrm>
            <a:off x="8601761" y="2578608"/>
            <a:ext cx="5394960" cy="34747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옛 청크 지우기</a:t>
            </a:r>
            <a:endParaRPr lang="en-US" sz="1600" dirty="0"/>
          </a:p>
        </p:txBody>
      </p:sp>
      <p:sp>
        <p:nvSpPr>
          <p:cNvPr id="17" name="Text 14"/>
          <p:cNvSpPr txBox="1"/>
          <p:nvPr/>
        </p:nvSpPr>
        <p:spPr>
          <a:xfrm>
            <a:off x="8601761" y="2907792"/>
            <a:ext cx="5394960" cy="676656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3B455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term doc_id로 그 문서 청크를 모두 지움. refresh=True라 바로 반영되고, conflicts="proceed"는 충돌이 나도 멈추지 않음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8007401" y="3694176"/>
            <a:ext cx="6126480" cy="896112"/>
          </a:xfrm>
          <a:prstGeom prst="roundRect">
            <a:avLst>
              <a:gd name="adj" fmla="val 8163"/>
            </a:avLst>
          </a:prstGeom>
          <a:solidFill>
            <a:srgbClr val="EEF3FA"/>
          </a:solidFill>
          <a:ln w="12700">
            <a:solidFill>
              <a:srgbClr val="D9E0EC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8144561" y="3785616"/>
            <a:ext cx="347472" cy="347472"/>
          </a:xfrm>
          <a:prstGeom prst="roundRect">
            <a:avLst>
              <a:gd name="adj" fmla="val 13158"/>
            </a:avLst>
          </a:prstGeom>
          <a:solidFill>
            <a:srgbClr val="2E74C6"/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8144561" y="3785616"/>
            <a:ext cx="347472" cy="34747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</a:t>
            </a:r>
            <a:endParaRPr lang="en-US" sz="1600" dirty="0"/>
          </a:p>
        </p:txBody>
      </p:sp>
      <p:sp>
        <p:nvSpPr>
          <p:cNvPr id="21" name="Text 18"/>
          <p:cNvSpPr txBox="1"/>
          <p:nvPr/>
        </p:nvSpPr>
        <p:spPr>
          <a:xfrm>
            <a:off x="8601761" y="3749040"/>
            <a:ext cx="5394960" cy="34747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한꺼번에 넣기</a:t>
            </a:r>
            <a:endParaRPr lang="en-US" sz="1600" dirty="0"/>
          </a:p>
        </p:txBody>
      </p:sp>
      <p:sp>
        <p:nvSpPr>
          <p:cNvPr id="22" name="Text 19"/>
          <p:cNvSpPr txBox="1"/>
          <p:nvPr/>
        </p:nvSpPr>
        <p:spPr>
          <a:xfrm>
            <a:off x="8601761" y="4078224"/>
            <a:ext cx="5394960" cy="47548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3B455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_id를 chunk_id로 고정해 같은 입력을 두 번 넣어도 건수가 그대로임. 일부가 실패하면 BulkIndexError</a:t>
            </a:r>
            <a:endParaRPr lang="en-US" sz="1400" dirty="0"/>
          </a:p>
        </p:txBody>
      </p:sp>
      <p:sp>
        <p:nvSpPr>
          <p:cNvPr id="23" name="Shape 20"/>
          <p:cNvSpPr/>
          <p:nvPr/>
        </p:nvSpPr>
        <p:spPr>
          <a:xfrm>
            <a:off x="8007401" y="4663440"/>
            <a:ext cx="6126480" cy="658368"/>
          </a:xfrm>
          <a:prstGeom prst="roundRect">
            <a:avLst>
              <a:gd name="adj" fmla="val 11111"/>
            </a:avLst>
          </a:prstGeom>
          <a:solidFill>
            <a:srgbClr val="F5F8FC"/>
          </a:solidFill>
          <a:ln w="12700">
            <a:solidFill>
              <a:srgbClr val="D9E0EC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8144561" y="4754880"/>
            <a:ext cx="347472" cy="347472"/>
          </a:xfrm>
          <a:prstGeom prst="roundRect">
            <a:avLst>
              <a:gd name="adj" fmla="val 13158"/>
            </a:avLst>
          </a:prstGeom>
          <a:solidFill>
            <a:srgbClr val="2E74C6"/>
          </a:solidFill>
          <a:ln/>
        </p:spPr>
      </p:sp>
      <p:sp>
        <p:nvSpPr>
          <p:cNvPr id="25" name="Text 22"/>
          <p:cNvSpPr txBox="1"/>
          <p:nvPr/>
        </p:nvSpPr>
        <p:spPr>
          <a:xfrm>
            <a:off x="8144561" y="4754880"/>
            <a:ext cx="347472" cy="34747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</a:t>
            </a:r>
            <a:endParaRPr lang="en-US" sz="1600" dirty="0"/>
          </a:p>
        </p:txBody>
      </p:sp>
      <p:sp>
        <p:nvSpPr>
          <p:cNvPr id="26" name="Text 23"/>
          <p:cNvSpPr txBox="1"/>
          <p:nvPr/>
        </p:nvSpPr>
        <p:spPr>
          <a:xfrm>
            <a:off x="8601761" y="4718304"/>
            <a:ext cx="5394960" cy="34747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반영</a:t>
            </a:r>
            <a:endParaRPr lang="en-US" sz="1600" dirty="0"/>
          </a:p>
        </p:txBody>
      </p:sp>
      <p:sp>
        <p:nvSpPr>
          <p:cNvPr id="27" name="Text 24"/>
          <p:cNvSpPr txBox="1"/>
          <p:nvPr/>
        </p:nvSpPr>
        <p:spPr>
          <a:xfrm>
            <a:off x="8601761" y="5047488"/>
            <a:ext cx="5394960" cy="237744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3B455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넣은 청크가 다음 검색부터 보임</a:t>
            </a:r>
            <a:endParaRPr lang="en-US" sz="1400" dirty="0"/>
          </a:p>
        </p:txBody>
      </p:sp>
      <p:sp>
        <p:nvSpPr>
          <p:cNvPr id="28" name="Shape 25"/>
          <p:cNvSpPr/>
          <p:nvPr/>
        </p:nvSpPr>
        <p:spPr>
          <a:xfrm>
            <a:off x="8007401" y="5394960"/>
            <a:ext cx="6126480" cy="384048"/>
          </a:xfrm>
          <a:prstGeom prst="roundRect">
            <a:avLst>
              <a:gd name="adj" fmla="val 19048"/>
            </a:avLst>
          </a:prstGeom>
          <a:solidFill>
            <a:srgbClr val="2E74C6"/>
          </a:solidFill>
          <a:ln/>
        </p:spPr>
      </p:sp>
      <p:sp>
        <p:nvSpPr>
          <p:cNvPr id="29" name="Text 26"/>
          <p:cNvSpPr txBox="1"/>
          <p:nvPr/>
        </p:nvSpPr>
        <p:spPr>
          <a:xfrm>
            <a:off x="8007401" y="5394960"/>
            <a:ext cx="6126480" cy="38404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시험 결과: 옛 청크 9개 지움 → 10개 넣음, 고아 0개</a:t>
            </a:r>
            <a:endParaRPr lang="en-US" sz="1500" dirty="0"/>
          </a:p>
        </p:txBody>
      </p:sp>
      <p:sp>
        <p:nvSpPr>
          <p:cNvPr id="30" name="Shape 27"/>
          <p:cNvSpPr/>
          <p:nvPr/>
        </p:nvSpPr>
        <p:spPr>
          <a:xfrm>
            <a:off x="8007401" y="5852160"/>
            <a:ext cx="64008" cy="548640"/>
          </a:xfrm>
          <a:prstGeom prst="rect">
            <a:avLst/>
          </a:prstGeom>
          <a:solidFill>
            <a:srgbClr val="2E74C6"/>
          </a:solidFill>
          <a:ln/>
        </p:spPr>
      </p:sp>
      <p:sp>
        <p:nvSpPr>
          <p:cNvPr id="31" name="Text 28"/>
          <p:cNvSpPr txBox="1"/>
          <p:nvPr/>
        </p:nvSpPr>
        <p:spPr>
          <a:xfrm>
            <a:off x="8171993" y="5852160"/>
            <a:ext cx="5961888" cy="5486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운영 중인 인덱스에 바로 쓰면 ②와 ③ 사이에 그 문서가 잠깐 안 보임.</a:t>
            </a:r>
            <a:endParaRPr lang="en-US" sz="1400" dirty="0"/>
          </a:p>
          <a:p>
            <a:pPr algn="l" indent="0" marL="0">
              <a:buNone/>
            </a:pPr>
            <a:r>
              <a:rPr lang="en-US" sz="14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그래서 전체 재색인은 새 세대에 쓰고 검색이 보는 이름표만 바꿈</a:t>
            </a:r>
            <a:endParaRPr lang="en-US" sz="1400" dirty="0"/>
          </a:p>
        </p:txBody>
      </p:sp>
      <p:sp>
        <p:nvSpPr>
          <p:cNvPr id="32" name="Shape 29"/>
          <p:cNvSpPr/>
          <p:nvPr/>
        </p:nvSpPr>
        <p:spPr>
          <a:xfrm>
            <a:off x="8007401" y="6473952"/>
            <a:ext cx="2994660" cy="795528"/>
          </a:xfrm>
          <a:prstGeom prst="roundRect">
            <a:avLst>
              <a:gd name="adj" fmla="val 9195"/>
            </a:avLst>
          </a:prstGeom>
          <a:solidFill>
            <a:srgbClr val="F5F8FC"/>
          </a:solidFill>
          <a:ln w="12700">
            <a:solidFill>
              <a:srgbClr val="D9E0EC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8007401" y="6473952"/>
            <a:ext cx="2994660" cy="7955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벡터DB 인덱싱의 활성 세대 파일</a:t>
            </a:r>
            <a:endParaRPr lang="en-US" sz="15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active_generation.json 교체</a:t>
            </a:r>
            <a:endParaRPr lang="en-US" sz="15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리트리버가 새 세대를 다시 읽어 올림</a:t>
            </a:r>
            <a:endParaRPr lang="en-US" sz="1500" dirty="0"/>
          </a:p>
        </p:txBody>
      </p:sp>
      <p:sp>
        <p:nvSpPr>
          <p:cNvPr id="34" name="Shape 31"/>
          <p:cNvSpPr/>
          <p:nvPr/>
        </p:nvSpPr>
        <p:spPr>
          <a:xfrm>
            <a:off x="11139221" y="6473952"/>
            <a:ext cx="2994660" cy="795528"/>
          </a:xfrm>
          <a:prstGeom prst="roundRect">
            <a:avLst>
              <a:gd name="adj" fmla="val 9195"/>
            </a:avLst>
          </a:prstGeom>
          <a:solidFill>
            <a:srgbClr val="EEF3FA"/>
          </a:solidFill>
          <a:ln w="12700">
            <a:solidFill>
              <a:srgbClr val="2E74C6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11139221" y="6473952"/>
            <a:ext cx="2994660" cy="7955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검색엔진 별칭</a:t>
            </a:r>
            <a:endParaRPr lang="en-US" sz="15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card_chunks를 새 인덱스로 옮김</a:t>
            </a:r>
            <a:endParaRPr lang="en-US" sz="15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엔진 안 이름표라 모든 검색에 바로 적용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idx="4"/>
          </p:nvPr>
        </p:nvSpPr>
        <p:spPr>
          <a:xfrm>
            <a:off x="10893247" y="7787945"/>
            <a:ext cx="32918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600">
                <a:solidFill>
                  <a:srgbClr val="6B6B7B"/>
                </a:solidFill>
                <a:latin typeface="Pretendard"/>
                <a:ea typeface="Pretendard"/>
                <a:cs typeface="Pretendard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type="title"/>
          </p:nvPr>
        </p:nvSpPr>
        <p:spPr>
          <a:xfrm>
            <a:off x="509321" y="99670"/>
            <a:ext cx="13738860" cy="8284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C29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벡터 색인과 키워드 색인을 한 번에 구축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09321" y="1151230"/>
            <a:ext cx="1362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검색 엔진 인덱스 하나가 벡터 검색과 키워드 검색을 모두 맡아, 청크 한 건에 담아 한 번에 넣음</a:t>
            </a:r>
            <a:endParaRPr lang="en-US" sz="1800" dirty="0"/>
          </a:p>
        </p:txBody>
      </p:sp>
      <p:sp>
        <p:nvSpPr>
          <p:cNvPr id="5" name="Shape 2"/>
          <p:cNvSpPr/>
          <p:nvPr/>
        </p:nvSpPr>
        <p:spPr>
          <a:xfrm>
            <a:off x="509321" y="2331720"/>
            <a:ext cx="1371600" cy="1188720"/>
          </a:xfrm>
          <a:prstGeom prst="roundRect">
            <a:avLst>
              <a:gd name="adj" fmla="val 6154"/>
            </a:avLst>
          </a:prstGeom>
          <a:solidFill>
            <a:srgbClr val="EEF3FA"/>
          </a:solidFill>
          <a:ln w="12700">
            <a:solidFill>
              <a:srgbClr val="D9E0EC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509321" y="2331720"/>
            <a:ext cx="1371600" cy="11887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1700" b="1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청크</a:t>
            </a:r>
            <a:endParaRPr lang="en-US" sz="1700" dirty="0"/>
          </a:p>
          <a:p>
            <a:pPr algn="ctr"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색인용 본문</a:t>
            </a:r>
            <a:endParaRPr lang="en-US" sz="1700" dirty="0"/>
          </a:p>
        </p:txBody>
      </p:sp>
      <p:sp>
        <p:nvSpPr>
          <p:cNvPr id="7" name="Shape 4"/>
          <p:cNvSpPr/>
          <p:nvPr/>
        </p:nvSpPr>
        <p:spPr>
          <a:xfrm>
            <a:off x="2240280" y="1828800"/>
            <a:ext cx="251460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E0EC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2240280" y="1828800"/>
            <a:ext cx="2514600" cy="9144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1600" b="1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① 임베딩</a:t>
            </a:r>
            <a:endParaRPr lang="en-US" sz="1600" dirty="0"/>
          </a:p>
          <a:p>
            <a:pPr algn="ctr" indent="0" marL="0">
              <a:spcAft>
                <a:spcPts val="200"/>
              </a:spcAft>
              <a:buNone/>
            </a:pPr>
            <a:r>
              <a:rPr lang="en-US" sz="15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 벡터 768차원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2240280" y="3108960"/>
            <a:ext cx="251460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E0EC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2240280" y="3108960"/>
            <a:ext cx="2514600" cy="9144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1600" b="1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② 키워드 분석</a:t>
            </a:r>
            <a:endParaRPr lang="en-US" sz="1600" dirty="0"/>
          </a:p>
          <a:p>
            <a:pPr algn="ctr" indent="0" marL="0">
              <a:spcAft>
                <a:spcPts val="200"/>
              </a:spcAft>
              <a:buNone/>
            </a:pPr>
            <a:r>
              <a:rPr lang="en-US" sz="15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 text_tokens 낱말</a:t>
            </a:r>
            <a:endParaRPr lang="en-US" sz="1600" dirty="0"/>
          </a:p>
        </p:txBody>
      </p:sp>
      <p:sp>
        <p:nvSpPr>
          <p:cNvPr id="11" name="Text 8"/>
          <p:cNvSpPr txBox="1"/>
          <p:nvPr/>
        </p:nvSpPr>
        <p:spPr>
          <a:xfrm>
            <a:off x="2240280" y="4050792"/>
            <a:ext cx="2514600" cy="29260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7C859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파이썬에서 따로 만듦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 flipV="1">
            <a:off x="1926641" y="2286000"/>
            <a:ext cx="267919" cy="365760"/>
          </a:xfrm>
          <a:prstGeom prst="line">
            <a:avLst/>
          </a:prstGeom>
          <a:noFill/>
          <a:ln w="19050">
            <a:solidFill>
              <a:srgbClr val="4A5364"/>
            </a:solidFill>
            <a:prstDash val="solid"/>
            <a:tailEnd type="triangle"/>
          </a:ln>
        </p:spPr>
      </p:sp>
      <p:sp>
        <p:nvSpPr>
          <p:cNvPr id="13" name="Shape 10"/>
          <p:cNvSpPr/>
          <p:nvPr/>
        </p:nvSpPr>
        <p:spPr>
          <a:xfrm>
            <a:off x="1926641" y="3200400"/>
            <a:ext cx="267919" cy="365760"/>
          </a:xfrm>
          <a:prstGeom prst="line">
            <a:avLst/>
          </a:prstGeom>
          <a:noFill/>
          <a:ln w="19050">
            <a:solidFill>
              <a:srgbClr val="4A5364"/>
            </a:solidFill>
            <a:prstDash val="solid"/>
            <a:tailEnd type="triangle"/>
          </a:ln>
        </p:spPr>
      </p:sp>
      <p:sp>
        <p:nvSpPr>
          <p:cNvPr id="14" name="Shape 11"/>
          <p:cNvSpPr/>
          <p:nvPr/>
        </p:nvSpPr>
        <p:spPr>
          <a:xfrm>
            <a:off x="5120640" y="2331720"/>
            <a:ext cx="2103120" cy="1188720"/>
          </a:xfrm>
          <a:prstGeom prst="roundRect">
            <a:avLst>
              <a:gd name="adj" fmla="val 6154"/>
            </a:avLst>
          </a:prstGeom>
          <a:solidFill>
            <a:srgbClr val="1E2A5C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5120640" y="2331720"/>
            <a:ext cx="2103120" cy="11887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17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엔진 문서 한 건</a:t>
            </a:r>
            <a:endParaRPr lang="en-US" sz="1700" dirty="0"/>
          </a:p>
          <a:p>
            <a:pPr algn="ctr" indent="0" marL="0">
              <a:spcAft>
                <a:spcPts val="200"/>
              </a:spcAft>
              <a:buNone/>
            </a:pPr>
            <a:r>
              <a:rPr lang="en-US" sz="15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벡터 + text_tokens</a:t>
            </a:r>
            <a:endParaRPr lang="en-US" sz="1700" dirty="0"/>
          </a:p>
          <a:p>
            <a:pPr algn="ctr" indent="0" marL="0">
              <a:spcAft>
                <a:spcPts val="200"/>
              </a:spcAft>
              <a:buNone/>
            </a:pPr>
            <a:r>
              <a:rPr lang="en-US" sz="15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+ 메타데이터</a:t>
            </a:r>
            <a:endParaRPr lang="en-US" sz="1700" dirty="0"/>
          </a:p>
        </p:txBody>
      </p:sp>
      <p:sp>
        <p:nvSpPr>
          <p:cNvPr id="16" name="Shape 13"/>
          <p:cNvSpPr/>
          <p:nvPr/>
        </p:nvSpPr>
        <p:spPr>
          <a:xfrm>
            <a:off x="4800600" y="2286000"/>
            <a:ext cx="274320" cy="365760"/>
          </a:xfrm>
          <a:prstGeom prst="line">
            <a:avLst/>
          </a:prstGeom>
          <a:noFill/>
          <a:ln w="19050">
            <a:solidFill>
              <a:srgbClr val="4A5364"/>
            </a:solidFill>
            <a:prstDash val="solid"/>
            <a:tailEnd type="triangle"/>
          </a:ln>
        </p:spPr>
      </p:sp>
      <p:sp>
        <p:nvSpPr>
          <p:cNvPr id="17" name="Shape 14"/>
          <p:cNvSpPr/>
          <p:nvPr/>
        </p:nvSpPr>
        <p:spPr>
          <a:xfrm flipV="1">
            <a:off x="4800600" y="3200400"/>
            <a:ext cx="274320" cy="365760"/>
          </a:xfrm>
          <a:prstGeom prst="line">
            <a:avLst/>
          </a:prstGeom>
          <a:noFill/>
          <a:ln w="19050">
            <a:solidFill>
              <a:srgbClr val="4A5364"/>
            </a:solidFill>
            <a:prstDash val="solid"/>
            <a:tailEnd type="triangle"/>
          </a:ln>
        </p:spPr>
      </p:sp>
      <p:sp>
        <p:nvSpPr>
          <p:cNvPr id="18" name="Shape 15"/>
          <p:cNvSpPr/>
          <p:nvPr/>
        </p:nvSpPr>
        <p:spPr>
          <a:xfrm>
            <a:off x="7269480" y="2926080"/>
            <a:ext cx="1463040" cy="0"/>
          </a:xfrm>
          <a:prstGeom prst="line">
            <a:avLst/>
          </a:prstGeom>
          <a:noFill/>
          <a:ln w="31750">
            <a:solidFill>
              <a:srgbClr val="1E2A5C"/>
            </a:solidFill>
            <a:prstDash val="solid"/>
            <a:tailEnd type="triangle"/>
          </a:ln>
        </p:spPr>
      </p:sp>
      <p:sp>
        <p:nvSpPr>
          <p:cNvPr id="19" name="Text 16"/>
          <p:cNvSpPr txBox="1"/>
          <p:nvPr/>
        </p:nvSpPr>
        <p:spPr>
          <a:xfrm>
            <a:off x="7223760" y="2542032"/>
            <a:ext cx="1554480" cy="329184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③ bulk 한 번</a:t>
            </a:r>
            <a:endParaRPr lang="en-US" sz="1500" dirty="0"/>
          </a:p>
        </p:txBody>
      </p:sp>
      <p:sp>
        <p:nvSpPr>
          <p:cNvPr id="20" name="Shape 17"/>
          <p:cNvSpPr/>
          <p:nvPr/>
        </p:nvSpPr>
        <p:spPr>
          <a:xfrm>
            <a:off x="8778240" y="1783080"/>
            <a:ext cx="5355641" cy="256032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9050">
            <a:solidFill>
              <a:srgbClr val="2E74C6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915400" y="1828800"/>
            <a:ext cx="5081321" cy="3657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검색 엔진 인덱스 하나 (card_chunks-gen-…)</a:t>
            </a:r>
            <a:endParaRPr lang="en-US" sz="1600" dirty="0"/>
          </a:p>
        </p:txBody>
      </p:sp>
      <p:sp>
        <p:nvSpPr>
          <p:cNvPr id="22" name="Shape 19"/>
          <p:cNvSpPr/>
          <p:nvPr/>
        </p:nvSpPr>
        <p:spPr>
          <a:xfrm>
            <a:off x="8961120" y="2240280"/>
            <a:ext cx="4989881" cy="749808"/>
          </a:xfrm>
          <a:prstGeom prst="roundRect">
            <a:avLst>
              <a:gd name="adj" fmla="val 9756"/>
            </a:avLst>
          </a:prstGeom>
          <a:solidFill>
            <a:srgbClr val="EEF3FA"/>
          </a:solidFill>
          <a:ln w="12700">
            <a:solidFill>
              <a:srgbClr val="D9E0EC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8961120" y="2240280"/>
            <a:ext cx="4989881" cy="74980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16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embedding 필드 → 벡터 색인</a:t>
            </a:r>
            <a:endParaRPr lang="en-US" sz="1600" dirty="0"/>
          </a:p>
          <a:p>
            <a:pPr algn="ctr"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HNSW 그래프, kNN 검색에 씀</a:t>
            </a:r>
            <a:endParaRPr lang="en-US" sz="1600" dirty="0"/>
          </a:p>
        </p:txBody>
      </p:sp>
      <p:sp>
        <p:nvSpPr>
          <p:cNvPr id="24" name="Shape 21"/>
          <p:cNvSpPr/>
          <p:nvPr/>
        </p:nvSpPr>
        <p:spPr>
          <a:xfrm>
            <a:off x="8961120" y="3063240"/>
            <a:ext cx="4989881" cy="749808"/>
          </a:xfrm>
          <a:prstGeom prst="roundRect">
            <a:avLst>
              <a:gd name="adj" fmla="val 9756"/>
            </a:avLst>
          </a:prstGeom>
          <a:solidFill>
            <a:srgbClr val="EEF3FA"/>
          </a:solidFill>
          <a:ln w="12700">
            <a:solidFill>
              <a:srgbClr val="D9E0EC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8961120" y="3063240"/>
            <a:ext cx="4989881" cy="74980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16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text_tokens 필드 → 키워드 역색인</a:t>
            </a:r>
            <a:endParaRPr lang="en-US" sz="1600" dirty="0"/>
          </a:p>
          <a:p>
            <a:pPr algn="ctr"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낱말 → 청크 목록, BM25 점수에 씀</a:t>
            </a:r>
            <a:endParaRPr lang="en-US" sz="1600" dirty="0"/>
          </a:p>
        </p:txBody>
      </p:sp>
      <p:sp>
        <p:nvSpPr>
          <p:cNvPr id="26" name="Shape 23"/>
          <p:cNvSpPr/>
          <p:nvPr/>
        </p:nvSpPr>
        <p:spPr>
          <a:xfrm>
            <a:off x="8961120" y="3886200"/>
            <a:ext cx="4989881" cy="365760"/>
          </a:xfrm>
          <a:prstGeom prst="roundRect">
            <a:avLst>
              <a:gd name="adj" fmla="val 20000"/>
            </a:avLst>
          </a:prstGeom>
          <a:solidFill>
            <a:srgbClr val="2E74C6"/>
          </a:solidFill>
          <a:ln/>
        </p:spPr>
      </p:sp>
      <p:sp>
        <p:nvSpPr>
          <p:cNvPr id="27" name="Text 24"/>
          <p:cNvSpPr txBox="1"/>
          <p:nvPr/>
        </p:nvSpPr>
        <p:spPr>
          <a:xfrm>
            <a:off x="8961120" y="3886200"/>
            <a:ext cx="4989881" cy="3657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refresh → 둘이 함께 검색 가능</a:t>
            </a:r>
            <a:endParaRPr lang="en-US" sz="15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9321" y="4572000"/>
          <a:ext cx="1362456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6126480"/>
                <a:gridCol w="5669280"/>
              </a:tblGrid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1E2A5C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항목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E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1E2A5C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벡터DB 인덱싱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E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1E2A5C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검색 엔진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EF9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저장소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벡터는 Chroma, 키워드는 bm25s 파일 (두 군데)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검색 엔진 인덱스 한 군데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구축 순서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벡터를 Chroma에 먼저 넣고, BM25 점수표 파일을 따로 만듦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bulk 한 번에 둘 다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어긋나지 않게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둘 다 만든 뒤 활성 세대 파일 하나로 함께 게시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같은 한 건에 들어 있어 어긋날 수 없음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지우기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저장소마다 따로 처리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delete_by_query 한 번에 둘 다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</a:tr>
            </a:tbl>
          </a:graphicData>
        </a:graphic>
      </p:graphicFrame>
      <p:sp>
        <p:nvSpPr>
          <p:cNvPr id="29" name="Shape 25"/>
          <p:cNvSpPr/>
          <p:nvPr/>
        </p:nvSpPr>
        <p:spPr>
          <a:xfrm>
            <a:off x="509321" y="6784848"/>
            <a:ext cx="64008" cy="457200"/>
          </a:xfrm>
          <a:prstGeom prst="rect">
            <a:avLst/>
          </a:prstGeom>
          <a:solidFill>
            <a:srgbClr val="2E74C6"/>
          </a:solidFill>
          <a:ln/>
        </p:spPr>
      </p:sp>
      <p:sp>
        <p:nvSpPr>
          <p:cNvPr id="30" name="Text 26"/>
          <p:cNvSpPr txBox="1"/>
          <p:nvPr/>
        </p:nvSpPr>
        <p:spPr>
          <a:xfrm>
            <a:off x="673913" y="6784848"/>
            <a:ext cx="13459968" cy="4572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벡터DB 인덱싱은 따로 만들고 마지막에 함께 바꾸고, 검색 엔진은 처음부터 함께 넣음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idx="4"/>
          </p:nvPr>
        </p:nvSpPr>
        <p:spPr>
          <a:xfrm>
            <a:off x="10893247" y="7787945"/>
            <a:ext cx="32918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600">
                <a:solidFill>
                  <a:srgbClr val="6B6B7B"/>
                </a:solidFill>
                <a:latin typeface="Pretendard"/>
                <a:ea typeface="Pretendard"/>
                <a:cs typeface="Pretendard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2026-10-19T07:38:59Z</dcterms:created>
  <dcterms:modified xsi:type="dcterms:W3CDTF">2026-10-19T07:38:59Z</dcterms:modified>
</cp:coreProperties>
</file>