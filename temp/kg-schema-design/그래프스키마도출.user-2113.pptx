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3" r:id="rId7"/>
    <p:sldId id="261" r:id="rId8"/>
    <p:sldId id="262"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6216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9096-A7B7-BBE5-6B0F-31FD45734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6D338-E65E-D8D0-0A44-F88BA9185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86708-92D8-043A-C144-5D99FD0613D3}"/>
              </a:ext>
            </a:extLst>
          </p:cNvPr>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a:extLst>
              <a:ext uri="{FF2B5EF4-FFF2-40B4-BE49-F238E27FC236}">
                <a16:creationId xmlns:a16="http://schemas.microsoft.com/office/drawing/2014/main" id="{D64FAA68-1A4E-E361-1501-A47415DF765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5481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시스템의 상담 이력(합성 48건) 사례임. 같은 표본 30건, 같은 순서로 방법만 바꿨음. 1건씩 따로 뽑으면 같은 뜻을 다른 이름으로 계속 만들어 노드 타입 이름이 45개까지 흩어졌고, 앞서 나온 이름을 다시 쓰라고 하면 14개로 모였지만 업무 핵심 개념은 하나도 나오지 않았음. 상담 원문에 불만 원인, 제안, 수용과 거절, 재검토 조건 문장을 넣는 것(원문 보강)만으로도 나오지 않았음. 역량 질문과 이름 다시 쓰기를 함께 쓰면 불만(Issue)만 26건 나왔고, 역량 질문만 넣으면 네 개념이 모두 나왔지만 각각 30건 중 1 ~ 5건뿐이었음. 그래서 빈도로 거르면 모두 버려짐. 사람이 질문 기준으로 이름을 합치고(Issue와 Complaint), 원천이 따로 있는 것을 빼고(거래 집계는 RDB, 고객 이름과 이메일은 가명처리 대상), 근거가 약한 응답 속성과 관계는 보태서 오른쪽 뼈대를 만들었음.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확정한 상담 뼈대로 48건 전체를 LLMEntityRelationExtractor와 GraphPruning으로 실제 추출하고 강사용 정답표와 비교한 결과임. v1은 Complaint 설명이 '고객이 말한 불만과 그 원인'이라 일반 문의 고객의 문의 목적이나 사정(이사, 영수증 필요)까지 불만으로 뽑아 24건 중 22건이 잘못 뽑혔음. v2에서 '분명히 말한 불만이나 불편만, 문의 목적과 개인 사정은 아님'으로 좁히자 4건으로 줄었음. Proposal도 '확인해 드릴게요' 같은 절차 안내를 빼라고 하자 제안 노드가 87개에서 56개로 줄고 응답 일치가 올랐음. 오른쪽은 같은 절차를 문서 종류별로 해 본 결과임. 혜택 안내는 이름이 빨리 모이고 역량 질문(제외 대상)으로 Exclusion이 핵심 타입이 되어 넓게 뽑은 후보가 거의 뼈대가 됨. 상담은 사람이 보태야 하고, 약관은 청크마다 조항이 달라 이름이 흩어져 조항 구조를 사람이 먼저 그리는 쪽이 맞음. 절차는 같고 문서 성격에 따라 LLM 후보와 사람 설계의 비중이 다름.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사람</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고정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코드</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240280"/>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노트타입이나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층별 표본: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240280"/>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합치기, 빼기, 보태기</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빈도가 아니라 질문 기준(드문 이름도 살림)</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타입마다 description을 좁게(무엇이 아닌지까지)</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제약은 사람이 정함</a:t>
            </a:r>
            <a:endParaRPr lang="en-US" sz="1400" dirty="0"/>
          </a:p>
        </p:txBody>
      </p:sp>
      <p:sp>
        <p:nvSpPr>
          <p:cNvPr id="29" name="Shape 26"/>
          <p:cNvSpPr/>
          <p:nvPr/>
        </p:nvSpPr>
        <p:spPr>
          <a:xfrm>
            <a:off x="8848649"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뼈대를 schema로 주고 추출한 뒤 GraphPruning으로 정리</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정답표나 질문의 답이 채워지는지 셈</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③으로</a:t>
            </a:r>
            <a:endParaRPr lang="en-US" sz="1400" dirty="0"/>
          </a:p>
        </p:txBody>
      </p:sp>
      <p:sp>
        <p:nvSpPr>
          <p:cNvPr id="31" name="Shape 28"/>
          <p:cNvSpPr/>
          <p:nvPr/>
        </p:nvSpPr>
        <p:spPr>
          <a:xfrm>
            <a:off x="11628425"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GraphSchema.save(), additional_* = false</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120640"/>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5856732"/>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앞서 나온 이름을 다시 쓰라는 안내는 이름을 모으지만 새 개념을 막음 → ④에서만</a:t>
            </a:r>
            <a:endParaRPr lang="en-US" sz="1500" dirty="0"/>
          </a:p>
        </p:txBody>
      </p:sp>
      <p:sp>
        <p:nvSpPr>
          <p:cNvPr id="38" name="Shape 35"/>
          <p:cNvSpPr/>
          <p:nvPr/>
        </p:nvSpPr>
        <p:spPr>
          <a:xfrm>
            <a:off x="394975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5856732"/>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행위나 조항 규칙 같은 구조는 LLM이 잘 못 뽑음 → 사람이 보탬</a:t>
            </a:r>
            <a:endParaRPr lang="en-US" sz="1500" dirty="0"/>
          </a:p>
        </p:txBody>
      </p:sp>
      <p:sp>
        <p:nvSpPr>
          <p:cNvPr id="42" name="Shape 39"/>
          <p:cNvSpPr/>
          <p:nvPr/>
        </p:nvSpPr>
        <p:spPr>
          <a:xfrm>
            <a:off x="739018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5856732"/>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나오지 않음</a:t>
            </a:r>
            <a:endParaRPr lang="en-US" sz="1500" dirty="0"/>
          </a:p>
        </p:txBody>
      </p:sp>
      <p:sp>
        <p:nvSpPr>
          <p:cNvPr id="46" name="Shape 43"/>
          <p:cNvSpPr/>
          <p:nvPr/>
        </p:nvSpPr>
        <p:spPr>
          <a:xfrm>
            <a:off x="1083061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5856732"/>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DCF4-A644-F023-FC33-50D64FACB5E3}"/>
            </a:ext>
          </a:extLst>
        </p:cNvPr>
        <p:cNvGrpSpPr/>
        <p:nvPr/>
      </p:nvGrpSpPr>
      <p:grpSpPr>
        <a:xfrm>
          <a:off x="0" y="0"/>
          <a:ext cx="0" cy="0"/>
          <a:chOff x="0" y="0"/>
          <a:chExt cx="0" cy="0"/>
        </a:xfrm>
      </p:grpSpPr>
      <p:sp>
        <p:nvSpPr>
          <p:cNvPr id="2" name="Text 2">
            <a:extLst>
              <a:ext uri="{FF2B5EF4-FFF2-40B4-BE49-F238E27FC236}">
                <a16:creationId xmlns:a16="http://schemas.microsoft.com/office/drawing/2014/main" id="{FAE0DCD9-BF65-9DB9-DA77-0CB9F4F87F10}"/>
              </a:ext>
            </a:extLst>
          </p:cNvPr>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타입과 관계: 권고 절차(Neo4j)</a:t>
            </a:r>
            <a:endParaRPr lang="en-US" sz="3200" dirty="0"/>
          </a:p>
        </p:txBody>
      </p:sp>
      <p:sp>
        <p:nvSpPr>
          <p:cNvPr id="3" name="Text 1">
            <a:extLst>
              <a:ext uri="{FF2B5EF4-FFF2-40B4-BE49-F238E27FC236}">
                <a16:creationId xmlns:a16="http://schemas.microsoft.com/office/drawing/2014/main" id="{172A9040-D3A9-7610-AB27-391A47E5F346}"/>
              </a:ext>
            </a:extLst>
          </p:cNvPr>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LLM은 넓게 후보만 뽑고, 사람이 역량 질문 기준으로 뼈대를 확정한 뒤, 뼈대로 실제 추출해 검증하고 GraphSchema로 고정함</a:t>
            </a:r>
            <a:endParaRPr lang="en-US" sz="1800" dirty="0"/>
          </a:p>
        </p:txBody>
      </p:sp>
      <p:sp>
        <p:nvSpPr>
          <p:cNvPr id="5" name="Shape 2">
            <a:extLst>
              <a:ext uri="{FF2B5EF4-FFF2-40B4-BE49-F238E27FC236}">
                <a16:creationId xmlns:a16="http://schemas.microsoft.com/office/drawing/2014/main" id="{4EACE762-240D-0291-BA6D-9BAA72EF29E3}"/>
              </a:ext>
            </a:extLst>
          </p:cNvPr>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a:extLst>
              <a:ext uri="{FF2B5EF4-FFF2-40B4-BE49-F238E27FC236}">
                <a16:creationId xmlns:a16="http://schemas.microsoft.com/office/drawing/2014/main" id="{DC7DF18F-6662-EA30-FDAB-5BFBE21615DD}"/>
              </a:ext>
            </a:extLst>
          </p:cNvPr>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사람</a:t>
            </a:r>
            <a:endParaRPr lang="en-US" sz="1500" dirty="0"/>
          </a:p>
        </p:txBody>
      </p:sp>
      <p:sp>
        <p:nvSpPr>
          <p:cNvPr id="7" name="Shape 4">
            <a:extLst>
              <a:ext uri="{FF2B5EF4-FFF2-40B4-BE49-F238E27FC236}">
                <a16:creationId xmlns:a16="http://schemas.microsoft.com/office/drawing/2014/main" id="{B45928E8-5DF9-9B94-5B8D-0380454E0FE4}"/>
              </a:ext>
            </a:extLst>
          </p:cNvPr>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a:extLst>
              <a:ext uri="{FF2B5EF4-FFF2-40B4-BE49-F238E27FC236}">
                <a16:creationId xmlns:a16="http://schemas.microsoft.com/office/drawing/2014/main" id="{FA4ED37E-2574-865A-AC31-26BEE916889F}"/>
              </a:ext>
            </a:extLst>
          </p:cNvPr>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a:extLst>
              <a:ext uri="{FF2B5EF4-FFF2-40B4-BE49-F238E27FC236}">
                <a16:creationId xmlns:a16="http://schemas.microsoft.com/office/drawing/2014/main" id="{30F11084-A048-01A4-B39E-E5D68061BAE9}"/>
              </a:ext>
            </a:extLst>
          </p:cNvPr>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넓게 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a:extLst>
              <a:ext uri="{FF2B5EF4-FFF2-40B4-BE49-F238E27FC236}">
                <a16:creationId xmlns:a16="http://schemas.microsoft.com/office/drawing/2014/main" id="{DB71F7D8-956E-EA19-E032-9F7BD1F7E151}"/>
              </a:ext>
            </a:extLst>
          </p:cNvPr>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a:extLst>
              <a:ext uri="{FF2B5EF4-FFF2-40B4-BE49-F238E27FC236}">
                <a16:creationId xmlns:a16="http://schemas.microsoft.com/office/drawing/2014/main" id="{68E60FB5-5D8A-FF6A-3274-7E9D8C35F1AF}"/>
              </a:ext>
            </a:extLst>
          </p:cNvPr>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a:extLst>
              <a:ext uri="{FF2B5EF4-FFF2-40B4-BE49-F238E27FC236}">
                <a16:creationId xmlns:a16="http://schemas.microsoft.com/office/drawing/2014/main" id="{46D61F5C-8D30-AC29-B234-E9E01583D027}"/>
              </a:ext>
            </a:extLst>
          </p:cNvPr>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뼈대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사람</a:t>
            </a:r>
            <a:endParaRPr lang="en-US" sz="1500" dirty="0"/>
          </a:p>
        </p:txBody>
      </p:sp>
      <p:sp>
        <p:nvSpPr>
          <p:cNvPr id="13" name="Shape 10">
            <a:extLst>
              <a:ext uri="{FF2B5EF4-FFF2-40B4-BE49-F238E27FC236}">
                <a16:creationId xmlns:a16="http://schemas.microsoft.com/office/drawing/2014/main" id="{6AE8708C-6074-D027-D011-BBC66ABF102B}"/>
              </a:ext>
            </a:extLst>
          </p:cNvPr>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a:extLst>
              <a:ext uri="{FF2B5EF4-FFF2-40B4-BE49-F238E27FC236}">
                <a16:creationId xmlns:a16="http://schemas.microsoft.com/office/drawing/2014/main" id="{695DE0AB-2EA7-4DEA-9406-0A5C9C3A6331}"/>
              </a:ext>
            </a:extLst>
          </p:cNvPr>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a:extLst>
              <a:ext uri="{FF2B5EF4-FFF2-40B4-BE49-F238E27FC236}">
                <a16:creationId xmlns:a16="http://schemas.microsoft.com/office/drawing/2014/main" id="{635B4BC8-B7F7-2A18-843E-ACB78074122D}"/>
              </a:ext>
            </a:extLst>
          </p:cNvPr>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사람</a:t>
            </a:r>
            <a:endParaRPr lang="en-US" sz="1500" dirty="0"/>
          </a:p>
        </p:txBody>
      </p:sp>
      <p:sp>
        <p:nvSpPr>
          <p:cNvPr id="16" name="Shape 13">
            <a:extLst>
              <a:ext uri="{FF2B5EF4-FFF2-40B4-BE49-F238E27FC236}">
                <a16:creationId xmlns:a16="http://schemas.microsoft.com/office/drawing/2014/main" id="{EF385F74-D476-C5BB-74C8-A91E9128AA2F}"/>
              </a:ext>
            </a:extLst>
          </p:cNvPr>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a:extLst>
              <a:ext uri="{FF2B5EF4-FFF2-40B4-BE49-F238E27FC236}">
                <a16:creationId xmlns:a16="http://schemas.microsoft.com/office/drawing/2014/main" id="{B4909286-90AC-CA07-4610-23C7B1B8F7B5}"/>
              </a:ext>
            </a:extLst>
          </p:cNvPr>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a:extLst>
              <a:ext uri="{FF2B5EF4-FFF2-40B4-BE49-F238E27FC236}">
                <a16:creationId xmlns:a16="http://schemas.microsoft.com/office/drawing/2014/main" id="{6B3F9D24-47DC-5A27-9B94-AB973926E535}"/>
              </a:ext>
            </a:extLst>
          </p:cNvPr>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고정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코드</a:t>
            </a:r>
            <a:endParaRPr lang="en-US" sz="1500" dirty="0"/>
          </a:p>
        </p:txBody>
      </p:sp>
      <p:sp>
        <p:nvSpPr>
          <p:cNvPr id="19" name="Shape 16">
            <a:extLst>
              <a:ext uri="{FF2B5EF4-FFF2-40B4-BE49-F238E27FC236}">
                <a16:creationId xmlns:a16="http://schemas.microsoft.com/office/drawing/2014/main" id="{59168B3E-CB42-82CF-6F35-AC2CE608E4F3}"/>
              </a:ext>
            </a:extLst>
          </p:cNvPr>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a:extLst>
              <a:ext uri="{FF2B5EF4-FFF2-40B4-BE49-F238E27FC236}">
                <a16:creationId xmlns:a16="http://schemas.microsoft.com/office/drawing/2014/main" id="{4F299AE2-D9B6-40D0-7A4E-23B905E56F71}"/>
              </a:ext>
            </a:extLst>
          </p:cNvPr>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a:extLst>
              <a:ext uri="{FF2B5EF4-FFF2-40B4-BE49-F238E27FC236}">
                <a16:creationId xmlns:a16="http://schemas.microsoft.com/office/drawing/2014/main" id="{E4A325B5-7104-F8DC-BE0D-6A65E2A3C78C}"/>
              </a:ext>
            </a:extLst>
          </p:cNvPr>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a:extLst>
              <a:ext uri="{FF2B5EF4-FFF2-40B4-BE49-F238E27FC236}">
                <a16:creationId xmlns:a16="http://schemas.microsoft.com/office/drawing/2014/main" id="{6404FDB4-7E25-17B2-9A8C-80D12AD94125}"/>
              </a:ext>
            </a:extLst>
          </p:cNvPr>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a:extLst>
              <a:ext uri="{FF2B5EF4-FFF2-40B4-BE49-F238E27FC236}">
                <a16:creationId xmlns:a16="http://schemas.microsoft.com/office/drawing/2014/main" id="{EAC03810-055E-290F-5B0D-705F4861682F}"/>
              </a:ext>
            </a:extLst>
          </p:cNvPr>
          <p:cNvSpPr/>
          <p:nvPr/>
        </p:nvSpPr>
        <p:spPr>
          <a:xfrm>
            <a:off x="509321" y="2697480"/>
            <a:ext cx="2505456" cy="2240280"/>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a:extLst>
              <a:ext uri="{FF2B5EF4-FFF2-40B4-BE49-F238E27FC236}">
                <a16:creationId xmlns:a16="http://schemas.microsoft.com/office/drawing/2014/main" id="{BE880DD2-0DF9-14C1-BBD5-4568B3F4F594}"/>
              </a:ext>
            </a:extLst>
          </p:cNvPr>
          <p:cNvSpPr txBox="1"/>
          <p:nvPr/>
        </p:nvSpPr>
        <p:spPr>
          <a:xfrm>
            <a:off x="637337"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질문 5개 안팎</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타입 이름은 쓰지 않고 질문으로만 씀</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질문이 범위이자 나중의 합격 기준</a:t>
            </a:r>
            <a:endParaRPr lang="en-US" sz="1400" dirty="0"/>
          </a:p>
        </p:txBody>
      </p:sp>
      <p:sp>
        <p:nvSpPr>
          <p:cNvPr id="25" name="Shape 22">
            <a:extLst>
              <a:ext uri="{FF2B5EF4-FFF2-40B4-BE49-F238E27FC236}">
                <a16:creationId xmlns:a16="http://schemas.microsoft.com/office/drawing/2014/main" id="{73E64A9A-19C7-4970-12E7-8E4B0FF241EF}"/>
              </a:ext>
            </a:extLst>
          </p:cNvPr>
          <p:cNvSpPr/>
          <p:nvPr/>
        </p:nvSpPr>
        <p:spPr>
          <a:xfrm>
            <a:off x="3289097"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a:extLst>
              <a:ext uri="{FF2B5EF4-FFF2-40B4-BE49-F238E27FC236}">
                <a16:creationId xmlns:a16="http://schemas.microsoft.com/office/drawing/2014/main" id="{957535B8-6E9F-76E6-D28A-6CF219E23D58}"/>
              </a:ext>
            </a:extLst>
          </p:cNvPr>
          <p:cNvSpPr txBox="1"/>
          <p:nvPr/>
        </p:nvSpPr>
        <p:spPr>
          <a:xfrm>
            <a:off x="3417113"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층별 표본: 시작 10건, 상한 30건(비율이 아니라 건수)</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SchemaFromTextExtractor에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a:extLst>
              <a:ext uri="{FF2B5EF4-FFF2-40B4-BE49-F238E27FC236}">
                <a16:creationId xmlns:a16="http://schemas.microsoft.com/office/drawing/2014/main" id="{A8D14F56-1D0B-139B-2CF5-A68C528B6802}"/>
              </a:ext>
            </a:extLst>
          </p:cNvPr>
          <p:cNvSpPr/>
          <p:nvPr/>
        </p:nvSpPr>
        <p:spPr>
          <a:xfrm>
            <a:off x="6068873" y="2697480"/>
            <a:ext cx="2505456" cy="2240280"/>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a:extLst>
              <a:ext uri="{FF2B5EF4-FFF2-40B4-BE49-F238E27FC236}">
                <a16:creationId xmlns:a16="http://schemas.microsoft.com/office/drawing/2014/main" id="{0B141308-CDD4-81E2-5EBC-BE42D8373CAB}"/>
              </a:ext>
            </a:extLst>
          </p:cNvPr>
          <p:cNvSpPr txBox="1"/>
          <p:nvPr/>
        </p:nvSpPr>
        <p:spPr>
          <a:xfrm>
            <a:off x="6196889"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합치기, 빼기, 보태기</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빈도가 아니라 질문 기준(드문 이름도 살림)</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타입마다 description을 좁게(무엇이 아닌지까지)</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제약은 사람이 정함</a:t>
            </a:r>
            <a:endParaRPr lang="en-US" sz="1400" dirty="0"/>
          </a:p>
        </p:txBody>
      </p:sp>
      <p:sp>
        <p:nvSpPr>
          <p:cNvPr id="29" name="Shape 26">
            <a:extLst>
              <a:ext uri="{FF2B5EF4-FFF2-40B4-BE49-F238E27FC236}">
                <a16:creationId xmlns:a16="http://schemas.microsoft.com/office/drawing/2014/main" id="{71481779-6DCC-4A27-45C5-7E0DF99F9A56}"/>
              </a:ext>
            </a:extLst>
          </p:cNvPr>
          <p:cNvSpPr/>
          <p:nvPr/>
        </p:nvSpPr>
        <p:spPr>
          <a:xfrm>
            <a:off x="8848649"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a:extLst>
              <a:ext uri="{FF2B5EF4-FFF2-40B4-BE49-F238E27FC236}">
                <a16:creationId xmlns:a16="http://schemas.microsoft.com/office/drawing/2014/main" id="{5256FE23-DB38-18EF-DAEE-41DFBA7FE938}"/>
              </a:ext>
            </a:extLst>
          </p:cNvPr>
          <p:cNvSpPr txBox="1"/>
          <p:nvPr/>
        </p:nvSpPr>
        <p:spPr>
          <a:xfrm>
            <a:off x="8976665"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뼈대를 schema로 주고 추출한 뒤 GraphPruning으로 정리</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정답표나 질문의 답이 채워지는지 셈</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③으로</a:t>
            </a:r>
            <a:endParaRPr lang="en-US" sz="1400" dirty="0"/>
          </a:p>
        </p:txBody>
      </p:sp>
      <p:sp>
        <p:nvSpPr>
          <p:cNvPr id="31" name="Shape 28">
            <a:extLst>
              <a:ext uri="{FF2B5EF4-FFF2-40B4-BE49-F238E27FC236}">
                <a16:creationId xmlns:a16="http://schemas.microsoft.com/office/drawing/2014/main" id="{EA79F3DD-DE12-63A7-9257-57F9366D7A61}"/>
              </a:ext>
            </a:extLst>
          </p:cNvPr>
          <p:cNvSpPr/>
          <p:nvPr/>
        </p:nvSpPr>
        <p:spPr>
          <a:xfrm>
            <a:off x="11628425" y="2697480"/>
            <a:ext cx="2505456" cy="2240280"/>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a:extLst>
              <a:ext uri="{FF2B5EF4-FFF2-40B4-BE49-F238E27FC236}">
                <a16:creationId xmlns:a16="http://schemas.microsoft.com/office/drawing/2014/main" id="{15EAC75B-5749-E59E-4911-8F9A3DF78E37}"/>
              </a:ext>
            </a:extLst>
          </p:cNvPr>
          <p:cNvSpPr txBox="1"/>
          <p:nvPr/>
        </p:nvSpPr>
        <p:spPr>
          <a:xfrm>
            <a:off x="11756441" y="2825496"/>
            <a:ext cx="2286000" cy="2020824"/>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GraphSchema.save(), additional_* = false</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a:extLst>
              <a:ext uri="{FF2B5EF4-FFF2-40B4-BE49-F238E27FC236}">
                <a16:creationId xmlns:a16="http://schemas.microsoft.com/office/drawing/2014/main" id="{12FBDFED-A23E-8FF1-B1FE-225B4358945C}"/>
              </a:ext>
            </a:extLst>
          </p:cNvPr>
          <p:cNvSpPr txBox="1"/>
          <p:nvPr/>
        </p:nvSpPr>
        <p:spPr>
          <a:xfrm>
            <a:off x="509321" y="5120640"/>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a:extLst>
              <a:ext uri="{FF2B5EF4-FFF2-40B4-BE49-F238E27FC236}">
                <a16:creationId xmlns:a16="http://schemas.microsoft.com/office/drawing/2014/main" id="{E9F0429D-F291-18AF-0C68-05461C328F9A}"/>
              </a:ext>
            </a:extLst>
          </p:cNvPr>
          <p:cNvSpPr/>
          <p:nvPr/>
        </p:nvSpPr>
        <p:spPr>
          <a:xfrm>
            <a:off x="50932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a:extLst>
              <a:ext uri="{FF2B5EF4-FFF2-40B4-BE49-F238E27FC236}">
                <a16:creationId xmlns:a16="http://schemas.microsoft.com/office/drawing/2014/main" id="{1F178DC5-A2AC-C1E5-665F-07B646D63990}"/>
              </a:ext>
            </a:extLst>
          </p:cNvPr>
          <p:cNvSpPr/>
          <p:nvPr/>
        </p:nvSpPr>
        <p:spPr>
          <a:xfrm>
            <a:off x="600761" y="5856732"/>
            <a:ext cx="365760" cy="365760"/>
          </a:xfrm>
          <a:prstGeom prst="roundRect">
            <a:avLst>
              <a:gd name="adj" fmla="val 12500"/>
            </a:avLst>
          </a:prstGeom>
          <a:solidFill>
            <a:srgbClr val="404155"/>
          </a:solidFill>
          <a:ln/>
        </p:spPr>
        <p:txBody>
          <a:bodyPr/>
          <a:lstStyle/>
          <a:p>
            <a:endParaRPr lang="ko-KR" altLang="en-US"/>
          </a:p>
        </p:txBody>
      </p:sp>
      <p:sp>
        <p:nvSpPr>
          <p:cNvPr id="36" name="Text 33">
            <a:extLst>
              <a:ext uri="{FF2B5EF4-FFF2-40B4-BE49-F238E27FC236}">
                <a16:creationId xmlns:a16="http://schemas.microsoft.com/office/drawing/2014/main" id="{BEF61F7E-36F7-7AE7-9E50-A2B7402E3BAC}"/>
              </a:ext>
            </a:extLst>
          </p:cNvPr>
          <p:cNvSpPr txBox="1"/>
          <p:nvPr/>
        </p:nvSpPr>
        <p:spPr>
          <a:xfrm>
            <a:off x="60076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a:extLst>
              <a:ext uri="{FF2B5EF4-FFF2-40B4-BE49-F238E27FC236}">
                <a16:creationId xmlns:a16="http://schemas.microsoft.com/office/drawing/2014/main" id="{F1655641-7A38-FE33-59E2-31C26B18FA32}"/>
              </a:ext>
            </a:extLst>
          </p:cNvPr>
          <p:cNvSpPr txBox="1"/>
          <p:nvPr/>
        </p:nvSpPr>
        <p:spPr>
          <a:xfrm>
            <a:off x="105796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앞서 나온 이름을 다시 쓰라는 안내는 이름을 모으지만 새 개념을 막음 → ④에서만</a:t>
            </a:r>
            <a:endParaRPr lang="en-US" sz="1500" dirty="0"/>
          </a:p>
        </p:txBody>
      </p:sp>
      <p:sp>
        <p:nvSpPr>
          <p:cNvPr id="38" name="Shape 35">
            <a:extLst>
              <a:ext uri="{FF2B5EF4-FFF2-40B4-BE49-F238E27FC236}">
                <a16:creationId xmlns:a16="http://schemas.microsoft.com/office/drawing/2014/main" id="{45A4A1E5-2167-80A9-1EE8-1B379CC7DB91}"/>
              </a:ext>
            </a:extLst>
          </p:cNvPr>
          <p:cNvSpPr/>
          <p:nvPr/>
        </p:nvSpPr>
        <p:spPr>
          <a:xfrm>
            <a:off x="394975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a:extLst>
              <a:ext uri="{FF2B5EF4-FFF2-40B4-BE49-F238E27FC236}">
                <a16:creationId xmlns:a16="http://schemas.microsoft.com/office/drawing/2014/main" id="{6722A00C-6655-DC04-36CE-E7217EB9A7FF}"/>
              </a:ext>
            </a:extLst>
          </p:cNvPr>
          <p:cNvSpPr/>
          <p:nvPr/>
        </p:nvSpPr>
        <p:spPr>
          <a:xfrm>
            <a:off x="4041191" y="5856732"/>
            <a:ext cx="365760" cy="365760"/>
          </a:xfrm>
          <a:prstGeom prst="roundRect">
            <a:avLst>
              <a:gd name="adj" fmla="val 12500"/>
            </a:avLst>
          </a:prstGeom>
          <a:solidFill>
            <a:srgbClr val="404155"/>
          </a:solidFill>
          <a:ln/>
        </p:spPr>
        <p:txBody>
          <a:bodyPr/>
          <a:lstStyle/>
          <a:p>
            <a:endParaRPr lang="ko-KR" altLang="en-US"/>
          </a:p>
        </p:txBody>
      </p:sp>
      <p:sp>
        <p:nvSpPr>
          <p:cNvPr id="40" name="Text 37">
            <a:extLst>
              <a:ext uri="{FF2B5EF4-FFF2-40B4-BE49-F238E27FC236}">
                <a16:creationId xmlns:a16="http://schemas.microsoft.com/office/drawing/2014/main" id="{EBD3D5F6-6A74-8EA0-4767-44ACD1E96564}"/>
              </a:ext>
            </a:extLst>
          </p:cNvPr>
          <p:cNvSpPr txBox="1"/>
          <p:nvPr/>
        </p:nvSpPr>
        <p:spPr>
          <a:xfrm>
            <a:off x="404119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a:extLst>
              <a:ext uri="{FF2B5EF4-FFF2-40B4-BE49-F238E27FC236}">
                <a16:creationId xmlns:a16="http://schemas.microsoft.com/office/drawing/2014/main" id="{5C8DE74A-F567-9129-B154-F07F02B7D7C9}"/>
              </a:ext>
            </a:extLst>
          </p:cNvPr>
          <p:cNvSpPr txBox="1"/>
          <p:nvPr/>
        </p:nvSpPr>
        <p:spPr>
          <a:xfrm>
            <a:off x="449839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행위나 조항 규칙 같은 구조는 LLM이 잘 못 뽑음 → 사람이 보탬</a:t>
            </a:r>
            <a:endParaRPr lang="en-US" sz="1500" dirty="0"/>
          </a:p>
        </p:txBody>
      </p:sp>
      <p:sp>
        <p:nvSpPr>
          <p:cNvPr id="42" name="Shape 39">
            <a:extLst>
              <a:ext uri="{FF2B5EF4-FFF2-40B4-BE49-F238E27FC236}">
                <a16:creationId xmlns:a16="http://schemas.microsoft.com/office/drawing/2014/main" id="{90C3D30A-12A5-CF42-74AB-2A13EAAE4FC9}"/>
              </a:ext>
            </a:extLst>
          </p:cNvPr>
          <p:cNvSpPr/>
          <p:nvPr/>
        </p:nvSpPr>
        <p:spPr>
          <a:xfrm>
            <a:off x="739018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a:extLst>
              <a:ext uri="{FF2B5EF4-FFF2-40B4-BE49-F238E27FC236}">
                <a16:creationId xmlns:a16="http://schemas.microsoft.com/office/drawing/2014/main" id="{395BB695-C704-A556-4B8F-4143A9D7A2C9}"/>
              </a:ext>
            </a:extLst>
          </p:cNvPr>
          <p:cNvSpPr/>
          <p:nvPr/>
        </p:nvSpPr>
        <p:spPr>
          <a:xfrm>
            <a:off x="7481621" y="5856732"/>
            <a:ext cx="365760" cy="365760"/>
          </a:xfrm>
          <a:prstGeom prst="roundRect">
            <a:avLst>
              <a:gd name="adj" fmla="val 12500"/>
            </a:avLst>
          </a:prstGeom>
          <a:solidFill>
            <a:srgbClr val="404155"/>
          </a:solidFill>
          <a:ln/>
        </p:spPr>
        <p:txBody>
          <a:bodyPr/>
          <a:lstStyle/>
          <a:p>
            <a:endParaRPr lang="ko-KR" altLang="en-US"/>
          </a:p>
        </p:txBody>
      </p:sp>
      <p:sp>
        <p:nvSpPr>
          <p:cNvPr id="44" name="Text 41">
            <a:extLst>
              <a:ext uri="{FF2B5EF4-FFF2-40B4-BE49-F238E27FC236}">
                <a16:creationId xmlns:a16="http://schemas.microsoft.com/office/drawing/2014/main" id="{A1156418-8516-E440-E729-B843DCC9FE89}"/>
              </a:ext>
            </a:extLst>
          </p:cNvPr>
          <p:cNvSpPr txBox="1"/>
          <p:nvPr/>
        </p:nvSpPr>
        <p:spPr>
          <a:xfrm>
            <a:off x="748162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a:extLst>
              <a:ext uri="{FF2B5EF4-FFF2-40B4-BE49-F238E27FC236}">
                <a16:creationId xmlns:a16="http://schemas.microsoft.com/office/drawing/2014/main" id="{F00A7F48-BB88-DE86-568F-73C354FFB42B}"/>
              </a:ext>
            </a:extLst>
          </p:cNvPr>
          <p:cNvSpPr txBox="1"/>
          <p:nvPr/>
        </p:nvSpPr>
        <p:spPr>
          <a:xfrm>
            <a:off x="793882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나오지 않음</a:t>
            </a:r>
            <a:endParaRPr lang="en-US" sz="1500" dirty="0"/>
          </a:p>
        </p:txBody>
      </p:sp>
      <p:sp>
        <p:nvSpPr>
          <p:cNvPr id="46" name="Shape 43">
            <a:extLst>
              <a:ext uri="{FF2B5EF4-FFF2-40B4-BE49-F238E27FC236}">
                <a16:creationId xmlns:a16="http://schemas.microsoft.com/office/drawing/2014/main" id="{B3E8DAD7-B495-26E4-2D65-4D8DF29B9960}"/>
              </a:ext>
            </a:extLst>
          </p:cNvPr>
          <p:cNvSpPr/>
          <p:nvPr/>
        </p:nvSpPr>
        <p:spPr>
          <a:xfrm>
            <a:off x="10830611" y="5468112"/>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a:extLst>
              <a:ext uri="{FF2B5EF4-FFF2-40B4-BE49-F238E27FC236}">
                <a16:creationId xmlns:a16="http://schemas.microsoft.com/office/drawing/2014/main" id="{E2C89991-9ACD-FEDD-C96D-1DD2C69D3BAE}"/>
              </a:ext>
            </a:extLst>
          </p:cNvPr>
          <p:cNvSpPr/>
          <p:nvPr/>
        </p:nvSpPr>
        <p:spPr>
          <a:xfrm>
            <a:off x="10922051" y="5856732"/>
            <a:ext cx="365760" cy="365760"/>
          </a:xfrm>
          <a:prstGeom prst="roundRect">
            <a:avLst>
              <a:gd name="adj" fmla="val 12500"/>
            </a:avLst>
          </a:prstGeom>
          <a:solidFill>
            <a:srgbClr val="404155"/>
          </a:solidFill>
          <a:ln/>
        </p:spPr>
        <p:txBody>
          <a:bodyPr/>
          <a:lstStyle/>
          <a:p>
            <a:endParaRPr lang="ko-KR" altLang="en-US"/>
          </a:p>
        </p:txBody>
      </p:sp>
      <p:sp>
        <p:nvSpPr>
          <p:cNvPr id="48" name="Text 45">
            <a:extLst>
              <a:ext uri="{FF2B5EF4-FFF2-40B4-BE49-F238E27FC236}">
                <a16:creationId xmlns:a16="http://schemas.microsoft.com/office/drawing/2014/main" id="{765FEB0A-7404-C214-9638-3FAB6DF6380D}"/>
              </a:ext>
            </a:extLst>
          </p:cNvPr>
          <p:cNvSpPr txBox="1"/>
          <p:nvPr/>
        </p:nvSpPr>
        <p:spPr>
          <a:xfrm>
            <a:off x="10922051" y="5856732"/>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a:extLst>
              <a:ext uri="{FF2B5EF4-FFF2-40B4-BE49-F238E27FC236}">
                <a16:creationId xmlns:a16="http://schemas.microsoft.com/office/drawing/2014/main" id="{8693D45E-121C-414A-52C5-C4197D9A3EAA}"/>
              </a:ext>
            </a:extLst>
          </p:cNvPr>
          <p:cNvSpPr txBox="1"/>
          <p:nvPr/>
        </p:nvSpPr>
        <p:spPr>
          <a:xfrm>
            <a:off x="11379251" y="5468112"/>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a:extLst>
              <a:ext uri="{FF2B5EF4-FFF2-40B4-BE49-F238E27FC236}">
                <a16:creationId xmlns:a16="http://schemas.microsoft.com/office/drawing/2014/main" id="{B7589DDD-9B99-2810-8F3D-B10E9D78E1DE}"/>
              </a:ext>
            </a:extLst>
          </p:cNvPr>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a:extLst>
              <a:ext uri="{FF2B5EF4-FFF2-40B4-BE49-F238E27FC236}">
                <a16:creationId xmlns:a16="http://schemas.microsoft.com/office/drawing/2014/main" id="{16F104BC-70DD-A545-DE9E-461C136032FF}"/>
              </a:ext>
            </a:extLst>
          </p:cNvPr>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a:extLst>
              <a:ext uri="{FF2B5EF4-FFF2-40B4-BE49-F238E27FC236}">
                <a16:creationId xmlns:a16="http://schemas.microsoft.com/office/drawing/2014/main" id="{08501195-02FD-9FD3-74DA-EE9AECF7600B}"/>
              </a:ext>
            </a:extLst>
          </p:cNvPr>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3626600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사례 ① 상담 이력: 넓게 뽑기에서 뼈대 확정까지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같은 상담 30건에 방법만 바꿔 보니, 역량 질문만 넣었을 때 비로소 불만, 제안, 응답, 재검토 조건이 후보로 나옴</a:t>
            </a:r>
            <a:endParaRPr lang="en-US" sz="1800" dirty="0"/>
          </a:p>
        </p:txBody>
      </p:sp>
      <p:sp>
        <p:nvSpPr>
          <p:cNvPr id="5" name="Shape 2"/>
          <p:cNvSpPr/>
          <p:nvPr/>
        </p:nvSpPr>
        <p:spPr>
          <a:xfrm>
            <a:off x="509321" y="1737360"/>
            <a:ext cx="640080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64008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같은 상담 30건, 방법만 바꿔 봄</a:t>
            </a:r>
            <a:endParaRPr lang="en-US" sz="1600" dirty="0"/>
          </a:p>
        </p:txBody>
      </p:sp>
      <p:sp>
        <p:nvSpPr>
          <p:cNvPr id="7" name="Text 4"/>
          <p:cNvSpPr txBox="1"/>
          <p:nvPr/>
        </p:nvSpPr>
        <p:spPr>
          <a:xfrm>
            <a:off x="509321" y="2157984"/>
            <a:ext cx="26517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방법</a:t>
            </a:r>
            <a:endParaRPr lang="en-US" sz="1400" dirty="0"/>
          </a:p>
        </p:txBody>
      </p:sp>
      <p:sp>
        <p:nvSpPr>
          <p:cNvPr id="8" name="Text 5"/>
          <p:cNvSpPr txBox="1"/>
          <p:nvPr/>
        </p:nvSpPr>
        <p:spPr>
          <a:xfrm>
            <a:off x="3252521" y="2157984"/>
            <a:ext cx="237744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노드 타입 이름 수</a:t>
            </a:r>
            <a:endParaRPr lang="en-US" sz="1400" dirty="0"/>
          </a:p>
        </p:txBody>
      </p:sp>
      <p:sp>
        <p:nvSpPr>
          <p:cNvPr id="9" name="Text 6"/>
          <p:cNvSpPr txBox="1"/>
          <p:nvPr/>
        </p:nvSpPr>
        <p:spPr>
          <a:xfrm>
            <a:off x="5629961" y="2157984"/>
            <a:ext cx="1280160" cy="256032"/>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업무 개념 4개 중</a:t>
            </a:r>
            <a:endParaRPr lang="en-US" sz="1400" dirty="0"/>
          </a:p>
        </p:txBody>
      </p:sp>
      <p:sp>
        <p:nvSpPr>
          <p:cNvPr id="10" name="Shape 7"/>
          <p:cNvSpPr/>
          <p:nvPr/>
        </p:nvSpPr>
        <p:spPr>
          <a:xfrm>
            <a:off x="509321" y="245059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11" name="Text 8"/>
          <p:cNvSpPr txBox="1"/>
          <p:nvPr/>
        </p:nvSpPr>
        <p:spPr>
          <a:xfrm>
            <a:off x="619049" y="245059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1건씩 따로 뽑기</a:t>
            </a:r>
            <a:endParaRPr lang="en-US" sz="1400" dirty="0"/>
          </a:p>
        </p:txBody>
      </p:sp>
      <p:sp>
        <p:nvSpPr>
          <p:cNvPr id="12" name="Shape 9"/>
          <p:cNvSpPr/>
          <p:nvPr/>
        </p:nvSpPr>
        <p:spPr>
          <a:xfrm>
            <a:off x="3252521" y="2606040"/>
            <a:ext cx="1630392" cy="237744"/>
          </a:xfrm>
          <a:prstGeom prst="rect">
            <a:avLst/>
          </a:prstGeom>
          <a:solidFill>
            <a:srgbClr val="4A5364"/>
          </a:solidFill>
          <a:ln/>
        </p:spPr>
        <p:txBody>
          <a:bodyPr/>
          <a:lstStyle/>
          <a:p>
            <a:endParaRPr lang="ko-KR" altLang="en-US"/>
          </a:p>
        </p:txBody>
      </p:sp>
      <p:sp>
        <p:nvSpPr>
          <p:cNvPr id="13" name="Text 10"/>
          <p:cNvSpPr txBox="1"/>
          <p:nvPr/>
        </p:nvSpPr>
        <p:spPr>
          <a:xfrm>
            <a:off x="4956065" y="245059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45</a:t>
            </a:r>
            <a:endParaRPr lang="en-US" sz="1500" dirty="0"/>
          </a:p>
        </p:txBody>
      </p:sp>
      <p:sp>
        <p:nvSpPr>
          <p:cNvPr id="14" name="Shape 11"/>
          <p:cNvSpPr/>
          <p:nvPr/>
        </p:nvSpPr>
        <p:spPr>
          <a:xfrm>
            <a:off x="5767121" y="256032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15" name="Text 12"/>
          <p:cNvSpPr txBox="1"/>
          <p:nvPr/>
        </p:nvSpPr>
        <p:spPr>
          <a:xfrm>
            <a:off x="5767121" y="256032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16" name="Shape 13"/>
          <p:cNvSpPr/>
          <p:nvPr/>
        </p:nvSpPr>
        <p:spPr>
          <a:xfrm>
            <a:off x="509321" y="304495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17" name="Text 14"/>
          <p:cNvSpPr txBox="1"/>
          <p:nvPr/>
        </p:nvSpPr>
        <p:spPr>
          <a:xfrm>
            <a:off x="619049" y="304495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이름 다시 쓰기</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(앞서 나온 이름을 examples로)</a:t>
            </a:r>
            <a:endParaRPr lang="en-US" sz="1400" dirty="0"/>
          </a:p>
        </p:txBody>
      </p:sp>
      <p:sp>
        <p:nvSpPr>
          <p:cNvPr id="18" name="Shape 15"/>
          <p:cNvSpPr/>
          <p:nvPr/>
        </p:nvSpPr>
        <p:spPr>
          <a:xfrm>
            <a:off x="3252521" y="3200400"/>
            <a:ext cx="507233" cy="237744"/>
          </a:xfrm>
          <a:prstGeom prst="rect">
            <a:avLst/>
          </a:prstGeom>
          <a:solidFill>
            <a:srgbClr val="4A5364"/>
          </a:solidFill>
          <a:ln/>
        </p:spPr>
        <p:txBody>
          <a:bodyPr/>
          <a:lstStyle/>
          <a:p>
            <a:endParaRPr lang="ko-KR" altLang="en-US"/>
          </a:p>
        </p:txBody>
      </p:sp>
      <p:sp>
        <p:nvSpPr>
          <p:cNvPr id="19" name="Text 16"/>
          <p:cNvSpPr txBox="1"/>
          <p:nvPr/>
        </p:nvSpPr>
        <p:spPr>
          <a:xfrm>
            <a:off x="3832906" y="304495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14</a:t>
            </a:r>
            <a:endParaRPr lang="en-US" sz="1500" dirty="0"/>
          </a:p>
        </p:txBody>
      </p:sp>
      <p:sp>
        <p:nvSpPr>
          <p:cNvPr id="20" name="Shape 17"/>
          <p:cNvSpPr/>
          <p:nvPr/>
        </p:nvSpPr>
        <p:spPr>
          <a:xfrm>
            <a:off x="5767121" y="315468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21" name="Text 18"/>
          <p:cNvSpPr txBox="1"/>
          <p:nvPr/>
        </p:nvSpPr>
        <p:spPr>
          <a:xfrm>
            <a:off x="5767121" y="315468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22" name="Shape 19"/>
          <p:cNvSpPr/>
          <p:nvPr/>
        </p:nvSpPr>
        <p:spPr>
          <a:xfrm>
            <a:off x="509321" y="363931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3" name="Text 20"/>
          <p:cNvSpPr txBox="1"/>
          <p:nvPr/>
        </p:nvSpPr>
        <p:spPr>
          <a:xfrm>
            <a:off x="619049" y="363931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이름 다시 쓰기</a:t>
            </a:r>
            <a:endParaRPr lang="en-US" sz="1400" dirty="0"/>
          </a:p>
        </p:txBody>
      </p:sp>
      <p:sp>
        <p:nvSpPr>
          <p:cNvPr id="24" name="Shape 21"/>
          <p:cNvSpPr/>
          <p:nvPr/>
        </p:nvSpPr>
        <p:spPr>
          <a:xfrm>
            <a:off x="3252521" y="3794760"/>
            <a:ext cx="1376776" cy="237744"/>
          </a:xfrm>
          <a:prstGeom prst="rect">
            <a:avLst/>
          </a:prstGeom>
          <a:solidFill>
            <a:srgbClr val="4A5364"/>
          </a:solidFill>
          <a:ln/>
        </p:spPr>
        <p:txBody>
          <a:bodyPr/>
          <a:lstStyle/>
          <a:p>
            <a:endParaRPr lang="ko-KR" altLang="en-US"/>
          </a:p>
        </p:txBody>
      </p:sp>
      <p:sp>
        <p:nvSpPr>
          <p:cNvPr id="25" name="Text 22"/>
          <p:cNvSpPr txBox="1"/>
          <p:nvPr/>
        </p:nvSpPr>
        <p:spPr>
          <a:xfrm>
            <a:off x="4702449" y="363931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38</a:t>
            </a:r>
            <a:endParaRPr lang="en-US" sz="1500" dirty="0"/>
          </a:p>
        </p:txBody>
      </p:sp>
      <p:sp>
        <p:nvSpPr>
          <p:cNvPr id="26" name="Shape 23"/>
          <p:cNvSpPr/>
          <p:nvPr/>
        </p:nvSpPr>
        <p:spPr>
          <a:xfrm>
            <a:off x="5767121" y="374904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27" name="Text 24"/>
          <p:cNvSpPr txBox="1"/>
          <p:nvPr/>
        </p:nvSpPr>
        <p:spPr>
          <a:xfrm>
            <a:off x="5767121" y="374904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28" name="Shape 25"/>
          <p:cNvSpPr/>
          <p:nvPr/>
        </p:nvSpPr>
        <p:spPr>
          <a:xfrm>
            <a:off x="509321" y="423367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9" name="Text 26"/>
          <p:cNvSpPr txBox="1"/>
          <p:nvPr/>
        </p:nvSpPr>
        <p:spPr>
          <a:xfrm>
            <a:off x="619049" y="423367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 + 역량 질문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이름 다시 쓰기</a:t>
            </a:r>
            <a:endParaRPr lang="en-US" sz="1400" dirty="0"/>
          </a:p>
        </p:txBody>
      </p:sp>
      <p:sp>
        <p:nvSpPr>
          <p:cNvPr id="30" name="Shape 27"/>
          <p:cNvSpPr/>
          <p:nvPr/>
        </p:nvSpPr>
        <p:spPr>
          <a:xfrm>
            <a:off x="3252521" y="4389120"/>
            <a:ext cx="362309" cy="237744"/>
          </a:xfrm>
          <a:prstGeom prst="rect">
            <a:avLst/>
          </a:prstGeom>
          <a:solidFill>
            <a:srgbClr val="4A5364"/>
          </a:solidFill>
          <a:ln/>
        </p:spPr>
        <p:txBody>
          <a:bodyPr/>
          <a:lstStyle/>
          <a:p>
            <a:endParaRPr lang="ko-KR" altLang="en-US"/>
          </a:p>
        </p:txBody>
      </p:sp>
      <p:sp>
        <p:nvSpPr>
          <p:cNvPr id="31" name="Text 28"/>
          <p:cNvSpPr txBox="1"/>
          <p:nvPr/>
        </p:nvSpPr>
        <p:spPr>
          <a:xfrm>
            <a:off x="3687982" y="423367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10</a:t>
            </a:r>
            <a:endParaRPr lang="en-US" sz="1500" dirty="0"/>
          </a:p>
        </p:txBody>
      </p:sp>
      <p:sp>
        <p:nvSpPr>
          <p:cNvPr id="32" name="Shape 29"/>
          <p:cNvSpPr/>
          <p:nvPr/>
        </p:nvSpPr>
        <p:spPr>
          <a:xfrm>
            <a:off x="5767121" y="4343400"/>
            <a:ext cx="1005840" cy="329184"/>
          </a:xfrm>
          <a:prstGeom prst="roundRect">
            <a:avLst>
              <a:gd name="adj" fmla="val 22222"/>
            </a:avLst>
          </a:prstGeom>
          <a:solidFill>
            <a:srgbClr val="EEF3FA"/>
          </a:solidFill>
          <a:ln/>
        </p:spPr>
        <p:txBody>
          <a:bodyPr/>
          <a:lstStyle/>
          <a:p>
            <a:endParaRPr lang="ko-KR" altLang="en-US"/>
          </a:p>
        </p:txBody>
      </p:sp>
      <p:sp>
        <p:nvSpPr>
          <p:cNvPr id="33" name="Text 30"/>
          <p:cNvSpPr txBox="1"/>
          <p:nvPr/>
        </p:nvSpPr>
        <p:spPr>
          <a:xfrm>
            <a:off x="5767121" y="434340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1 / 4</a:t>
            </a:r>
            <a:endParaRPr lang="en-US" sz="1500" dirty="0"/>
          </a:p>
        </p:txBody>
      </p:sp>
      <p:sp>
        <p:nvSpPr>
          <p:cNvPr id="34" name="Shape 31"/>
          <p:cNvSpPr/>
          <p:nvPr/>
        </p:nvSpPr>
        <p:spPr>
          <a:xfrm>
            <a:off x="509321" y="4828032"/>
            <a:ext cx="6400800" cy="548640"/>
          </a:xfrm>
          <a:prstGeom prst="roundRect">
            <a:avLst>
              <a:gd name="adj" fmla="val 10000"/>
            </a:avLst>
          </a:prstGeom>
          <a:solidFill>
            <a:srgbClr val="EEF3FA"/>
          </a:solidFill>
          <a:ln w="12700">
            <a:solidFill>
              <a:srgbClr val="2E74C6"/>
            </a:solidFill>
            <a:prstDash val="solid"/>
          </a:ln>
        </p:spPr>
        <p:txBody>
          <a:bodyPr/>
          <a:lstStyle/>
          <a:p>
            <a:endParaRPr lang="ko-KR" altLang="en-US"/>
          </a:p>
        </p:txBody>
      </p:sp>
      <p:sp>
        <p:nvSpPr>
          <p:cNvPr id="35" name="Text 32"/>
          <p:cNvSpPr txBox="1"/>
          <p:nvPr/>
        </p:nvSpPr>
        <p:spPr>
          <a:xfrm>
            <a:off x="619049" y="482803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 + 역량 질문만</a:t>
            </a:r>
            <a:endParaRPr lang="en-US" sz="1400" dirty="0"/>
          </a:p>
        </p:txBody>
      </p:sp>
      <p:sp>
        <p:nvSpPr>
          <p:cNvPr id="36" name="Shape 33"/>
          <p:cNvSpPr/>
          <p:nvPr/>
        </p:nvSpPr>
        <p:spPr>
          <a:xfrm>
            <a:off x="3252521" y="4983480"/>
            <a:ext cx="1920240" cy="237744"/>
          </a:xfrm>
          <a:prstGeom prst="rect">
            <a:avLst/>
          </a:prstGeom>
          <a:solidFill>
            <a:srgbClr val="2E74C6"/>
          </a:solidFill>
          <a:ln/>
        </p:spPr>
        <p:txBody>
          <a:bodyPr/>
          <a:lstStyle/>
          <a:p>
            <a:endParaRPr lang="ko-KR" altLang="en-US"/>
          </a:p>
        </p:txBody>
      </p:sp>
      <p:sp>
        <p:nvSpPr>
          <p:cNvPr id="37" name="Text 34"/>
          <p:cNvSpPr txBox="1"/>
          <p:nvPr/>
        </p:nvSpPr>
        <p:spPr>
          <a:xfrm>
            <a:off x="5245913" y="482803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53</a:t>
            </a:r>
            <a:endParaRPr lang="en-US" sz="1500" dirty="0"/>
          </a:p>
        </p:txBody>
      </p:sp>
      <p:sp>
        <p:nvSpPr>
          <p:cNvPr id="38" name="Shape 35"/>
          <p:cNvSpPr/>
          <p:nvPr/>
        </p:nvSpPr>
        <p:spPr>
          <a:xfrm>
            <a:off x="5767121" y="4937760"/>
            <a:ext cx="1005840" cy="329184"/>
          </a:xfrm>
          <a:prstGeom prst="roundRect">
            <a:avLst>
              <a:gd name="adj" fmla="val 22222"/>
            </a:avLst>
          </a:prstGeom>
          <a:solidFill>
            <a:srgbClr val="2E74C6"/>
          </a:solidFill>
          <a:ln/>
        </p:spPr>
        <p:txBody>
          <a:bodyPr/>
          <a:lstStyle/>
          <a:p>
            <a:endParaRPr lang="ko-KR" altLang="en-US"/>
          </a:p>
        </p:txBody>
      </p:sp>
      <p:sp>
        <p:nvSpPr>
          <p:cNvPr id="39" name="Text 36"/>
          <p:cNvSpPr txBox="1"/>
          <p:nvPr/>
        </p:nvSpPr>
        <p:spPr>
          <a:xfrm>
            <a:off x="5767121" y="4937760"/>
            <a:ext cx="100584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 / 4</a:t>
            </a:r>
            <a:endParaRPr lang="en-US" sz="1500" dirty="0"/>
          </a:p>
        </p:txBody>
      </p:sp>
      <p:sp>
        <p:nvSpPr>
          <p:cNvPr id="40" name="Text 37"/>
          <p:cNvSpPr txBox="1"/>
          <p:nvPr/>
        </p:nvSpPr>
        <p:spPr>
          <a:xfrm>
            <a:off x="509321" y="5504688"/>
            <a:ext cx="6400800" cy="896112"/>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개념: 불만 원인, 제안, 수용과 거절, 재검토 조건</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원문 보강: 상담 원문에 그 문장을 넣은 판(v3)</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역량 질문만 넣으면 네 개념이 각각 30건 중 1 ~ 5건뿐이라 빈도로 거르면 버려짐</a:t>
            </a:r>
            <a:endParaRPr lang="en-US" sz="1400" dirty="0"/>
          </a:p>
        </p:txBody>
      </p:sp>
      <p:sp>
        <p:nvSpPr>
          <p:cNvPr id="41" name="Shape 38"/>
          <p:cNvSpPr/>
          <p:nvPr/>
        </p:nvSpPr>
        <p:spPr>
          <a:xfrm>
            <a:off x="7184441" y="1737360"/>
            <a:ext cx="6949440" cy="365760"/>
          </a:xfrm>
          <a:prstGeom prst="roundRect">
            <a:avLst>
              <a:gd name="adj" fmla="val 12500"/>
            </a:avLst>
          </a:prstGeom>
          <a:solidFill>
            <a:srgbClr val="1E2A5C"/>
          </a:solidFill>
          <a:ln/>
        </p:spPr>
        <p:txBody>
          <a:bodyPr/>
          <a:lstStyle/>
          <a:p>
            <a:endParaRPr lang="ko-KR" altLang="en-US"/>
          </a:p>
        </p:txBody>
      </p:sp>
      <p:sp>
        <p:nvSpPr>
          <p:cNvPr id="42" name="Text 39"/>
          <p:cNvSpPr txBox="1"/>
          <p:nvPr/>
        </p:nvSpPr>
        <p:spPr>
          <a:xfrm>
            <a:off x="7184441" y="1737360"/>
            <a:ext cx="6949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확정한 뼈대(역량 질문 기준으로 사람이 정함)</a:t>
            </a:r>
            <a:endParaRPr lang="en-US" sz="1600" dirty="0"/>
          </a:p>
        </p:txBody>
      </p:sp>
      <p:sp>
        <p:nvSpPr>
          <p:cNvPr id="43" name="Shape 40"/>
          <p:cNvSpPr/>
          <p:nvPr/>
        </p:nvSpPr>
        <p:spPr>
          <a:xfrm>
            <a:off x="7321601" y="3108960"/>
            <a:ext cx="2057400" cy="960120"/>
          </a:xfrm>
          <a:prstGeom prst="roundRect">
            <a:avLst>
              <a:gd name="adj" fmla="val 7619"/>
            </a:avLst>
          </a:prstGeom>
          <a:solidFill>
            <a:srgbClr val="1E2A5C"/>
          </a:solidFill>
          <a:ln w="19050">
            <a:solidFill>
              <a:srgbClr val="1E2A5C"/>
            </a:solidFill>
            <a:prstDash val="solid"/>
          </a:ln>
        </p:spPr>
        <p:txBody>
          <a:bodyPr/>
          <a:lstStyle/>
          <a:p>
            <a:endParaRPr lang="ko-KR" altLang="en-US"/>
          </a:p>
        </p:txBody>
      </p:sp>
      <p:sp>
        <p:nvSpPr>
          <p:cNvPr id="44" name="Text 41"/>
          <p:cNvSpPr txBox="1"/>
          <p:nvPr/>
        </p:nvSpPr>
        <p:spPr>
          <a:xfrm>
            <a:off x="7413041" y="3145536"/>
            <a:ext cx="187452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:Consultation</a:t>
            </a:r>
            <a:endParaRPr lang="en-US" sz="1500" dirty="0"/>
          </a:p>
        </p:txBody>
      </p:sp>
      <p:sp>
        <p:nvSpPr>
          <p:cNvPr id="45" name="Text 42"/>
          <p:cNvSpPr txBox="1"/>
          <p:nvPr/>
        </p:nvSpPr>
        <p:spPr>
          <a:xfrm>
            <a:off x="7413041" y="3438144"/>
            <a:ext cx="1874520" cy="594360"/>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a:p>
            <a:pPr marL="0" indent="0" algn="ctr">
              <a:buNone/>
            </a:pPr>
            <a:r>
              <a:rPr lang="en-US" sz="1400" dirty="0">
                <a:solidFill>
                  <a:srgbClr val="D9E3F5"/>
                </a:solidFill>
                <a:latin typeface="Pretendard" pitchFamily="34" charset="0"/>
                <a:ea typeface="Pretendard" pitchFamily="34" charset="-122"/>
                <a:cs typeface="Pretendard" pitchFamily="34" charset="-120"/>
              </a:rPr>
              <a:t>consult_date, topic</a:t>
            </a:r>
            <a:endParaRPr lang="en-US" sz="1400" dirty="0"/>
          </a:p>
        </p:txBody>
      </p:sp>
      <p:sp>
        <p:nvSpPr>
          <p:cNvPr id="46" name="Shape 43"/>
          <p:cNvSpPr/>
          <p:nvPr/>
        </p:nvSpPr>
        <p:spPr>
          <a:xfrm>
            <a:off x="7321601" y="4343400"/>
            <a:ext cx="2057400" cy="640080"/>
          </a:xfrm>
          <a:prstGeom prst="roundRect">
            <a:avLst>
              <a:gd name="adj" fmla="val 11429"/>
            </a:avLst>
          </a:prstGeom>
          <a:solidFill>
            <a:srgbClr val="EEF3FA"/>
          </a:solidFill>
          <a:ln w="19050">
            <a:solidFill>
              <a:srgbClr val="7C8598"/>
            </a:solidFill>
            <a:prstDash val="dash"/>
          </a:ln>
        </p:spPr>
        <p:txBody>
          <a:bodyPr/>
          <a:lstStyle/>
          <a:p>
            <a:endParaRPr lang="ko-KR" altLang="en-US"/>
          </a:p>
        </p:txBody>
      </p:sp>
      <p:sp>
        <p:nvSpPr>
          <p:cNvPr id="47" name="Text 44"/>
          <p:cNvSpPr txBox="1"/>
          <p:nvPr/>
        </p:nvSpPr>
        <p:spPr>
          <a:xfrm>
            <a:off x="7413041" y="4379976"/>
            <a:ext cx="187452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:Consultation</a:t>
            </a:r>
            <a:endParaRPr lang="en-US" sz="1500" dirty="0"/>
          </a:p>
        </p:txBody>
      </p:sp>
      <p:sp>
        <p:nvSpPr>
          <p:cNvPr id="48" name="Text 45"/>
          <p:cNvSpPr txBox="1"/>
          <p:nvPr/>
        </p:nvSpPr>
        <p:spPr>
          <a:xfrm>
            <a:off x="7413041" y="4672584"/>
            <a:ext cx="1874520" cy="27432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49" name="Shape 46"/>
          <p:cNvSpPr/>
          <p:nvPr/>
        </p:nvSpPr>
        <p:spPr>
          <a:xfrm>
            <a:off x="11619281" y="2194560"/>
            <a:ext cx="2377440" cy="713232"/>
          </a:xfrm>
          <a:prstGeom prst="roundRect">
            <a:avLst>
              <a:gd name="adj" fmla="val 10256"/>
            </a:avLst>
          </a:prstGeom>
          <a:solidFill>
            <a:srgbClr val="EEF3FA"/>
          </a:solidFill>
          <a:ln w="19050">
            <a:solidFill>
              <a:srgbClr val="1E2A5C"/>
            </a:solidFill>
            <a:prstDash val="solid"/>
          </a:ln>
        </p:spPr>
        <p:txBody>
          <a:bodyPr/>
          <a:lstStyle/>
          <a:p>
            <a:endParaRPr lang="ko-KR" altLang="en-US"/>
          </a:p>
        </p:txBody>
      </p:sp>
      <p:sp>
        <p:nvSpPr>
          <p:cNvPr id="50" name="Text 47"/>
          <p:cNvSpPr txBox="1"/>
          <p:nvPr/>
        </p:nvSpPr>
        <p:spPr>
          <a:xfrm>
            <a:off x="11710721" y="223113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:Complaint</a:t>
            </a:r>
            <a:endParaRPr lang="en-US" sz="1500" dirty="0"/>
          </a:p>
        </p:txBody>
      </p:sp>
      <p:sp>
        <p:nvSpPr>
          <p:cNvPr id="51" name="Text 48"/>
          <p:cNvSpPr txBox="1"/>
          <p:nvPr/>
        </p:nvSpPr>
        <p:spPr>
          <a:xfrm>
            <a:off x="11710721" y="2523744"/>
            <a:ext cx="2194560" cy="34747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52" name="Shape 49"/>
          <p:cNvSpPr/>
          <p:nvPr/>
        </p:nvSpPr>
        <p:spPr>
          <a:xfrm>
            <a:off x="11619281" y="3108960"/>
            <a:ext cx="2377440" cy="960120"/>
          </a:xfrm>
          <a:prstGeom prst="roundRect">
            <a:avLst>
              <a:gd name="adj" fmla="val 7619"/>
            </a:avLst>
          </a:prstGeom>
          <a:solidFill>
            <a:srgbClr val="EEF3FA"/>
          </a:solidFill>
          <a:ln w="19050">
            <a:solidFill>
              <a:srgbClr val="1E2A5C"/>
            </a:solidFill>
            <a:prstDash val="solid"/>
          </a:ln>
        </p:spPr>
        <p:txBody>
          <a:bodyPr/>
          <a:lstStyle/>
          <a:p>
            <a:endParaRPr lang="ko-KR" altLang="en-US"/>
          </a:p>
        </p:txBody>
      </p:sp>
      <p:sp>
        <p:nvSpPr>
          <p:cNvPr id="53" name="Text 50"/>
          <p:cNvSpPr txBox="1"/>
          <p:nvPr/>
        </p:nvSpPr>
        <p:spPr>
          <a:xfrm>
            <a:off x="11710721" y="314553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:Proposal</a:t>
            </a:r>
            <a:endParaRPr lang="en-US" sz="1500" dirty="0"/>
          </a:p>
        </p:txBody>
      </p:sp>
      <p:sp>
        <p:nvSpPr>
          <p:cNvPr id="54" name="Text 51"/>
          <p:cNvSpPr txBox="1"/>
          <p:nvPr/>
        </p:nvSpPr>
        <p:spPr>
          <a:xfrm>
            <a:off x="11710721" y="3438144"/>
            <a:ext cx="2194560" cy="59436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 decision_reason</a:t>
            </a:r>
            <a:endParaRPr lang="en-US" sz="1400" dirty="0"/>
          </a:p>
        </p:txBody>
      </p:sp>
      <p:sp>
        <p:nvSpPr>
          <p:cNvPr id="55" name="Shape 52"/>
          <p:cNvSpPr/>
          <p:nvPr/>
        </p:nvSpPr>
        <p:spPr>
          <a:xfrm>
            <a:off x="11619281" y="4343400"/>
            <a:ext cx="2377440" cy="640080"/>
          </a:xfrm>
          <a:prstGeom prst="roundRect">
            <a:avLst>
              <a:gd name="adj" fmla="val 11429"/>
            </a:avLst>
          </a:prstGeom>
          <a:solidFill>
            <a:srgbClr val="EEF3FA"/>
          </a:solidFill>
          <a:ln w="19050">
            <a:solidFill>
              <a:srgbClr val="1E2A5C"/>
            </a:solidFill>
            <a:prstDash val="solid"/>
          </a:ln>
        </p:spPr>
        <p:txBody>
          <a:bodyPr/>
          <a:lstStyle/>
          <a:p>
            <a:endParaRPr lang="ko-KR" altLang="en-US"/>
          </a:p>
        </p:txBody>
      </p:sp>
      <p:sp>
        <p:nvSpPr>
          <p:cNvPr id="56" name="Text 53"/>
          <p:cNvSpPr txBox="1"/>
          <p:nvPr/>
        </p:nvSpPr>
        <p:spPr>
          <a:xfrm>
            <a:off x="11710721" y="437997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:ReconsiderCondition</a:t>
            </a:r>
            <a:endParaRPr lang="en-US" sz="1500" dirty="0"/>
          </a:p>
        </p:txBody>
      </p:sp>
      <p:sp>
        <p:nvSpPr>
          <p:cNvPr id="57" name="Text 54"/>
          <p:cNvSpPr txBox="1"/>
          <p:nvPr/>
        </p:nvSpPr>
        <p:spPr>
          <a:xfrm>
            <a:off x="11710721" y="4672584"/>
            <a:ext cx="2194560" cy="27432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58" name="Shape 55"/>
          <p:cNvSpPr/>
          <p:nvPr/>
        </p:nvSpPr>
        <p:spPr>
          <a:xfrm flipV="1">
            <a:off x="9406433" y="2606040"/>
            <a:ext cx="2185416" cy="594360"/>
          </a:xfrm>
          <a:prstGeom prst="line">
            <a:avLst/>
          </a:prstGeom>
          <a:noFill/>
          <a:ln w="22225">
            <a:solidFill>
              <a:srgbClr val="1E2A5C"/>
            </a:solidFill>
            <a:prstDash val="solid"/>
            <a:tailEnd type="triangle"/>
          </a:ln>
        </p:spPr>
        <p:txBody>
          <a:bodyPr/>
          <a:lstStyle/>
          <a:p>
            <a:endParaRPr lang="ko-KR" altLang="en-US"/>
          </a:p>
        </p:txBody>
      </p:sp>
      <p:sp>
        <p:nvSpPr>
          <p:cNvPr id="59" name="Text 56"/>
          <p:cNvSpPr txBox="1"/>
          <p:nvPr/>
        </p:nvSpPr>
        <p:spPr>
          <a:xfrm>
            <a:off x="9452153" y="2542032"/>
            <a:ext cx="1554480" cy="25603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60" name="Shape 57"/>
          <p:cNvSpPr/>
          <p:nvPr/>
        </p:nvSpPr>
        <p:spPr>
          <a:xfrm>
            <a:off x="9406433" y="3584448"/>
            <a:ext cx="2185416" cy="0"/>
          </a:xfrm>
          <a:prstGeom prst="line">
            <a:avLst/>
          </a:prstGeom>
          <a:noFill/>
          <a:ln w="22225">
            <a:solidFill>
              <a:srgbClr val="1E2A5C"/>
            </a:solidFill>
            <a:prstDash val="solid"/>
            <a:tailEnd type="triangle"/>
          </a:ln>
        </p:spPr>
        <p:txBody>
          <a:bodyPr/>
          <a:lstStyle/>
          <a:p>
            <a:endParaRPr lang="ko-KR" altLang="en-US"/>
          </a:p>
        </p:txBody>
      </p:sp>
      <p:sp>
        <p:nvSpPr>
          <p:cNvPr id="61" name="Text 58"/>
          <p:cNvSpPr txBox="1"/>
          <p:nvPr/>
        </p:nvSpPr>
        <p:spPr>
          <a:xfrm>
            <a:off x="9470441" y="3291840"/>
            <a:ext cx="2057400" cy="256032"/>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62" name="Shape 59"/>
          <p:cNvSpPr/>
          <p:nvPr/>
        </p:nvSpPr>
        <p:spPr>
          <a:xfrm flipV="1">
            <a:off x="12808001" y="2926080"/>
            <a:ext cx="0" cy="164592"/>
          </a:xfrm>
          <a:prstGeom prst="line">
            <a:avLst/>
          </a:prstGeom>
          <a:noFill/>
          <a:ln w="22225">
            <a:solidFill>
              <a:srgbClr val="2E74C6"/>
            </a:solidFill>
            <a:prstDash val="solid"/>
            <a:tailEnd type="triangle"/>
          </a:ln>
        </p:spPr>
        <p:txBody>
          <a:bodyPr/>
          <a:lstStyle/>
          <a:p>
            <a:endParaRPr lang="ko-KR" altLang="en-US"/>
          </a:p>
        </p:txBody>
      </p:sp>
      <p:sp>
        <p:nvSpPr>
          <p:cNvPr id="63" name="Text 60"/>
          <p:cNvSpPr txBox="1"/>
          <p:nvPr/>
        </p:nvSpPr>
        <p:spPr>
          <a:xfrm>
            <a:off x="12881153" y="2880360"/>
            <a:ext cx="118872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64" name="Shape 61"/>
          <p:cNvSpPr/>
          <p:nvPr/>
        </p:nvSpPr>
        <p:spPr>
          <a:xfrm>
            <a:off x="12808001" y="4087368"/>
            <a:ext cx="0" cy="237744"/>
          </a:xfrm>
          <a:prstGeom prst="line">
            <a:avLst/>
          </a:prstGeom>
          <a:noFill/>
          <a:ln w="22225">
            <a:solidFill>
              <a:srgbClr val="2E74C6"/>
            </a:solidFill>
            <a:prstDash val="solid"/>
            <a:tailEnd type="triangle"/>
          </a:ln>
        </p:spPr>
        <p:txBody>
          <a:bodyPr/>
          <a:lstStyle/>
          <a:p>
            <a:endParaRPr lang="ko-KR" altLang="en-US"/>
          </a:p>
        </p:txBody>
      </p:sp>
      <p:sp>
        <p:nvSpPr>
          <p:cNvPr id="65" name="Text 62"/>
          <p:cNvSpPr txBox="1"/>
          <p:nvPr/>
        </p:nvSpPr>
        <p:spPr>
          <a:xfrm>
            <a:off x="10796321" y="4078224"/>
            <a:ext cx="1938528" cy="256032"/>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66" name="Shape 63"/>
          <p:cNvSpPr/>
          <p:nvPr/>
        </p:nvSpPr>
        <p:spPr>
          <a:xfrm>
            <a:off x="8350301" y="4087368"/>
            <a:ext cx="0" cy="237744"/>
          </a:xfrm>
          <a:prstGeom prst="line">
            <a:avLst/>
          </a:prstGeom>
          <a:noFill/>
          <a:ln w="22225">
            <a:solidFill>
              <a:srgbClr val="1E2A5C"/>
            </a:solidFill>
            <a:prstDash val="solid"/>
            <a:tailEnd type="triangle"/>
          </a:ln>
        </p:spPr>
        <p:txBody>
          <a:bodyPr/>
          <a:lstStyle/>
          <a:p>
            <a:endParaRPr lang="ko-KR" altLang="en-US"/>
          </a:p>
        </p:txBody>
      </p:sp>
      <p:sp>
        <p:nvSpPr>
          <p:cNvPr id="67" name="Text 64"/>
          <p:cNvSpPr txBox="1"/>
          <p:nvPr/>
        </p:nvSpPr>
        <p:spPr>
          <a:xfrm>
            <a:off x="8423453" y="4078224"/>
            <a:ext cx="1097280" cy="25603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68" name="Text 65"/>
          <p:cNvSpPr txBox="1"/>
          <p:nvPr/>
        </p:nvSpPr>
        <p:spPr>
          <a:xfrm>
            <a:off x="7184441" y="5102352"/>
            <a:ext cx="6949440" cy="2743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네이비: LLM 후보를 합침, 파랑: 사람이 보탬(관계 2개와 decision 속성)</a:t>
            </a:r>
            <a:endParaRPr lang="en-US" sz="1400" dirty="0"/>
          </a:p>
        </p:txBody>
      </p:sp>
      <p:sp>
        <p:nvSpPr>
          <p:cNvPr id="69" name="Text 66"/>
          <p:cNvSpPr txBox="1"/>
          <p:nvPr/>
        </p:nvSpPr>
        <p:spPr>
          <a:xfrm>
            <a:off x="7184441" y="5449824"/>
            <a:ext cx="6949440" cy="9692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합침: Issue와 Complaint → Complaint, Proposal과 SUGGESTS → Proposal, Conversation과 Session → Consultation</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뺌: Transaction(RDB 집계), Customer의 이름과 이메일(가명처리 대상), Request와 Menu(질문에 안 쓰임)</a:t>
            </a:r>
            <a:endParaRPr lang="en-US" sz="1400" dirty="0"/>
          </a:p>
        </p:txBody>
      </p:sp>
      <p:sp>
        <p:nvSpPr>
          <p:cNvPr id="70" name="Shape 6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lang="ko-KR" altLang="en-US"/>
          </a:p>
        </p:txBody>
      </p:sp>
      <p:sp>
        <p:nvSpPr>
          <p:cNvPr id="71" name="Shape 68"/>
          <p:cNvSpPr/>
          <p:nvPr/>
        </p:nvSpPr>
        <p:spPr>
          <a:xfrm>
            <a:off x="509321" y="6510528"/>
            <a:ext cx="82296" cy="658368"/>
          </a:xfrm>
          <a:prstGeom prst="rect">
            <a:avLst/>
          </a:prstGeom>
          <a:solidFill>
            <a:srgbClr val="2E74C6"/>
          </a:solidFill>
          <a:ln/>
        </p:spPr>
        <p:txBody>
          <a:bodyPr/>
          <a:lstStyle/>
          <a:p>
            <a:endParaRPr lang="ko-KR" altLang="en-US"/>
          </a:p>
        </p:txBody>
      </p:sp>
      <p:sp>
        <p:nvSpPr>
          <p:cNvPr id="72" name="Text 6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드문 핵심 개념은 역량 질문만으로 넓게 뽑아야 보이고, 무엇을 살릴지는 빈도가 아니라 질문을 기준으로 사람이 정함</a:t>
            </a:r>
            <a:endParaRPr lang="en-US" sz="1600" dirty="0"/>
          </a:p>
        </p:txBody>
      </p:sp>
      <p:sp>
        <p:nvSpPr>
          <p:cNvPr id="73" name="Shape 70"/>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74" name="Text 7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LLM Groq openai/gpt-oss-120b, neo4j-graphrag 1.22.0 SchemaFromTextExtractor, 합성 상담 이력 30건(같은 순서)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사례 ② 뼈대 채우기 시험과 문서 종류별 차이</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뼈대의 이름보다 설명(description)이 추출 품질을 좌우함 — 채우기 시험으로 설명을 고쳐 가며 확정</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뼈대 채우기 시험(상담 48건,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lang="ko-KR" altLang="en-US"/>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lang="ko-KR" altLang="en-US"/>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12" name="Text 9"/>
          <p:cNvSpPr txBox="1"/>
          <p:nvPr/>
        </p:nvSpPr>
        <p:spPr>
          <a:xfrm>
            <a:off x="619049" y="2578608"/>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a:t>
            </a:r>
            <a:endParaRPr lang="en-US" sz="1400" dirty="0"/>
          </a:p>
        </p:txBody>
      </p:sp>
      <p:sp>
        <p:nvSpPr>
          <p:cNvPr id="13" name="Text 10"/>
          <p:cNvSpPr txBox="1"/>
          <p:nvPr/>
        </p:nvSpPr>
        <p:spPr>
          <a:xfrm>
            <a:off x="619049" y="2834640"/>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24건 중, 낮을수록 좋음</a:t>
            </a:r>
            <a:endParaRPr lang="en-US" sz="1400" dirty="0"/>
          </a:p>
        </p:txBody>
      </p:sp>
      <p:sp>
        <p:nvSpPr>
          <p:cNvPr id="14" name="Shape 11"/>
          <p:cNvSpPr/>
          <p:nvPr/>
        </p:nvSpPr>
        <p:spPr>
          <a:xfrm>
            <a:off x="3115361" y="2633472"/>
            <a:ext cx="2975610" cy="164592"/>
          </a:xfrm>
          <a:prstGeom prst="rect">
            <a:avLst/>
          </a:prstGeom>
          <a:solidFill>
            <a:srgbClr val="C3CEE0"/>
          </a:solidFill>
          <a:ln/>
        </p:spPr>
        <p:txBody>
          <a:bodyPr/>
          <a:lstStyle/>
          <a:p>
            <a:endParaRPr lang="ko-KR" altLang="en-US"/>
          </a:p>
        </p:txBody>
      </p:sp>
      <p:sp>
        <p:nvSpPr>
          <p:cNvPr id="15" name="Text 12"/>
          <p:cNvSpPr txBox="1"/>
          <p:nvPr/>
        </p:nvSpPr>
        <p:spPr>
          <a:xfrm>
            <a:off x="6145835" y="2578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115361" y="2852928"/>
            <a:ext cx="541020" cy="164592"/>
          </a:xfrm>
          <a:prstGeom prst="rect">
            <a:avLst/>
          </a:prstGeom>
          <a:solidFill>
            <a:srgbClr val="2E74C6"/>
          </a:solidFill>
          <a:ln/>
        </p:spPr>
        <p:txBody>
          <a:bodyPr/>
          <a:lstStyle/>
          <a:p>
            <a:endParaRPr lang="ko-KR" altLang="en-US"/>
          </a:p>
        </p:txBody>
      </p:sp>
      <p:sp>
        <p:nvSpPr>
          <p:cNvPr id="17" name="Text 14"/>
          <p:cNvSpPr txBox="1"/>
          <p:nvPr/>
        </p:nvSpPr>
        <p:spPr>
          <a:xfrm>
            <a:off x="3711245" y="279806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172968"/>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19" name="Text 16"/>
          <p:cNvSpPr txBox="1"/>
          <p:nvPr/>
        </p:nvSpPr>
        <p:spPr>
          <a:xfrm>
            <a:off x="619049" y="3209544"/>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a:t>
            </a:r>
            <a:endParaRPr lang="en-US" sz="1400" dirty="0"/>
          </a:p>
        </p:txBody>
      </p:sp>
      <p:sp>
        <p:nvSpPr>
          <p:cNvPr id="20" name="Text 17"/>
          <p:cNvSpPr txBox="1"/>
          <p:nvPr/>
        </p:nvSpPr>
        <p:spPr>
          <a:xfrm>
            <a:off x="619049" y="3465576"/>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115361" y="3264408"/>
            <a:ext cx="3246120" cy="164592"/>
          </a:xfrm>
          <a:prstGeom prst="rect">
            <a:avLst/>
          </a:prstGeom>
          <a:solidFill>
            <a:srgbClr val="C3CEE0"/>
          </a:solidFill>
          <a:ln/>
        </p:spPr>
        <p:txBody>
          <a:bodyPr/>
          <a:lstStyle/>
          <a:p>
            <a:endParaRPr lang="ko-KR" altLang="en-US"/>
          </a:p>
        </p:txBody>
      </p:sp>
      <p:sp>
        <p:nvSpPr>
          <p:cNvPr id="22" name="Text 19"/>
          <p:cNvSpPr txBox="1"/>
          <p:nvPr/>
        </p:nvSpPr>
        <p:spPr>
          <a:xfrm>
            <a:off x="6416345" y="320954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115361" y="3483864"/>
            <a:ext cx="2089457" cy="164592"/>
          </a:xfrm>
          <a:prstGeom prst="rect">
            <a:avLst/>
          </a:prstGeom>
          <a:solidFill>
            <a:srgbClr val="2E74C6"/>
          </a:solidFill>
          <a:ln/>
        </p:spPr>
        <p:txBody>
          <a:bodyPr/>
          <a:lstStyle/>
          <a:p>
            <a:endParaRPr lang="ko-KR" altLang="en-US"/>
          </a:p>
        </p:txBody>
      </p:sp>
      <p:sp>
        <p:nvSpPr>
          <p:cNvPr id="24" name="Text 21"/>
          <p:cNvSpPr txBox="1"/>
          <p:nvPr/>
        </p:nvSpPr>
        <p:spPr>
          <a:xfrm>
            <a:off x="5259681" y="342900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3803904"/>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619049" y="3840480"/>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a:t>
            </a:r>
            <a:endParaRPr lang="en-US" sz="1400" dirty="0"/>
          </a:p>
        </p:txBody>
      </p:sp>
      <p:sp>
        <p:nvSpPr>
          <p:cNvPr id="27" name="Text 24"/>
          <p:cNvSpPr txBox="1"/>
          <p:nvPr/>
        </p:nvSpPr>
        <p:spPr>
          <a:xfrm>
            <a:off x="619049" y="4096512"/>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115361" y="3895344"/>
            <a:ext cx="2096452" cy="164592"/>
          </a:xfrm>
          <a:prstGeom prst="rect">
            <a:avLst/>
          </a:prstGeom>
          <a:solidFill>
            <a:srgbClr val="C3CEE0"/>
          </a:solidFill>
          <a:ln/>
        </p:spPr>
        <p:txBody>
          <a:bodyPr/>
          <a:lstStyle/>
          <a:p>
            <a:endParaRPr lang="ko-KR" altLang="en-US"/>
          </a:p>
        </p:txBody>
      </p:sp>
      <p:sp>
        <p:nvSpPr>
          <p:cNvPr id="29" name="Text 26"/>
          <p:cNvSpPr txBox="1"/>
          <p:nvPr/>
        </p:nvSpPr>
        <p:spPr>
          <a:xfrm>
            <a:off x="5266677" y="384048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115361" y="4114800"/>
            <a:ext cx="2502218" cy="164592"/>
          </a:xfrm>
          <a:prstGeom prst="rect">
            <a:avLst/>
          </a:prstGeom>
          <a:solidFill>
            <a:srgbClr val="2E74C6"/>
          </a:solidFill>
          <a:ln/>
        </p:spPr>
        <p:txBody>
          <a:bodyPr/>
          <a:lstStyle/>
          <a:p>
            <a:endParaRPr lang="ko-KR" altLang="en-US"/>
          </a:p>
        </p:txBody>
      </p:sp>
      <p:sp>
        <p:nvSpPr>
          <p:cNvPr id="31" name="Text 28"/>
          <p:cNvSpPr txBox="1"/>
          <p:nvPr/>
        </p:nvSpPr>
        <p:spPr>
          <a:xfrm>
            <a:off x="5672442" y="405993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434840"/>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33" name="Text 30"/>
          <p:cNvSpPr txBox="1"/>
          <p:nvPr/>
        </p:nvSpPr>
        <p:spPr>
          <a:xfrm>
            <a:off x="619049" y="4471416"/>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a:t>
            </a:r>
            <a:endParaRPr lang="en-US" sz="1400" dirty="0"/>
          </a:p>
        </p:txBody>
      </p:sp>
      <p:sp>
        <p:nvSpPr>
          <p:cNvPr id="34" name="Text 31"/>
          <p:cNvSpPr txBox="1"/>
          <p:nvPr/>
        </p:nvSpPr>
        <p:spPr>
          <a:xfrm>
            <a:off x="619049" y="4727448"/>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29건 중, 낮을수록 좋음</a:t>
            </a:r>
            <a:endParaRPr lang="en-US" sz="1400" dirty="0"/>
          </a:p>
        </p:txBody>
      </p:sp>
      <p:sp>
        <p:nvSpPr>
          <p:cNvPr id="35" name="Shape 32"/>
          <p:cNvSpPr/>
          <p:nvPr/>
        </p:nvSpPr>
        <p:spPr>
          <a:xfrm>
            <a:off x="3115361" y="4526280"/>
            <a:ext cx="671611" cy="164592"/>
          </a:xfrm>
          <a:prstGeom prst="rect">
            <a:avLst/>
          </a:prstGeom>
          <a:solidFill>
            <a:srgbClr val="C3CEE0"/>
          </a:solidFill>
          <a:ln/>
        </p:spPr>
        <p:txBody>
          <a:bodyPr/>
          <a:lstStyle/>
          <a:p>
            <a:endParaRPr lang="ko-KR" altLang="en-US"/>
          </a:p>
        </p:txBody>
      </p:sp>
      <p:sp>
        <p:nvSpPr>
          <p:cNvPr id="36" name="Text 33"/>
          <p:cNvSpPr txBox="1"/>
          <p:nvPr/>
        </p:nvSpPr>
        <p:spPr>
          <a:xfrm>
            <a:off x="3841836" y="4471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115361" y="4745736"/>
            <a:ext cx="45720" cy="164592"/>
          </a:xfrm>
          <a:prstGeom prst="rect">
            <a:avLst/>
          </a:prstGeom>
          <a:solidFill>
            <a:srgbClr val="2E74C6"/>
          </a:solidFill>
          <a:ln/>
        </p:spPr>
        <p:txBody>
          <a:bodyPr/>
          <a:lstStyle/>
          <a:p>
            <a:endParaRPr lang="ko-KR" altLang="en-US"/>
          </a:p>
        </p:txBody>
      </p:sp>
      <p:sp>
        <p:nvSpPr>
          <p:cNvPr id="38" name="Text 35"/>
          <p:cNvSpPr txBox="1"/>
          <p:nvPr/>
        </p:nvSpPr>
        <p:spPr>
          <a:xfrm>
            <a:off x="3215945" y="469087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065776"/>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40" name="Text 37"/>
          <p:cNvSpPr txBox="1"/>
          <p:nvPr/>
        </p:nvSpPr>
        <p:spPr>
          <a:xfrm>
            <a:off x="619049" y="5102352"/>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a:t>
            </a:r>
            <a:endParaRPr lang="en-US" sz="1400" dirty="0"/>
          </a:p>
        </p:txBody>
      </p:sp>
      <p:sp>
        <p:nvSpPr>
          <p:cNvPr id="41" name="Text 38"/>
          <p:cNvSpPr txBox="1"/>
          <p:nvPr/>
        </p:nvSpPr>
        <p:spPr>
          <a:xfrm>
            <a:off x="619049" y="5358384"/>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36건 중, 높을수록 좋음</a:t>
            </a:r>
            <a:endParaRPr lang="en-US" sz="1400" dirty="0"/>
          </a:p>
        </p:txBody>
      </p:sp>
      <p:sp>
        <p:nvSpPr>
          <p:cNvPr id="42" name="Shape 39"/>
          <p:cNvSpPr/>
          <p:nvPr/>
        </p:nvSpPr>
        <p:spPr>
          <a:xfrm>
            <a:off x="3115361" y="5157216"/>
            <a:ext cx="3065780" cy="164592"/>
          </a:xfrm>
          <a:prstGeom prst="rect">
            <a:avLst/>
          </a:prstGeom>
          <a:solidFill>
            <a:srgbClr val="C3CEE0"/>
          </a:solidFill>
          <a:ln/>
        </p:spPr>
        <p:txBody>
          <a:bodyPr/>
          <a:lstStyle/>
          <a:p>
            <a:endParaRPr lang="ko-KR" altLang="en-US"/>
          </a:p>
        </p:txBody>
      </p:sp>
      <p:sp>
        <p:nvSpPr>
          <p:cNvPr id="43" name="Text 40"/>
          <p:cNvSpPr txBox="1"/>
          <p:nvPr/>
        </p:nvSpPr>
        <p:spPr>
          <a:xfrm>
            <a:off x="6236005" y="510235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115361" y="5376672"/>
            <a:ext cx="3246120" cy="164592"/>
          </a:xfrm>
          <a:prstGeom prst="rect">
            <a:avLst/>
          </a:prstGeom>
          <a:solidFill>
            <a:srgbClr val="2E74C6"/>
          </a:solidFill>
          <a:ln/>
        </p:spPr>
        <p:txBody>
          <a:bodyPr/>
          <a:lstStyle/>
          <a:p>
            <a:endParaRPr lang="ko-KR" altLang="en-US"/>
          </a:p>
        </p:txBody>
      </p:sp>
      <p:sp>
        <p:nvSpPr>
          <p:cNvPr id="45" name="Text 42"/>
          <p:cNvSpPr txBox="1"/>
          <p:nvPr/>
        </p:nvSpPr>
        <p:spPr>
          <a:xfrm>
            <a:off x="6416345" y="532180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509321" y="5742432"/>
            <a:ext cx="6675120" cy="676656"/>
          </a:xfrm>
          <a:prstGeom prst="roundRect">
            <a:avLst>
              <a:gd name="adj" fmla="val 10811"/>
            </a:avLst>
          </a:prstGeom>
          <a:solidFill>
            <a:srgbClr val="EEF3FA"/>
          </a:solidFill>
          <a:ln w="12700">
            <a:solidFill>
              <a:srgbClr val="2E74C6"/>
            </a:solidFill>
            <a:prstDash val="solid"/>
          </a:ln>
        </p:spPr>
        <p:txBody>
          <a:bodyPr/>
          <a:lstStyle/>
          <a:p>
            <a:endParaRPr lang="ko-KR" altLang="en-US"/>
          </a:p>
        </p:txBody>
      </p:sp>
      <p:sp>
        <p:nvSpPr>
          <p:cNvPr id="47" name="Text 44"/>
          <p:cNvSpPr txBox="1"/>
          <p:nvPr/>
        </p:nvSpPr>
        <p:spPr>
          <a:xfrm>
            <a:off x="646481" y="5742432"/>
            <a:ext cx="6400800" cy="67665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Complaint 설명 v1: 고객이 말한 불만과 그 원인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문의 목적과 개인 사정(이사, 지출 감소)은 아님</a:t>
            </a:r>
            <a:endParaRPr lang="en-US" sz="1400" dirty="0"/>
          </a:p>
        </p:txBody>
      </p:sp>
      <p:sp>
        <p:nvSpPr>
          <p:cNvPr id="48" name="Shape 45"/>
          <p:cNvSpPr/>
          <p:nvPr/>
        </p:nvSpPr>
        <p:spPr>
          <a:xfrm>
            <a:off x="7458761" y="1737360"/>
            <a:ext cx="6675120" cy="365760"/>
          </a:xfrm>
          <a:prstGeom prst="roundRect">
            <a:avLst>
              <a:gd name="adj" fmla="val 12500"/>
            </a:avLst>
          </a:prstGeom>
          <a:solidFill>
            <a:srgbClr val="1E2A5C"/>
          </a:solidFill>
          <a:ln/>
        </p:spPr>
        <p:txBody>
          <a:bodyPr/>
          <a:lstStyle/>
          <a:p>
            <a:endParaRPr lang="ko-KR" altLang="en-US"/>
          </a:p>
        </p:txBody>
      </p:sp>
      <p:sp>
        <p:nvSpPr>
          <p:cNvPr id="49" name="Text 46"/>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종류에 따라 비중이 다름</a:t>
            </a:r>
            <a:endParaRPr lang="en-US" sz="1600" dirty="0"/>
          </a:p>
        </p:txBody>
      </p:sp>
      <p:sp>
        <p:nvSpPr>
          <p:cNvPr id="50" name="Shape 47"/>
          <p:cNvSpPr/>
          <p:nvPr/>
        </p:nvSpPr>
        <p:spPr>
          <a:xfrm>
            <a:off x="7458761" y="2176272"/>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50201" y="2267712"/>
            <a:ext cx="1234440" cy="896112"/>
          </a:xfrm>
          <a:prstGeom prst="roundRect">
            <a:avLst>
              <a:gd name="adj" fmla="val 6122"/>
            </a:avLst>
          </a:prstGeom>
          <a:solidFill>
            <a:srgbClr val="1E2A5C"/>
          </a:solidFill>
          <a:ln/>
        </p:spPr>
        <p:txBody>
          <a:bodyPr/>
          <a:lstStyle/>
          <a:p>
            <a:endParaRPr lang="ko-KR" altLang="en-US"/>
          </a:p>
        </p:txBody>
      </p:sp>
      <p:sp>
        <p:nvSpPr>
          <p:cNvPr id="52" name="Text 49"/>
          <p:cNvSpPr txBox="1"/>
          <p:nvPr/>
        </p:nvSpPr>
        <p:spPr>
          <a:xfrm>
            <a:off x="7550201" y="2267712"/>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 안내</a:t>
            </a:r>
            <a:endParaRPr lang="en-US" sz="1500" dirty="0"/>
          </a:p>
        </p:txBody>
      </p:sp>
      <p:sp>
        <p:nvSpPr>
          <p:cNvPr id="53" name="Text 50"/>
          <p:cNvSpPr txBox="1"/>
          <p:nvPr/>
        </p:nvSpPr>
        <p:spPr>
          <a:xfrm>
            <a:off x="8921801" y="2176272"/>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이름이 빨리 모임(핵심 6개). 역량 질문을 넣자 제외 대상 Exclusion이 3건에서 25건으로</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넓게 뽑은 후보가 거의 그대로 뼈대, 사람은 합치기 위주</a:t>
            </a:r>
            <a:endParaRPr lang="en-US" sz="1400" dirty="0"/>
          </a:p>
        </p:txBody>
      </p:sp>
      <p:sp>
        <p:nvSpPr>
          <p:cNvPr id="54" name="Shape 51"/>
          <p:cNvSpPr/>
          <p:nvPr/>
        </p:nvSpPr>
        <p:spPr>
          <a:xfrm>
            <a:off x="7458761" y="3346704"/>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5" name="Shape 52"/>
          <p:cNvSpPr/>
          <p:nvPr/>
        </p:nvSpPr>
        <p:spPr>
          <a:xfrm>
            <a:off x="7550201" y="3438144"/>
            <a:ext cx="1234440" cy="896112"/>
          </a:xfrm>
          <a:prstGeom prst="roundRect">
            <a:avLst>
              <a:gd name="adj" fmla="val 6122"/>
            </a:avLst>
          </a:prstGeom>
          <a:solidFill>
            <a:srgbClr val="1E2A5C"/>
          </a:solidFill>
          <a:ln/>
        </p:spPr>
        <p:txBody>
          <a:bodyPr/>
          <a:lstStyle/>
          <a:p>
            <a:endParaRPr lang="ko-KR" altLang="en-US"/>
          </a:p>
        </p:txBody>
      </p:sp>
      <p:sp>
        <p:nvSpPr>
          <p:cNvPr id="56" name="Text 53"/>
          <p:cNvSpPr txBox="1"/>
          <p:nvPr/>
        </p:nvSpPr>
        <p:spPr>
          <a:xfrm>
            <a:off x="7550201" y="3438144"/>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 이력</a:t>
            </a:r>
            <a:endParaRPr lang="en-US" sz="1500" dirty="0"/>
          </a:p>
        </p:txBody>
      </p:sp>
      <p:sp>
        <p:nvSpPr>
          <p:cNvPr id="57" name="Text 54"/>
          <p:cNvSpPr txBox="1"/>
          <p:nvPr/>
        </p:nvSpPr>
        <p:spPr>
          <a:xfrm>
            <a:off x="8921801" y="3346704"/>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대화 속 행위(불만, 제안, 응답)는 30건 중 1 ~ 5건만 나옴</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사람이 보태고, 채우기 시험으로 설명을 다듬음</a:t>
            </a:r>
            <a:endParaRPr lang="en-US" sz="1400" dirty="0"/>
          </a:p>
        </p:txBody>
      </p:sp>
      <p:sp>
        <p:nvSpPr>
          <p:cNvPr id="58" name="Shape 55"/>
          <p:cNvSpPr/>
          <p:nvPr/>
        </p:nvSpPr>
        <p:spPr>
          <a:xfrm>
            <a:off x="7458761" y="4517136"/>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9" name="Shape 56"/>
          <p:cNvSpPr/>
          <p:nvPr/>
        </p:nvSpPr>
        <p:spPr>
          <a:xfrm>
            <a:off x="7550201" y="4608576"/>
            <a:ext cx="1234440" cy="896112"/>
          </a:xfrm>
          <a:prstGeom prst="roundRect">
            <a:avLst>
              <a:gd name="adj" fmla="val 6122"/>
            </a:avLst>
          </a:prstGeom>
          <a:solidFill>
            <a:srgbClr val="1E2A5C"/>
          </a:solidFill>
          <a:ln/>
        </p:spPr>
        <p:txBody>
          <a:bodyPr/>
          <a:lstStyle/>
          <a:p>
            <a:endParaRPr lang="ko-KR" altLang="en-US"/>
          </a:p>
        </p:txBody>
      </p:sp>
      <p:sp>
        <p:nvSpPr>
          <p:cNvPr id="60" name="Text 57"/>
          <p:cNvSpPr txBox="1"/>
          <p:nvPr/>
        </p:nvSpPr>
        <p:spPr>
          <a:xfrm>
            <a:off x="7550201" y="4608576"/>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61" name="Text 58"/>
          <p:cNvSpPr txBox="1"/>
          <p:nvPr/>
        </p:nvSpPr>
        <p:spPr>
          <a:xfrm>
            <a:off x="8921801" y="4517136"/>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청크마다 조항이 달라 1건에서만 나온 이름이 76%. 기한과 의무 같은 규칙 구조는 거의 안 나옴</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조항 구조 뼈대를 사람이 먼저 그림</a:t>
            </a:r>
            <a:endParaRPr lang="en-US" sz="1400" dirty="0"/>
          </a:p>
        </p:txBody>
      </p:sp>
      <p:sp>
        <p:nvSpPr>
          <p:cNvPr id="62" name="Shape 59"/>
          <p:cNvSpPr/>
          <p:nvPr/>
        </p:nvSpPr>
        <p:spPr>
          <a:xfrm>
            <a:off x="7458761" y="5742432"/>
            <a:ext cx="6675120" cy="676656"/>
          </a:xfrm>
          <a:prstGeom prst="roundRect">
            <a:avLst>
              <a:gd name="adj" fmla="val 10811"/>
            </a:avLst>
          </a:prstGeom>
          <a:solidFill>
            <a:srgbClr val="F5F8FC"/>
          </a:solidFill>
          <a:ln w="12700">
            <a:solidFill>
              <a:srgbClr val="D9E0EC"/>
            </a:solidFill>
            <a:prstDash val="solid"/>
          </a:ln>
        </p:spPr>
        <p:txBody>
          <a:bodyPr/>
          <a:lstStyle/>
          <a:p>
            <a:endParaRPr lang="ko-KR" altLang="en-US"/>
          </a:p>
        </p:txBody>
      </p:sp>
      <p:sp>
        <p:nvSpPr>
          <p:cNvPr id="63" name="Text 60"/>
          <p:cNvSpPr txBox="1"/>
          <p:nvPr/>
        </p:nvSpPr>
        <p:spPr>
          <a:xfrm>
            <a:off x="7595921" y="5742432"/>
            <a:ext cx="6400800" cy="67665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표본 수: 이름 다시 쓰기 시험에서 혜택 층은 10 ~ 14건, 상담은 13 ~ 20건에서 멈춤(상한 30건 전)</a:t>
            </a:r>
            <a:endParaRPr lang="en-US" sz="1400" dirty="0"/>
          </a:p>
        </p:txBody>
      </p:sp>
      <p:sp>
        <p:nvSpPr>
          <p:cNvPr id="64" name="Shape 61"/>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lang="ko-KR" altLang="en-US"/>
          </a:p>
        </p:txBody>
      </p:sp>
      <p:sp>
        <p:nvSpPr>
          <p:cNvPr id="65" name="Shape 62"/>
          <p:cNvSpPr/>
          <p:nvPr/>
        </p:nvSpPr>
        <p:spPr>
          <a:xfrm>
            <a:off x="509321" y="6510528"/>
            <a:ext cx="82296" cy="658368"/>
          </a:xfrm>
          <a:prstGeom prst="rect">
            <a:avLst/>
          </a:prstGeom>
          <a:solidFill>
            <a:srgbClr val="2E74C6"/>
          </a:solidFill>
          <a:ln/>
        </p:spPr>
        <p:txBody>
          <a:bodyPr/>
          <a:lstStyle/>
          <a:p>
            <a:endParaRPr lang="ko-KR" altLang="en-US"/>
          </a:p>
        </p:txBody>
      </p:sp>
      <p:sp>
        <p:nvSpPr>
          <p:cNvPr id="66" name="Text 63"/>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절차 ①~⑤는 같음. 문서 성격에 따라 LLM 후보를 그대로 쓰는 비중과 사람이 설계하는 비중이 달라짐</a:t>
            </a:r>
            <a:endParaRPr lang="en-US" sz="1600" dirty="0"/>
          </a:p>
        </p:txBody>
      </p:sp>
      <p:sp>
        <p:nvSpPr>
          <p:cNvPr id="67" name="Shape 64"/>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68" name="Text 65"/>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3995</Words>
  <Application>Microsoft Office PowerPoint</Application>
  <PresentationFormat>사용자 지정</PresentationFormat>
  <Paragraphs>437</Paragraphs>
  <Slides>8</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vt:i4>
      </vt:variant>
    </vt:vector>
  </HeadingPairs>
  <TitlesOfParts>
    <vt:vector size="12" baseType="lpstr">
      <vt:lpstr>Arial</vt:lpstr>
      <vt:lpstr>Pretendard</vt:lpstr>
      <vt:lpstr>Pretendard SemiBold</vt:lpstr>
      <vt:lpstr>Office Theme</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소스 문서 → 노드 타입과 관계 추출 방안</vt:lpstr>
      <vt:lpstr>1. 스키마 도출: 소스 문서 → 노드 타입과 관계: 권고 절차(Neo4j)</vt:lpstr>
      <vt:lpstr>1. 스키마 도출: 사례 ① 상담 이력: 넓게 뽑기에서 뼈대 확정까지</vt:lpstr>
      <vt:lpstr>1. 스키마 도출: 사례 ② 뼈대 채우기 시험과 문서 종류별 차이</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9</cp:revision>
  <dcterms:created xsi:type="dcterms:W3CDTF">2026-10-18T10:51:52Z</dcterms:created>
  <dcterms:modified xsi:type="dcterms:W3CDTF">2026-10-18T12:13:12Z</dcterms:modified>
</cp:coreProperties>
</file>