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검색에 쓰는 것은 벡터 색인(의미 검색), 키워드 색인(BM25), 지식 그래프 세 가지이고, 네 안은 이 셋을 어느 저장소에 두느냐로 나뉨. 일반적인 비교이며, 우리 프로젝트의 지금 구성(Chroma, Kiwi와 bm25s로 만든 BM25 파일, Neo4j)은 1-a의 한 예임. 한국어 실무에서는 1-b처럼 한국어 형태소 분석기가 있는 검색 엔진(Elasticsearch 또는 OpenSearch의 공식 nori 플러그인, 사용자 사전 지원)에 벡터와 키워드를 함께 두고 그래프 DB를 따로 두는 구성이 흔함. Neo4j 전문 검색에는 한국어 분석기가 없어, 3번은 형태소 분석기로 미리 나눈 낱말을 넣거나 Java 분석기 플러그인을 직접 만들어야 함. 미리 나눠 넣은 우리 실측에서 키워드 상위 10 겹침이 0.952였고, Neo4j는 BM25의 k1 값을 바꿀 수 없었음. neo4j-graphrag의 하이브리드 검색기는 필터를 받지 않아 회원별 검색 같은 조건은 직접 Cypher로 짜야 함. 증분 색인: Lucene 계열 키워드 색인(Elasticsearch, OpenSearch, Neo4j 전문 검색)은 문서를 넣고 고치고 지우는 대로 따로 갱신되므로 어느 안이든 전체를 다시 만들 필요가 없음. 그래서 차이는 '바뀐 문서 하나를 몇 곳에 써야 하고, 그 곳들이 서로 어긋나지 않게 맞춰야 하느냐'임. 다만 bm25s처럼 추가와 삭제 기능이 없는 정적 라이브러리로 키워드 색인을 만들면 바뀔 때마다 전체를 다시 만들어야 하며, 지금 우리 구성이 이 경우임. Neo4j Community 판에는 온라인 백업과 클러스터가 없고 Enterprise 판에는 있음. 바뀐 청크만 LLM으로 다시 추출하고 엔티티를 병합하는 그래프 쪽 일은 네 안 모두 같음.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1-b에서 바뀌는 곳은 ③ 청킹 뒤의 검색 갈래뿐임. 지금은 Chroma에 벡터를, bm25s로 BM25 파일을 따로 만들지만, 1-b는 검색 엔진 한 문서에 본문, 벡터, 메타데이터를 함께 넣고 문서 단위로 넣고 고치고 지움. 키워드 분석은 nori와 사용자 사전으로 옮기거나, Kiwi로 미리 나눈 낱말을 공백 분석기로 넣는 두 길이 있음. nori로 옮기면 Kiwi와 결과가 같지 않아 순위 비교 시험이 필요함. KG 갈래는 그대로임. 청크 하나에 제목 단위가 여럿 든 문서는 추출 직전에 청크를 추출 단위(예: 규정은 조항, 매뉴얼은 절)로 나누고, 제목 단위가 하나뿐인 문서는 청크를 그대로 씀. 추출 단위 노드와 추출 노드는 Neo4jWriter 한 묶음으로 저장함. 세대는 새 인덱스를 만든 뒤 검색 엔진 별칭과 Neo4j 세대를 같은 순간에 바꿔야 하며, 한쪽만 바뀌면 검색 결과의 chunk_id가 그래프에 없게 됨. 노드 설명 임베딩을 Neo4j에 둘지 검색 엔진에 둘지는 따로 정할 일임. 라이선스: Elasticsearch는 2021년부터 SSPL과 Elastic License 2.0이었고 2024년 8월 말 AGPL v3를 선택지로 더해 다시 오픈소스로 인정됨. OpenSearch는 Elasticsearch 7.10.2에서 갈라진 Apache 2.0 프로젝트이며 2024년 9월부터 리눅스 재단 산하 OpenSearch Software Foundation이 관리함. 회사 서비스에 넣을 때는 사내 법무 또는 오픈소스 담당의 확인을 받음.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그래프DB 구축: 검색 저장소 구성 4가지 안 비교</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벡터, 키워드, 그래프를 어디에 두느냐로 갈림 — 한국어 키워드 품질과 운영 부담이 선택을 가름</a:t>
            </a:r>
            <a:endParaRPr lang="en-US" sz="1800" dirty="0"/>
          </a:p>
        </p:txBody>
      </p:sp>
      <p:sp>
        <p:nvSpPr>
          <p:cNvPr id="5" name="Shape 2"/>
          <p:cNvSpPr/>
          <p:nvPr/>
        </p:nvSpPr>
        <p:spPr>
          <a:xfrm>
            <a:off x="2063801" y="1655064"/>
            <a:ext cx="2994660" cy="4700016"/>
          </a:xfrm>
          <a:prstGeom prst="roundRect">
            <a:avLst>
              <a:gd name="adj" fmla="val 2443"/>
            </a:avLst>
          </a:prstGeom>
          <a:solidFill>
            <a:srgbClr val="F5F8FC"/>
          </a:solidFill>
          <a:ln/>
        </p:spPr>
      </p:sp>
      <p:sp>
        <p:nvSpPr>
          <p:cNvPr id="6" name="Shape 3"/>
          <p:cNvSpPr/>
          <p:nvPr/>
        </p:nvSpPr>
        <p:spPr>
          <a:xfrm>
            <a:off x="2109521" y="1700784"/>
            <a:ext cx="2903220" cy="384048"/>
          </a:xfrm>
          <a:prstGeom prst="roundRect">
            <a:avLst>
              <a:gd name="adj" fmla="val 14286"/>
            </a:avLst>
          </a:prstGeom>
          <a:solidFill>
            <a:srgbClr val="1E2A5C"/>
          </a:solidFill>
          <a:ln/>
        </p:spPr>
      </p:sp>
      <p:sp>
        <p:nvSpPr>
          <p:cNvPr id="7" name="Text 4"/>
          <p:cNvSpPr txBox="1"/>
          <p:nvPr/>
        </p:nvSpPr>
        <p:spPr>
          <a:xfrm>
            <a:off x="2109521" y="1700784"/>
            <a:ext cx="2903220"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 분리형(저장소 따로)</a:t>
            </a:r>
            <a:endParaRPr lang="en-US" sz="1500" dirty="0"/>
          </a:p>
        </p:txBody>
      </p:sp>
      <p:sp>
        <p:nvSpPr>
          <p:cNvPr id="8" name="Shape 5"/>
          <p:cNvSpPr/>
          <p:nvPr/>
        </p:nvSpPr>
        <p:spPr>
          <a:xfrm>
            <a:off x="2109521" y="2157984"/>
            <a:ext cx="918972" cy="786384"/>
          </a:xfrm>
          <a:prstGeom prst="roundRect">
            <a:avLst>
              <a:gd name="adj" fmla="val 6977"/>
            </a:avLst>
          </a:prstGeom>
          <a:solidFill>
            <a:srgbClr val="FFFFFF"/>
          </a:solidFill>
          <a:ln w="12700">
            <a:solidFill>
              <a:srgbClr val="4A5364"/>
            </a:solidFill>
            <a:prstDash val="solid"/>
          </a:ln>
        </p:spPr>
      </p:sp>
      <p:sp>
        <p:nvSpPr>
          <p:cNvPr id="9" name="Text 6"/>
          <p:cNvSpPr txBox="1"/>
          <p:nvPr/>
        </p:nvSpPr>
        <p:spPr>
          <a:xfrm>
            <a:off x="2109521" y="2194560"/>
            <a:ext cx="918972"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벡터 DB</a:t>
            </a:r>
            <a:endParaRPr lang="en-US" sz="1400" dirty="0"/>
          </a:p>
        </p:txBody>
      </p:sp>
      <p:sp>
        <p:nvSpPr>
          <p:cNvPr id="10" name="Shape 7"/>
          <p:cNvSpPr/>
          <p:nvPr/>
        </p:nvSpPr>
        <p:spPr>
          <a:xfrm>
            <a:off x="2164385" y="2560320"/>
            <a:ext cx="809244" cy="310896"/>
          </a:xfrm>
          <a:prstGeom prst="roundRect">
            <a:avLst>
              <a:gd name="adj" fmla="val 14706"/>
            </a:avLst>
          </a:prstGeom>
          <a:solidFill>
            <a:srgbClr val="2E74C6"/>
          </a:solidFill>
          <a:ln/>
        </p:spPr>
      </p:sp>
      <p:sp>
        <p:nvSpPr>
          <p:cNvPr id="11" name="Text 8"/>
          <p:cNvSpPr txBox="1"/>
          <p:nvPr/>
        </p:nvSpPr>
        <p:spPr>
          <a:xfrm>
            <a:off x="2164385" y="2560320"/>
            <a:ext cx="809244"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12" name="Shape 9"/>
          <p:cNvSpPr/>
          <p:nvPr/>
        </p:nvSpPr>
        <p:spPr>
          <a:xfrm>
            <a:off x="3101645" y="2157984"/>
            <a:ext cx="918972" cy="786384"/>
          </a:xfrm>
          <a:prstGeom prst="roundRect">
            <a:avLst>
              <a:gd name="adj" fmla="val 6977"/>
            </a:avLst>
          </a:prstGeom>
          <a:solidFill>
            <a:srgbClr val="FFFFFF"/>
          </a:solidFill>
          <a:ln w="12700">
            <a:solidFill>
              <a:srgbClr val="4A5364"/>
            </a:solidFill>
            <a:prstDash val="solid"/>
          </a:ln>
        </p:spPr>
      </p:sp>
      <p:sp>
        <p:nvSpPr>
          <p:cNvPr id="13" name="Text 10"/>
          <p:cNvSpPr txBox="1"/>
          <p:nvPr/>
        </p:nvSpPr>
        <p:spPr>
          <a:xfrm>
            <a:off x="3101645" y="2194560"/>
            <a:ext cx="918972"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키워드 색인</a:t>
            </a:r>
            <a:endParaRPr lang="en-US" sz="1400" dirty="0"/>
          </a:p>
        </p:txBody>
      </p:sp>
      <p:sp>
        <p:nvSpPr>
          <p:cNvPr id="14" name="Shape 11"/>
          <p:cNvSpPr/>
          <p:nvPr/>
        </p:nvSpPr>
        <p:spPr>
          <a:xfrm>
            <a:off x="3156509" y="2560320"/>
            <a:ext cx="809244" cy="310896"/>
          </a:xfrm>
          <a:prstGeom prst="roundRect">
            <a:avLst>
              <a:gd name="adj" fmla="val 14706"/>
            </a:avLst>
          </a:prstGeom>
          <a:solidFill>
            <a:srgbClr val="1E2A5C"/>
          </a:solidFill>
          <a:ln/>
        </p:spPr>
      </p:sp>
      <p:sp>
        <p:nvSpPr>
          <p:cNvPr id="15" name="Text 12"/>
          <p:cNvSpPr txBox="1"/>
          <p:nvPr/>
        </p:nvSpPr>
        <p:spPr>
          <a:xfrm>
            <a:off x="3156509" y="2560320"/>
            <a:ext cx="809244"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16" name="Shape 13"/>
          <p:cNvSpPr/>
          <p:nvPr/>
        </p:nvSpPr>
        <p:spPr>
          <a:xfrm>
            <a:off x="4093769" y="2157984"/>
            <a:ext cx="918972" cy="786384"/>
          </a:xfrm>
          <a:prstGeom prst="roundRect">
            <a:avLst>
              <a:gd name="adj" fmla="val 6977"/>
            </a:avLst>
          </a:prstGeom>
          <a:solidFill>
            <a:srgbClr val="FFFFFF"/>
          </a:solidFill>
          <a:ln w="12700">
            <a:solidFill>
              <a:srgbClr val="4A5364"/>
            </a:solidFill>
            <a:prstDash val="solid"/>
          </a:ln>
        </p:spPr>
      </p:sp>
      <p:sp>
        <p:nvSpPr>
          <p:cNvPr id="17" name="Text 14"/>
          <p:cNvSpPr txBox="1"/>
          <p:nvPr/>
        </p:nvSpPr>
        <p:spPr>
          <a:xfrm>
            <a:off x="4093769" y="2194560"/>
            <a:ext cx="918972"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18" name="Shape 15"/>
          <p:cNvSpPr/>
          <p:nvPr/>
        </p:nvSpPr>
        <p:spPr>
          <a:xfrm>
            <a:off x="4148633" y="2560320"/>
            <a:ext cx="809244" cy="310896"/>
          </a:xfrm>
          <a:prstGeom prst="roundRect">
            <a:avLst>
              <a:gd name="adj" fmla="val 14706"/>
            </a:avLst>
          </a:prstGeom>
          <a:solidFill>
            <a:srgbClr val="404155"/>
          </a:solidFill>
          <a:ln/>
        </p:spPr>
      </p:sp>
      <p:sp>
        <p:nvSpPr>
          <p:cNvPr id="19" name="Text 16"/>
          <p:cNvSpPr txBox="1"/>
          <p:nvPr/>
        </p:nvSpPr>
        <p:spPr>
          <a:xfrm>
            <a:off x="4148633" y="2560320"/>
            <a:ext cx="809244"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20" name="Shape 17"/>
          <p:cNvSpPr/>
          <p:nvPr/>
        </p:nvSpPr>
        <p:spPr>
          <a:xfrm>
            <a:off x="5104181" y="1655064"/>
            <a:ext cx="2994660" cy="4700016"/>
          </a:xfrm>
          <a:prstGeom prst="roundRect">
            <a:avLst>
              <a:gd name="adj" fmla="val 2443"/>
            </a:avLst>
          </a:prstGeom>
          <a:solidFill>
            <a:srgbClr val="F5F8FC"/>
          </a:solidFill>
          <a:ln w="19050">
            <a:solidFill>
              <a:srgbClr val="2E74C6"/>
            </a:solidFill>
            <a:prstDash val="solid"/>
          </a:ln>
        </p:spPr>
      </p:sp>
      <p:sp>
        <p:nvSpPr>
          <p:cNvPr id="21" name="Shape 18"/>
          <p:cNvSpPr/>
          <p:nvPr/>
        </p:nvSpPr>
        <p:spPr>
          <a:xfrm>
            <a:off x="5149901" y="1700784"/>
            <a:ext cx="2903220" cy="384048"/>
          </a:xfrm>
          <a:prstGeom prst="roundRect">
            <a:avLst>
              <a:gd name="adj" fmla="val 14286"/>
            </a:avLst>
          </a:prstGeom>
          <a:solidFill>
            <a:srgbClr val="2E74C6"/>
          </a:solidFill>
          <a:ln/>
        </p:spPr>
      </p:sp>
      <p:sp>
        <p:nvSpPr>
          <p:cNvPr id="22" name="Text 19"/>
          <p:cNvSpPr txBox="1"/>
          <p:nvPr/>
        </p:nvSpPr>
        <p:spPr>
          <a:xfrm>
            <a:off x="5149901" y="1700784"/>
            <a:ext cx="2903220"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1-b 분리형(검색 엔진)</a:t>
            </a:r>
            <a:endParaRPr lang="en-US" sz="1500" dirty="0"/>
          </a:p>
        </p:txBody>
      </p:sp>
      <p:sp>
        <p:nvSpPr>
          <p:cNvPr id="23" name="Shape 20"/>
          <p:cNvSpPr/>
          <p:nvPr/>
        </p:nvSpPr>
        <p:spPr>
          <a:xfrm>
            <a:off x="5149901" y="2157984"/>
            <a:ext cx="1886712" cy="786384"/>
          </a:xfrm>
          <a:prstGeom prst="roundRect">
            <a:avLst>
              <a:gd name="adj" fmla="val 6977"/>
            </a:avLst>
          </a:prstGeom>
          <a:solidFill>
            <a:srgbClr val="FFFFFF"/>
          </a:solidFill>
          <a:ln w="12700">
            <a:solidFill>
              <a:srgbClr val="4A5364"/>
            </a:solidFill>
            <a:prstDash val="solid"/>
          </a:ln>
        </p:spPr>
      </p:sp>
      <p:sp>
        <p:nvSpPr>
          <p:cNvPr id="24" name="Text 21"/>
          <p:cNvSpPr txBox="1"/>
          <p:nvPr/>
        </p:nvSpPr>
        <p:spPr>
          <a:xfrm>
            <a:off x="5149901" y="2194560"/>
            <a:ext cx="1886712"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검색 엔진(nori)</a:t>
            </a:r>
            <a:endParaRPr lang="en-US" sz="1400" dirty="0"/>
          </a:p>
        </p:txBody>
      </p:sp>
      <p:sp>
        <p:nvSpPr>
          <p:cNvPr id="25" name="Shape 22"/>
          <p:cNvSpPr/>
          <p:nvPr/>
        </p:nvSpPr>
        <p:spPr>
          <a:xfrm>
            <a:off x="5204765" y="2560320"/>
            <a:ext cx="861060" cy="310896"/>
          </a:xfrm>
          <a:prstGeom prst="roundRect">
            <a:avLst>
              <a:gd name="adj" fmla="val 14706"/>
            </a:avLst>
          </a:prstGeom>
          <a:solidFill>
            <a:srgbClr val="2E74C6"/>
          </a:solidFill>
          <a:ln/>
        </p:spPr>
      </p:sp>
      <p:sp>
        <p:nvSpPr>
          <p:cNvPr id="26" name="Text 23"/>
          <p:cNvSpPr txBox="1"/>
          <p:nvPr/>
        </p:nvSpPr>
        <p:spPr>
          <a:xfrm>
            <a:off x="5204765" y="2560320"/>
            <a:ext cx="86106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27" name="Shape 24"/>
          <p:cNvSpPr/>
          <p:nvPr/>
        </p:nvSpPr>
        <p:spPr>
          <a:xfrm>
            <a:off x="6120689" y="2560320"/>
            <a:ext cx="861060" cy="310896"/>
          </a:xfrm>
          <a:prstGeom prst="roundRect">
            <a:avLst>
              <a:gd name="adj" fmla="val 14706"/>
            </a:avLst>
          </a:prstGeom>
          <a:solidFill>
            <a:srgbClr val="1E2A5C"/>
          </a:solidFill>
          <a:ln/>
        </p:spPr>
      </p:sp>
      <p:sp>
        <p:nvSpPr>
          <p:cNvPr id="28" name="Text 25"/>
          <p:cNvSpPr txBox="1"/>
          <p:nvPr/>
        </p:nvSpPr>
        <p:spPr>
          <a:xfrm>
            <a:off x="6120689" y="2560320"/>
            <a:ext cx="86106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29" name="Shape 26"/>
          <p:cNvSpPr/>
          <p:nvPr/>
        </p:nvSpPr>
        <p:spPr>
          <a:xfrm>
            <a:off x="7109765" y="2157984"/>
            <a:ext cx="943356" cy="786384"/>
          </a:xfrm>
          <a:prstGeom prst="roundRect">
            <a:avLst>
              <a:gd name="adj" fmla="val 6977"/>
            </a:avLst>
          </a:prstGeom>
          <a:solidFill>
            <a:srgbClr val="FFFFFF"/>
          </a:solidFill>
          <a:ln w="12700">
            <a:solidFill>
              <a:srgbClr val="4A5364"/>
            </a:solidFill>
            <a:prstDash val="solid"/>
          </a:ln>
        </p:spPr>
      </p:sp>
      <p:sp>
        <p:nvSpPr>
          <p:cNvPr id="30" name="Text 27"/>
          <p:cNvSpPr txBox="1"/>
          <p:nvPr/>
        </p:nvSpPr>
        <p:spPr>
          <a:xfrm>
            <a:off x="7109765" y="2194560"/>
            <a:ext cx="943356"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31" name="Shape 28"/>
          <p:cNvSpPr/>
          <p:nvPr/>
        </p:nvSpPr>
        <p:spPr>
          <a:xfrm>
            <a:off x="7164629" y="2560320"/>
            <a:ext cx="833628" cy="310896"/>
          </a:xfrm>
          <a:prstGeom prst="roundRect">
            <a:avLst>
              <a:gd name="adj" fmla="val 14706"/>
            </a:avLst>
          </a:prstGeom>
          <a:solidFill>
            <a:srgbClr val="404155"/>
          </a:solidFill>
          <a:ln/>
        </p:spPr>
      </p:sp>
      <p:sp>
        <p:nvSpPr>
          <p:cNvPr id="32" name="Text 29"/>
          <p:cNvSpPr txBox="1"/>
          <p:nvPr/>
        </p:nvSpPr>
        <p:spPr>
          <a:xfrm>
            <a:off x="7164629" y="2560320"/>
            <a:ext cx="83362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33" name="Shape 30"/>
          <p:cNvSpPr/>
          <p:nvPr/>
        </p:nvSpPr>
        <p:spPr>
          <a:xfrm>
            <a:off x="8144561" y="1655064"/>
            <a:ext cx="2994660" cy="4700016"/>
          </a:xfrm>
          <a:prstGeom prst="roundRect">
            <a:avLst>
              <a:gd name="adj" fmla="val 2443"/>
            </a:avLst>
          </a:prstGeom>
          <a:solidFill>
            <a:srgbClr val="F5F8FC"/>
          </a:solidFill>
          <a:ln w="19050">
            <a:solidFill>
              <a:srgbClr val="2E74C6"/>
            </a:solidFill>
            <a:prstDash val="solid"/>
          </a:ln>
        </p:spPr>
      </p:sp>
      <p:sp>
        <p:nvSpPr>
          <p:cNvPr id="34" name="Shape 31"/>
          <p:cNvSpPr/>
          <p:nvPr/>
        </p:nvSpPr>
        <p:spPr>
          <a:xfrm>
            <a:off x="8190281" y="1700784"/>
            <a:ext cx="2903220" cy="384048"/>
          </a:xfrm>
          <a:prstGeom prst="roundRect">
            <a:avLst>
              <a:gd name="adj" fmla="val 14286"/>
            </a:avLst>
          </a:prstGeom>
          <a:solidFill>
            <a:srgbClr val="2E74C6"/>
          </a:solidFill>
          <a:ln/>
        </p:spPr>
      </p:sp>
      <p:sp>
        <p:nvSpPr>
          <p:cNvPr id="35" name="Text 32"/>
          <p:cNvSpPr txBox="1"/>
          <p:nvPr/>
        </p:nvSpPr>
        <p:spPr>
          <a:xfrm>
            <a:off x="8190281" y="1700784"/>
            <a:ext cx="2903220"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 벡터 통합형</a:t>
            </a:r>
            <a:endParaRPr lang="en-US" sz="1500" dirty="0"/>
          </a:p>
        </p:txBody>
      </p:sp>
      <p:sp>
        <p:nvSpPr>
          <p:cNvPr id="36" name="Shape 33"/>
          <p:cNvSpPr/>
          <p:nvPr/>
        </p:nvSpPr>
        <p:spPr>
          <a:xfrm>
            <a:off x="8190281" y="2157984"/>
            <a:ext cx="1886712" cy="786384"/>
          </a:xfrm>
          <a:prstGeom prst="roundRect">
            <a:avLst>
              <a:gd name="adj" fmla="val 6977"/>
            </a:avLst>
          </a:prstGeom>
          <a:solidFill>
            <a:srgbClr val="FFFFFF"/>
          </a:solidFill>
          <a:ln w="12700">
            <a:solidFill>
              <a:srgbClr val="4A5364"/>
            </a:solidFill>
            <a:prstDash val="solid"/>
          </a:ln>
        </p:spPr>
      </p:sp>
      <p:sp>
        <p:nvSpPr>
          <p:cNvPr id="37" name="Text 34"/>
          <p:cNvSpPr txBox="1"/>
          <p:nvPr/>
        </p:nvSpPr>
        <p:spPr>
          <a:xfrm>
            <a:off x="8190281" y="2194560"/>
            <a:ext cx="1886712"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38" name="Shape 35"/>
          <p:cNvSpPr/>
          <p:nvPr/>
        </p:nvSpPr>
        <p:spPr>
          <a:xfrm>
            <a:off x="8245145" y="2560320"/>
            <a:ext cx="861060" cy="310896"/>
          </a:xfrm>
          <a:prstGeom prst="roundRect">
            <a:avLst>
              <a:gd name="adj" fmla="val 14706"/>
            </a:avLst>
          </a:prstGeom>
          <a:solidFill>
            <a:srgbClr val="2E74C6"/>
          </a:solidFill>
          <a:ln/>
        </p:spPr>
      </p:sp>
      <p:sp>
        <p:nvSpPr>
          <p:cNvPr id="39" name="Text 36"/>
          <p:cNvSpPr txBox="1"/>
          <p:nvPr/>
        </p:nvSpPr>
        <p:spPr>
          <a:xfrm>
            <a:off x="8245145" y="2560320"/>
            <a:ext cx="86106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40" name="Shape 37"/>
          <p:cNvSpPr/>
          <p:nvPr/>
        </p:nvSpPr>
        <p:spPr>
          <a:xfrm>
            <a:off x="9161069" y="2560320"/>
            <a:ext cx="861060" cy="310896"/>
          </a:xfrm>
          <a:prstGeom prst="roundRect">
            <a:avLst>
              <a:gd name="adj" fmla="val 14706"/>
            </a:avLst>
          </a:prstGeom>
          <a:solidFill>
            <a:srgbClr val="404155"/>
          </a:solidFill>
          <a:ln/>
        </p:spPr>
      </p:sp>
      <p:sp>
        <p:nvSpPr>
          <p:cNvPr id="41" name="Text 38"/>
          <p:cNvSpPr txBox="1"/>
          <p:nvPr/>
        </p:nvSpPr>
        <p:spPr>
          <a:xfrm>
            <a:off x="9161069" y="2560320"/>
            <a:ext cx="861060"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42" name="Shape 39"/>
          <p:cNvSpPr/>
          <p:nvPr/>
        </p:nvSpPr>
        <p:spPr>
          <a:xfrm>
            <a:off x="10150145" y="2157984"/>
            <a:ext cx="943356" cy="786384"/>
          </a:xfrm>
          <a:prstGeom prst="roundRect">
            <a:avLst>
              <a:gd name="adj" fmla="val 6977"/>
            </a:avLst>
          </a:prstGeom>
          <a:solidFill>
            <a:srgbClr val="FFFFFF"/>
          </a:solidFill>
          <a:ln w="12700">
            <a:solidFill>
              <a:srgbClr val="4A5364"/>
            </a:solidFill>
            <a:prstDash val="solid"/>
          </a:ln>
        </p:spPr>
      </p:sp>
      <p:sp>
        <p:nvSpPr>
          <p:cNvPr id="43" name="Text 40"/>
          <p:cNvSpPr txBox="1"/>
          <p:nvPr/>
        </p:nvSpPr>
        <p:spPr>
          <a:xfrm>
            <a:off x="10150145" y="2194560"/>
            <a:ext cx="943356"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키워드 색인</a:t>
            </a:r>
            <a:endParaRPr lang="en-US" sz="1400" dirty="0"/>
          </a:p>
        </p:txBody>
      </p:sp>
      <p:sp>
        <p:nvSpPr>
          <p:cNvPr id="44" name="Shape 41"/>
          <p:cNvSpPr/>
          <p:nvPr/>
        </p:nvSpPr>
        <p:spPr>
          <a:xfrm>
            <a:off x="10205009" y="2560320"/>
            <a:ext cx="833628" cy="310896"/>
          </a:xfrm>
          <a:prstGeom prst="roundRect">
            <a:avLst>
              <a:gd name="adj" fmla="val 14706"/>
            </a:avLst>
          </a:prstGeom>
          <a:solidFill>
            <a:srgbClr val="1E2A5C"/>
          </a:solidFill>
          <a:ln/>
        </p:spPr>
      </p:sp>
      <p:sp>
        <p:nvSpPr>
          <p:cNvPr id="45" name="Text 42"/>
          <p:cNvSpPr txBox="1"/>
          <p:nvPr/>
        </p:nvSpPr>
        <p:spPr>
          <a:xfrm>
            <a:off x="10205009" y="2560320"/>
            <a:ext cx="83362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46" name="Shape 43"/>
          <p:cNvSpPr/>
          <p:nvPr/>
        </p:nvSpPr>
        <p:spPr>
          <a:xfrm>
            <a:off x="11184941" y="1655064"/>
            <a:ext cx="2994660" cy="4700016"/>
          </a:xfrm>
          <a:prstGeom prst="roundRect">
            <a:avLst>
              <a:gd name="adj" fmla="val 2443"/>
            </a:avLst>
          </a:prstGeom>
          <a:solidFill>
            <a:srgbClr val="F5F8FC"/>
          </a:solidFill>
          <a:ln/>
        </p:spPr>
      </p:sp>
      <p:sp>
        <p:nvSpPr>
          <p:cNvPr id="47" name="Shape 44"/>
          <p:cNvSpPr/>
          <p:nvPr/>
        </p:nvSpPr>
        <p:spPr>
          <a:xfrm>
            <a:off x="11230661" y="1700784"/>
            <a:ext cx="2903220" cy="384048"/>
          </a:xfrm>
          <a:prstGeom prst="roundRect">
            <a:avLst>
              <a:gd name="adj" fmla="val 14286"/>
            </a:avLst>
          </a:prstGeom>
          <a:solidFill>
            <a:srgbClr val="1E2A5C"/>
          </a:solidFill>
          <a:ln/>
        </p:spPr>
      </p:sp>
      <p:sp>
        <p:nvSpPr>
          <p:cNvPr id="48" name="Text 45"/>
          <p:cNvSpPr txBox="1"/>
          <p:nvPr/>
        </p:nvSpPr>
        <p:spPr>
          <a:xfrm>
            <a:off x="11230661" y="1700784"/>
            <a:ext cx="2903220" cy="384048"/>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 전부 통합형</a:t>
            </a:r>
            <a:endParaRPr lang="en-US" sz="1500" dirty="0"/>
          </a:p>
        </p:txBody>
      </p:sp>
      <p:sp>
        <p:nvSpPr>
          <p:cNvPr id="49" name="Shape 46"/>
          <p:cNvSpPr/>
          <p:nvPr/>
        </p:nvSpPr>
        <p:spPr>
          <a:xfrm>
            <a:off x="11230661" y="2157984"/>
            <a:ext cx="2903220" cy="786384"/>
          </a:xfrm>
          <a:prstGeom prst="roundRect">
            <a:avLst>
              <a:gd name="adj" fmla="val 6977"/>
            </a:avLst>
          </a:prstGeom>
          <a:solidFill>
            <a:srgbClr val="FFFFFF"/>
          </a:solidFill>
          <a:ln w="12700">
            <a:solidFill>
              <a:srgbClr val="4A5364"/>
            </a:solidFill>
            <a:prstDash val="solid"/>
          </a:ln>
        </p:spPr>
      </p:sp>
      <p:sp>
        <p:nvSpPr>
          <p:cNvPr id="50" name="Text 47"/>
          <p:cNvSpPr txBox="1"/>
          <p:nvPr/>
        </p:nvSpPr>
        <p:spPr>
          <a:xfrm>
            <a:off x="11230661" y="2194560"/>
            <a:ext cx="2903220" cy="310896"/>
          </a:xfrm>
          <a:prstGeom prst="rect">
            <a:avLst/>
          </a:prstGeom>
          <a:no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Neo4j</a:t>
            </a:r>
            <a:endParaRPr lang="en-US" sz="1400" dirty="0"/>
          </a:p>
        </p:txBody>
      </p:sp>
      <p:sp>
        <p:nvSpPr>
          <p:cNvPr id="51" name="Shape 48"/>
          <p:cNvSpPr/>
          <p:nvPr/>
        </p:nvSpPr>
        <p:spPr>
          <a:xfrm>
            <a:off x="11285525" y="2560320"/>
            <a:ext cx="894588" cy="310896"/>
          </a:xfrm>
          <a:prstGeom prst="roundRect">
            <a:avLst>
              <a:gd name="adj" fmla="val 14706"/>
            </a:avLst>
          </a:prstGeom>
          <a:solidFill>
            <a:srgbClr val="2E74C6"/>
          </a:solidFill>
          <a:ln/>
        </p:spPr>
      </p:sp>
      <p:sp>
        <p:nvSpPr>
          <p:cNvPr id="52" name="Text 49"/>
          <p:cNvSpPr txBox="1"/>
          <p:nvPr/>
        </p:nvSpPr>
        <p:spPr>
          <a:xfrm>
            <a:off x="11285525" y="2560320"/>
            <a:ext cx="89458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53" name="Shape 50"/>
          <p:cNvSpPr/>
          <p:nvPr/>
        </p:nvSpPr>
        <p:spPr>
          <a:xfrm>
            <a:off x="12234977" y="2560320"/>
            <a:ext cx="894588" cy="310896"/>
          </a:xfrm>
          <a:prstGeom prst="roundRect">
            <a:avLst>
              <a:gd name="adj" fmla="val 14706"/>
            </a:avLst>
          </a:prstGeom>
          <a:solidFill>
            <a:srgbClr val="1E2A5C"/>
          </a:solidFill>
          <a:ln/>
        </p:spPr>
      </p:sp>
      <p:sp>
        <p:nvSpPr>
          <p:cNvPr id="54" name="Text 51"/>
          <p:cNvSpPr txBox="1"/>
          <p:nvPr/>
        </p:nvSpPr>
        <p:spPr>
          <a:xfrm>
            <a:off x="12234977" y="2560320"/>
            <a:ext cx="89458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키워드</a:t>
            </a:r>
            <a:endParaRPr lang="en-US" sz="1400" dirty="0"/>
          </a:p>
        </p:txBody>
      </p:sp>
      <p:sp>
        <p:nvSpPr>
          <p:cNvPr id="55" name="Shape 52"/>
          <p:cNvSpPr/>
          <p:nvPr/>
        </p:nvSpPr>
        <p:spPr>
          <a:xfrm>
            <a:off x="13184429" y="2560320"/>
            <a:ext cx="894588" cy="310896"/>
          </a:xfrm>
          <a:prstGeom prst="roundRect">
            <a:avLst>
              <a:gd name="adj" fmla="val 14706"/>
            </a:avLst>
          </a:prstGeom>
          <a:solidFill>
            <a:srgbClr val="404155"/>
          </a:solidFill>
          <a:ln/>
        </p:spPr>
      </p:sp>
      <p:sp>
        <p:nvSpPr>
          <p:cNvPr id="56" name="Text 53"/>
          <p:cNvSpPr txBox="1"/>
          <p:nvPr/>
        </p:nvSpPr>
        <p:spPr>
          <a:xfrm>
            <a:off x="13184429" y="2560320"/>
            <a:ext cx="89458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a:t>
            </a:r>
            <a:endParaRPr lang="en-US" sz="1400" dirty="0"/>
          </a:p>
        </p:txBody>
      </p:sp>
      <p:sp>
        <p:nvSpPr>
          <p:cNvPr id="57" name="Shape 54"/>
          <p:cNvSpPr/>
          <p:nvPr/>
        </p:nvSpPr>
        <p:spPr>
          <a:xfrm>
            <a:off x="509321" y="3072384"/>
            <a:ext cx="1463040" cy="530352"/>
          </a:xfrm>
          <a:prstGeom prst="roundRect">
            <a:avLst>
              <a:gd name="adj" fmla="val 10345"/>
            </a:avLst>
          </a:prstGeom>
          <a:solidFill>
            <a:srgbClr val="2E74C6"/>
          </a:solidFill>
          <a:ln/>
        </p:spPr>
      </p:sp>
      <p:sp>
        <p:nvSpPr>
          <p:cNvPr id="58" name="Text 55"/>
          <p:cNvSpPr txBox="1"/>
          <p:nvPr/>
        </p:nvSpPr>
        <p:spPr>
          <a:xfrm>
            <a:off x="509321" y="3072384"/>
            <a:ext cx="1463040" cy="53035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한국어 키워드</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품질</a:t>
            </a:r>
            <a:endParaRPr lang="en-US" sz="1400" dirty="0"/>
          </a:p>
        </p:txBody>
      </p:sp>
      <p:sp>
        <p:nvSpPr>
          <p:cNvPr id="59" name="Shape 56"/>
          <p:cNvSpPr/>
          <p:nvPr/>
        </p:nvSpPr>
        <p:spPr>
          <a:xfrm>
            <a:off x="2109521" y="3072384"/>
            <a:ext cx="2903220" cy="530352"/>
          </a:xfrm>
          <a:prstGeom prst="roundRect">
            <a:avLst>
              <a:gd name="adj" fmla="val 8621"/>
            </a:avLst>
          </a:prstGeom>
          <a:solidFill>
            <a:srgbClr val="FFFFFF"/>
          </a:solidFill>
          <a:ln w="12700">
            <a:solidFill>
              <a:srgbClr val="D9E0EC"/>
            </a:solidFill>
            <a:prstDash val="solid"/>
          </a:ln>
        </p:spPr>
      </p:sp>
      <p:sp>
        <p:nvSpPr>
          <p:cNvPr id="60" name="Shape 57"/>
          <p:cNvSpPr/>
          <p:nvPr/>
        </p:nvSpPr>
        <p:spPr>
          <a:xfrm>
            <a:off x="2173529" y="3191256"/>
            <a:ext cx="566928" cy="292608"/>
          </a:xfrm>
          <a:prstGeom prst="roundRect">
            <a:avLst>
              <a:gd name="adj" fmla="val 15625"/>
            </a:avLst>
          </a:prstGeom>
          <a:solidFill>
            <a:srgbClr val="2E74C6"/>
          </a:solidFill>
          <a:ln/>
        </p:spPr>
      </p:sp>
      <p:sp>
        <p:nvSpPr>
          <p:cNvPr id="61" name="Text 58"/>
          <p:cNvSpPr txBox="1"/>
          <p:nvPr/>
        </p:nvSpPr>
        <p:spPr>
          <a:xfrm>
            <a:off x="2173529" y="3191256"/>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62" name="Text 59"/>
          <p:cNvSpPr txBox="1"/>
          <p:nvPr/>
        </p:nvSpPr>
        <p:spPr>
          <a:xfrm>
            <a:off x="2804465" y="3072384"/>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형태소 분석기를</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골라 씀(예: Kiwi)</a:t>
            </a:r>
            <a:endParaRPr lang="en-US" sz="1400" dirty="0"/>
          </a:p>
        </p:txBody>
      </p:sp>
      <p:sp>
        <p:nvSpPr>
          <p:cNvPr id="63" name="Shape 60"/>
          <p:cNvSpPr/>
          <p:nvPr/>
        </p:nvSpPr>
        <p:spPr>
          <a:xfrm>
            <a:off x="5149901" y="3072384"/>
            <a:ext cx="2903220" cy="530352"/>
          </a:xfrm>
          <a:prstGeom prst="roundRect">
            <a:avLst>
              <a:gd name="adj" fmla="val 8621"/>
            </a:avLst>
          </a:prstGeom>
          <a:solidFill>
            <a:srgbClr val="FFFFFF"/>
          </a:solidFill>
          <a:ln w="12700">
            <a:solidFill>
              <a:srgbClr val="D9E0EC"/>
            </a:solidFill>
            <a:prstDash val="solid"/>
          </a:ln>
        </p:spPr>
      </p:sp>
      <p:sp>
        <p:nvSpPr>
          <p:cNvPr id="64" name="Shape 61"/>
          <p:cNvSpPr/>
          <p:nvPr/>
        </p:nvSpPr>
        <p:spPr>
          <a:xfrm>
            <a:off x="5213909" y="3191256"/>
            <a:ext cx="566928" cy="292608"/>
          </a:xfrm>
          <a:prstGeom prst="roundRect">
            <a:avLst>
              <a:gd name="adj" fmla="val 15625"/>
            </a:avLst>
          </a:prstGeom>
          <a:solidFill>
            <a:srgbClr val="2E74C6"/>
          </a:solidFill>
          <a:ln/>
        </p:spPr>
      </p:sp>
      <p:sp>
        <p:nvSpPr>
          <p:cNvPr id="65" name="Text 62"/>
          <p:cNvSpPr txBox="1"/>
          <p:nvPr/>
        </p:nvSpPr>
        <p:spPr>
          <a:xfrm>
            <a:off x="5213909" y="3191256"/>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66" name="Text 63"/>
          <p:cNvSpPr txBox="1"/>
          <p:nvPr/>
        </p:nvSpPr>
        <p:spPr>
          <a:xfrm>
            <a:off x="5844845" y="3072384"/>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nori 공식 플러그인과</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사용자 사전</a:t>
            </a:r>
            <a:endParaRPr lang="en-US" sz="1400" dirty="0"/>
          </a:p>
        </p:txBody>
      </p:sp>
      <p:sp>
        <p:nvSpPr>
          <p:cNvPr id="67" name="Shape 64"/>
          <p:cNvSpPr/>
          <p:nvPr/>
        </p:nvSpPr>
        <p:spPr>
          <a:xfrm>
            <a:off x="8190281" y="3072384"/>
            <a:ext cx="2903220" cy="530352"/>
          </a:xfrm>
          <a:prstGeom prst="roundRect">
            <a:avLst>
              <a:gd name="adj" fmla="val 8621"/>
            </a:avLst>
          </a:prstGeom>
          <a:solidFill>
            <a:srgbClr val="FFFFFF"/>
          </a:solidFill>
          <a:ln w="12700">
            <a:solidFill>
              <a:srgbClr val="D9E0EC"/>
            </a:solidFill>
            <a:prstDash val="solid"/>
          </a:ln>
        </p:spPr>
      </p:sp>
      <p:sp>
        <p:nvSpPr>
          <p:cNvPr id="68" name="Shape 65"/>
          <p:cNvSpPr/>
          <p:nvPr/>
        </p:nvSpPr>
        <p:spPr>
          <a:xfrm>
            <a:off x="8254289" y="3191256"/>
            <a:ext cx="566928" cy="292608"/>
          </a:xfrm>
          <a:prstGeom prst="roundRect">
            <a:avLst>
              <a:gd name="adj" fmla="val 15625"/>
            </a:avLst>
          </a:prstGeom>
          <a:solidFill>
            <a:srgbClr val="2E74C6"/>
          </a:solidFill>
          <a:ln/>
        </p:spPr>
      </p:sp>
      <p:sp>
        <p:nvSpPr>
          <p:cNvPr id="69" name="Text 66"/>
          <p:cNvSpPr txBox="1"/>
          <p:nvPr/>
        </p:nvSpPr>
        <p:spPr>
          <a:xfrm>
            <a:off x="8254289" y="3191256"/>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70" name="Text 67"/>
          <p:cNvSpPr txBox="1"/>
          <p:nvPr/>
        </p:nvSpPr>
        <p:spPr>
          <a:xfrm>
            <a:off x="8885225" y="3072384"/>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형태소 분석기를</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골라 씀</a:t>
            </a:r>
            <a:endParaRPr lang="en-US" sz="1400" dirty="0"/>
          </a:p>
        </p:txBody>
      </p:sp>
      <p:sp>
        <p:nvSpPr>
          <p:cNvPr id="71" name="Shape 68"/>
          <p:cNvSpPr/>
          <p:nvPr/>
        </p:nvSpPr>
        <p:spPr>
          <a:xfrm>
            <a:off x="11230661" y="3072384"/>
            <a:ext cx="2903220" cy="530352"/>
          </a:xfrm>
          <a:prstGeom prst="roundRect">
            <a:avLst>
              <a:gd name="adj" fmla="val 8621"/>
            </a:avLst>
          </a:prstGeom>
          <a:solidFill>
            <a:srgbClr val="FFFFFF"/>
          </a:solidFill>
          <a:ln w="12700">
            <a:solidFill>
              <a:srgbClr val="D9E0EC"/>
            </a:solidFill>
            <a:prstDash val="solid"/>
          </a:ln>
        </p:spPr>
      </p:sp>
      <p:sp>
        <p:nvSpPr>
          <p:cNvPr id="72" name="Shape 69"/>
          <p:cNvSpPr/>
          <p:nvPr/>
        </p:nvSpPr>
        <p:spPr>
          <a:xfrm>
            <a:off x="11294669" y="3191256"/>
            <a:ext cx="566928" cy="292608"/>
          </a:xfrm>
          <a:prstGeom prst="roundRect">
            <a:avLst>
              <a:gd name="adj" fmla="val 15625"/>
            </a:avLst>
          </a:prstGeom>
          <a:solidFill>
            <a:srgbClr val="404155"/>
          </a:solidFill>
          <a:ln/>
        </p:spPr>
      </p:sp>
      <p:sp>
        <p:nvSpPr>
          <p:cNvPr id="73" name="Text 70"/>
          <p:cNvSpPr txBox="1"/>
          <p:nvPr/>
        </p:nvSpPr>
        <p:spPr>
          <a:xfrm>
            <a:off x="11294669" y="3191256"/>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74" name="Text 71"/>
          <p:cNvSpPr txBox="1"/>
          <p:nvPr/>
        </p:nvSpPr>
        <p:spPr>
          <a:xfrm>
            <a:off x="11925605" y="3072384"/>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한국어 분석기 없음,</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미리 나누거나 직접 개발</a:t>
            </a:r>
            <a:endParaRPr lang="en-US" sz="1400" dirty="0"/>
          </a:p>
        </p:txBody>
      </p:sp>
      <p:sp>
        <p:nvSpPr>
          <p:cNvPr id="75" name="Shape 72"/>
          <p:cNvSpPr/>
          <p:nvPr/>
        </p:nvSpPr>
        <p:spPr>
          <a:xfrm>
            <a:off x="509321" y="3657600"/>
            <a:ext cx="1463040" cy="530352"/>
          </a:xfrm>
          <a:prstGeom prst="roundRect">
            <a:avLst>
              <a:gd name="adj" fmla="val 10345"/>
            </a:avLst>
          </a:prstGeom>
          <a:solidFill>
            <a:srgbClr val="2E74C6"/>
          </a:solidFill>
          <a:ln/>
        </p:spPr>
      </p:sp>
      <p:sp>
        <p:nvSpPr>
          <p:cNvPr id="76" name="Text 73"/>
          <p:cNvSpPr txBox="1"/>
          <p:nvPr/>
        </p:nvSpPr>
        <p:spPr>
          <a:xfrm>
            <a:off x="509321" y="3657600"/>
            <a:ext cx="1463040" cy="53035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저장소와 장애</a:t>
            </a:r>
            <a:endParaRPr lang="en-US" sz="1400" dirty="0"/>
          </a:p>
        </p:txBody>
      </p:sp>
      <p:sp>
        <p:nvSpPr>
          <p:cNvPr id="77" name="Shape 74"/>
          <p:cNvSpPr/>
          <p:nvPr/>
        </p:nvSpPr>
        <p:spPr>
          <a:xfrm>
            <a:off x="2109521" y="3657600"/>
            <a:ext cx="2903220" cy="530352"/>
          </a:xfrm>
          <a:prstGeom prst="roundRect">
            <a:avLst>
              <a:gd name="adj" fmla="val 8621"/>
            </a:avLst>
          </a:prstGeom>
          <a:solidFill>
            <a:srgbClr val="FFFFFF"/>
          </a:solidFill>
          <a:ln w="12700">
            <a:solidFill>
              <a:srgbClr val="D9E0EC"/>
            </a:solidFill>
            <a:prstDash val="solid"/>
          </a:ln>
        </p:spPr>
      </p:sp>
      <p:sp>
        <p:nvSpPr>
          <p:cNvPr id="78" name="Shape 75"/>
          <p:cNvSpPr/>
          <p:nvPr/>
        </p:nvSpPr>
        <p:spPr>
          <a:xfrm>
            <a:off x="2173529" y="3776472"/>
            <a:ext cx="566928" cy="292608"/>
          </a:xfrm>
          <a:prstGeom prst="roundRect">
            <a:avLst>
              <a:gd name="adj" fmla="val 15625"/>
            </a:avLst>
          </a:prstGeom>
          <a:solidFill>
            <a:srgbClr val="4A5364"/>
          </a:solidFill>
          <a:ln/>
        </p:spPr>
      </p:sp>
      <p:sp>
        <p:nvSpPr>
          <p:cNvPr id="79" name="Text 76"/>
          <p:cNvSpPr txBox="1"/>
          <p:nvPr/>
        </p:nvSpPr>
        <p:spPr>
          <a:xfrm>
            <a:off x="2173529" y="3776472"/>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80" name="Text 77"/>
          <p:cNvSpPr txBox="1"/>
          <p:nvPr/>
        </p:nvSpPr>
        <p:spPr>
          <a:xfrm>
            <a:off x="2804465" y="3657600"/>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3곳 운영,</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한 곳 멈춰도 나머지 검색</a:t>
            </a:r>
            <a:endParaRPr lang="en-US" sz="1400" dirty="0"/>
          </a:p>
        </p:txBody>
      </p:sp>
      <p:sp>
        <p:nvSpPr>
          <p:cNvPr id="81" name="Shape 78"/>
          <p:cNvSpPr/>
          <p:nvPr/>
        </p:nvSpPr>
        <p:spPr>
          <a:xfrm>
            <a:off x="5149901" y="3657600"/>
            <a:ext cx="2903220" cy="530352"/>
          </a:xfrm>
          <a:prstGeom prst="roundRect">
            <a:avLst>
              <a:gd name="adj" fmla="val 8621"/>
            </a:avLst>
          </a:prstGeom>
          <a:solidFill>
            <a:srgbClr val="FFFFFF"/>
          </a:solidFill>
          <a:ln w="12700">
            <a:solidFill>
              <a:srgbClr val="D9E0EC"/>
            </a:solidFill>
            <a:prstDash val="solid"/>
          </a:ln>
        </p:spPr>
      </p:sp>
      <p:sp>
        <p:nvSpPr>
          <p:cNvPr id="82" name="Shape 79"/>
          <p:cNvSpPr/>
          <p:nvPr/>
        </p:nvSpPr>
        <p:spPr>
          <a:xfrm>
            <a:off x="5213909" y="3776472"/>
            <a:ext cx="566928" cy="292608"/>
          </a:xfrm>
          <a:prstGeom prst="roundRect">
            <a:avLst>
              <a:gd name="adj" fmla="val 15625"/>
            </a:avLst>
          </a:prstGeom>
          <a:solidFill>
            <a:srgbClr val="2E74C6"/>
          </a:solidFill>
          <a:ln/>
        </p:spPr>
      </p:sp>
      <p:sp>
        <p:nvSpPr>
          <p:cNvPr id="83" name="Text 80"/>
          <p:cNvSpPr txBox="1"/>
          <p:nvPr/>
        </p:nvSpPr>
        <p:spPr>
          <a:xfrm>
            <a:off x="5213909" y="3776472"/>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84" name="Text 81"/>
          <p:cNvSpPr txBox="1"/>
          <p:nvPr/>
        </p:nvSpPr>
        <p:spPr>
          <a:xfrm>
            <a:off x="5844845" y="3657600"/>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2곳, 검색 엔진</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복제로 장애 대비</a:t>
            </a:r>
            <a:endParaRPr lang="en-US" sz="1400" dirty="0"/>
          </a:p>
        </p:txBody>
      </p:sp>
      <p:sp>
        <p:nvSpPr>
          <p:cNvPr id="85" name="Shape 82"/>
          <p:cNvSpPr/>
          <p:nvPr/>
        </p:nvSpPr>
        <p:spPr>
          <a:xfrm>
            <a:off x="8190281" y="3657600"/>
            <a:ext cx="2903220" cy="530352"/>
          </a:xfrm>
          <a:prstGeom prst="roundRect">
            <a:avLst>
              <a:gd name="adj" fmla="val 8621"/>
            </a:avLst>
          </a:prstGeom>
          <a:solidFill>
            <a:srgbClr val="FFFFFF"/>
          </a:solidFill>
          <a:ln w="12700">
            <a:solidFill>
              <a:srgbClr val="D9E0EC"/>
            </a:solidFill>
            <a:prstDash val="solid"/>
          </a:ln>
        </p:spPr>
      </p:sp>
      <p:sp>
        <p:nvSpPr>
          <p:cNvPr id="86" name="Shape 83"/>
          <p:cNvSpPr/>
          <p:nvPr/>
        </p:nvSpPr>
        <p:spPr>
          <a:xfrm>
            <a:off x="8254289" y="3776472"/>
            <a:ext cx="566928" cy="292608"/>
          </a:xfrm>
          <a:prstGeom prst="roundRect">
            <a:avLst>
              <a:gd name="adj" fmla="val 15625"/>
            </a:avLst>
          </a:prstGeom>
          <a:solidFill>
            <a:srgbClr val="4A5364"/>
          </a:solidFill>
          <a:ln/>
        </p:spPr>
      </p:sp>
      <p:sp>
        <p:nvSpPr>
          <p:cNvPr id="87" name="Text 84"/>
          <p:cNvSpPr txBox="1"/>
          <p:nvPr/>
        </p:nvSpPr>
        <p:spPr>
          <a:xfrm>
            <a:off x="8254289" y="3776472"/>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88" name="Text 85"/>
          <p:cNvSpPr txBox="1"/>
          <p:nvPr/>
        </p:nvSpPr>
        <p:spPr>
          <a:xfrm>
            <a:off x="8885225" y="3657600"/>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2곳, Neo4j 멈추면</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벡터와 그래프 함께 멈춤</a:t>
            </a:r>
            <a:endParaRPr lang="en-US" sz="1400" dirty="0"/>
          </a:p>
        </p:txBody>
      </p:sp>
      <p:sp>
        <p:nvSpPr>
          <p:cNvPr id="89" name="Shape 86"/>
          <p:cNvSpPr/>
          <p:nvPr/>
        </p:nvSpPr>
        <p:spPr>
          <a:xfrm>
            <a:off x="11230661" y="3657600"/>
            <a:ext cx="2903220" cy="530352"/>
          </a:xfrm>
          <a:prstGeom prst="roundRect">
            <a:avLst>
              <a:gd name="adj" fmla="val 8621"/>
            </a:avLst>
          </a:prstGeom>
          <a:solidFill>
            <a:srgbClr val="FFFFFF"/>
          </a:solidFill>
          <a:ln w="12700">
            <a:solidFill>
              <a:srgbClr val="D9E0EC"/>
            </a:solidFill>
            <a:prstDash val="solid"/>
          </a:ln>
        </p:spPr>
      </p:sp>
      <p:sp>
        <p:nvSpPr>
          <p:cNvPr id="90" name="Shape 87"/>
          <p:cNvSpPr/>
          <p:nvPr/>
        </p:nvSpPr>
        <p:spPr>
          <a:xfrm>
            <a:off x="11294669" y="3776472"/>
            <a:ext cx="566928" cy="292608"/>
          </a:xfrm>
          <a:prstGeom prst="roundRect">
            <a:avLst>
              <a:gd name="adj" fmla="val 15625"/>
            </a:avLst>
          </a:prstGeom>
          <a:solidFill>
            <a:srgbClr val="404155"/>
          </a:solidFill>
          <a:ln/>
        </p:spPr>
      </p:sp>
      <p:sp>
        <p:nvSpPr>
          <p:cNvPr id="91" name="Text 88"/>
          <p:cNvSpPr txBox="1"/>
          <p:nvPr/>
        </p:nvSpPr>
        <p:spPr>
          <a:xfrm>
            <a:off x="11294669" y="3776472"/>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92" name="Text 89"/>
          <p:cNvSpPr txBox="1"/>
          <p:nvPr/>
        </p:nvSpPr>
        <p:spPr>
          <a:xfrm>
            <a:off x="11925605" y="3657600"/>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1곳으로 단순,</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멈추면 검색 전부 멈춤</a:t>
            </a:r>
            <a:endParaRPr lang="en-US" sz="1400" dirty="0"/>
          </a:p>
        </p:txBody>
      </p:sp>
      <p:sp>
        <p:nvSpPr>
          <p:cNvPr id="93" name="Shape 90"/>
          <p:cNvSpPr/>
          <p:nvPr/>
        </p:nvSpPr>
        <p:spPr>
          <a:xfrm>
            <a:off x="509321" y="4242816"/>
            <a:ext cx="1463040" cy="530352"/>
          </a:xfrm>
          <a:prstGeom prst="roundRect">
            <a:avLst>
              <a:gd name="adj" fmla="val 10345"/>
            </a:avLst>
          </a:prstGeom>
          <a:solidFill>
            <a:srgbClr val="2E74C6"/>
          </a:solidFill>
          <a:ln/>
        </p:spPr>
      </p:sp>
      <p:sp>
        <p:nvSpPr>
          <p:cNvPr id="94" name="Text 91"/>
          <p:cNvSpPr txBox="1"/>
          <p:nvPr/>
        </p:nvSpPr>
        <p:spPr>
          <a:xfrm>
            <a:off x="509321" y="4242816"/>
            <a:ext cx="1463040" cy="53035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규모와 백업</a:t>
            </a:r>
            <a:endParaRPr lang="en-US" sz="1400" dirty="0"/>
          </a:p>
        </p:txBody>
      </p:sp>
      <p:sp>
        <p:nvSpPr>
          <p:cNvPr id="95" name="Shape 92"/>
          <p:cNvSpPr/>
          <p:nvPr/>
        </p:nvSpPr>
        <p:spPr>
          <a:xfrm>
            <a:off x="2109521" y="4242816"/>
            <a:ext cx="2903220" cy="530352"/>
          </a:xfrm>
          <a:prstGeom prst="roundRect">
            <a:avLst>
              <a:gd name="adj" fmla="val 8621"/>
            </a:avLst>
          </a:prstGeom>
          <a:solidFill>
            <a:srgbClr val="FFFFFF"/>
          </a:solidFill>
          <a:ln w="12700">
            <a:solidFill>
              <a:srgbClr val="D9E0EC"/>
            </a:solidFill>
            <a:prstDash val="solid"/>
          </a:ln>
        </p:spPr>
      </p:sp>
      <p:sp>
        <p:nvSpPr>
          <p:cNvPr id="96" name="Shape 93"/>
          <p:cNvSpPr/>
          <p:nvPr/>
        </p:nvSpPr>
        <p:spPr>
          <a:xfrm>
            <a:off x="2173529" y="4361688"/>
            <a:ext cx="566928" cy="292608"/>
          </a:xfrm>
          <a:prstGeom prst="roundRect">
            <a:avLst>
              <a:gd name="adj" fmla="val 15625"/>
            </a:avLst>
          </a:prstGeom>
          <a:solidFill>
            <a:srgbClr val="4A5364"/>
          </a:solidFill>
          <a:ln/>
        </p:spPr>
      </p:sp>
      <p:sp>
        <p:nvSpPr>
          <p:cNvPr id="97" name="Text 94"/>
          <p:cNvSpPr txBox="1"/>
          <p:nvPr/>
        </p:nvSpPr>
        <p:spPr>
          <a:xfrm>
            <a:off x="2173529" y="4361688"/>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98" name="Text 95"/>
          <p:cNvSpPr txBox="1"/>
          <p:nvPr/>
        </p:nvSpPr>
        <p:spPr>
          <a:xfrm>
            <a:off x="2804465" y="4242816"/>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저장소마다 확장과</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백업을 따로 함</a:t>
            </a:r>
            <a:endParaRPr lang="en-US" sz="1400" dirty="0"/>
          </a:p>
        </p:txBody>
      </p:sp>
      <p:sp>
        <p:nvSpPr>
          <p:cNvPr id="99" name="Shape 96"/>
          <p:cNvSpPr/>
          <p:nvPr/>
        </p:nvSpPr>
        <p:spPr>
          <a:xfrm>
            <a:off x="5149901" y="4242816"/>
            <a:ext cx="2903220" cy="530352"/>
          </a:xfrm>
          <a:prstGeom prst="roundRect">
            <a:avLst>
              <a:gd name="adj" fmla="val 8621"/>
            </a:avLst>
          </a:prstGeom>
          <a:solidFill>
            <a:srgbClr val="FFFFFF"/>
          </a:solidFill>
          <a:ln w="12700">
            <a:solidFill>
              <a:srgbClr val="D9E0EC"/>
            </a:solidFill>
            <a:prstDash val="solid"/>
          </a:ln>
        </p:spPr>
      </p:sp>
      <p:sp>
        <p:nvSpPr>
          <p:cNvPr id="100" name="Shape 97"/>
          <p:cNvSpPr/>
          <p:nvPr/>
        </p:nvSpPr>
        <p:spPr>
          <a:xfrm>
            <a:off x="5213909" y="4361688"/>
            <a:ext cx="566928" cy="292608"/>
          </a:xfrm>
          <a:prstGeom prst="roundRect">
            <a:avLst>
              <a:gd name="adj" fmla="val 15625"/>
            </a:avLst>
          </a:prstGeom>
          <a:solidFill>
            <a:srgbClr val="2E74C6"/>
          </a:solidFill>
          <a:ln/>
        </p:spPr>
      </p:sp>
      <p:sp>
        <p:nvSpPr>
          <p:cNvPr id="101" name="Text 98"/>
          <p:cNvSpPr txBox="1"/>
          <p:nvPr/>
        </p:nvSpPr>
        <p:spPr>
          <a:xfrm>
            <a:off x="5213909" y="4361688"/>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02" name="Text 99"/>
          <p:cNvSpPr txBox="1"/>
          <p:nvPr/>
        </p:nvSpPr>
        <p:spPr>
          <a:xfrm>
            <a:off x="5844845" y="4242816"/>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대규모, 필터,</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백업 기능 갖춤</a:t>
            </a:r>
            <a:endParaRPr lang="en-US" sz="1400" dirty="0"/>
          </a:p>
        </p:txBody>
      </p:sp>
      <p:sp>
        <p:nvSpPr>
          <p:cNvPr id="103" name="Shape 100"/>
          <p:cNvSpPr/>
          <p:nvPr/>
        </p:nvSpPr>
        <p:spPr>
          <a:xfrm>
            <a:off x="8190281" y="4242816"/>
            <a:ext cx="2903220" cy="530352"/>
          </a:xfrm>
          <a:prstGeom prst="roundRect">
            <a:avLst>
              <a:gd name="adj" fmla="val 8621"/>
            </a:avLst>
          </a:prstGeom>
          <a:solidFill>
            <a:srgbClr val="FFFFFF"/>
          </a:solidFill>
          <a:ln w="12700">
            <a:solidFill>
              <a:srgbClr val="D9E0EC"/>
            </a:solidFill>
            <a:prstDash val="solid"/>
          </a:ln>
        </p:spPr>
      </p:sp>
      <p:sp>
        <p:nvSpPr>
          <p:cNvPr id="104" name="Shape 101"/>
          <p:cNvSpPr/>
          <p:nvPr/>
        </p:nvSpPr>
        <p:spPr>
          <a:xfrm>
            <a:off x="8254289" y="4361688"/>
            <a:ext cx="566928" cy="292608"/>
          </a:xfrm>
          <a:prstGeom prst="roundRect">
            <a:avLst>
              <a:gd name="adj" fmla="val 15625"/>
            </a:avLst>
          </a:prstGeom>
          <a:solidFill>
            <a:srgbClr val="4A5364"/>
          </a:solidFill>
          <a:ln/>
        </p:spPr>
      </p:sp>
      <p:sp>
        <p:nvSpPr>
          <p:cNvPr id="105" name="Text 102"/>
          <p:cNvSpPr txBox="1"/>
          <p:nvPr/>
        </p:nvSpPr>
        <p:spPr>
          <a:xfrm>
            <a:off x="8254289" y="4361688"/>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06" name="Text 103"/>
          <p:cNvSpPr txBox="1"/>
          <p:nvPr/>
        </p:nvSpPr>
        <p:spPr>
          <a:xfrm>
            <a:off x="8885225" y="4242816"/>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Community는 온라인</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백업과 클러스터 없음</a:t>
            </a:r>
            <a:endParaRPr lang="en-US" sz="1400" dirty="0"/>
          </a:p>
        </p:txBody>
      </p:sp>
      <p:sp>
        <p:nvSpPr>
          <p:cNvPr id="107" name="Shape 104"/>
          <p:cNvSpPr/>
          <p:nvPr/>
        </p:nvSpPr>
        <p:spPr>
          <a:xfrm>
            <a:off x="11230661" y="4242816"/>
            <a:ext cx="2903220" cy="530352"/>
          </a:xfrm>
          <a:prstGeom prst="roundRect">
            <a:avLst>
              <a:gd name="adj" fmla="val 8621"/>
            </a:avLst>
          </a:prstGeom>
          <a:solidFill>
            <a:srgbClr val="FFFFFF"/>
          </a:solidFill>
          <a:ln w="12700">
            <a:solidFill>
              <a:srgbClr val="D9E0EC"/>
            </a:solidFill>
            <a:prstDash val="solid"/>
          </a:ln>
        </p:spPr>
      </p:sp>
      <p:sp>
        <p:nvSpPr>
          <p:cNvPr id="108" name="Shape 105"/>
          <p:cNvSpPr/>
          <p:nvPr/>
        </p:nvSpPr>
        <p:spPr>
          <a:xfrm>
            <a:off x="11294669" y="4361688"/>
            <a:ext cx="566928" cy="292608"/>
          </a:xfrm>
          <a:prstGeom prst="roundRect">
            <a:avLst>
              <a:gd name="adj" fmla="val 15625"/>
            </a:avLst>
          </a:prstGeom>
          <a:solidFill>
            <a:srgbClr val="404155"/>
          </a:solidFill>
          <a:ln/>
        </p:spPr>
      </p:sp>
      <p:sp>
        <p:nvSpPr>
          <p:cNvPr id="109" name="Text 106"/>
          <p:cNvSpPr txBox="1"/>
          <p:nvPr/>
        </p:nvSpPr>
        <p:spPr>
          <a:xfrm>
            <a:off x="11294669" y="4361688"/>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110" name="Text 107"/>
          <p:cNvSpPr txBox="1"/>
          <p:nvPr/>
        </p:nvSpPr>
        <p:spPr>
          <a:xfrm>
            <a:off x="11925605" y="4242816"/>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같은 제약에 키워드</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색인까지 몰림</a:t>
            </a:r>
            <a:endParaRPr lang="en-US" sz="1400" dirty="0"/>
          </a:p>
        </p:txBody>
      </p:sp>
      <p:sp>
        <p:nvSpPr>
          <p:cNvPr id="111" name="Shape 108"/>
          <p:cNvSpPr/>
          <p:nvPr/>
        </p:nvSpPr>
        <p:spPr>
          <a:xfrm>
            <a:off x="509321" y="4828032"/>
            <a:ext cx="1463040" cy="896112"/>
          </a:xfrm>
          <a:prstGeom prst="roundRect">
            <a:avLst>
              <a:gd name="adj" fmla="val 6122"/>
            </a:avLst>
          </a:prstGeom>
          <a:solidFill>
            <a:srgbClr val="2E74C6"/>
          </a:solidFill>
          <a:ln/>
        </p:spPr>
      </p:sp>
      <p:sp>
        <p:nvSpPr>
          <p:cNvPr id="112" name="Text 109"/>
          <p:cNvSpPr txBox="1"/>
          <p:nvPr/>
        </p:nvSpPr>
        <p:spPr>
          <a:xfrm>
            <a:off x="509321" y="4828032"/>
            <a:ext cx="1463040" cy="89611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운영:</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증분 색인</a:t>
            </a:r>
            <a:endParaRPr lang="en-US" sz="1400" dirty="0"/>
          </a:p>
        </p:txBody>
      </p:sp>
      <p:sp>
        <p:nvSpPr>
          <p:cNvPr id="113" name="Shape 110"/>
          <p:cNvSpPr/>
          <p:nvPr/>
        </p:nvSpPr>
        <p:spPr>
          <a:xfrm>
            <a:off x="2109521" y="4828032"/>
            <a:ext cx="2903220" cy="896112"/>
          </a:xfrm>
          <a:prstGeom prst="roundRect">
            <a:avLst>
              <a:gd name="adj" fmla="val 5102"/>
            </a:avLst>
          </a:prstGeom>
          <a:solidFill>
            <a:srgbClr val="FFFFFF"/>
          </a:solidFill>
          <a:ln w="12700">
            <a:solidFill>
              <a:srgbClr val="D9E0EC"/>
            </a:solidFill>
            <a:prstDash val="solid"/>
          </a:ln>
        </p:spPr>
      </p:sp>
      <p:sp>
        <p:nvSpPr>
          <p:cNvPr id="114" name="Shape 111"/>
          <p:cNvSpPr/>
          <p:nvPr/>
        </p:nvSpPr>
        <p:spPr>
          <a:xfrm>
            <a:off x="2173529" y="5129784"/>
            <a:ext cx="566928" cy="292608"/>
          </a:xfrm>
          <a:prstGeom prst="roundRect">
            <a:avLst>
              <a:gd name="adj" fmla="val 15625"/>
            </a:avLst>
          </a:prstGeom>
          <a:solidFill>
            <a:srgbClr val="404155"/>
          </a:solidFill>
          <a:ln/>
        </p:spPr>
      </p:sp>
      <p:sp>
        <p:nvSpPr>
          <p:cNvPr id="115" name="Text 112"/>
          <p:cNvSpPr txBox="1"/>
          <p:nvPr/>
        </p:nvSpPr>
        <p:spPr>
          <a:xfrm>
            <a:off x="2173529" y="5129784"/>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주의</a:t>
            </a:r>
            <a:endParaRPr lang="en-US" sz="1400" dirty="0"/>
          </a:p>
        </p:txBody>
      </p:sp>
      <p:sp>
        <p:nvSpPr>
          <p:cNvPr id="116" name="Text 113"/>
          <p:cNvSpPr txBox="1"/>
          <p:nvPr/>
        </p:nvSpPr>
        <p:spPr>
          <a:xfrm>
            <a:off x="2804465" y="4828032"/>
            <a:ext cx="2171700" cy="89611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지원: 벡터와 그래프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키워드는 도구 따라 다름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3곳에 따로 쓰고 맞춤</a:t>
            </a:r>
            <a:endParaRPr lang="en-US" sz="1400" dirty="0"/>
          </a:p>
        </p:txBody>
      </p:sp>
      <p:sp>
        <p:nvSpPr>
          <p:cNvPr id="117" name="Shape 114"/>
          <p:cNvSpPr/>
          <p:nvPr/>
        </p:nvSpPr>
        <p:spPr>
          <a:xfrm>
            <a:off x="5149901" y="4828032"/>
            <a:ext cx="2903220" cy="896112"/>
          </a:xfrm>
          <a:prstGeom prst="roundRect">
            <a:avLst>
              <a:gd name="adj" fmla="val 5102"/>
            </a:avLst>
          </a:prstGeom>
          <a:solidFill>
            <a:srgbClr val="FFFFFF"/>
          </a:solidFill>
          <a:ln w="12700">
            <a:solidFill>
              <a:srgbClr val="D9E0EC"/>
            </a:solidFill>
            <a:prstDash val="solid"/>
          </a:ln>
        </p:spPr>
      </p:sp>
      <p:sp>
        <p:nvSpPr>
          <p:cNvPr id="118" name="Shape 115"/>
          <p:cNvSpPr/>
          <p:nvPr/>
        </p:nvSpPr>
        <p:spPr>
          <a:xfrm>
            <a:off x="5213909" y="5129784"/>
            <a:ext cx="566928" cy="292608"/>
          </a:xfrm>
          <a:prstGeom prst="roundRect">
            <a:avLst>
              <a:gd name="adj" fmla="val 15625"/>
            </a:avLst>
          </a:prstGeom>
          <a:solidFill>
            <a:srgbClr val="4A5364"/>
          </a:solidFill>
          <a:ln/>
        </p:spPr>
      </p:sp>
      <p:sp>
        <p:nvSpPr>
          <p:cNvPr id="119" name="Text 116"/>
          <p:cNvSpPr txBox="1"/>
          <p:nvPr/>
        </p:nvSpPr>
        <p:spPr>
          <a:xfrm>
            <a:off x="5213909" y="5129784"/>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20" name="Text 117"/>
          <p:cNvSpPr txBox="1"/>
          <p:nvPr/>
        </p:nvSpPr>
        <p:spPr>
          <a:xfrm>
            <a:off x="5844845" y="4828032"/>
            <a:ext cx="2171700" cy="89611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지원: 모두</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2곳, 검색 엔진은 벡터와</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키워드를 한 문서로 갱신</a:t>
            </a:r>
            <a:endParaRPr lang="en-US" sz="1400" dirty="0"/>
          </a:p>
        </p:txBody>
      </p:sp>
      <p:sp>
        <p:nvSpPr>
          <p:cNvPr id="121" name="Shape 118"/>
          <p:cNvSpPr/>
          <p:nvPr/>
        </p:nvSpPr>
        <p:spPr>
          <a:xfrm>
            <a:off x="8190281" y="4828032"/>
            <a:ext cx="2903220" cy="896112"/>
          </a:xfrm>
          <a:prstGeom prst="roundRect">
            <a:avLst>
              <a:gd name="adj" fmla="val 5102"/>
            </a:avLst>
          </a:prstGeom>
          <a:solidFill>
            <a:srgbClr val="FFFFFF"/>
          </a:solidFill>
          <a:ln w="12700">
            <a:solidFill>
              <a:srgbClr val="D9E0EC"/>
            </a:solidFill>
            <a:prstDash val="solid"/>
          </a:ln>
        </p:spPr>
      </p:sp>
      <p:sp>
        <p:nvSpPr>
          <p:cNvPr id="122" name="Shape 119"/>
          <p:cNvSpPr/>
          <p:nvPr/>
        </p:nvSpPr>
        <p:spPr>
          <a:xfrm>
            <a:off x="8254289" y="5129784"/>
            <a:ext cx="566928" cy="292608"/>
          </a:xfrm>
          <a:prstGeom prst="roundRect">
            <a:avLst>
              <a:gd name="adj" fmla="val 15625"/>
            </a:avLst>
          </a:prstGeom>
          <a:solidFill>
            <a:srgbClr val="4A5364"/>
          </a:solidFill>
          <a:ln/>
        </p:spPr>
      </p:sp>
      <p:sp>
        <p:nvSpPr>
          <p:cNvPr id="123" name="Text 120"/>
          <p:cNvSpPr txBox="1"/>
          <p:nvPr/>
        </p:nvSpPr>
        <p:spPr>
          <a:xfrm>
            <a:off x="8254289" y="5129784"/>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24" name="Text 121"/>
          <p:cNvSpPr txBox="1"/>
          <p:nvPr/>
        </p:nvSpPr>
        <p:spPr>
          <a:xfrm>
            <a:off x="8885225" y="4828032"/>
            <a:ext cx="2171700" cy="89611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지원: 벡터와 그래프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키워드는 도구 따라 다름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2곳, Neo4j와 키워드 맞춤</a:t>
            </a:r>
            <a:endParaRPr lang="en-US" sz="1400" dirty="0"/>
          </a:p>
        </p:txBody>
      </p:sp>
      <p:sp>
        <p:nvSpPr>
          <p:cNvPr id="125" name="Shape 122"/>
          <p:cNvSpPr/>
          <p:nvPr/>
        </p:nvSpPr>
        <p:spPr>
          <a:xfrm>
            <a:off x="11230661" y="4828032"/>
            <a:ext cx="2903220" cy="896112"/>
          </a:xfrm>
          <a:prstGeom prst="roundRect">
            <a:avLst>
              <a:gd name="adj" fmla="val 5102"/>
            </a:avLst>
          </a:prstGeom>
          <a:solidFill>
            <a:srgbClr val="FFFFFF"/>
          </a:solidFill>
          <a:ln w="12700">
            <a:solidFill>
              <a:srgbClr val="D9E0EC"/>
            </a:solidFill>
            <a:prstDash val="solid"/>
          </a:ln>
        </p:spPr>
      </p:sp>
      <p:sp>
        <p:nvSpPr>
          <p:cNvPr id="126" name="Shape 123"/>
          <p:cNvSpPr/>
          <p:nvPr/>
        </p:nvSpPr>
        <p:spPr>
          <a:xfrm>
            <a:off x="11294669" y="5129784"/>
            <a:ext cx="566928" cy="292608"/>
          </a:xfrm>
          <a:prstGeom prst="roundRect">
            <a:avLst>
              <a:gd name="adj" fmla="val 15625"/>
            </a:avLst>
          </a:prstGeom>
          <a:solidFill>
            <a:srgbClr val="2E74C6"/>
          </a:solidFill>
          <a:ln/>
        </p:spPr>
      </p:sp>
      <p:sp>
        <p:nvSpPr>
          <p:cNvPr id="127" name="Text 124"/>
          <p:cNvSpPr txBox="1"/>
          <p:nvPr/>
        </p:nvSpPr>
        <p:spPr>
          <a:xfrm>
            <a:off x="11294669" y="5129784"/>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28" name="Text 125"/>
          <p:cNvSpPr txBox="1"/>
          <p:nvPr/>
        </p:nvSpPr>
        <p:spPr>
          <a:xfrm>
            <a:off x="11925605" y="4828032"/>
            <a:ext cx="2171700" cy="896112"/>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지원: 모두</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1곳, 한 트랜잭션에서</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벡터와 키워드 함께 갱신</a:t>
            </a:r>
            <a:endParaRPr lang="en-US" sz="1400" dirty="0"/>
          </a:p>
        </p:txBody>
      </p:sp>
      <p:sp>
        <p:nvSpPr>
          <p:cNvPr id="129" name="Shape 126"/>
          <p:cNvSpPr/>
          <p:nvPr/>
        </p:nvSpPr>
        <p:spPr>
          <a:xfrm>
            <a:off x="509321" y="5779008"/>
            <a:ext cx="1463040" cy="530352"/>
          </a:xfrm>
          <a:prstGeom prst="roundRect">
            <a:avLst>
              <a:gd name="adj" fmla="val 10345"/>
            </a:avLst>
          </a:prstGeom>
          <a:solidFill>
            <a:srgbClr val="EEF3FA"/>
          </a:solidFill>
          <a:ln w="12700">
            <a:solidFill>
              <a:srgbClr val="2E74C6"/>
            </a:solidFill>
            <a:prstDash val="solid"/>
          </a:ln>
        </p:spPr>
      </p:sp>
      <p:sp>
        <p:nvSpPr>
          <p:cNvPr id="130" name="Text 127"/>
          <p:cNvSpPr txBox="1"/>
          <p:nvPr/>
        </p:nvSpPr>
        <p:spPr>
          <a:xfrm>
            <a:off x="509321" y="5779008"/>
            <a:ext cx="1463040" cy="530352"/>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그래프 연결</a:t>
            </a:r>
            <a:endParaRPr lang="en-US" sz="1400" dirty="0"/>
          </a:p>
        </p:txBody>
      </p:sp>
      <p:sp>
        <p:nvSpPr>
          <p:cNvPr id="131" name="Shape 128"/>
          <p:cNvSpPr/>
          <p:nvPr/>
        </p:nvSpPr>
        <p:spPr>
          <a:xfrm>
            <a:off x="2109521" y="5779008"/>
            <a:ext cx="2903220" cy="530352"/>
          </a:xfrm>
          <a:prstGeom prst="roundRect">
            <a:avLst>
              <a:gd name="adj" fmla="val 8621"/>
            </a:avLst>
          </a:prstGeom>
          <a:solidFill>
            <a:srgbClr val="FFFFFF"/>
          </a:solidFill>
          <a:ln w="12700">
            <a:solidFill>
              <a:srgbClr val="D9E0EC"/>
            </a:solidFill>
            <a:prstDash val="solid"/>
          </a:ln>
        </p:spPr>
      </p:sp>
      <p:sp>
        <p:nvSpPr>
          <p:cNvPr id="132" name="Shape 129"/>
          <p:cNvSpPr/>
          <p:nvPr/>
        </p:nvSpPr>
        <p:spPr>
          <a:xfrm>
            <a:off x="2173529" y="5897880"/>
            <a:ext cx="566928" cy="292608"/>
          </a:xfrm>
          <a:prstGeom prst="roundRect">
            <a:avLst>
              <a:gd name="adj" fmla="val 15625"/>
            </a:avLst>
          </a:prstGeom>
          <a:solidFill>
            <a:srgbClr val="4A5364"/>
          </a:solidFill>
          <a:ln/>
        </p:spPr>
      </p:sp>
      <p:sp>
        <p:nvSpPr>
          <p:cNvPr id="133" name="Text 130"/>
          <p:cNvSpPr txBox="1"/>
          <p:nvPr/>
        </p:nvSpPr>
        <p:spPr>
          <a:xfrm>
            <a:off x="2173529" y="5897880"/>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34" name="Text 131"/>
          <p:cNvSpPr txBox="1"/>
          <p:nvPr/>
        </p:nvSpPr>
        <p:spPr>
          <a:xfrm>
            <a:off x="2804465" y="5779008"/>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저장소 사이를</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ID로 이어 조회</a:t>
            </a:r>
            <a:endParaRPr lang="en-US" sz="1400" dirty="0"/>
          </a:p>
        </p:txBody>
      </p:sp>
      <p:sp>
        <p:nvSpPr>
          <p:cNvPr id="135" name="Shape 132"/>
          <p:cNvSpPr/>
          <p:nvPr/>
        </p:nvSpPr>
        <p:spPr>
          <a:xfrm>
            <a:off x="5149901" y="5779008"/>
            <a:ext cx="2903220" cy="530352"/>
          </a:xfrm>
          <a:prstGeom prst="roundRect">
            <a:avLst>
              <a:gd name="adj" fmla="val 8621"/>
            </a:avLst>
          </a:prstGeom>
          <a:solidFill>
            <a:srgbClr val="FFFFFF"/>
          </a:solidFill>
          <a:ln w="12700">
            <a:solidFill>
              <a:srgbClr val="D9E0EC"/>
            </a:solidFill>
            <a:prstDash val="solid"/>
          </a:ln>
        </p:spPr>
      </p:sp>
      <p:sp>
        <p:nvSpPr>
          <p:cNvPr id="136" name="Shape 133"/>
          <p:cNvSpPr/>
          <p:nvPr/>
        </p:nvSpPr>
        <p:spPr>
          <a:xfrm>
            <a:off x="5213909" y="5897880"/>
            <a:ext cx="566928" cy="292608"/>
          </a:xfrm>
          <a:prstGeom prst="roundRect">
            <a:avLst>
              <a:gd name="adj" fmla="val 15625"/>
            </a:avLst>
          </a:prstGeom>
          <a:solidFill>
            <a:srgbClr val="4A5364"/>
          </a:solidFill>
          <a:ln/>
        </p:spPr>
      </p:sp>
      <p:sp>
        <p:nvSpPr>
          <p:cNvPr id="137" name="Text 134"/>
          <p:cNvSpPr txBox="1"/>
          <p:nvPr/>
        </p:nvSpPr>
        <p:spPr>
          <a:xfrm>
            <a:off x="5213909" y="5897880"/>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보통</a:t>
            </a:r>
            <a:endParaRPr lang="en-US" sz="1400" dirty="0"/>
          </a:p>
        </p:txBody>
      </p:sp>
      <p:sp>
        <p:nvSpPr>
          <p:cNvPr id="138" name="Text 135"/>
          <p:cNvSpPr txBox="1"/>
          <p:nvPr/>
        </p:nvSpPr>
        <p:spPr>
          <a:xfrm>
            <a:off x="5844845" y="5779008"/>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같음(검색 결과 ID로</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Neo4j 조회)</a:t>
            </a:r>
            <a:endParaRPr lang="en-US" sz="1400" dirty="0"/>
          </a:p>
        </p:txBody>
      </p:sp>
      <p:sp>
        <p:nvSpPr>
          <p:cNvPr id="139" name="Shape 136"/>
          <p:cNvSpPr/>
          <p:nvPr/>
        </p:nvSpPr>
        <p:spPr>
          <a:xfrm>
            <a:off x="8190281" y="5779008"/>
            <a:ext cx="2903220" cy="530352"/>
          </a:xfrm>
          <a:prstGeom prst="roundRect">
            <a:avLst>
              <a:gd name="adj" fmla="val 8621"/>
            </a:avLst>
          </a:prstGeom>
          <a:solidFill>
            <a:srgbClr val="FFFFFF"/>
          </a:solidFill>
          <a:ln w="12700">
            <a:solidFill>
              <a:srgbClr val="D9E0EC"/>
            </a:solidFill>
            <a:prstDash val="solid"/>
          </a:ln>
        </p:spPr>
      </p:sp>
      <p:sp>
        <p:nvSpPr>
          <p:cNvPr id="140" name="Shape 137"/>
          <p:cNvSpPr/>
          <p:nvPr/>
        </p:nvSpPr>
        <p:spPr>
          <a:xfrm>
            <a:off x="8254289" y="5897880"/>
            <a:ext cx="566928" cy="292608"/>
          </a:xfrm>
          <a:prstGeom prst="roundRect">
            <a:avLst>
              <a:gd name="adj" fmla="val 15625"/>
            </a:avLst>
          </a:prstGeom>
          <a:solidFill>
            <a:srgbClr val="2E74C6"/>
          </a:solidFill>
          <a:ln/>
        </p:spPr>
      </p:sp>
      <p:sp>
        <p:nvSpPr>
          <p:cNvPr id="141" name="Text 138"/>
          <p:cNvSpPr txBox="1"/>
          <p:nvPr/>
        </p:nvSpPr>
        <p:spPr>
          <a:xfrm>
            <a:off x="8254289" y="5897880"/>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42" name="Text 139"/>
          <p:cNvSpPr txBox="1"/>
          <p:nvPr/>
        </p:nvSpPr>
        <p:spPr>
          <a:xfrm>
            <a:off x="8885225" y="5779008"/>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관계 선 하나,</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쿼리 한 번</a:t>
            </a:r>
            <a:endParaRPr lang="en-US" sz="1400" dirty="0"/>
          </a:p>
        </p:txBody>
      </p:sp>
      <p:sp>
        <p:nvSpPr>
          <p:cNvPr id="143" name="Shape 140"/>
          <p:cNvSpPr/>
          <p:nvPr/>
        </p:nvSpPr>
        <p:spPr>
          <a:xfrm>
            <a:off x="11230661" y="5779008"/>
            <a:ext cx="2903220" cy="530352"/>
          </a:xfrm>
          <a:prstGeom prst="roundRect">
            <a:avLst>
              <a:gd name="adj" fmla="val 8621"/>
            </a:avLst>
          </a:prstGeom>
          <a:solidFill>
            <a:srgbClr val="FFFFFF"/>
          </a:solidFill>
          <a:ln w="12700">
            <a:solidFill>
              <a:srgbClr val="D9E0EC"/>
            </a:solidFill>
            <a:prstDash val="solid"/>
          </a:ln>
        </p:spPr>
      </p:sp>
      <p:sp>
        <p:nvSpPr>
          <p:cNvPr id="144" name="Shape 141"/>
          <p:cNvSpPr/>
          <p:nvPr/>
        </p:nvSpPr>
        <p:spPr>
          <a:xfrm>
            <a:off x="11294669" y="5897880"/>
            <a:ext cx="566928" cy="292608"/>
          </a:xfrm>
          <a:prstGeom prst="roundRect">
            <a:avLst>
              <a:gd name="adj" fmla="val 15625"/>
            </a:avLst>
          </a:prstGeom>
          <a:solidFill>
            <a:srgbClr val="2E74C6"/>
          </a:solidFill>
          <a:ln/>
        </p:spPr>
      </p:sp>
      <p:sp>
        <p:nvSpPr>
          <p:cNvPr id="145" name="Text 142"/>
          <p:cNvSpPr txBox="1"/>
          <p:nvPr/>
        </p:nvSpPr>
        <p:spPr>
          <a:xfrm>
            <a:off x="11294669" y="5897880"/>
            <a:ext cx="566928"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좋음</a:t>
            </a:r>
            <a:endParaRPr lang="en-US" sz="1400" dirty="0"/>
          </a:p>
        </p:txBody>
      </p:sp>
      <p:sp>
        <p:nvSpPr>
          <p:cNvPr id="146" name="Text 143"/>
          <p:cNvSpPr txBox="1"/>
          <p:nvPr/>
        </p:nvSpPr>
        <p:spPr>
          <a:xfrm>
            <a:off x="11925605" y="5779008"/>
            <a:ext cx="2171700" cy="530352"/>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관계 선 하나,</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쿼리 한 번</a:t>
            </a:r>
            <a:endParaRPr lang="en-US" sz="1400" dirty="0"/>
          </a:p>
        </p:txBody>
      </p:sp>
      <p:sp>
        <p:nvSpPr>
          <p:cNvPr id="147" name="Shape 144"/>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sp>
      <p:sp>
        <p:nvSpPr>
          <p:cNvPr id="148" name="Shape 145"/>
          <p:cNvSpPr/>
          <p:nvPr/>
        </p:nvSpPr>
        <p:spPr>
          <a:xfrm>
            <a:off x="509321" y="6510528"/>
            <a:ext cx="82296" cy="694944"/>
          </a:xfrm>
          <a:prstGeom prst="rect">
            <a:avLst/>
          </a:prstGeom>
          <a:solidFill>
            <a:srgbClr val="2E74C6"/>
          </a:solidFill>
          <a:ln/>
        </p:spPr>
      </p:sp>
      <p:sp>
        <p:nvSpPr>
          <p:cNvPr id="149" name="Text 146"/>
          <p:cNvSpPr txBox="1"/>
          <p:nvPr/>
        </p:nvSpPr>
        <p:spPr>
          <a:xfrm>
            <a:off x="737921" y="6510528"/>
            <a:ext cx="13258800" cy="694944"/>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권고: 한국어 실서비스는 1-b 분리형(검색 엔진)이 정석, 그래프 비중이 크고 규모가 작으면 2 벡터 통합형</a:t>
            </a:r>
            <a:endParaRPr lang="en-US" sz="1500" dirty="0"/>
          </a:p>
          <a:p>
            <a:pPr algn="l" indent="0" marL="0">
              <a:buNone/>
            </a:pPr>
            <a:r>
              <a:rPr lang="en-US" sz="1500" b="1" dirty="0">
                <a:solidFill>
                  <a:srgbClr val="1E2A5C"/>
                </a:solidFill>
                <a:latin typeface="Pretendard" pitchFamily="34" charset="0"/>
                <a:ea typeface="Pretendard" pitchFamily="34" charset="-122"/>
                <a:cs typeface="Pretendard" pitchFamily="34" charset="-120"/>
              </a:rPr>
              <a:t>3 전부 통합형은 증분 색인이 가장 단순하지만 한국어 분석기와 필터를 Neo4j에서 직접 만들어야 해 한국어에서는 마지막 선택지</a:t>
            </a:r>
            <a:endParaRPr lang="en-US" sz="1500" dirty="0"/>
          </a:p>
        </p:txBody>
      </p:sp>
      <p:sp>
        <p:nvSpPr>
          <p:cNvPr id="150" name="Text 147"/>
          <p:cNvSpPr txBox="1"/>
          <p:nvPr/>
        </p:nvSpPr>
        <p:spPr>
          <a:xfrm>
            <a:off x="470916" y="7341718"/>
            <a:ext cx="13525805" cy="338328"/>
          </a:xfrm>
          <a:prstGeom prst="rect">
            <a:avLst/>
          </a:prstGeom>
          <a:noFill/>
          <a:ln/>
        </p:spPr>
        <p:txBody>
          <a:bodyPr wrap="square" lIns="0" tIns="0" rIns="0" bIns="0" rtlCol="0" anchor="ctr"/>
          <a:lstStyle/>
          <a:p>
            <a:pPr algn="l" indent="0" marL="0">
              <a:buNone/>
            </a:pPr>
            <a:r>
              <a:rPr lang="en-US" sz="1600" dirty="0">
                <a:solidFill>
                  <a:srgbClr val="2B3242"/>
                </a:solidFill>
                <a:latin typeface="Pretendard" pitchFamily="34" charset="0"/>
                <a:ea typeface="Pretendard" pitchFamily="34" charset="-122"/>
                <a:cs typeface="Pretendard" pitchFamily="34" charset="-120"/>
              </a:rPr>
              <a:t>※ 키워드 색인을 추가와 삭제가 없는 정적 라이브러리(예: bm25s)로 만들면 바뀔 때마다 전체를 다시 만들어야 함(지금 우리 구성)</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그래프DB 구축: 1-b 분리형(검색 엔진)의 인덱싱 파이프라인</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청킹까지 함께 쓰고 두 갈래로 나눔 — 검색 갈래는 검색 엔진에 문서 단위로 쓰고, KG 갈래는 지금과 같음</a:t>
            </a:r>
            <a:endParaRPr lang="en-US" sz="1800" dirty="0"/>
          </a:p>
        </p:txBody>
      </p:sp>
      <p:sp>
        <p:nvSpPr>
          <p:cNvPr id="5" name="Shape 2"/>
          <p:cNvSpPr/>
          <p:nvPr/>
        </p:nvSpPr>
        <p:spPr>
          <a:xfrm>
            <a:off x="2127809" y="1645920"/>
            <a:ext cx="12006072" cy="621792"/>
          </a:xfrm>
          <a:prstGeom prst="roundRect">
            <a:avLst>
              <a:gd name="adj" fmla="val 8824"/>
            </a:avLst>
          </a:prstGeom>
          <a:solidFill>
            <a:srgbClr val="F5F8FC"/>
          </a:solidFill>
          <a:ln/>
        </p:spPr>
      </p:sp>
      <p:sp>
        <p:nvSpPr>
          <p:cNvPr id="6" name="Shape 3"/>
          <p:cNvSpPr/>
          <p:nvPr/>
        </p:nvSpPr>
        <p:spPr>
          <a:xfrm>
            <a:off x="509321" y="1645920"/>
            <a:ext cx="1554480" cy="621792"/>
          </a:xfrm>
          <a:prstGeom prst="roundRect">
            <a:avLst>
              <a:gd name="adj" fmla="val 8824"/>
            </a:avLst>
          </a:prstGeom>
          <a:solidFill>
            <a:srgbClr val="404155"/>
          </a:solidFill>
          <a:ln/>
        </p:spPr>
      </p:sp>
      <p:sp>
        <p:nvSpPr>
          <p:cNvPr id="7" name="Text 4"/>
          <p:cNvSpPr txBox="1"/>
          <p:nvPr/>
        </p:nvSpPr>
        <p:spPr>
          <a:xfrm>
            <a:off x="509321" y="1645920"/>
            <a:ext cx="1554480" cy="62179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설계 시</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(사전 1회)</a:t>
            </a:r>
            <a:endParaRPr lang="en-US" sz="1400" dirty="0"/>
          </a:p>
        </p:txBody>
      </p:sp>
      <p:sp>
        <p:nvSpPr>
          <p:cNvPr id="8" name="Shape 5"/>
          <p:cNvSpPr/>
          <p:nvPr/>
        </p:nvSpPr>
        <p:spPr>
          <a:xfrm>
            <a:off x="2127809" y="2286000"/>
            <a:ext cx="12006072" cy="621792"/>
          </a:xfrm>
          <a:prstGeom prst="roundRect">
            <a:avLst>
              <a:gd name="adj" fmla="val 8824"/>
            </a:avLst>
          </a:prstGeom>
          <a:solidFill>
            <a:srgbClr val="F5F8FC"/>
          </a:solidFill>
          <a:ln/>
        </p:spPr>
      </p:sp>
      <p:sp>
        <p:nvSpPr>
          <p:cNvPr id="9" name="Shape 6"/>
          <p:cNvSpPr/>
          <p:nvPr/>
        </p:nvSpPr>
        <p:spPr>
          <a:xfrm>
            <a:off x="509321" y="2286000"/>
            <a:ext cx="1554480" cy="621792"/>
          </a:xfrm>
          <a:prstGeom prst="roundRect">
            <a:avLst>
              <a:gd name="adj" fmla="val 8824"/>
            </a:avLst>
          </a:prstGeom>
          <a:solidFill>
            <a:srgbClr val="1E2A5C"/>
          </a:solidFill>
          <a:ln/>
        </p:spPr>
      </p:sp>
      <p:sp>
        <p:nvSpPr>
          <p:cNvPr id="10" name="Text 7"/>
          <p:cNvSpPr txBox="1"/>
          <p:nvPr/>
        </p:nvSpPr>
        <p:spPr>
          <a:xfrm>
            <a:off x="509321" y="2286000"/>
            <a:ext cx="1554480" cy="62179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인덱싱 공통</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(매 실행)</a:t>
            </a:r>
            <a:endParaRPr lang="en-US" sz="1400" dirty="0"/>
          </a:p>
        </p:txBody>
      </p:sp>
      <p:sp>
        <p:nvSpPr>
          <p:cNvPr id="11" name="Shape 8"/>
          <p:cNvSpPr/>
          <p:nvPr/>
        </p:nvSpPr>
        <p:spPr>
          <a:xfrm>
            <a:off x="2127809" y="2926080"/>
            <a:ext cx="12006072" cy="676656"/>
          </a:xfrm>
          <a:prstGeom prst="roundRect">
            <a:avLst>
              <a:gd name="adj" fmla="val 8108"/>
            </a:avLst>
          </a:prstGeom>
          <a:solidFill>
            <a:srgbClr val="F5F8FC"/>
          </a:solidFill>
          <a:ln/>
        </p:spPr>
      </p:sp>
      <p:sp>
        <p:nvSpPr>
          <p:cNvPr id="12" name="Shape 9"/>
          <p:cNvSpPr/>
          <p:nvPr/>
        </p:nvSpPr>
        <p:spPr>
          <a:xfrm>
            <a:off x="509321" y="2926080"/>
            <a:ext cx="1554480" cy="676656"/>
          </a:xfrm>
          <a:prstGeom prst="roundRect">
            <a:avLst>
              <a:gd name="adj" fmla="val 8108"/>
            </a:avLst>
          </a:prstGeom>
          <a:solidFill>
            <a:srgbClr val="1E2A5C"/>
          </a:solidFill>
          <a:ln/>
        </p:spPr>
      </p:sp>
      <p:sp>
        <p:nvSpPr>
          <p:cNvPr id="13" name="Text 10"/>
          <p:cNvSpPr txBox="1"/>
          <p:nvPr/>
        </p:nvSpPr>
        <p:spPr>
          <a:xfrm>
            <a:off x="509321" y="2926080"/>
            <a:ext cx="1554480" cy="67665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KG 갈래</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(그대로)</a:t>
            </a:r>
            <a:endParaRPr lang="en-US" sz="1400" dirty="0"/>
          </a:p>
        </p:txBody>
      </p:sp>
      <p:sp>
        <p:nvSpPr>
          <p:cNvPr id="14" name="Shape 11"/>
          <p:cNvSpPr/>
          <p:nvPr/>
        </p:nvSpPr>
        <p:spPr>
          <a:xfrm>
            <a:off x="2127809" y="3621024"/>
            <a:ext cx="12006072" cy="676656"/>
          </a:xfrm>
          <a:prstGeom prst="roundRect">
            <a:avLst>
              <a:gd name="adj" fmla="val 8108"/>
            </a:avLst>
          </a:prstGeom>
          <a:solidFill>
            <a:srgbClr val="F5F8FC"/>
          </a:solidFill>
          <a:ln/>
        </p:spPr>
      </p:sp>
      <p:sp>
        <p:nvSpPr>
          <p:cNvPr id="15" name="Shape 12"/>
          <p:cNvSpPr/>
          <p:nvPr/>
        </p:nvSpPr>
        <p:spPr>
          <a:xfrm>
            <a:off x="509321" y="3621024"/>
            <a:ext cx="1554480" cy="676656"/>
          </a:xfrm>
          <a:prstGeom prst="roundRect">
            <a:avLst>
              <a:gd name="adj" fmla="val 8108"/>
            </a:avLst>
          </a:prstGeom>
          <a:solidFill>
            <a:srgbClr val="2E74C6"/>
          </a:solidFill>
          <a:ln/>
        </p:spPr>
      </p:sp>
      <p:sp>
        <p:nvSpPr>
          <p:cNvPr id="16" name="Text 13"/>
          <p:cNvSpPr txBox="1"/>
          <p:nvPr/>
        </p:nvSpPr>
        <p:spPr>
          <a:xfrm>
            <a:off x="509321" y="3621024"/>
            <a:ext cx="1554480" cy="67665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검색 갈래</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(1-b에서 바뀜)</a:t>
            </a:r>
            <a:endParaRPr lang="en-US" sz="1400" dirty="0"/>
          </a:p>
        </p:txBody>
      </p:sp>
      <p:sp>
        <p:nvSpPr>
          <p:cNvPr id="17" name="Shape 14"/>
          <p:cNvSpPr/>
          <p:nvPr/>
        </p:nvSpPr>
        <p:spPr>
          <a:xfrm>
            <a:off x="2200961" y="1700784"/>
            <a:ext cx="1203960" cy="512064"/>
          </a:xfrm>
          <a:prstGeom prst="roundRect">
            <a:avLst>
              <a:gd name="adj" fmla="val 14286"/>
            </a:avLst>
          </a:prstGeom>
          <a:solidFill>
            <a:srgbClr val="FFFFFF"/>
          </a:solidFill>
          <a:ln w="15875">
            <a:solidFill>
              <a:srgbClr val="4A5364"/>
            </a:solidFill>
            <a:prstDash val="solid"/>
          </a:ln>
        </p:spPr>
      </p:sp>
      <p:sp>
        <p:nvSpPr>
          <p:cNvPr id="18" name="Text 15"/>
          <p:cNvSpPr txBox="1"/>
          <p:nvPr/>
        </p:nvSpPr>
        <p:spPr>
          <a:xfrm>
            <a:off x="2200961" y="170078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9" name="Shape 16"/>
          <p:cNvSpPr/>
          <p:nvPr/>
        </p:nvSpPr>
        <p:spPr>
          <a:xfrm>
            <a:off x="3542081" y="1700784"/>
            <a:ext cx="1203960" cy="512064"/>
          </a:xfrm>
          <a:prstGeom prst="roundRect">
            <a:avLst>
              <a:gd name="adj" fmla="val 14286"/>
            </a:avLst>
          </a:prstGeom>
          <a:solidFill>
            <a:srgbClr val="FFFFFF"/>
          </a:solidFill>
          <a:ln w="15875">
            <a:solidFill>
              <a:srgbClr val="4A5364"/>
            </a:solidFill>
            <a:prstDash val="solid"/>
          </a:ln>
        </p:spPr>
      </p:sp>
      <p:sp>
        <p:nvSpPr>
          <p:cNvPr id="20" name="Text 17"/>
          <p:cNvSpPr txBox="1"/>
          <p:nvPr/>
        </p:nvSpPr>
        <p:spPr>
          <a:xfrm>
            <a:off x="3542081" y="170078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21" name="Shape 18"/>
          <p:cNvSpPr/>
          <p:nvPr/>
        </p:nvSpPr>
        <p:spPr>
          <a:xfrm>
            <a:off x="4883201" y="1700784"/>
            <a:ext cx="1203960" cy="512064"/>
          </a:xfrm>
          <a:prstGeom prst="roundRect">
            <a:avLst>
              <a:gd name="adj" fmla="val 14286"/>
            </a:avLst>
          </a:prstGeom>
          <a:solidFill>
            <a:srgbClr val="FFFFFF"/>
          </a:solidFill>
          <a:ln w="15875">
            <a:solidFill>
              <a:srgbClr val="4A5364"/>
            </a:solidFill>
            <a:prstDash val="solid"/>
          </a:ln>
        </p:spPr>
      </p:sp>
      <p:sp>
        <p:nvSpPr>
          <p:cNvPr id="22" name="Text 19"/>
          <p:cNvSpPr txBox="1"/>
          <p:nvPr/>
        </p:nvSpPr>
        <p:spPr>
          <a:xfrm>
            <a:off x="4883201" y="170078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3단계 확정</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(사람)</a:t>
            </a:r>
            <a:endParaRPr lang="en-US" sz="1400" dirty="0"/>
          </a:p>
        </p:txBody>
      </p:sp>
      <p:sp>
        <p:nvSpPr>
          <p:cNvPr id="23" name="Shape 20"/>
          <p:cNvSpPr/>
          <p:nvPr/>
        </p:nvSpPr>
        <p:spPr>
          <a:xfrm>
            <a:off x="7565441" y="1700784"/>
            <a:ext cx="2545080" cy="512064"/>
          </a:xfrm>
          <a:prstGeom prst="roundRect">
            <a:avLst>
              <a:gd name="adj" fmla="val 14286"/>
            </a:avLst>
          </a:prstGeom>
          <a:solidFill>
            <a:srgbClr val="EEF3FA"/>
          </a:solidFill>
          <a:ln w="15875">
            <a:solidFill>
              <a:srgbClr val="2E74C6"/>
            </a:solidFill>
            <a:prstDash val="solid"/>
          </a:ln>
        </p:spPr>
      </p:sp>
      <p:sp>
        <p:nvSpPr>
          <p:cNvPr id="24" name="Text 21"/>
          <p:cNvSpPr txBox="1"/>
          <p:nvPr/>
        </p:nvSpPr>
        <p:spPr>
          <a:xfrm>
            <a:off x="7565441" y="1700784"/>
            <a:ext cx="2545080" cy="51206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5" name="Shape 22"/>
          <p:cNvSpPr/>
          <p:nvPr/>
        </p:nvSpPr>
        <p:spPr>
          <a:xfrm>
            <a:off x="3432353" y="1956816"/>
            <a:ext cx="82296" cy="0"/>
          </a:xfrm>
          <a:prstGeom prst="line">
            <a:avLst/>
          </a:prstGeom>
          <a:noFill/>
          <a:ln w="22225">
            <a:solidFill>
              <a:srgbClr val="4A5364"/>
            </a:solidFill>
            <a:prstDash val="solid"/>
            <a:tailEnd type="triangle"/>
          </a:ln>
        </p:spPr>
      </p:sp>
      <p:sp>
        <p:nvSpPr>
          <p:cNvPr id="26" name="Shape 23"/>
          <p:cNvSpPr/>
          <p:nvPr/>
        </p:nvSpPr>
        <p:spPr>
          <a:xfrm>
            <a:off x="4773473" y="1956816"/>
            <a:ext cx="82296" cy="0"/>
          </a:xfrm>
          <a:prstGeom prst="line">
            <a:avLst/>
          </a:prstGeom>
          <a:noFill/>
          <a:ln w="22225">
            <a:solidFill>
              <a:srgbClr val="4A5364"/>
            </a:solidFill>
            <a:prstDash val="solid"/>
            <a:tailEnd type="triangle"/>
          </a:ln>
        </p:spPr>
      </p:sp>
      <p:sp>
        <p:nvSpPr>
          <p:cNvPr id="27" name="Shape 24"/>
          <p:cNvSpPr/>
          <p:nvPr/>
        </p:nvSpPr>
        <p:spPr>
          <a:xfrm>
            <a:off x="6114593" y="1956816"/>
            <a:ext cx="1423416" cy="0"/>
          </a:xfrm>
          <a:prstGeom prst="line">
            <a:avLst/>
          </a:prstGeom>
          <a:noFill/>
          <a:ln w="22225">
            <a:solidFill>
              <a:srgbClr val="4A5364"/>
            </a:solidFill>
            <a:prstDash val="solid"/>
            <a:tailEnd type="triangle"/>
          </a:ln>
        </p:spPr>
      </p:sp>
      <p:sp>
        <p:nvSpPr>
          <p:cNvPr id="28" name="Shape 25"/>
          <p:cNvSpPr/>
          <p:nvPr/>
        </p:nvSpPr>
        <p:spPr>
          <a:xfrm>
            <a:off x="2200961" y="2340864"/>
            <a:ext cx="1203960" cy="512064"/>
          </a:xfrm>
          <a:prstGeom prst="roundRect">
            <a:avLst>
              <a:gd name="adj" fmla="val 14286"/>
            </a:avLst>
          </a:prstGeom>
          <a:solidFill>
            <a:srgbClr val="FFFFFF"/>
          </a:solidFill>
          <a:ln w="15875">
            <a:solidFill>
              <a:srgbClr val="4A5364"/>
            </a:solidFill>
            <a:prstDash val="solid"/>
          </a:ln>
        </p:spPr>
      </p:sp>
      <p:sp>
        <p:nvSpPr>
          <p:cNvPr id="29" name="Text 26"/>
          <p:cNvSpPr txBox="1"/>
          <p:nvPr/>
        </p:nvSpPr>
        <p:spPr>
          <a:xfrm>
            <a:off x="2200961" y="234086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30" name="Shape 27"/>
          <p:cNvSpPr/>
          <p:nvPr/>
        </p:nvSpPr>
        <p:spPr>
          <a:xfrm>
            <a:off x="3542081" y="2340864"/>
            <a:ext cx="1203960" cy="512064"/>
          </a:xfrm>
          <a:prstGeom prst="roundRect">
            <a:avLst>
              <a:gd name="adj" fmla="val 14286"/>
            </a:avLst>
          </a:prstGeom>
          <a:solidFill>
            <a:srgbClr val="FFFFFF"/>
          </a:solidFill>
          <a:ln w="15875">
            <a:solidFill>
              <a:srgbClr val="4A5364"/>
            </a:solidFill>
            <a:prstDash val="solid"/>
          </a:ln>
        </p:spPr>
      </p:sp>
      <p:sp>
        <p:nvSpPr>
          <p:cNvPr id="31" name="Text 28"/>
          <p:cNvSpPr txBox="1"/>
          <p:nvPr/>
        </p:nvSpPr>
        <p:spPr>
          <a:xfrm>
            <a:off x="3542081" y="234086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32" name="Shape 29"/>
          <p:cNvSpPr/>
          <p:nvPr/>
        </p:nvSpPr>
        <p:spPr>
          <a:xfrm>
            <a:off x="4883201" y="2340864"/>
            <a:ext cx="1203960" cy="512064"/>
          </a:xfrm>
          <a:prstGeom prst="roundRect">
            <a:avLst>
              <a:gd name="adj" fmla="val 14286"/>
            </a:avLst>
          </a:prstGeom>
          <a:solidFill>
            <a:srgbClr val="FFFFFF"/>
          </a:solidFill>
          <a:ln w="15875">
            <a:solidFill>
              <a:srgbClr val="4A5364"/>
            </a:solidFill>
            <a:prstDash val="solid"/>
          </a:ln>
        </p:spPr>
      </p:sp>
      <p:sp>
        <p:nvSpPr>
          <p:cNvPr id="33" name="Text 30"/>
          <p:cNvSpPr txBox="1"/>
          <p:nvPr/>
        </p:nvSpPr>
        <p:spPr>
          <a:xfrm>
            <a:off x="4883201" y="2340864"/>
            <a:ext cx="1203960" cy="512064"/>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34" name="Shape 31"/>
          <p:cNvSpPr/>
          <p:nvPr/>
        </p:nvSpPr>
        <p:spPr>
          <a:xfrm>
            <a:off x="3432353" y="2596896"/>
            <a:ext cx="82296" cy="0"/>
          </a:xfrm>
          <a:prstGeom prst="line">
            <a:avLst/>
          </a:prstGeom>
          <a:noFill/>
          <a:ln w="22225">
            <a:solidFill>
              <a:srgbClr val="4A5364"/>
            </a:solidFill>
            <a:prstDash val="solid"/>
            <a:tailEnd type="triangle"/>
          </a:ln>
        </p:spPr>
      </p:sp>
      <p:sp>
        <p:nvSpPr>
          <p:cNvPr id="35" name="Shape 32"/>
          <p:cNvSpPr/>
          <p:nvPr/>
        </p:nvSpPr>
        <p:spPr>
          <a:xfrm>
            <a:off x="4773473" y="2596896"/>
            <a:ext cx="82296" cy="0"/>
          </a:xfrm>
          <a:prstGeom prst="line">
            <a:avLst/>
          </a:prstGeom>
          <a:noFill/>
          <a:ln w="22225">
            <a:solidFill>
              <a:srgbClr val="4A5364"/>
            </a:solidFill>
            <a:prstDash val="solid"/>
            <a:tailEnd type="triangle"/>
          </a:ln>
        </p:spPr>
      </p:sp>
      <p:sp>
        <p:nvSpPr>
          <p:cNvPr id="36" name="Shape 33"/>
          <p:cNvSpPr/>
          <p:nvPr/>
        </p:nvSpPr>
        <p:spPr>
          <a:xfrm>
            <a:off x="6224321" y="2980944"/>
            <a:ext cx="1203960" cy="566928"/>
          </a:xfrm>
          <a:prstGeom prst="roundRect">
            <a:avLst>
              <a:gd name="adj" fmla="val 12903"/>
            </a:avLst>
          </a:prstGeom>
          <a:solidFill>
            <a:srgbClr val="FFFFFF"/>
          </a:solidFill>
          <a:ln w="15875">
            <a:solidFill>
              <a:srgbClr val="4A5364"/>
            </a:solidFill>
            <a:prstDash val="solid"/>
          </a:ln>
        </p:spPr>
      </p:sp>
      <p:sp>
        <p:nvSpPr>
          <p:cNvPr id="37" name="Text 34"/>
          <p:cNvSpPr txBox="1"/>
          <p:nvPr/>
        </p:nvSpPr>
        <p:spPr>
          <a:xfrm>
            <a:off x="622432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④-1 추출 단위</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나누기</a:t>
            </a:r>
            <a:endParaRPr lang="en-US" sz="1400" dirty="0"/>
          </a:p>
        </p:txBody>
      </p:sp>
      <p:sp>
        <p:nvSpPr>
          <p:cNvPr id="38" name="Shape 35"/>
          <p:cNvSpPr/>
          <p:nvPr/>
        </p:nvSpPr>
        <p:spPr>
          <a:xfrm>
            <a:off x="7565441" y="2980944"/>
            <a:ext cx="1203960" cy="566928"/>
          </a:xfrm>
          <a:prstGeom prst="roundRect">
            <a:avLst>
              <a:gd name="adj" fmla="val 12903"/>
            </a:avLst>
          </a:prstGeom>
          <a:solidFill>
            <a:srgbClr val="1E2A5C"/>
          </a:solidFill>
          <a:ln/>
        </p:spPr>
      </p:sp>
      <p:sp>
        <p:nvSpPr>
          <p:cNvPr id="39" name="Text 36"/>
          <p:cNvSpPr txBox="1"/>
          <p:nvPr/>
        </p:nvSpPr>
        <p:spPr>
          <a:xfrm>
            <a:off x="756544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④-2 추출</a:t>
            </a:r>
            <a:endParaRPr lang="en-US" sz="1400" dirty="0"/>
          </a:p>
        </p:txBody>
      </p:sp>
      <p:sp>
        <p:nvSpPr>
          <p:cNvPr id="40" name="Shape 37"/>
          <p:cNvSpPr/>
          <p:nvPr/>
        </p:nvSpPr>
        <p:spPr>
          <a:xfrm>
            <a:off x="8906561" y="2980944"/>
            <a:ext cx="1203960" cy="566928"/>
          </a:xfrm>
          <a:prstGeom prst="roundRect">
            <a:avLst>
              <a:gd name="adj" fmla="val 12903"/>
            </a:avLst>
          </a:prstGeom>
          <a:solidFill>
            <a:srgbClr val="1E2A5C"/>
          </a:solidFill>
          <a:ln/>
        </p:spPr>
      </p:sp>
      <p:sp>
        <p:nvSpPr>
          <p:cNvPr id="41" name="Text 38"/>
          <p:cNvSpPr txBox="1"/>
          <p:nvPr/>
        </p:nvSpPr>
        <p:spPr>
          <a:xfrm>
            <a:off x="890656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42" name="Shape 39"/>
          <p:cNvSpPr/>
          <p:nvPr/>
        </p:nvSpPr>
        <p:spPr>
          <a:xfrm>
            <a:off x="10247681" y="2980944"/>
            <a:ext cx="1203960" cy="566928"/>
          </a:xfrm>
          <a:prstGeom prst="roundRect">
            <a:avLst>
              <a:gd name="adj" fmla="val 12903"/>
            </a:avLst>
          </a:prstGeom>
          <a:solidFill>
            <a:srgbClr val="FFFFFF"/>
          </a:solidFill>
          <a:ln w="15875">
            <a:solidFill>
              <a:srgbClr val="4A5364"/>
            </a:solidFill>
            <a:prstDash val="solid"/>
          </a:ln>
        </p:spPr>
      </p:sp>
      <p:sp>
        <p:nvSpPr>
          <p:cNvPr id="43" name="Text 40"/>
          <p:cNvSpPr txBox="1"/>
          <p:nvPr/>
        </p:nvSpPr>
        <p:spPr>
          <a:xfrm>
            <a:off x="1024768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44" name="Shape 41"/>
          <p:cNvSpPr/>
          <p:nvPr/>
        </p:nvSpPr>
        <p:spPr>
          <a:xfrm>
            <a:off x="11588801" y="2980944"/>
            <a:ext cx="1203960" cy="566928"/>
          </a:xfrm>
          <a:prstGeom prst="roundRect">
            <a:avLst>
              <a:gd name="adj" fmla="val 12903"/>
            </a:avLst>
          </a:prstGeom>
          <a:solidFill>
            <a:srgbClr val="FFFFFF"/>
          </a:solidFill>
          <a:ln w="15875">
            <a:solidFill>
              <a:srgbClr val="4A5364"/>
            </a:solidFill>
            <a:prstDash val="solid"/>
          </a:ln>
        </p:spPr>
      </p:sp>
      <p:sp>
        <p:nvSpPr>
          <p:cNvPr id="45" name="Text 42"/>
          <p:cNvSpPr txBox="1"/>
          <p:nvPr/>
        </p:nvSpPr>
        <p:spPr>
          <a:xfrm>
            <a:off x="1158880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6" name="Shape 43"/>
          <p:cNvSpPr/>
          <p:nvPr/>
        </p:nvSpPr>
        <p:spPr>
          <a:xfrm>
            <a:off x="12929921" y="2980944"/>
            <a:ext cx="1203960" cy="566928"/>
          </a:xfrm>
          <a:prstGeom prst="roundRect">
            <a:avLst>
              <a:gd name="adj" fmla="val 12903"/>
            </a:avLst>
          </a:prstGeom>
          <a:solidFill>
            <a:srgbClr val="FFFFFF"/>
          </a:solidFill>
          <a:ln w="15875">
            <a:solidFill>
              <a:srgbClr val="4A5364"/>
            </a:solidFill>
            <a:prstDash val="solid"/>
          </a:ln>
        </p:spPr>
      </p:sp>
      <p:sp>
        <p:nvSpPr>
          <p:cNvPr id="47" name="Text 44"/>
          <p:cNvSpPr txBox="1"/>
          <p:nvPr/>
        </p:nvSpPr>
        <p:spPr>
          <a:xfrm>
            <a:off x="12929921" y="2980944"/>
            <a:ext cx="1203960" cy="566928"/>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8" name="Shape 45"/>
          <p:cNvSpPr/>
          <p:nvPr/>
        </p:nvSpPr>
        <p:spPr>
          <a:xfrm>
            <a:off x="7455713" y="3264408"/>
            <a:ext cx="82296" cy="0"/>
          </a:xfrm>
          <a:prstGeom prst="line">
            <a:avLst/>
          </a:prstGeom>
          <a:noFill/>
          <a:ln w="22225">
            <a:solidFill>
              <a:srgbClr val="4A5364"/>
            </a:solidFill>
            <a:prstDash val="solid"/>
            <a:tailEnd type="triangle"/>
          </a:ln>
        </p:spPr>
      </p:sp>
      <p:sp>
        <p:nvSpPr>
          <p:cNvPr id="49" name="Shape 46"/>
          <p:cNvSpPr/>
          <p:nvPr/>
        </p:nvSpPr>
        <p:spPr>
          <a:xfrm>
            <a:off x="8796833" y="3264408"/>
            <a:ext cx="82296" cy="0"/>
          </a:xfrm>
          <a:prstGeom prst="line">
            <a:avLst/>
          </a:prstGeom>
          <a:noFill/>
          <a:ln w="22225">
            <a:solidFill>
              <a:srgbClr val="4A5364"/>
            </a:solidFill>
            <a:prstDash val="solid"/>
            <a:tailEnd type="triangle"/>
          </a:ln>
        </p:spPr>
      </p:sp>
      <p:sp>
        <p:nvSpPr>
          <p:cNvPr id="50" name="Shape 47"/>
          <p:cNvSpPr/>
          <p:nvPr/>
        </p:nvSpPr>
        <p:spPr>
          <a:xfrm>
            <a:off x="10137953" y="3264408"/>
            <a:ext cx="82296" cy="0"/>
          </a:xfrm>
          <a:prstGeom prst="line">
            <a:avLst/>
          </a:prstGeom>
          <a:noFill/>
          <a:ln w="22225">
            <a:solidFill>
              <a:srgbClr val="4A5364"/>
            </a:solidFill>
            <a:prstDash val="solid"/>
            <a:tailEnd type="triangle"/>
          </a:ln>
        </p:spPr>
      </p:sp>
      <p:sp>
        <p:nvSpPr>
          <p:cNvPr id="51" name="Shape 48"/>
          <p:cNvSpPr/>
          <p:nvPr/>
        </p:nvSpPr>
        <p:spPr>
          <a:xfrm>
            <a:off x="11479073" y="3264408"/>
            <a:ext cx="82296" cy="0"/>
          </a:xfrm>
          <a:prstGeom prst="line">
            <a:avLst/>
          </a:prstGeom>
          <a:noFill/>
          <a:ln w="22225">
            <a:solidFill>
              <a:srgbClr val="4A5364"/>
            </a:solidFill>
            <a:prstDash val="solid"/>
            <a:tailEnd type="triangle"/>
          </a:ln>
        </p:spPr>
      </p:sp>
      <p:sp>
        <p:nvSpPr>
          <p:cNvPr id="52" name="Shape 49"/>
          <p:cNvSpPr/>
          <p:nvPr/>
        </p:nvSpPr>
        <p:spPr>
          <a:xfrm>
            <a:off x="12820193" y="3264408"/>
            <a:ext cx="82296" cy="0"/>
          </a:xfrm>
          <a:prstGeom prst="line">
            <a:avLst/>
          </a:prstGeom>
          <a:noFill/>
          <a:ln w="22225">
            <a:solidFill>
              <a:srgbClr val="4A5364"/>
            </a:solidFill>
            <a:prstDash val="solid"/>
            <a:tailEnd type="triangle"/>
          </a:ln>
        </p:spPr>
      </p:sp>
      <p:sp>
        <p:nvSpPr>
          <p:cNvPr id="53" name="Shape 50"/>
          <p:cNvSpPr/>
          <p:nvPr/>
        </p:nvSpPr>
        <p:spPr>
          <a:xfrm>
            <a:off x="6224321" y="3675888"/>
            <a:ext cx="1203960" cy="566928"/>
          </a:xfrm>
          <a:prstGeom prst="roundRect">
            <a:avLst>
              <a:gd name="adj" fmla="val 12903"/>
            </a:avLst>
          </a:prstGeom>
          <a:solidFill>
            <a:srgbClr val="2E74C6"/>
          </a:solidFill>
          <a:ln/>
        </p:spPr>
      </p:sp>
      <p:sp>
        <p:nvSpPr>
          <p:cNvPr id="54" name="Text 51"/>
          <p:cNvSpPr txBox="1"/>
          <p:nvPr/>
        </p:nvSpPr>
        <p:spPr>
          <a:xfrm>
            <a:off x="6224321" y="3675888"/>
            <a:ext cx="120396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청크 임베딩</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(바뀐 것만)</a:t>
            </a:r>
            <a:endParaRPr lang="en-US" sz="1400" dirty="0"/>
          </a:p>
        </p:txBody>
      </p:sp>
      <p:sp>
        <p:nvSpPr>
          <p:cNvPr id="55" name="Shape 52"/>
          <p:cNvSpPr/>
          <p:nvPr/>
        </p:nvSpPr>
        <p:spPr>
          <a:xfrm>
            <a:off x="7565441" y="3675888"/>
            <a:ext cx="2545080" cy="566928"/>
          </a:xfrm>
          <a:prstGeom prst="roundRect">
            <a:avLst>
              <a:gd name="adj" fmla="val 12903"/>
            </a:avLst>
          </a:prstGeom>
          <a:solidFill>
            <a:srgbClr val="2E74C6"/>
          </a:solidFill>
          <a:ln/>
        </p:spPr>
      </p:sp>
      <p:sp>
        <p:nvSpPr>
          <p:cNvPr id="56" name="Text 53"/>
          <p:cNvSpPr txBox="1"/>
          <p:nvPr/>
        </p:nvSpPr>
        <p:spPr>
          <a:xfrm>
            <a:off x="7565441" y="3675888"/>
            <a:ext cx="254508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키워드 분석</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(nori 또는 Kiwi 낱말)</a:t>
            </a:r>
            <a:endParaRPr lang="en-US" sz="1400" dirty="0"/>
          </a:p>
        </p:txBody>
      </p:sp>
      <p:sp>
        <p:nvSpPr>
          <p:cNvPr id="57" name="Shape 54"/>
          <p:cNvSpPr/>
          <p:nvPr/>
        </p:nvSpPr>
        <p:spPr>
          <a:xfrm>
            <a:off x="10247681" y="3675888"/>
            <a:ext cx="2545080" cy="566928"/>
          </a:xfrm>
          <a:prstGeom prst="roundRect">
            <a:avLst>
              <a:gd name="adj" fmla="val 12903"/>
            </a:avLst>
          </a:prstGeom>
          <a:solidFill>
            <a:srgbClr val="2E74C6"/>
          </a:solidFill>
          <a:ln/>
        </p:spPr>
      </p:sp>
      <p:sp>
        <p:nvSpPr>
          <p:cNvPr id="58" name="Text 55"/>
          <p:cNvSpPr txBox="1"/>
          <p:nvPr/>
        </p:nvSpPr>
        <p:spPr>
          <a:xfrm>
            <a:off x="10247681" y="3675888"/>
            <a:ext cx="254508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검색 엔진에 쓰기</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(문서 단위로 넣고 지움)</a:t>
            </a:r>
            <a:endParaRPr lang="en-US" sz="1400" dirty="0"/>
          </a:p>
        </p:txBody>
      </p:sp>
      <p:sp>
        <p:nvSpPr>
          <p:cNvPr id="59" name="Shape 56"/>
          <p:cNvSpPr/>
          <p:nvPr/>
        </p:nvSpPr>
        <p:spPr>
          <a:xfrm>
            <a:off x="12929921" y="3675888"/>
            <a:ext cx="1203960" cy="566928"/>
          </a:xfrm>
          <a:prstGeom prst="roundRect">
            <a:avLst>
              <a:gd name="adj" fmla="val 12903"/>
            </a:avLst>
          </a:prstGeom>
          <a:solidFill>
            <a:srgbClr val="2E74C6"/>
          </a:solidFill>
          <a:ln/>
        </p:spPr>
      </p:sp>
      <p:sp>
        <p:nvSpPr>
          <p:cNvPr id="60" name="Text 57"/>
          <p:cNvSpPr txBox="1"/>
          <p:nvPr/>
        </p:nvSpPr>
        <p:spPr>
          <a:xfrm>
            <a:off x="12929921" y="3675888"/>
            <a:ext cx="1203960" cy="56692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별칭 전환</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(세대)</a:t>
            </a:r>
            <a:endParaRPr lang="en-US" sz="1400" dirty="0"/>
          </a:p>
        </p:txBody>
      </p:sp>
      <p:sp>
        <p:nvSpPr>
          <p:cNvPr id="61" name="Shape 58"/>
          <p:cNvSpPr/>
          <p:nvPr/>
        </p:nvSpPr>
        <p:spPr>
          <a:xfrm>
            <a:off x="7455713" y="3959352"/>
            <a:ext cx="82296" cy="0"/>
          </a:xfrm>
          <a:prstGeom prst="line">
            <a:avLst/>
          </a:prstGeom>
          <a:noFill/>
          <a:ln w="22225">
            <a:solidFill>
              <a:srgbClr val="4A5364"/>
            </a:solidFill>
            <a:prstDash val="solid"/>
            <a:tailEnd type="triangle"/>
          </a:ln>
        </p:spPr>
      </p:sp>
      <p:sp>
        <p:nvSpPr>
          <p:cNvPr id="62" name="Shape 59"/>
          <p:cNvSpPr/>
          <p:nvPr/>
        </p:nvSpPr>
        <p:spPr>
          <a:xfrm>
            <a:off x="10137953" y="3959352"/>
            <a:ext cx="82296" cy="0"/>
          </a:xfrm>
          <a:prstGeom prst="line">
            <a:avLst/>
          </a:prstGeom>
          <a:noFill/>
          <a:ln w="22225">
            <a:solidFill>
              <a:srgbClr val="4A5364"/>
            </a:solidFill>
            <a:prstDash val="solid"/>
            <a:tailEnd type="triangle"/>
          </a:ln>
        </p:spPr>
      </p:sp>
      <p:sp>
        <p:nvSpPr>
          <p:cNvPr id="63" name="Shape 60"/>
          <p:cNvSpPr/>
          <p:nvPr/>
        </p:nvSpPr>
        <p:spPr>
          <a:xfrm>
            <a:off x="12820193" y="3959352"/>
            <a:ext cx="82296" cy="0"/>
          </a:xfrm>
          <a:prstGeom prst="line">
            <a:avLst/>
          </a:prstGeom>
          <a:noFill/>
          <a:ln w="22225">
            <a:solidFill>
              <a:srgbClr val="4A5364"/>
            </a:solidFill>
            <a:prstDash val="solid"/>
            <a:tailEnd type="triangle"/>
          </a:ln>
        </p:spPr>
      </p:sp>
      <p:sp>
        <p:nvSpPr>
          <p:cNvPr id="64" name="Shape 61"/>
          <p:cNvSpPr/>
          <p:nvPr/>
        </p:nvSpPr>
        <p:spPr>
          <a:xfrm>
            <a:off x="8167421" y="2231136"/>
            <a:ext cx="0" cy="731520"/>
          </a:xfrm>
          <a:prstGeom prst="line">
            <a:avLst/>
          </a:prstGeom>
          <a:noFill/>
          <a:ln w="19050">
            <a:solidFill>
              <a:srgbClr val="2E74C6"/>
            </a:solidFill>
            <a:prstDash val="dash"/>
            <a:tailEnd type="triangle"/>
          </a:ln>
        </p:spPr>
      </p:sp>
      <p:sp>
        <p:nvSpPr>
          <p:cNvPr id="65" name="Shape 62"/>
          <p:cNvSpPr/>
          <p:nvPr/>
        </p:nvSpPr>
        <p:spPr>
          <a:xfrm>
            <a:off x="9508541" y="2231136"/>
            <a:ext cx="0" cy="731520"/>
          </a:xfrm>
          <a:prstGeom prst="line">
            <a:avLst/>
          </a:prstGeom>
          <a:noFill/>
          <a:ln w="19050">
            <a:solidFill>
              <a:srgbClr val="2E74C6"/>
            </a:solidFill>
            <a:prstDash val="dash"/>
            <a:tailEnd type="triangle"/>
          </a:ln>
        </p:spPr>
      </p:sp>
      <p:sp>
        <p:nvSpPr>
          <p:cNvPr id="66" name="Text 63"/>
          <p:cNvSpPr txBox="1"/>
          <p:nvPr/>
        </p:nvSpPr>
        <p:spPr>
          <a:xfrm>
            <a:off x="8222285" y="2450592"/>
            <a:ext cx="82296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67" name="Text 64"/>
          <p:cNvSpPr txBox="1"/>
          <p:nvPr/>
        </p:nvSpPr>
        <p:spPr>
          <a:xfrm>
            <a:off x="10339121" y="1700784"/>
            <a:ext cx="3794760" cy="512064"/>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algn="l" indent="0" marL="0">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68" name="Text 65"/>
          <p:cNvSpPr txBox="1"/>
          <p:nvPr/>
        </p:nvSpPr>
        <p:spPr>
          <a:xfrm>
            <a:off x="10339121" y="2340864"/>
            <a:ext cx="3794760" cy="51206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청크는 검색용 크기 그대로</a:t>
            </a:r>
            <a:endParaRPr lang="en-US" sz="1400" dirty="0"/>
          </a:p>
          <a:p>
            <a:pPr algn="l" indent="0" marL="0">
              <a:buNone/>
            </a:pPr>
            <a:r>
              <a:rPr lang="en-US" sz="1400" dirty="0">
                <a:solidFill>
                  <a:srgbClr val="4A5364"/>
                </a:solidFill>
                <a:latin typeface="Pretendard" pitchFamily="34" charset="0"/>
                <a:ea typeface="Pretendard" pitchFamily="34" charset="-122"/>
                <a:cs typeface="Pretendard" pitchFamily="34" charset="-120"/>
              </a:rPr>
              <a:t>두 갈래가 함께 씀</a:t>
            </a:r>
            <a:endParaRPr lang="en-US" sz="1400" dirty="0"/>
          </a:p>
        </p:txBody>
      </p:sp>
      <p:sp>
        <p:nvSpPr>
          <p:cNvPr id="69" name="Shape 66"/>
          <p:cNvSpPr/>
          <p:nvPr/>
        </p:nvSpPr>
        <p:spPr>
          <a:xfrm>
            <a:off x="6114593" y="2596896"/>
            <a:ext cx="22860" cy="0"/>
          </a:xfrm>
          <a:prstGeom prst="line">
            <a:avLst/>
          </a:prstGeom>
          <a:noFill/>
          <a:ln w="22225">
            <a:solidFill>
              <a:srgbClr val="4A5364"/>
            </a:solidFill>
            <a:prstDash val="solid"/>
          </a:ln>
        </p:spPr>
      </p:sp>
      <p:sp>
        <p:nvSpPr>
          <p:cNvPr id="70" name="Shape 67"/>
          <p:cNvSpPr/>
          <p:nvPr/>
        </p:nvSpPr>
        <p:spPr>
          <a:xfrm>
            <a:off x="6137453" y="2596896"/>
            <a:ext cx="0" cy="1362456"/>
          </a:xfrm>
          <a:prstGeom prst="line">
            <a:avLst/>
          </a:prstGeom>
          <a:noFill/>
          <a:ln w="22225">
            <a:solidFill>
              <a:srgbClr val="4A5364"/>
            </a:solidFill>
            <a:prstDash val="solid"/>
            <a:tailEnd type="none"/>
          </a:ln>
        </p:spPr>
      </p:sp>
      <p:sp>
        <p:nvSpPr>
          <p:cNvPr id="71" name="Shape 68"/>
          <p:cNvSpPr/>
          <p:nvPr/>
        </p:nvSpPr>
        <p:spPr>
          <a:xfrm>
            <a:off x="6137453" y="3264408"/>
            <a:ext cx="59436" cy="0"/>
          </a:xfrm>
          <a:prstGeom prst="line">
            <a:avLst/>
          </a:prstGeom>
          <a:noFill/>
          <a:ln w="22225">
            <a:solidFill>
              <a:srgbClr val="4A5364"/>
            </a:solidFill>
            <a:prstDash val="solid"/>
            <a:tailEnd type="triangle"/>
          </a:ln>
        </p:spPr>
      </p:sp>
      <p:sp>
        <p:nvSpPr>
          <p:cNvPr id="72" name="Shape 69"/>
          <p:cNvSpPr/>
          <p:nvPr/>
        </p:nvSpPr>
        <p:spPr>
          <a:xfrm>
            <a:off x="6137453" y="3959352"/>
            <a:ext cx="59436" cy="0"/>
          </a:xfrm>
          <a:prstGeom prst="line">
            <a:avLst/>
          </a:prstGeom>
          <a:noFill/>
          <a:ln w="22225">
            <a:solidFill>
              <a:srgbClr val="4A5364"/>
            </a:solidFill>
            <a:prstDash val="solid"/>
            <a:tailEnd type="triangle"/>
          </a:ln>
        </p:spPr>
      </p:sp>
      <p:sp>
        <p:nvSpPr>
          <p:cNvPr id="73" name="Shape 70"/>
          <p:cNvSpPr/>
          <p:nvPr/>
        </p:nvSpPr>
        <p:spPr>
          <a:xfrm>
            <a:off x="509321" y="4498848"/>
            <a:ext cx="3794760" cy="365760"/>
          </a:xfrm>
          <a:prstGeom prst="roundRect">
            <a:avLst>
              <a:gd name="adj" fmla="val 12500"/>
            </a:avLst>
          </a:prstGeom>
          <a:solidFill>
            <a:srgbClr val="1E2A5C"/>
          </a:solidFill>
          <a:ln/>
        </p:spPr>
      </p:sp>
      <p:sp>
        <p:nvSpPr>
          <p:cNvPr id="74" name="Text 71"/>
          <p:cNvSpPr txBox="1"/>
          <p:nvPr/>
        </p:nvSpPr>
        <p:spPr>
          <a:xfrm>
            <a:off x="509321" y="4498848"/>
            <a:ext cx="379476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세대 전환을 함께</a:t>
            </a:r>
            <a:endParaRPr lang="en-US" sz="1600" dirty="0"/>
          </a:p>
        </p:txBody>
      </p:sp>
      <p:sp>
        <p:nvSpPr>
          <p:cNvPr id="75" name="Shape 72"/>
          <p:cNvSpPr/>
          <p:nvPr/>
        </p:nvSpPr>
        <p:spPr>
          <a:xfrm>
            <a:off x="509321" y="4937760"/>
            <a:ext cx="3794760" cy="1572768"/>
          </a:xfrm>
          <a:prstGeom prst="roundRect">
            <a:avLst>
              <a:gd name="adj" fmla="val 4651"/>
            </a:avLst>
          </a:prstGeom>
          <a:solidFill>
            <a:srgbClr val="FFFFFF"/>
          </a:solidFill>
          <a:ln w="12700">
            <a:solidFill>
              <a:srgbClr val="D9E0EC"/>
            </a:solidFill>
            <a:prstDash val="solid"/>
          </a:ln>
        </p:spPr>
      </p:sp>
      <p:sp>
        <p:nvSpPr>
          <p:cNvPr id="76" name="Text 73"/>
          <p:cNvSpPr txBox="1"/>
          <p:nvPr/>
        </p:nvSpPr>
        <p:spPr>
          <a:xfrm>
            <a:off x="673913" y="5065776"/>
            <a:ext cx="3520440" cy="1353312"/>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새 세대 인덱스를 다 만든 뒤 검색 엔진 별칭과 Neo4j 세대를 같은 순간에 바꿈</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한쪽만 바뀌면 검색 결과의 chunk_id가 그래프에 없게 됨</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증분 색인은 바뀐 문서만 두 곳에 쓰고 맞춤</a:t>
            </a:r>
            <a:endParaRPr lang="en-US" sz="1400" dirty="0"/>
          </a:p>
        </p:txBody>
      </p:sp>
      <p:sp>
        <p:nvSpPr>
          <p:cNvPr id="77" name="Shape 74"/>
          <p:cNvSpPr/>
          <p:nvPr/>
        </p:nvSpPr>
        <p:spPr>
          <a:xfrm>
            <a:off x="4532681" y="4498848"/>
            <a:ext cx="3794760" cy="365760"/>
          </a:xfrm>
          <a:prstGeom prst="roundRect">
            <a:avLst>
              <a:gd name="adj" fmla="val 12500"/>
            </a:avLst>
          </a:prstGeom>
          <a:solidFill>
            <a:srgbClr val="1E2A5C"/>
          </a:solidFill>
          <a:ln/>
        </p:spPr>
      </p:sp>
      <p:sp>
        <p:nvSpPr>
          <p:cNvPr id="78" name="Text 75"/>
          <p:cNvSpPr txBox="1"/>
          <p:nvPr/>
        </p:nvSpPr>
        <p:spPr>
          <a:xfrm>
            <a:off x="4532681" y="4498848"/>
            <a:ext cx="379476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검색 때 그래프로 건너감</a:t>
            </a:r>
            <a:endParaRPr lang="en-US" sz="1600" dirty="0"/>
          </a:p>
        </p:txBody>
      </p:sp>
      <p:sp>
        <p:nvSpPr>
          <p:cNvPr id="79" name="Shape 76"/>
          <p:cNvSpPr/>
          <p:nvPr/>
        </p:nvSpPr>
        <p:spPr>
          <a:xfrm>
            <a:off x="4532681" y="4937760"/>
            <a:ext cx="3794760" cy="1572768"/>
          </a:xfrm>
          <a:prstGeom prst="roundRect">
            <a:avLst>
              <a:gd name="adj" fmla="val 4651"/>
            </a:avLst>
          </a:prstGeom>
          <a:solidFill>
            <a:srgbClr val="FFFFFF"/>
          </a:solidFill>
          <a:ln w="12700">
            <a:solidFill>
              <a:srgbClr val="D9E0EC"/>
            </a:solidFill>
            <a:prstDash val="solid"/>
          </a:ln>
        </p:spPr>
      </p:sp>
      <p:sp>
        <p:nvSpPr>
          <p:cNvPr id="80" name="Text 77"/>
          <p:cNvSpPr txBox="1"/>
          <p:nvPr/>
        </p:nvSpPr>
        <p:spPr>
          <a:xfrm>
            <a:off x="4697273" y="5065776"/>
            <a:ext cx="3520440" cy="1353312"/>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검색 엔진이 하이브리드로 청크를 찾음(BM25와 벡터, 회원 필터)</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돌려받은 chunk_id로 Neo4j 추출 단위 노드의 parent_chunk_ids를 찾음</a:t>
            </a:r>
            <a:endParaRPr lang="en-US" sz="1400" dirty="0"/>
          </a:p>
          <a:p>
            <a:pPr marL="152400" indent="-1524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관계를 따라 질문에 필요한 근거 노드를 얻음</a:t>
            </a:r>
            <a:endParaRPr lang="en-US" sz="1400" dirty="0"/>
          </a:p>
        </p:txBody>
      </p:sp>
      <p:sp>
        <p:nvSpPr>
          <p:cNvPr id="81" name="Shape 78"/>
          <p:cNvSpPr/>
          <p:nvPr/>
        </p:nvSpPr>
        <p:spPr>
          <a:xfrm>
            <a:off x="8556041" y="4498848"/>
            <a:ext cx="5577840" cy="365760"/>
          </a:xfrm>
          <a:prstGeom prst="roundRect">
            <a:avLst>
              <a:gd name="adj" fmla="val 12500"/>
            </a:avLst>
          </a:prstGeom>
          <a:solidFill>
            <a:srgbClr val="404155"/>
          </a:solidFill>
          <a:ln/>
        </p:spPr>
      </p:sp>
      <p:sp>
        <p:nvSpPr>
          <p:cNvPr id="82" name="Text 79"/>
          <p:cNvSpPr txBox="1"/>
          <p:nvPr/>
        </p:nvSpPr>
        <p:spPr>
          <a:xfrm>
            <a:off x="8556041" y="4498848"/>
            <a:ext cx="55778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검색 엔진 라이선스(2026-10 기준, 둘 다 nori 지원)</a:t>
            </a:r>
            <a:endParaRPr lang="en-US" sz="1600" dirty="0"/>
          </a:p>
        </p:txBody>
      </p:sp>
      <p:sp>
        <p:nvSpPr>
          <p:cNvPr id="83" name="Shape 80"/>
          <p:cNvSpPr/>
          <p:nvPr/>
        </p:nvSpPr>
        <p:spPr>
          <a:xfrm>
            <a:off x="8556041" y="4937760"/>
            <a:ext cx="5577840" cy="731520"/>
          </a:xfrm>
          <a:prstGeom prst="roundRect">
            <a:avLst>
              <a:gd name="adj" fmla="val 7500"/>
            </a:avLst>
          </a:prstGeom>
          <a:solidFill>
            <a:srgbClr val="FFFFFF"/>
          </a:solidFill>
          <a:ln w="12700">
            <a:solidFill>
              <a:srgbClr val="D9E0EC"/>
            </a:solidFill>
            <a:prstDash val="solid"/>
          </a:ln>
        </p:spPr>
      </p:sp>
      <p:sp>
        <p:nvSpPr>
          <p:cNvPr id="84" name="Shape 81"/>
          <p:cNvSpPr/>
          <p:nvPr/>
        </p:nvSpPr>
        <p:spPr>
          <a:xfrm>
            <a:off x="8629193" y="5138928"/>
            <a:ext cx="1417320" cy="329184"/>
          </a:xfrm>
          <a:prstGeom prst="roundRect">
            <a:avLst>
              <a:gd name="adj" fmla="val 13889"/>
            </a:avLst>
          </a:prstGeom>
          <a:solidFill>
            <a:srgbClr val="1E2A5C"/>
          </a:solidFill>
          <a:ln/>
        </p:spPr>
      </p:sp>
      <p:sp>
        <p:nvSpPr>
          <p:cNvPr id="85" name="Text 82"/>
          <p:cNvSpPr txBox="1"/>
          <p:nvPr/>
        </p:nvSpPr>
        <p:spPr>
          <a:xfrm>
            <a:off x="8629193" y="5138928"/>
            <a:ext cx="1417320" cy="329184"/>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Elasticsearch</a:t>
            </a:r>
            <a:endParaRPr lang="en-US" sz="1400" dirty="0"/>
          </a:p>
        </p:txBody>
      </p:sp>
      <p:sp>
        <p:nvSpPr>
          <p:cNvPr id="86" name="Text 83"/>
          <p:cNvSpPr txBox="1"/>
          <p:nvPr/>
        </p:nvSpPr>
        <p:spPr>
          <a:xfrm>
            <a:off x="10128809" y="4937760"/>
            <a:ext cx="393192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AGPL v3, SSPL, ELv2 중 선택</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2024-08 AGPL 추가로 다시 오픈소스</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AGPL로 고쳐서 서비스하면 소스 공개</a:t>
            </a:r>
            <a:endParaRPr lang="en-US" sz="1400" dirty="0"/>
          </a:p>
        </p:txBody>
      </p:sp>
      <p:sp>
        <p:nvSpPr>
          <p:cNvPr id="87" name="Shape 84"/>
          <p:cNvSpPr/>
          <p:nvPr/>
        </p:nvSpPr>
        <p:spPr>
          <a:xfrm>
            <a:off x="8556041" y="5724144"/>
            <a:ext cx="5577840" cy="731520"/>
          </a:xfrm>
          <a:prstGeom prst="roundRect">
            <a:avLst>
              <a:gd name="adj" fmla="val 7500"/>
            </a:avLst>
          </a:prstGeom>
          <a:solidFill>
            <a:srgbClr val="FFFFFF"/>
          </a:solidFill>
          <a:ln w="12700">
            <a:solidFill>
              <a:srgbClr val="D9E0EC"/>
            </a:solidFill>
            <a:prstDash val="solid"/>
          </a:ln>
        </p:spPr>
      </p:sp>
      <p:sp>
        <p:nvSpPr>
          <p:cNvPr id="88" name="Shape 85"/>
          <p:cNvSpPr/>
          <p:nvPr/>
        </p:nvSpPr>
        <p:spPr>
          <a:xfrm>
            <a:off x="8629193" y="5925312"/>
            <a:ext cx="1417320" cy="329184"/>
          </a:xfrm>
          <a:prstGeom prst="roundRect">
            <a:avLst>
              <a:gd name="adj" fmla="val 13889"/>
            </a:avLst>
          </a:prstGeom>
          <a:solidFill>
            <a:srgbClr val="1E2A5C"/>
          </a:solidFill>
          <a:ln/>
        </p:spPr>
      </p:sp>
      <p:sp>
        <p:nvSpPr>
          <p:cNvPr id="89" name="Text 86"/>
          <p:cNvSpPr txBox="1"/>
          <p:nvPr/>
        </p:nvSpPr>
        <p:spPr>
          <a:xfrm>
            <a:off x="8629193" y="5925312"/>
            <a:ext cx="1417320" cy="329184"/>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OpenSearch</a:t>
            </a:r>
            <a:endParaRPr lang="en-US" sz="1400" dirty="0"/>
          </a:p>
        </p:txBody>
      </p:sp>
      <p:sp>
        <p:nvSpPr>
          <p:cNvPr id="90" name="Text 87"/>
          <p:cNvSpPr txBox="1"/>
          <p:nvPr/>
        </p:nvSpPr>
        <p:spPr>
          <a:xfrm>
            <a:off x="10128809" y="5724144"/>
            <a:ext cx="393192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Apache 2.0(7.10.2에서 갈라짐)</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2024-09부터 리눅스 재단 산하 재단 관리</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고쳐 써도 소스 공개 의무 없음</a:t>
            </a:r>
            <a:endParaRPr lang="en-US" sz="1400" dirty="0"/>
          </a:p>
        </p:txBody>
      </p:sp>
      <p:sp>
        <p:nvSpPr>
          <p:cNvPr id="91" name="Shape 88"/>
          <p:cNvSpPr/>
          <p:nvPr/>
        </p:nvSpPr>
        <p:spPr>
          <a:xfrm>
            <a:off x="509321" y="6601968"/>
            <a:ext cx="13624560" cy="658368"/>
          </a:xfrm>
          <a:prstGeom prst="roundRect">
            <a:avLst>
              <a:gd name="adj" fmla="val 8333"/>
            </a:avLst>
          </a:prstGeom>
          <a:solidFill>
            <a:srgbClr val="F5F8FC"/>
          </a:solidFill>
          <a:ln/>
        </p:spPr>
      </p:sp>
      <p:sp>
        <p:nvSpPr>
          <p:cNvPr id="92" name="Text 89"/>
          <p:cNvSpPr txBox="1"/>
          <p:nvPr/>
        </p:nvSpPr>
        <p:spPr>
          <a:xfrm>
            <a:off x="619049" y="6638544"/>
            <a:ext cx="2331720" cy="58521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추출 단위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LLM에 한 번에 넣는 글 조각</a:t>
            </a:r>
            <a:endParaRPr lang="en-US" sz="1400" dirty="0"/>
          </a:p>
        </p:txBody>
      </p:sp>
      <p:sp>
        <p:nvSpPr>
          <p:cNvPr id="93" name="Shape 90"/>
          <p:cNvSpPr/>
          <p:nvPr/>
        </p:nvSpPr>
        <p:spPr>
          <a:xfrm>
            <a:off x="3023921" y="6729984"/>
            <a:ext cx="1874520" cy="402336"/>
          </a:xfrm>
          <a:prstGeom prst="roundRect">
            <a:avLst>
              <a:gd name="adj" fmla="val 11364"/>
            </a:avLst>
          </a:prstGeom>
          <a:solidFill>
            <a:srgbClr val="FFFFFF"/>
          </a:solidFill>
          <a:ln w="15875">
            <a:solidFill>
              <a:srgbClr val="4A5364"/>
            </a:solidFill>
            <a:prstDash val="solid"/>
          </a:ln>
        </p:spPr>
      </p:sp>
      <p:sp>
        <p:nvSpPr>
          <p:cNvPr id="94" name="Text 91"/>
          <p:cNvSpPr txBox="1"/>
          <p:nvPr/>
        </p:nvSpPr>
        <p:spPr>
          <a:xfrm>
            <a:off x="3023921" y="6729984"/>
            <a:ext cx="1874520" cy="402336"/>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예 1) 약관 청크 A</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조항 3개가 함께 듦</a:t>
            </a:r>
            <a:endParaRPr lang="en-US" sz="1400" dirty="0"/>
          </a:p>
        </p:txBody>
      </p:sp>
      <p:sp>
        <p:nvSpPr>
          <p:cNvPr id="95" name="Shape 92"/>
          <p:cNvSpPr/>
          <p:nvPr/>
        </p:nvSpPr>
        <p:spPr>
          <a:xfrm>
            <a:off x="4925873" y="6931152"/>
            <a:ext cx="201168" cy="0"/>
          </a:xfrm>
          <a:prstGeom prst="line">
            <a:avLst/>
          </a:prstGeom>
          <a:noFill/>
          <a:ln w="22225">
            <a:solidFill>
              <a:srgbClr val="4A5364"/>
            </a:solidFill>
            <a:prstDash val="solid"/>
            <a:tailEnd type="triangle"/>
          </a:ln>
        </p:spPr>
      </p:sp>
      <p:sp>
        <p:nvSpPr>
          <p:cNvPr id="96" name="Shape 93"/>
          <p:cNvSpPr/>
          <p:nvPr/>
        </p:nvSpPr>
        <p:spPr>
          <a:xfrm>
            <a:off x="5154473" y="6729984"/>
            <a:ext cx="914400" cy="402336"/>
          </a:xfrm>
          <a:prstGeom prst="roundRect">
            <a:avLst>
              <a:gd name="adj" fmla="val 11364"/>
            </a:avLst>
          </a:prstGeom>
          <a:solidFill>
            <a:srgbClr val="EEF3FA"/>
          </a:solidFill>
          <a:ln w="15875">
            <a:solidFill>
              <a:srgbClr val="2E74C6"/>
            </a:solidFill>
            <a:prstDash val="solid"/>
          </a:ln>
        </p:spPr>
      </p:sp>
      <p:sp>
        <p:nvSpPr>
          <p:cNvPr id="97" name="Text 94"/>
          <p:cNvSpPr txBox="1"/>
          <p:nvPr/>
        </p:nvSpPr>
        <p:spPr>
          <a:xfrm>
            <a:off x="5154473" y="6729984"/>
            <a:ext cx="914400" cy="40233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제33조</a:t>
            </a:r>
            <a:endParaRPr lang="en-US" sz="1400" dirty="0"/>
          </a:p>
        </p:txBody>
      </p:sp>
      <p:sp>
        <p:nvSpPr>
          <p:cNvPr id="98" name="Shape 95"/>
          <p:cNvSpPr/>
          <p:nvPr/>
        </p:nvSpPr>
        <p:spPr>
          <a:xfrm>
            <a:off x="6123737" y="6729984"/>
            <a:ext cx="914400" cy="402336"/>
          </a:xfrm>
          <a:prstGeom prst="roundRect">
            <a:avLst>
              <a:gd name="adj" fmla="val 11364"/>
            </a:avLst>
          </a:prstGeom>
          <a:solidFill>
            <a:srgbClr val="EEF3FA"/>
          </a:solidFill>
          <a:ln w="15875">
            <a:solidFill>
              <a:srgbClr val="2E74C6"/>
            </a:solidFill>
            <a:prstDash val="solid"/>
          </a:ln>
        </p:spPr>
      </p:sp>
      <p:sp>
        <p:nvSpPr>
          <p:cNvPr id="99" name="Text 96"/>
          <p:cNvSpPr txBox="1"/>
          <p:nvPr/>
        </p:nvSpPr>
        <p:spPr>
          <a:xfrm>
            <a:off x="6123737" y="6729984"/>
            <a:ext cx="914400" cy="40233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제34조</a:t>
            </a:r>
            <a:endParaRPr lang="en-US" sz="1400" dirty="0"/>
          </a:p>
        </p:txBody>
      </p:sp>
      <p:sp>
        <p:nvSpPr>
          <p:cNvPr id="100" name="Shape 97"/>
          <p:cNvSpPr/>
          <p:nvPr/>
        </p:nvSpPr>
        <p:spPr>
          <a:xfrm>
            <a:off x="7093001" y="6729984"/>
            <a:ext cx="914400" cy="402336"/>
          </a:xfrm>
          <a:prstGeom prst="roundRect">
            <a:avLst>
              <a:gd name="adj" fmla="val 11364"/>
            </a:avLst>
          </a:prstGeom>
          <a:solidFill>
            <a:srgbClr val="EEF3FA"/>
          </a:solidFill>
          <a:ln w="15875">
            <a:solidFill>
              <a:srgbClr val="2E74C6"/>
            </a:solidFill>
            <a:prstDash val="solid"/>
          </a:ln>
        </p:spPr>
      </p:sp>
      <p:sp>
        <p:nvSpPr>
          <p:cNvPr id="101" name="Text 98"/>
          <p:cNvSpPr txBox="1"/>
          <p:nvPr/>
        </p:nvSpPr>
        <p:spPr>
          <a:xfrm>
            <a:off x="7093001" y="6729984"/>
            <a:ext cx="914400" cy="40233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제34조의2</a:t>
            </a:r>
            <a:endParaRPr lang="en-US" sz="1400" dirty="0"/>
          </a:p>
        </p:txBody>
      </p:sp>
      <p:sp>
        <p:nvSpPr>
          <p:cNvPr id="102" name="Shape 99"/>
          <p:cNvSpPr/>
          <p:nvPr/>
        </p:nvSpPr>
        <p:spPr>
          <a:xfrm>
            <a:off x="8034833" y="6931152"/>
            <a:ext cx="201168" cy="0"/>
          </a:xfrm>
          <a:prstGeom prst="line">
            <a:avLst/>
          </a:prstGeom>
          <a:noFill/>
          <a:ln w="22225">
            <a:solidFill>
              <a:srgbClr val="4A5364"/>
            </a:solidFill>
            <a:prstDash val="solid"/>
            <a:tailEnd type="triangle"/>
          </a:ln>
        </p:spPr>
      </p:sp>
      <p:sp>
        <p:nvSpPr>
          <p:cNvPr id="103" name="Shape 100"/>
          <p:cNvSpPr/>
          <p:nvPr/>
        </p:nvSpPr>
        <p:spPr>
          <a:xfrm>
            <a:off x="8263433" y="6729984"/>
            <a:ext cx="1234440" cy="402336"/>
          </a:xfrm>
          <a:prstGeom prst="roundRect">
            <a:avLst>
              <a:gd name="adj" fmla="val 11364"/>
            </a:avLst>
          </a:prstGeom>
          <a:solidFill>
            <a:srgbClr val="1E2A5C"/>
          </a:solidFill>
          <a:ln/>
        </p:spPr>
      </p:sp>
      <p:sp>
        <p:nvSpPr>
          <p:cNvPr id="104" name="Text 101"/>
          <p:cNvSpPr txBox="1"/>
          <p:nvPr/>
        </p:nvSpPr>
        <p:spPr>
          <a:xfrm>
            <a:off x="8263433" y="6729984"/>
            <a:ext cx="1234440" cy="40233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 3번 추출</a:t>
            </a:r>
            <a:endParaRPr lang="en-US" sz="1400" dirty="0"/>
          </a:p>
        </p:txBody>
      </p:sp>
      <p:sp>
        <p:nvSpPr>
          <p:cNvPr id="105" name="Shape 102"/>
          <p:cNvSpPr/>
          <p:nvPr/>
        </p:nvSpPr>
        <p:spPr>
          <a:xfrm>
            <a:off x="9726473" y="6729984"/>
            <a:ext cx="1645920" cy="402336"/>
          </a:xfrm>
          <a:prstGeom prst="roundRect">
            <a:avLst>
              <a:gd name="adj" fmla="val 11364"/>
            </a:avLst>
          </a:prstGeom>
          <a:solidFill>
            <a:srgbClr val="FFFFFF"/>
          </a:solidFill>
          <a:ln w="15875">
            <a:solidFill>
              <a:srgbClr val="4A5364"/>
            </a:solidFill>
            <a:prstDash val="solid"/>
          </a:ln>
        </p:spPr>
      </p:sp>
      <p:sp>
        <p:nvSpPr>
          <p:cNvPr id="106" name="Text 103"/>
          <p:cNvSpPr txBox="1"/>
          <p:nvPr/>
        </p:nvSpPr>
        <p:spPr>
          <a:xfrm>
            <a:off x="9726473" y="6729984"/>
            <a:ext cx="1645920" cy="402336"/>
          </a:xfrm>
          <a:prstGeom prst="rect">
            <a:avLst/>
          </a:prstGeom>
          <a:noFill/>
          <a:ln/>
        </p:spPr>
        <p:txBody>
          <a:bodyPr wrap="square" lIns="1016" tIns="1016" rIns="1016" bIns="1016"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예 2) 상담 청크 B</a:t>
            </a:r>
            <a:endParaRPr lang="en-US" sz="1400" dirty="0"/>
          </a:p>
          <a:p>
            <a:pPr algn="ctr" indent="0" marL="0">
              <a:buNone/>
            </a:pPr>
            <a:r>
              <a:rPr lang="en-US" sz="1400" b="1" dirty="0">
                <a:solidFill>
                  <a:srgbClr val="2B3242"/>
                </a:solidFill>
                <a:latin typeface="Pretendard" pitchFamily="34" charset="0"/>
                <a:ea typeface="Pretendard" pitchFamily="34" charset="-122"/>
                <a:cs typeface="Pretendard" pitchFamily="34" charset="-120"/>
              </a:rPr>
              <a:t>상담 1건</a:t>
            </a:r>
            <a:endParaRPr lang="en-US" sz="1400" dirty="0"/>
          </a:p>
        </p:txBody>
      </p:sp>
      <p:sp>
        <p:nvSpPr>
          <p:cNvPr id="107" name="Shape 104"/>
          <p:cNvSpPr/>
          <p:nvPr/>
        </p:nvSpPr>
        <p:spPr>
          <a:xfrm>
            <a:off x="11399825" y="6931152"/>
            <a:ext cx="201168" cy="0"/>
          </a:xfrm>
          <a:prstGeom prst="line">
            <a:avLst/>
          </a:prstGeom>
          <a:noFill/>
          <a:ln w="22225">
            <a:solidFill>
              <a:srgbClr val="4A5364"/>
            </a:solidFill>
            <a:prstDash val="solid"/>
            <a:tailEnd type="triangle"/>
          </a:ln>
        </p:spPr>
      </p:sp>
      <p:sp>
        <p:nvSpPr>
          <p:cNvPr id="108" name="Shape 105"/>
          <p:cNvSpPr/>
          <p:nvPr/>
        </p:nvSpPr>
        <p:spPr>
          <a:xfrm>
            <a:off x="11628425" y="6729984"/>
            <a:ext cx="731520" cy="402336"/>
          </a:xfrm>
          <a:prstGeom prst="roundRect">
            <a:avLst>
              <a:gd name="adj" fmla="val 11364"/>
            </a:avLst>
          </a:prstGeom>
          <a:solidFill>
            <a:srgbClr val="EEF3FA"/>
          </a:solidFill>
          <a:ln w="15875">
            <a:solidFill>
              <a:srgbClr val="2E74C6"/>
            </a:solidFill>
            <a:prstDash val="solid"/>
          </a:ln>
        </p:spPr>
      </p:sp>
      <p:sp>
        <p:nvSpPr>
          <p:cNvPr id="109" name="Text 106"/>
          <p:cNvSpPr txBox="1"/>
          <p:nvPr/>
        </p:nvSpPr>
        <p:spPr>
          <a:xfrm>
            <a:off x="11628425" y="6729984"/>
            <a:ext cx="731520" cy="40233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그대로</a:t>
            </a:r>
            <a:endParaRPr lang="en-US" sz="1400" dirty="0"/>
          </a:p>
        </p:txBody>
      </p:sp>
      <p:sp>
        <p:nvSpPr>
          <p:cNvPr id="110" name="Shape 107"/>
          <p:cNvSpPr/>
          <p:nvPr/>
        </p:nvSpPr>
        <p:spPr>
          <a:xfrm>
            <a:off x="12387377" y="6931152"/>
            <a:ext cx="201168" cy="0"/>
          </a:xfrm>
          <a:prstGeom prst="line">
            <a:avLst/>
          </a:prstGeom>
          <a:noFill/>
          <a:ln w="22225">
            <a:solidFill>
              <a:srgbClr val="4A5364"/>
            </a:solidFill>
            <a:prstDash val="solid"/>
            <a:tailEnd type="triangle"/>
          </a:ln>
        </p:spPr>
      </p:sp>
      <p:sp>
        <p:nvSpPr>
          <p:cNvPr id="111" name="Shape 108"/>
          <p:cNvSpPr/>
          <p:nvPr/>
        </p:nvSpPr>
        <p:spPr>
          <a:xfrm>
            <a:off x="12615977" y="6729984"/>
            <a:ext cx="1426464" cy="402336"/>
          </a:xfrm>
          <a:prstGeom prst="roundRect">
            <a:avLst>
              <a:gd name="adj" fmla="val 11364"/>
            </a:avLst>
          </a:prstGeom>
          <a:solidFill>
            <a:srgbClr val="1E2A5C"/>
          </a:solidFill>
          <a:ln/>
        </p:spPr>
      </p:sp>
      <p:sp>
        <p:nvSpPr>
          <p:cNvPr id="112" name="Text 109"/>
          <p:cNvSpPr txBox="1"/>
          <p:nvPr/>
        </p:nvSpPr>
        <p:spPr>
          <a:xfrm>
            <a:off x="12615977" y="6729984"/>
            <a:ext cx="1426464" cy="40233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 1번 추출</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2026-10-19T03:06:34Z</dcterms:created>
  <dcterms:modified xsi:type="dcterms:W3CDTF">2026-10-19T03:06:34Z</dcterms:modified>
</cp:coreProperties>
</file>