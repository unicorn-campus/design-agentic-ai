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9" d="100"/>
          <a:sy n="89" d="100"/>
        </p:scale>
        <p:origin x="92"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142744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스키마 도출은 인덱싱 파이프라인의 단계가 아니라 설계 단계의 일임. 사람이 후보를 줄이고 이름을 정해 확정하므로 매 실행 자동으로 돌리지 않음. 확정한 GraphSchema를 파일로 두고 버전을 관리하며, 인덱싱은 그 파일을 읽어 ④ 추출의 프롬프트 안내와 가지치기에 씀. 스키마가 바뀌면 새 세대로 다시 인덱싱함. 인덱싱 줄의 KG 저장과 병합은 다른 단계임: Native는 저장기(Neo4jWriter)가 먼저 쓰고 병합기(resolver)가 DB 안에서 같은 이름 노드를 합침(SimpleKGPipeline 연결 순서 writer → resolver). 임베딩은 합쳐진 노드 설명을 벡터로 바꾸는 단계라 병합 다음에 둠. 청크 벡터는 기존 벡터DB 인덱싱의 벡터를 KG 저장 때 함께 넣어 다시 만들지 않음. 같은 카드가 어떤 청크에선 Brand, 어떤 청크에선 CardProduct로 뽑히면 병합 단계에서도 못 합침(라벨이 달라서). 실측: 로컬 gemma-4 12B로 스키마 없이 청크 2개를 추출했더니 라벨이 11종 나왔고, 카드는 Brand와 CardProduct, 요금은 Fee와 AnnualFee로 갈렸음. Native neo4j-graphrag는 스키마를 안 주면 SimpleKGPipeline이 매번 입력 글에서 스키마를 자동으로 뽑아 쓰므로(사람 검토 없음) 실행마다 달라질 수 있음 — 그래서 설계 단계에서 고정함.</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①~⑤가 뼈대임: 노드 타입, 노드 속성, 관계, 관계 속성, 그리고 어느 노드에서 어느 노드로 그 관계가 갈 수 있는지를 정하는 연결 패턴. ⑥ 제약은 고유키와 필수 속성이며 UNIQUENESS, EXISTENCE, KEY 세 종류가 있음. KEY는 필수이면서 고유함. ⑦ 허용 범위는 목록 밖의 타입, 패턴, 속성을 지울지 통과시킬지이며, 목록을 주면 기본은 지움. 실행 확인(neo4j-graphrag 1.22.0): 이 코드로 만든 스키마로 가지치기를 돌리니 name이 없는 Card 노드가 MISSING_REQUIRED_PROPERTY로 지워졌음. 타입과 속성마다 description을 적으면 추출 프롬프트에 들어가 LLM이 고르는 기준이 됨. 속성의 type(STRING, INTEGER 등)은 적을 수 있지만 지금 버전의 가지치기는 값 형식을 검사하지 않으므로 금액과 날짜는 저장 전에 따로 변환함. 최대 홉 수, 결과 상한, 상충 관계 쌍은 검색과 검수에 쓰는 규칙이라 추출용 스키마에는 넣지 않음.</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Neo4j 공식 관계형 → 그래프 변환 규칙과 같음: 테이블은 라벨, 행은 노드, 열은 속성, FK는 관계로 바꾸고 FK 열은 지움, 조인 테이블은 관계로 바꾸고 그 열은 관계 속성. 관계는 양 끝이 둘뿐이라 셋 이상을 묶으면 중간 노드로 풂. 판정 결과는 4가지이고 오른쪽 예시가 같은 번호임. ① 조회 대상이면 노드 타입: 이체는 FK가 2개지만 이체 자체를 찾으므로 노드. ② FK가 2개이고 업무 열이 없으면 관계로 흡수: 사용자역할 테이블은 사용자와 역할을 잇기만 하므로 노드를 만들지 않음. ③ FK 2개 + 업무 속성이면 관계 속성: 주문상품의 수량과 단가는 '포함' 관계의 속성. 상품별 판매 집계처럼 그 속성을 조회하거나 집계하면 노드로 둠. ④ FK 3개 이상이면 중간 노드: 수강신청은 학생, 과목, 학기를 함께 묶어 관계 하나로 못 담음. 조회 대상 질문을 먼저 하는 이유는 ① 이체 예: FK 개수만 보면 관계로 흡수되어 이체 자체를 찾을 수 없게 됨. 정형에서 나온 타입은 LLM 추출이 필요 없어 비용이 들지 않으므로 정형을 먼저 훑는 것이 이득임.</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 장의 변환 규칙은 대부분 기계적으로 적용할 수 있어서, 규칙을 프롬프트에 적어 바이브 코딩 도구에 맡김. 규칙 ②③④와 검증, 그림, 저장은 AI가 하고, 업무 판단이 필요한 규칙 ①과 이름, 최종 승인은 사람이 함. DB 카탈로그는 DB가 원래 갖고 있는 구조 설명 테이블이라 따로 만들 필요가 없음(PostgreSQL은 pg_catalog). FK 개수는 열이 아니라 제약 수로 셈: card의 product_id와 brand는 열 2개지만 FK 제약 1개임. 라벨은 Neo4j 이름 규칙에 따라 영문(Card, HAS_CARD)으로 두고, 한글 이름은 description에 넣어 그림과 LLM 안내에 씀. 한글 라벨도 동작은 하지만(실행 확인), 영문 속성 이름과 섞이지 않게 하려고 영문으로 정함. 8단계에서 수정을 요청하면 5단계부터 다시 하며, 5회가 넘으면 남은 쟁점을 정리해 멈춤. 최종 파일은 GraphSchema.save()로 저장한 뒤 from_file()로 다시 읽어 개수가 같은지 확인하고, 승인 기록을 함께 남김.</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 추출 결과는 표본에 있는 것만 담는 후보임. 사람이 3단계로 줄이고 이름을 정한 뒤 GraphSchema로 고정해야 매 실행 결과가 같아짐. Native는 SchemaFromTextExtractor로 표본 글에서 후보 스키마를 받을 수 있고, 확정본을 schema로 넘기지 않으면 SimpleKGPipeline이 매번 자동 추출함. Neo4j LLM Knowledge Graph Builder는 'Get Schema From Text'로 스키마를 제안하고, MS GraphRAG는 graphrag prompt-tune의 --discover-entity-types(기본 켜짐)로 표본 청크에서 엔티티 타입을 만들어 프롬프트 파일로 저장함. LangChain과 LlamaIndex는 자동 후보 단계 없이 사람이 허용 목록을 먼저 적음. 3단계 확정은 온톨로지 공학의 용어 정리, 역량 질문(답해야 할 질문이 범위를 정함)과 같은 생각이며, 3단계(원천 없는 타입 제외)는 적재를 전제한 가이드 고유 규칙임. 확정 뒤 역량 질문으로 되짚는 검증은 가이드에 없는 보완점임.</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txBody>
          <a:bodyPr/>
          <a:lstStyle/>
          <a:p>
            <a:endParaRPr lang="ko-KR" altLang="en-US"/>
          </a:p>
        </p:txBody>
      </p:sp>
      <p:sp>
        <p:nvSpPr>
          <p:cNvPr id="3" name="Text 1"/>
          <p:cNvSpPr/>
          <p:nvPr/>
        </p:nvSpPr>
        <p:spPr>
          <a:xfrm>
            <a:off x="445770" y="7787945"/>
            <a:ext cx="1531620" cy="246888"/>
          </a:xfrm>
          <a:prstGeom prst="rect">
            <a:avLst/>
          </a:prstGeom>
          <a:noFill/>
          <a:ln/>
        </p:spPr>
        <p:txBody>
          <a:bodyPr wrap="square" lIns="0" tIns="0" rIns="0" bIns="0" rtlCol="0" anchor="ctr"/>
          <a:lstStyle/>
          <a:p>
            <a:pPr marL="0" indent="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a:spLocks noGrp="1"/>
          </p:cNvSpPr>
          <p:nvPr>
            <p:ph type="title"/>
          </p:nvPr>
        </p:nvSpPr>
        <p:spPr>
          <a:xfrm>
            <a:off x="509321" y="99670"/>
            <a:ext cx="13738860" cy="828446"/>
          </a:xfrm>
          <a:prstGeom prst="rect">
            <a:avLst/>
          </a:prstGeom>
          <a:noFill/>
          <a:ln/>
        </p:spPr>
        <p:txBody>
          <a:bodyPr wrap="square" rtlCol="0"/>
          <a:lstStyle>
            <a:lvl1pPr marL="0" indent="0" algn="l">
              <a:buNone/>
              <a:defRPr lang="en-US" sz="3200" b="1" dirty="0">
                <a:solidFill>
                  <a:srgbClr val="2C2926"/>
                </a:solidFill>
                <a:latin typeface="Pretendard" pitchFamily="34" charset="0"/>
                <a:ea typeface="Pretendard" pitchFamily="34" charset="-122"/>
                <a:cs typeface="Pretendard" pitchFamily="34" charset="-120"/>
              </a:defRPr>
            </a:lvl1pPr>
          </a:lstStyle>
          <a:p>
            <a:pPr marL="0" indent="0" algn="l">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노드 타입과 관계는 추출 전에 먼저 정함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스키마는 추출 결과가 아니라 추출기에 주는 허용 목록 — 먼저 정하지 않으면 같은 개념이 여러 라벨로 쪼개짐</a:t>
            </a:r>
            <a:endParaRPr lang="en-US" sz="1800" dirty="0"/>
          </a:p>
        </p:txBody>
      </p:sp>
      <p:sp>
        <p:nvSpPr>
          <p:cNvPr id="5" name="Shape 2"/>
          <p:cNvSpPr/>
          <p:nvPr/>
        </p:nvSpPr>
        <p:spPr>
          <a:xfrm>
            <a:off x="509321" y="1700784"/>
            <a:ext cx="1783080" cy="457200"/>
          </a:xfrm>
          <a:prstGeom prst="roundRect">
            <a:avLst>
              <a:gd name="adj" fmla="val 12000"/>
            </a:avLst>
          </a:prstGeom>
          <a:solidFill>
            <a:srgbClr val="2E74C6"/>
          </a:solidFill>
          <a:ln/>
        </p:spPr>
        <p:txBody>
          <a:bodyPr/>
          <a:lstStyle/>
          <a:p>
            <a:endParaRPr lang="ko-KR" altLang="en-US"/>
          </a:p>
        </p:txBody>
      </p:sp>
      <p:sp>
        <p:nvSpPr>
          <p:cNvPr id="6" name="Text 3"/>
          <p:cNvSpPr txBox="1"/>
          <p:nvPr/>
        </p:nvSpPr>
        <p:spPr>
          <a:xfrm>
            <a:off x="509321" y="1700784"/>
            <a:ext cx="1783080"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설계 시(사전 1회)</a:t>
            </a:r>
            <a:endParaRPr lang="en-US" sz="1400" dirty="0"/>
          </a:p>
        </p:txBody>
      </p:sp>
      <p:sp>
        <p:nvSpPr>
          <p:cNvPr id="7" name="Shape 4"/>
          <p:cNvSpPr/>
          <p:nvPr/>
        </p:nvSpPr>
        <p:spPr>
          <a:xfrm>
            <a:off x="509321" y="2432304"/>
            <a:ext cx="1783080" cy="457200"/>
          </a:xfrm>
          <a:prstGeom prst="roundRect">
            <a:avLst>
              <a:gd name="adj" fmla="val 12000"/>
            </a:avLst>
          </a:prstGeom>
          <a:solidFill>
            <a:srgbClr val="1E2A5C"/>
          </a:solidFill>
          <a:ln/>
        </p:spPr>
        <p:txBody>
          <a:bodyPr/>
          <a:lstStyle/>
          <a:p>
            <a:endParaRPr lang="ko-KR" altLang="en-US"/>
          </a:p>
        </p:txBody>
      </p:sp>
      <p:sp>
        <p:nvSpPr>
          <p:cNvPr id="8" name="Text 5"/>
          <p:cNvSpPr txBox="1"/>
          <p:nvPr/>
        </p:nvSpPr>
        <p:spPr>
          <a:xfrm>
            <a:off x="509321" y="2432304"/>
            <a:ext cx="1783080"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인덱싱 시(매 실행)</a:t>
            </a:r>
            <a:endParaRPr lang="en-US" sz="1400" dirty="0"/>
          </a:p>
        </p:txBody>
      </p:sp>
      <p:sp>
        <p:nvSpPr>
          <p:cNvPr id="9" name="Shape 6"/>
          <p:cNvSpPr/>
          <p:nvPr/>
        </p:nvSpPr>
        <p:spPr>
          <a:xfrm>
            <a:off x="2402129" y="170078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10" name="Text 7"/>
          <p:cNvSpPr txBox="1"/>
          <p:nvPr/>
        </p:nvSpPr>
        <p:spPr>
          <a:xfrm>
            <a:off x="2402129" y="170078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원천 분석</a:t>
            </a:r>
            <a:endParaRPr lang="en-US" sz="1400" dirty="0"/>
          </a:p>
        </p:txBody>
      </p:sp>
      <p:sp>
        <p:nvSpPr>
          <p:cNvPr id="11" name="Shape 8"/>
          <p:cNvSpPr/>
          <p:nvPr/>
        </p:nvSpPr>
        <p:spPr>
          <a:xfrm>
            <a:off x="3720008" y="1929384"/>
            <a:ext cx="146304" cy="0"/>
          </a:xfrm>
          <a:prstGeom prst="line">
            <a:avLst/>
          </a:prstGeom>
          <a:noFill/>
          <a:ln w="22225">
            <a:solidFill>
              <a:srgbClr val="4A5364"/>
            </a:solidFill>
            <a:prstDash val="solid"/>
            <a:tailEnd type="triangle"/>
          </a:ln>
        </p:spPr>
        <p:txBody>
          <a:bodyPr/>
          <a:lstStyle/>
          <a:p>
            <a:endParaRPr lang="ko-KR" altLang="en-US"/>
          </a:p>
        </p:txBody>
      </p:sp>
      <p:sp>
        <p:nvSpPr>
          <p:cNvPr id="12" name="Shape 9"/>
          <p:cNvSpPr/>
          <p:nvPr/>
        </p:nvSpPr>
        <p:spPr>
          <a:xfrm>
            <a:off x="3893744" y="170078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13" name="Text 10"/>
          <p:cNvSpPr txBox="1"/>
          <p:nvPr/>
        </p:nvSpPr>
        <p:spPr>
          <a:xfrm>
            <a:off x="3893744" y="170078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후보 도출</a:t>
            </a:r>
            <a:endParaRPr lang="en-US" sz="1400" dirty="0"/>
          </a:p>
        </p:txBody>
      </p:sp>
      <p:sp>
        <p:nvSpPr>
          <p:cNvPr id="14" name="Shape 11"/>
          <p:cNvSpPr/>
          <p:nvPr/>
        </p:nvSpPr>
        <p:spPr>
          <a:xfrm>
            <a:off x="5211623" y="1929384"/>
            <a:ext cx="146304" cy="0"/>
          </a:xfrm>
          <a:prstGeom prst="line">
            <a:avLst/>
          </a:prstGeom>
          <a:noFill/>
          <a:ln w="22225">
            <a:solidFill>
              <a:srgbClr val="4A5364"/>
            </a:solidFill>
            <a:prstDash val="solid"/>
            <a:tailEnd type="triangle"/>
          </a:ln>
        </p:spPr>
        <p:txBody>
          <a:bodyPr/>
          <a:lstStyle/>
          <a:p>
            <a:endParaRPr lang="ko-KR" altLang="en-US"/>
          </a:p>
        </p:txBody>
      </p:sp>
      <p:sp>
        <p:nvSpPr>
          <p:cNvPr id="15" name="Shape 12"/>
          <p:cNvSpPr/>
          <p:nvPr/>
        </p:nvSpPr>
        <p:spPr>
          <a:xfrm>
            <a:off x="5385359" y="1700784"/>
            <a:ext cx="1290447" cy="457200"/>
          </a:xfrm>
          <a:prstGeom prst="roundRect">
            <a:avLst>
              <a:gd name="adj" fmla="val 16000"/>
            </a:avLst>
          </a:prstGeom>
          <a:solidFill>
            <a:srgbClr val="2E74C6"/>
          </a:solidFill>
          <a:ln/>
        </p:spPr>
        <p:txBody>
          <a:bodyPr/>
          <a:lstStyle/>
          <a:p>
            <a:endParaRPr lang="ko-KR" altLang="en-US"/>
          </a:p>
        </p:txBody>
      </p:sp>
      <p:sp>
        <p:nvSpPr>
          <p:cNvPr id="16" name="Text 13"/>
          <p:cNvSpPr txBox="1"/>
          <p:nvPr/>
        </p:nvSpPr>
        <p:spPr>
          <a:xfrm>
            <a:off x="5385359" y="1700784"/>
            <a:ext cx="1290447"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3단계 확정</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(사람)</a:t>
            </a:r>
            <a:endParaRPr lang="en-US" sz="1400" dirty="0"/>
          </a:p>
        </p:txBody>
      </p:sp>
      <p:sp>
        <p:nvSpPr>
          <p:cNvPr id="17" name="Shape 14"/>
          <p:cNvSpPr/>
          <p:nvPr/>
        </p:nvSpPr>
        <p:spPr>
          <a:xfrm>
            <a:off x="6703238" y="1929384"/>
            <a:ext cx="146304" cy="0"/>
          </a:xfrm>
          <a:prstGeom prst="line">
            <a:avLst/>
          </a:prstGeom>
          <a:noFill/>
          <a:ln w="22225">
            <a:solidFill>
              <a:srgbClr val="4A5364"/>
            </a:solidFill>
            <a:prstDash val="solid"/>
            <a:tailEnd type="triangle"/>
          </a:ln>
        </p:spPr>
        <p:txBody>
          <a:bodyPr/>
          <a:lstStyle/>
          <a:p>
            <a:endParaRPr lang="ko-KR" altLang="en-US"/>
          </a:p>
        </p:txBody>
      </p:sp>
      <p:sp>
        <p:nvSpPr>
          <p:cNvPr id="18" name="Shape 15"/>
          <p:cNvSpPr/>
          <p:nvPr/>
        </p:nvSpPr>
        <p:spPr>
          <a:xfrm>
            <a:off x="6876974" y="1700784"/>
            <a:ext cx="2782062" cy="457200"/>
          </a:xfrm>
          <a:prstGeom prst="roundRect">
            <a:avLst>
              <a:gd name="adj" fmla="val 16000"/>
            </a:avLst>
          </a:prstGeom>
          <a:solidFill>
            <a:srgbClr val="EEF3FA"/>
          </a:solidFill>
          <a:ln w="25400">
            <a:solidFill>
              <a:srgbClr val="2E74C6"/>
            </a:solidFill>
            <a:prstDash val="solid"/>
          </a:ln>
        </p:spPr>
        <p:txBody>
          <a:bodyPr/>
          <a:lstStyle/>
          <a:p>
            <a:endParaRPr lang="ko-KR" altLang="en-US"/>
          </a:p>
        </p:txBody>
      </p:sp>
      <p:sp>
        <p:nvSpPr>
          <p:cNvPr id="19" name="Text 16"/>
          <p:cNvSpPr txBox="1"/>
          <p:nvPr/>
        </p:nvSpPr>
        <p:spPr>
          <a:xfrm>
            <a:off x="6876974" y="1700784"/>
            <a:ext cx="2782062" cy="457200"/>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GraphSchema 파일</a:t>
            </a:r>
            <a:endParaRPr lang="en-US" sz="1400" dirty="0"/>
          </a:p>
          <a:p>
            <a:pPr marL="0" indent="0" algn="ctr">
              <a:buNone/>
            </a:pPr>
            <a:r>
              <a:rPr lang="en-US" sz="1400" b="1" dirty="0">
                <a:solidFill>
                  <a:srgbClr val="1E2A5C"/>
                </a:solidFill>
                <a:latin typeface="Pretendard" pitchFamily="34" charset="0"/>
                <a:ea typeface="Pretendard" pitchFamily="34" charset="-122"/>
                <a:cs typeface="Pretendard" pitchFamily="34" charset="-120"/>
              </a:rPr>
              <a:t>(버전 관리)</a:t>
            </a:r>
            <a:endParaRPr lang="en-US" sz="1400" dirty="0"/>
          </a:p>
        </p:txBody>
      </p:sp>
      <p:sp>
        <p:nvSpPr>
          <p:cNvPr id="20" name="Text 17"/>
          <p:cNvSpPr txBox="1"/>
          <p:nvPr/>
        </p:nvSpPr>
        <p:spPr>
          <a:xfrm>
            <a:off x="9951644" y="1664208"/>
            <a:ext cx="4182237" cy="530352"/>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인덱싱은 읽기만 함</a:t>
            </a:r>
            <a:endParaRPr lang="en-US" sz="1400" dirty="0"/>
          </a:p>
          <a:p>
            <a:pPr marL="0" indent="0" algn="l">
              <a:buNone/>
            </a:pPr>
            <a:r>
              <a:rPr lang="en-US" sz="1400" b="1" dirty="0">
                <a:solidFill>
                  <a:srgbClr val="2E74C6"/>
                </a:solidFill>
                <a:latin typeface="Pretendard" pitchFamily="34" charset="0"/>
                <a:ea typeface="Pretendard" pitchFamily="34" charset="-122"/>
                <a:cs typeface="Pretendard" pitchFamily="34" charset="-120"/>
              </a:rPr>
              <a:t>바뀌면 새 세대로 재인덱싱</a:t>
            </a:r>
            <a:endParaRPr lang="en-US" sz="1400" dirty="0"/>
          </a:p>
        </p:txBody>
      </p:sp>
      <p:sp>
        <p:nvSpPr>
          <p:cNvPr id="21" name="Shape 18"/>
          <p:cNvSpPr/>
          <p:nvPr/>
        </p:nvSpPr>
        <p:spPr>
          <a:xfrm>
            <a:off x="2402129"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22" name="Text 19"/>
          <p:cNvSpPr txBox="1"/>
          <p:nvPr/>
        </p:nvSpPr>
        <p:spPr>
          <a:xfrm>
            <a:off x="2402129"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로드</a:t>
            </a:r>
            <a:endParaRPr lang="en-US" sz="1400" dirty="0"/>
          </a:p>
        </p:txBody>
      </p:sp>
      <p:sp>
        <p:nvSpPr>
          <p:cNvPr id="23" name="Shape 20"/>
          <p:cNvSpPr/>
          <p:nvPr/>
        </p:nvSpPr>
        <p:spPr>
          <a:xfrm>
            <a:off x="3720008" y="2660904"/>
            <a:ext cx="146304" cy="0"/>
          </a:xfrm>
          <a:prstGeom prst="line">
            <a:avLst/>
          </a:prstGeom>
          <a:noFill/>
          <a:ln w="22225">
            <a:solidFill>
              <a:srgbClr val="4A5364"/>
            </a:solidFill>
            <a:prstDash val="solid"/>
            <a:tailEnd type="triangle"/>
          </a:ln>
        </p:spPr>
        <p:txBody>
          <a:bodyPr/>
          <a:lstStyle/>
          <a:p>
            <a:endParaRPr lang="ko-KR" altLang="en-US"/>
          </a:p>
        </p:txBody>
      </p:sp>
      <p:sp>
        <p:nvSpPr>
          <p:cNvPr id="24" name="Shape 21"/>
          <p:cNvSpPr/>
          <p:nvPr/>
        </p:nvSpPr>
        <p:spPr>
          <a:xfrm>
            <a:off x="3893744"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25" name="Text 22"/>
          <p:cNvSpPr txBox="1"/>
          <p:nvPr/>
        </p:nvSpPr>
        <p:spPr>
          <a:xfrm>
            <a:off x="3893744"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정제와</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가명처리</a:t>
            </a:r>
            <a:endParaRPr lang="en-US" sz="1400" dirty="0"/>
          </a:p>
        </p:txBody>
      </p:sp>
      <p:sp>
        <p:nvSpPr>
          <p:cNvPr id="26" name="Shape 23"/>
          <p:cNvSpPr/>
          <p:nvPr/>
        </p:nvSpPr>
        <p:spPr>
          <a:xfrm>
            <a:off x="5211623" y="2660904"/>
            <a:ext cx="146304" cy="0"/>
          </a:xfrm>
          <a:prstGeom prst="line">
            <a:avLst/>
          </a:prstGeom>
          <a:noFill/>
          <a:ln w="22225">
            <a:solidFill>
              <a:srgbClr val="4A5364"/>
            </a:solidFill>
            <a:prstDash val="solid"/>
            <a:tailEnd type="triangle"/>
          </a:ln>
        </p:spPr>
        <p:txBody>
          <a:bodyPr/>
          <a:lstStyle/>
          <a:p>
            <a:endParaRPr lang="ko-KR" altLang="en-US"/>
          </a:p>
        </p:txBody>
      </p:sp>
      <p:sp>
        <p:nvSpPr>
          <p:cNvPr id="27" name="Shape 24"/>
          <p:cNvSpPr/>
          <p:nvPr/>
        </p:nvSpPr>
        <p:spPr>
          <a:xfrm>
            <a:off x="5385359"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28" name="Text 25"/>
          <p:cNvSpPr txBox="1"/>
          <p:nvPr/>
        </p:nvSpPr>
        <p:spPr>
          <a:xfrm>
            <a:off x="5385359"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③ 청킹</a:t>
            </a:r>
            <a:endParaRPr lang="en-US" sz="1400" dirty="0"/>
          </a:p>
        </p:txBody>
      </p:sp>
      <p:sp>
        <p:nvSpPr>
          <p:cNvPr id="29" name="Shape 26"/>
          <p:cNvSpPr/>
          <p:nvPr/>
        </p:nvSpPr>
        <p:spPr>
          <a:xfrm>
            <a:off x="6703238" y="2660904"/>
            <a:ext cx="146304" cy="0"/>
          </a:xfrm>
          <a:prstGeom prst="line">
            <a:avLst/>
          </a:prstGeom>
          <a:noFill/>
          <a:ln w="22225">
            <a:solidFill>
              <a:srgbClr val="4A5364"/>
            </a:solidFill>
            <a:prstDash val="solid"/>
            <a:tailEnd type="triangle"/>
          </a:ln>
        </p:spPr>
        <p:txBody>
          <a:bodyPr/>
          <a:lstStyle/>
          <a:p>
            <a:endParaRPr lang="ko-KR" altLang="en-US"/>
          </a:p>
        </p:txBody>
      </p:sp>
      <p:sp>
        <p:nvSpPr>
          <p:cNvPr id="30" name="Shape 27"/>
          <p:cNvSpPr/>
          <p:nvPr/>
        </p:nvSpPr>
        <p:spPr>
          <a:xfrm>
            <a:off x="6876974" y="2432304"/>
            <a:ext cx="1290447" cy="457200"/>
          </a:xfrm>
          <a:prstGeom prst="roundRect">
            <a:avLst>
              <a:gd name="adj" fmla="val 16000"/>
            </a:avLst>
          </a:prstGeom>
          <a:solidFill>
            <a:srgbClr val="1E2A5C"/>
          </a:solidFill>
          <a:ln/>
        </p:spPr>
        <p:txBody>
          <a:bodyPr/>
          <a:lstStyle/>
          <a:p>
            <a:endParaRPr lang="ko-KR" altLang="en-US"/>
          </a:p>
        </p:txBody>
      </p:sp>
      <p:sp>
        <p:nvSpPr>
          <p:cNvPr id="31" name="Text 28"/>
          <p:cNvSpPr txBox="1"/>
          <p:nvPr/>
        </p:nvSpPr>
        <p:spPr>
          <a:xfrm>
            <a:off x="6876974"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④ 추출</a:t>
            </a:r>
            <a:endParaRPr lang="en-US" sz="1400" dirty="0"/>
          </a:p>
        </p:txBody>
      </p:sp>
      <p:sp>
        <p:nvSpPr>
          <p:cNvPr id="32" name="Shape 29"/>
          <p:cNvSpPr/>
          <p:nvPr/>
        </p:nvSpPr>
        <p:spPr>
          <a:xfrm>
            <a:off x="8194853" y="2660904"/>
            <a:ext cx="146304" cy="0"/>
          </a:xfrm>
          <a:prstGeom prst="line">
            <a:avLst/>
          </a:prstGeom>
          <a:noFill/>
          <a:ln w="22225">
            <a:solidFill>
              <a:srgbClr val="4A5364"/>
            </a:solidFill>
            <a:prstDash val="solid"/>
            <a:tailEnd type="triangle"/>
          </a:ln>
        </p:spPr>
        <p:txBody>
          <a:bodyPr/>
          <a:lstStyle/>
          <a:p>
            <a:endParaRPr lang="ko-KR" altLang="en-US"/>
          </a:p>
        </p:txBody>
      </p:sp>
      <p:sp>
        <p:nvSpPr>
          <p:cNvPr id="33" name="Shape 30"/>
          <p:cNvSpPr/>
          <p:nvPr/>
        </p:nvSpPr>
        <p:spPr>
          <a:xfrm>
            <a:off x="8368589" y="2432304"/>
            <a:ext cx="1290447" cy="457200"/>
          </a:xfrm>
          <a:prstGeom prst="roundRect">
            <a:avLst>
              <a:gd name="adj" fmla="val 16000"/>
            </a:avLst>
          </a:prstGeom>
          <a:solidFill>
            <a:srgbClr val="1E2A5C"/>
          </a:solidFill>
          <a:ln/>
        </p:spPr>
        <p:txBody>
          <a:bodyPr/>
          <a:lstStyle/>
          <a:p>
            <a:endParaRPr lang="ko-KR" altLang="en-US"/>
          </a:p>
        </p:txBody>
      </p:sp>
      <p:sp>
        <p:nvSpPr>
          <p:cNvPr id="34" name="Text 31"/>
          <p:cNvSpPr txBox="1"/>
          <p:nvPr/>
        </p:nvSpPr>
        <p:spPr>
          <a:xfrm>
            <a:off x="8368589"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가지치기</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(Pruning)</a:t>
            </a:r>
            <a:endParaRPr lang="en-US" sz="1400" dirty="0"/>
          </a:p>
        </p:txBody>
      </p:sp>
      <p:sp>
        <p:nvSpPr>
          <p:cNvPr id="35" name="Shape 32"/>
          <p:cNvSpPr/>
          <p:nvPr/>
        </p:nvSpPr>
        <p:spPr>
          <a:xfrm>
            <a:off x="9686468" y="2660904"/>
            <a:ext cx="146304" cy="0"/>
          </a:xfrm>
          <a:prstGeom prst="line">
            <a:avLst/>
          </a:prstGeom>
          <a:noFill/>
          <a:ln w="22225">
            <a:solidFill>
              <a:srgbClr val="4A5364"/>
            </a:solidFill>
            <a:prstDash val="solid"/>
            <a:tailEnd type="triangle"/>
          </a:ln>
        </p:spPr>
        <p:txBody>
          <a:bodyPr/>
          <a:lstStyle/>
          <a:p>
            <a:endParaRPr lang="ko-KR" altLang="en-US"/>
          </a:p>
        </p:txBody>
      </p:sp>
      <p:sp>
        <p:nvSpPr>
          <p:cNvPr id="36" name="Shape 33"/>
          <p:cNvSpPr/>
          <p:nvPr/>
        </p:nvSpPr>
        <p:spPr>
          <a:xfrm>
            <a:off x="9860204"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37" name="Text 34"/>
          <p:cNvSpPr txBox="1"/>
          <p:nvPr/>
        </p:nvSpPr>
        <p:spPr>
          <a:xfrm>
            <a:off x="9860204"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KG 저장</a:t>
            </a:r>
            <a:endParaRPr lang="en-US" sz="1400" dirty="0"/>
          </a:p>
        </p:txBody>
      </p:sp>
      <p:sp>
        <p:nvSpPr>
          <p:cNvPr id="38" name="Shape 35"/>
          <p:cNvSpPr/>
          <p:nvPr/>
        </p:nvSpPr>
        <p:spPr>
          <a:xfrm>
            <a:off x="11178083" y="2660904"/>
            <a:ext cx="146304" cy="0"/>
          </a:xfrm>
          <a:prstGeom prst="line">
            <a:avLst/>
          </a:prstGeom>
          <a:noFill/>
          <a:ln w="22225">
            <a:solidFill>
              <a:srgbClr val="4A5364"/>
            </a:solidFill>
            <a:prstDash val="solid"/>
            <a:tailEnd type="triangle"/>
          </a:ln>
        </p:spPr>
        <p:txBody>
          <a:bodyPr/>
          <a:lstStyle/>
          <a:p>
            <a:endParaRPr lang="ko-KR" altLang="en-US"/>
          </a:p>
        </p:txBody>
      </p:sp>
      <p:sp>
        <p:nvSpPr>
          <p:cNvPr id="39" name="Shape 36"/>
          <p:cNvSpPr/>
          <p:nvPr/>
        </p:nvSpPr>
        <p:spPr>
          <a:xfrm>
            <a:off x="11351819"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40" name="Text 37"/>
          <p:cNvSpPr txBox="1"/>
          <p:nvPr/>
        </p:nvSpPr>
        <p:spPr>
          <a:xfrm>
            <a:off x="11351819"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병합</a:t>
            </a:r>
            <a:endParaRPr lang="en-US" sz="1400" dirty="0"/>
          </a:p>
        </p:txBody>
      </p:sp>
      <p:sp>
        <p:nvSpPr>
          <p:cNvPr id="41" name="Shape 38"/>
          <p:cNvSpPr/>
          <p:nvPr/>
        </p:nvSpPr>
        <p:spPr>
          <a:xfrm>
            <a:off x="12669698" y="2660904"/>
            <a:ext cx="146304" cy="0"/>
          </a:xfrm>
          <a:prstGeom prst="line">
            <a:avLst/>
          </a:prstGeom>
          <a:noFill/>
          <a:ln w="22225">
            <a:solidFill>
              <a:srgbClr val="4A5364"/>
            </a:solidFill>
            <a:prstDash val="solid"/>
            <a:tailEnd type="triangle"/>
          </a:ln>
        </p:spPr>
        <p:txBody>
          <a:bodyPr/>
          <a:lstStyle/>
          <a:p>
            <a:endParaRPr lang="ko-KR" altLang="en-US"/>
          </a:p>
        </p:txBody>
      </p:sp>
      <p:sp>
        <p:nvSpPr>
          <p:cNvPr id="42" name="Shape 39"/>
          <p:cNvSpPr/>
          <p:nvPr/>
        </p:nvSpPr>
        <p:spPr>
          <a:xfrm>
            <a:off x="12843434"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43" name="Text 40"/>
          <p:cNvSpPr txBox="1"/>
          <p:nvPr/>
        </p:nvSpPr>
        <p:spPr>
          <a:xfrm>
            <a:off x="12843434"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임베딩</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(노드 설명)</a:t>
            </a:r>
            <a:endParaRPr lang="en-US" sz="1400" dirty="0"/>
          </a:p>
        </p:txBody>
      </p:sp>
      <p:sp>
        <p:nvSpPr>
          <p:cNvPr id="44" name="Shape 41"/>
          <p:cNvSpPr/>
          <p:nvPr/>
        </p:nvSpPr>
        <p:spPr>
          <a:xfrm>
            <a:off x="7522197" y="2176272"/>
            <a:ext cx="0" cy="237744"/>
          </a:xfrm>
          <a:prstGeom prst="line">
            <a:avLst/>
          </a:prstGeom>
          <a:noFill/>
          <a:ln w="22225">
            <a:solidFill>
              <a:srgbClr val="2E74C6"/>
            </a:solidFill>
            <a:prstDash val="dash"/>
            <a:tailEnd type="triangle"/>
          </a:ln>
        </p:spPr>
        <p:txBody>
          <a:bodyPr/>
          <a:lstStyle/>
          <a:p>
            <a:endParaRPr lang="ko-KR" altLang="en-US"/>
          </a:p>
        </p:txBody>
      </p:sp>
      <p:sp>
        <p:nvSpPr>
          <p:cNvPr id="45" name="Shape 42"/>
          <p:cNvSpPr/>
          <p:nvPr/>
        </p:nvSpPr>
        <p:spPr>
          <a:xfrm>
            <a:off x="9013812" y="2176272"/>
            <a:ext cx="0" cy="237744"/>
          </a:xfrm>
          <a:prstGeom prst="line">
            <a:avLst/>
          </a:prstGeom>
          <a:noFill/>
          <a:ln w="22225">
            <a:solidFill>
              <a:srgbClr val="2E74C6"/>
            </a:solidFill>
            <a:prstDash val="dash"/>
            <a:tailEnd type="triangle"/>
          </a:ln>
        </p:spPr>
        <p:txBody>
          <a:bodyPr/>
          <a:lstStyle/>
          <a:p>
            <a:endParaRPr lang="ko-KR" altLang="en-US"/>
          </a:p>
        </p:txBody>
      </p:sp>
      <p:sp>
        <p:nvSpPr>
          <p:cNvPr id="46" name="Text 43"/>
          <p:cNvSpPr txBox="1"/>
          <p:nvPr/>
        </p:nvSpPr>
        <p:spPr>
          <a:xfrm>
            <a:off x="7595349" y="2167128"/>
            <a:ext cx="914400" cy="256032"/>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읽어 씀</a:t>
            </a:r>
            <a:endParaRPr lang="en-US" sz="1400" dirty="0"/>
          </a:p>
        </p:txBody>
      </p:sp>
      <p:sp>
        <p:nvSpPr>
          <p:cNvPr id="47" name="Shape 44"/>
          <p:cNvSpPr/>
          <p:nvPr/>
        </p:nvSpPr>
        <p:spPr>
          <a:xfrm>
            <a:off x="509321" y="3017520"/>
            <a:ext cx="6583680" cy="365760"/>
          </a:xfrm>
          <a:prstGeom prst="roundRect">
            <a:avLst>
              <a:gd name="adj" fmla="val 12500"/>
            </a:avLst>
          </a:prstGeom>
          <a:solidFill>
            <a:srgbClr val="404155"/>
          </a:solidFill>
          <a:ln/>
        </p:spPr>
        <p:txBody>
          <a:bodyPr/>
          <a:lstStyle/>
          <a:p>
            <a:endParaRPr lang="ko-KR" altLang="en-US"/>
          </a:p>
        </p:txBody>
      </p:sp>
      <p:sp>
        <p:nvSpPr>
          <p:cNvPr id="48" name="Text 45"/>
          <p:cNvSpPr txBox="1"/>
          <p:nvPr/>
        </p:nvSpPr>
        <p:spPr>
          <a:xfrm>
            <a:off x="509321" y="3017520"/>
            <a:ext cx="658368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스키마 없이 추출하면 (실측)</a:t>
            </a:r>
            <a:endParaRPr lang="en-US" sz="1600" dirty="0"/>
          </a:p>
        </p:txBody>
      </p:sp>
      <p:sp>
        <p:nvSpPr>
          <p:cNvPr id="49" name="Shape 46"/>
          <p:cNvSpPr/>
          <p:nvPr/>
        </p:nvSpPr>
        <p:spPr>
          <a:xfrm>
            <a:off x="509321" y="3438144"/>
            <a:ext cx="6583680" cy="3072384"/>
          </a:xfrm>
          <a:prstGeom prst="roundRect">
            <a:avLst>
              <a:gd name="adj" fmla="val 2381"/>
            </a:avLst>
          </a:prstGeom>
          <a:solidFill>
            <a:srgbClr val="FFFFFF"/>
          </a:solidFill>
          <a:ln w="12700">
            <a:solidFill>
              <a:srgbClr val="D9E0EC"/>
            </a:solidFill>
            <a:prstDash val="solid"/>
          </a:ln>
        </p:spPr>
        <p:txBody>
          <a:bodyPr/>
          <a:lstStyle/>
          <a:p>
            <a:endParaRPr lang="ko-KR" altLang="en-US"/>
          </a:p>
        </p:txBody>
      </p:sp>
      <p:sp>
        <p:nvSpPr>
          <p:cNvPr id="50" name="Text 47"/>
          <p:cNvSpPr txBox="1"/>
          <p:nvPr/>
        </p:nvSpPr>
        <p:spPr>
          <a:xfrm>
            <a:off x="692201" y="3511296"/>
            <a:ext cx="6217920" cy="310896"/>
          </a:xfrm>
          <a:prstGeom prst="rect">
            <a:avLst/>
          </a:prstGeom>
          <a:noFill/>
          <a:ln/>
        </p:spPr>
        <p:txBody>
          <a:bodyPr wrap="square" lIns="0" tIns="0" rIns="0" bIns="0"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로컬 gemma-4 12B로 청크 2개를 스키마 없이 추출 → 라벨 11종</a:t>
            </a:r>
            <a:endParaRPr lang="en-US" sz="1500" dirty="0"/>
          </a:p>
        </p:txBody>
      </p:sp>
      <p:sp>
        <p:nvSpPr>
          <p:cNvPr id="51" name="Shape 48"/>
          <p:cNvSpPr/>
          <p:nvPr/>
        </p:nvSpPr>
        <p:spPr>
          <a:xfrm>
            <a:off x="692201" y="3895344"/>
            <a:ext cx="1143000" cy="329184"/>
          </a:xfrm>
          <a:prstGeom prst="roundRect">
            <a:avLst>
              <a:gd name="adj" fmla="val 45000"/>
            </a:avLst>
          </a:prstGeom>
          <a:solidFill>
            <a:srgbClr val="2E74C6"/>
          </a:solidFill>
          <a:ln/>
        </p:spPr>
        <p:txBody>
          <a:bodyPr/>
          <a:lstStyle/>
          <a:p>
            <a:endParaRPr lang="ko-KR" altLang="en-US"/>
          </a:p>
        </p:txBody>
      </p:sp>
      <p:sp>
        <p:nvSpPr>
          <p:cNvPr id="52" name="Text 49"/>
          <p:cNvSpPr txBox="1"/>
          <p:nvPr/>
        </p:nvSpPr>
        <p:spPr>
          <a:xfrm>
            <a:off x="692201" y="3895344"/>
            <a:ext cx="1143000"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Brand</a:t>
            </a:r>
            <a:endParaRPr lang="en-US" sz="1400" dirty="0"/>
          </a:p>
        </p:txBody>
      </p:sp>
      <p:sp>
        <p:nvSpPr>
          <p:cNvPr id="53" name="Shape 50"/>
          <p:cNvSpPr/>
          <p:nvPr/>
        </p:nvSpPr>
        <p:spPr>
          <a:xfrm>
            <a:off x="1926641" y="3895344"/>
            <a:ext cx="1508760" cy="329184"/>
          </a:xfrm>
          <a:prstGeom prst="roundRect">
            <a:avLst>
              <a:gd name="adj" fmla="val 45000"/>
            </a:avLst>
          </a:prstGeom>
          <a:solidFill>
            <a:srgbClr val="2E74C6"/>
          </a:solidFill>
          <a:ln/>
        </p:spPr>
        <p:txBody>
          <a:bodyPr/>
          <a:lstStyle/>
          <a:p>
            <a:endParaRPr lang="ko-KR" altLang="en-US"/>
          </a:p>
        </p:txBody>
      </p:sp>
      <p:sp>
        <p:nvSpPr>
          <p:cNvPr id="54" name="Text 51"/>
          <p:cNvSpPr txBox="1"/>
          <p:nvPr/>
        </p:nvSpPr>
        <p:spPr>
          <a:xfrm>
            <a:off x="1926641" y="3895344"/>
            <a:ext cx="1508760"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CardProduct</a:t>
            </a:r>
            <a:endParaRPr lang="en-US" sz="1400" dirty="0"/>
          </a:p>
        </p:txBody>
      </p:sp>
      <p:sp>
        <p:nvSpPr>
          <p:cNvPr id="55" name="Text 52"/>
          <p:cNvSpPr txBox="1"/>
          <p:nvPr/>
        </p:nvSpPr>
        <p:spPr>
          <a:xfrm>
            <a:off x="3572561" y="3895344"/>
            <a:ext cx="3291840" cy="329184"/>
          </a:xfrm>
          <a:prstGeom prst="rect">
            <a:avLst/>
          </a:prstGeom>
          <a:noFill/>
          <a:ln/>
        </p:spPr>
        <p:txBody>
          <a:bodyPr wrap="square" lIns="0" tIns="0" rIns="0" bIns="0" rtlCol="0" anchor="ctr"/>
          <a:lstStyle/>
          <a:p>
            <a:pPr marL="0" indent="0" algn="l">
              <a:buNone/>
            </a:pPr>
            <a:r>
              <a:rPr lang="en-US" sz="1500" b="1" dirty="0">
                <a:solidFill>
                  <a:srgbClr val="2E74C6"/>
                </a:solidFill>
                <a:latin typeface="Pretendard" pitchFamily="34" charset="0"/>
                <a:ea typeface="Pretendard" pitchFamily="34" charset="-122"/>
                <a:cs typeface="Pretendard" pitchFamily="34" charset="-120"/>
              </a:rPr>
              <a:t>= 카드 하나가 라벨 2개로</a:t>
            </a:r>
            <a:endParaRPr lang="en-US" sz="1500" dirty="0"/>
          </a:p>
        </p:txBody>
      </p:sp>
      <p:sp>
        <p:nvSpPr>
          <p:cNvPr id="56" name="Shape 53"/>
          <p:cNvSpPr/>
          <p:nvPr/>
        </p:nvSpPr>
        <p:spPr>
          <a:xfrm>
            <a:off x="692201" y="4297680"/>
            <a:ext cx="1143000" cy="329184"/>
          </a:xfrm>
          <a:prstGeom prst="roundRect">
            <a:avLst>
              <a:gd name="adj" fmla="val 45000"/>
            </a:avLst>
          </a:prstGeom>
          <a:solidFill>
            <a:srgbClr val="2E74C6"/>
          </a:solidFill>
          <a:ln/>
        </p:spPr>
        <p:txBody>
          <a:bodyPr/>
          <a:lstStyle/>
          <a:p>
            <a:endParaRPr lang="ko-KR" altLang="en-US"/>
          </a:p>
        </p:txBody>
      </p:sp>
      <p:sp>
        <p:nvSpPr>
          <p:cNvPr id="57" name="Text 54"/>
          <p:cNvSpPr txBox="1"/>
          <p:nvPr/>
        </p:nvSpPr>
        <p:spPr>
          <a:xfrm>
            <a:off x="692201" y="4297680"/>
            <a:ext cx="1143000"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Fee</a:t>
            </a:r>
            <a:endParaRPr lang="en-US" sz="1400" dirty="0"/>
          </a:p>
        </p:txBody>
      </p:sp>
      <p:sp>
        <p:nvSpPr>
          <p:cNvPr id="58" name="Shape 55"/>
          <p:cNvSpPr/>
          <p:nvPr/>
        </p:nvSpPr>
        <p:spPr>
          <a:xfrm>
            <a:off x="1926641" y="4297680"/>
            <a:ext cx="1508760" cy="329184"/>
          </a:xfrm>
          <a:prstGeom prst="roundRect">
            <a:avLst>
              <a:gd name="adj" fmla="val 45000"/>
            </a:avLst>
          </a:prstGeom>
          <a:solidFill>
            <a:srgbClr val="2E74C6"/>
          </a:solidFill>
          <a:ln/>
        </p:spPr>
        <p:txBody>
          <a:bodyPr/>
          <a:lstStyle/>
          <a:p>
            <a:endParaRPr lang="ko-KR" altLang="en-US"/>
          </a:p>
        </p:txBody>
      </p:sp>
      <p:sp>
        <p:nvSpPr>
          <p:cNvPr id="59" name="Text 56"/>
          <p:cNvSpPr txBox="1"/>
          <p:nvPr/>
        </p:nvSpPr>
        <p:spPr>
          <a:xfrm>
            <a:off x="1926641" y="4297680"/>
            <a:ext cx="1508760"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AnnualFee</a:t>
            </a:r>
            <a:endParaRPr lang="en-US" sz="1400" dirty="0"/>
          </a:p>
        </p:txBody>
      </p:sp>
      <p:sp>
        <p:nvSpPr>
          <p:cNvPr id="60" name="Text 57"/>
          <p:cNvSpPr txBox="1"/>
          <p:nvPr/>
        </p:nvSpPr>
        <p:spPr>
          <a:xfrm>
            <a:off x="3572561" y="4297680"/>
            <a:ext cx="3291840" cy="329184"/>
          </a:xfrm>
          <a:prstGeom prst="rect">
            <a:avLst/>
          </a:prstGeom>
          <a:noFill/>
          <a:ln/>
        </p:spPr>
        <p:txBody>
          <a:bodyPr wrap="square" lIns="0" tIns="0" rIns="0" bIns="0" rtlCol="0" anchor="ctr"/>
          <a:lstStyle/>
          <a:p>
            <a:pPr marL="0" indent="0" algn="l">
              <a:buNone/>
            </a:pPr>
            <a:r>
              <a:rPr lang="en-US" sz="1500" b="1" dirty="0">
                <a:solidFill>
                  <a:srgbClr val="2E74C6"/>
                </a:solidFill>
                <a:latin typeface="Pretendard" pitchFamily="34" charset="0"/>
                <a:ea typeface="Pretendard" pitchFamily="34" charset="-122"/>
                <a:cs typeface="Pretendard" pitchFamily="34" charset="-120"/>
              </a:rPr>
              <a:t>= 요금도 라벨 2개로</a:t>
            </a:r>
            <a:endParaRPr lang="en-US" sz="1500" dirty="0"/>
          </a:p>
        </p:txBody>
      </p:sp>
      <p:sp>
        <p:nvSpPr>
          <p:cNvPr id="61" name="Shape 58"/>
          <p:cNvSpPr/>
          <p:nvPr/>
        </p:nvSpPr>
        <p:spPr>
          <a:xfrm>
            <a:off x="692201" y="4718304"/>
            <a:ext cx="114300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62" name="Text 59"/>
          <p:cNvSpPr txBox="1"/>
          <p:nvPr/>
        </p:nvSpPr>
        <p:spPr>
          <a:xfrm>
            <a:off x="692201" y="4718304"/>
            <a:ext cx="114300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Channel</a:t>
            </a:r>
            <a:endParaRPr lang="en-US" sz="1400" dirty="0"/>
          </a:p>
        </p:txBody>
      </p:sp>
      <p:sp>
        <p:nvSpPr>
          <p:cNvPr id="63" name="Shape 60"/>
          <p:cNvSpPr/>
          <p:nvPr/>
        </p:nvSpPr>
        <p:spPr>
          <a:xfrm>
            <a:off x="1926641" y="4718304"/>
            <a:ext cx="109728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64" name="Text 61"/>
          <p:cNvSpPr txBox="1"/>
          <p:nvPr/>
        </p:nvSpPr>
        <p:spPr>
          <a:xfrm>
            <a:off x="1926641" y="4718304"/>
            <a:ext cx="109728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Benefit</a:t>
            </a:r>
            <a:endParaRPr lang="en-US" sz="1400" dirty="0"/>
          </a:p>
        </p:txBody>
      </p:sp>
      <p:sp>
        <p:nvSpPr>
          <p:cNvPr id="65" name="Shape 62"/>
          <p:cNvSpPr/>
          <p:nvPr/>
        </p:nvSpPr>
        <p:spPr>
          <a:xfrm>
            <a:off x="3115361" y="4718304"/>
            <a:ext cx="114300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66" name="Text 63"/>
          <p:cNvSpPr txBox="1"/>
          <p:nvPr/>
        </p:nvSpPr>
        <p:spPr>
          <a:xfrm>
            <a:off x="3115361" y="4718304"/>
            <a:ext cx="114300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Guardian</a:t>
            </a:r>
            <a:endParaRPr lang="en-US" sz="1400" dirty="0"/>
          </a:p>
        </p:txBody>
      </p:sp>
      <p:sp>
        <p:nvSpPr>
          <p:cNvPr id="67" name="Shape 64"/>
          <p:cNvSpPr/>
          <p:nvPr/>
        </p:nvSpPr>
        <p:spPr>
          <a:xfrm>
            <a:off x="4349801" y="4718304"/>
            <a:ext cx="91440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68" name="Text 65"/>
          <p:cNvSpPr txBox="1"/>
          <p:nvPr/>
        </p:nvSpPr>
        <p:spPr>
          <a:xfrm>
            <a:off x="4349801" y="4718304"/>
            <a:ext cx="91440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Grade</a:t>
            </a:r>
            <a:endParaRPr lang="en-US" sz="1400" dirty="0"/>
          </a:p>
        </p:txBody>
      </p:sp>
      <p:sp>
        <p:nvSpPr>
          <p:cNvPr id="69" name="Shape 66"/>
          <p:cNvSpPr/>
          <p:nvPr/>
        </p:nvSpPr>
        <p:spPr>
          <a:xfrm>
            <a:off x="5355641" y="4718304"/>
            <a:ext cx="82296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70" name="Text 67"/>
          <p:cNvSpPr txBox="1"/>
          <p:nvPr/>
        </p:nvSpPr>
        <p:spPr>
          <a:xfrm>
            <a:off x="5355641" y="4718304"/>
            <a:ext cx="82296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Date</a:t>
            </a:r>
            <a:endParaRPr lang="en-US" sz="1400" dirty="0"/>
          </a:p>
        </p:txBody>
      </p:sp>
      <p:sp>
        <p:nvSpPr>
          <p:cNvPr id="71" name="Shape 68"/>
          <p:cNvSpPr/>
          <p:nvPr/>
        </p:nvSpPr>
        <p:spPr>
          <a:xfrm>
            <a:off x="692201" y="5102352"/>
            <a:ext cx="86868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72" name="Text 69"/>
          <p:cNvSpPr txBox="1"/>
          <p:nvPr/>
        </p:nvSpPr>
        <p:spPr>
          <a:xfrm>
            <a:off x="692201" y="5102352"/>
            <a:ext cx="86868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Store</a:t>
            </a:r>
            <a:endParaRPr lang="en-US" sz="1400" dirty="0"/>
          </a:p>
        </p:txBody>
      </p:sp>
      <p:sp>
        <p:nvSpPr>
          <p:cNvPr id="73" name="Shape 70"/>
          <p:cNvSpPr/>
          <p:nvPr/>
        </p:nvSpPr>
        <p:spPr>
          <a:xfrm>
            <a:off x="1652321" y="5102352"/>
            <a:ext cx="224028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74" name="Text 71"/>
          <p:cNvSpPr txBox="1"/>
          <p:nvPr/>
        </p:nvSpPr>
        <p:spPr>
          <a:xfrm>
            <a:off x="1652321" y="5102352"/>
            <a:ext cx="224028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PerformanceCondition</a:t>
            </a:r>
            <a:endParaRPr lang="en-US" sz="1400" dirty="0"/>
          </a:p>
        </p:txBody>
      </p:sp>
      <p:sp>
        <p:nvSpPr>
          <p:cNvPr id="75" name="Shape 72"/>
          <p:cNvSpPr/>
          <p:nvPr/>
        </p:nvSpPr>
        <p:spPr>
          <a:xfrm>
            <a:off x="692201" y="5522976"/>
            <a:ext cx="6217920" cy="0"/>
          </a:xfrm>
          <a:prstGeom prst="line">
            <a:avLst/>
          </a:prstGeom>
          <a:noFill/>
          <a:ln w="12700">
            <a:solidFill>
              <a:srgbClr val="D9E0EC"/>
            </a:solidFill>
            <a:prstDash val="solid"/>
          </a:ln>
        </p:spPr>
        <p:txBody>
          <a:bodyPr/>
          <a:lstStyle/>
          <a:p>
            <a:endParaRPr lang="ko-KR" altLang="en-US"/>
          </a:p>
        </p:txBody>
      </p:sp>
      <p:sp>
        <p:nvSpPr>
          <p:cNvPr id="76" name="Text 73"/>
          <p:cNvSpPr txBox="1"/>
          <p:nvPr/>
        </p:nvSpPr>
        <p:spPr>
          <a:xfrm>
            <a:off x="692201" y="5568696"/>
            <a:ext cx="6217920" cy="292608"/>
          </a:xfrm>
          <a:prstGeom prst="rect">
            <a:avLst/>
          </a:prstGeom>
          <a:noFill/>
          <a:ln/>
        </p:spPr>
        <p:txBody>
          <a:bodyPr wrap="square" lIns="0" tIns="0" rIns="0" bIns="0"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GraphRAG 도구 기본 노드 타입/관계가 없거나 너무 일반적임</a:t>
            </a:r>
            <a:endParaRPr lang="en-US" sz="1500" dirty="0"/>
          </a:p>
        </p:txBody>
      </p:sp>
      <p:sp>
        <p:nvSpPr>
          <p:cNvPr id="77" name="Text 74"/>
          <p:cNvSpPr txBox="1"/>
          <p:nvPr/>
        </p:nvSpPr>
        <p:spPr>
          <a:xfrm>
            <a:off x="692201" y="5852160"/>
            <a:ext cx="6217920" cy="640080"/>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 Neo4j: 스키마를 안 주면 매번 입력 글에서 자동 추출(사람 검토 없음)</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 MS GraphRAG 기본 타입: organization, person, geo, event</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 LangChain+Neo4j: 허용 목록이 비면 아무 타입이나 만듦</a:t>
            </a:r>
            <a:endParaRPr lang="en-US" sz="1400" dirty="0"/>
          </a:p>
        </p:txBody>
      </p:sp>
      <p:sp>
        <p:nvSpPr>
          <p:cNvPr id="78" name="Shape 75"/>
          <p:cNvSpPr/>
          <p:nvPr/>
        </p:nvSpPr>
        <p:spPr>
          <a:xfrm>
            <a:off x="7321601" y="3017520"/>
            <a:ext cx="6812280" cy="365760"/>
          </a:xfrm>
          <a:prstGeom prst="roundRect">
            <a:avLst>
              <a:gd name="adj" fmla="val 12500"/>
            </a:avLst>
          </a:prstGeom>
          <a:solidFill>
            <a:srgbClr val="1E2A5C"/>
          </a:solidFill>
          <a:ln/>
        </p:spPr>
        <p:txBody>
          <a:bodyPr/>
          <a:lstStyle/>
          <a:p>
            <a:endParaRPr lang="ko-KR" altLang="en-US"/>
          </a:p>
        </p:txBody>
      </p:sp>
      <p:sp>
        <p:nvSpPr>
          <p:cNvPr id="79" name="Text 76"/>
          <p:cNvSpPr txBox="1"/>
          <p:nvPr/>
        </p:nvSpPr>
        <p:spPr>
          <a:xfrm>
            <a:off x="7321601" y="3017520"/>
            <a:ext cx="681228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스키마를 주면 (Native GraphSchema)</a:t>
            </a:r>
            <a:endParaRPr lang="en-US" sz="1600" dirty="0"/>
          </a:p>
        </p:txBody>
      </p:sp>
      <p:sp>
        <p:nvSpPr>
          <p:cNvPr id="80" name="Shape 77"/>
          <p:cNvSpPr/>
          <p:nvPr/>
        </p:nvSpPr>
        <p:spPr>
          <a:xfrm>
            <a:off x="7321601" y="3438144"/>
            <a:ext cx="6812280" cy="1700784"/>
          </a:xfrm>
          <a:prstGeom prst="roundRect">
            <a:avLst>
              <a:gd name="adj" fmla="val 3226"/>
            </a:avLst>
          </a:prstGeom>
          <a:solidFill>
            <a:srgbClr val="F5F8FC"/>
          </a:solidFill>
          <a:ln w="12700">
            <a:solidFill>
              <a:srgbClr val="D9E0EC"/>
            </a:solidFill>
            <a:prstDash val="solid"/>
          </a:ln>
        </p:spPr>
        <p:txBody>
          <a:bodyPr/>
          <a:lstStyle/>
          <a:p>
            <a:endParaRPr lang="ko-KR" altLang="en-US"/>
          </a:p>
        </p:txBody>
      </p:sp>
      <p:sp>
        <p:nvSpPr>
          <p:cNvPr id="81" name="Text 78"/>
          <p:cNvSpPr txBox="1"/>
          <p:nvPr/>
        </p:nvSpPr>
        <p:spPr>
          <a:xfrm>
            <a:off x="7431329" y="3511296"/>
            <a:ext cx="6592824" cy="1572768"/>
          </a:xfrm>
          <a:prstGeom prst="rect">
            <a:avLst/>
          </a:prstGeom>
          <a:noFill/>
          <a:ln/>
        </p:spPr>
        <p:txBody>
          <a:bodyPr wrap="square" lIns="254" tIns="254" rIns="254" bIns="254" rtlCol="0" anchor="t"/>
          <a:lstStyle/>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schema = GraphSchema.model_validate({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"node_types": ["Card", "Benefit", "Fee"],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"relationship_types": ["HAS_BENEFIT", "HAS_FEE"],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"patterns": [("Card", "HAS_BENEFIT", "Benefit"),</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("Card", "HAS_FEE", "Fee")]})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graph = await extractor.run(chunks=chunks, schema=schema)</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result = await GraphPruning().run(graph, schema)</a:t>
            </a:r>
            <a:endParaRPr lang="en-US" sz="1400" dirty="0"/>
          </a:p>
        </p:txBody>
      </p:sp>
      <p:sp>
        <p:nvSpPr>
          <p:cNvPr id="82" name="Shape 79"/>
          <p:cNvSpPr/>
          <p:nvPr/>
        </p:nvSpPr>
        <p:spPr>
          <a:xfrm>
            <a:off x="7321601" y="5248656"/>
            <a:ext cx="3314700" cy="914400"/>
          </a:xfrm>
          <a:prstGeom prst="roundRect">
            <a:avLst>
              <a:gd name="adj" fmla="val 8000"/>
            </a:avLst>
          </a:prstGeom>
          <a:solidFill>
            <a:srgbClr val="EEF3FA"/>
          </a:solidFill>
          <a:ln w="12700">
            <a:solidFill>
              <a:srgbClr val="2E74C6"/>
            </a:solidFill>
            <a:prstDash val="solid"/>
          </a:ln>
        </p:spPr>
        <p:txBody>
          <a:bodyPr/>
          <a:lstStyle/>
          <a:p>
            <a:endParaRPr lang="ko-KR" altLang="en-US"/>
          </a:p>
        </p:txBody>
      </p:sp>
      <p:sp>
        <p:nvSpPr>
          <p:cNvPr id="83" name="Text 80"/>
          <p:cNvSpPr txBox="1"/>
          <p:nvPr/>
        </p:nvSpPr>
        <p:spPr>
          <a:xfrm>
            <a:off x="7458761" y="5285232"/>
            <a:ext cx="3040380" cy="310896"/>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① 추출 안내</a:t>
            </a:r>
            <a:endParaRPr lang="en-US" sz="1600" dirty="0"/>
          </a:p>
        </p:txBody>
      </p:sp>
      <p:sp>
        <p:nvSpPr>
          <p:cNvPr id="84" name="Text 81"/>
          <p:cNvSpPr txBox="1"/>
          <p:nvPr/>
        </p:nvSpPr>
        <p:spPr>
          <a:xfrm>
            <a:off x="7458761" y="5614416"/>
            <a:ext cx="3040380" cy="512064"/>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허용 목록이 추출 프롬프트에</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들어가 LLM이 그 안에서 고름</a:t>
            </a:r>
            <a:endParaRPr lang="en-US" sz="1400" dirty="0"/>
          </a:p>
        </p:txBody>
      </p:sp>
      <p:sp>
        <p:nvSpPr>
          <p:cNvPr id="85" name="Shape 82"/>
          <p:cNvSpPr/>
          <p:nvPr/>
        </p:nvSpPr>
        <p:spPr>
          <a:xfrm>
            <a:off x="10819181" y="5248656"/>
            <a:ext cx="3314700" cy="914400"/>
          </a:xfrm>
          <a:prstGeom prst="roundRect">
            <a:avLst>
              <a:gd name="adj" fmla="val 8000"/>
            </a:avLst>
          </a:prstGeom>
          <a:solidFill>
            <a:srgbClr val="EEF3FA"/>
          </a:solidFill>
          <a:ln w="12700">
            <a:solidFill>
              <a:srgbClr val="2E74C6"/>
            </a:solidFill>
            <a:prstDash val="solid"/>
          </a:ln>
        </p:spPr>
        <p:txBody>
          <a:bodyPr/>
          <a:lstStyle/>
          <a:p>
            <a:endParaRPr lang="ko-KR" altLang="en-US"/>
          </a:p>
        </p:txBody>
      </p:sp>
      <p:sp>
        <p:nvSpPr>
          <p:cNvPr id="86" name="Text 83"/>
          <p:cNvSpPr txBox="1"/>
          <p:nvPr/>
        </p:nvSpPr>
        <p:spPr>
          <a:xfrm>
            <a:off x="10956341" y="5285232"/>
            <a:ext cx="3040380" cy="310896"/>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② 가지치기</a:t>
            </a:r>
            <a:endParaRPr lang="en-US" sz="1600" dirty="0"/>
          </a:p>
        </p:txBody>
      </p:sp>
      <p:sp>
        <p:nvSpPr>
          <p:cNvPr id="87" name="Text 84"/>
          <p:cNvSpPr txBox="1"/>
          <p:nvPr/>
        </p:nvSpPr>
        <p:spPr>
          <a:xfrm>
            <a:off x="10956341" y="5614416"/>
            <a:ext cx="3040380" cy="512064"/>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목록 밖 노드와 관계를 지우고</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지운 개수를 통계로 남김</a:t>
            </a:r>
            <a:endParaRPr lang="en-US" sz="1400" dirty="0"/>
          </a:p>
        </p:txBody>
      </p:sp>
      <p:sp>
        <p:nvSpPr>
          <p:cNvPr id="88" name="Text 85"/>
          <p:cNvSpPr txBox="1"/>
          <p:nvPr/>
        </p:nvSpPr>
        <p:spPr>
          <a:xfrm>
            <a:off x="7321601" y="6217920"/>
            <a:ext cx="6812280" cy="274320"/>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실행 확인: 노드 타입을 주면 목록 밖 타입은 기본 불허</a:t>
            </a:r>
            <a:endParaRPr lang="en-US" sz="1400" dirty="0"/>
          </a:p>
        </p:txBody>
      </p:sp>
      <p:sp>
        <p:nvSpPr>
          <p:cNvPr id="89" name="Shape 86"/>
          <p:cNvSpPr/>
          <p:nvPr/>
        </p:nvSpPr>
        <p:spPr>
          <a:xfrm>
            <a:off x="509321" y="6601968"/>
            <a:ext cx="13624560" cy="621792"/>
          </a:xfrm>
          <a:prstGeom prst="roundRect">
            <a:avLst>
              <a:gd name="adj" fmla="val 11765"/>
            </a:avLst>
          </a:prstGeom>
          <a:solidFill>
            <a:srgbClr val="EEF3FA"/>
          </a:solidFill>
          <a:ln w="19050">
            <a:solidFill>
              <a:srgbClr val="2E74C6"/>
            </a:solidFill>
            <a:prstDash val="solid"/>
          </a:ln>
        </p:spPr>
        <p:txBody>
          <a:bodyPr/>
          <a:lstStyle/>
          <a:p>
            <a:endParaRPr lang="ko-KR" altLang="en-US"/>
          </a:p>
        </p:txBody>
      </p:sp>
      <p:sp>
        <p:nvSpPr>
          <p:cNvPr id="90" name="Shape 87"/>
          <p:cNvSpPr/>
          <p:nvPr/>
        </p:nvSpPr>
        <p:spPr>
          <a:xfrm>
            <a:off x="509321" y="6601968"/>
            <a:ext cx="82296" cy="621792"/>
          </a:xfrm>
          <a:prstGeom prst="rect">
            <a:avLst/>
          </a:prstGeom>
          <a:solidFill>
            <a:srgbClr val="2E74C6"/>
          </a:solidFill>
          <a:ln/>
        </p:spPr>
        <p:txBody>
          <a:bodyPr/>
          <a:lstStyle/>
          <a:p>
            <a:endParaRPr lang="ko-KR" altLang="en-US"/>
          </a:p>
        </p:txBody>
      </p:sp>
      <p:sp>
        <p:nvSpPr>
          <p:cNvPr id="91" name="Text 88"/>
          <p:cNvSpPr txBox="1"/>
          <p:nvPr/>
        </p:nvSpPr>
        <p:spPr>
          <a:xfrm>
            <a:off x="737921" y="6601968"/>
            <a:ext cx="13258800" cy="62179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결론: 스키마는 인덱싱 전 설계 단계에서 확정해 파일로 고정, 인덱싱은 읽어 쓰기만 함.</a:t>
            </a:r>
            <a:endParaRPr lang="en-US" sz="1600" dirty="0"/>
          </a:p>
          <a:p>
            <a:pPr marL="0" indent="0" algn="l">
              <a:buNone/>
            </a:pPr>
            <a:r>
              <a:rPr lang="en-US" sz="1600" b="1" dirty="0">
                <a:solidFill>
                  <a:srgbClr val="1E2A5C"/>
                </a:solidFill>
                <a:latin typeface="Pretendard" pitchFamily="34" charset="0"/>
                <a:ea typeface="Pretendard" pitchFamily="34" charset="-122"/>
                <a:cs typeface="Pretendard" pitchFamily="34" charset="-120"/>
              </a:rPr>
              <a:t>정형 테이블은 변환 규칙으로, 문서는 표본 → 후보 → 사람 확정으로 스키마 설계</a:t>
            </a:r>
            <a:endParaRPr lang="en-US" sz="16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스키마에 정의하는 7가지</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노드 타입과 관계, 각각의 속성, 연결 패턴이 뼈대 — 제약과 허용 범위로 무엇을 지킬지 정함</a:t>
            </a:r>
            <a:endParaRPr lang="en-US" sz="1800" dirty="0"/>
          </a:p>
        </p:txBody>
      </p:sp>
      <p:sp>
        <p:nvSpPr>
          <p:cNvPr id="5" name="Text 2"/>
          <p:cNvSpPr txBox="1"/>
          <p:nvPr/>
        </p:nvSpPr>
        <p:spPr>
          <a:xfrm>
            <a:off x="509321" y="1700784"/>
            <a:ext cx="1828800" cy="2743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뼈대 ① ~ ⑤</a:t>
            </a:r>
            <a:endParaRPr lang="en-US" sz="1400" dirty="0"/>
          </a:p>
        </p:txBody>
      </p:sp>
      <p:sp>
        <p:nvSpPr>
          <p:cNvPr id="6" name="Text 3"/>
          <p:cNvSpPr txBox="1"/>
          <p:nvPr/>
        </p:nvSpPr>
        <p:spPr>
          <a:xfrm>
            <a:off x="2338121" y="1700784"/>
            <a:ext cx="4846320" cy="274320"/>
          </a:xfrm>
          <a:prstGeom prst="rect">
            <a:avLst/>
          </a:prstGeom>
          <a:noFill/>
          <a:ln/>
        </p:spPr>
        <p:txBody>
          <a:bodyPr wrap="square" lIns="0" tIns="0" rIns="0" bIns="0" rtlCol="0" anchor="ctr"/>
          <a:lstStyle/>
          <a:p>
            <a:pPr marL="0" indent="0" algn="r">
              <a:buNone/>
            </a:pPr>
            <a:r>
              <a:rPr lang="en-US" sz="1400" dirty="0">
                <a:solidFill>
                  <a:srgbClr val="4A5364"/>
                </a:solidFill>
                <a:latin typeface="Pretendard" pitchFamily="34" charset="0"/>
                <a:ea typeface="Pretendard" pitchFamily="34" charset="-122"/>
                <a:cs typeface="Pretendard" pitchFamily="34" charset="-120"/>
              </a:rPr>
              <a:t>왼쪽부터 정의할 것, GraphSchema 칸, 카드 예</a:t>
            </a:r>
            <a:endParaRPr lang="en-US" sz="1400" dirty="0"/>
          </a:p>
        </p:txBody>
      </p:sp>
      <p:sp>
        <p:nvSpPr>
          <p:cNvPr id="7" name="Shape 4"/>
          <p:cNvSpPr/>
          <p:nvPr/>
        </p:nvSpPr>
        <p:spPr>
          <a:xfrm>
            <a:off x="509321" y="2011680"/>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8" name="Shape 5"/>
          <p:cNvSpPr/>
          <p:nvPr/>
        </p:nvSpPr>
        <p:spPr>
          <a:xfrm>
            <a:off x="600761" y="2103120"/>
            <a:ext cx="347472" cy="347472"/>
          </a:xfrm>
          <a:prstGeom prst="roundRect">
            <a:avLst>
              <a:gd name="adj" fmla="val 13158"/>
            </a:avLst>
          </a:prstGeom>
          <a:solidFill>
            <a:srgbClr val="1E2A5C"/>
          </a:solidFill>
          <a:ln/>
        </p:spPr>
        <p:txBody>
          <a:bodyPr/>
          <a:lstStyle/>
          <a:p>
            <a:endParaRPr lang="ko-KR" altLang="en-US"/>
          </a:p>
        </p:txBody>
      </p:sp>
      <p:sp>
        <p:nvSpPr>
          <p:cNvPr id="9" name="Text 6"/>
          <p:cNvSpPr txBox="1"/>
          <p:nvPr/>
        </p:nvSpPr>
        <p:spPr>
          <a:xfrm>
            <a:off x="600761" y="2103120"/>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①</a:t>
            </a:r>
            <a:endParaRPr lang="en-US" sz="1600" dirty="0"/>
          </a:p>
        </p:txBody>
      </p:sp>
      <p:sp>
        <p:nvSpPr>
          <p:cNvPr id="10" name="Text 7"/>
          <p:cNvSpPr txBox="1"/>
          <p:nvPr/>
        </p:nvSpPr>
        <p:spPr>
          <a:xfrm>
            <a:off x="1039673" y="2011680"/>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노드 타입</a:t>
            </a:r>
            <a:endParaRPr lang="en-US" sz="1600" dirty="0"/>
          </a:p>
        </p:txBody>
      </p:sp>
      <p:sp>
        <p:nvSpPr>
          <p:cNvPr id="11" name="Text 8"/>
          <p:cNvSpPr txBox="1"/>
          <p:nvPr/>
        </p:nvSpPr>
        <p:spPr>
          <a:xfrm>
            <a:off x="2200961" y="2011680"/>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node_types[].label</a:t>
            </a:r>
            <a:endParaRPr lang="en-US" sz="1400" dirty="0"/>
          </a:p>
        </p:txBody>
      </p:sp>
      <p:sp>
        <p:nvSpPr>
          <p:cNvPr id="12" name="Text 9"/>
          <p:cNvSpPr txBox="1"/>
          <p:nvPr/>
        </p:nvSpPr>
        <p:spPr>
          <a:xfrm>
            <a:off x="5035601" y="2011680"/>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Card, Benefit</a:t>
            </a:r>
            <a:endParaRPr lang="en-US" sz="1400" dirty="0"/>
          </a:p>
        </p:txBody>
      </p:sp>
      <p:sp>
        <p:nvSpPr>
          <p:cNvPr id="13" name="Shape 10"/>
          <p:cNvSpPr/>
          <p:nvPr/>
        </p:nvSpPr>
        <p:spPr>
          <a:xfrm>
            <a:off x="509321" y="2587752"/>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14" name="Shape 11"/>
          <p:cNvSpPr/>
          <p:nvPr/>
        </p:nvSpPr>
        <p:spPr>
          <a:xfrm>
            <a:off x="600761" y="2679192"/>
            <a:ext cx="347472" cy="347472"/>
          </a:xfrm>
          <a:prstGeom prst="roundRect">
            <a:avLst>
              <a:gd name="adj" fmla="val 13158"/>
            </a:avLst>
          </a:prstGeom>
          <a:solidFill>
            <a:srgbClr val="1E2A5C"/>
          </a:solidFill>
          <a:ln/>
        </p:spPr>
        <p:txBody>
          <a:bodyPr/>
          <a:lstStyle/>
          <a:p>
            <a:endParaRPr lang="ko-KR" altLang="en-US"/>
          </a:p>
        </p:txBody>
      </p:sp>
      <p:sp>
        <p:nvSpPr>
          <p:cNvPr id="15" name="Text 12"/>
          <p:cNvSpPr txBox="1"/>
          <p:nvPr/>
        </p:nvSpPr>
        <p:spPr>
          <a:xfrm>
            <a:off x="600761" y="2679192"/>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②</a:t>
            </a:r>
            <a:endParaRPr lang="en-US" sz="1600" dirty="0"/>
          </a:p>
        </p:txBody>
      </p:sp>
      <p:sp>
        <p:nvSpPr>
          <p:cNvPr id="16" name="Text 13"/>
          <p:cNvSpPr txBox="1"/>
          <p:nvPr/>
        </p:nvSpPr>
        <p:spPr>
          <a:xfrm>
            <a:off x="1039673" y="2587752"/>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노드 속성</a:t>
            </a:r>
            <a:endParaRPr lang="en-US" sz="1600" dirty="0"/>
          </a:p>
        </p:txBody>
      </p:sp>
      <p:sp>
        <p:nvSpPr>
          <p:cNvPr id="17" name="Text 14"/>
          <p:cNvSpPr txBox="1"/>
          <p:nvPr/>
        </p:nvSpPr>
        <p:spPr>
          <a:xfrm>
            <a:off x="2200961" y="2587752"/>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node_types[]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.properties</a:t>
            </a:r>
            <a:endParaRPr lang="en-US" sz="1400" dirty="0"/>
          </a:p>
        </p:txBody>
      </p:sp>
      <p:sp>
        <p:nvSpPr>
          <p:cNvPr id="18" name="Text 15"/>
          <p:cNvSpPr txBox="1"/>
          <p:nvPr/>
        </p:nvSpPr>
        <p:spPr>
          <a:xfrm>
            <a:off x="5035601" y="2587752"/>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Card {name, annual_fee}</a:t>
            </a:r>
            <a:endParaRPr lang="en-US" sz="1400" dirty="0"/>
          </a:p>
        </p:txBody>
      </p:sp>
      <p:sp>
        <p:nvSpPr>
          <p:cNvPr id="19" name="Shape 16"/>
          <p:cNvSpPr/>
          <p:nvPr/>
        </p:nvSpPr>
        <p:spPr>
          <a:xfrm>
            <a:off x="509321" y="3163824"/>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20" name="Shape 17"/>
          <p:cNvSpPr/>
          <p:nvPr/>
        </p:nvSpPr>
        <p:spPr>
          <a:xfrm>
            <a:off x="600761" y="3255264"/>
            <a:ext cx="347472" cy="347472"/>
          </a:xfrm>
          <a:prstGeom prst="roundRect">
            <a:avLst>
              <a:gd name="adj" fmla="val 13158"/>
            </a:avLst>
          </a:prstGeom>
          <a:solidFill>
            <a:srgbClr val="1E2A5C"/>
          </a:solidFill>
          <a:ln/>
        </p:spPr>
        <p:txBody>
          <a:bodyPr/>
          <a:lstStyle/>
          <a:p>
            <a:endParaRPr lang="ko-KR" altLang="en-US"/>
          </a:p>
        </p:txBody>
      </p:sp>
      <p:sp>
        <p:nvSpPr>
          <p:cNvPr id="21" name="Text 18"/>
          <p:cNvSpPr txBox="1"/>
          <p:nvPr/>
        </p:nvSpPr>
        <p:spPr>
          <a:xfrm>
            <a:off x="600761" y="3255264"/>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③</a:t>
            </a:r>
            <a:endParaRPr lang="en-US" sz="1600" dirty="0"/>
          </a:p>
        </p:txBody>
      </p:sp>
      <p:sp>
        <p:nvSpPr>
          <p:cNvPr id="22" name="Text 19"/>
          <p:cNvSpPr txBox="1"/>
          <p:nvPr/>
        </p:nvSpPr>
        <p:spPr>
          <a:xfrm>
            <a:off x="1039673" y="3163824"/>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관계</a:t>
            </a:r>
            <a:endParaRPr lang="en-US" sz="1600" dirty="0"/>
          </a:p>
        </p:txBody>
      </p:sp>
      <p:sp>
        <p:nvSpPr>
          <p:cNvPr id="23" name="Text 20"/>
          <p:cNvSpPr txBox="1"/>
          <p:nvPr/>
        </p:nvSpPr>
        <p:spPr>
          <a:xfrm>
            <a:off x="2200961" y="3163824"/>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relationship_types[]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.label</a:t>
            </a:r>
            <a:endParaRPr lang="en-US" sz="1400" dirty="0"/>
          </a:p>
        </p:txBody>
      </p:sp>
      <p:sp>
        <p:nvSpPr>
          <p:cNvPr id="24" name="Text 21"/>
          <p:cNvSpPr txBox="1"/>
          <p:nvPr/>
        </p:nvSpPr>
        <p:spPr>
          <a:xfrm>
            <a:off x="5035601" y="3163824"/>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HAS_BENEFIT</a:t>
            </a:r>
            <a:endParaRPr lang="en-US" sz="1400" dirty="0"/>
          </a:p>
        </p:txBody>
      </p:sp>
      <p:sp>
        <p:nvSpPr>
          <p:cNvPr id="25" name="Shape 22"/>
          <p:cNvSpPr/>
          <p:nvPr/>
        </p:nvSpPr>
        <p:spPr>
          <a:xfrm>
            <a:off x="509321" y="3739896"/>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26" name="Shape 23"/>
          <p:cNvSpPr/>
          <p:nvPr/>
        </p:nvSpPr>
        <p:spPr>
          <a:xfrm>
            <a:off x="600761" y="3831336"/>
            <a:ext cx="347472" cy="347472"/>
          </a:xfrm>
          <a:prstGeom prst="roundRect">
            <a:avLst>
              <a:gd name="adj" fmla="val 13158"/>
            </a:avLst>
          </a:prstGeom>
          <a:solidFill>
            <a:srgbClr val="1E2A5C"/>
          </a:solidFill>
          <a:ln/>
        </p:spPr>
        <p:txBody>
          <a:bodyPr/>
          <a:lstStyle/>
          <a:p>
            <a:endParaRPr lang="ko-KR" altLang="en-US"/>
          </a:p>
        </p:txBody>
      </p:sp>
      <p:sp>
        <p:nvSpPr>
          <p:cNvPr id="27" name="Text 24"/>
          <p:cNvSpPr txBox="1"/>
          <p:nvPr/>
        </p:nvSpPr>
        <p:spPr>
          <a:xfrm>
            <a:off x="600761" y="3831336"/>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④</a:t>
            </a:r>
            <a:endParaRPr lang="en-US" sz="1600" dirty="0"/>
          </a:p>
        </p:txBody>
      </p:sp>
      <p:sp>
        <p:nvSpPr>
          <p:cNvPr id="28" name="Text 25"/>
          <p:cNvSpPr txBox="1"/>
          <p:nvPr/>
        </p:nvSpPr>
        <p:spPr>
          <a:xfrm>
            <a:off x="1039673" y="3739896"/>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관계 속성</a:t>
            </a:r>
            <a:endParaRPr lang="en-US" sz="1600" dirty="0"/>
          </a:p>
        </p:txBody>
      </p:sp>
      <p:sp>
        <p:nvSpPr>
          <p:cNvPr id="29" name="Text 26"/>
          <p:cNvSpPr txBox="1"/>
          <p:nvPr/>
        </p:nvSpPr>
        <p:spPr>
          <a:xfrm>
            <a:off x="2200961" y="3739896"/>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relationship_types[]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.properties</a:t>
            </a:r>
            <a:endParaRPr lang="en-US" sz="1400" dirty="0"/>
          </a:p>
        </p:txBody>
      </p:sp>
      <p:sp>
        <p:nvSpPr>
          <p:cNvPr id="30" name="Text 27"/>
          <p:cNvSpPr txBox="1"/>
          <p:nvPr/>
        </p:nvSpPr>
        <p:spPr>
          <a:xfrm>
            <a:off x="5035601" y="3739896"/>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HAS_BENEFIT {valid_until}</a:t>
            </a:r>
            <a:endParaRPr lang="en-US" sz="1400" dirty="0"/>
          </a:p>
        </p:txBody>
      </p:sp>
      <p:sp>
        <p:nvSpPr>
          <p:cNvPr id="31" name="Shape 28"/>
          <p:cNvSpPr/>
          <p:nvPr/>
        </p:nvSpPr>
        <p:spPr>
          <a:xfrm>
            <a:off x="509321" y="4315968"/>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32" name="Shape 29"/>
          <p:cNvSpPr/>
          <p:nvPr/>
        </p:nvSpPr>
        <p:spPr>
          <a:xfrm>
            <a:off x="600761" y="4407408"/>
            <a:ext cx="347472" cy="347472"/>
          </a:xfrm>
          <a:prstGeom prst="roundRect">
            <a:avLst>
              <a:gd name="adj" fmla="val 13158"/>
            </a:avLst>
          </a:prstGeom>
          <a:solidFill>
            <a:srgbClr val="1E2A5C"/>
          </a:solidFill>
          <a:ln/>
        </p:spPr>
        <p:txBody>
          <a:bodyPr/>
          <a:lstStyle/>
          <a:p>
            <a:endParaRPr lang="ko-KR" altLang="en-US"/>
          </a:p>
        </p:txBody>
      </p:sp>
      <p:sp>
        <p:nvSpPr>
          <p:cNvPr id="33" name="Text 30"/>
          <p:cNvSpPr txBox="1"/>
          <p:nvPr/>
        </p:nvSpPr>
        <p:spPr>
          <a:xfrm>
            <a:off x="600761" y="4407408"/>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⑤</a:t>
            </a:r>
            <a:endParaRPr lang="en-US" sz="1600" dirty="0"/>
          </a:p>
        </p:txBody>
      </p:sp>
      <p:sp>
        <p:nvSpPr>
          <p:cNvPr id="34" name="Text 31"/>
          <p:cNvSpPr txBox="1"/>
          <p:nvPr/>
        </p:nvSpPr>
        <p:spPr>
          <a:xfrm>
            <a:off x="1039673" y="4315968"/>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연결 패턴</a:t>
            </a:r>
            <a:endParaRPr lang="en-US" sz="1600" dirty="0"/>
          </a:p>
        </p:txBody>
      </p:sp>
      <p:sp>
        <p:nvSpPr>
          <p:cNvPr id="35" name="Text 32"/>
          <p:cNvSpPr txBox="1"/>
          <p:nvPr/>
        </p:nvSpPr>
        <p:spPr>
          <a:xfrm>
            <a:off x="2200961" y="4315968"/>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patterns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(출발, 관계, 도착)</a:t>
            </a:r>
            <a:endParaRPr lang="en-US" sz="1400" dirty="0"/>
          </a:p>
        </p:txBody>
      </p:sp>
      <p:sp>
        <p:nvSpPr>
          <p:cNvPr id="36" name="Text 33"/>
          <p:cNvSpPr txBox="1"/>
          <p:nvPr/>
        </p:nvSpPr>
        <p:spPr>
          <a:xfrm>
            <a:off x="5035601" y="4315968"/>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(Card, HAS_BENEFIT,</a:t>
            </a:r>
            <a:endParaRPr lang="en-US" sz="1400" dirty="0"/>
          </a:p>
          <a:p>
            <a:pPr marL="0" indent="0" algn="l">
              <a:buNone/>
            </a:pPr>
            <a:r>
              <a:rPr lang="en-US" sz="1400" b="1" dirty="0">
                <a:solidFill>
                  <a:srgbClr val="2B3242"/>
                </a:solidFill>
                <a:latin typeface="Pretendard" pitchFamily="34" charset="0"/>
                <a:ea typeface="Pretendard" pitchFamily="34" charset="-122"/>
                <a:cs typeface="Pretendard" pitchFamily="34" charset="-120"/>
              </a:rPr>
              <a:t>Benefit)</a:t>
            </a:r>
            <a:endParaRPr lang="en-US" sz="1400" dirty="0"/>
          </a:p>
        </p:txBody>
      </p:sp>
      <p:sp>
        <p:nvSpPr>
          <p:cNvPr id="37" name="Shape 34"/>
          <p:cNvSpPr/>
          <p:nvPr/>
        </p:nvSpPr>
        <p:spPr>
          <a:xfrm>
            <a:off x="509321" y="5166360"/>
            <a:ext cx="6675120" cy="530352"/>
          </a:xfrm>
          <a:prstGeom prst="roundRect">
            <a:avLst>
              <a:gd name="adj" fmla="val 10345"/>
            </a:avLst>
          </a:prstGeom>
          <a:solidFill>
            <a:srgbClr val="EEF3FA"/>
          </a:solidFill>
          <a:ln w="12700">
            <a:solidFill>
              <a:srgbClr val="2E74C6"/>
            </a:solidFill>
            <a:prstDash val="solid"/>
          </a:ln>
        </p:spPr>
        <p:txBody>
          <a:bodyPr/>
          <a:lstStyle/>
          <a:p>
            <a:endParaRPr lang="ko-KR" altLang="en-US"/>
          </a:p>
        </p:txBody>
      </p:sp>
      <p:sp>
        <p:nvSpPr>
          <p:cNvPr id="38" name="Shape 35"/>
          <p:cNvSpPr/>
          <p:nvPr/>
        </p:nvSpPr>
        <p:spPr>
          <a:xfrm>
            <a:off x="600761" y="5257800"/>
            <a:ext cx="347472" cy="347472"/>
          </a:xfrm>
          <a:prstGeom prst="roundRect">
            <a:avLst>
              <a:gd name="adj" fmla="val 13158"/>
            </a:avLst>
          </a:prstGeom>
          <a:solidFill>
            <a:srgbClr val="2E74C6"/>
          </a:solidFill>
          <a:ln/>
        </p:spPr>
        <p:txBody>
          <a:bodyPr/>
          <a:lstStyle/>
          <a:p>
            <a:endParaRPr lang="ko-KR" altLang="en-US"/>
          </a:p>
        </p:txBody>
      </p:sp>
      <p:sp>
        <p:nvSpPr>
          <p:cNvPr id="39" name="Text 36"/>
          <p:cNvSpPr txBox="1"/>
          <p:nvPr/>
        </p:nvSpPr>
        <p:spPr>
          <a:xfrm>
            <a:off x="600761" y="5257800"/>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⑥</a:t>
            </a:r>
            <a:endParaRPr lang="en-US" sz="1600" dirty="0"/>
          </a:p>
        </p:txBody>
      </p:sp>
      <p:sp>
        <p:nvSpPr>
          <p:cNvPr id="40" name="Text 37"/>
          <p:cNvSpPr txBox="1"/>
          <p:nvPr/>
        </p:nvSpPr>
        <p:spPr>
          <a:xfrm>
            <a:off x="1039673" y="5166360"/>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제약</a:t>
            </a:r>
            <a:endParaRPr lang="en-US" sz="1600" dirty="0"/>
          </a:p>
        </p:txBody>
      </p:sp>
      <p:sp>
        <p:nvSpPr>
          <p:cNvPr id="41" name="Text 38"/>
          <p:cNvSpPr txBox="1"/>
          <p:nvPr/>
        </p:nvSpPr>
        <p:spPr>
          <a:xfrm>
            <a:off x="2200961" y="5166360"/>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constraints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UNIQUENESS, EXISTENCE, KEY</a:t>
            </a:r>
            <a:endParaRPr lang="en-US" sz="1400" dirty="0"/>
          </a:p>
        </p:txBody>
      </p:sp>
      <p:sp>
        <p:nvSpPr>
          <p:cNvPr id="42" name="Text 39"/>
          <p:cNvSpPr txBox="1"/>
          <p:nvPr/>
        </p:nvSpPr>
        <p:spPr>
          <a:xfrm>
            <a:off x="5035601" y="5166360"/>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Card.name = KEY</a:t>
            </a:r>
            <a:endParaRPr lang="en-US" sz="1400" dirty="0"/>
          </a:p>
        </p:txBody>
      </p:sp>
      <p:sp>
        <p:nvSpPr>
          <p:cNvPr id="43" name="Shape 40"/>
          <p:cNvSpPr/>
          <p:nvPr/>
        </p:nvSpPr>
        <p:spPr>
          <a:xfrm>
            <a:off x="509321" y="5742432"/>
            <a:ext cx="6675120" cy="676656"/>
          </a:xfrm>
          <a:prstGeom prst="roundRect">
            <a:avLst>
              <a:gd name="adj" fmla="val 8108"/>
            </a:avLst>
          </a:prstGeom>
          <a:solidFill>
            <a:srgbClr val="EEF3FA"/>
          </a:solidFill>
          <a:ln w="12700">
            <a:solidFill>
              <a:srgbClr val="2E74C6"/>
            </a:solidFill>
            <a:prstDash val="solid"/>
          </a:ln>
        </p:spPr>
        <p:txBody>
          <a:bodyPr/>
          <a:lstStyle/>
          <a:p>
            <a:endParaRPr lang="ko-KR" altLang="en-US"/>
          </a:p>
        </p:txBody>
      </p:sp>
      <p:sp>
        <p:nvSpPr>
          <p:cNvPr id="44" name="Shape 41"/>
          <p:cNvSpPr/>
          <p:nvPr/>
        </p:nvSpPr>
        <p:spPr>
          <a:xfrm>
            <a:off x="600761" y="5907024"/>
            <a:ext cx="347472" cy="347472"/>
          </a:xfrm>
          <a:prstGeom prst="roundRect">
            <a:avLst>
              <a:gd name="adj" fmla="val 13158"/>
            </a:avLst>
          </a:prstGeom>
          <a:solidFill>
            <a:srgbClr val="2E74C6"/>
          </a:solidFill>
          <a:ln/>
        </p:spPr>
        <p:txBody>
          <a:bodyPr/>
          <a:lstStyle/>
          <a:p>
            <a:endParaRPr lang="ko-KR" altLang="en-US"/>
          </a:p>
        </p:txBody>
      </p:sp>
      <p:sp>
        <p:nvSpPr>
          <p:cNvPr id="45" name="Text 42"/>
          <p:cNvSpPr txBox="1"/>
          <p:nvPr/>
        </p:nvSpPr>
        <p:spPr>
          <a:xfrm>
            <a:off x="600761" y="5907024"/>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⑦</a:t>
            </a:r>
            <a:endParaRPr lang="en-US" sz="1600" dirty="0"/>
          </a:p>
        </p:txBody>
      </p:sp>
      <p:sp>
        <p:nvSpPr>
          <p:cNvPr id="46" name="Text 43"/>
          <p:cNvSpPr txBox="1"/>
          <p:nvPr/>
        </p:nvSpPr>
        <p:spPr>
          <a:xfrm>
            <a:off x="1039673" y="5742432"/>
            <a:ext cx="1143000" cy="676656"/>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허용 범위</a:t>
            </a:r>
            <a:endParaRPr lang="en-US" sz="1600" dirty="0"/>
          </a:p>
        </p:txBody>
      </p:sp>
      <p:sp>
        <p:nvSpPr>
          <p:cNvPr id="47" name="Text 44"/>
          <p:cNvSpPr txBox="1"/>
          <p:nvPr/>
        </p:nvSpPr>
        <p:spPr>
          <a:xfrm>
            <a:off x="2200961" y="5742432"/>
            <a:ext cx="2788920" cy="676656"/>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additional_node_types,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additional_relationship_types,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additional_patterns</a:t>
            </a:r>
            <a:endParaRPr lang="en-US" sz="1400" dirty="0"/>
          </a:p>
        </p:txBody>
      </p:sp>
      <p:sp>
        <p:nvSpPr>
          <p:cNvPr id="48" name="Text 45"/>
          <p:cNvSpPr txBox="1"/>
          <p:nvPr/>
        </p:nvSpPr>
        <p:spPr>
          <a:xfrm>
            <a:off x="5035601" y="5742432"/>
            <a:ext cx="2057400" cy="676656"/>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①~⑤에 지정된 목록 밖을 허용할지 여부</a:t>
            </a:r>
            <a:endParaRPr lang="en-US" sz="1400" dirty="0"/>
          </a:p>
        </p:txBody>
      </p:sp>
      <p:sp>
        <p:nvSpPr>
          <p:cNvPr id="49" name="Text 46"/>
          <p:cNvSpPr txBox="1"/>
          <p:nvPr/>
        </p:nvSpPr>
        <p:spPr>
          <a:xfrm>
            <a:off x="509321" y="4892040"/>
            <a:ext cx="2286000" cy="256032"/>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지킬 규칙 ⑥ ⑦</a:t>
            </a:r>
            <a:endParaRPr lang="en-US" sz="1400" dirty="0"/>
          </a:p>
        </p:txBody>
      </p:sp>
      <p:sp>
        <p:nvSpPr>
          <p:cNvPr id="50" name="Shape 47"/>
          <p:cNvSpPr/>
          <p:nvPr/>
        </p:nvSpPr>
        <p:spPr>
          <a:xfrm>
            <a:off x="7413041" y="1737360"/>
            <a:ext cx="6720840" cy="1371600"/>
          </a:xfrm>
          <a:prstGeom prst="roundRect">
            <a:avLst>
              <a:gd name="adj" fmla="val 5333"/>
            </a:avLst>
          </a:prstGeom>
          <a:solidFill>
            <a:srgbClr val="FFFFFF"/>
          </a:solidFill>
          <a:ln w="12700">
            <a:solidFill>
              <a:srgbClr val="D9E0EC"/>
            </a:solidFill>
            <a:prstDash val="solid"/>
          </a:ln>
        </p:spPr>
        <p:txBody>
          <a:bodyPr/>
          <a:lstStyle/>
          <a:p>
            <a:endParaRPr lang="ko-KR" altLang="en-US"/>
          </a:p>
        </p:txBody>
      </p:sp>
      <p:sp>
        <p:nvSpPr>
          <p:cNvPr id="51" name="Shape 48"/>
          <p:cNvSpPr/>
          <p:nvPr/>
        </p:nvSpPr>
        <p:spPr>
          <a:xfrm>
            <a:off x="7595921" y="1883664"/>
            <a:ext cx="2148840" cy="1078992"/>
          </a:xfrm>
          <a:prstGeom prst="roundRect">
            <a:avLst>
              <a:gd name="adj" fmla="val 6780"/>
            </a:avLst>
          </a:prstGeom>
          <a:solidFill>
            <a:srgbClr val="EEF3FA"/>
          </a:solidFill>
          <a:ln w="19050">
            <a:solidFill>
              <a:srgbClr val="1E2A5C"/>
            </a:solidFill>
            <a:prstDash val="solid"/>
          </a:ln>
        </p:spPr>
        <p:txBody>
          <a:bodyPr/>
          <a:lstStyle/>
          <a:p>
            <a:endParaRPr lang="ko-KR" altLang="en-US"/>
          </a:p>
        </p:txBody>
      </p:sp>
      <p:sp>
        <p:nvSpPr>
          <p:cNvPr id="52" name="Shape 49"/>
          <p:cNvSpPr/>
          <p:nvPr/>
        </p:nvSpPr>
        <p:spPr>
          <a:xfrm>
            <a:off x="7687361" y="1956816"/>
            <a:ext cx="1965960" cy="329184"/>
          </a:xfrm>
          <a:prstGeom prst="roundRect">
            <a:avLst>
              <a:gd name="adj" fmla="val 13889"/>
            </a:avLst>
          </a:prstGeom>
          <a:solidFill>
            <a:srgbClr val="1E2A5C"/>
          </a:solidFill>
          <a:ln/>
        </p:spPr>
        <p:txBody>
          <a:bodyPr/>
          <a:lstStyle/>
          <a:p>
            <a:endParaRPr lang="ko-KR" altLang="en-US"/>
          </a:p>
        </p:txBody>
      </p:sp>
      <p:sp>
        <p:nvSpPr>
          <p:cNvPr id="53" name="Text 50"/>
          <p:cNvSpPr txBox="1"/>
          <p:nvPr/>
        </p:nvSpPr>
        <p:spPr>
          <a:xfrm>
            <a:off x="7687361" y="1956816"/>
            <a:ext cx="1965960"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:Card</a:t>
            </a:r>
            <a:endParaRPr lang="en-US" sz="1500" dirty="0"/>
          </a:p>
        </p:txBody>
      </p:sp>
      <p:sp>
        <p:nvSpPr>
          <p:cNvPr id="54" name="Text 51"/>
          <p:cNvSpPr txBox="1"/>
          <p:nvPr/>
        </p:nvSpPr>
        <p:spPr>
          <a:xfrm>
            <a:off x="7733081" y="2322576"/>
            <a:ext cx="1874520" cy="585216"/>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name (키)</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annual_fee</a:t>
            </a:r>
            <a:endParaRPr lang="en-US" sz="1400" dirty="0"/>
          </a:p>
        </p:txBody>
      </p:sp>
      <p:sp>
        <p:nvSpPr>
          <p:cNvPr id="55" name="Shape 52"/>
          <p:cNvSpPr/>
          <p:nvPr/>
        </p:nvSpPr>
        <p:spPr>
          <a:xfrm>
            <a:off x="11802161" y="1883664"/>
            <a:ext cx="2148840" cy="1078992"/>
          </a:xfrm>
          <a:prstGeom prst="roundRect">
            <a:avLst>
              <a:gd name="adj" fmla="val 6780"/>
            </a:avLst>
          </a:prstGeom>
          <a:solidFill>
            <a:srgbClr val="EEF3FA"/>
          </a:solidFill>
          <a:ln w="19050">
            <a:solidFill>
              <a:srgbClr val="1E2A5C"/>
            </a:solidFill>
            <a:prstDash val="solid"/>
          </a:ln>
        </p:spPr>
        <p:txBody>
          <a:bodyPr/>
          <a:lstStyle/>
          <a:p>
            <a:endParaRPr lang="ko-KR" altLang="en-US"/>
          </a:p>
        </p:txBody>
      </p:sp>
      <p:sp>
        <p:nvSpPr>
          <p:cNvPr id="56" name="Shape 53"/>
          <p:cNvSpPr/>
          <p:nvPr/>
        </p:nvSpPr>
        <p:spPr>
          <a:xfrm>
            <a:off x="11893601" y="1956816"/>
            <a:ext cx="1965960" cy="329184"/>
          </a:xfrm>
          <a:prstGeom prst="roundRect">
            <a:avLst>
              <a:gd name="adj" fmla="val 13889"/>
            </a:avLst>
          </a:prstGeom>
          <a:solidFill>
            <a:srgbClr val="1E2A5C"/>
          </a:solidFill>
          <a:ln/>
        </p:spPr>
        <p:txBody>
          <a:bodyPr/>
          <a:lstStyle/>
          <a:p>
            <a:endParaRPr lang="ko-KR" altLang="en-US"/>
          </a:p>
        </p:txBody>
      </p:sp>
      <p:sp>
        <p:nvSpPr>
          <p:cNvPr id="57" name="Text 54"/>
          <p:cNvSpPr txBox="1"/>
          <p:nvPr/>
        </p:nvSpPr>
        <p:spPr>
          <a:xfrm>
            <a:off x="11893601" y="1956816"/>
            <a:ext cx="1965960"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:Benefit</a:t>
            </a:r>
            <a:endParaRPr lang="en-US" sz="1500" dirty="0"/>
          </a:p>
        </p:txBody>
      </p:sp>
      <p:sp>
        <p:nvSpPr>
          <p:cNvPr id="58" name="Text 55"/>
          <p:cNvSpPr txBox="1"/>
          <p:nvPr/>
        </p:nvSpPr>
        <p:spPr>
          <a:xfrm>
            <a:off x="11939321" y="2322576"/>
            <a:ext cx="1874520" cy="585216"/>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name</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rate</a:t>
            </a:r>
            <a:endParaRPr lang="en-US" sz="1400" dirty="0"/>
          </a:p>
        </p:txBody>
      </p:sp>
      <p:sp>
        <p:nvSpPr>
          <p:cNvPr id="59" name="Shape 56"/>
          <p:cNvSpPr/>
          <p:nvPr/>
        </p:nvSpPr>
        <p:spPr>
          <a:xfrm>
            <a:off x="9781337" y="2423160"/>
            <a:ext cx="1984248" cy="0"/>
          </a:xfrm>
          <a:prstGeom prst="line">
            <a:avLst/>
          </a:prstGeom>
          <a:noFill/>
          <a:ln w="25400">
            <a:solidFill>
              <a:srgbClr val="1E2A5C"/>
            </a:solidFill>
            <a:prstDash val="solid"/>
            <a:tailEnd type="triangle"/>
          </a:ln>
        </p:spPr>
        <p:txBody>
          <a:bodyPr/>
          <a:lstStyle/>
          <a:p>
            <a:endParaRPr lang="ko-KR" altLang="en-US"/>
          </a:p>
        </p:txBody>
      </p:sp>
      <p:sp>
        <p:nvSpPr>
          <p:cNvPr id="60" name="Text 57"/>
          <p:cNvSpPr txBox="1"/>
          <p:nvPr/>
        </p:nvSpPr>
        <p:spPr>
          <a:xfrm>
            <a:off x="9744761" y="2075688"/>
            <a:ext cx="2057400" cy="292608"/>
          </a:xfrm>
          <a:prstGeom prst="rect">
            <a:avLst/>
          </a:prstGeom>
          <a:noFill/>
          <a:ln/>
        </p:spPr>
        <p:txBody>
          <a:bodyPr wrap="square" lIns="0" tIns="0" rIns="0" bIns="0" rtlCol="0" anchor="ctr"/>
          <a:lstStyle/>
          <a:p>
            <a:pPr marL="0" indent="0" algn="ctr">
              <a:buNone/>
            </a:pPr>
            <a:r>
              <a:rPr lang="en-US" sz="1500" b="1" dirty="0">
                <a:solidFill>
                  <a:srgbClr val="2E74C6"/>
                </a:solidFill>
                <a:latin typeface="Pretendard" pitchFamily="34" charset="0"/>
                <a:ea typeface="Pretendard" pitchFamily="34" charset="-122"/>
                <a:cs typeface="Pretendard" pitchFamily="34" charset="-120"/>
              </a:rPr>
              <a:t>:HAS_BENEFIT</a:t>
            </a:r>
            <a:endParaRPr lang="en-US" sz="1500" dirty="0"/>
          </a:p>
        </p:txBody>
      </p:sp>
      <p:sp>
        <p:nvSpPr>
          <p:cNvPr id="61" name="Text 58"/>
          <p:cNvSpPr txBox="1"/>
          <p:nvPr/>
        </p:nvSpPr>
        <p:spPr>
          <a:xfrm>
            <a:off x="9744761" y="2478024"/>
            <a:ext cx="2057400" cy="274320"/>
          </a:xfrm>
          <a:prstGeom prst="rect">
            <a:avLst/>
          </a:prstGeom>
          <a:noFill/>
          <a:ln/>
        </p:spPr>
        <p:txBody>
          <a:bodyPr wrap="square" lIns="0" tIns="0" rIns="0" bIns="0" rtlCol="0" anchor="ctr"/>
          <a:lstStyle/>
          <a:p>
            <a:pPr marL="0" indent="0" algn="ctr">
              <a:buNone/>
            </a:pPr>
            <a:r>
              <a:rPr lang="en-US" sz="1400" dirty="0">
                <a:solidFill>
                  <a:srgbClr val="2B3242"/>
                </a:solidFill>
                <a:latin typeface="Pretendard" pitchFamily="34" charset="0"/>
                <a:ea typeface="Pretendard" pitchFamily="34" charset="-122"/>
                <a:cs typeface="Pretendard" pitchFamily="34" charset="-120"/>
              </a:rPr>
              <a:t>{valid_until}</a:t>
            </a:r>
            <a:endParaRPr lang="en-US" sz="1400" dirty="0"/>
          </a:p>
        </p:txBody>
      </p:sp>
      <p:sp>
        <p:nvSpPr>
          <p:cNvPr id="62" name="Shape 59"/>
          <p:cNvSpPr/>
          <p:nvPr/>
        </p:nvSpPr>
        <p:spPr>
          <a:xfrm>
            <a:off x="9470441" y="1792224"/>
            <a:ext cx="310896" cy="310896"/>
          </a:xfrm>
          <a:prstGeom prst="roundRect">
            <a:avLst>
              <a:gd name="adj" fmla="val 45000"/>
            </a:avLst>
          </a:prstGeom>
          <a:solidFill>
            <a:srgbClr val="1E2A5C"/>
          </a:solidFill>
          <a:ln/>
        </p:spPr>
        <p:txBody>
          <a:bodyPr/>
          <a:lstStyle/>
          <a:p>
            <a:endParaRPr lang="ko-KR" altLang="en-US"/>
          </a:p>
        </p:txBody>
      </p:sp>
      <p:sp>
        <p:nvSpPr>
          <p:cNvPr id="63" name="Text 60"/>
          <p:cNvSpPr txBox="1"/>
          <p:nvPr/>
        </p:nvSpPr>
        <p:spPr>
          <a:xfrm>
            <a:off x="9470441" y="1792224"/>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①</a:t>
            </a:r>
            <a:endParaRPr lang="en-US" sz="1400" dirty="0"/>
          </a:p>
        </p:txBody>
      </p:sp>
      <p:sp>
        <p:nvSpPr>
          <p:cNvPr id="64" name="Shape 61"/>
          <p:cNvSpPr/>
          <p:nvPr/>
        </p:nvSpPr>
        <p:spPr>
          <a:xfrm>
            <a:off x="9333281" y="2596896"/>
            <a:ext cx="310896" cy="310896"/>
          </a:xfrm>
          <a:prstGeom prst="roundRect">
            <a:avLst>
              <a:gd name="adj" fmla="val 45000"/>
            </a:avLst>
          </a:prstGeom>
          <a:solidFill>
            <a:srgbClr val="1E2A5C"/>
          </a:solidFill>
          <a:ln/>
        </p:spPr>
        <p:txBody>
          <a:bodyPr/>
          <a:lstStyle/>
          <a:p>
            <a:endParaRPr lang="ko-KR" altLang="en-US"/>
          </a:p>
        </p:txBody>
      </p:sp>
      <p:sp>
        <p:nvSpPr>
          <p:cNvPr id="65" name="Text 62"/>
          <p:cNvSpPr txBox="1"/>
          <p:nvPr/>
        </p:nvSpPr>
        <p:spPr>
          <a:xfrm>
            <a:off x="9333281" y="2596896"/>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②</a:t>
            </a:r>
            <a:endParaRPr lang="en-US" sz="1400" dirty="0"/>
          </a:p>
        </p:txBody>
      </p:sp>
      <p:sp>
        <p:nvSpPr>
          <p:cNvPr id="66" name="Shape 63"/>
          <p:cNvSpPr/>
          <p:nvPr/>
        </p:nvSpPr>
        <p:spPr>
          <a:xfrm>
            <a:off x="8784641" y="2313432"/>
            <a:ext cx="310896" cy="310896"/>
          </a:xfrm>
          <a:prstGeom prst="roundRect">
            <a:avLst>
              <a:gd name="adj" fmla="val 45000"/>
            </a:avLst>
          </a:prstGeom>
          <a:solidFill>
            <a:srgbClr val="2E74C6"/>
          </a:solidFill>
          <a:ln/>
        </p:spPr>
        <p:txBody>
          <a:bodyPr/>
          <a:lstStyle/>
          <a:p>
            <a:endParaRPr lang="ko-KR" altLang="en-US"/>
          </a:p>
        </p:txBody>
      </p:sp>
      <p:sp>
        <p:nvSpPr>
          <p:cNvPr id="67" name="Text 64"/>
          <p:cNvSpPr txBox="1"/>
          <p:nvPr/>
        </p:nvSpPr>
        <p:spPr>
          <a:xfrm>
            <a:off x="8784641" y="2313432"/>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⑥</a:t>
            </a:r>
            <a:endParaRPr lang="en-US" sz="1400" dirty="0"/>
          </a:p>
        </p:txBody>
      </p:sp>
      <p:sp>
        <p:nvSpPr>
          <p:cNvPr id="68" name="Shape 65"/>
          <p:cNvSpPr/>
          <p:nvPr/>
        </p:nvSpPr>
        <p:spPr>
          <a:xfrm>
            <a:off x="10618013" y="1764792"/>
            <a:ext cx="310896" cy="310896"/>
          </a:xfrm>
          <a:prstGeom prst="roundRect">
            <a:avLst>
              <a:gd name="adj" fmla="val 45000"/>
            </a:avLst>
          </a:prstGeom>
          <a:solidFill>
            <a:srgbClr val="1E2A5C"/>
          </a:solidFill>
          <a:ln/>
        </p:spPr>
        <p:txBody>
          <a:bodyPr/>
          <a:lstStyle/>
          <a:p>
            <a:endParaRPr lang="ko-KR" altLang="en-US"/>
          </a:p>
        </p:txBody>
      </p:sp>
      <p:sp>
        <p:nvSpPr>
          <p:cNvPr id="69" name="Text 66"/>
          <p:cNvSpPr txBox="1"/>
          <p:nvPr/>
        </p:nvSpPr>
        <p:spPr>
          <a:xfrm>
            <a:off x="10618013" y="1764792"/>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③</a:t>
            </a:r>
            <a:endParaRPr lang="en-US" sz="1400" dirty="0"/>
          </a:p>
        </p:txBody>
      </p:sp>
      <p:sp>
        <p:nvSpPr>
          <p:cNvPr id="70" name="Shape 67"/>
          <p:cNvSpPr/>
          <p:nvPr/>
        </p:nvSpPr>
        <p:spPr>
          <a:xfrm>
            <a:off x="11459261" y="2459736"/>
            <a:ext cx="310896" cy="310896"/>
          </a:xfrm>
          <a:prstGeom prst="roundRect">
            <a:avLst>
              <a:gd name="adj" fmla="val 45000"/>
            </a:avLst>
          </a:prstGeom>
          <a:solidFill>
            <a:srgbClr val="1E2A5C"/>
          </a:solidFill>
          <a:ln/>
        </p:spPr>
        <p:txBody>
          <a:bodyPr/>
          <a:lstStyle/>
          <a:p>
            <a:endParaRPr lang="ko-KR" altLang="en-US"/>
          </a:p>
        </p:txBody>
      </p:sp>
      <p:sp>
        <p:nvSpPr>
          <p:cNvPr id="71" name="Text 68"/>
          <p:cNvSpPr txBox="1"/>
          <p:nvPr/>
        </p:nvSpPr>
        <p:spPr>
          <a:xfrm>
            <a:off x="11459261" y="2459736"/>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④</a:t>
            </a:r>
            <a:endParaRPr lang="en-US" sz="1400" dirty="0"/>
          </a:p>
        </p:txBody>
      </p:sp>
      <p:sp>
        <p:nvSpPr>
          <p:cNvPr id="72" name="Shape 69"/>
          <p:cNvSpPr/>
          <p:nvPr/>
        </p:nvSpPr>
        <p:spPr>
          <a:xfrm>
            <a:off x="10618013" y="2752344"/>
            <a:ext cx="310896" cy="310896"/>
          </a:xfrm>
          <a:prstGeom prst="roundRect">
            <a:avLst>
              <a:gd name="adj" fmla="val 45000"/>
            </a:avLst>
          </a:prstGeom>
          <a:solidFill>
            <a:srgbClr val="1E2A5C"/>
          </a:solidFill>
          <a:ln/>
        </p:spPr>
        <p:txBody>
          <a:bodyPr/>
          <a:lstStyle/>
          <a:p>
            <a:endParaRPr lang="ko-KR" altLang="en-US"/>
          </a:p>
        </p:txBody>
      </p:sp>
      <p:sp>
        <p:nvSpPr>
          <p:cNvPr id="73" name="Text 70"/>
          <p:cNvSpPr txBox="1"/>
          <p:nvPr/>
        </p:nvSpPr>
        <p:spPr>
          <a:xfrm>
            <a:off x="10618013" y="2752344"/>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⑤</a:t>
            </a:r>
            <a:endParaRPr lang="en-US" sz="1400" dirty="0"/>
          </a:p>
        </p:txBody>
      </p:sp>
      <p:sp>
        <p:nvSpPr>
          <p:cNvPr id="74" name="Shape 71"/>
          <p:cNvSpPr/>
          <p:nvPr/>
        </p:nvSpPr>
        <p:spPr>
          <a:xfrm>
            <a:off x="7413041" y="3493008"/>
            <a:ext cx="6720840" cy="2907792"/>
          </a:xfrm>
          <a:prstGeom prst="roundRect">
            <a:avLst>
              <a:gd name="adj" fmla="val 1887"/>
            </a:avLst>
          </a:prstGeom>
          <a:solidFill>
            <a:srgbClr val="F5F8FC"/>
          </a:solidFill>
          <a:ln w="12700">
            <a:solidFill>
              <a:srgbClr val="D9E0EC"/>
            </a:solidFill>
            <a:prstDash val="solid"/>
          </a:ln>
        </p:spPr>
        <p:txBody>
          <a:bodyPr/>
          <a:lstStyle/>
          <a:p>
            <a:endParaRPr lang="ko-KR" altLang="en-US"/>
          </a:p>
        </p:txBody>
      </p:sp>
      <p:sp>
        <p:nvSpPr>
          <p:cNvPr id="75" name="Text 72"/>
          <p:cNvSpPr txBox="1"/>
          <p:nvPr/>
        </p:nvSpPr>
        <p:spPr>
          <a:xfrm>
            <a:off x="7522769" y="3566160"/>
            <a:ext cx="6501384" cy="2779776"/>
          </a:xfrm>
          <a:prstGeom prst="rect">
            <a:avLst/>
          </a:prstGeom>
          <a:noFill/>
          <a:ln/>
        </p:spPr>
        <p:txBody>
          <a:bodyPr wrap="square" lIns="254" tIns="254" rIns="254" bIns="254" rtlCol="0" anchor="t"/>
          <a:lstStyle/>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schema = GraphSchema.model_validate({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"node_types": [                              # ① ②</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{"label": "Card", "properties": [</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{"name": "name", "type": "STRING"},</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{"name": "annual_fee", "type": "INTEGER"}]},</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{"label": "Benefit", "properties": [...]}],</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"relationship_types": [{"label": "HAS_BENEFIT",   # ③ ④</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"properties": [{"name": "valid_until", "type": "DATE"}]}],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"patterns": [("Card", "HAS_BENEFIT", "Benefit")],   # ⑤</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"constraints": [{"type": "KEY", "node_type": "Card",  # ⑥</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"property_names": ["name"]}],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"additional_node_types": False})                # ⑦</a:t>
            </a:r>
            <a:endParaRPr lang="en-US" sz="1400" dirty="0"/>
          </a:p>
        </p:txBody>
      </p:sp>
      <p:sp>
        <p:nvSpPr>
          <p:cNvPr id="76" name="Text 73"/>
          <p:cNvSpPr txBox="1"/>
          <p:nvPr/>
        </p:nvSpPr>
        <p:spPr>
          <a:xfrm>
            <a:off x="7413041" y="3182112"/>
            <a:ext cx="6720840" cy="274320"/>
          </a:xfrm>
          <a:prstGeom prst="rect">
            <a:avLst/>
          </a:prstGeom>
          <a:noFill/>
          <a:ln/>
        </p:spPr>
        <p:txBody>
          <a:bodyPr wrap="square" lIns="0" tIns="0" rIns="0" bIns="0" rtlCol="0" anchor="ctr"/>
          <a:lstStyle/>
          <a:p>
            <a:pPr marL="0" indent="0" algn="l">
              <a:buNone/>
            </a:pPr>
            <a:r>
              <a:rPr lang="en-US" sz="1400" b="1" dirty="0">
                <a:solidFill>
                  <a:srgbClr val="4A5364"/>
                </a:solidFill>
                <a:latin typeface="Pretendard" pitchFamily="34" charset="0"/>
                <a:ea typeface="Pretendard" pitchFamily="34" charset="-122"/>
                <a:cs typeface="Pretendard" pitchFamily="34" charset="-120"/>
              </a:rPr>
              <a:t>7칸을 채운 Native GraphSchema — 실행 확인: name 없는 Card는 가지치기가 지움</a:t>
            </a:r>
            <a:endParaRPr lang="en-US" sz="1400" dirty="0"/>
          </a:p>
        </p:txBody>
      </p:sp>
      <p:sp>
        <p:nvSpPr>
          <p:cNvPr id="77" name="Shape 74"/>
          <p:cNvSpPr/>
          <p:nvPr/>
        </p:nvSpPr>
        <p:spPr>
          <a:xfrm>
            <a:off x="509321" y="6492240"/>
            <a:ext cx="13624560" cy="731520"/>
          </a:xfrm>
          <a:prstGeom prst="roundRect">
            <a:avLst>
              <a:gd name="adj" fmla="val 10000"/>
            </a:avLst>
          </a:prstGeom>
          <a:solidFill>
            <a:srgbClr val="EEF3FA"/>
          </a:solidFill>
          <a:ln w="19050">
            <a:solidFill>
              <a:srgbClr val="2E74C6"/>
            </a:solidFill>
            <a:prstDash val="solid"/>
          </a:ln>
        </p:spPr>
        <p:txBody>
          <a:bodyPr/>
          <a:lstStyle/>
          <a:p>
            <a:endParaRPr lang="ko-KR" altLang="en-US"/>
          </a:p>
        </p:txBody>
      </p:sp>
      <p:sp>
        <p:nvSpPr>
          <p:cNvPr id="78" name="Shape 75"/>
          <p:cNvSpPr/>
          <p:nvPr/>
        </p:nvSpPr>
        <p:spPr>
          <a:xfrm>
            <a:off x="509321" y="6492240"/>
            <a:ext cx="82296" cy="731520"/>
          </a:xfrm>
          <a:prstGeom prst="rect">
            <a:avLst/>
          </a:prstGeom>
          <a:solidFill>
            <a:srgbClr val="2E74C6"/>
          </a:solidFill>
          <a:ln/>
        </p:spPr>
        <p:txBody>
          <a:bodyPr/>
          <a:lstStyle/>
          <a:p>
            <a:endParaRPr lang="ko-KR" altLang="en-US"/>
          </a:p>
        </p:txBody>
      </p:sp>
      <p:sp>
        <p:nvSpPr>
          <p:cNvPr id="79" name="Text 76"/>
          <p:cNvSpPr txBox="1"/>
          <p:nvPr/>
        </p:nvSpPr>
        <p:spPr>
          <a:xfrm>
            <a:off x="737921" y="6492240"/>
            <a:ext cx="13258800" cy="7315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 최소한 = ①, ③, ⑤ + ⑥ 고유키. 속성은 질문에 쓰는 것만 정의하고, 타입마다 description을 적으면 LLM이 고르는 기준이 됨</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 제약: 지정한 속성에 대해 UNIQUENESS는 고유 강제, EXISTENCE는 존재 강제, KEY는 고유 + 존재를 강제함. UNIQUENESS는 지정한 속성이 비어 있어도 허용하나 KEY는 불허함</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정형 테이블 → 노드 타입과 관계: 변환 규칙</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모델 없이 규칙으로 바꿈 — 단, FK를 세기 전에 '그 표 자체가 조회 대상인가'부터 물음</a:t>
            </a:r>
            <a:endParaRPr lang="en-US" sz="1800" dirty="0"/>
          </a:p>
        </p:txBody>
      </p:sp>
      <p:sp>
        <p:nvSpPr>
          <p:cNvPr id="5" name="Shape 2"/>
          <p:cNvSpPr/>
          <p:nvPr/>
        </p:nvSpPr>
        <p:spPr>
          <a:xfrm>
            <a:off x="2521001" y="1755648"/>
            <a:ext cx="2011680" cy="384048"/>
          </a:xfrm>
          <a:prstGeom prst="roundRect">
            <a:avLst>
              <a:gd name="adj" fmla="val 19048"/>
            </a:avLst>
          </a:prstGeom>
          <a:solidFill>
            <a:srgbClr val="1E2A5C"/>
          </a:solidFill>
          <a:ln/>
        </p:spPr>
        <p:txBody>
          <a:bodyPr/>
          <a:lstStyle/>
          <a:p>
            <a:endParaRPr lang="ko-KR" altLang="en-US"/>
          </a:p>
        </p:txBody>
      </p:sp>
      <p:sp>
        <p:nvSpPr>
          <p:cNvPr id="6" name="Text 3"/>
          <p:cNvSpPr txBox="1"/>
          <p:nvPr/>
        </p:nvSpPr>
        <p:spPr>
          <a:xfrm>
            <a:off x="2521001" y="1755648"/>
            <a:ext cx="2011680" cy="384048"/>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테이블 1개</a:t>
            </a:r>
            <a:endParaRPr lang="en-US" sz="1500" dirty="0"/>
          </a:p>
        </p:txBody>
      </p:sp>
      <p:sp>
        <p:nvSpPr>
          <p:cNvPr id="7" name="Shape 4"/>
          <p:cNvSpPr/>
          <p:nvPr/>
        </p:nvSpPr>
        <p:spPr>
          <a:xfrm>
            <a:off x="3526841" y="2157984"/>
            <a:ext cx="0" cy="182880"/>
          </a:xfrm>
          <a:prstGeom prst="line">
            <a:avLst/>
          </a:prstGeom>
          <a:noFill/>
          <a:ln w="22225">
            <a:solidFill>
              <a:srgbClr val="4A5364"/>
            </a:solidFill>
            <a:prstDash val="solid"/>
            <a:tailEnd type="triangle"/>
          </a:ln>
        </p:spPr>
        <p:txBody>
          <a:bodyPr/>
          <a:lstStyle/>
          <a:p>
            <a:endParaRPr lang="ko-KR" altLang="en-US"/>
          </a:p>
        </p:txBody>
      </p:sp>
      <p:sp>
        <p:nvSpPr>
          <p:cNvPr id="8" name="Shape 5"/>
          <p:cNvSpPr/>
          <p:nvPr/>
        </p:nvSpPr>
        <p:spPr>
          <a:xfrm>
            <a:off x="509321" y="2359152"/>
            <a:ext cx="6035040" cy="502920"/>
          </a:xfrm>
          <a:prstGeom prst="roundRect">
            <a:avLst>
              <a:gd name="adj" fmla="val 14545"/>
            </a:avLst>
          </a:prstGeom>
          <a:solidFill>
            <a:srgbClr val="EEF3FA"/>
          </a:solidFill>
          <a:ln w="19050">
            <a:solidFill>
              <a:srgbClr val="2E74C6"/>
            </a:solidFill>
            <a:prstDash val="solid"/>
          </a:ln>
        </p:spPr>
        <p:txBody>
          <a:bodyPr/>
          <a:lstStyle/>
          <a:p>
            <a:endParaRPr lang="ko-KR" altLang="en-US"/>
          </a:p>
        </p:txBody>
      </p:sp>
      <p:sp>
        <p:nvSpPr>
          <p:cNvPr id="9" name="Text 6"/>
          <p:cNvSpPr txBox="1"/>
          <p:nvPr/>
        </p:nvSpPr>
        <p:spPr>
          <a:xfrm>
            <a:off x="509321" y="2359152"/>
            <a:ext cx="6035040" cy="502920"/>
          </a:xfrm>
          <a:prstGeom prst="rect">
            <a:avLst/>
          </a:prstGeom>
          <a:noFill/>
          <a:ln/>
        </p:spPr>
        <p:txBody>
          <a:bodyPr wrap="square" lIns="1016" tIns="1016" rIns="1016" bIns="1016" rtlCol="0" anchor="ctr"/>
          <a:lstStyle/>
          <a:p>
            <a:pPr marL="0" indent="0" algn="ctr">
              <a:buNone/>
            </a:pPr>
            <a:r>
              <a:rPr lang="en-US" sz="1600" b="1" dirty="0">
                <a:solidFill>
                  <a:srgbClr val="1E2A5C"/>
                </a:solidFill>
                <a:latin typeface="Pretendard" pitchFamily="34" charset="0"/>
                <a:ea typeface="Pretendard" pitchFamily="34" charset="-122"/>
                <a:cs typeface="Pretendard" pitchFamily="34" charset="-120"/>
              </a:rPr>
              <a:t>Q1. 그 표 자체가 조회 대상인 엔티티인가?</a:t>
            </a:r>
            <a:endParaRPr lang="en-US" sz="1600" dirty="0"/>
          </a:p>
        </p:txBody>
      </p:sp>
      <p:sp>
        <p:nvSpPr>
          <p:cNvPr id="10" name="Shape 7"/>
          <p:cNvSpPr/>
          <p:nvPr/>
        </p:nvSpPr>
        <p:spPr>
          <a:xfrm>
            <a:off x="1835201" y="2880360"/>
            <a:ext cx="0" cy="320040"/>
          </a:xfrm>
          <a:prstGeom prst="line">
            <a:avLst/>
          </a:prstGeom>
          <a:noFill/>
          <a:ln w="22225">
            <a:solidFill>
              <a:srgbClr val="1E2A5C"/>
            </a:solidFill>
            <a:prstDash val="solid"/>
            <a:tailEnd type="triangle"/>
          </a:ln>
        </p:spPr>
        <p:txBody>
          <a:bodyPr/>
          <a:lstStyle/>
          <a:p>
            <a:endParaRPr lang="ko-KR" altLang="en-US"/>
          </a:p>
        </p:txBody>
      </p:sp>
      <p:sp>
        <p:nvSpPr>
          <p:cNvPr id="11" name="Text 8"/>
          <p:cNvSpPr txBox="1"/>
          <p:nvPr/>
        </p:nvSpPr>
        <p:spPr>
          <a:xfrm>
            <a:off x="1908353" y="2889504"/>
            <a:ext cx="457200" cy="274320"/>
          </a:xfrm>
          <a:prstGeom prst="rect">
            <a:avLst/>
          </a:prstGeom>
          <a:noFill/>
          <a:ln/>
        </p:spPr>
        <p:txBody>
          <a:bodyPr wrap="square" lIns="0" tIns="0" rIns="0" bIns="0"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예</a:t>
            </a:r>
            <a:endParaRPr lang="en-US" sz="1500" dirty="0"/>
          </a:p>
        </p:txBody>
      </p:sp>
      <p:sp>
        <p:nvSpPr>
          <p:cNvPr id="12" name="Shape 9"/>
          <p:cNvSpPr/>
          <p:nvPr/>
        </p:nvSpPr>
        <p:spPr>
          <a:xfrm>
            <a:off x="4989881" y="2880360"/>
            <a:ext cx="0" cy="320040"/>
          </a:xfrm>
          <a:prstGeom prst="line">
            <a:avLst/>
          </a:prstGeom>
          <a:noFill/>
          <a:ln w="22225">
            <a:solidFill>
              <a:srgbClr val="4A5364"/>
            </a:solidFill>
            <a:prstDash val="solid"/>
            <a:tailEnd type="triangle"/>
          </a:ln>
        </p:spPr>
        <p:txBody>
          <a:bodyPr/>
          <a:lstStyle/>
          <a:p>
            <a:endParaRPr lang="ko-KR" altLang="en-US"/>
          </a:p>
        </p:txBody>
      </p:sp>
      <p:sp>
        <p:nvSpPr>
          <p:cNvPr id="13" name="Text 10"/>
          <p:cNvSpPr txBox="1"/>
          <p:nvPr/>
        </p:nvSpPr>
        <p:spPr>
          <a:xfrm>
            <a:off x="5063033" y="2889504"/>
            <a:ext cx="731520" cy="274320"/>
          </a:xfrm>
          <a:prstGeom prst="rect">
            <a:avLst/>
          </a:prstGeom>
          <a:noFill/>
          <a:ln/>
        </p:spPr>
        <p:txBody>
          <a:bodyPr wrap="square" lIns="0" tIns="0" rIns="0" bIns="0" rtlCol="0" anchor="ctr"/>
          <a:lstStyle/>
          <a:p>
            <a:pPr marL="0" indent="0" algn="l">
              <a:buNone/>
            </a:pPr>
            <a:r>
              <a:rPr lang="en-US" sz="1500" b="1" dirty="0">
                <a:solidFill>
                  <a:srgbClr val="4A5364"/>
                </a:solidFill>
                <a:latin typeface="Pretendard" pitchFamily="34" charset="0"/>
                <a:ea typeface="Pretendard" pitchFamily="34" charset="-122"/>
                <a:cs typeface="Pretendard" pitchFamily="34" charset="-120"/>
              </a:rPr>
              <a:t>아니오</a:t>
            </a:r>
            <a:endParaRPr lang="en-US" sz="1500" dirty="0"/>
          </a:p>
        </p:txBody>
      </p:sp>
      <p:sp>
        <p:nvSpPr>
          <p:cNvPr id="14" name="Shape 11"/>
          <p:cNvSpPr/>
          <p:nvPr/>
        </p:nvSpPr>
        <p:spPr>
          <a:xfrm>
            <a:off x="509321" y="3218688"/>
            <a:ext cx="2651760" cy="1417320"/>
          </a:xfrm>
          <a:prstGeom prst="roundRect">
            <a:avLst>
              <a:gd name="adj" fmla="val 5161"/>
            </a:avLst>
          </a:prstGeom>
          <a:solidFill>
            <a:srgbClr val="1E2A5C"/>
          </a:solidFill>
          <a:ln/>
        </p:spPr>
        <p:txBody>
          <a:bodyPr/>
          <a:lstStyle/>
          <a:p>
            <a:endParaRPr lang="ko-KR" altLang="en-US"/>
          </a:p>
        </p:txBody>
      </p:sp>
      <p:sp>
        <p:nvSpPr>
          <p:cNvPr id="15" name="Shape 12"/>
          <p:cNvSpPr/>
          <p:nvPr/>
        </p:nvSpPr>
        <p:spPr>
          <a:xfrm>
            <a:off x="619049" y="3310128"/>
            <a:ext cx="329184" cy="329184"/>
          </a:xfrm>
          <a:prstGeom prst="roundRect">
            <a:avLst>
              <a:gd name="adj" fmla="val 45000"/>
            </a:avLst>
          </a:prstGeom>
          <a:solidFill>
            <a:srgbClr val="FFFFFF"/>
          </a:solidFill>
          <a:ln/>
        </p:spPr>
        <p:txBody>
          <a:bodyPr/>
          <a:lstStyle/>
          <a:p>
            <a:endParaRPr lang="ko-KR" altLang="en-US"/>
          </a:p>
        </p:txBody>
      </p:sp>
      <p:sp>
        <p:nvSpPr>
          <p:cNvPr id="16" name="Text 13"/>
          <p:cNvSpPr txBox="1"/>
          <p:nvPr/>
        </p:nvSpPr>
        <p:spPr>
          <a:xfrm>
            <a:off x="619049" y="3310128"/>
            <a:ext cx="329184" cy="329184"/>
          </a:xfrm>
          <a:prstGeom prst="rect">
            <a:avLst/>
          </a:prstGeom>
          <a:noFill/>
          <a:ln/>
        </p:spPr>
        <p:txBody>
          <a:bodyPr wrap="square" lIns="1016" tIns="1016" rIns="1016" bIns="1016" rtlCol="0" anchor="ctr"/>
          <a:lstStyle/>
          <a:p>
            <a:pPr marL="0" indent="0" algn="ctr">
              <a:buNone/>
            </a:pPr>
            <a:r>
              <a:rPr lang="en-US" sz="1500" b="1" dirty="0">
                <a:solidFill>
                  <a:srgbClr val="1E2A5C"/>
                </a:solidFill>
                <a:latin typeface="Pretendard" pitchFamily="34" charset="0"/>
                <a:ea typeface="Pretendard" pitchFamily="34" charset="-122"/>
                <a:cs typeface="Pretendard" pitchFamily="34" charset="-120"/>
              </a:rPr>
              <a:t>①</a:t>
            </a:r>
            <a:endParaRPr lang="en-US" sz="1500" dirty="0"/>
          </a:p>
        </p:txBody>
      </p:sp>
      <p:sp>
        <p:nvSpPr>
          <p:cNvPr id="17" name="Text 14"/>
          <p:cNvSpPr txBox="1"/>
          <p:nvPr/>
        </p:nvSpPr>
        <p:spPr>
          <a:xfrm>
            <a:off x="1057961" y="3218688"/>
            <a:ext cx="2011680" cy="1417320"/>
          </a:xfrm>
          <a:prstGeom prst="rect">
            <a:avLst/>
          </a:prstGeom>
          <a:noFill/>
          <a:ln/>
        </p:spPr>
        <p:txBody>
          <a:bodyPr wrap="square" lIns="0" tIns="0" rIns="0" bIns="0" rtlCol="0" anchor="ctr"/>
          <a:lstStyle/>
          <a:p>
            <a:pPr marL="0" indent="0">
              <a:spcAft>
                <a:spcPts val="400"/>
              </a:spcAft>
              <a:buNone/>
            </a:pPr>
            <a:r>
              <a:rPr lang="en-US" sz="1800" b="1" dirty="0">
                <a:solidFill>
                  <a:srgbClr val="FFFFFF"/>
                </a:solidFill>
                <a:latin typeface="Pretendard" pitchFamily="34" charset="0"/>
                <a:ea typeface="Pretendard" pitchFamily="34" charset="-122"/>
                <a:cs typeface="Pretendard" pitchFamily="34" charset="-120"/>
              </a:rPr>
              <a:t>노드 타입</a:t>
            </a:r>
            <a:endParaRPr lang="en-US" sz="1800" dirty="0"/>
          </a:p>
          <a:p>
            <a:pPr marL="0" indent="0">
              <a:spcAft>
                <a:spcPts val="400"/>
              </a:spcAft>
              <a:buNone/>
            </a:pPr>
            <a:r>
              <a:rPr lang="en-US" sz="1400" dirty="0">
                <a:solidFill>
                  <a:srgbClr val="D9E3F5"/>
                </a:solidFill>
                <a:latin typeface="Pretendard" pitchFamily="34" charset="0"/>
                <a:ea typeface="Pretendard" pitchFamily="34" charset="-122"/>
                <a:cs typeface="Pretendard" pitchFamily="34" charset="-120"/>
              </a:rPr>
              <a:t>열 = 노드 속성</a:t>
            </a:r>
            <a:endParaRPr lang="en-US" sz="1800" dirty="0"/>
          </a:p>
          <a:p>
            <a:pPr marL="0" indent="0">
              <a:spcAft>
                <a:spcPts val="400"/>
              </a:spcAft>
              <a:buNone/>
            </a:pPr>
            <a:r>
              <a:rPr lang="en-US" sz="1400" dirty="0">
                <a:solidFill>
                  <a:srgbClr val="D9E3F5"/>
                </a:solidFill>
                <a:latin typeface="Pretendard" pitchFamily="34" charset="0"/>
                <a:ea typeface="Pretendard" pitchFamily="34" charset="-122"/>
                <a:cs typeface="Pretendard" pitchFamily="34" charset="-120"/>
              </a:rPr>
              <a:t>FK = 관계</a:t>
            </a:r>
            <a:endParaRPr lang="en-US" sz="1800" dirty="0"/>
          </a:p>
          <a:p>
            <a:pPr marL="0" indent="0">
              <a:spcAft>
                <a:spcPts val="400"/>
              </a:spcAft>
              <a:buNone/>
            </a:pPr>
            <a:r>
              <a:rPr lang="en-US" sz="1400" dirty="0">
                <a:solidFill>
                  <a:srgbClr val="D9E3F5"/>
                </a:solidFill>
                <a:latin typeface="Pretendard" pitchFamily="34" charset="0"/>
                <a:ea typeface="Pretendard" pitchFamily="34" charset="-122"/>
                <a:cs typeface="Pretendard" pitchFamily="34" charset="-120"/>
              </a:rPr>
              <a:t>FK 열은 바꾼 뒤 지움</a:t>
            </a:r>
            <a:endParaRPr lang="en-US" sz="1800" dirty="0"/>
          </a:p>
        </p:txBody>
      </p:sp>
      <p:sp>
        <p:nvSpPr>
          <p:cNvPr id="18" name="Text 15"/>
          <p:cNvSpPr txBox="1"/>
          <p:nvPr/>
        </p:nvSpPr>
        <p:spPr>
          <a:xfrm>
            <a:off x="509321" y="4709160"/>
            <a:ext cx="2651760" cy="548640"/>
          </a:xfrm>
          <a:prstGeom prst="rect">
            <a:avLst/>
          </a:prstGeom>
          <a:noFill/>
          <a:ln/>
        </p:spPr>
        <p:txBody>
          <a:bodyPr wrap="square" lIns="0" tIns="0" rIns="0" bIns="0" rtlCol="0" anchor="ctr"/>
          <a:lstStyle/>
          <a:p>
            <a:pPr marL="0" indent="0" algn="ctr">
              <a:buNone/>
            </a:pPr>
            <a:r>
              <a:rPr lang="en-US" sz="1400" dirty="0">
                <a:solidFill>
                  <a:srgbClr val="4A5364"/>
                </a:solidFill>
                <a:latin typeface="Pretendard" pitchFamily="34" charset="0"/>
                <a:ea typeface="Pretendard" pitchFamily="34" charset="-122"/>
                <a:cs typeface="Pretendard" pitchFamily="34" charset="-120"/>
              </a:rPr>
              <a:t>FK가 0개 또는 1개인</a:t>
            </a:r>
            <a:endParaRPr lang="en-US" sz="1400" dirty="0"/>
          </a:p>
          <a:p>
            <a:pPr marL="0" indent="0" algn="ctr">
              <a:buNone/>
            </a:pPr>
            <a:r>
              <a:rPr lang="en-US" sz="1400" dirty="0">
                <a:solidFill>
                  <a:srgbClr val="4A5364"/>
                </a:solidFill>
                <a:latin typeface="Pretendard" pitchFamily="34" charset="0"/>
                <a:ea typeface="Pretendard" pitchFamily="34" charset="-122"/>
                <a:cs typeface="Pretendard" pitchFamily="34" charset="-120"/>
              </a:rPr>
              <a:t>보통 테이블은 대부분 여기로 옴</a:t>
            </a:r>
            <a:endParaRPr lang="en-US" sz="1400" dirty="0"/>
          </a:p>
        </p:txBody>
      </p:sp>
      <p:sp>
        <p:nvSpPr>
          <p:cNvPr id="19" name="Shape 16"/>
          <p:cNvSpPr/>
          <p:nvPr/>
        </p:nvSpPr>
        <p:spPr>
          <a:xfrm>
            <a:off x="3435401" y="3218688"/>
            <a:ext cx="3108960" cy="420624"/>
          </a:xfrm>
          <a:prstGeom prst="roundRect">
            <a:avLst>
              <a:gd name="adj" fmla="val 17391"/>
            </a:avLst>
          </a:prstGeom>
          <a:solidFill>
            <a:srgbClr val="EEF3FA"/>
          </a:solidFill>
          <a:ln w="12700">
            <a:solidFill>
              <a:srgbClr val="2E74C6"/>
            </a:solidFill>
            <a:prstDash val="solid"/>
          </a:ln>
        </p:spPr>
        <p:txBody>
          <a:bodyPr/>
          <a:lstStyle/>
          <a:p>
            <a:endParaRPr lang="ko-KR" altLang="en-US"/>
          </a:p>
        </p:txBody>
      </p:sp>
      <p:sp>
        <p:nvSpPr>
          <p:cNvPr id="20" name="Text 17"/>
          <p:cNvSpPr txBox="1"/>
          <p:nvPr/>
        </p:nvSpPr>
        <p:spPr>
          <a:xfrm>
            <a:off x="3435401" y="3218688"/>
            <a:ext cx="3108960" cy="420624"/>
          </a:xfrm>
          <a:prstGeom prst="rect">
            <a:avLst/>
          </a:prstGeom>
          <a:noFill/>
          <a:ln/>
        </p:spPr>
        <p:txBody>
          <a:bodyPr wrap="square" lIns="1016" tIns="1016" rIns="1016" bIns="1016" rtlCol="0" anchor="ctr"/>
          <a:lstStyle/>
          <a:p>
            <a:pPr marL="0" indent="0" algn="ctr">
              <a:buNone/>
            </a:pPr>
            <a:r>
              <a:rPr lang="en-US" sz="1500" b="1" dirty="0">
                <a:solidFill>
                  <a:srgbClr val="1E2A5C"/>
                </a:solidFill>
                <a:latin typeface="Pretendard" pitchFamily="34" charset="0"/>
                <a:ea typeface="Pretendard" pitchFamily="34" charset="-122"/>
                <a:cs typeface="Pretendard" pitchFamily="34" charset="-120"/>
              </a:rPr>
              <a:t>Q2. FK 몇 개?</a:t>
            </a:r>
            <a:endParaRPr lang="en-US" sz="1500" dirty="0"/>
          </a:p>
        </p:txBody>
      </p:sp>
      <p:sp>
        <p:nvSpPr>
          <p:cNvPr id="21" name="Shape 18"/>
          <p:cNvSpPr/>
          <p:nvPr/>
        </p:nvSpPr>
        <p:spPr>
          <a:xfrm>
            <a:off x="3435401" y="3730752"/>
            <a:ext cx="310896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22" name="Shape 19"/>
          <p:cNvSpPr/>
          <p:nvPr/>
        </p:nvSpPr>
        <p:spPr>
          <a:xfrm>
            <a:off x="3508553" y="3831336"/>
            <a:ext cx="329184" cy="329184"/>
          </a:xfrm>
          <a:prstGeom prst="roundRect">
            <a:avLst>
              <a:gd name="adj" fmla="val 45000"/>
            </a:avLst>
          </a:prstGeom>
          <a:solidFill>
            <a:srgbClr val="2E74C6"/>
          </a:solidFill>
          <a:ln/>
        </p:spPr>
        <p:txBody>
          <a:bodyPr/>
          <a:lstStyle/>
          <a:p>
            <a:endParaRPr lang="ko-KR" altLang="en-US"/>
          </a:p>
        </p:txBody>
      </p:sp>
      <p:sp>
        <p:nvSpPr>
          <p:cNvPr id="23" name="Text 20"/>
          <p:cNvSpPr txBox="1"/>
          <p:nvPr/>
        </p:nvSpPr>
        <p:spPr>
          <a:xfrm>
            <a:off x="3508553" y="3831336"/>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②</a:t>
            </a:r>
            <a:endParaRPr lang="en-US" sz="1500" dirty="0"/>
          </a:p>
        </p:txBody>
      </p:sp>
      <p:sp>
        <p:nvSpPr>
          <p:cNvPr id="24" name="Text 21"/>
          <p:cNvSpPr txBox="1"/>
          <p:nvPr/>
        </p:nvSpPr>
        <p:spPr>
          <a:xfrm>
            <a:off x="3910889" y="3730752"/>
            <a:ext cx="2578608" cy="530352"/>
          </a:xfrm>
          <a:prstGeom prst="rect">
            <a:avLst/>
          </a:prstGeom>
          <a:noFill/>
          <a:ln/>
        </p:spPr>
        <p:txBody>
          <a:bodyPr wrap="square" lIns="0" tIns="0" rIns="0" bIns="0" rtlCol="0" anchor="ctr"/>
          <a:lstStyle/>
          <a:p>
            <a:pPr marL="0" indent="0">
              <a:buNone/>
            </a:pPr>
            <a:r>
              <a:rPr lang="en-US" sz="1400" b="1" dirty="0">
                <a:solidFill>
                  <a:srgbClr val="1E2A5C"/>
                </a:solidFill>
                <a:latin typeface="Pretendard" pitchFamily="34" charset="0"/>
                <a:ea typeface="Pretendard" pitchFamily="34" charset="-122"/>
                <a:cs typeface="Pretendard" pitchFamily="34" charset="-120"/>
              </a:rPr>
              <a:t>조인 테이블: 2개이고 업무 열 없음</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관계 1개로 흡수</a:t>
            </a:r>
            <a:endParaRPr lang="en-US" sz="1400" dirty="0"/>
          </a:p>
        </p:txBody>
      </p:sp>
      <p:sp>
        <p:nvSpPr>
          <p:cNvPr id="25" name="Shape 22"/>
          <p:cNvSpPr/>
          <p:nvPr/>
        </p:nvSpPr>
        <p:spPr>
          <a:xfrm>
            <a:off x="3435401" y="4334256"/>
            <a:ext cx="3108960" cy="749808"/>
          </a:xfrm>
          <a:prstGeom prst="roundRect">
            <a:avLst>
              <a:gd name="adj" fmla="val 7317"/>
            </a:avLst>
          </a:prstGeom>
          <a:solidFill>
            <a:srgbClr val="FFFFFF"/>
          </a:solidFill>
          <a:ln w="12700">
            <a:solidFill>
              <a:srgbClr val="D9E0EC"/>
            </a:solidFill>
            <a:prstDash val="solid"/>
          </a:ln>
        </p:spPr>
        <p:txBody>
          <a:bodyPr/>
          <a:lstStyle/>
          <a:p>
            <a:endParaRPr lang="ko-KR" altLang="en-US"/>
          </a:p>
        </p:txBody>
      </p:sp>
      <p:sp>
        <p:nvSpPr>
          <p:cNvPr id="26" name="Shape 23"/>
          <p:cNvSpPr/>
          <p:nvPr/>
        </p:nvSpPr>
        <p:spPr>
          <a:xfrm>
            <a:off x="3508553" y="4544568"/>
            <a:ext cx="329184" cy="329184"/>
          </a:xfrm>
          <a:prstGeom prst="roundRect">
            <a:avLst>
              <a:gd name="adj" fmla="val 45000"/>
            </a:avLst>
          </a:prstGeom>
          <a:solidFill>
            <a:srgbClr val="2E74C6"/>
          </a:solidFill>
          <a:ln/>
        </p:spPr>
        <p:txBody>
          <a:bodyPr/>
          <a:lstStyle/>
          <a:p>
            <a:endParaRPr lang="ko-KR" altLang="en-US"/>
          </a:p>
        </p:txBody>
      </p:sp>
      <p:sp>
        <p:nvSpPr>
          <p:cNvPr id="27" name="Text 24"/>
          <p:cNvSpPr txBox="1"/>
          <p:nvPr/>
        </p:nvSpPr>
        <p:spPr>
          <a:xfrm>
            <a:off x="3508553" y="4544568"/>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③</a:t>
            </a:r>
            <a:endParaRPr lang="en-US" sz="1500" dirty="0"/>
          </a:p>
        </p:txBody>
      </p:sp>
      <p:sp>
        <p:nvSpPr>
          <p:cNvPr id="28" name="Text 25"/>
          <p:cNvSpPr txBox="1"/>
          <p:nvPr/>
        </p:nvSpPr>
        <p:spPr>
          <a:xfrm>
            <a:off x="3910889" y="4334256"/>
            <a:ext cx="2578608" cy="749808"/>
          </a:xfrm>
          <a:prstGeom prst="rect">
            <a:avLst/>
          </a:prstGeom>
          <a:noFill/>
          <a:ln/>
        </p:spPr>
        <p:txBody>
          <a:bodyPr wrap="square" lIns="0" tIns="0" rIns="0" bIns="0" rtlCol="0" anchor="ctr"/>
          <a:lstStyle/>
          <a:p>
            <a:pPr marL="0" indent="0">
              <a:buNone/>
            </a:pPr>
            <a:r>
              <a:rPr lang="en-US" sz="1400" b="1" dirty="0">
                <a:solidFill>
                  <a:srgbClr val="1E2A5C"/>
                </a:solidFill>
                <a:latin typeface="Pretendard" pitchFamily="34" charset="0"/>
                <a:ea typeface="Pretendard" pitchFamily="34" charset="-122"/>
                <a:cs typeface="Pretendard" pitchFamily="34" charset="-120"/>
              </a:rPr>
              <a:t>조인 테이블: 2개 + 업무 속성</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관계 + 관계 속성</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(조회하거나 집계하면 노드)</a:t>
            </a:r>
            <a:endParaRPr lang="en-US" sz="1400" dirty="0"/>
          </a:p>
        </p:txBody>
      </p:sp>
      <p:sp>
        <p:nvSpPr>
          <p:cNvPr id="29" name="Shape 26"/>
          <p:cNvSpPr/>
          <p:nvPr/>
        </p:nvSpPr>
        <p:spPr>
          <a:xfrm>
            <a:off x="3435401" y="5157216"/>
            <a:ext cx="3108960" cy="530352"/>
          </a:xfrm>
          <a:prstGeom prst="roundRect">
            <a:avLst>
              <a:gd name="adj" fmla="val 10345"/>
            </a:avLst>
          </a:prstGeom>
          <a:solidFill>
            <a:srgbClr val="1E2A5C"/>
          </a:solidFill>
          <a:ln/>
        </p:spPr>
        <p:txBody>
          <a:bodyPr/>
          <a:lstStyle/>
          <a:p>
            <a:endParaRPr lang="ko-KR" altLang="en-US"/>
          </a:p>
        </p:txBody>
      </p:sp>
      <p:sp>
        <p:nvSpPr>
          <p:cNvPr id="30" name="Shape 27"/>
          <p:cNvSpPr/>
          <p:nvPr/>
        </p:nvSpPr>
        <p:spPr>
          <a:xfrm>
            <a:off x="3508553" y="5257800"/>
            <a:ext cx="329184" cy="329184"/>
          </a:xfrm>
          <a:prstGeom prst="roundRect">
            <a:avLst>
              <a:gd name="adj" fmla="val 45000"/>
            </a:avLst>
          </a:prstGeom>
          <a:solidFill>
            <a:srgbClr val="FFFFFF"/>
          </a:solidFill>
          <a:ln/>
        </p:spPr>
        <p:txBody>
          <a:bodyPr/>
          <a:lstStyle/>
          <a:p>
            <a:endParaRPr lang="ko-KR" altLang="en-US"/>
          </a:p>
        </p:txBody>
      </p:sp>
      <p:sp>
        <p:nvSpPr>
          <p:cNvPr id="31" name="Text 28"/>
          <p:cNvSpPr txBox="1"/>
          <p:nvPr/>
        </p:nvSpPr>
        <p:spPr>
          <a:xfrm>
            <a:off x="3508553" y="5257800"/>
            <a:ext cx="329184" cy="329184"/>
          </a:xfrm>
          <a:prstGeom prst="rect">
            <a:avLst/>
          </a:prstGeom>
          <a:noFill/>
          <a:ln/>
        </p:spPr>
        <p:txBody>
          <a:bodyPr wrap="square" lIns="1016" tIns="1016" rIns="1016" bIns="1016" rtlCol="0" anchor="ctr"/>
          <a:lstStyle/>
          <a:p>
            <a:pPr marL="0" indent="0" algn="ctr">
              <a:buNone/>
            </a:pPr>
            <a:r>
              <a:rPr lang="en-US" sz="1500" b="1" dirty="0">
                <a:solidFill>
                  <a:srgbClr val="1E2A5C"/>
                </a:solidFill>
                <a:latin typeface="Pretendard" pitchFamily="34" charset="0"/>
                <a:ea typeface="Pretendard" pitchFamily="34" charset="-122"/>
                <a:cs typeface="Pretendard" pitchFamily="34" charset="-120"/>
              </a:rPr>
              <a:t>④</a:t>
            </a:r>
            <a:endParaRPr lang="en-US" sz="1500" dirty="0"/>
          </a:p>
        </p:txBody>
      </p:sp>
      <p:sp>
        <p:nvSpPr>
          <p:cNvPr id="32" name="Text 29"/>
          <p:cNvSpPr txBox="1"/>
          <p:nvPr/>
        </p:nvSpPr>
        <p:spPr>
          <a:xfrm>
            <a:off x="3910889" y="5157216"/>
            <a:ext cx="2578608" cy="530352"/>
          </a:xfrm>
          <a:prstGeom prst="rect">
            <a:avLst/>
          </a:prstGeom>
          <a:noFill/>
          <a:ln/>
        </p:spPr>
        <p:txBody>
          <a:bodyPr wrap="square" lIns="0" tIns="0" rIns="0" bIns="0" rtlCol="0" anchor="ctr"/>
          <a:lstStyle/>
          <a:p>
            <a:pPr marL="0" indent="0">
              <a:buNone/>
            </a:pPr>
            <a:r>
              <a:rPr lang="en-US" sz="1400" b="1" dirty="0">
                <a:solidFill>
                  <a:srgbClr val="FFFFFF"/>
                </a:solidFill>
                <a:latin typeface="Pretendard" pitchFamily="34" charset="0"/>
                <a:ea typeface="Pretendard" pitchFamily="34" charset="-122"/>
                <a:cs typeface="Pretendard" pitchFamily="34" charset="-120"/>
              </a:rPr>
              <a:t>3개 이상</a:t>
            </a:r>
            <a:endParaRPr lang="en-US" sz="1400" dirty="0"/>
          </a:p>
          <a:p>
            <a:pPr marL="0" indent="0">
              <a:buNone/>
            </a:pPr>
            <a:r>
              <a:rPr lang="en-US" sz="1400" dirty="0">
                <a:solidFill>
                  <a:srgbClr val="D9E3F5"/>
                </a:solidFill>
                <a:latin typeface="Pretendard" pitchFamily="34" charset="0"/>
                <a:ea typeface="Pretendard" pitchFamily="34" charset="-122"/>
                <a:cs typeface="Pretendard" pitchFamily="34" charset="-120"/>
              </a:rPr>
              <a:t>노드 타입(중간 노드)</a:t>
            </a:r>
            <a:endParaRPr lang="en-US" sz="1400" dirty="0"/>
          </a:p>
        </p:txBody>
      </p:sp>
      <p:sp>
        <p:nvSpPr>
          <p:cNvPr id="33" name="Shape 30"/>
          <p:cNvSpPr/>
          <p:nvPr/>
        </p:nvSpPr>
        <p:spPr>
          <a:xfrm>
            <a:off x="509321" y="5797296"/>
            <a:ext cx="6035040" cy="585216"/>
          </a:xfrm>
          <a:prstGeom prst="roundRect">
            <a:avLst>
              <a:gd name="adj" fmla="val 12500"/>
            </a:avLst>
          </a:prstGeom>
          <a:solidFill>
            <a:srgbClr val="EEF3FA"/>
          </a:solidFill>
          <a:ln w="12700">
            <a:solidFill>
              <a:srgbClr val="2E74C6"/>
            </a:solidFill>
            <a:prstDash val="solid"/>
          </a:ln>
        </p:spPr>
        <p:txBody>
          <a:bodyPr/>
          <a:lstStyle/>
          <a:p>
            <a:endParaRPr lang="ko-KR" altLang="en-US"/>
          </a:p>
        </p:txBody>
      </p:sp>
      <p:sp>
        <p:nvSpPr>
          <p:cNvPr id="34" name="Text 31"/>
          <p:cNvSpPr txBox="1"/>
          <p:nvPr/>
        </p:nvSpPr>
        <p:spPr>
          <a:xfrm>
            <a:off x="646481" y="5797296"/>
            <a:ext cx="5760720" cy="585216"/>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왜 Q1이 먼저? FK 수만 보면 이체 기록(FK 2개)이 관계로 흡수돼 이체 자체를 찾을 수 없음 (예 ①)</a:t>
            </a:r>
            <a:endParaRPr lang="en-US" sz="1400" dirty="0"/>
          </a:p>
        </p:txBody>
      </p:sp>
      <p:sp>
        <p:nvSpPr>
          <p:cNvPr id="35" name="Shape 32"/>
          <p:cNvSpPr/>
          <p:nvPr/>
        </p:nvSpPr>
        <p:spPr>
          <a:xfrm>
            <a:off x="6818681" y="1755648"/>
            <a:ext cx="73152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36" name="Shape 33"/>
          <p:cNvSpPr/>
          <p:nvPr/>
        </p:nvSpPr>
        <p:spPr>
          <a:xfrm>
            <a:off x="6910121" y="1847088"/>
            <a:ext cx="329184" cy="329184"/>
          </a:xfrm>
          <a:prstGeom prst="roundRect">
            <a:avLst>
              <a:gd name="adj" fmla="val 45000"/>
            </a:avLst>
          </a:prstGeom>
          <a:solidFill>
            <a:srgbClr val="2E74C6"/>
          </a:solidFill>
          <a:ln/>
        </p:spPr>
        <p:txBody>
          <a:bodyPr/>
          <a:lstStyle/>
          <a:p>
            <a:endParaRPr lang="ko-KR" altLang="en-US"/>
          </a:p>
        </p:txBody>
      </p:sp>
      <p:sp>
        <p:nvSpPr>
          <p:cNvPr id="37" name="Text 34"/>
          <p:cNvSpPr txBox="1"/>
          <p:nvPr/>
        </p:nvSpPr>
        <p:spPr>
          <a:xfrm>
            <a:off x="6910121" y="1847088"/>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①</a:t>
            </a:r>
            <a:endParaRPr lang="en-US" sz="1500" dirty="0"/>
          </a:p>
        </p:txBody>
      </p:sp>
      <p:sp>
        <p:nvSpPr>
          <p:cNvPr id="38" name="Shape 35"/>
          <p:cNvSpPr/>
          <p:nvPr/>
        </p:nvSpPr>
        <p:spPr>
          <a:xfrm>
            <a:off x="7321601" y="1865376"/>
            <a:ext cx="2331720" cy="859536"/>
          </a:xfrm>
          <a:prstGeom prst="roundRect">
            <a:avLst>
              <a:gd name="adj" fmla="val 6383"/>
            </a:avLst>
          </a:prstGeom>
          <a:solidFill>
            <a:srgbClr val="F5F8FC"/>
          </a:solidFill>
          <a:ln w="12700">
            <a:solidFill>
              <a:srgbClr val="D9E0EC"/>
            </a:solidFill>
            <a:prstDash val="solid"/>
          </a:ln>
        </p:spPr>
        <p:txBody>
          <a:bodyPr/>
          <a:lstStyle/>
          <a:p>
            <a:endParaRPr lang="ko-KR" altLang="en-US"/>
          </a:p>
        </p:txBody>
      </p:sp>
      <p:sp>
        <p:nvSpPr>
          <p:cNvPr id="39" name="Text 36"/>
          <p:cNvSpPr txBox="1"/>
          <p:nvPr/>
        </p:nvSpPr>
        <p:spPr>
          <a:xfrm>
            <a:off x="7367321" y="1865376"/>
            <a:ext cx="2240280" cy="859536"/>
          </a:xfrm>
          <a:prstGeom prst="rect">
            <a:avLst/>
          </a:prstGeom>
          <a:noFill/>
          <a:ln/>
        </p:spPr>
        <p:txBody>
          <a:bodyPr wrap="square" lIns="508" tIns="508" rIns="508" bIns="508"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이체(출금계좌FK, 입금계좌FK,</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금액, 일시)</a:t>
            </a:r>
            <a:endParaRPr lang="en-US" sz="1400" dirty="0"/>
          </a:p>
        </p:txBody>
      </p:sp>
      <p:sp>
        <p:nvSpPr>
          <p:cNvPr id="40" name="Shape 37"/>
          <p:cNvSpPr/>
          <p:nvPr/>
        </p:nvSpPr>
        <p:spPr>
          <a:xfrm>
            <a:off x="9699041" y="2295144"/>
            <a:ext cx="228600" cy="0"/>
          </a:xfrm>
          <a:prstGeom prst="line">
            <a:avLst/>
          </a:prstGeom>
          <a:noFill/>
          <a:ln w="22225">
            <a:solidFill>
              <a:srgbClr val="4A5364"/>
            </a:solidFill>
            <a:prstDash val="solid"/>
            <a:tailEnd type="triangle"/>
          </a:ln>
        </p:spPr>
        <p:txBody>
          <a:bodyPr/>
          <a:lstStyle/>
          <a:p>
            <a:endParaRPr lang="ko-KR" altLang="en-US"/>
          </a:p>
        </p:txBody>
      </p:sp>
      <p:sp>
        <p:nvSpPr>
          <p:cNvPr id="41" name="Shape 38"/>
          <p:cNvSpPr/>
          <p:nvPr/>
        </p:nvSpPr>
        <p:spPr>
          <a:xfrm>
            <a:off x="10019081" y="2084832"/>
            <a:ext cx="96012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42" name="Text 39"/>
          <p:cNvSpPr txBox="1"/>
          <p:nvPr/>
        </p:nvSpPr>
        <p:spPr>
          <a:xfrm>
            <a:off x="10019081" y="2084832"/>
            <a:ext cx="96012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:계좌</a:t>
            </a:r>
            <a:endParaRPr lang="en-US" sz="1400" dirty="0"/>
          </a:p>
        </p:txBody>
      </p:sp>
      <p:sp>
        <p:nvSpPr>
          <p:cNvPr id="43" name="Shape 40"/>
          <p:cNvSpPr/>
          <p:nvPr/>
        </p:nvSpPr>
        <p:spPr>
          <a:xfrm>
            <a:off x="11550701" y="2084832"/>
            <a:ext cx="960120" cy="384048"/>
          </a:xfrm>
          <a:prstGeom prst="roundRect">
            <a:avLst>
              <a:gd name="adj" fmla="val 28571"/>
            </a:avLst>
          </a:prstGeom>
          <a:solidFill>
            <a:srgbClr val="1E2A5C"/>
          </a:solidFill>
          <a:ln/>
        </p:spPr>
        <p:txBody>
          <a:bodyPr/>
          <a:lstStyle/>
          <a:p>
            <a:endParaRPr lang="ko-KR" altLang="en-US"/>
          </a:p>
        </p:txBody>
      </p:sp>
      <p:sp>
        <p:nvSpPr>
          <p:cNvPr id="44" name="Text 41"/>
          <p:cNvSpPr txBox="1"/>
          <p:nvPr/>
        </p:nvSpPr>
        <p:spPr>
          <a:xfrm>
            <a:off x="11550701" y="2084832"/>
            <a:ext cx="960120" cy="38404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:이체</a:t>
            </a:r>
            <a:endParaRPr lang="en-US" sz="1400" dirty="0"/>
          </a:p>
        </p:txBody>
      </p:sp>
      <p:sp>
        <p:nvSpPr>
          <p:cNvPr id="45" name="Shape 42"/>
          <p:cNvSpPr/>
          <p:nvPr/>
        </p:nvSpPr>
        <p:spPr>
          <a:xfrm>
            <a:off x="13082321" y="2084832"/>
            <a:ext cx="96012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46" name="Text 43"/>
          <p:cNvSpPr txBox="1"/>
          <p:nvPr/>
        </p:nvSpPr>
        <p:spPr>
          <a:xfrm>
            <a:off x="13082321" y="2084832"/>
            <a:ext cx="96012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:계좌</a:t>
            </a:r>
            <a:endParaRPr lang="en-US" sz="1400" dirty="0"/>
          </a:p>
        </p:txBody>
      </p:sp>
      <p:sp>
        <p:nvSpPr>
          <p:cNvPr id="47" name="Shape 44"/>
          <p:cNvSpPr/>
          <p:nvPr/>
        </p:nvSpPr>
        <p:spPr>
          <a:xfrm>
            <a:off x="11006633" y="2276856"/>
            <a:ext cx="516636" cy="0"/>
          </a:xfrm>
          <a:prstGeom prst="line">
            <a:avLst/>
          </a:prstGeom>
          <a:noFill/>
          <a:ln w="22225">
            <a:solidFill>
              <a:srgbClr val="1E2A5C"/>
            </a:solidFill>
            <a:prstDash val="solid"/>
            <a:tailEnd type="triangle"/>
          </a:ln>
        </p:spPr>
        <p:txBody>
          <a:bodyPr/>
          <a:lstStyle/>
          <a:p>
            <a:endParaRPr lang="ko-KR" altLang="en-US"/>
          </a:p>
        </p:txBody>
      </p:sp>
      <p:sp>
        <p:nvSpPr>
          <p:cNvPr id="48" name="Text 45"/>
          <p:cNvSpPr txBox="1"/>
          <p:nvPr/>
        </p:nvSpPr>
        <p:spPr>
          <a:xfrm>
            <a:off x="10887761" y="1975104"/>
            <a:ext cx="75438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:출금</a:t>
            </a:r>
            <a:endParaRPr lang="en-US" sz="1400" dirty="0"/>
          </a:p>
        </p:txBody>
      </p:sp>
      <p:sp>
        <p:nvSpPr>
          <p:cNvPr id="49" name="Shape 46"/>
          <p:cNvSpPr/>
          <p:nvPr/>
        </p:nvSpPr>
        <p:spPr>
          <a:xfrm>
            <a:off x="12538253" y="2276856"/>
            <a:ext cx="516636" cy="0"/>
          </a:xfrm>
          <a:prstGeom prst="line">
            <a:avLst/>
          </a:prstGeom>
          <a:noFill/>
          <a:ln w="22225">
            <a:solidFill>
              <a:srgbClr val="1E2A5C"/>
            </a:solidFill>
            <a:prstDash val="solid"/>
            <a:tailEnd type="triangle"/>
          </a:ln>
        </p:spPr>
        <p:txBody>
          <a:bodyPr/>
          <a:lstStyle/>
          <a:p>
            <a:endParaRPr lang="ko-KR" altLang="en-US"/>
          </a:p>
        </p:txBody>
      </p:sp>
      <p:sp>
        <p:nvSpPr>
          <p:cNvPr id="50" name="Text 47"/>
          <p:cNvSpPr txBox="1"/>
          <p:nvPr/>
        </p:nvSpPr>
        <p:spPr>
          <a:xfrm>
            <a:off x="12419381" y="1975104"/>
            <a:ext cx="75438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:입금</a:t>
            </a:r>
            <a:endParaRPr lang="en-US" sz="1400" dirty="0"/>
          </a:p>
        </p:txBody>
      </p:sp>
      <p:sp>
        <p:nvSpPr>
          <p:cNvPr id="51" name="Text 48"/>
          <p:cNvSpPr txBox="1"/>
          <p:nvPr/>
        </p:nvSpPr>
        <p:spPr>
          <a:xfrm>
            <a:off x="9973361" y="2487168"/>
            <a:ext cx="411480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조회 대상 → 노드 타입(FK가 2개여도)</a:t>
            </a:r>
            <a:endParaRPr lang="en-US" sz="1400" dirty="0"/>
          </a:p>
        </p:txBody>
      </p:sp>
      <p:sp>
        <p:nvSpPr>
          <p:cNvPr id="52" name="Shape 49"/>
          <p:cNvSpPr/>
          <p:nvPr/>
        </p:nvSpPr>
        <p:spPr>
          <a:xfrm>
            <a:off x="6818681" y="2907792"/>
            <a:ext cx="73152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53" name="Shape 50"/>
          <p:cNvSpPr/>
          <p:nvPr/>
        </p:nvSpPr>
        <p:spPr>
          <a:xfrm>
            <a:off x="6910121" y="2999232"/>
            <a:ext cx="329184" cy="329184"/>
          </a:xfrm>
          <a:prstGeom prst="roundRect">
            <a:avLst>
              <a:gd name="adj" fmla="val 45000"/>
            </a:avLst>
          </a:prstGeom>
          <a:solidFill>
            <a:srgbClr val="2E74C6"/>
          </a:solidFill>
          <a:ln/>
        </p:spPr>
        <p:txBody>
          <a:bodyPr/>
          <a:lstStyle/>
          <a:p>
            <a:endParaRPr lang="ko-KR" altLang="en-US"/>
          </a:p>
        </p:txBody>
      </p:sp>
      <p:sp>
        <p:nvSpPr>
          <p:cNvPr id="54" name="Text 51"/>
          <p:cNvSpPr txBox="1"/>
          <p:nvPr/>
        </p:nvSpPr>
        <p:spPr>
          <a:xfrm>
            <a:off x="6910121" y="2999232"/>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②</a:t>
            </a:r>
            <a:endParaRPr lang="en-US" sz="1500" dirty="0"/>
          </a:p>
        </p:txBody>
      </p:sp>
      <p:sp>
        <p:nvSpPr>
          <p:cNvPr id="55" name="Shape 52"/>
          <p:cNvSpPr/>
          <p:nvPr/>
        </p:nvSpPr>
        <p:spPr>
          <a:xfrm>
            <a:off x="7321601" y="3017520"/>
            <a:ext cx="2331720" cy="859536"/>
          </a:xfrm>
          <a:prstGeom prst="roundRect">
            <a:avLst>
              <a:gd name="adj" fmla="val 6383"/>
            </a:avLst>
          </a:prstGeom>
          <a:solidFill>
            <a:srgbClr val="F5F8FC"/>
          </a:solidFill>
          <a:ln w="12700">
            <a:solidFill>
              <a:srgbClr val="D9E0EC"/>
            </a:solidFill>
            <a:prstDash val="solid"/>
          </a:ln>
        </p:spPr>
        <p:txBody>
          <a:bodyPr/>
          <a:lstStyle/>
          <a:p>
            <a:endParaRPr lang="ko-KR" altLang="en-US"/>
          </a:p>
        </p:txBody>
      </p:sp>
      <p:sp>
        <p:nvSpPr>
          <p:cNvPr id="56" name="Text 53"/>
          <p:cNvSpPr txBox="1"/>
          <p:nvPr/>
        </p:nvSpPr>
        <p:spPr>
          <a:xfrm>
            <a:off x="7367321" y="3017520"/>
            <a:ext cx="2240280" cy="859536"/>
          </a:xfrm>
          <a:prstGeom prst="rect">
            <a:avLst/>
          </a:prstGeom>
          <a:noFill/>
          <a:ln/>
        </p:spPr>
        <p:txBody>
          <a:bodyPr wrap="square" lIns="508" tIns="508" rIns="508" bIns="508"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사용자, 역할,</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사용자역할(사용자FK, 역할FK)</a:t>
            </a:r>
            <a:endParaRPr lang="en-US" sz="1400" dirty="0"/>
          </a:p>
        </p:txBody>
      </p:sp>
      <p:sp>
        <p:nvSpPr>
          <p:cNvPr id="57" name="Shape 54"/>
          <p:cNvSpPr/>
          <p:nvPr/>
        </p:nvSpPr>
        <p:spPr>
          <a:xfrm>
            <a:off x="9699041" y="3447288"/>
            <a:ext cx="228600" cy="0"/>
          </a:xfrm>
          <a:prstGeom prst="line">
            <a:avLst/>
          </a:prstGeom>
          <a:noFill/>
          <a:ln w="22225">
            <a:solidFill>
              <a:srgbClr val="4A5364"/>
            </a:solidFill>
            <a:prstDash val="solid"/>
            <a:tailEnd type="triangle"/>
          </a:ln>
        </p:spPr>
        <p:txBody>
          <a:bodyPr/>
          <a:lstStyle/>
          <a:p>
            <a:endParaRPr lang="ko-KR" altLang="en-US"/>
          </a:p>
        </p:txBody>
      </p:sp>
      <p:sp>
        <p:nvSpPr>
          <p:cNvPr id="58" name="Shape 55"/>
          <p:cNvSpPr/>
          <p:nvPr/>
        </p:nvSpPr>
        <p:spPr>
          <a:xfrm>
            <a:off x="10019081" y="3236976"/>
            <a:ext cx="91440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59" name="Text 56"/>
          <p:cNvSpPr txBox="1"/>
          <p:nvPr/>
        </p:nvSpPr>
        <p:spPr>
          <a:xfrm>
            <a:off x="10019081" y="3236976"/>
            <a:ext cx="91440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:사용자</a:t>
            </a:r>
            <a:endParaRPr lang="en-US" sz="1400" dirty="0"/>
          </a:p>
        </p:txBody>
      </p:sp>
      <p:sp>
        <p:nvSpPr>
          <p:cNvPr id="60" name="Shape 57"/>
          <p:cNvSpPr/>
          <p:nvPr/>
        </p:nvSpPr>
        <p:spPr>
          <a:xfrm>
            <a:off x="13128041" y="3236976"/>
            <a:ext cx="91440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61" name="Text 58"/>
          <p:cNvSpPr txBox="1"/>
          <p:nvPr/>
        </p:nvSpPr>
        <p:spPr>
          <a:xfrm>
            <a:off x="13128041" y="3236976"/>
            <a:ext cx="91440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:역할</a:t>
            </a:r>
            <a:endParaRPr lang="en-US" sz="1400" dirty="0"/>
          </a:p>
        </p:txBody>
      </p:sp>
      <p:sp>
        <p:nvSpPr>
          <p:cNvPr id="62" name="Shape 59"/>
          <p:cNvSpPr/>
          <p:nvPr/>
        </p:nvSpPr>
        <p:spPr>
          <a:xfrm>
            <a:off x="10960913" y="3429000"/>
            <a:ext cx="2139696" cy="0"/>
          </a:xfrm>
          <a:prstGeom prst="line">
            <a:avLst/>
          </a:prstGeom>
          <a:noFill/>
          <a:ln w="22225">
            <a:solidFill>
              <a:srgbClr val="1E2A5C"/>
            </a:solidFill>
            <a:prstDash val="solid"/>
            <a:tailEnd type="triangle"/>
          </a:ln>
        </p:spPr>
        <p:txBody>
          <a:bodyPr/>
          <a:lstStyle/>
          <a:p>
            <a:endParaRPr lang="ko-KR" altLang="en-US"/>
          </a:p>
        </p:txBody>
      </p:sp>
      <p:sp>
        <p:nvSpPr>
          <p:cNvPr id="63" name="Text 60"/>
          <p:cNvSpPr txBox="1"/>
          <p:nvPr/>
        </p:nvSpPr>
        <p:spPr>
          <a:xfrm>
            <a:off x="10842041" y="3127248"/>
            <a:ext cx="237744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:맡음</a:t>
            </a:r>
            <a:endParaRPr lang="en-US" sz="1400" dirty="0"/>
          </a:p>
        </p:txBody>
      </p:sp>
      <p:sp>
        <p:nvSpPr>
          <p:cNvPr id="64" name="Text 61"/>
          <p:cNvSpPr txBox="1"/>
          <p:nvPr/>
        </p:nvSpPr>
        <p:spPr>
          <a:xfrm>
            <a:off x="9973361" y="3639312"/>
            <a:ext cx="411480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업무 열 없음 → 관계로 흡수(사용자역할 노드 없음)</a:t>
            </a:r>
            <a:endParaRPr lang="en-US" sz="1400" dirty="0"/>
          </a:p>
        </p:txBody>
      </p:sp>
      <p:sp>
        <p:nvSpPr>
          <p:cNvPr id="65" name="Shape 62"/>
          <p:cNvSpPr/>
          <p:nvPr/>
        </p:nvSpPr>
        <p:spPr>
          <a:xfrm>
            <a:off x="6818681" y="4059936"/>
            <a:ext cx="73152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66" name="Shape 63"/>
          <p:cNvSpPr/>
          <p:nvPr/>
        </p:nvSpPr>
        <p:spPr>
          <a:xfrm>
            <a:off x="6910121" y="4151376"/>
            <a:ext cx="329184" cy="329184"/>
          </a:xfrm>
          <a:prstGeom prst="roundRect">
            <a:avLst>
              <a:gd name="adj" fmla="val 45000"/>
            </a:avLst>
          </a:prstGeom>
          <a:solidFill>
            <a:srgbClr val="2E74C6"/>
          </a:solidFill>
          <a:ln/>
        </p:spPr>
        <p:txBody>
          <a:bodyPr/>
          <a:lstStyle/>
          <a:p>
            <a:endParaRPr lang="ko-KR" altLang="en-US"/>
          </a:p>
        </p:txBody>
      </p:sp>
      <p:sp>
        <p:nvSpPr>
          <p:cNvPr id="67" name="Text 64"/>
          <p:cNvSpPr txBox="1"/>
          <p:nvPr/>
        </p:nvSpPr>
        <p:spPr>
          <a:xfrm>
            <a:off x="6910121" y="4151376"/>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③</a:t>
            </a:r>
            <a:endParaRPr lang="en-US" sz="1500" dirty="0"/>
          </a:p>
        </p:txBody>
      </p:sp>
      <p:sp>
        <p:nvSpPr>
          <p:cNvPr id="68" name="Shape 65"/>
          <p:cNvSpPr/>
          <p:nvPr/>
        </p:nvSpPr>
        <p:spPr>
          <a:xfrm>
            <a:off x="7321601" y="4169664"/>
            <a:ext cx="2331720" cy="859536"/>
          </a:xfrm>
          <a:prstGeom prst="roundRect">
            <a:avLst>
              <a:gd name="adj" fmla="val 6383"/>
            </a:avLst>
          </a:prstGeom>
          <a:solidFill>
            <a:srgbClr val="F5F8FC"/>
          </a:solidFill>
          <a:ln w="12700">
            <a:solidFill>
              <a:srgbClr val="D9E0EC"/>
            </a:solidFill>
            <a:prstDash val="solid"/>
          </a:ln>
        </p:spPr>
        <p:txBody>
          <a:bodyPr/>
          <a:lstStyle/>
          <a:p>
            <a:endParaRPr lang="ko-KR" altLang="en-US"/>
          </a:p>
        </p:txBody>
      </p:sp>
      <p:sp>
        <p:nvSpPr>
          <p:cNvPr id="69" name="Text 66"/>
          <p:cNvSpPr txBox="1"/>
          <p:nvPr/>
        </p:nvSpPr>
        <p:spPr>
          <a:xfrm>
            <a:off x="7367321" y="4169664"/>
            <a:ext cx="2240280" cy="859536"/>
          </a:xfrm>
          <a:prstGeom prst="rect">
            <a:avLst/>
          </a:prstGeom>
          <a:noFill/>
          <a:ln/>
        </p:spPr>
        <p:txBody>
          <a:bodyPr wrap="square" lIns="508" tIns="508" rIns="508" bIns="508"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주문상품(주문FK, 상품FK,</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수량, 단가)</a:t>
            </a:r>
            <a:endParaRPr lang="en-US" sz="1400" dirty="0"/>
          </a:p>
        </p:txBody>
      </p:sp>
      <p:sp>
        <p:nvSpPr>
          <p:cNvPr id="70" name="Shape 67"/>
          <p:cNvSpPr/>
          <p:nvPr/>
        </p:nvSpPr>
        <p:spPr>
          <a:xfrm>
            <a:off x="9699041" y="4599432"/>
            <a:ext cx="228600" cy="0"/>
          </a:xfrm>
          <a:prstGeom prst="line">
            <a:avLst/>
          </a:prstGeom>
          <a:noFill/>
          <a:ln w="22225">
            <a:solidFill>
              <a:srgbClr val="4A5364"/>
            </a:solidFill>
            <a:prstDash val="solid"/>
            <a:tailEnd type="triangle"/>
          </a:ln>
        </p:spPr>
        <p:txBody>
          <a:bodyPr/>
          <a:lstStyle/>
          <a:p>
            <a:endParaRPr lang="ko-KR" altLang="en-US"/>
          </a:p>
        </p:txBody>
      </p:sp>
      <p:sp>
        <p:nvSpPr>
          <p:cNvPr id="71" name="Shape 68"/>
          <p:cNvSpPr/>
          <p:nvPr/>
        </p:nvSpPr>
        <p:spPr>
          <a:xfrm>
            <a:off x="10019081" y="4389120"/>
            <a:ext cx="91440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72" name="Text 69"/>
          <p:cNvSpPr txBox="1"/>
          <p:nvPr/>
        </p:nvSpPr>
        <p:spPr>
          <a:xfrm>
            <a:off x="10019081" y="4389120"/>
            <a:ext cx="91440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:주문</a:t>
            </a:r>
            <a:endParaRPr lang="en-US" sz="1400" dirty="0"/>
          </a:p>
        </p:txBody>
      </p:sp>
      <p:sp>
        <p:nvSpPr>
          <p:cNvPr id="73" name="Shape 70"/>
          <p:cNvSpPr/>
          <p:nvPr/>
        </p:nvSpPr>
        <p:spPr>
          <a:xfrm>
            <a:off x="13128041" y="4389120"/>
            <a:ext cx="91440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74" name="Text 71"/>
          <p:cNvSpPr txBox="1"/>
          <p:nvPr/>
        </p:nvSpPr>
        <p:spPr>
          <a:xfrm>
            <a:off x="13128041" y="4389120"/>
            <a:ext cx="91440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:상품</a:t>
            </a:r>
            <a:endParaRPr lang="en-US" sz="1400" dirty="0"/>
          </a:p>
        </p:txBody>
      </p:sp>
      <p:sp>
        <p:nvSpPr>
          <p:cNvPr id="75" name="Shape 72"/>
          <p:cNvSpPr/>
          <p:nvPr/>
        </p:nvSpPr>
        <p:spPr>
          <a:xfrm>
            <a:off x="10960913" y="4581144"/>
            <a:ext cx="2139696" cy="0"/>
          </a:xfrm>
          <a:prstGeom prst="line">
            <a:avLst/>
          </a:prstGeom>
          <a:noFill/>
          <a:ln w="22225">
            <a:solidFill>
              <a:srgbClr val="1E2A5C"/>
            </a:solidFill>
            <a:prstDash val="solid"/>
            <a:tailEnd type="triangle"/>
          </a:ln>
        </p:spPr>
        <p:txBody>
          <a:bodyPr/>
          <a:lstStyle/>
          <a:p>
            <a:endParaRPr lang="ko-KR" altLang="en-US"/>
          </a:p>
        </p:txBody>
      </p:sp>
      <p:sp>
        <p:nvSpPr>
          <p:cNvPr id="76" name="Text 73"/>
          <p:cNvSpPr txBox="1"/>
          <p:nvPr/>
        </p:nvSpPr>
        <p:spPr>
          <a:xfrm>
            <a:off x="10842041" y="4279392"/>
            <a:ext cx="237744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:포함 {수량, 단가}</a:t>
            </a:r>
            <a:endParaRPr lang="en-US" sz="1400" dirty="0"/>
          </a:p>
        </p:txBody>
      </p:sp>
      <p:sp>
        <p:nvSpPr>
          <p:cNvPr id="77" name="Text 74"/>
          <p:cNvSpPr txBox="1"/>
          <p:nvPr/>
        </p:nvSpPr>
        <p:spPr>
          <a:xfrm>
            <a:off x="9973361" y="4791456"/>
            <a:ext cx="411480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업무 속성 → 관계 속성(판매 집계가 잦으면 노드)</a:t>
            </a:r>
            <a:endParaRPr lang="en-US" sz="1400" dirty="0"/>
          </a:p>
        </p:txBody>
      </p:sp>
      <p:sp>
        <p:nvSpPr>
          <p:cNvPr id="78" name="Shape 75"/>
          <p:cNvSpPr/>
          <p:nvPr/>
        </p:nvSpPr>
        <p:spPr>
          <a:xfrm>
            <a:off x="6818681" y="5212080"/>
            <a:ext cx="73152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79" name="Shape 76"/>
          <p:cNvSpPr/>
          <p:nvPr/>
        </p:nvSpPr>
        <p:spPr>
          <a:xfrm>
            <a:off x="6910121" y="5303520"/>
            <a:ext cx="329184" cy="329184"/>
          </a:xfrm>
          <a:prstGeom prst="roundRect">
            <a:avLst>
              <a:gd name="adj" fmla="val 45000"/>
            </a:avLst>
          </a:prstGeom>
          <a:solidFill>
            <a:srgbClr val="2E74C6"/>
          </a:solidFill>
          <a:ln/>
        </p:spPr>
        <p:txBody>
          <a:bodyPr/>
          <a:lstStyle/>
          <a:p>
            <a:endParaRPr lang="ko-KR" altLang="en-US"/>
          </a:p>
        </p:txBody>
      </p:sp>
      <p:sp>
        <p:nvSpPr>
          <p:cNvPr id="80" name="Text 77"/>
          <p:cNvSpPr txBox="1"/>
          <p:nvPr/>
        </p:nvSpPr>
        <p:spPr>
          <a:xfrm>
            <a:off x="6910121" y="5303520"/>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④</a:t>
            </a:r>
            <a:endParaRPr lang="en-US" sz="1500" dirty="0"/>
          </a:p>
        </p:txBody>
      </p:sp>
      <p:sp>
        <p:nvSpPr>
          <p:cNvPr id="81" name="Shape 78"/>
          <p:cNvSpPr/>
          <p:nvPr/>
        </p:nvSpPr>
        <p:spPr>
          <a:xfrm>
            <a:off x="7321601" y="5321808"/>
            <a:ext cx="2331720" cy="859536"/>
          </a:xfrm>
          <a:prstGeom prst="roundRect">
            <a:avLst>
              <a:gd name="adj" fmla="val 6383"/>
            </a:avLst>
          </a:prstGeom>
          <a:solidFill>
            <a:srgbClr val="F5F8FC"/>
          </a:solidFill>
          <a:ln w="12700">
            <a:solidFill>
              <a:srgbClr val="D9E0EC"/>
            </a:solidFill>
            <a:prstDash val="solid"/>
          </a:ln>
        </p:spPr>
        <p:txBody>
          <a:bodyPr/>
          <a:lstStyle/>
          <a:p>
            <a:endParaRPr lang="ko-KR" altLang="en-US"/>
          </a:p>
        </p:txBody>
      </p:sp>
      <p:sp>
        <p:nvSpPr>
          <p:cNvPr id="82" name="Text 79"/>
          <p:cNvSpPr txBox="1"/>
          <p:nvPr/>
        </p:nvSpPr>
        <p:spPr>
          <a:xfrm>
            <a:off x="7367321" y="5321808"/>
            <a:ext cx="2240280" cy="859536"/>
          </a:xfrm>
          <a:prstGeom prst="rect">
            <a:avLst/>
          </a:prstGeom>
          <a:noFill/>
          <a:ln/>
        </p:spPr>
        <p:txBody>
          <a:bodyPr wrap="square" lIns="508" tIns="508" rIns="508" bIns="508"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수강신청(학생FK, 과목FK,</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학기FK)</a:t>
            </a:r>
            <a:endParaRPr lang="en-US" sz="1400" dirty="0"/>
          </a:p>
        </p:txBody>
      </p:sp>
      <p:sp>
        <p:nvSpPr>
          <p:cNvPr id="83" name="Shape 80"/>
          <p:cNvSpPr/>
          <p:nvPr/>
        </p:nvSpPr>
        <p:spPr>
          <a:xfrm>
            <a:off x="9699041" y="5751576"/>
            <a:ext cx="228600" cy="0"/>
          </a:xfrm>
          <a:prstGeom prst="line">
            <a:avLst/>
          </a:prstGeom>
          <a:noFill/>
          <a:ln w="22225">
            <a:solidFill>
              <a:srgbClr val="4A5364"/>
            </a:solidFill>
            <a:prstDash val="solid"/>
            <a:tailEnd type="triangle"/>
          </a:ln>
        </p:spPr>
        <p:txBody>
          <a:bodyPr/>
          <a:lstStyle/>
          <a:p>
            <a:endParaRPr lang="ko-KR" altLang="en-US"/>
          </a:p>
        </p:txBody>
      </p:sp>
      <p:sp>
        <p:nvSpPr>
          <p:cNvPr id="84" name="Shape 81"/>
          <p:cNvSpPr/>
          <p:nvPr/>
        </p:nvSpPr>
        <p:spPr>
          <a:xfrm>
            <a:off x="10019081" y="5541264"/>
            <a:ext cx="96012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85" name="Text 82"/>
          <p:cNvSpPr txBox="1"/>
          <p:nvPr/>
        </p:nvSpPr>
        <p:spPr>
          <a:xfrm>
            <a:off x="10019081" y="5541264"/>
            <a:ext cx="96012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:학생</a:t>
            </a:r>
            <a:endParaRPr lang="en-US" sz="1400" dirty="0"/>
          </a:p>
        </p:txBody>
      </p:sp>
      <p:sp>
        <p:nvSpPr>
          <p:cNvPr id="86" name="Shape 83"/>
          <p:cNvSpPr/>
          <p:nvPr/>
        </p:nvSpPr>
        <p:spPr>
          <a:xfrm>
            <a:off x="11550701" y="5541264"/>
            <a:ext cx="960120" cy="384048"/>
          </a:xfrm>
          <a:prstGeom prst="roundRect">
            <a:avLst>
              <a:gd name="adj" fmla="val 28571"/>
            </a:avLst>
          </a:prstGeom>
          <a:solidFill>
            <a:srgbClr val="1E2A5C"/>
          </a:solidFill>
          <a:ln/>
        </p:spPr>
        <p:txBody>
          <a:bodyPr/>
          <a:lstStyle/>
          <a:p>
            <a:endParaRPr lang="ko-KR" altLang="en-US"/>
          </a:p>
        </p:txBody>
      </p:sp>
      <p:sp>
        <p:nvSpPr>
          <p:cNvPr id="87" name="Text 84"/>
          <p:cNvSpPr txBox="1"/>
          <p:nvPr/>
        </p:nvSpPr>
        <p:spPr>
          <a:xfrm>
            <a:off x="11550701" y="5541264"/>
            <a:ext cx="960120" cy="38404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:수강신청</a:t>
            </a:r>
            <a:endParaRPr lang="en-US" sz="1400" dirty="0"/>
          </a:p>
        </p:txBody>
      </p:sp>
      <p:sp>
        <p:nvSpPr>
          <p:cNvPr id="88" name="Shape 85"/>
          <p:cNvSpPr/>
          <p:nvPr/>
        </p:nvSpPr>
        <p:spPr>
          <a:xfrm>
            <a:off x="13082321" y="5541264"/>
            <a:ext cx="96012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89" name="Text 86"/>
          <p:cNvSpPr txBox="1"/>
          <p:nvPr/>
        </p:nvSpPr>
        <p:spPr>
          <a:xfrm>
            <a:off x="13082321" y="5541264"/>
            <a:ext cx="96012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:과목</a:t>
            </a:r>
            <a:endParaRPr lang="en-US" sz="1400" dirty="0"/>
          </a:p>
        </p:txBody>
      </p:sp>
      <p:sp>
        <p:nvSpPr>
          <p:cNvPr id="90" name="Shape 87"/>
          <p:cNvSpPr/>
          <p:nvPr/>
        </p:nvSpPr>
        <p:spPr>
          <a:xfrm>
            <a:off x="11006633" y="5733288"/>
            <a:ext cx="516636" cy="0"/>
          </a:xfrm>
          <a:prstGeom prst="line">
            <a:avLst/>
          </a:prstGeom>
          <a:noFill/>
          <a:ln w="22225">
            <a:solidFill>
              <a:srgbClr val="1E2A5C"/>
            </a:solidFill>
            <a:prstDash val="solid"/>
            <a:tailEnd type="triangle"/>
          </a:ln>
        </p:spPr>
        <p:txBody>
          <a:bodyPr/>
          <a:lstStyle/>
          <a:p>
            <a:endParaRPr lang="ko-KR" altLang="en-US"/>
          </a:p>
        </p:txBody>
      </p:sp>
      <p:sp>
        <p:nvSpPr>
          <p:cNvPr id="91" name="Text 88"/>
          <p:cNvSpPr txBox="1"/>
          <p:nvPr/>
        </p:nvSpPr>
        <p:spPr>
          <a:xfrm>
            <a:off x="10887761" y="5431536"/>
            <a:ext cx="75438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:신청</a:t>
            </a:r>
            <a:endParaRPr lang="en-US" sz="1400" dirty="0"/>
          </a:p>
        </p:txBody>
      </p:sp>
      <p:sp>
        <p:nvSpPr>
          <p:cNvPr id="92" name="Shape 89"/>
          <p:cNvSpPr/>
          <p:nvPr/>
        </p:nvSpPr>
        <p:spPr>
          <a:xfrm>
            <a:off x="12538253" y="5733288"/>
            <a:ext cx="516636" cy="0"/>
          </a:xfrm>
          <a:prstGeom prst="line">
            <a:avLst/>
          </a:prstGeom>
          <a:noFill/>
          <a:ln w="22225">
            <a:solidFill>
              <a:srgbClr val="1E2A5C"/>
            </a:solidFill>
            <a:prstDash val="solid"/>
            <a:tailEnd type="triangle"/>
          </a:ln>
        </p:spPr>
        <p:txBody>
          <a:bodyPr/>
          <a:lstStyle/>
          <a:p>
            <a:endParaRPr lang="ko-KR" altLang="en-US"/>
          </a:p>
        </p:txBody>
      </p:sp>
      <p:sp>
        <p:nvSpPr>
          <p:cNvPr id="93" name="Text 90"/>
          <p:cNvSpPr txBox="1"/>
          <p:nvPr/>
        </p:nvSpPr>
        <p:spPr>
          <a:xfrm>
            <a:off x="12419381" y="5431536"/>
            <a:ext cx="75438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:대상</a:t>
            </a:r>
            <a:endParaRPr lang="en-US" sz="1400" dirty="0"/>
          </a:p>
        </p:txBody>
      </p:sp>
      <p:sp>
        <p:nvSpPr>
          <p:cNvPr id="94" name="Text 91"/>
          <p:cNvSpPr txBox="1"/>
          <p:nvPr/>
        </p:nvSpPr>
        <p:spPr>
          <a:xfrm>
            <a:off x="9973361" y="5943600"/>
            <a:ext cx="411480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FK 3개 → 중간 노드(학기도 같은 방식), 홉 +1</a:t>
            </a:r>
            <a:endParaRPr lang="en-US" sz="1400" dirty="0"/>
          </a:p>
        </p:txBody>
      </p:sp>
      <p:sp>
        <p:nvSpPr>
          <p:cNvPr id="95" name="Shape 92"/>
          <p:cNvSpPr/>
          <p:nvPr/>
        </p:nvSpPr>
        <p:spPr>
          <a:xfrm>
            <a:off x="509321" y="6492240"/>
            <a:ext cx="13624560" cy="731520"/>
          </a:xfrm>
          <a:prstGeom prst="roundRect">
            <a:avLst>
              <a:gd name="adj" fmla="val 10000"/>
            </a:avLst>
          </a:prstGeom>
          <a:solidFill>
            <a:srgbClr val="EEF3FA"/>
          </a:solidFill>
          <a:ln w="19050">
            <a:solidFill>
              <a:srgbClr val="2E74C6"/>
            </a:solidFill>
            <a:prstDash val="solid"/>
          </a:ln>
        </p:spPr>
        <p:txBody>
          <a:bodyPr/>
          <a:lstStyle/>
          <a:p>
            <a:endParaRPr lang="ko-KR" altLang="en-US"/>
          </a:p>
        </p:txBody>
      </p:sp>
      <p:sp>
        <p:nvSpPr>
          <p:cNvPr id="96" name="Shape 93"/>
          <p:cNvSpPr/>
          <p:nvPr/>
        </p:nvSpPr>
        <p:spPr>
          <a:xfrm>
            <a:off x="509321" y="6492240"/>
            <a:ext cx="82296" cy="731520"/>
          </a:xfrm>
          <a:prstGeom prst="rect">
            <a:avLst/>
          </a:prstGeom>
          <a:solidFill>
            <a:srgbClr val="2E74C6"/>
          </a:solidFill>
          <a:ln/>
        </p:spPr>
        <p:txBody>
          <a:bodyPr/>
          <a:lstStyle/>
          <a:p>
            <a:endParaRPr lang="ko-KR" altLang="en-US"/>
          </a:p>
        </p:txBody>
      </p:sp>
      <p:sp>
        <p:nvSpPr>
          <p:cNvPr id="97" name="Text 94"/>
          <p:cNvSpPr txBox="1"/>
          <p:nvPr/>
        </p:nvSpPr>
        <p:spPr>
          <a:xfrm>
            <a:off x="737921" y="6492240"/>
            <a:ext cx="13258800" cy="7315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Neo4j 공식 변환 규칙과 같음: 테이블 → 라벨 , FK → 관계 , 조인 테이블 → 관계 또는 관계 + 속성,  셋 이상 → 중간 노드</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이름에 공백 없음(Neo4j 권고: 라벨은 PascalCase, 관계는 대문자_밑줄). 정형에서 나온 타입은 LLM 추출 비용이 들지 않음</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프롬프트로 정형 테이블의 스키마 도출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변환 규칙을 프롬프트에 담아 바이브 코딩 도구에 맡김 — AI는 읽고 판정하고 그리며, 사람은 세 번 답하고 승인함</a:t>
            </a:r>
            <a:endParaRPr lang="en-US" sz="1800" dirty="0"/>
          </a:p>
        </p:txBody>
      </p:sp>
      <p:sp>
        <p:nvSpPr>
          <p:cNvPr id="5" name="Shape 2"/>
          <p:cNvSpPr/>
          <p:nvPr/>
        </p:nvSpPr>
        <p:spPr>
          <a:xfrm>
            <a:off x="2127809" y="1700784"/>
            <a:ext cx="12006072" cy="749808"/>
          </a:xfrm>
          <a:prstGeom prst="roundRect">
            <a:avLst>
              <a:gd name="adj" fmla="val 7317"/>
            </a:avLst>
          </a:prstGeom>
          <a:solidFill>
            <a:srgbClr val="F5F8FC"/>
          </a:solidFill>
          <a:ln/>
        </p:spPr>
        <p:txBody>
          <a:bodyPr/>
          <a:lstStyle/>
          <a:p>
            <a:endParaRPr lang="ko-KR" altLang="en-US"/>
          </a:p>
        </p:txBody>
      </p:sp>
      <p:sp>
        <p:nvSpPr>
          <p:cNvPr id="6" name="Shape 3"/>
          <p:cNvSpPr/>
          <p:nvPr/>
        </p:nvSpPr>
        <p:spPr>
          <a:xfrm>
            <a:off x="509321" y="1700784"/>
            <a:ext cx="1554480" cy="749808"/>
          </a:xfrm>
          <a:prstGeom prst="roundRect">
            <a:avLst>
              <a:gd name="adj" fmla="val 7317"/>
            </a:avLst>
          </a:prstGeom>
          <a:solidFill>
            <a:srgbClr val="2E74C6"/>
          </a:solidFill>
          <a:ln/>
        </p:spPr>
        <p:txBody>
          <a:bodyPr/>
          <a:lstStyle/>
          <a:p>
            <a:endParaRPr lang="ko-KR" altLang="en-US"/>
          </a:p>
        </p:txBody>
      </p:sp>
      <p:sp>
        <p:nvSpPr>
          <p:cNvPr id="7" name="Text 4"/>
          <p:cNvSpPr txBox="1"/>
          <p:nvPr/>
        </p:nvSpPr>
        <p:spPr>
          <a:xfrm>
            <a:off x="509321" y="1700784"/>
            <a:ext cx="1554480" cy="7498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사람</a:t>
            </a:r>
            <a:endParaRPr lang="en-US" sz="1400" dirty="0"/>
          </a:p>
        </p:txBody>
      </p:sp>
      <p:sp>
        <p:nvSpPr>
          <p:cNvPr id="8" name="Shape 5"/>
          <p:cNvSpPr/>
          <p:nvPr/>
        </p:nvSpPr>
        <p:spPr>
          <a:xfrm>
            <a:off x="2127809" y="2615184"/>
            <a:ext cx="12006072" cy="749808"/>
          </a:xfrm>
          <a:prstGeom prst="roundRect">
            <a:avLst>
              <a:gd name="adj" fmla="val 7317"/>
            </a:avLst>
          </a:prstGeom>
          <a:solidFill>
            <a:srgbClr val="F5F8FC"/>
          </a:solidFill>
          <a:ln/>
        </p:spPr>
        <p:txBody>
          <a:bodyPr/>
          <a:lstStyle/>
          <a:p>
            <a:endParaRPr lang="ko-KR" altLang="en-US"/>
          </a:p>
        </p:txBody>
      </p:sp>
      <p:sp>
        <p:nvSpPr>
          <p:cNvPr id="9" name="Shape 6"/>
          <p:cNvSpPr/>
          <p:nvPr/>
        </p:nvSpPr>
        <p:spPr>
          <a:xfrm>
            <a:off x="509321" y="2615184"/>
            <a:ext cx="1554480" cy="749808"/>
          </a:xfrm>
          <a:prstGeom prst="roundRect">
            <a:avLst>
              <a:gd name="adj" fmla="val 7317"/>
            </a:avLst>
          </a:prstGeom>
          <a:solidFill>
            <a:srgbClr val="1E2A5C"/>
          </a:solidFill>
          <a:ln/>
        </p:spPr>
        <p:txBody>
          <a:bodyPr/>
          <a:lstStyle/>
          <a:p>
            <a:endParaRPr lang="ko-KR" altLang="en-US"/>
          </a:p>
        </p:txBody>
      </p:sp>
      <p:sp>
        <p:nvSpPr>
          <p:cNvPr id="10" name="Text 7"/>
          <p:cNvSpPr txBox="1"/>
          <p:nvPr/>
        </p:nvSpPr>
        <p:spPr>
          <a:xfrm>
            <a:off x="509321" y="2615184"/>
            <a:ext cx="1554480" cy="7498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AI</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(바이브 코딩 도구)</a:t>
            </a:r>
            <a:endParaRPr lang="en-US" sz="1400" dirty="0"/>
          </a:p>
        </p:txBody>
      </p:sp>
      <p:sp>
        <p:nvSpPr>
          <p:cNvPr id="11" name="Shape 8"/>
          <p:cNvSpPr/>
          <p:nvPr/>
        </p:nvSpPr>
        <p:spPr>
          <a:xfrm>
            <a:off x="2200961" y="1755648"/>
            <a:ext cx="1163320" cy="640080"/>
          </a:xfrm>
          <a:prstGeom prst="roundRect">
            <a:avLst>
              <a:gd name="adj" fmla="val 11429"/>
            </a:avLst>
          </a:prstGeom>
          <a:solidFill>
            <a:srgbClr val="2E74C6"/>
          </a:solidFill>
          <a:ln/>
        </p:spPr>
        <p:txBody>
          <a:bodyPr/>
          <a:lstStyle/>
          <a:p>
            <a:endParaRPr lang="ko-KR" altLang="en-US"/>
          </a:p>
        </p:txBody>
      </p:sp>
      <p:sp>
        <p:nvSpPr>
          <p:cNvPr id="12" name="Text 9"/>
          <p:cNvSpPr txBox="1"/>
          <p:nvPr/>
        </p:nvSpPr>
        <p:spPr>
          <a:xfrm>
            <a:off x="2200961" y="1755648"/>
            <a:ext cx="1163320" cy="64008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1. 입력 받기</a:t>
            </a:r>
            <a:endParaRPr lang="en-US" sz="1400" dirty="0"/>
          </a:p>
        </p:txBody>
      </p:sp>
      <p:sp>
        <p:nvSpPr>
          <p:cNvPr id="13" name="Shape 10"/>
          <p:cNvSpPr/>
          <p:nvPr/>
        </p:nvSpPr>
        <p:spPr>
          <a:xfrm>
            <a:off x="33917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14" name="Shape 11"/>
          <p:cNvSpPr/>
          <p:nvPr/>
        </p:nvSpPr>
        <p:spPr>
          <a:xfrm>
            <a:off x="35471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15" name="Text 12"/>
          <p:cNvSpPr txBox="1"/>
          <p:nvPr/>
        </p:nvSpPr>
        <p:spPr>
          <a:xfrm>
            <a:off x="35471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2. DB</a:t>
            </a:r>
            <a:br>
              <a:rPr lang="en-US" sz="1400" b="1" dirty="0">
                <a:solidFill>
                  <a:srgbClr val="2B3242"/>
                </a:solidFill>
                <a:latin typeface="Pretendard" pitchFamily="34" charset="0"/>
                <a:ea typeface="Pretendard" pitchFamily="34" charset="-122"/>
                <a:cs typeface="Pretendard" pitchFamily="34" charset="-120"/>
              </a:rPr>
            </a:br>
            <a:r>
              <a:rPr lang="en-US" sz="1400" b="1" dirty="0" err="1">
                <a:solidFill>
                  <a:srgbClr val="2B3242"/>
                </a:solidFill>
                <a:latin typeface="Pretendard" pitchFamily="34" charset="0"/>
                <a:ea typeface="Pretendard" pitchFamily="34" charset="-122"/>
                <a:cs typeface="Pretendard" pitchFamily="34" charset="-120"/>
              </a:rPr>
              <a:t>카탈로그</a:t>
            </a:r>
            <a:r>
              <a:rPr lang="en-US" sz="1400" dirty="0"/>
              <a:t> </a:t>
            </a:r>
            <a:r>
              <a:rPr lang="en-US" sz="1400" b="1" dirty="0" err="1">
                <a:solidFill>
                  <a:srgbClr val="2B3242"/>
                </a:solidFill>
                <a:latin typeface="Pretendard" pitchFamily="34" charset="0"/>
                <a:ea typeface="Pretendard" pitchFamily="34" charset="-122"/>
                <a:cs typeface="Pretendard" pitchFamily="34" charset="-120"/>
              </a:rPr>
              <a:t>읽기</a:t>
            </a:r>
            <a:endParaRPr lang="en-US" sz="1400" dirty="0"/>
          </a:p>
        </p:txBody>
      </p:sp>
      <p:sp>
        <p:nvSpPr>
          <p:cNvPr id="16" name="Shape 13"/>
          <p:cNvSpPr/>
          <p:nvPr/>
        </p:nvSpPr>
        <p:spPr>
          <a:xfrm>
            <a:off x="4737913" y="2990088"/>
            <a:ext cx="128016" cy="0"/>
          </a:xfrm>
          <a:prstGeom prst="line">
            <a:avLst/>
          </a:prstGeom>
          <a:noFill/>
          <a:ln w="22225">
            <a:solidFill>
              <a:srgbClr val="4A5364"/>
            </a:solidFill>
            <a:prstDash val="solid"/>
            <a:tailEnd type="triangle"/>
          </a:ln>
        </p:spPr>
        <p:txBody>
          <a:bodyPr/>
          <a:lstStyle/>
          <a:p>
            <a:endParaRPr lang="ko-KR" altLang="en-US"/>
          </a:p>
        </p:txBody>
      </p:sp>
      <p:sp>
        <p:nvSpPr>
          <p:cNvPr id="17" name="Shape 14"/>
          <p:cNvSpPr/>
          <p:nvPr/>
        </p:nvSpPr>
        <p:spPr>
          <a:xfrm>
            <a:off x="48933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18" name="Text 15"/>
          <p:cNvSpPr txBox="1"/>
          <p:nvPr/>
        </p:nvSpPr>
        <p:spPr>
          <a:xfrm>
            <a:off x="48933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3. 규칙 판정</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(②③④)</a:t>
            </a:r>
            <a:endParaRPr lang="en-US" sz="1400" dirty="0"/>
          </a:p>
        </p:txBody>
      </p:sp>
      <p:sp>
        <p:nvSpPr>
          <p:cNvPr id="19" name="Shape 16"/>
          <p:cNvSpPr/>
          <p:nvPr/>
        </p:nvSpPr>
        <p:spPr>
          <a:xfrm flipV="1">
            <a:off x="60841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20" name="Shape 17"/>
          <p:cNvSpPr/>
          <p:nvPr/>
        </p:nvSpPr>
        <p:spPr>
          <a:xfrm>
            <a:off x="6239561" y="1755648"/>
            <a:ext cx="1163320" cy="640080"/>
          </a:xfrm>
          <a:prstGeom prst="roundRect">
            <a:avLst>
              <a:gd name="adj" fmla="val 11429"/>
            </a:avLst>
          </a:prstGeom>
          <a:solidFill>
            <a:srgbClr val="2E74C6"/>
          </a:solidFill>
          <a:ln/>
        </p:spPr>
        <p:txBody>
          <a:bodyPr/>
          <a:lstStyle/>
          <a:p>
            <a:endParaRPr lang="ko-KR" altLang="en-US"/>
          </a:p>
        </p:txBody>
      </p:sp>
      <p:sp>
        <p:nvSpPr>
          <p:cNvPr id="21" name="Text 18"/>
          <p:cNvSpPr txBox="1"/>
          <p:nvPr/>
        </p:nvSpPr>
        <p:spPr>
          <a:xfrm>
            <a:off x="6239561" y="1755648"/>
            <a:ext cx="1163320" cy="64008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4. 규칙 ①과</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이름 답</a:t>
            </a:r>
            <a:endParaRPr lang="en-US" sz="1400" dirty="0"/>
          </a:p>
        </p:txBody>
      </p:sp>
      <p:sp>
        <p:nvSpPr>
          <p:cNvPr id="22" name="Shape 19"/>
          <p:cNvSpPr/>
          <p:nvPr/>
        </p:nvSpPr>
        <p:spPr>
          <a:xfrm>
            <a:off x="74303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23" name="Shape 20"/>
          <p:cNvSpPr/>
          <p:nvPr/>
        </p:nvSpPr>
        <p:spPr>
          <a:xfrm>
            <a:off x="75857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24" name="Text 21"/>
          <p:cNvSpPr txBox="1"/>
          <p:nvPr/>
        </p:nvSpPr>
        <p:spPr>
          <a:xfrm>
            <a:off x="75857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5. 스키마</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초안</a:t>
            </a:r>
            <a:endParaRPr lang="en-US" sz="1400" dirty="0"/>
          </a:p>
        </p:txBody>
      </p:sp>
      <p:sp>
        <p:nvSpPr>
          <p:cNvPr id="25" name="Shape 22"/>
          <p:cNvSpPr/>
          <p:nvPr/>
        </p:nvSpPr>
        <p:spPr>
          <a:xfrm>
            <a:off x="8776513" y="2990088"/>
            <a:ext cx="128016" cy="0"/>
          </a:xfrm>
          <a:prstGeom prst="line">
            <a:avLst/>
          </a:prstGeom>
          <a:noFill/>
          <a:ln w="22225">
            <a:solidFill>
              <a:srgbClr val="4A5364"/>
            </a:solidFill>
            <a:prstDash val="solid"/>
            <a:tailEnd type="triangle"/>
          </a:ln>
        </p:spPr>
        <p:txBody>
          <a:bodyPr/>
          <a:lstStyle/>
          <a:p>
            <a:endParaRPr lang="ko-KR" altLang="en-US"/>
          </a:p>
        </p:txBody>
      </p:sp>
      <p:sp>
        <p:nvSpPr>
          <p:cNvPr id="26" name="Shape 23"/>
          <p:cNvSpPr/>
          <p:nvPr/>
        </p:nvSpPr>
        <p:spPr>
          <a:xfrm>
            <a:off x="89319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27" name="Text 24"/>
          <p:cNvSpPr txBox="1"/>
          <p:nvPr/>
        </p:nvSpPr>
        <p:spPr>
          <a:xfrm>
            <a:off x="89319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6. 기계 검증</a:t>
            </a:r>
            <a:endParaRPr lang="en-US" sz="1400" dirty="0"/>
          </a:p>
        </p:txBody>
      </p:sp>
      <p:sp>
        <p:nvSpPr>
          <p:cNvPr id="28" name="Shape 25"/>
          <p:cNvSpPr/>
          <p:nvPr/>
        </p:nvSpPr>
        <p:spPr>
          <a:xfrm>
            <a:off x="10122713" y="2990088"/>
            <a:ext cx="128016" cy="0"/>
          </a:xfrm>
          <a:prstGeom prst="line">
            <a:avLst/>
          </a:prstGeom>
          <a:noFill/>
          <a:ln w="22225">
            <a:solidFill>
              <a:srgbClr val="4A5364"/>
            </a:solidFill>
            <a:prstDash val="solid"/>
            <a:tailEnd type="triangle"/>
          </a:ln>
        </p:spPr>
        <p:txBody>
          <a:bodyPr/>
          <a:lstStyle/>
          <a:p>
            <a:endParaRPr lang="ko-KR" altLang="en-US"/>
          </a:p>
        </p:txBody>
      </p:sp>
      <p:sp>
        <p:nvSpPr>
          <p:cNvPr id="29" name="Shape 26"/>
          <p:cNvSpPr/>
          <p:nvPr/>
        </p:nvSpPr>
        <p:spPr>
          <a:xfrm>
            <a:off x="102781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30" name="Text 27"/>
          <p:cNvSpPr txBox="1"/>
          <p:nvPr/>
        </p:nvSpPr>
        <p:spPr>
          <a:xfrm>
            <a:off x="102781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7. Mermaid</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그림</a:t>
            </a:r>
            <a:endParaRPr lang="en-US" sz="1400" dirty="0"/>
          </a:p>
        </p:txBody>
      </p:sp>
      <p:sp>
        <p:nvSpPr>
          <p:cNvPr id="31" name="Shape 28"/>
          <p:cNvSpPr/>
          <p:nvPr/>
        </p:nvSpPr>
        <p:spPr>
          <a:xfrm flipV="1">
            <a:off x="114689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32" name="Shape 29"/>
          <p:cNvSpPr/>
          <p:nvPr/>
        </p:nvSpPr>
        <p:spPr>
          <a:xfrm>
            <a:off x="11624361" y="1755648"/>
            <a:ext cx="1163320" cy="640080"/>
          </a:xfrm>
          <a:prstGeom prst="roundRect">
            <a:avLst>
              <a:gd name="adj" fmla="val 11429"/>
            </a:avLst>
          </a:prstGeom>
          <a:solidFill>
            <a:srgbClr val="2E74C6"/>
          </a:solidFill>
          <a:ln/>
        </p:spPr>
        <p:txBody>
          <a:bodyPr/>
          <a:lstStyle/>
          <a:p>
            <a:endParaRPr lang="ko-KR" altLang="en-US"/>
          </a:p>
        </p:txBody>
      </p:sp>
      <p:sp>
        <p:nvSpPr>
          <p:cNvPr id="33" name="Text 30"/>
          <p:cNvSpPr txBox="1"/>
          <p:nvPr/>
        </p:nvSpPr>
        <p:spPr>
          <a:xfrm>
            <a:off x="11624361" y="1755648"/>
            <a:ext cx="1163320" cy="64008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8. 검증과</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승인</a:t>
            </a:r>
            <a:endParaRPr lang="en-US" sz="1400" dirty="0"/>
          </a:p>
        </p:txBody>
      </p:sp>
      <p:sp>
        <p:nvSpPr>
          <p:cNvPr id="34" name="Shape 31"/>
          <p:cNvSpPr/>
          <p:nvPr/>
        </p:nvSpPr>
        <p:spPr>
          <a:xfrm>
            <a:off x="128151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35" name="Shape 32"/>
          <p:cNvSpPr/>
          <p:nvPr/>
        </p:nvSpPr>
        <p:spPr>
          <a:xfrm>
            <a:off x="129705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36" name="Text 33"/>
          <p:cNvSpPr txBox="1"/>
          <p:nvPr/>
        </p:nvSpPr>
        <p:spPr>
          <a:xfrm>
            <a:off x="129705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9. 저장과</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다시 읽기</a:t>
            </a:r>
            <a:endParaRPr lang="en-US" sz="1400" dirty="0"/>
          </a:p>
        </p:txBody>
      </p:sp>
      <p:sp>
        <p:nvSpPr>
          <p:cNvPr id="37" name="Shape 34"/>
          <p:cNvSpPr/>
          <p:nvPr/>
        </p:nvSpPr>
        <p:spPr>
          <a:xfrm>
            <a:off x="12206021" y="2414016"/>
            <a:ext cx="0" cy="1078992"/>
          </a:xfrm>
          <a:prstGeom prst="line">
            <a:avLst/>
          </a:prstGeom>
          <a:noFill/>
          <a:ln w="19050">
            <a:solidFill>
              <a:srgbClr val="2E74C6"/>
            </a:solidFill>
            <a:prstDash val="dash"/>
            <a:tailEnd type="none"/>
          </a:ln>
        </p:spPr>
        <p:txBody>
          <a:bodyPr/>
          <a:lstStyle/>
          <a:p>
            <a:endParaRPr lang="ko-KR" altLang="en-US"/>
          </a:p>
        </p:txBody>
      </p:sp>
      <p:sp>
        <p:nvSpPr>
          <p:cNvPr id="38" name="Shape 35"/>
          <p:cNvSpPr/>
          <p:nvPr/>
        </p:nvSpPr>
        <p:spPr>
          <a:xfrm>
            <a:off x="8167421" y="3493008"/>
            <a:ext cx="4038600" cy="0"/>
          </a:xfrm>
          <a:prstGeom prst="line">
            <a:avLst/>
          </a:prstGeom>
          <a:noFill/>
          <a:ln w="19050">
            <a:solidFill>
              <a:srgbClr val="2E74C6"/>
            </a:solidFill>
            <a:prstDash val="dash"/>
          </a:ln>
        </p:spPr>
        <p:txBody>
          <a:bodyPr/>
          <a:lstStyle/>
          <a:p>
            <a:endParaRPr lang="ko-KR" altLang="en-US"/>
          </a:p>
        </p:txBody>
      </p:sp>
      <p:sp>
        <p:nvSpPr>
          <p:cNvPr id="39" name="Shape 36"/>
          <p:cNvSpPr/>
          <p:nvPr/>
        </p:nvSpPr>
        <p:spPr>
          <a:xfrm flipV="1">
            <a:off x="8167421" y="3328416"/>
            <a:ext cx="0" cy="164592"/>
          </a:xfrm>
          <a:prstGeom prst="line">
            <a:avLst/>
          </a:prstGeom>
          <a:noFill/>
          <a:ln w="19050">
            <a:solidFill>
              <a:srgbClr val="2E74C6"/>
            </a:solidFill>
            <a:prstDash val="dash"/>
            <a:tailEnd type="triangle"/>
          </a:ln>
        </p:spPr>
        <p:txBody>
          <a:bodyPr/>
          <a:lstStyle/>
          <a:p>
            <a:endParaRPr lang="ko-KR" altLang="en-US"/>
          </a:p>
        </p:txBody>
      </p:sp>
      <p:sp>
        <p:nvSpPr>
          <p:cNvPr id="40" name="Text 37"/>
          <p:cNvSpPr txBox="1"/>
          <p:nvPr/>
        </p:nvSpPr>
        <p:spPr>
          <a:xfrm>
            <a:off x="8258861" y="3511296"/>
            <a:ext cx="3855720" cy="274320"/>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수정 요청 시 5단계부터 다시(최대 5회)</a:t>
            </a:r>
            <a:endParaRPr lang="en-US" sz="1400" dirty="0"/>
          </a:p>
        </p:txBody>
      </p:sp>
      <p:sp>
        <p:nvSpPr>
          <p:cNvPr id="41" name="Shape 38"/>
          <p:cNvSpPr/>
          <p:nvPr/>
        </p:nvSpPr>
        <p:spPr>
          <a:xfrm>
            <a:off x="509321" y="3858768"/>
            <a:ext cx="4343400" cy="365760"/>
          </a:xfrm>
          <a:prstGeom prst="roundRect">
            <a:avLst>
              <a:gd name="adj" fmla="val 12500"/>
            </a:avLst>
          </a:prstGeom>
          <a:solidFill>
            <a:srgbClr val="2E74C6"/>
          </a:solidFill>
          <a:ln/>
        </p:spPr>
        <p:txBody>
          <a:bodyPr/>
          <a:lstStyle/>
          <a:p>
            <a:endParaRPr lang="ko-KR" altLang="en-US"/>
          </a:p>
        </p:txBody>
      </p:sp>
      <p:sp>
        <p:nvSpPr>
          <p:cNvPr id="42" name="Text 39"/>
          <p:cNvSpPr txBox="1"/>
          <p:nvPr/>
        </p:nvSpPr>
        <p:spPr>
          <a:xfrm>
            <a:off x="509321" y="3858768"/>
            <a:ext cx="434340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사람이 답하는 곳 3번</a:t>
            </a:r>
            <a:endParaRPr lang="en-US" sz="1600" dirty="0"/>
          </a:p>
        </p:txBody>
      </p:sp>
      <p:sp>
        <p:nvSpPr>
          <p:cNvPr id="43" name="Shape 40"/>
          <p:cNvSpPr/>
          <p:nvPr/>
        </p:nvSpPr>
        <p:spPr>
          <a:xfrm>
            <a:off x="509321" y="4297680"/>
            <a:ext cx="4343400" cy="585216"/>
          </a:xfrm>
          <a:prstGeom prst="roundRect">
            <a:avLst>
              <a:gd name="adj" fmla="val 9375"/>
            </a:avLst>
          </a:prstGeom>
          <a:solidFill>
            <a:srgbClr val="EEF3FA"/>
          </a:solidFill>
          <a:ln w="12700">
            <a:solidFill>
              <a:srgbClr val="2E74C6"/>
            </a:solidFill>
            <a:prstDash val="solid"/>
          </a:ln>
        </p:spPr>
        <p:txBody>
          <a:bodyPr/>
          <a:lstStyle/>
          <a:p>
            <a:endParaRPr lang="ko-KR" altLang="en-US"/>
          </a:p>
        </p:txBody>
      </p:sp>
      <p:sp>
        <p:nvSpPr>
          <p:cNvPr id="44" name="Shape 41"/>
          <p:cNvSpPr/>
          <p:nvPr/>
        </p:nvSpPr>
        <p:spPr>
          <a:xfrm>
            <a:off x="600761" y="4416552"/>
            <a:ext cx="347472" cy="347472"/>
          </a:xfrm>
          <a:prstGeom prst="roundRect">
            <a:avLst>
              <a:gd name="adj" fmla="val 13158"/>
            </a:avLst>
          </a:prstGeom>
          <a:solidFill>
            <a:srgbClr val="2E74C6"/>
          </a:solidFill>
          <a:ln/>
        </p:spPr>
        <p:txBody>
          <a:bodyPr/>
          <a:lstStyle/>
          <a:p>
            <a:endParaRPr lang="ko-KR" altLang="en-US"/>
          </a:p>
        </p:txBody>
      </p:sp>
      <p:sp>
        <p:nvSpPr>
          <p:cNvPr id="45" name="Text 42"/>
          <p:cNvSpPr txBox="1"/>
          <p:nvPr/>
        </p:nvSpPr>
        <p:spPr>
          <a:xfrm>
            <a:off x="600761" y="4416552"/>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1</a:t>
            </a:r>
            <a:endParaRPr lang="en-US" sz="1600" dirty="0"/>
          </a:p>
        </p:txBody>
      </p:sp>
      <p:sp>
        <p:nvSpPr>
          <p:cNvPr id="46" name="Text 43"/>
          <p:cNvSpPr txBox="1"/>
          <p:nvPr/>
        </p:nvSpPr>
        <p:spPr>
          <a:xfrm>
            <a:off x="1057961" y="4297680"/>
            <a:ext cx="3703320" cy="585216"/>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출력 폴더와 DB 접속 정보</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비밀번호는 .env에 직접 등록</a:t>
            </a:r>
            <a:endParaRPr lang="en-US" sz="1400" dirty="0"/>
          </a:p>
        </p:txBody>
      </p:sp>
      <p:sp>
        <p:nvSpPr>
          <p:cNvPr id="47" name="Shape 44"/>
          <p:cNvSpPr/>
          <p:nvPr/>
        </p:nvSpPr>
        <p:spPr>
          <a:xfrm>
            <a:off x="509321" y="4946904"/>
            <a:ext cx="4343400" cy="804672"/>
          </a:xfrm>
          <a:prstGeom prst="roundRect">
            <a:avLst>
              <a:gd name="adj" fmla="val 6818"/>
            </a:avLst>
          </a:prstGeom>
          <a:solidFill>
            <a:srgbClr val="EEF3FA"/>
          </a:solidFill>
          <a:ln w="12700">
            <a:solidFill>
              <a:srgbClr val="2E74C6"/>
            </a:solidFill>
            <a:prstDash val="solid"/>
          </a:ln>
        </p:spPr>
        <p:txBody>
          <a:bodyPr/>
          <a:lstStyle/>
          <a:p>
            <a:endParaRPr lang="ko-KR" altLang="en-US"/>
          </a:p>
        </p:txBody>
      </p:sp>
      <p:sp>
        <p:nvSpPr>
          <p:cNvPr id="48" name="Shape 45"/>
          <p:cNvSpPr/>
          <p:nvPr/>
        </p:nvSpPr>
        <p:spPr>
          <a:xfrm>
            <a:off x="600761" y="5175504"/>
            <a:ext cx="347472" cy="347472"/>
          </a:xfrm>
          <a:prstGeom prst="roundRect">
            <a:avLst>
              <a:gd name="adj" fmla="val 13158"/>
            </a:avLst>
          </a:prstGeom>
          <a:solidFill>
            <a:srgbClr val="2E74C6"/>
          </a:solidFill>
          <a:ln/>
        </p:spPr>
        <p:txBody>
          <a:bodyPr/>
          <a:lstStyle/>
          <a:p>
            <a:endParaRPr lang="ko-KR" altLang="en-US"/>
          </a:p>
        </p:txBody>
      </p:sp>
      <p:sp>
        <p:nvSpPr>
          <p:cNvPr id="49" name="Text 46"/>
          <p:cNvSpPr txBox="1"/>
          <p:nvPr/>
        </p:nvSpPr>
        <p:spPr>
          <a:xfrm>
            <a:off x="600761" y="5175504"/>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4</a:t>
            </a:r>
            <a:endParaRPr lang="en-US" sz="1600" dirty="0"/>
          </a:p>
        </p:txBody>
      </p:sp>
      <p:sp>
        <p:nvSpPr>
          <p:cNvPr id="50" name="Text 47"/>
          <p:cNvSpPr txBox="1"/>
          <p:nvPr/>
        </p:nvSpPr>
        <p:spPr>
          <a:xfrm>
            <a:off x="1057961" y="4946904"/>
            <a:ext cx="3703320" cy="804672"/>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규칙 ① 후보(FK 2개 + 업무 열)를 노드 타입</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또는 관계 + 관계 속성으로 정함</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뺄 테이블, 이름 후보 승인</a:t>
            </a:r>
            <a:endParaRPr lang="en-US" sz="1400" dirty="0"/>
          </a:p>
        </p:txBody>
      </p:sp>
      <p:sp>
        <p:nvSpPr>
          <p:cNvPr id="51" name="Shape 48"/>
          <p:cNvSpPr/>
          <p:nvPr/>
        </p:nvSpPr>
        <p:spPr>
          <a:xfrm>
            <a:off x="509321" y="5815584"/>
            <a:ext cx="4343400" cy="585216"/>
          </a:xfrm>
          <a:prstGeom prst="roundRect">
            <a:avLst>
              <a:gd name="adj" fmla="val 9375"/>
            </a:avLst>
          </a:prstGeom>
          <a:solidFill>
            <a:srgbClr val="EEF3FA"/>
          </a:solidFill>
          <a:ln w="12700">
            <a:solidFill>
              <a:srgbClr val="2E74C6"/>
            </a:solidFill>
            <a:prstDash val="solid"/>
          </a:ln>
        </p:spPr>
        <p:txBody>
          <a:bodyPr/>
          <a:lstStyle/>
          <a:p>
            <a:endParaRPr lang="ko-KR" altLang="en-US"/>
          </a:p>
        </p:txBody>
      </p:sp>
      <p:sp>
        <p:nvSpPr>
          <p:cNvPr id="52" name="Shape 49"/>
          <p:cNvSpPr/>
          <p:nvPr/>
        </p:nvSpPr>
        <p:spPr>
          <a:xfrm>
            <a:off x="600761" y="5934456"/>
            <a:ext cx="347472" cy="347472"/>
          </a:xfrm>
          <a:prstGeom prst="roundRect">
            <a:avLst>
              <a:gd name="adj" fmla="val 13158"/>
            </a:avLst>
          </a:prstGeom>
          <a:solidFill>
            <a:srgbClr val="2E74C6"/>
          </a:solidFill>
          <a:ln/>
        </p:spPr>
        <p:txBody>
          <a:bodyPr/>
          <a:lstStyle/>
          <a:p>
            <a:endParaRPr lang="ko-KR" altLang="en-US"/>
          </a:p>
        </p:txBody>
      </p:sp>
      <p:sp>
        <p:nvSpPr>
          <p:cNvPr id="53" name="Text 50"/>
          <p:cNvSpPr txBox="1"/>
          <p:nvPr/>
        </p:nvSpPr>
        <p:spPr>
          <a:xfrm>
            <a:off x="600761" y="5934456"/>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8</a:t>
            </a:r>
            <a:endParaRPr lang="en-US" sz="1600" dirty="0"/>
          </a:p>
        </p:txBody>
      </p:sp>
      <p:sp>
        <p:nvSpPr>
          <p:cNvPr id="54" name="Text 51"/>
          <p:cNvSpPr txBox="1"/>
          <p:nvPr/>
        </p:nvSpPr>
        <p:spPr>
          <a:xfrm>
            <a:off x="1057961" y="5815584"/>
            <a:ext cx="3703320" cy="585216"/>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Mermaid 그림과 판정표를 보고 승인</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(승인자와 일시를 기록)</a:t>
            </a:r>
            <a:endParaRPr lang="en-US" sz="1400" dirty="0"/>
          </a:p>
        </p:txBody>
      </p:sp>
      <p:sp>
        <p:nvSpPr>
          <p:cNvPr id="55" name="Shape 52"/>
          <p:cNvSpPr/>
          <p:nvPr/>
        </p:nvSpPr>
        <p:spPr>
          <a:xfrm>
            <a:off x="5081321" y="3858768"/>
            <a:ext cx="4572000" cy="365760"/>
          </a:xfrm>
          <a:prstGeom prst="roundRect">
            <a:avLst>
              <a:gd name="adj" fmla="val 12500"/>
            </a:avLst>
          </a:prstGeom>
          <a:solidFill>
            <a:srgbClr val="1E2A5C"/>
          </a:solidFill>
          <a:ln/>
        </p:spPr>
        <p:txBody>
          <a:bodyPr/>
          <a:lstStyle/>
          <a:p>
            <a:endParaRPr lang="ko-KR" altLang="en-US"/>
          </a:p>
        </p:txBody>
      </p:sp>
      <p:sp>
        <p:nvSpPr>
          <p:cNvPr id="56" name="Text 53"/>
          <p:cNvSpPr txBox="1"/>
          <p:nvPr/>
        </p:nvSpPr>
        <p:spPr>
          <a:xfrm>
            <a:off x="5081321" y="3858768"/>
            <a:ext cx="457200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AI가 지키는 규칙</a:t>
            </a:r>
            <a:endParaRPr lang="en-US" sz="1600" dirty="0"/>
          </a:p>
        </p:txBody>
      </p:sp>
      <p:sp>
        <p:nvSpPr>
          <p:cNvPr id="57" name="Shape 54"/>
          <p:cNvSpPr/>
          <p:nvPr/>
        </p:nvSpPr>
        <p:spPr>
          <a:xfrm>
            <a:off x="5081321" y="4297680"/>
            <a:ext cx="4572000" cy="2103120"/>
          </a:xfrm>
          <a:prstGeom prst="roundRect">
            <a:avLst>
              <a:gd name="adj" fmla="val 3478"/>
            </a:avLst>
          </a:prstGeom>
          <a:solidFill>
            <a:srgbClr val="FFFFFF"/>
          </a:solidFill>
          <a:ln w="12700">
            <a:solidFill>
              <a:srgbClr val="D9E0EC"/>
            </a:solidFill>
            <a:prstDash val="solid"/>
          </a:ln>
        </p:spPr>
        <p:txBody>
          <a:bodyPr/>
          <a:lstStyle/>
          <a:p>
            <a:endParaRPr lang="ko-KR" altLang="en-US"/>
          </a:p>
        </p:txBody>
      </p:sp>
      <p:sp>
        <p:nvSpPr>
          <p:cNvPr id="58" name="Text 55"/>
          <p:cNvSpPr txBox="1"/>
          <p:nvPr/>
        </p:nvSpPr>
        <p:spPr>
          <a:xfrm>
            <a:off x="5264201" y="4352544"/>
            <a:ext cx="4297680" cy="1993392"/>
          </a:xfrm>
          <a:prstGeom prst="rect">
            <a:avLst/>
          </a:prstGeom>
          <a:noFill/>
          <a:ln/>
        </p:spPr>
        <p:txBody>
          <a:bodyPr wrap="square" lIns="0" tIns="0" rIns="0" bIns="0" rtlCol="0" anchor="ctr"/>
          <a:lstStyle/>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FK 개수는 열 수가 아니라 제약 수로 셈</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DB는 읽기 전용, 비밀번호는 .env에만 둠</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라벨은 영문, 한글 이름은 description에 넣음</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그림은 Mermaid만 씀</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규칙 ① 판정과 이름은 추측해 확정하지 않음</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후보 표시가 남으면 스키마 파일을 만들지 않음</a:t>
            </a:r>
            <a:endParaRPr lang="en-US" sz="1400" dirty="0"/>
          </a:p>
        </p:txBody>
      </p:sp>
      <p:sp>
        <p:nvSpPr>
          <p:cNvPr id="59" name="Shape 56"/>
          <p:cNvSpPr/>
          <p:nvPr/>
        </p:nvSpPr>
        <p:spPr>
          <a:xfrm>
            <a:off x="9881921" y="3858768"/>
            <a:ext cx="4251960" cy="365760"/>
          </a:xfrm>
          <a:prstGeom prst="roundRect">
            <a:avLst>
              <a:gd name="adj" fmla="val 12500"/>
            </a:avLst>
          </a:prstGeom>
          <a:solidFill>
            <a:srgbClr val="404155"/>
          </a:solidFill>
          <a:ln/>
        </p:spPr>
        <p:txBody>
          <a:bodyPr/>
          <a:lstStyle/>
          <a:p>
            <a:endParaRPr lang="ko-KR" altLang="en-US"/>
          </a:p>
        </p:txBody>
      </p:sp>
      <p:sp>
        <p:nvSpPr>
          <p:cNvPr id="60" name="Text 57"/>
          <p:cNvSpPr txBox="1"/>
          <p:nvPr/>
        </p:nvSpPr>
        <p:spPr>
          <a:xfrm>
            <a:off x="9881921" y="3858768"/>
            <a:ext cx="42519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승인 화면 예 (Mermaid 그림)</a:t>
            </a:r>
            <a:endParaRPr lang="en-US" sz="1600" dirty="0"/>
          </a:p>
        </p:txBody>
      </p:sp>
      <p:sp>
        <p:nvSpPr>
          <p:cNvPr id="61" name="Shape 58"/>
          <p:cNvSpPr/>
          <p:nvPr/>
        </p:nvSpPr>
        <p:spPr>
          <a:xfrm>
            <a:off x="9881921" y="4297680"/>
            <a:ext cx="4251960" cy="2103120"/>
          </a:xfrm>
          <a:prstGeom prst="roundRect">
            <a:avLst>
              <a:gd name="adj" fmla="val 3478"/>
            </a:avLst>
          </a:prstGeom>
          <a:solidFill>
            <a:srgbClr val="FFFFFF"/>
          </a:solidFill>
          <a:ln w="12700">
            <a:solidFill>
              <a:srgbClr val="D9E0EC"/>
            </a:solidFill>
            <a:prstDash val="solid"/>
          </a:ln>
        </p:spPr>
        <p:txBody>
          <a:bodyPr/>
          <a:lstStyle/>
          <a:p>
            <a:endParaRPr lang="ko-KR" altLang="en-US"/>
          </a:p>
        </p:txBody>
      </p:sp>
      <p:sp>
        <p:nvSpPr>
          <p:cNvPr id="62" name="Shape 59"/>
          <p:cNvSpPr/>
          <p:nvPr/>
        </p:nvSpPr>
        <p:spPr>
          <a:xfrm>
            <a:off x="10019081" y="4480560"/>
            <a:ext cx="1417320" cy="1325880"/>
          </a:xfrm>
          <a:prstGeom prst="roundRect">
            <a:avLst>
              <a:gd name="adj" fmla="val 5517"/>
            </a:avLst>
          </a:prstGeom>
          <a:solidFill>
            <a:srgbClr val="EEF3FA"/>
          </a:solidFill>
          <a:ln w="19050">
            <a:solidFill>
              <a:srgbClr val="1E2A5C"/>
            </a:solidFill>
            <a:prstDash val="solid"/>
          </a:ln>
        </p:spPr>
        <p:txBody>
          <a:bodyPr/>
          <a:lstStyle/>
          <a:p>
            <a:endParaRPr lang="ko-KR" altLang="en-US"/>
          </a:p>
        </p:txBody>
      </p:sp>
      <p:sp>
        <p:nvSpPr>
          <p:cNvPr id="63" name="Shape 60"/>
          <p:cNvSpPr/>
          <p:nvPr/>
        </p:nvSpPr>
        <p:spPr>
          <a:xfrm>
            <a:off x="10092233" y="4553712"/>
            <a:ext cx="1271016" cy="329184"/>
          </a:xfrm>
          <a:prstGeom prst="roundRect">
            <a:avLst>
              <a:gd name="adj" fmla="val 13889"/>
            </a:avLst>
          </a:prstGeom>
          <a:solidFill>
            <a:srgbClr val="1E2A5C"/>
          </a:solidFill>
          <a:ln/>
        </p:spPr>
        <p:txBody>
          <a:bodyPr/>
          <a:lstStyle/>
          <a:p>
            <a:endParaRPr lang="ko-KR" altLang="en-US"/>
          </a:p>
        </p:txBody>
      </p:sp>
      <p:sp>
        <p:nvSpPr>
          <p:cNvPr id="64" name="Text 61"/>
          <p:cNvSpPr txBox="1"/>
          <p:nvPr/>
        </p:nvSpPr>
        <p:spPr>
          <a:xfrm>
            <a:off x="10092233" y="4553712"/>
            <a:ext cx="1271016"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:Member</a:t>
            </a:r>
            <a:endParaRPr lang="en-US" sz="1400" dirty="0"/>
          </a:p>
        </p:txBody>
      </p:sp>
      <p:sp>
        <p:nvSpPr>
          <p:cNvPr id="65" name="Text 62"/>
          <p:cNvSpPr txBox="1"/>
          <p:nvPr/>
        </p:nvSpPr>
        <p:spPr>
          <a:xfrm>
            <a:off x="10092233" y="4919472"/>
            <a:ext cx="1271016" cy="832104"/>
          </a:xfrm>
          <a:prstGeom prst="rect">
            <a:avLst/>
          </a:prstGeom>
          <a:noFill/>
          <a:ln/>
        </p:spPr>
        <p:txBody>
          <a:bodyPr wrap="square" lIns="0" tIns="0" rIns="0" bIns="0" rtlCol="0" anchor="t"/>
          <a:lstStyle/>
          <a:p>
            <a:pPr marL="0" indent="0" algn="ctr">
              <a:buNone/>
            </a:pPr>
            <a:r>
              <a:rPr lang="en-US" sz="1400" dirty="0">
                <a:solidFill>
                  <a:srgbClr val="2B3242"/>
                </a:solidFill>
                <a:latin typeface="Pretendard" pitchFamily="34" charset="0"/>
                <a:ea typeface="Pretendard" pitchFamily="34" charset="-122"/>
                <a:cs typeface="Pretendard" pitchFamily="34" charset="-120"/>
              </a:rPr>
              <a:t>(회원)</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member_id (키)</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age_band</a:t>
            </a:r>
            <a:endParaRPr lang="en-US" sz="1400" dirty="0"/>
          </a:p>
        </p:txBody>
      </p:sp>
      <p:sp>
        <p:nvSpPr>
          <p:cNvPr id="66" name="Shape 63"/>
          <p:cNvSpPr/>
          <p:nvPr/>
        </p:nvSpPr>
        <p:spPr>
          <a:xfrm>
            <a:off x="12579401" y="4480560"/>
            <a:ext cx="1417320" cy="1325880"/>
          </a:xfrm>
          <a:prstGeom prst="roundRect">
            <a:avLst>
              <a:gd name="adj" fmla="val 5517"/>
            </a:avLst>
          </a:prstGeom>
          <a:solidFill>
            <a:srgbClr val="EEF3FA"/>
          </a:solidFill>
          <a:ln w="19050">
            <a:solidFill>
              <a:srgbClr val="1E2A5C"/>
            </a:solidFill>
            <a:prstDash val="solid"/>
          </a:ln>
        </p:spPr>
        <p:txBody>
          <a:bodyPr/>
          <a:lstStyle/>
          <a:p>
            <a:endParaRPr lang="ko-KR" altLang="en-US"/>
          </a:p>
        </p:txBody>
      </p:sp>
      <p:sp>
        <p:nvSpPr>
          <p:cNvPr id="67" name="Shape 64"/>
          <p:cNvSpPr/>
          <p:nvPr/>
        </p:nvSpPr>
        <p:spPr>
          <a:xfrm>
            <a:off x="12652553" y="4553712"/>
            <a:ext cx="1271016" cy="329184"/>
          </a:xfrm>
          <a:prstGeom prst="roundRect">
            <a:avLst>
              <a:gd name="adj" fmla="val 13889"/>
            </a:avLst>
          </a:prstGeom>
          <a:solidFill>
            <a:srgbClr val="1E2A5C"/>
          </a:solidFill>
          <a:ln/>
        </p:spPr>
        <p:txBody>
          <a:bodyPr/>
          <a:lstStyle/>
          <a:p>
            <a:endParaRPr lang="ko-KR" altLang="en-US"/>
          </a:p>
        </p:txBody>
      </p:sp>
      <p:sp>
        <p:nvSpPr>
          <p:cNvPr id="68" name="Text 65"/>
          <p:cNvSpPr txBox="1"/>
          <p:nvPr/>
        </p:nvSpPr>
        <p:spPr>
          <a:xfrm>
            <a:off x="12652553" y="4553712"/>
            <a:ext cx="1271016"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:Card</a:t>
            </a:r>
            <a:endParaRPr lang="en-US" sz="1400" dirty="0"/>
          </a:p>
        </p:txBody>
      </p:sp>
      <p:sp>
        <p:nvSpPr>
          <p:cNvPr id="69" name="Text 66"/>
          <p:cNvSpPr txBox="1"/>
          <p:nvPr/>
        </p:nvSpPr>
        <p:spPr>
          <a:xfrm>
            <a:off x="12652553" y="4919472"/>
            <a:ext cx="1271016" cy="832104"/>
          </a:xfrm>
          <a:prstGeom prst="rect">
            <a:avLst/>
          </a:prstGeom>
          <a:noFill/>
          <a:ln/>
        </p:spPr>
        <p:txBody>
          <a:bodyPr wrap="square" lIns="0" tIns="0" rIns="0" bIns="0" rtlCol="0" anchor="t"/>
          <a:lstStyle/>
          <a:p>
            <a:pPr marL="0" indent="0" algn="ctr">
              <a:buNone/>
            </a:pPr>
            <a:r>
              <a:rPr lang="en-US" sz="1400" dirty="0">
                <a:solidFill>
                  <a:srgbClr val="2B3242"/>
                </a:solidFill>
                <a:latin typeface="Pretendard" pitchFamily="34" charset="0"/>
                <a:ea typeface="Pretendard" pitchFamily="34" charset="-122"/>
                <a:cs typeface="Pretendard" pitchFamily="34" charset="-120"/>
              </a:rPr>
              <a:t>(카드)</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card_id (키)</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status</a:t>
            </a:r>
            <a:endParaRPr lang="en-US" sz="1400" dirty="0"/>
          </a:p>
        </p:txBody>
      </p:sp>
      <p:sp>
        <p:nvSpPr>
          <p:cNvPr id="70" name="Shape 67"/>
          <p:cNvSpPr/>
          <p:nvPr/>
        </p:nvSpPr>
        <p:spPr>
          <a:xfrm>
            <a:off x="11472977" y="5143500"/>
            <a:ext cx="1069848" cy="0"/>
          </a:xfrm>
          <a:prstGeom prst="line">
            <a:avLst/>
          </a:prstGeom>
          <a:noFill/>
          <a:ln w="25400">
            <a:solidFill>
              <a:srgbClr val="1E2A5C"/>
            </a:solidFill>
            <a:prstDash val="solid"/>
            <a:tailEnd type="triangle"/>
          </a:ln>
        </p:spPr>
        <p:txBody>
          <a:bodyPr/>
          <a:lstStyle/>
          <a:p>
            <a:endParaRPr lang="ko-KR" altLang="en-US"/>
          </a:p>
        </p:txBody>
      </p:sp>
      <p:sp>
        <p:nvSpPr>
          <p:cNvPr id="71" name="Text 68"/>
          <p:cNvSpPr txBox="1"/>
          <p:nvPr/>
        </p:nvSpPr>
        <p:spPr>
          <a:xfrm>
            <a:off x="11436401" y="4814316"/>
            <a:ext cx="1143000" cy="274320"/>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HAS_CARD</a:t>
            </a:r>
            <a:endParaRPr lang="en-US" sz="1400" dirty="0"/>
          </a:p>
        </p:txBody>
      </p:sp>
      <p:sp>
        <p:nvSpPr>
          <p:cNvPr id="72" name="Text 69"/>
          <p:cNvSpPr txBox="1"/>
          <p:nvPr/>
        </p:nvSpPr>
        <p:spPr>
          <a:xfrm>
            <a:off x="11436401" y="5198364"/>
            <a:ext cx="1143000" cy="274320"/>
          </a:xfrm>
          <a:prstGeom prst="rect">
            <a:avLst/>
          </a:prstGeom>
          <a:noFill/>
          <a:ln/>
        </p:spPr>
        <p:txBody>
          <a:bodyPr wrap="square" lIns="0" tIns="0" rIns="0" bIns="0" rtlCol="0" anchor="ctr"/>
          <a:lstStyle/>
          <a:p>
            <a:pPr marL="0" indent="0" algn="ctr">
              <a:buNone/>
            </a:pPr>
            <a:r>
              <a:rPr lang="en-US" sz="1400" dirty="0">
                <a:solidFill>
                  <a:srgbClr val="2B3242"/>
                </a:solidFill>
                <a:latin typeface="Pretendard" pitchFamily="34" charset="0"/>
                <a:ea typeface="Pretendard" pitchFamily="34" charset="-122"/>
                <a:cs typeface="Pretendard" pitchFamily="34" charset="-120"/>
              </a:rPr>
              <a:t>(보유함)</a:t>
            </a:r>
            <a:endParaRPr lang="en-US" sz="1400" dirty="0"/>
          </a:p>
        </p:txBody>
      </p:sp>
      <p:sp>
        <p:nvSpPr>
          <p:cNvPr id="73" name="Text 70"/>
          <p:cNvSpPr txBox="1"/>
          <p:nvPr/>
        </p:nvSpPr>
        <p:spPr>
          <a:xfrm>
            <a:off x="10019081" y="5897880"/>
            <a:ext cx="3977640" cy="448056"/>
          </a:xfrm>
          <a:prstGeom prst="rect">
            <a:avLst/>
          </a:prstGeom>
          <a:noFill/>
          <a:ln/>
        </p:spPr>
        <p:txBody>
          <a:bodyPr wrap="square" lIns="0" tIns="0" rIns="0" bIns="0" rtlCol="0" anchor="ctr"/>
          <a:lstStyle/>
          <a:p>
            <a:pPr marL="0" indent="0" algn="ctr">
              <a:buNone/>
            </a:pPr>
            <a:r>
              <a:rPr lang="en-US" sz="1400" dirty="0">
                <a:solidFill>
                  <a:srgbClr val="4A5364"/>
                </a:solidFill>
                <a:latin typeface="Pretendard" pitchFamily="34" charset="0"/>
                <a:ea typeface="Pretendard" pitchFamily="34" charset="-122"/>
                <a:cs typeface="Pretendard" pitchFamily="34" charset="-120"/>
              </a:rPr>
              <a:t>영문 라벨 아래에 한글 이름을 함께 적어</a:t>
            </a:r>
            <a:endParaRPr lang="en-US" sz="1400" dirty="0"/>
          </a:p>
          <a:p>
            <a:pPr marL="0" indent="0" algn="ctr">
              <a:buNone/>
            </a:pPr>
            <a:r>
              <a:rPr lang="en-US" sz="1400" dirty="0">
                <a:solidFill>
                  <a:srgbClr val="4A5364"/>
                </a:solidFill>
                <a:latin typeface="Pretendard" pitchFamily="34" charset="0"/>
                <a:ea typeface="Pretendard" pitchFamily="34" charset="-122"/>
                <a:cs typeface="Pretendard" pitchFamily="34" charset="-120"/>
              </a:rPr>
              <a:t>검토하는 사람이 바로 읽게 함</a:t>
            </a:r>
            <a:endParaRPr lang="en-US" sz="1400" dirty="0"/>
          </a:p>
        </p:txBody>
      </p:sp>
      <p:sp>
        <p:nvSpPr>
          <p:cNvPr id="74" name="Shape 71"/>
          <p:cNvSpPr/>
          <p:nvPr/>
        </p:nvSpPr>
        <p:spPr>
          <a:xfrm>
            <a:off x="509321" y="6510528"/>
            <a:ext cx="13624560" cy="694944"/>
          </a:xfrm>
          <a:prstGeom prst="roundRect">
            <a:avLst>
              <a:gd name="adj" fmla="val 10526"/>
            </a:avLst>
          </a:prstGeom>
          <a:solidFill>
            <a:srgbClr val="EEF3FA"/>
          </a:solidFill>
          <a:ln w="19050">
            <a:solidFill>
              <a:srgbClr val="2E74C6"/>
            </a:solidFill>
            <a:prstDash val="solid"/>
          </a:ln>
        </p:spPr>
        <p:txBody>
          <a:bodyPr/>
          <a:lstStyle/>
          <a:p>
            <a:endParaRPr lang="ko-KR" altLang="en-US"/>
          </a:p>
        </p:txBody>
      </p:sp>
      <p:sp>
        <p:nvSpPr>
          <p:cNvPr id="75" name="Shape 72"/>
          <p:cNvSpPr/>
          <p:nvPr/>
        </p:nvSpPr>
        <p:spPr>
          <a:xfrm>
            <a:off x="509321" y="6510528"/>
            <a:ext cx="82296" cy="694944"/>
          </a:xfrm>
          <a:prstGeom prst="rect">
            <a:avLst/>
          </a:prstGeom>
          <a:solidFill>
            <a:srgbClr val="2E74C6"/>
          </a:solidFill>
          <a:ln/>
        </p:spPr>
        <p:txBody>
          <a:bodyPr/>
          <a:lstStyle/>
          <a:p>
            <a:endParaRPr lang="ko-KR" altLang="en-US"/>
          </a:p>
        </p:txBody>
      </p:sp>
      <p:sp>
        <p:nvSpPr>
          <p:cNvPr id="76" name="Text 73"/>
          <p:cNvSpPr txBox="1"/>
          <p:nvPr/>
        </p:nvSpPr>
        <p:spPr>
          <a:xfrm>
            <a:off x="737921" y="6510528"/>
            <a:ext cx="13258800" cy="694944"/>
          </a:xfrm>
          <a:prstGeom prst="rect">
            <a:avLst/>
          </a:prstGeom>
          <a:noFill/>
          <a:ln/>
        </p:spPr>
        <p:txBody>
          <a:bodyPr wrap="square" lIns="0" tIns="0" rIns="0" bIns="0"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결과: graph_schema.json(승인본)과 approval.json(승인자, 승인 일시, 입력 파일 SHA-256). 인덱싱은 이 파일을 읽기만 함</a:t>
            </a:r>
            <a:endParaRPr lang="en-US" sz="1500" dirty="0"/>
          </a:p>
          <a:p>
            <a:pPr marL="0" indent="0" algn="l">
              <a:buNone/>
            </a:pPr>
            <a:r>
              <a:rPr lang="en-US" sz="1500" b="1" dirty="0">
                <a:solidFill>
                  <a:srgbClr val="1E2A5C"/>
                </a:solidFill>
                <a:latin typeface="Pretendard" pitchFamily="34" charset="0"/>
                <a:ea typeface="Pretendard" pitchFamily="34" charset="-122"/>
                <a:cs typeface="Pretendard" pitchFamily="34" charset="-120"/>
              </a:rPr>
              <a:t>GraphSchema 검증, 저장, 다시 읽기는 Neo4j 서버 없이 됨(실행 확인)</a:t>
            </a:r>
            <a:endParaRPr lang="en-US" sz="15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4</a:t>
            </a:fld>
            <a:endParaRPr lang="en-US"/>
          </a:p>
        </p:txBody>
      </p:sp>
      <p:sp>
        <p:nvSpPr>
          <p:cNvPr id="78" name="TextBox 77">
            <a:extLst>
              <a:ext uri="{FF2B5EF4-FFF2-40B4-BE49-F238E27FC236}">
                <a16:creationId xmlns:a16="http://schemas.microsoft.com/office/drawing/2014/main" id="{75912B89-EFB0-C682-B392-0084E8DB680B}"/>
              </a:ext>
            </a:extLst>
          </p:cNvPr>
          <p:cNvSpPr txBox="1"/>
          <p:nvPr/>
        </p:nvSpPr>
        <p:spPr>
          <a:xfrm>
            <a:off x="471221" y="7341489"/>
            <a:ext cx="13525500" cy="338554"/>
          </a:xfrm>
          <a:prstGeom prst="rect">
            <a:avLst/>
          </a:prstGeom>
          <a:noFill/>
        </p:spPr>
        <p:txBody>
          <a:bodyPr wrap="square">
            <a:spAutoFit/>
          </a:bodyPr>
          <a:lstStyle/>
          <a:p>
            <a:r>
              <a:rPr lang="en-US" altLang="ko-KR" sz="1600" dirty="0">
                <a:latin typeface="Pretendard" panose="02000503000000020004" pitchFamily="50" charset="-127"/>
                <a:ea typeface="Pretendard" panose="02000503000000020004" pitchFamily="50" charset="-127"/>
                <a:cs typeface="Pretendard" panose="02000503000000020004" pitchFamily="50" charset="-127"/>
              </a:rPr>
              <a:t>※ DB </a:t>
            </a:r>
            <a:r>
              <a:rPr lang="ko-KR" altLang="en-US" sz="1600" dirty="0">
                <a:latin typeface="Pretendard" panose="02000503000000020004" pitchFamily="50" charset="-127"/>
                <a:ea typeface="Pretendard" panose="02000503000000020004" pitchFamily="50" charset="-127"/>
                <a:cs typeface="Pretendard" panose="02000503000000020004" pitchFamily="50" charset="-127"/>
              </a:rPr>
              <a:t>카탈로그를 </a:t>
            </a:r>
            <a:r>
              <a:rPr lang="ko-KR" altLang="ko-KR" sz="1600" b="0" i="0" spc="0" dirty="0">
                <a:solidFill>
                  <a:schemeClr val="tx1"/>
                </a:solidFill>
                <a:effectLst/>
                <a:latin typeface="Pretendard" panose="02000503000000020004" pitchFamily="50" charset="-127"/>
                <a:ea typeface="Pretendard" panose="02000503000000020004" pitchFamily="50" charset="-127"/>
                <a:cs typeface="Pretendard" panose="02000503000000020004" pitchFamily="50" charset="-127"/>
              </a:rPr>
              <a:t>읽을 스키마는 원본 테이블이 있는 스키마로 지정하고, 서비스용 뷰(</a:t>
            </a:r>
            <a:r>
              <a:rPr lang="ko-KR" altLang="ko-KR" sz="1600" b="0" i="0" spc="0" dirty="0" err="1">
                <a:solidFill>
                  <a:schemeClr val="tx1"/>
                </a:solidFill>
                <a:effectLst/>
                <a:latin typeface="Pretendard" panose="02000503000000020004" pitchFamily="50" charset="-127"/>
                <a:ea typeface="Pretendard" panose="02000503000000020004" pitchFamily="50" charset="-127"/>
                <a:cs typeface="Pretendard" panose="02000503000000020004" pitchFamily="50" charset="-127"/>
              </a:rPr>
              <a:t>View</a:t>
            </a:r>
            <a:r>
              <a:rPr lang="ko-KR" altLang="ko-KR" sz="1600" b="0" i="0" spc="0" dirty="0">
                <a:solidFill>
                  <a:schemeClr val="tx1"/>
                </a:solidFill>
                <a:effectLst/>
                <a:latin typeface="Pretendard" panose="02000503000000020004" pitchFamily="50" charset="-127"/>
                <a:ea typeface="Pretendard" panose="02000503000000020004" pitchFamily="50" charset="-127"/>
                <a:cs typeface="Pretendard" panose="02000503000000020004" pitchFamily="50" charset="-127"/>
              </a:rPr>
              <a:t>)가 정의된 스키마(예: </a:t>
            </a:r>
            <a:r>
              <a:rPr lang="ko-KR" altLang="ko-KR" sz="1600" b="0" i="0" spc="0" dirty="0" err="1">
                <a:solidFill>
                  <a:schemeClr val="tx1"/>
                </a:solidFill>
                <a:effectLst/>
                <a:latin typeface="Pretendard" panose="02000503000000020004" pitchFamily="50" charset="-127"/>
                <a:ea typeface="Pretendard" panose="02000503000000020004" pitchFamily="50" charset="-127"/>
                <a:cs typeface="Pretendard" panose="02000503000000020004" pitchFamily="50" charset="-127"/>
              </a:rPr>
              <a:t>app</a:t>
            </a:r>
            <a:r>
              <a:rPr lang="ko-KR" altLang="ko-KR" sz="1600" b="0" i="0" spc="0" dirty="0">
                <a:solidFill>
                  <a:schemeClr val="tx1"/>
                </a:solidFill>
                <a:effectLst/>
                <a:latin typeface="Pretendard" panose="02000503000000020004" pitchFamily="50" charset="-127"/>
                <a:ea typeface="Pretendard" panose="02000503000000020004" pitchFamily="50" charset="-127"/>
                <a:cs typeface="Pretendard" panose="02000503000000020004" pitchFamily="50" charset="-127"/>
              </a:rPr>
              <a:t>)는 쓰지 않음 </a:t>
            </a:r>
            <a:endParaRPr lang="ko-KR" altLang="en-US" sz="1600" dirty="0">
              <a:latin typeface="Pretendard" panose="02000503000000020004" pitchFamily="50" charset="-127"/>
              <a:ea typeface="Pretendard" panose="02000503000000020004" pitchFamily="50" charset="-127"/>
              <a:cs typeface="Pretendard" panose="02000503000000020004" pitchFamily="50" charset="-127"/>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소스 문서 → 노드 타입과 관계: 표본 → 후보 → 사람 확정</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LLM은 표본에서 후보만 뽑고 확정은 사람이 함 — 확정한 목록을 GraphSchema로 고정해 추출기에 넘김</a:t>
            </a:r>
            <a:endParaRPr lang="en-US" sz="1800" dirty="0"/>
          </a:p>
        </p:txBody>
      </p:sp>
      <p:sp>
        <p:nvSpPr>
          <p:cNvPr id="5" name="Shape 2"/>
          <p:cNvSpPr/>
          <p:nvPr/>
        </p:nvSpPr>
        <p:spPr>
          <a:xfrm>
            <a:off x="509321" y="1737360"/>
            <a:ext cx="2505456" cy="566928"/>
          </a:xfrm>
          <a:prstGeom prst="roundRect">
            <a:avLst>
              <a:gd name="adj" fmla="val 12903"/>
            </a:avLst>
          </a:prstGeom>
          <a:solidFill>
            <a:srgbClr val="FFFFFF"/>
          </a:solidFill>
          <a:ln w="15875">
            <a:solidFill>
              <a:srgbClr val="4A5364"/>
            </a:solidFill>
            <a:prstDash val="solid"/>
          </a:ln>
        </p:spPr>
        <p:txBody>
          <a:bodyPr/>
          <a:lstStyle/>
          <a:p>
            <a:endParaRPr lang="ko-KR" altLang="en-US"/>
          </a:p>
        </p:txBody>
      </p:sp>
      <p:sp>
        <p:nvSpPr>
          <p:cNvPr id="6" name="Text 3"/>
          <p:cNvSpPr txBox="1"/>
          <p:nvPr/>
        </p:nvSpPr>
        <p:spPr>
          <a:xfrm>
            <a:off x="509321" y="1737360"/>
            <a:ext cx="2505456" cy="566928"/>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문서 종류별 표본 N건</a:t>
            </a:r>
            <a:endParaRPr lang="en-US" sz="1400" dirty="0"/>
          </a:p>
        </p:txBody>
      </p:sp>
      <p:sp>
        <p:nvSpPr>
          <p:cNvPr id="7" name="Shape 4"/>
          <p:cNvSpPr/>
          <p:nvPr/>
        </p:nvSpPr>
        <p:spPr>
          <a:xfrm>
            <a:off x="3042209" y="2020824"/>
            <a:ext cx="219456" cy="0"/>
          </a:xfrm>
          <a:prstGeom prst="line">
            <a:avLst/>
          </a:prstGeom>
          <a:noFill/>
          <a:ln w="22225">
            <a:solidFill>
              <a:srgbClr val="4A5364"/>
            </a:solidFill>
            <a:prstDash val="solid"/>
            <a:tailEnd type="triangle"/>
          </a:ln>
        </p:spPr>
        <p:txBody>
          <a:bodyPr/>
          <a:lstStyle/>
          <a:p>
            <a:endParaRPr lang="ko-KR" altLang="en-US"/>
          </a:p>
        </p:txBody>
      </p:sp>
      <p:sp>
        <p:nvSpPr>
          <p:cNvPr id="8" name="Shape 5"/>
          <p:cNvSpPr/>
          <p:nvPr/>
        </p:nvSpPr>
        <p:spPr>
          <a:xfrm>
            <a:off x="3289097" y="1737360"/>
            <a:ext cx="2505456" cy="566928"/>
          </a:xfrm>
          <a:prstGeom prst="roundRect">
            <a:avLst>
              <a:gd name="adj" fmla="val 12903"/>
            </a:avLst>
          </a:prstGeom>
          <a:solidFill>
            <a:srgbClr val="EEF3FA"/>
          </a:solidFill>
          <a:ln w="15875">
            <a:solidFill>
              <a:srgbClr val="2E74C6"/>
            </a:solidFill>
            <a:prstDash val="solid"/>
          </a:ln>
        </p:spPr>
        <p:txBody>
          <a:bodyPr/>
          <a:lstStyle/>
          <a:p>
            <a:endParaRPr lang="ko-KR" altLang="en-US"/>
          </a:p>
        </p:txBody>
      </p:sp>
      <p:sp>
        <p:nvSpPr>
          <p:cNvPr id="9" name="Text 6"/>
          <p:cNvSpPr txBox="1"/>
          <p:nvPr/>
        </p:nvSpPr>
        <p:spPr>
          <a:xfrm>
            <a:off x="3289097" y="1737360"/>
            <a:ext cx="2505456" cy="56692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스키마 추출기 → 후보</a:t>
            </a:r>
            <a:endParaRPr lang="en-US" sz="1400" dirty="0"/>
          </a:p>
        </p:txBody>
      </p:sp>
      <p:sp>
        <p:nvSpPr>
          <p:cNvPr id="10" name="Shape 7"/>
          <p:cNvSpPr/>
          <p:nvPr/>
        </p:nvSpPr>
        <p:spPr>
          <a:xfrm>
            <a:off x="5821985" y="2020824"/>
            <a:ext cx="219456" cy="0"/>
          </a:xfrm>
          <a:prstGeom prst="line">
            <a:avLst/>
          </a:prstGeom>
          <a:noFill/>
          <a:ln w="22225">
            <a:solidFill>
              <a:srgbClr val="4A5364"/>
            </a:solidFill>
            <a:prstDash val="solid"/>
            <a:tailEnd type="triangle"/>
          </a:ln>
        </p:spPr>
        <p:txBody>
          <a:bodyPr/>
          <a:lstStyle/>
          <a:p>
            <a:endParaRPr lang="ko-KR" altLang="en-US"/>
          </a:p>
        </p:txBody>
      </p:sp>
      <p:sp>
        <p:nvSpPr>
          <p:cNvPr id="11" name="Shape 8"/>
          <p:cNvSpPr/>
          <p:nvPr/>
        </p:nvSpPr>
        <p:spPr>
          <a:xfrm>
            <a:off x="6068873" y="1737360"/>
            <a:ext cx="2505456" cy="566928"/>
          </a:xfrm>
          <a:prstGeom prst="roundRect">
            <a:avLst>
              <a:gd name="adj" fmla="val 12903"/>
            </a:avLst>
          </a:prstGeom>
          <a:solidFill>
            <a:srgbClr val="FFFFFF"/>
          </a:solidFill>
          <a:ln w="15875">
            <a:solidFill>
              <a:srgbClr val="4A5364"/>
            </a:solidFill>
            <a:prstDash val="solid"/>
          </a:ln>
        </p:spPr>
        <p:txBody>
          <a:bodyPr/>
          <a:lstStyle/>
          <a:p>
            <a:endParaRPr lang="ko-KR" altLang="en-US"/>
          </a:p>
        </p:txBody>
      </p:sp>
      <p:sp>
        <p:nvSpPr>
          <p:cNvPr id="12" name="Text 9"/>
          <p:cNvSpPr txBox="1"/>
          <p:nvPr/>
        </p:nvSpPr>
        <p:spPr>
          <a:xfrm>
            <a:off x="6068873" y="1737360"/>
            <a:ext cx="2505456" cy="566928"/>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정형 후보와 합침</a:t>
            </a:r>
            <a:endParaRPr lang="en-US" sz="1400" dirty="0"/>
          </a:p>
        </p:txBody>
      </p:sp>
      <p:sp>
        <p:nvSpPr>
          <p:cNvPr id="13" name="Shape 10"/>
          <p:cNvSpPr/>
          <p:nvPr/>
        </p:nvSpPr>
        <p:spPr>
          <a:xfrm>
            <a:off x="8601761" y="2020824"/>
            <a:ext cx="219456" cy="0"/>
          </a:xfrm>
          <a:prstGeom prst="line">
            <a:avLst/>
          </a:prstGeom>
          <a:noFill/>
          <a:ln w="22225">
            <a:solidFill>
              <a:srgbClr val="4A5364"/>
            </a:solidFill>
            <a:prstDash val="solid"/>
            <a:tailEnd type="triangle"/>
          </a:ln>
        </p:spPr>
        <p:txBody>
          <a:bodyPr/>
          <a:lstStyle/>
          <a:p>
            <a:endParaRPr lang="ko-KR" altLang="en-US"/>
          </a:p>
        </p:txBody>
      </p:sp>
      <p:sp>
        <p:nvSpPr>
          <p:cNvPr id="14" name="Shape 11"/>
          <p:cNvSpPr/>
          <p:nvPr/>
        </p:nvSpPr>
        <p:spPr>
          <a:xfrm>
            <a:off x="8848649" y="1737360"/>
            <a:ext cx="2505456" cy="566928"/>
          </a:xfrm>
          <a:prstGeom prst="roundRect">
            <a:avLst>
              <a:gd name="adj" fmla="val 12903"/>
            </a:avLst>
          </a:prstGeom>
          <a:solidFill>
            <a:srgbClr val="2E74C6"/>
          </a:solidFill>
          <a:ln/>
        </p:spPr>
        <p:txBody>
          <a:bodyPr/>
          <a:lstStyle/>
          <a:p>
            <a:endParaRPr lang="ko-KR" altLang="en-US"/>
          </a:p>
        </p:txBody>
      </p:sp>
      <p:sp>
        <p:nvSpPr>
          <p:cNvPr id="15" name="Text 12"/>
          <p:cNvSpPr txBox="1"/>
          <p:nvPr/>
        </p:nvSpPr>
        <p:spPr>
          <a:xfrm>
            <a:off x="8848649" y="1737360"/>
            <a:ext cx="2505456" cy="56692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3단계 확정 (사람)</a:t>
            </a:r>
            <a:endParaRPr lang="en-US" sz="1400" dirty="0"/>
          </a:p>
        </p:txBody>
      </p:sp>
      <p:sp>
        <p:nvSpPr>
          <p:cNvPr id="16" name="Shape 13"/>
          <p:cNvSpPr/>
          <p:nvPr/>
        </p:nvSpPr>
        <p:spPr>
          <a:xfrm>
            <a:off x="11381537" y="2020824"/>
            <a:ext cx="219456" cy="0"/>
          </a:xfrm>
          <a:prstGeom prst="line">
            <a:avLst/>
          </a:prstGeom>
          <a:noFill/>
          <a:ln w="22225">
            <a:solidFill>
              <a:srgbClr val="4A5364"/>
            </a:solidFill>
            <a:prstDash val="solid"/>
            <a:tailEnd type="triangle"/>
          </a:ln>
        </p:spPr>
        <p:txBody>
          <a:bodyPr/>
          <a:lstStyle/>
          <a:p>
            <a:endParaRPr lang="ko-KR" altLang="en-US"/>
          </a:p>
        </p:txBody>
      </p:sp>
      <p:sp>
        <p:nvSpPr>
          <p:cNvPr id="17" name="Shape 14"/>
          <p:cNvSpPr/>
          <p:nvPr/>
        </p:nvSpPr>
        <p:spPr>
          <a:xfrm>
            <a:off x="11628425" y="1737360"/>
            <a:ext cx="2505456" cy="566928"/>
          </a:xfrm>
          <a:prstGeom prst="roundRect">
            <a:avLst>
              <a:gd name="adj" fmla="val 12903"/>
            </a:avLst>
          </a:prstGeom>
          <a:solidFill>
            <a:srgbClr val="1E2A5C"/>
          </a:solidFill>
          <a:ln/>
        </p:spPr>
        <p:txBody>
          <a:bodyPr/>
          <a:lstStyle/>
          <a:p>
            <a:endParaRPr lang="ko-KR" altLang="en-US"/>
          </a:p>
        </p:txBody>
      </p:sp>
      <p:sp>
        <p:nvSpPr>
          <p:cNvPr id="18" name="Text 15"/>
          <p:cNvSpPr txBox="1"/>
          <p:nvPr/>
        </p:nvSpPr>
        <p:spPr>
          <a:xfrm>
            <a:off x="11628425" y="1737360"/>
            <a:ext cx="2505456" cy="56692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GraphSchema 고정 → 추출기</a:t>
            </a:r>
            <a:endParaRPr lang="en-US" sz="1400" dirty="0"/>
          </a:p>
        </p:txBody>
      </p:sp>
      <p:sp>
        <p:nvSpPr>
          <p:cNvPr id="19" name="Shape 16"/>
          <p:cNvSpPr/>
          <p:nvPr/>
        </p:nvSpPr>
        <p:spPr>
          <a:xfrm>
            <a:off x="509321" y="2487168"/>
            <a:ext cx="6309360" cy="365760"/>
          </a:xfrm>
          <a:prstGeom prst="roundRect">
            <a:avLst>
              <a:gd name="adj" fmla="val 12500"/>
            </a:avLst>
          </a:prstGeom>
          <a:solidFill>
            <a:srgbClr val="404155"/>
          </a:solidFill>
          <a:ln/>
        </p:spPr>
        <p:txBody>
          <a:bodyPr/>
          <a:lstStyle/>
          <a:p>
            <a:endParaRPr lang="ko-KR" altLang="en-US"/>
          </a:p>
        </p:txBody>
      </p:sp>
      <p:sp>
        <p:nvSpPr>
          <p:cNvPr id="20" name="Text 17"/>
          <p:cNvSpPr txBox="1"/>
          <p:nvPr/>
        </p:nvSpPr>
        <p:spPr>
          <a:xfrm>
            <a:off x="509321" y="2487168"/>
            <a:ext cx="63093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후보 뽑는 도구</a:t>
            </a:r>
            <a:endParaRPr lang="en-US" sz="1600" dirty="0"/>
          </a:p>
        </p:txBody>
      </p:sp>
      <p:sp>
        <p:nvSpPr>
          <p:cNvPr id="21" name="Shape 18"/>
          <p:cNvSpPr/>
          <p:nvPr/>
        </p:nvSpPr>
        <p:spPr>
          <a:xfrm>
            <a:off x="509321" y="2926080"/>
            <a:ext cx="6309360" cy="804672"/>
          </a:xfrm>
          <a:prstGeom prst="roundRect">
            <a:avLst>
              <a:gd name="adj" fmla="val 9091"/>
            </a:avLst>
          </a:prstGeom>
          <a:solidFill>
            <a:srgbClr val="EEF3FA"/>
          </a:solidFill>
          <a:ln w="12700">
            <a:solidFill>
              <a:srgbClr val="2E74C6"/>
            </a:solidFill>
            <a:prstDash val="solid"/>
          </a:ln>
        </p:spPr>
        <p:txBody>
          <a:bodyPr/>
          <a:lstStyle/>
          <a:p>
            <a:endParaRPr lang="ko-KR" altLang="en-US"/>
          </a:p>
        </p:txBody>
      </p:sp>
      <p:sp>
        <p:nvSpPr>
          <p:cNvPr id="22" name="Shape 19"/>
          <p:cNvSpPr/>
          <p:nvPr/>
        </p:nvSpPr>
        <p:spPr>
          <a:xfrm>
            <a:off x="600761" y="3017520"/>
            <a:ext cx="1600200" cy="621792"/>
          </a:xfrm>
          <a:prstGeom prst="roundRect">
            <a:avLst>
              <a:gd name="adj" fmla="val 8824"/>
            </a:avLst>
          </a:prstGeom>
          <a:solidFill>
            <a:srgbClr val="1E2A5C"/>
          </a:solidFill>
          <a:ln/>
        </p:spPr>
        <p:txBody>
          <a:bodyPr/>
          <a:lstStyle/>
          <a:p>
            <a:endParaRPr lang="ko-KR" altLang="en-US"/>
          </a:p>
        </p:txBody>
      </p:sp>
      <p:sp>
        <p:nvSpPr>
          <p:cNvPr id="23" name="Text 20"/>
          <p:cNvSpPr txBox="1"/>
          <p:nvPr/>
        </p:nvSpPr>
        <p:spPr>
          <a:xfrm>
            <a:off x="600761" y="3017520"/>
            <a:ext cx="1600200" cy="621792"/>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Native</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neo4j-graphrag</a:t>
            </a:r>
            <a:endParaRPr lang="en-US" sz="1400" dirty="0"/>
          </a:p>
        </p:txBody>
      </p:sp>
      <p:sp>
        <p:nvSpPr>
          <p:cNvPr id="24" name="Text 21"/>
          <p:cNvSpPr txBox="1"/>
          <p:nvPr/>
        </p:nvSpPr>
        <p:spPr>
          <a:xfrm>
            <a:off x="2338121" y="2926080"/>
            <a:ext cx="4389120" cy="804672"/>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후보: SchemaFromTextExtractor().run(text=표본)</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확정: 고친 스키마를 schema로 넘김(안 넘기면 매번 자동)</a:t>
            </a:r>
            <a:endParaRPr lang="en-US" sz="1400" dirty="0"/>
          </a:p>
        </p:txBody>
      </p:sp>
      <p:sp>
        <p:nvSpPr>
          <p:cNvPr id="25" name="Shape 22"/>
          <p:cNvSpPr/>
          <p:nvPr/>
        </p:nvSpPr>
        <p:spPr>
          <a:xfrm>
            <a:off x="509321" y="3794760"/>
            <a:ext cx="6309360" cy="804672"/>
          </a:xfrm>
          <a:prstGeom prst="roundRect">
            <a:avLst>
              <a:gd name="adj" fmla="val 9091"/>
            </a:avLst>
          </a:prstGeom>
          <a:solidFill>
            <a:srgbClr val="FFFFFF"/>
          </a:solidFill>
          <a:ln w="12700">
            <a:solidFill>
              <a:srgbClr val="D9E0EC"/>
            </a:solidFill>
            <a:prstDash val="solid"/>
          </a:ln>
        </p:spPr>
        <p:txBody>
          <a:bodyPr/>
          <a:lstStyle/>
          <a:p>
            <a:endParaRPr lang="ko-KR" altLang="en-US"/>
          </a:p>
        </p:txBody>
      </p:sp>
      <p:sp>
        <p:nvSpPr>
          <p:cNvPr id="26" name="Shape 23"/>
          <p:cNvSpPr/>
          <p:nvPr/>
        </p:nvSpPr>
        <p:spPr>
          <a:xfrm>
            <a:off x="600761" y="3886200"/>
            <a:ext cx="1600200" cy="621792"/>
          </a:xfrm>
          <a:prstGeom prst="roundRect">
            <a:avLst>
              <a:gd name="adj" fmla="val 8824"/>
            </a:avLst>
          </a:prstGeom>
          <a:solidFill>
            <a:srgbClr val="404155"/>
          </a:solidFill>
          <a:ln/>
        </p:spPr>
        <p:txBody>
          <a:bodyPr/>
          <a:lstStyle/>
          <a:p>
            <a:endParaRPr lang="ko-KR" altLang="en-US"/>
          </a:p>
        </p:txBody>
      </p:sp>
      <p:sp>
        <p:nvSpPr>
          <p:cNvPr id="27" name="Text 24"/>
          <p:cNvSpPr txBox="1"/>
          <p:nvPr/>
        </p:nvSpPr>
        <p:spPr>
          <a:xfrm>
            <a:off x="600761" y="3886200"/>
            <a:ext cx="1600200" cy="621792"/>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Neo4j LLM</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KG Builder</a:t>
            </a:r>
            <a:endParaRPr lang="en-US" sz="1400" dirty="0"/>
          </a:p>
        </p:txBody>
      </p:sp>
      <p:sp>
        <p:nvSpPr>
          <p:cNvPr id="28" name="Text 25"/>
          <p:cNvSpPr txBox="1"/>
          <p:nvPr/>
        </p:nvSpPr>
        <p:spPr>
          <a:xfrm>
            <a:off x="2338121" y="3794760"/>
            <a:ext cx="4389120" cy="804672"/>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후보: 'Get Schema From Text'가 스키마 제안</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확정: 화면에서 사람이 고름</a:t>
            </a:r>
            <a:endParaRPr lang="en-US" sz="1400" dirty="0"/>
          </a:p>
        </p:txBody>
      </p:sp>
      <p:sp>
        <p:nvSpPr>
          <p:cNvPr id="29" name="Shape 26"/>
          <p:cNvSpPr/>
          <p:nvPr/>
        </p:nvSpPr>
        <p:spPr>
          <a:xfrm>
            <a:off x="509321" y="4663440"/>
            <a:ext cx="6309360" cy="804672"/>
          </a:xfrm>
          <a:prstGeom prst="roundRect">
            <a:avLst>
              <a:gd name="adj" fmla="val 9091"/>
            </a:avLst>
          </a:prstGeom>
          <a:solidFill>
            <a:srgbClr val="FFFFFF"/>
          </a:solidFill>
          <a:ln w="12700">
            <a:solidFill>
              <a:srgbClr val="D9E0EC"/>
            </a:solidFill>
            <a:prstDash val="solid"/>
          </a:ln>
        </p:spPr>
        <p:txBody>
          <a:bodyPr/>
          <a:lstStyle/>
          <a:p>
            <a:endParaRPr lang="ko-KR" altLang="en-US"/>
          </a:p>
        </p:txBody>
      </p:sp>
      <p:sp>
        <p:nvSpPr>
          <p:cNvPr id="30" name="Shape 27"/>
          <p:cNvSpPr/>
          <p:nvPr/>
        </p:nvSpPr>
        <p:spPr>
          <a:xfrm>
            <a:off x="600761" y="4754880"/>
            <a:ext cx="1600200" cy="621792"/>
          </a:xfrm>
          <a:prstGeom prst="roundRect">
            <a:avLst>
              <a:gd name="adj" fmla="val 8824"/>
            </a:avLst>
          </a:prstGeom>
          <a:solidFill>
            <a:srgbClr val="404155"/>
          </a:solidFill>
          <a:ln/>
        </p:spPr>
        <p:txBody>
          <a:bodyPr/>
          <a:lstStyle/>
          <a:p>
            <a:endParaRPr lang="ko-KR" altLang="en-US"/>
          </a:p>
        </p:txBody>
      </p:sp>
      <p:sp>
        <p:nvSpPr>
          <p:cNvPr id="31" name="Text 28"/>
          <p:cNvSpPr txBox="1"/>
          <p:nvPr/>
        </p:nvSpPr>
        <p:spPr>
          <a:xfrm>
            <a:off x="600761" y="4754880"/>
            <a:ext cx="1600200" cy="621792"/>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MS GraphRAG</a:t>
            </a:r>
            <a:endParaRPr lang="en-US" sz="1400" dirty="0"/>
          </a:p>
        </p:txBody>
      </p:sp>
      <p:sp>
        <p:nvSpPr>
          <p:cNvPr id="32" name="Text 29"/>
          <p:cNvSpPr txBox="1"/>
          <p:nvPr/>
        </p:nvSpPr>
        <p:spPr>
          <a:xfrm>
            <a:off x="2338121" y="4663440"/>
            <a:ext cx="4389120" cy="804672"/>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후보: graphrag prompt-tune --discover-entity-types</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확정: 저장된 프롬프트 파일을 사람이 고침</a:t>
            </a:r>
            <a:endParaRPr lang="en-US" sz="1400" dirty="0"/>
          </a:p>
        </p:txBody>
      </p:sp>
      <p:sp>
        <p:nvSpPr>
          <p:cNvPr id="33" name="Shape 30"/>
          <p:cNvSpPr/>
          <p:nvPr/>
        </p:nvSpPr>
        <p:spPr>
          <a:xfrm>
            <a:off x="509321" y="5532120"/>
            <a:ext cx="6309360" cy="804672"/>
          </a:xfrm>
          <a:prstGeom prst="roundRect">
            <a:avLst>
              <a:gd name="adj" fmla="val 9091"/>
            </a:avLst>
          </a:prstGeom>
          <a:solidFill>
            <a:srgbClr val="FFFFFF"/>
          </a:solidFill>
          <a:ln w="12700">
            <a:solidFill>
              <a:srgbClr val="D9E0EC"/>
            </a:solidFill>
            <a:prstDash val="solid"/>
          </a:ln>
        </p:spPr>
        <p:txBody>
          <a:bodyPr/>
          <a:lstStyle/>
          <a:p>
            <a:endParaRPr lang="ko-KR" altLang="en-US"/>
          </a:p>
        </p:txBody>
      </p:sp>
      <p:sp>
        <p:nvSpPr>
          <p:cNvPr id="34" name="Shape 31"/>
          <p:cNvSpPr/>
          <p:nvPr/>
        </p:nvSpPr>
        <p:spPr>
          <a:xfrm>
            <a:off x="600761" y="5623560"/>
            <a:ext cx="1600200" cy="621792"/>
          </a:xfrm>
          <a:prstGeom prst="roundRect">
            <a:avLst>
              <a:gd name="adj" fmla="val 8824"/>
            </a:avLst>
          </a:prstGeom>
          <a:solidFill>
            <a:srgbClr val="404155"/>
          </a:solidFill>
          <a:ln/>
        </p:spPr>
        <p:txBody>
          <a:bodyPr/>
          <a:lstStyle/>
          <a:p>
            <a:endParaRPr lang="ko-KR" altLang="en-US"/>
          </a:p>
        </p:txBody>
      </p:sp>
      <p:sp>
        <p:nvSpPr>
          <p:cNvPr id="35" name="Text 32"/>
          <p:cNvSpPr txBox="1"/>
          <p:nvPr/>
        </p:nvSpPr>
        <p:spPr>
          <a:xfrm>
            <a:off x="600761" y="5623560"/>
            <a:ext cx="1600200" cy="621792"/>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LangChain과</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LlamaIndex</a:t>
            </a:r>
            <a:endParaRPr lang="en-US" sz="1400" dirty="0"/>
          </a:p>
        </p:txBody>
      </p:sp>
      <p:sp>
        <p:nvSpPr>
          <p:cNvPr id="36" name="Text 33"/>
          <p:cNvSpPr txBox="1"/>
          <p:nvPr/>
        </p:nvSpPr>
        <p:spPr>
          <a:xfrm>
            <a:off x="2338121" y="5532120"/>
            <a:ext cx="4389120" cy="804672"/>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후보: 자동 후보 단계 없음</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확정: 사람이 허용 목록을 먼저 적음</a:t>
            </a:r>
            <a:endParaRPr lang="en-US" sz="1400" dirty="0"/>
          </a:p>
        </p:txBody>
      </p:sp>
      <p:sp>
        <p:nvSpPr>
          <p:cNvPr id="37" name="Shape 34"/>
          <p:cNvSpPr/>
          <p:nvPr/>
        </p:nvSpPr>
        <p:spPr>
          <a:xfrm>
            <a:off x="7047281" y="2487168"/>
            <a:ext cx="7086600" cy="365760"/>
          </a:xfrm>
          <a:prstGeom prst="roundRect">
            <a:avLst>
              <a:gd name="adj" fmla="val 12500"/>
            </a:avLst>
          </a:prstGeom>
          <a:solidFill>
            <a:srgbClr val="1E2A5C"/>
          </a:solidFill>
          <a:ln/>
        </p:spPr>
        <p:txBody>
          <a:bodyPr/>
          <a:lstStyle/>
          <a:p>
            <a:endParaRPr lang="ko-KR" altLang="en-US"/>
          </a:p>
        </p:txBody>
      </p:sp>
      <p:sp>
        <p:nvSpPr>
          <p:cNvPr id="38" name="Text 35"/>
          <p:cNvSpPr txBox="1"/>
          <p:nvPr/>
        </p:nvSpPr>
        <p:spPr>
          <a:xfrm>
            <a:off x="7047281" y="2487168"/>
            <a:ext cx="708660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3단계 확정 — 사람이 줄이고 이름을 정함</a:t>
            </a:r>
            <a:endParaRPr lang="en-US" sz="1600" dirty="0"/>
          </a:p>
        </p:txBody>
      </p:sp>
      <p:sp>
        <p:nvSpPr>
          <p:cNvPr id="39" name="Shape 36"/>
          <p:cNvSpPr/>
          <p:nvPr/>
        </p:nvSpPr>
        <p:spPr>
          <a:xfrm>
            <a:off x="7047281" y="2926080"/>
            <a:ext cx="70866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40" name="Shape 37"/>
          <p:cNvSpPr/>
          <p:nvPr/>
        </p:nvSpPr>
        <p:spPr>
          <a:xfrm>
            <a:off x="7157009" y="3035808"/>
            <a:ext cx="365760" cy="365760"/>
          </a:xfrm>
          <a:prstGeom prst="roundRect">
            <a:avLst>
              <a:gd name="adj" fmla="val 12500"/>
            </a:avLst>
          </a:prstGeom>
          <a:solidFill>
            <a:srgbClr val="2E74C6"/>
          </a:solidFill>
          <a:ln/>
        </p:spPr>
        <p:txBody>
          <a:bodyPr/>
          <a:lstStyle/>
          <a:p>
            <a:endParaRPr lang="ko-KR" altLang="en-US"/>
          </a:p>
        </p:txBody>
      </p:sp>
      <p:sp>
        <p:nvSpPr>
          <p:cNvPr id="41" name="Text 38"/>
          <p:cNvSpPr txBox="1"/>
          <p:nvPr/>
        </p:nvSpPr>
        <p:spPr>
          <a:xfrm>
            <a:off x="7157009" y="3035808"/>
            <a:ext cx="365760" cy="365760"/>
          </a:xfrm>
          <a:prstGeom prst="rect">
            <a:avLst/>
          </a:prstGeom>
          <a:noFill/>
          <a:ln/>
        </p:spPr>
        <p:txBody>
          <a:bodyPr wrap="square" lIns="1016" tIns="1016" rIns="1016" bIns="1016" rtlCol="0" anchor="ctr"/>
          <a:lstStyle/>
          <a:p>
            <a:pPr marL="0" indent="0" algn="ctr">
              <a:buNone/>
            </a:pPr>
            <a:r>
              <a:rPr lang="en-US" sz="1700" b="1" dirty="0">
                <a:solidFill>
                  <a:srgbClr val="FFFFFF"/>
                </a:solidFill>
                <a:latin typeface="Pretendard" pitchFamily="34" charset="0"/>
                <a:ea typeface="Pretendard" pitchFamily="34" charset="-122"/>
                <a:cs typeface="Pretendard" pitchFamily="34" charset="-120"/>
              </a:rPr>
              <a:t>1</a:t>
            </a:r>
            <a:endParaRPr lang="en-US" sz="1700" dirty="0"/>
          </a:p>
        </p:txBody>
      </p:sp>
      <p:sp>
        <p:nvSpPr>
          <p:cNvPr id="42" name="Text 39"/>
          <p:cNvSpPr txBox="1"/>
          <p:nvPr/>
        </p:nvSpPr>
        <p:spPr>
          <a:xfrm>
            <a:off x="7641641" y="2999232"/>
            <a:ext cx="6400800" cy="384048"/>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같은 의미는 합치고 이름을 정함</a:t>
            </a:r>
            <a:endParaRPr lang="en-US" sz="1600" dirty="0"/>
          </a:p>
        </p:txBody>
      </p:sp>
      <p:sp>
        <p:nvSpPr>
          <p:cNvPr id="43" name="Text 40"/>
          <p:cNvSpPr txBox="1"/>
          <p:nvPr/>
        </p:nvSpPr>
        <p:spPr>
          <a:xfrm>
            <a:off x="7641641" y="3383280"/>
            <a:ext cx="6400800" cy="274320"/>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온톨로지: 용어 나열과 계층 정리</a:t>
            </a:r>
            <a:endParaRPr lang="en-US" sz="1400" dirty="0"/>
          </a:p>
        </p:txBody>
      </p:sp>
      <p:sp>
        <p:nvSpPr>
          <p:cNvPr id="44" name="Text 41"/>
          <p:cNvSpPr txBox="1"/>
          <p:nvPr/>
        </p:nvSpPr>
        <p:spPr>
          <a:xfrm>
            <a:off x="7641641" y="3657600"/>
            <a:ext cx="6400800" cy="292608"/>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예: Brand와 CardProduct → Card, Fee와 AnnualFee → Fee</a:t>
            </a:r>
            <a:endParaRPr lang="en-US" sz="1400" dirty="0"/>
          </a:p>
        </p:txBody>
      </p:sp>
      <p:sp>
        <p:nvSpPr>
          <p:cNvPr id="45" name="Shape 42"/>
          <p:cNvSpPr/>
          <p:nvPr/>
        </p:nvSpPr>
        <p:spPr>
          <a:xfrm>
            <a:off x="7047281" y="4087368"/>
            <a:ext cx="70866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46" name="Shape 43"/>
          <p:cNvSpPr/>
          <p:nvPr/>
        </p:nvSpPr>
        <p:spPr>
          <a:xfrm>
            <a:off x="7157009" y="4197096"/>
            <a:ext cx="365760" cy="365760"/>
          </a:xfrm>
          <a:prstGeom prst="roundRect">
            <a:avLst>
              <a:gd name="adj" fmla="val 12500"/>
            </a:avLst>
          </a:prstGeom>
          <a:solidFill>
            <a:srgbClr val="2E74C6"/>
          </a:solidFill>
          <a:ln/>
        </p:spPr>
        <p:txBody>
          <a:bodyPr/>
          <a:lstStyle/>
          <a:p>
            <a:endParaRPr lang="ko-KR" altLang="en-US"/>
          </a:p>
        </p:txBody>
      </p:sp>
      <p:sp>
        <p:nvSpPr>
          <p:cNvPr id="47" name="Text 44"/>
          <p:cNvSpPr txBox="1"/>
          <p:nvPr/>
        </p:nvSpPr>
        <p:spPr>
          <a:xfrm>
            <a:off x="7157009" y="4197096"/>
            <a:ext cx="365760" cy="365760"/>
          </a:xfrm>
          <a:prstGeom prst="rect">
            <a:avLst/>
          </a:prstGeom>
          <a:noFill/>
          <a:ln/>
        </p:spPr>
        <p:txBody>
          <a:bodyPr wrap="square" lIns="1016" tIns="1016" rIns="1016" bIns="1016" rtlCol="0" anchor="ctr"/>
          <a:lstStyle/>
          <a:p>
            <a:pPr marL="0" indent="0" algn="ctr">
              <a:buNone/>
            </a:pPr>
            <a:r>
              <a:rPr lang="en-US" sz="1700" b="1" dirty="0">
                <a:solidFill>
                  <a:srgbClr val="FFFFFF"/>
                </a:solidFill>
                <a:latin typeface="Pretendard" pitchFamily="34" charset="0"/>
                <a:ea typeface="Pretendard" pitchFamily="34" charset="-122"/>
                <a:cs typeface="Pretendard" pitchFamily="34" charset="-120"/>
              </a:rPr>
              <a:t>2</a:t>
            </a:r>
            <a:endParaRPr lang="en-US" sz="1700" dirty="0"/>
          </a:p>
        </p:txBody>
      </p:sp>
      <p:sp>
        <p:nvSpPr>
          <p:cNvPr id="48" name="Text 45"/>
          <p:cNvSpPr txBox="1"/>
          <p:nvPr/>
        </p:nvSpPr>
        <p:spPr>
          <a:xfrm>
            <a:off x="7641641" y="4160520"/>
            <a:ext cx="6400800" cy="384048"/>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쓰는 워크플로우 단계가 없는 관계는 뺌</a:t>
            </a:r>
            <a:endParaRPr lang="en-US" sz="1600" dirty="0"/>
          </a:p>
        </p:txBody>
      </p:sp>
      <p:sp>
        <p:nvSpPr>
          <p:cNvPr id="49" name="Text 46"/>
          <p:cNvSpPr txBox="1"/>
          <p:nvPr/>
        </p:nvSpPr>
        <p:spPr>
          <a:xfrm>
            <a:off x="7641641" y="4544568"/>
            <a:ext cx="6400800" cy="274320"/>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온톨로지: 역량 질문(답해야 할 질문이 범위를 정함)</a:t>
            </a:r>
            <a:endParaRPr lang="en-US" sz="1400" dirty="0"/>
          </a:p>
        </p:txBody>
      </p:sp>
      <p:sp>
        <p:nvSpPr>
          <p:cNvPr id="50" name="Text 47"/>
          <p:cNvSpPr txBox="1"/>
          <p:nvPr/>
        </p:nvSpPr>
        <p:spPr>
          <a:xfrm>
            <a:off x="7641641" y="4818888"/>
            <a:ext cx="6400800" cy="292608"/>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예: 어느 단계도 따라가지 않는 관계 → 다음 회차 후보로 1줄</a:t>
            </a:r>
            <a:endParaRPr lang="en-US" sz="1400" dirty="0"/>
          </a:p>
        </p:txBody>
      </p:sp>
      <p:sp>
        <p:nvSpPr>
          <p:cNvPr id="51" name="Shape 48"/>
          <p:cNvSpPr/>
          <p:nvPr/>
        </p:nvSpPr>
        <p:spPr>
          <a:xfrm>
            <a:off x="7047281" y="5248656"/>
            <a:ext cx="70866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52" name="Shape 49"/>
          <p:cNvSpPr/>
          <p:nvPr/>
        </p:nvSpPr>
        <p:spPr>
          <a:xfrm>
            <a:off x="7157009" y="5358384"/>
            <a:ext cx="365760" cy="365760"/>
          </a:xfrm>
          <a:prstGeom prst="roundRect">
            <a:avLst>
              <a:gd name="adj" fmla="val 12500"/>
            </a:avLst>
          </a:prstGeom>
          <a:solidFill>
            <a:srgbClr val="2E74C6"/>
          </a:solidFill>
          <a:ln/>
        </p:spPr>
        <p:txBody>
          <a:bodyPr/>
          <a:lstStyle/>
          <a:p>
            <a:endParaRPr lang="ko-KR" altLang="en-US"/>
          </a:p>
        </p:txBody>
      </p:sp>
      <p:sp>
        <p:nvSpPr>
          <p:cNvPr id="53" name="Text 50"/>
          <p:cNvSpPr txBox="1"/>
          <p:nvPr/>
        </p:nvSpPr>
        <p:spPr>
          <a:xfrm>
            <a:off x="7157009" y="5358384"/>
            <a:ext cx="365760" cy="365760"/>
          </a:xfrm>
          <a:prstGeom prst="rect">
            <a:avLst/>
          </a:prstGeom>
          <a:noFill/>
          <a:ln/>
        </p:spPr>
        <p:txBody>
          <a:bodyPr wrap="square" lIns="1016" tIns="1016" rIns="1016" bIns="1016" rtlCol="0" anchor="ctr"/>
          <a:lstStyle/>
          <a:p>
            <a:pPr marL="0" indent="0" algn="ctr">
              <a:buNone/>
            </a:pPr>
            <a:r>
              <a:rPr lang="en-US" sz="1700" b="1" dirty="0">
                <a:solidFill>
                  <a:srgbClr val="FFFFFF"/>
                </a:solidFill>
                <a:latin typeface="Pretendard" pitchFamily="34" charset="0"/>
                <a:ea typeface="Pretendard" pitchFamily="34" charset="-122"/>
                <a:cs typeface="Pretendard" pitchFamily="34" charset="-120"/>
              </a:rPr>
              <a:t>3</a:t>
            </a:r>
            <a:endParaRPr lang="en-US" sz="1700" dirty="0"/>
          </a:p>
        </p:txBody>
      </p:sp>
      <p:sp>
        <p:nvSpPr>
          <p:cNvPr id="54" name="Text 51"/>
          <p:cNvSpPr txBox="1"/>
          <p:nvPr/>
        </p:nvSpPr>
        <p:spPr>
          <a:xfrm>
            <a:off x="7641641" y="5321808"/>
            <a:ext cx="6400800" cy="384048"/>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적재 원천이 없는 노드 타입은 뺌</a:t>
            </a:r>
            <a:endParaRPr lang="en-US" sz="1600" dirty="0"/>
          </a:p>
        </p:txBody>
      </p:sp>
      <p:sp>
        <p:nvSpPr>
          <p:cNvPr id="55" name="Text 52"/>
          <p:cNvSpPr txBox="1"/>
          <p:nvPr/>
        </p:nvSpPr>
        <p:spPr>
          <a:xfrm>
            <a:off x="7641641" y="5705856"/>
            <a:ext cx="6400800" cy="274320"/>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가이드 고유 규칙(빈 노드 방지)</a:t>
            </a:r>
            <a:endParaRPr lang="en-US" sz="1400" dirty="0"/>
          </a:p>
        </p:txBody>
      </p:sp>
      <p:sp>
        <p:nvSpPr>
          <p:cNvPr id="56" name="Text 53"/>
          <p:cNvSpPr txBox="1"/>
          <p:nvPr/>
        </p:nvSpPr>
        <p:spPr>
          <a:xfrm>
            <a:off x="7641641" y="5980176"/>
            <a:ext cx="6400800" cy="292608"/>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예: 어느 원천도 채우지 않는 타입 → 정의하지 않음</a:t>
            </a:r>
            <a:endParaRPr lang="en-US" sz="1400" dirty="0"/>
          </a:p>
        </p:txBody>
      </p:sp>
      <p:sp>
        <p:nvSpPr>
          <p:cNvPr id="57" name="Shape 54"/>
          <p:cNvSpPr/>
          <p:nvPr/>
        </p:nvSpPr>
        <p:spPr>
          <a:xfrm>
            <a:off x="509321" y="6492240"/>
            <a:ext cx="3303270" cy="749808"/>
          </a:xfrm>
          <a:prstGeom prst="roundRect">
            <a:avLst>
              <a:gd name="adj" fmla="val 9756"/>
            </a:avLst>
          </a:prstGeom>
          <a:solidFill>
            <a:srgbClr val="F5F8FC"/>
          </a:solidFill>
          <a:ln w="12700">
            <a:solidFill>
              <a:srgbClr val="D9E0EC"/>
            </a:solidFill>
            <a:prstDash val="solid"/>
          </a:ln>
        </p:spPr>
        <p:txBody>
          <a:bodyPr/>
          <a:lstStyle/>
          <a:p>
            <a:endParaRPr lang="ko-KR" altLang="en-US"/>
          </a:p>
        </p:txBody>
      </p:sp>
      <p:sp>
        <p:nvSpPr>
          <p:cNvPr id="58" name="Shape 55"/>
          <p:cNvSpPr/>
          <p:nvPr/>
        </p:nvSpPr>
        <p:spPr>
          <a:xfrm>
            <a:off x="600761" y="6684264"/>
            <a:ext cx="365760" cy="365760"/>
          </a:xfrm>
          <a:prstGeom prst="roundRect">
            <a:avLst>
              <a:gd name="adj" fmla="val 12500"/>
            </a:avLst>
          </a:prstGeom>
          <a:solidFill>
            <a:srgbClr val="404155"/>
          </a:solidFill>
          <a:ln/>
        </p:spPr>
        <p:txBody>
          <a:bodyPr/>
          <a:lstStyle/>
          <a:p>
            <a:endParaRPr lang="ko-KR" altLang="en-US"/>
          </a:p>
        </p:txBody>
      </p:sp>
      <p:sp>
        <p:nvSpPr>
          <p:cNvPr id="59" name="Text 56"/>
          <p:cNvSpPr txBox="1"/>
          <p:nvPr/>
        </p:nvSpPr>
        <p:spPr>
          <a:xfrm>
            <a:off x="600761" y="6684264"/>
            <a:ext cx="3657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60" name="Text 57"/>
          <p:cNvSpPr txBox="1"/>
          <p:nvPr/>
        </p:nvSpPr>
        <p:spPr>
          <a:xfrm>
            <a:off x="1057961" y="6492240"/>
            <a:ext cx="2681478" cy="749808"/>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표본에 없던 타입은 안 나옴</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 문서 종류마다 표본, 표본 수 기록</a:t>
            </a:r>
            <a:endParaRPr lang="en-US" sz="1400" dirty="0"/>
          </a:p>
        </p:txBody>
      </p:sp>
      <p:sp>
        <p:nvSpPr>
          <p:cNvPr id="61" name="Shape 58"/>
          <p:cNvSpPr/>
          <p:nvPr/>
        </p:nvSpPr>
        <p:spPr>
          <a:xfrm>
            <a:off x="3949751" y="6492240"/>
            <a:ext cx="3303270" cy="749808"/>
          </a:xfrm>
          <a:prstGeom prst="roundRect">
            <a:avLst>
              <a:gd name="adj" fmla="val 9756"/>
            </a:avLst>
          </a:prstGeom>
          <a:solidFill>
            <a:srgbClr val="F5F8FC"/>
          </a:solidFill>
          <a:ln w="12700">
            <a:solidFill>
              <a:srgbClr val="D9E0EC"/>
            </a:solidFill>
            <a:prstDash val="solid"/>
          </a:ln>
        </p:spPr>
        <p:txBody>
          <a:bodyPr/>
          <a:lstStyle/>
          <a:p>
            <a:endParaRPr lang="ko-KR" altLang="en-US"/>
          </a:p>
        </p:txBody>
      </p:sp>
      <p:sp>
        <p:nvSpPr>
          <p:cNvPr id="62" name="Shape 59"/>
          <p:cNvSpPr/>
          <p:nvPr/>
        </p:nvSpPr>
        <p:spPr>
          <a:xfrm>
            <a:off x="4041191" y="6684264"/>
            <a:ext cx="365760" cy="365760"/>
          </a:xfrm>
          <a:prstGeom prst="roundRect">
            <a:avLst>
              <a:gd name="adj" fmla="val 12500"/>
            </a:avLst>
          </a:prstGeom>
          <a:solidFill>
            <a:srgbClr val="404155"/>
          </a:solidFill>
          <a:ln/>
        </p:spPr>
        <p:txBody>
          <a:bodyPr/>
          <a:lstStyle/>
          <a:p>
            <a:endParaRPr lang="ko-KR" altLang="en-US"/>
          </a:p>
        </p:txBody>
      </p:sp>
      <p:sp>
        <p:nvSpPr>
          <p:cNvPr id="63" name="Text 60"/>
          <p:cNvSpPr txBox="1"/>
          <p:nvPr/>
        </p:nvSpPr>
        <p:spPr>
          <a:xfrm>
            <a:off x="4041191" y="6684264"/>
            <a:ext cx="3657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64" name="Text 61"/>
          <p:cNvSpPr txBox="1"/>
          <p:nvPr/>
        </p:nvSpPr>
        <p:spPr>
          <a:xfrm>
            <a:off x="4498391" y="6492240"/>
            <a:ext cx="2681478" cy="749808"/>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도구 기본값(organization,</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person, geo, event) 그대로 금지</a:t>
            </a:r>
            <a:endParaRPr lang="en-US" sz="1400" dirty="0"/>
          </a:p>
        </p:txBody>
      </p:sp>
      <p:sp>
        <p:nvSpPr>
          <p:cNvPr id="65" name="Shape 62"/>
          <p:cNvSpPr/>
          <p:nvPr/>
        </p:nvSpPr>
        <p:spPr>
          <a:xfrm>
            <a:off x="7390181" y="6492240"/>
            <a:ext cx="3303270" cy="749808"/>
          </a:xfrm>
          <a:prstGeom prst="roundRect">
            <a:avLst>
              <a:gd name="adj" fmla="val 9756"/>
            </a:avLst>
          </a:prstGeom>
          <a:solidFill>
            <a:srgbClr val="F5F8FC"/>
          </a:solidFill>
          <a:ln w="12700">
            <a:solidFill>
              <a:srgbClr val="D9E0EC"/>
            </a:solidFill>
            <a:prstDash val="solid"/>
          </a:ln>
        </p:spPr>
        <p:txBody>
          <a:bodyPr/>
          <a:lstStyle/>
          <a:p>
            <a:endParaRPr lang="ko-KR" altLang="en-US"/>
          </a:p>
        </p:txBody>
      </p:sp>
      <p:sp>
        <p:nvSpPr>
          <p:cNvPr id="66" name="Shape 63"/>
          <p:cNvSpPr/>
          <p:nvPr/>
        </p:nvSpPr>
        <p:spPr>
          <a:xfrm>
            <a:off x="7481621" y="6684264"/>
            <a:ext cx="365760" cy="365760"/>
          </a:xfrm>
          <a:prstGeom prst="roundRect">
            <a:avLst>
              <a:gd name="adj" fmla="val 12500"/>
            </a:avLst>
          </a:prstGeom>
          <a:solidFill>
            <a:srgbClr val="404155"/>
          </a:solidFill>
          <a:ln/>
        </p:spPr>
        <p:txBody>
          <a:bodyPr/>
          <a:lstStyle/>
          <a:p>
            <a:endParaRPr lang="ko-KR" altLang="en-US"/>
          </a:p>
        </p:txBody>
      </p:sp>
      <p:sp>
        <p:nvSpPr>
          <p:cNvPr id="67" name="Text 64"/>
          <p:cNvSpPr txBox="1"/>
          <p:nvPr/>
        </p:nvSpPr>
        <p:spPr>
          <a:xfrm>
            <a:off x="7481621" y="6684264"/>
            <a:ext cx="3657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68" name="Text 65"/>
          <p:cNvSpPr txBox="1"/>
          <p:nvPr/>
        </p:nvSpPr>
        <p:spPr>
          <a:xfrm>
            <a:off x="7938821" y="6492240"/>
            <a:ext cx="2681478" cy="749808"/>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빼면 그래프에 아예 없음</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(가리는 것은 접근 필터의 일)</a:t>
            </a:r>
            <a:endParaRPr lang="en-US" sz="1400" dirty="0"/>
          </a:p>
        </p:txBody>
      </p:sp>
      <p:sp>
        <p:nvSpPr>
          <p:cNvPr id="69" name="Shape 66"/>
          <p:cNvSpPr/>
          <p:nvPr/>
        </p:nvSpPr>
        <p:spPr>
          <a:xfrm>
            <a:off x="10830611" y="6492240"/>
            <a:ext cx="3303270" cy="749808"/>
          </a:xfrm>
          <a:prstGeom prst="roundRect">
            <a:avLst>
              <a:gd name="adj" fmla="val 9756"/>
            </a:avLst>
          </a:prstGeom>
          <a:solidFill>
            <a:srgbClr val="F5F8FC"/>
          </a:solidFill>
          <a:ln w="12700">
            <a:solidFill>
              <a:srgbClr val="D9E0EC"/>
            </a:solidFill>
            <a:prstDash val="solid"/>
          </a:ln>
        </p:spPr>
        <p:txBody>
          <a:bodyPr/>
          <a:lstStyle/>
          <a:p>
            <a:endParaRPr lang="ko-KR" altLang="en-US"/>
          </a:p>
        </p:txBody>
      </p:sp>
      <p:sp>
        <p:nvSpPr>
          <p:cNvPr id="70" name="Shape 67"/>
          <p:cNvSpPr/>
          <p:nvPr/>
        </p:nvSpPr>
        <p:spPr>
          <a:xfrm>
            <a:off x="10922051" y="6684264"/>
            <a:ext cx="365760" cy="365760"/>
          </a:xfrm>
          <a:prstGeom prst="roundRect">
            <a:avLst>
              <a:gd name="adj" fmla="val 12500"/>
            </a:avLst>
          </a:prstGeom>
          <a:solidFill>
            <a:srgbClr val="404155"/>
          </a:solidFill>
          <a:ln/>
        </p:spPr>
        <p:txBody>
          <a:bodyPr/>
          <a:lstStyle/>
          <a:p>
            <a:endParaRPr lang="ko-KR" altLang="en-US"/>
          </a:p>
        </p:txBody>
      </p:sp>
      <p:sp>
        <p:nvSpPr>
          <p:cNvPr id="71" name="Text 68"/>
          <p:cNvSpPr txBox="1"/>
          <p:nvPr/>
        </p:nvSpPr>
        <p:spPr>
          <a:xfrm>
            <a:off x="10922051" y="6684264"/>
            <a:ext cx="3657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72" name="Text 69"/>
          <p:cNvSpPr txBox="1"/>
          <p:nvPr/>
        </p:nvSpPr>
        <p:spPr>
          <a:xfrm>
            <a:off x="11379251" y="6492240"/>
            <a:ext cx="2681478" cy="749808"/>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확정 뒤 역량 질문으로 되짚기</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(가이드에 없는 보완점)</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2545</Words>
  <Application>Microsoft Office PowerPoint</Application>
  <PresentationFormat>사용자 지정</PresentationFormat>
  <Paragraphs>307</Paragraphs>
  <Slides>5</Slides>
  <Notes>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5</vt:i4>
      </vt:variant>
    </vt:vector>
  </HeadingPairs>
  <TitlesOfParts>
    <vt:vector size="9" baseType="lpstr">
      <vt:lpstr>Arial</vt:lpstr>
      <vt:lpstr>Pretendard</vt:lpstr>
      <vt:lpstr>Pretendard SemiBold</vt:lpstr>
      <vt:lpstr>Office Theme</vt:lpstr>
      <vt:lpstr>1. 스키마 도출: 노드 타입과 관계는 추출 전에 먼저 정함</vt:lpstr>
      <vt:lpstr>1. 스키마 도출: 스키마에 정의하는 7가지</vt:lpstr>
      <vt:lpstr>1. 스키마 도출: 정형 테이블 → 노드 타입과 관계: 변환 규칙</vt:lpstr>
      <vt:lpstr>1. 스키마 도출: 프롬프트로 정형 테이블의 스키마 도출</vt:lpstr>
      <vt:lpstr>1. 스키마 도출: 소스 문서 → 노드 타입과 관계: 표본 → 후보 → 사람 확정</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해경 이</cp:lastModifiedBy>
  <cp:revision>3</cp:revision>
  <dcterms:created xsi:type="dcterms:W3CDTF">2026-10-14T08:56:35Z</dcterms:created>
  <dcterms:modified xsi:type="dcterms:W3CDTF">2026-10-14T09:07:50Z</dcterms:modified>
</cp:coreProperties>
</file>