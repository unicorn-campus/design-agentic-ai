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스키마 도출은 인덱싱 파이프라인의 단계가 아니라 설계 단계의 일임. 사람이 후보를 줄이고 이름을 정해 확정하므로 매 실행 자동으로 돌리지 않음. 확정한 GraphSchema를 파일로 두고 버전을 관리하며, 인덱싱은 그 파일을 읽어 ④ 추출의 프롬프트 안내와 가지치기에 씀. 스키마가 바뀌면 새 세대로 다시 인덱싱함. 인덱싱 줄의 KG 저장과 병합은 다른 단계임: Native는 저장기(Neo4jWriter)가 먼저 쓰고 병합기(resolver)가 DB 안에서 같은 이름 노드를 합침(SimpleKGPipeline 연결 순서 writer → resolver). 임베딩은 합쳐진 노드 설명을 벡터로 바꾸는 단계라 병합 다음에 둠. 청크 벡터는 기존 벡터DB 인덱싱의 벡터를 KG 저장 때 함께 넣어 다시 만들지 않음. 같은 카드가 어떤 청크에선 Brand, 어떤 청크에선 CardProduct로 뽑히면 병합 단계에서도 못 합침(라벨이 달라서). 실측: 로컬 gemma-4 12B로 스키마 없이 청크 2개를 추출했더니 라벨이 11종 나왔고, 카드는 Brand와 CardProduct, 요금은 Fee와 AnnualFee로 갈렸음. Native neo4j-graphrag는 스키마를 안 주면 SimpleKGPipeline이 매번 입력 글에서 스키마를 자동으로 뽑아 쓰므로(사람 검토 없음) 실행마다 달라질 수 있음 — 그래서 설계 단계에서 고정함.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①~⑤가 뼈대임: 노드 타입, 노드 속성, 관계, 관계 속성, 그리고 어느 노드에서 어느 노드로 그 관계가 갈 수 있는지를 정하는 연결 패턴. ⑥ 제약은 고유키와 필수 속성이며 UNIQUENESS, EXISTENCE, KEY 세 종류가 있음. KEY는 필수이면서 고유함. ⑦ 허용 범위는 목록 밖의 타입, 패턴, 속성을 지울지 통과시킬지이며, 목록을 주면 기본은 지움. 실행 확인(neo4j-graphrag 1.22.0): 이 코드로 만든 스키마로 가지치기를 돌리니 name이 없는 Card 노드가 MISSING_REQUIRED_PROPERTY로 지워졌음. 타입과 속성마다 description을 적으면 추출 프롬프트에 들어가 LLM이 고르는 기준이 됨. 속성의 type(STRING, INTEGER 등)은 적을 수 있지만 지금 버전의 가지치기는 값 형식을 검사하지 않으므로 금액과 날짜는 저장 전에 따로 변환함. 최대 홉 수, 결과 상한, 상충 관계 쌍은 검색과 검수에 쓰는 규칙이라 추출용 스키마에는 넣지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Neo4j 공식 관계형 → 그래프 변환 규칙과 같음: 테이블은 라벨, 행은 노드, 열은 속성, FK는 관계로 바꾸고 FK 열은 지움, 조인 테이블은 관계로 바꾸고 그 열은 관계 속성. 관계는 양 끝이 둘뿐이라 셋 이상을 묶으면 중간 노드로 풂. 판정 결과는 4가지이고 오른쪽 예시가 같은 번호임. ① 조회 대상이면 노드 타입: 이체는 FK가 2개지만 이체 자체를 찾으므로 노드. ② FK가 2개이고 업무 열이 없으면 관계로 흡수: 사용자역할 테이블은 사용자와 역할을 잇기만 하므로 노드를 만들지 않음. ③ FK 2개 + 업무 속성이면 관계 속성: 주문상품의 수량과 단가는 '포함' 관계의 속성. 상품별 판매 집계처럼 그 속성을 조회하거나 집계하면 노드로 둠. ④ FK 3개 이상이면 중간 노드: 수강신청은 학생, 과목, 학기를 함께 묶어 관계 하나로 못 담음. 조회 대상 질문을 먼저 하는 이유는 ① 이체 예: FK 개수만 보면 관계로 흡수되어 이체 자체를 찾을 수 없게 됨. 정형에서 나온 타입은 LLM 추출이 필요 없어 비용이 들지 않으므로 정형을 먼저 훑는 것이 이득임.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 추출 결과는 표본에 있는 것만 담는 후보임. 사람이 3단계로 줄이고 이름을 정한 뒤 GraphSchema로 고정해야 매 실행 결과가 같아짐. Native는 SchemaFromTextExtractor로 표본 글에서 후보 스키마를 받을 수 있고, 확정본을 schema로 넘기지 않으면 SimpleKGPipeline이 매번 자동 추출함. Neo4j LLM Knowledge Graph Builder는 'Get Schema From Text'로 스키마를 제안하고, MS GraphRAG는 graphrag prompt-tune의 --discover-entity-types(기본 켜짐)로 표본 청크에서 엔티티 타입을 만들어 프롬프트 파일로 저장함. LangChain과 LlamaIndex는 자동 후보 단계 없이 사람이 허용 목록을 먼저 적음. 3단계 확정은 온톨로지 공학의 용어 정리, 역량 질문(답해야 할 질문이 범위를 정함)과 같은 생각이며, 3단계(원천 없는 타입 제외)는 적재를 전제한 가이드 고유 규칙임. 확정 뒤 역량 질문으로 되짚는 검증은 가이드에 없는 보완점임.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스키마 도출: 노드 타입과 관계는 추출 전에 먼저 정함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스키마는 추출 결과가 아니라 추출기에 주는 허용 목록 — 먼저 정하지 않으면 같은 개념이 여러 라벨로 쪼개짐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00784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9321" y="1700784"/>
            <a:ext cx="1783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시(사전 1회)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9321" y="2432304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9321" y="2432304"/>
            <a:ext cx="17830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 시(매 실행)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02129" y="170078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02129" y="170078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원천 분석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20008" y="192938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893744" y="170078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93744" y="170078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도출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211623" y="192938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385359" y="170078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2E74C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385359" y="170078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확정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(사람)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03238" y="192938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876974" y="1700784"/>
            <a:ext cx="2782062" cy="457200"/>
          </a:xfrm>
          <a:prstGeom prst="roundRect">
            <a:avLst>
              <a:gd name="adj" fmla="val 16000"/>
            </a:avLst>
          </a:prstGeom>
          <a:solidFill>
            <a:srgbClr val="EEF3FA"/>
          </a:solidFill>
          <a:ln w="25400">
            <a:solidFill>
              <a:srgbClr val="2E74C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76974" y="1700784"/>
            <a:ext cx="2782062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GraphSchema 파일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(버전 관리)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951644" y="1664208"/>
            <a:ext cx="418223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인덱싱은 읽기만 함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바뀌면 새 세대로 재인덱싱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402129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402129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로드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720008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893744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893744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정제와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가명처리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211623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385359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385359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청킹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703238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6876974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1E2A5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876974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추출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194853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8368589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1E2A5C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368589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가지치기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(Pruning)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9686468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860204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860204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저장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1178083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11351819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351819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병합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12669698" y="2660904"/>
            <a:ext cx="146304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12843434" y="2432304"/>
            <a:ext cx="1290447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2843434" y="2432304"/>
            <a:ext cx="1290447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(노드 설명)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7522197" y="2176272"/>
            <a:ext cx="0" cy="237744"/>
          </a:xfrm>
          <a:prstGeom prst="line">
            <a:avLst/>
          </a:prstGeom>
          <a:noFill/>
          <a:ln w="22225">
            <a:solidFill>
              <a:srgbClr val="2E74C6"/>
            </a:solidFill>
            <a:prstDash val="dash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9013812" y="2176272"/>
            <a:ext cx="0" cy="237744"/>
          </a:xfrm>
          <a:prstGeom prst="line">
            <a:avLst/>
          </a:prstGeom>
          <a:noFill/>
          <a:ln w="22225">
            <a:solidFill>
              <a:srgbClr val="2E74C6"/>
            </a:solidFill>
            <a:prstDash val="dash"/>
            <a:tailEnd type="triangle"/>
          </a:ln>
        </p:spPr>
      </p:sp>
      <p:sp>
        <p:nvSpPr>
          <p:cNvPr id="46" name="Text 43"/>
          <p:cNvSpPr txBox="1"/>
          <p:nvPr/>
        </p:nvSpPr>
        <p:spPr>
          <a:xfrm>
            <a:off x="7595349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읽어 씀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509321" y="3017520"/>
            <a:ext cx="658368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509321" y="3017520"/>
            <a:ext cx="65836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없이 추출하면 (실측)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09321" y="3438144"/>
            <a:ext cx="6583680" cy="307238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92201" y="3511296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gemma-4 12B로 청크 2개를 스키마 없이 추출 → 라벨 11종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692201" y="3895344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692201" y="3895344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1926641" y="3895344"/>
            <a:ext cx="150876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1926641" y="3895344"/>
            <a:ext cx="15087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CardProduct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3572561" y="389534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카드 하나가 라벨 2개로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692201" y="4297680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692201" y="4297680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Fee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1926641" y="4297680"/>
            <a:ext cx="1508760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1926641" y="4297680"/>
            <a:ext cx="15087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AnnualFee</a:t>
            </a:r>
            <a:endParaRPr lang="en-US" sz="1400" dirty="0"/>
          </a:p>
        </p:txBody>
      </p:sp>
      <p:sp>
        <p:nvSpPr>
          <p:cNvPr id="60" name="Text 57"/>
          <p:cNvSpPr txBox="1"/>
          <p:nvPr/>
        </p:nvSpPr>
        <p:spPr>
          <a:xfrm>
            <a:off x="3572561" y="42976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요금도 라벨 2개로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692201" y="4718304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692201" y="4718304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Channel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1926641" y="4718304"/>
            <a:ext cx="10972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926641" y="4718304"/>
            <a:ext cx="10972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Benefit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3115361" y="4718304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3115361" y="4718304"/>
            <a:ext cx="11430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Guardian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4349801" y="4718304"/>
            <a:ext cx="91440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349801" y="4718304"/>
            <a:ext cx="9144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Grade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5355641" y="4718304"/>
            <a:ext cx="82296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355641" y="4718304"/>
            <a:ext cx="822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Date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692201" y="5102352"/>
            <a:ext cx="8686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692201" y="5102352"/>
            <a:ext cx="8686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Store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1652321" y="5102352"/>
            <a:ext cx="2240280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1652321" y="5102352"/>
            <a:ext cx="224028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PerformanceCondition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692201" y="5522976"/>
            <a:ext cx="6217920" cy="0"/>
          </a:xfrm>
          <a:prstGeom prst="line">
            <a:avLst/>
          </a:prstGeom>
          <a:noFill/>
          <a:ln w="12700">
            <a:solidFill>
              <a:srgbClr val="D9E0EC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92201" y="556869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 도구 기본 노드 타입/관계가 없거나 너무 일반적임</a:t>
            </a:r>
            <a:endParaRPr lang="en-US" sz="1500" dirty="0"/>
          </a:p>
        </p:txBody>
      </p:sp>
      <p:sp>
        <p:nvSpPr>
          <p:cNvPr id="77" name="Text 74"/>
          <p:cNvSpPr txBox="1"/>
          <p:nvPr/>
        </p:nvSpPr>
        <p:spPr>
          <a:xfrm>
            <a:off x="692201" y="58521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Neo4j: 스키마를 안 주면 매번 입력 글에서 자동 추출(사람 검토 없음)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MS GraphRAG 기본 타입: organization, person, geo, event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LangChain+Neo4j: 허용 목록이 비면 아무 타입이나 만듦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7321601" y="3017520"/>
            <a:ext cx="681228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7321601" y="3017520"/>
            <a:ext cx="68122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스키마를 주면 (Native GraphSchema)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7321601" y="3438144"/>
            <a:ext cx="6812280" cy="1700784"/>
          </a:xfrm>
          <a:prstGeom prst="roundRect">
            <a:avLst>
              <a:gd name="adj" fmla="val 322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431329" y="3511296"/>
            <a:ext cx="6592824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 = GraphSchema.model_validate({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"node_types": ["Card", "Benefit", "Fee"],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"relationship_types": ["HAS_BENEFIT", "HAS_FEE"],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"patterns": [("Card", "HAS_BENEFIT", "Benefit"),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("Card", "HAS_FEE", "Fee")]})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 = await extractor.run(chunks=chunks, schema=schema)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 = await GraphPruning().run(graph, schema)</a:t>
            </a:r>
            <a:endParaRPr lang="en-US" sz="1400" dirty="0"/>
          </a:p>
        </p:txBody>
      </p:sp>
      <p:sp>
        <p:nvSpPr>
          <p:cNvPr id="82" name="Shape 79"/>
          <p:cNvSpPr/>
          <p:nvPr/>
        </p:nvSpPr>
        <p:spPr>
          <a:xfrm>
            <a:off x="7321601" y="5248656"/>
            <a:ext cx="331470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7458761" y="5285232"/>
            <a:ext cx="30403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추출 안내</a:t>
            </a:r>
            <a:endParaRPr lang="en-US" sz="1600" dirty="0"/>
          </a:p>
        </p:txBody>
      </p:sp>
      <p:sp>
        <p:nvSpPr>
          <p:cNvPr id="84" name="Text 81"/>
          <p:cNvSpPr txBox="1"/>
          <p:nvPr/>
        </p:nvSpPr>
        <p:spPr>
          <a:xfrm>
            <a:off x="7458761" y="5614416"/>
            <a:ext cx="304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목록이 추출 프롬프트에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들어가 LLM이 그 안에서 고름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10819181" y="5248656"/>
            <a:ext cx="3314700" cy="9144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10956341" y="5285232"/>
            <a:ext cx="30403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가지치기</a:t>
            </a:r>
            <a:endParaRPr lang="en-US" sz="1600" dirty="0"/>
          </a:p>
        </p:txBody>
      </p:sp>
      <p:sp>
        <p:nvSpPr>
          <p:cNvPr id="87" name="Text 84"/>
          <p:cNvSpPr txBox="1"/>
          <p:nvPr/>
        </p:nvSpPr>
        <p:spPr>
          <a:xfrm>
            <a:off x="10956341" y="5614416"/>
            <a:ext cx="304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 밖 노드와 관계를 지우고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지운 개수를 통계로 남김</a:t>
            </a:r>
            <a:endParaRPr lang="en-US" sz="1400" dirty="0"/>
          </a:p>
        </p:txBody>
      </p:sp>
      <p:sp>
        <p:nvSpPr>
          <p:cNvPr id="88" name="Text 85"/>
          <p:cNvSpPr txBox="1"/>
          <p:nvPr/>
        </p:nvSpPr>
        <p:spPr>
          <a:xfrm>
            <a:off x="7321601" y="621792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확인: 노드 타입을 주면 목록 밖 타입은 기본 불허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509321" y="6601968"/>
            <a:ext cx="13624560" cy="621792"/>
          </a:xfrm>
          <a:prstGeom prst="roundRect">
            <a:avLst>
              <a:gd name="adj" fmla="val 11765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09321" y="6601968"/>
            <a:ext cx="82296" cy="621792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737921" y="6601968"/>
            <a:ext cx="1325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결론: 스키마는 인덱싱 전 설계 단계에서 확정해 파일로 고정, 인덱싱은 읽어 쓰기만 함.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테이블은 변환 규칙으로, 문서는 표본 → 후보 → 사람 확정으로 스키마 설계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스키마 도출: 스키마에 정의하는 7가지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노드 타입과 관계, 각각의 속성, 연결 패턴이 뼈대 — 제약과 허용 범위로 무엇을 지킬지 정함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09321" y="1700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뼈대 ① ~ ⑤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2338121" y="1700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왼쪽부터 정의할 것, GraphSchema 칸, 카드 예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9321" y="2011680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0761" y="210312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00761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39673" y="201168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200961" y="20116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node_types[].label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35601" y="201168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Card, Benefit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9321" y="2587752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0761" y="26791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00761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39673" y="2587752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속성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200961" y="25877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node_types[]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.properties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035601" y="258775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 {name, annual_fee}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9321" y="3163824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0761" y="325526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00761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039673" y="316382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2200961" y="316382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relationship_types[]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.label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035601" y="316382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HAS_BENEFIT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9321" y="3739896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0761" y="383133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00761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039673" y="3739896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속성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2200961" y="373989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relationship_types[]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.properties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035601" y="3739896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HAS_BENEFIT {valid_until}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09321" y="4315968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00761" y="440740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00761" y="4407408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039673" y="4315968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패턴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2200961" y="431596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patterns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(출발, 관계, 도착)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035601" y="431596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(Card, HAS_BENEFIT,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Benefit)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09321" y="5166360"/>
            <a:ext cx="6675120" cy="530352"/>
          </a:xfrm>
          <a:prstGeom prst="roundRect">
            <a:avLst>
              <a:gd name="adj" fmla="val 10345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00761" y="52578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00761" y="525780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039673" y="5166360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제약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2200961" y="516636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UNIQUENESS, EXISTENCE, KEY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035601" y="516636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Card.name = KEY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09321" y="5742432"/>
            <a:ext cx="6675120" cy="676656"/>
          </a:xfrm>
          <a:prstGeom prst="roundRect">
            <a:avLst>
              <a:gd name="adj" fmla="val 8108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00761" y="590702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00761" y="5907024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1039673" y="5742432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허용 범위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2200961" y="5742432"/>
            <a:ext cx="2788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additional_node_types,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additional_relationship_types,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additional_patterns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5035601" y="5742432"/>
            <a:ext cx="205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①~⑤에 지정된 목록 밖을 허용할지 여부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509321" y="4892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지킬 규칙 ⑥ ⑦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7413041" y="1737360"/>
            <a:ext cx="6720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595921" y="1883664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687361" y="195681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E2A5C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7687361" y="1956816"/>
            <a:ext cx="1965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:Card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7733081" y="2322576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 (키)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annual_fee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11802161" y="1883664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1893601" y="1956816"/>
            <a:ext cx="1965960" cy="329184"/>
          </a:xfrm>
          <a:prstGeom prst="roundRect">
            <a:avLst>
              <a:gd name="adj" fmla="val 13889"/>
            </a:avLst>
          </a:prstGeom>
          <a:solidFill>
            <a:srgbClr val="1E2A5C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11893601" y="1956816"/>
            <a:ext cx="1965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:Benefit</a:t>
            </a:r>
            <a:endParaRPr lang="en-US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11939321" y="2322576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rate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9781337" y="2423160"/>
            <a:ext cx="1984248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60" name="Text 57"/>
          <p:cNvSpPr txBox="1"/>
          <p:nvPr/>
        </p:nvSpPr>
        <p:spPr>
          <a:xfrm>
            <a:off x="9744761" y="20756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:HAS_BENEFIT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9744761" y="24780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{valid_until}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9470441" y="1792224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9470441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9333281" y="2596896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9333281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8784641" y="2313432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8784641" y="2313432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10618013" y="1764792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10618013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11459261" y="2459736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11459261" y="245973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400" dirty="0"/>
          </a:p>
        </p:txBody>
      </p:sp>
      <p:sp>
        <p:nvSpPr>
          <p:cNvPr id="72" name="Shape 69"/>
          <p:cNvSpPr/>
          <p:nvPr/>
        </p:nvSpPr>
        <p:spPr>
          <a:xfrm>
            <a:off x="10618013" y="2752344"/>
            <a:ext cx="310896" cy="310896"/>
          </a:xfrm>
          <a:prstGeom prst="roundRect">
            <a:avLst>
              <a:gd name="adj" fmla="val 45000"/>
            </a:avLst>
          </a:prstGeom>
          <a:solidFill>
            <a:srgbClr val="1E2A5C"/>
          </a:solidFill>
          <a:ln/>
        </p:spPr>
      </p:sp>
      <p:sp>
        <p:nvSpPr>
          <p:cNvPr id="73" name="Text 70"/>
          <p:cNvSpPr txBox="1"/>
          <p:nvPr/>
        </p:nvSpPr>
        <p:spPr>
          <a:xfrm>
            <a:off x="10618013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1400" dirty="0"/>
          </a:p>
        </p:txBody>
      </p:sp>
      <p:sp>
        <p:nvSpPr>
          <p:cNvPr id="74" name="Shape 71"/>
          <p:cNvSpPr/>
          <p:nvPr/>
        </p:nvSpPr>
        <p:spPr>
          <a:xfrm>
            <a:off x="7413041" y="3493008"/>
            <a:ext cx="6720840" cy="2907792"/>
          </a:xfrm>
          <a:prstGeom prst="roundRect">
            <a:avLst>
              <a:gd name="adj" fmla="val 1887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522769" y="3566160"/>
            <a:ext cx="6501384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 = GraphSchema.model_validate({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"node_types": [                              # ① ②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{"label": "Card", "properties": [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{"name": "name", "type": "STRING"},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{"name": "annual_fee", "type": "INTEGER"}]},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{"label": "Benefit", "properties": [...]}],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"relationship_types": [{"label": "HAS_BENEFIT",   # ③ ④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"properties": [{"name": "valid_until", "type": "DATE"}]}],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"patterns": [("Card", "HAS_BENEFIT", "Benefit")],   # ⑤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"constraints": [{"type": "KEY", "node_type": "Card",  # ⑥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    "property_names": ["name"]}],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"additional_node_types": False})                # ⑦</a:t>
            </a:r>
            <a:endParaRPr lang="en-US" sz="1400" dirty="0"/>
          </a:p>
        </p:txBody>
      </p:sp>
      <p:sp>
        <p:nvSpPr>
          <p:cNvPr id="76" name="Text 73"/>
          <p:cNvSpPr txBox="1"/>
          <p:nvPr/>
        </p:nvSpPr>
        <p:spPr>
          <a:xfrm>
            <a:off x="7413041" y="318211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7칸을 채운 Native GraphSchema — 실행 확인: name 없는 Card는 가지치기가 지움</a:t>
            </a:r>
            <a:endParaRPr lang="en-US" sz="1400" dirty="0"/>
          </a:p>
        </p:txBody>
      </p:sp>
      <p:sp>
        <p:nvSpPr>
          <p:cNvPr id="77" name="Shape 74"/>
          <p:cNvSpPr/>
          <p:nvPr/>
        </p:nvSpPr>
        <p:spPr>
          <a:xfrm>
            <a:off x="509321" y="6492240"/>
            <a:ext cx="13624560" cy="73152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09321" y="6492240"/>
            <a:ext cx="82296" cy="73152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79" name="Text 76"/>
          <p:cNvSpPr txBox="1"/>
          <p:nvPr/>
        </p:nvSpPr>
        <p:spPr>
          <a:xfrm>
            <a:off x="737921" y="6492240"/>
            <a:ext cx="1325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최소한 = ①, ③, ⑤ + ⑥ 고유키. 속성은 질문에 쓰는 것만 정의하고, 타입마다 description을 적으면 LLM이 고르는 기준이 됨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제약: 지정한 속성에 대해 UNIQUENESS는 고유 강제, EXISTENCE는 존재 강제, KEY는 고유 + 존재를 강제함. UNIQUENESS는 지정한 속성이 비어 있어도 허용하나 KEY는 불허함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스키마 도출: 정형 테이블 → 노드 타입과 관계: 변환 규칙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모델 없이 규칙으로 바꿈 — 단, FK를 세기 전에 '그 표 자체가 조회 대상인가'부터 물음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521001" y="175564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E2A5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2521001" y="1755648"/>
            <a:ext cx="20116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 1개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26841" y="2157984"/>
            <a:ext cx="0" cy="18288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09321" y="2359152"/>
            <a:ext cx="6035040" cy="502920"/>
          </a:xfrm>
          <a:prstGeom prst="roundRect">
            <a:avLst>
              <a:gd name="adj" fmla="val 14545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9321" y="2359152"/>
            <a:ext cx="60350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Q1. 그 표 자체가 조회 대상인 엔티티인가?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35201" y="2880360"/>
            <a:ext cx="0" cy="32004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1908353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989881" y="2880360"/>
            <a:ext cx="0" cy="32004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5063033" y="28895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아니오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9321" y="321868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E2A5C"/>
          </a:solidFill>
          <a:ln/>
        </p:spPr>
      </p:sp>
      <p:sp>
        <p:nvSpPr>
          <p:cNvPr id="15" name="Shape 12"/>
          <p:cNvSpPr/>
          <p:nvPr/>
        </p:nvSpPr>
        <p:spPr>
          <a:xfrm>
            <a:off x="619049" y="3310128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9049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057961" y="3218688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열 = 노드 속성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= 관계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열은 바꾼 뒤 지움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09321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FK가 0개 또는 1개인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보통 테이블은 대부분 여기로 옴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435401" y="3218688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435401" y="3218688"/>
            <a:ext cx="3108960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Q2. FK 몇 개?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3435401" y="3730752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508553" y="3831336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508553" y="3831336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910889" y="3730752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조인 테이블: 2개이고 업무 열 없음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1개로 흡수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435401" y="4334256"/>
            <a:ext cx="3108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508553" y="4544568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508553" y="4544568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3910889" y="4334256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조인 테이블: 2개 + 업무 속성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+ 관계 속성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(조회하거나 집계하면 노드)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435401" y="5157216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1E2A5C"/>
          </a:solidFill>
          <a:ln/>
        </p:spPr>
      </p:sp>
      <p:sp>
        <p:nvSpPr>
          <p:cNvPr id="30" name="Shape 27"/>
          <p:cNvSpPr/>
          <p:nvPr/>
        </p:nvSpPr>
        <p:spPr>
          <a:xfrm>
            <a:off x="3508553" y="5257800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508553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3910889" y="5157216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 이상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 타입(중간 노드)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09321" y="5797296"/>
            <a:ext cx="6035040" cy="585216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6481" y="5797296"/>
            <a:ext cx="5760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Q1이 먼저? FK 수만 보면 이체 기록(FK 2개)이 관계로 흡수돼 이체 자체를 찾을 수 없음 (예 ①)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818681" y="1755648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910121" y="1847088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910121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7321601" y="1865376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67321" y="1865376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이체(출금계좌FK, 입금계좌FK,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금액, 일시)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9699041" y="2295144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0019081" y="2084832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019081" y="2084832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:계좌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11550701" y="2084832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1E2A5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11550701" y="2084832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:이체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13082321" y="2084832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3082321" y="2084832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:계좌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11006633" y="2276856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48" name="Text 45"/>
          <p:cNvSpPr txBox="1"/>
          <p:nvPr/>
        </p:nvSpPr>
        <p:spPr>
          <a:xfrm>
            <a:off x="10887761" y="1975104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:출금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12538253" y="2276856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50" name="Text 47"/>
          <p:cNvSpPr txBox="1"/>
          <p:nvPr/>
        </p:nvSpPr>
        <p:spPr>
          <a:xfrm>
            <a:off x="12419381" y="1975104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:입금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9973361" y="2487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대상 → 노드 타입(FK가 2개여도)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6818681" y="2907792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910121" y="2999232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6910121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7321601" y="3017520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367321" y="3017520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사용자, 역할,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사용자역할(사용자FK, 역할FK)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9699041" y="3447288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58" name="Shape 55"/>
          <p:cNvSpPr/>
          <p:nvPr/>
        </p:nvSpPr>
        <p:spPr>
          <a:xfrm>
            <a:off x="10019081" y="3236976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10019081" y="3236976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:사용자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13128041" y="3236976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3128041" y="3236976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:역할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10960913" y="3429000"/>
            <a:ext cx="213969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63" name="Text 60"/>
          <p:cNvSpPr txBox="1"/>
          <p:nvPr/>
        </p:nvSpPr>
        <p:spPr>
          <a:xfrm>
            <a:off x="10842041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:맡음</a:t>
            </a:r>
            <a:endParaRPr lang="en-US" sz="1400" dirty="0"/>
          </a:p>
        </p:txBody>
      </p:sp>
      <p:sp>
        <p:nvSpPr>
          <p:cNvPr id="64" name="Text 61"/>
          <p:cNvSpPr txBox="1"/>
          <p:nvPr/>
        </p:nvSpPr>
        <p:spPr>
          <a:xfrm>
            <a:off x="9973361" y="36393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열 없음 → 관계로 흡수(사용자역할 노드 없음)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6818681" y="4059936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910121" y="4151376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6910121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500" dirty="0"/>
          </a:p>
        </p:txBody>
      </p:sp>
      <p:sp>
        <p:nvSpPr>
          <p:cNvPr id="68" name="Shape 65"/>
          <p:cNvSpPr/>
          <p:nvPr/>
        </p:nvSpPr>
        <p:spPr>
          <a:xfrm>
            <a:off x="7321601" y="4169664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7367321" y="4169664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주문상품(주문FK, 상품FK,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수량, 단가)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9699041" y="4599432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71" name="Shape 68"/>
          <p:cNvSpPr/>
          <p:nvPr/>
        </p:nvSpPr>
        <p:spPr>
          <a:xfrm>
            <a:off x="10019081" y="438912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019081" y="4389120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:주문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13128041" y="438912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13128041" y="4389120"/>
            <a:ext cx="914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:상품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10960913" y="4581144"/>
            <a:ext cx="213969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76" name="Text 73"/>
          <p:cNvSpPr txBox="1"/>
          <p:nvPr/>
        </p:nvSpPr>
        <p:spPr>
          <a:xfrm>
            <a:off x="10842041" y="4279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:포함 {수량, 단가}</a:t>
            </a:r>
            <a:endParaRPr lang="en-US" sz="1400" dirty="0"/>
          </a:p>
        </p:txBody>
      </p:sp>
      <p:sp>
        <p:nvSpPr>
          <p:cNvPr id="77" name="Text 74"/>
          <p:cNvSpPr txBox="1"/>
          <p:nvPr/>
        </p:nvSpPr>
        <p:spPr>
          <a:xfrm>
            <a:off x="9973361" y="47914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속성 → 관계 속성(판매 집계가 잦으면 노드)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6818681" y="5212080"/>
            <a:ext cx="7315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910121" y="5303520"/>
            <a:ext cx="329184" cy="329184"/>
          </a:xfrm>
          <a:prstGeom prst="roundRect">
            <a:avLst>
              <a:gd name="adj" fmla="val 45000"/>
            </a:avLst>
          </a:prstGeom>
          <a:solidFill>
            <a:srgbClr val="2E74C6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6910121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7321601" y="5321808"/>
            <a:ext cx="2331720" cy="859536"/>
          </a:xfrm>
          <a:prstGeom prst="roundRect">
            <a:avLst>
              <a:gd name="adj" fmla="val 638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7367321" y="5321808"/>
            <a:ext cx="224028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수강신청(학생FK, 과목FK,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학기FK)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9699041" y="5751576"/>
            <a:ext cx="228600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84" name="Shape 81"/>
          <p:cNvSpPr/>
          <p:nvPr/>
        </p:nvSpPr>
        <p:spPr>
          <a:xfrm>
            <a:off x="1001908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1001908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:학생</a:t>
            </a:r>
            <a:endParaRPr lang="en-US" sz="1400" dirty="0"/>
          </a:p>
        </p:txBody>
      </p:sp>
      <p:sp>
        <p:nvSpPr>
          <p:cNvPr id="86" name="Shape 83"/>
          <p:cNvSpPr/>
          <p:nvPr/>
        </p:nvSpPr>
        <p:spPr>
          <a:xfrm>
            <a:off x="1155070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1E2A5C"/>
          </a:solidFill>
          <a:ln/>
        </p:spPr>
      </p:sp>
      <p:sp>
        <p:nvSpPr>
          <p:cNvPr id="87" name="Text 84"/>
          <p:cNvSpPr txBox="1"/>
          <p:nvPr/>
        </p:nvSpPr>
        <p:spPr>
          <a:xfrm>
            <a:off x="1155070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:수강신청</a:t>
            </a:r>
            <a:endParaRPr lang="en-US" sz="1400" dirty="0"/>
          </a:p>
        </p:txBody>
      </p:sp>
      <p:sp>
        <p:nvSpPr>
          <p:cNvPr id="88" name="Shape 85"/>
          <p:cNvSpPr/>
          <p:nvPr/>
        </p:nvSpPr>
        <p:spPr>
          <a:xfrm>
            <a:off x="13082321" y="5541264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13082321" y="5541264"/>
            <a:ext cx="960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:과목</a:t>
            </a:r>
            <a:endParaRPr lang="en-US" sz="1400" dirty="0"/>
          </a:p>
        </p:txBody>
      </p:sp>
      <p:sp>
        <p:nvSpPr>
          <p:cNvPr id="90" name="Shape 87"/>
          <p:cNvSpPr/>
          <p:nvPr/>
        </p:nvSpPr>
        <p:spPr>
          <a:xfrm>
            <a:off x="11006633" y="5733288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91" name="Text 88"/>
          <p:cNvSpPr txBox="1"/>
          <p:nvPr/>
        </p:nvSpPr>
        <p:spPr>
          <a:xfrm>
            <a:off x="10887761" y="5431536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:신청</a:t>
            </a:r>
            <a:endParaRPr lang="en-US" sz="1400" dirty="0"/>
          </a:p>
        </p:txBody>
      </p:sp>
      <p:sp>
        <p:nvSpPr>
          <p:cNvPr id="92" name="Shape 89"/>
          <p:cNvSpPr/>
          <p:nvPr/>
        </p:nvSpPr>
        <p:spPr>
          <a:xfrm>
            <a:off x="12538253" y="5733288"/>
            <a:ext cx="51663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93" name="Text 90"/>
          <p:cNvSpPr txBox="1"/>
          <p:nvPr/>
        </p:nvSpPr>
        <p:spPr>
          <a:xfrm>
            <a:off x="12419381" y="5431536"/>
            <a:ext cx="754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:대상</a:t>
            </a:r>
            <a:endParaRPr lang="en-US" sz="1400" dirty="0"/>
          </a:p>
        </p:txBody>
      </p:sp>
      <p:sp>
        <p:nvSpPr>
          <p:cNvPr id="94" name="Text 91"/>
          <p:cNvSpPr txBox="1"/>
          <p:nvPr/>
        </p:nvSpPr>
        <p:spPr>
          <a:xfrm>
            <a:off x="9973361" y="5943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FK 3개 → 중간 노드(학기도 같은 방식), 홉 +1</a:t>
            </a:r>
            <a:endParaRPr lang="en-US" sz="1400" dirty="0"/>
          </a:p>
        </p:txBody>
      </p:sp>
      <p:sp>
        <p:nvSpPr>
          <p:cNvPr id="95" name="Shape 92"/>
          <p:cNvSpPr/>
          <p:nvPr/>
        </p:nvSpPr>
        <p:spPr>
          <a:xfrm>
            <a:off x="509321" y="6492240"/>
            <a:ext cx="13624560" cy="73152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509321" y="6492240"/>
            <a:ext cx="82296" cy="731520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737921" y="6492240"/>
            <a:ext cx="1325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공식 변환 규칙과 같음: 테이블 → 라벨 , FK → 관계 , 조인 테이블 → 관계 또는 관계 + 속성,  셋 이상 → 중간 노드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이름에 공백 없음(Neo4j 권고: 라벨은 PascalCase, 관계는 대문자_밑줄). 정형에서 나온 타입은 LLM 추출 비용이 들지 않음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스키마 도출: 소스 문서 → 노드 타입과 관계: 표본 → 후보 → 사람 확정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LLM은 표본에서 후보만 뽑고 확정은 사람이 함 — 확정한 목록을 GraphSchema로 고정해 추출기에 넘김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9321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종류별 표본 N건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042209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289097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EEF3FA"/>
          </a:solidFill>
          <a:ln w="15875">
            <a:solidFill>
              <a:srgbClr val="2E74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89097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추출기 → 후보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21985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068873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4A536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68873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후보와 합침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01761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848649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2E74C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848649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확정 (사람)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1381537" y="2020824"/>
            <a:ext cx="219456" cy="0"/>
          </a:xfrm>
          <a:prstGeom prst="line">
            <a:avLst/>
          </a:prstGeom>
          <a:noFill/>
          <a:ln w="22225">
            <a:solidFill>
              <a:srgbClr val="4A5364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1628425" y="1737360"/>
            <a:ext cx="2505456" cy="566928"/>
          </a:xfrm>
          <a:prstGeom prst="roundRect">
            <a:avLst>
              <a:gd name="adj" fmla="val 12903"/>
            </a:avLst>
          </a:prstGeom>
          <a:solidFill>
            <a:srgbClr val="1E2A5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1628425" y="1737360"/>
            <a:ext cx="2505456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GraphSchema 고정 → 추출기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9321" y="2487168"/>
            <a:ext cx="63093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09321" y="2487168"/>
            <a:ext cx="63093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뽑는 도구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09321" y="292608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0761" y="301752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1E2A5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00761" y="301752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neo4j-graphrag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338121" y="292608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SchemaFromTextExtractor().run(text=표본)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고친 스키마를 schema로 넘김(안 넘기면 매번 자동)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9321" y="379476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0761" y="388620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00761" y="388620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LLM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Builder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338121" y="379476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'Get Schema From Text'가 스키마 제안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화면에서 사람이 고름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09321" y="466344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0761" y="475488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00761" y="475488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 GraphRAG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2338121" y="466344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graphrag prompt-tune --discover-entity-types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저장된 프롬프트 파일을 사람이 고침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09321" y="5532120"/>
            <a:ext cx="6309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00761" y="5623560"/>
            <a:ext cx="1600200" cy="621792"/>
          </a:xfrm>
          <a:prstGeom prst="roundRect">
            <a:avLst>
              <a:gd name="adj" fmla="val 8824"/>
            </a:avLst>
          </a:prstGeom>
          <a:solidFill>
            <a:srgbClr val="404155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00761" y="5623560"/>
            <a:ext cx="1600200" cy="6217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LlamaIndex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2338121" y="5532120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후보: 자동 후보 단계 없음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확정: 사람이 허용 목록을 먼저 적음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047281" y="2487168"/>
            <a:ext cx="708660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047281" y="2487168"/>
            <a:ext cx="7086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 확정 — 사람이 줄이고 이름을 정함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047281" y="2926080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157009" y="3035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157009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7641641" y="299923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의미는 합치고 이름을 정함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7641641" y="3383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온톨로지: 용어 나열과 계층 정리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7641641" y="3657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Brand와 CardProduct → Card, Fee와 AnnualFee → Fee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047281" y="4087368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157009" y="419709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7157009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7641641" y="41605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쓰는 워크플로우 단계가 없는 관계는 뺌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7641641" y="4544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온톨로지: 역량 질문(답해야 할 질문이 범위를 정함)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7641641" y="48188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어느 단계도 따라가지 않는 관계 → 다음 회차 후보로 1줄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7047281" y="5248656"/>
            <a:ext cx="7086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157009" y="535838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7157009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700" dirty="0"/>
          </a:p>
        </p:txBody>
      </p:sp>
      <p:sp>
        <p:nvSpPr>
          <p:cNvPr id="54" name="Text 51"/>
          <p:cNvSpPr txBox="1"/>
          <p:nvPr/>
        </p:nvSpPr>
        <p:spPr>
          <a:xfrm>
            <a:off x="7641641" y="532180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적재 원천이 없는 노드 타입은 뺌</a:t>
            </a:r>
            <a:endParaRPr lang="en-US" sz="1600" dirty="0"/>
          </a:p>
        </p:txBody>
      </p:sp>
      <p:sp>
        <p:nvSpPr>
          <p:cNvPr id="55" name="Text 52"/>
          <p:cNvSpPr txBox="1"/>
          <p:nvPr/>
        </p:nvSpPr>
        <p:spPr>
          <a:xfrm>
            <a:off x="7641641" y="57058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가이드 고유 규칙(빈 노드 방지)</a:t>
            </a:r>
            <a:endParaRPr lang="en-US" sz="1400" dirty="0"/>
          </a:p>
        </p:txBody>
      </p:sp>
      <p:sp>
        <p:nvSpPr>
          <p:cNvPr id="56" name="Text 53"/>
          <p:cNvSpPr txBox="1"/>
          <p:nvPr/>
        </p:nvSpPr>
        <p:spPr>
          <a:xfrm>
            <a:off x="7641641" y="59801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어느 원천도 채우지 않는 타입 → 정의하지 않음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50932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0076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60076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105796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표본에 없던 타입은 안 나옴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문서 종류마다 표본, 표본 수 기록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394975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04119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404119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4" name="Text 61"/>
          <p:cNvSpPr txBox="1"/>
          <p:nvPr/>
        </p:nvSpPr>
        <p:spPr>
          <a:xfrm>
            <a:off x="449839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기본값(organization,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person, geo, event) 그대로 금지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739018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48162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748162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793882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빼면 그래프에 아예 없음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(가리는 것은 접근 필터의 일)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10830611" y="6492240"/>
            <a:ext cx="3303270" cy="749808"/>
          </a:xfrm>
          <a:prstGeom prst="roundRect">
            <a:avLst>
              <a:gd name="adj" fmla="val 97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0922051" y="668426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10922051" y="6684264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2" name="Text 69"/>
          <p:cNvSpPr txBox="1"/>
          <p:nvPr/>
        </p:nvSpPr>
        <p:spPr>
          <a:xfrm>
            <a:off x="11379251" y="6492240"/>
            <a:ext cx="26814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 뒤 역량 질문으로 되짚기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(가이드에 없는 보완점)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2026-10-14T06:23:02Z</dcterms:created>
  <dcterms:modified xsi:type="dcterms:W3CDTF">2026-10-14T06:23:02Z</dcterms:modified>
</cp:coreProperties>
</file>