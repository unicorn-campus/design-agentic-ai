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837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스키마 도출은 인덱싱 파이프라인의 단계가 아니라 설계 단계의 일임. 사람이 후보를 줄이고 이름을 정해 확정하므로 매 실행 자동으로 돌리지 않음. 확정한 GraphSchema를 파일로 두고 버전을 관리하며, 인덱싱은 그 파일을 읽어 ④ 추출의 프롬프트 안내와 가지치기에 씀. 스키마가 바뀌면 새 세대로 다시 인덱싱함. 인덱싱 줄의 KG 저장과 병합은 다른 단계임: Native는 저장기(Neo4jWriter)가 먼저 쓰고 병합기(resolver)가 DB 안에서 같은 이름 노드를 합침(SimpleKGPipeline 연결 순서 writer → resolver). 임베딩은 합쳐진 노드 설명을 벡터로 바꾸는 단계라 병합 다음에 둠. 청크 벡터는 기존 벡터DB 인덱싱의 벡터를 KG 저장 때 함께 넣어 다시 만들지 않음. 같은 카드가 어떤 청크에선 Brand, 어떤 청크에선 CardProduct로 뽑히면 병합 단계에서도 못 합침(라벨이 달라서). 실측: 로컬 gemma-4 12B로 스키마 없이 청크 2개를 추출했더니 라벨이 11종 나왔고, 카드는 Brand와 CardProduct, 요금은 Fee와 AnnualFee로 갈렸음. Native neo4j-graphrag는 스키마를 안 주면 SimpleKGPipeline이 매번 입력 글에서 스키마를 자동으로 뽑아 쓰므로(사람 검토 없음) 실행마다 달라질 수 있음 — 그래서 설계 단계에서 고정함.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①~⑤가 뼈대임: 노드 타입, 노드 속성, 관계 타입, 관계 속성, 그리고 어느 노드에서 어느 노드로 그 관계가 갈 수 있는지를 정하는 연결 패턴. ⑥ 제약은 고유키와 필수 속성이며 UNIQUENESS·EXISTENCE·KEY 세 종류가 있음. KEY는 필수이면서 고유함. ⑦ 허용 범위는 목록 밖 타입·패턴·속성을 지울지 통과시킬지이며, 목록을 주면 기본은 지움. 실행 확인(neo4j-graphrag 1.22.0): 이 코드로 만든 스키마로 가지치기를 돌리니 name이 없는 Card 노드가 MISSING_REQUIRED_PROPERTY로 지워졌음. 타입·속성마다 description을 적으면 추출 프롬프트에 들어가 LLM이 고르는 기준이 됨. 속성의 type(STRING·INTEGER 등)은 적을 수 있지만 지금 버전의 가지치기는 값 형식을 검사하지 않으므로 금액·날짜는 저장 전에 따로 변환함. 최대 홉 수·결과 상한·상충 관계 쌍은 검색과 검수에 쓰는 규칙이라 추출용 스키마에는 넣지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Neo4j 공식 관계형 → 그래프 변환 규칙과 같음: 테이블은 라벨, 행은 노드, 열은 속성, FK는 관계로 바꾸고 FK 열은 지움, 조인 테이블은 관계로 바꾸고 그 열은 관계 속성. 관계는 양 끝이 둘뿐이라 셋 이상을 묶으면 중간 노드로 풂. 조회 대상 질문을 먼저 하는 이유는 이체 기록 예: FK가 2개라 개수만 보면 관계로 흡수되어 이체 자체를 찾을 수 없게 됨. 업무 속성이 있는 연결 테이블은 관계 속성이 기본이고, 그 속성을 조회·집계 대상으로 삼으면 노드로 둠. 정형에서 나온 타입은 LLM 추출이 필요 없어 비용이 들지 않으므로 정형을 먼저 훑는 것이 이득임.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자동 추출 결과는 표본에 있는 것만 담는 후보임. 사람이 3단계로 줄이고 이름을 정한 뒤 GraphSchema로 고정해야 매 실행 결과가 같아짐. Native는 SchemaFromTextExtractor로 표본 글에서 후보 스키마를 받을 수 있고, 확정본을 schema로 넘기지 않으면 SimpleKGPipeline이 매번 자동 추출함. Neo4j LLM Knowledge Graph Builder는 'Get Schema From Text'로 스키마를 제안하고, MS GraphRAG는 graphrag prompt-tune의 --discover-entity-types(기본 켜짐)로 표본 청크에서 엔티티 타입을 만들어 프롬프트 파일로 저장함. LangChain·LlamaIndex는 자동 후보 단계 없이 사람이 허용 목록을 먼저 적음. 3단계 확정은 온톨로지 공학의 용어 정리, 역량 질문(답해야 할 질문이 범위를 정함)과 같은 생각이며, 3단계(원천 없는 타입 제외)는 적재를 전제한 가이드 고유 규칙임. 확정 뒤 역량 질문으로 되짚는 검증은 가이드에 없는 보완점임.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스키마 도출: 노드·관계 타입은 추출 전에 먼저 정함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스키마는 추출 결과가 아니라 추출기에 주는 허용 목록 — 먼저 정하지 않으면 같은 개념이 여러 라벨로 쪼개짐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00784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09321" y="1700784"/>
            <a:ext cx="17830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시 · 사전 1회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9321" y="2432304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509321" y="2432304"/>
            <a:ext cx="17830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인덱싱 시 · 매 실행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402129" y="170078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2402129" y="170078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원천 분석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720008" y="192938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3893744" y="170078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3893744" y="170078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도출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211623" y="192938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385359" y="170078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5385359" y="170078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 확정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(사람)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703238" y="192938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6876974" y="1700784"/>
            <a:ext cx="2782062" cy="457200"/>
          </a:xfrm>
          <a:prstGeom prst="roundRect">
            <a:avLst>
              <a:gd name="adj" fmla="val 16000"/>
            </a:avLst>
          </a:prstGeom>
          <a:solidFill>
            <a:srgbClr val="EEF3FA"/>
          </a:solidFill>
          <a:ln w="254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6876974" y="1700784"/>
            <a:ext cx="2782062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GraphSchema 파일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(버전 관리)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951644" y="1664208"/>
            <a:ext cx="418223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인덱싱은 읽기만 함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바뀌면 새 세대로 재인덱싱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402129" y="243230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2402129" y="243230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로드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720008" y="266090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3893744" y="243230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3893744" y="243230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정제 ·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가명처리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211623" y="266090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5385359" y="243230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5385359" y="243230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청킹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703238" y="266090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6876974" y="243230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6876974" y="243230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추출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194853" y="266090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8368589" y="243230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8368589" y="243230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가지치기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(Pruning)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9686468" y="266090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9860204" y="243230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9860204" y="243230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저장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11178083" y="266090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11351819" y="243230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 txBox="1"/>
          <p:nvPr/>
        </p:nvSpPr>
        <p:spPr>
          <a:xfrm>
            <a:off x="11351819" y="243230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병합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12669698" y="266090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12843434" y="243230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 txBox="1"/>
          <p:nvPr/>
        </p:nvSpPr>
        <p:spPr>
          <a:xfrm>
            <a:off x="12843434" y="243230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임베딩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(노드 설명)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7522197" y="2176272"/>
            <a:ext cx="0" cy="237744"/>
          </a:xfrm>
          <a:prstGeom prst="line">
            <a:avLst/>
          </a:prstGeom>
          <a:noFill/>
          <a:ln w="22225">
            <a:solidFill>
              <a:srgbClr val="2E74C6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2"/>
          <p:cNvSpPr/>
          <p:nvPr/>
        </p:nvSpPr>
        <p:spPr>
          <a:xfrm>
            <a:off x="9013812" y="2176272"/>
            <a:ext cx="0" cy="237744"/>
          </a:xfrm>
          <a:prstGeom prst="line">
            <a:avLst/>
          </a:prstGeom>
          <a:noFill/>
          <a:ln w="22225">
            <a:solidFill>
              <a:srgbClr val="2E74C6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 txBox="1"/>
          <p:nvPr/>
        </p:nvSpPr>
        <p:spPr>
          <a:xfrm>
            <a:off x="7595349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읽어 씀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509321" y="3017520"/>
            <a:ext cx="658368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 txBox="1"/>
          <p:nvPr/>
        </p:nvSpPr>
        <p:spPr>
          <a:xfrm>
            <a:off x="509321" y="3017520"/>
            <a:ext cx="65836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없이 추출하면 (실측)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509321" y="3438144"/>
            <a:ext cx="6583680" cy="3072384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 txBox="1"/>
          <p:nvPr/>
        </p:nvSpPr>
        <p:spPr>
          <a:xfrm>
            <a:off x="692201" y="3511296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gemma-4 12B · 청크 2개 · 스키마 없음 → 라벨 11종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692201" y="3895344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 txBox="1"/>
          <p:nvPr/>
        </p:nvSpPr>
        <p:spPr>
          <a:xfrm>
            <a:off x="692201" y="3895344"/>
            <a:ext cx="11430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1926641" y="3895344"/>
            <a:ext cx="1508760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 txBox="1"/>
          <p:nvPr/>
        </p:nvSpPr>
        <p:spPr>
          <a:xfrm>
            <a:off x="1926641" y="3895344"/>
            <a:ext cx="15087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CardProduct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3572561" y="389534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카드 하나가 라벨 2개로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692201" y="4297680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 txBox="1"/>
          <p:nvPr/>
        </p:nvSpPr>
        <p:spPr>
          <a:xfrm>
            <a:off x="692201" y="4297680"/>
            <a:ext cx="11430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Fee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1926641" y="4297680"/>
            <a:ext cx="1508760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 txBox="1"/>
          <p:nvPr/>
        </p:nvSpPr>
        <p:spPr>
          <a:xfrm>
            <a:off x="1926641" y="4297680"/>
            <a:ext cx="15087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AnnualFee</a:t>
            </a:r>
            <a:endParaRPr lang="en-US" sz="1400" dirty="0"/>
          </a:p>
        </p:txBody>
      </p:sp>
      <p:sp>
        <p:nvSpPr>
          <p:cNvPr id="60" name="Text 57"/>
          <p:cNvSpPr txBox="1"/>
          <p:nvPr/>
        </p:nvSpPr>
        <p:spPr>
          <a:xfrm>
            <a:off x="3572561" y="42976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요금도 라벨 2개로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692201" y="4718304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 txBox="1"/>
          <p:nvPr/>
        </p:nvSpPr>
        <p:spPr>
          <a:xfrm>
            <a:off x="692201" y="4718304"/>
            <a:ext cx="11430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Channel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1926641" y="4718304"/>
            <a:ext cx="109728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1"/>
          <p:cNvSpPr txBox="1"/>
          <p:nvPr/>
        </p:nvSpPr>
        <p:spPr>
          <a:xfrm>
            <a:off x="1926641" y="4718304"/>
            <a:ext cx="10972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Benefit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3115361" y="4718304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 txBox="1"/>
          <p:nvPr/>
        </p:nvSpPr>
        <p:spPr>
          <a:xfrm>
            <a:off x="3115361" y="4718304"/>
            <a:ext cx="11430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Guardian</a:t>
            </a:r>
            <a:endParaRPr lang="en-US" sz="1400" dirty="0"/>
          </a:p>
        </p:txBody>
      </p:sp>
      <p:sp>
        <p:nvSpPr>
          <p:cNvPr id="67" name="Shape 64"/>
          <p:cNvSpPr/>
          <p:nvPr/>
        </p:nvSpPr>
        <p:spPr>
          <a:xfrm>
            <a:off x="4349801" y="4718304"/>
            <a:ext cx="91440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5"/>
          <p:cNvSpPr txBox="1"/>
          <p:nvPr/>
        </p:nvSpPr>
        <p:spPr>
          <a:xfrm>
            <a:off x="4349801" y="4718304"/>
            <a:ext cx="9144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Grade</a:t>
            </a:r>
            <a:endParaRPr lang="en-US" sz="1400" dirty="0"/>
          </a:p>
        </p:txBody>
      </p:sp>
      <p:sp>
        <p:nvSpPr>
          <p:cNvPr id="69" name="Shape 66"/>
          <p:cNvSpPr/>
          <p:nvPr/>
        </p:nvSpPr>
        <p:spPr>
          <a:xfrm>
            <a:off x="5355641" y="4718304"/>
            <a:ext cx="82296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7"/>
          <p:cNvSpPr txBox="1"/>
          <p:nvPr/>
        </p:nvSpPr>
        <p:spPr>
          <a:xfrm>
            <a:off x="5355641" y="4718304"/>
            <a:ext cx="822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Date</a:t>
            </a:r>
            <a:endParaRPr lang="en-US" sz="1400" dirty="0"/>
          </a:p>
        </p:txBody>
      </p:sp>
      <p:sp>
        <p:nvSpPr>
          <p:cNvPr id="71" name="Shape 68"/>
          <p:cNvSpPr/>
          <p:nvPr/>
        </p:nvSpPr>
        <p:spPr>
          <a:xfrm>
            <a:off x="692201" y="5102352"/>
            <a:ext cx="86868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 txBox="1"/>
          <p:nvPr/>
        </p:nvSpPr>
        <p:spPr>
          <a:xfrm>
            <a:off x="692201" y="5102352"/>
            <a:ext cx="8686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Store</a:t>
            </a:r>
            <a:endParaRPr lang="en-US" sz="1400" dirty="0"/>
          </a:p>
        </p:txBody>
      </p:sp>
      <p:sp>
        <p:nvSpPr>
          <p:cNvPr id="73" name="Shape 70"/>
          <p:cNvSpPr/>
          <p:nvPr/>
        </p:nvSpPr>
        <p:spPr>
          <a:xfrm>
            <a:off x="1652321" y="5102352"/>
            <a:ext cx="224028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 txBox="1"/>
          <p:nvPr/>
        </p:nvSpPr>
        <p:spPr>
          <a:xfrm>
            <a:off x="1652321" y="5102352"/>
            <a:ext cx="22402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PerformanceCondition</a:t>
            </a:r>
            <a:endParaRPr lang="en-US" sz="1400" dirty="0"/>
          </a:p>
        </p:txBody>
      </p:sp>
      <p:sp>
        <p:nvSpPr>
          <p:cNvPr id="75" name="Shape 72"/>
          <p:cNvSpPr/>
          <p:nvPr/>
        </p:nvSpPr>
        <p:spPr>
          <a:xfrm>
            <a:off x="692201" y="5522976"/>
            <a:ext cx="6217920" cy="0"/>
          </a:xfrm>
          <a:prstGeom prst="line">
            <a:avLst/>
          </a:prstGeom>
          <a:noFill/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3"/>
          <p:cNvSpPr txBox="1"/>
          <p:nvPr/>
        </p:nvSpPr>
        <p:spPr>
          <a:xfrm>
            <a:off x="692201" y="556869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GraphRAG 도구 기본 노드/관계 타입이 없거나 너무 일반적임</a:t>
            </a:r>
            <a:endParaRPr lang="en-US" sz="1500" dirty="0"/>
          </a:p>
        </p:txBody>
      </p:sp>
      <p:sp>
        <p:nvSpPr>
          <p:cNvPr id="77" name="Text 74"/>
          <p:cNvSpPr txBox="1"/>
          <p:nvPr/>
        </p:nvSpPr>
        <p:spPr>
          <a:xfrm>
            <a:off x="692201" y="58521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Neo4j: 스키마를 안 주면 매번 입력 글에서 자동 추출(사람 검토 없음)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MS GraphRAG 기본 타입: organization · person · geo · event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LangChain+Neo4j: 허용 목록이 비면 아무 타입이나 만듦</a:t>
            </a:r>
            <a:endParaRPr lang="en-US" sz="1400" dirty="0"/>
          </a:p>
        </p:txBody>
      </p:sp>
      <p:sp>
        <p:nvSpPr>
          <p:cNvPr id="78" name="Shape 75"/>
          <p:cNvSpPr/>
          <p:nvPr/>
        </p:nvSpPr>
        <p:spPr>
          <a:xfrm>
            <a:off x="7321601" y="3017520"/>
            <a:ext cx="6812280" cy="365760"/>
          </a:xfrm>
          <a:prstGeom prst="roundRect">
            <a:avLst>
              <a:gd name="adj" fmla="val 125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6"/>
          <p:cNvSpPr txBox="1"/>
          <p:nvPr/>
        </p:nvSpPr>
        <p:spPr>
          <a:xfrm>
            <a:off x="7321601" y="3017520"/>
            <a:ext cx="68122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스키마를 주면 (Native GraphSchema)</a:t>
            </a:r>
            <a:endParaRPr lang="en-US" sz="1600" dirty="0"/>
          </a:p>
        </p:txBody>
      </p:sp>
      <p:sp>
        <p:nvSpPr>
          <p:cNvPr id="80" name="Shape 77"/>
          <p:cNvSpPr/>
          <p:nvPr/>
        </p:nvSpPr>
        <p:spPr>
          <a:xfrm>
            <a:off x="7321601" y="3438144"/>
            <a:ext cx="6812280" cy="1700784"/>
          </a:xfrm>
          <a:prstGeom prst="roundRect">
            <a:avLst>
              <a:gd name="adj" fmla="val 322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8"/>
          <p:cNvSpPr txBox="1"/>
          <p:nvPr/>
        </p:nvSpPr>
        <p:spPr>
          <a:xfrm>
            <a:off x="7431329" y="3511296"/>
            <a:ext cx="6592824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schema = GraphSchema.model_validate({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"node_types": ["Card", "Benefit", "Fee"],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"relationship_types": ["HAS_BENEFIT", "HAS_FEE"],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"patterns": [("Card", "HAS_BENEFIT", "Benefit"),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("Card", "HAS_FEE", "Fee")]})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 = await extractor.run(chunks=chunks, schema=schema)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 = await GraphPruning().run(graph, schema)</a:t>
            </a:r>
            <a:endParaRPr lang="en-US" sz="1400" dirty="0"/>
          </a:p>
        </p:txBody>
      </p:sp>
      <p:sp>
        <p:nvSpPr>
          <p:cNvPr id="82" name="Shape 79"/>
          <p:cNvSpPr/>
          <p:nvPr/>
        </p:nvSpPr>
        <p:spPr>
          <a:xfrm>
            <a:off x="7321601" y="5248656"/>
            <a:ext cx="3314700" cy="9144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0"/>
          <p:cNvSpPr txBox="1"/>
          <p:nvPr/>
        </p:nvSpPr>
        <p:spPr>
          <a:xfrm>
            <a:off x="7458761" y="5285232"/>
            <a:ext cx="30403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추출 안내</a:t>
            </a:r>
            <a:endParaRPr lang="en-US" sz="1600" dirty="0"/>
          </a:p>
        </p:txBody>
      </p:sp>
      <p:sp>
        <p:nvSpPr>
          <p:cNvPr id="84" name="Text 81"/>
          <p:cNvSpPr txBox="1"/>
          <p:nvPr/>
        </p:nvSpPr>
        <p:spPr>
          <a:xfrm>
            <a:off x="7458761" y="5614416"/>
            <a:ext cx="30403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 목록이 추출 프롬프트에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들어가 LLM이 그 안에서 고름</a:t>
            </a:r>
            <a:endParaRPr lang="en-US" sz="1400" dirty="0"/>
          </a:p>
        </p:txBody>
      </p:sp>
      <p:sp>
        <p:nvSpPr>
          <p:cNvPr id="85" name="Shape 82"/>
          <p:cNvSpPr/>
          <p:nvPr/>
        </p:nvSpPr>
        <p:spPr>
          <a:xfrm>
            <a:off x="10819181" y="5248656"/>
            <a:ext cx="3314700" cy="9144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3"/>
          <p:cNvSpPr txBox="1"/>
          <p:nvPr/>
        </p:nvSpPr>
        <p:spPr>
          <a:xfrm>
            <a:off x="10956341" y="5285232"/>
            <a:ext cx="30403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가지치기</a:t>
            </a:r>
            <a:endParaRPr lang="en-US" sz="1600" dirty="0"/>
          </a:p>
        </p:txBody>
      </p:sp>
      <p:sp>
        <p:nvSpPr>
          <p:cNvPr id="87" name="Text 84"/>
          <p:cNvSpPr txBox="1"/>
          <p:nvPr/>
        </p:nvSpPr>
        <p:spPr>
          <a:xfrm>
            <a:off x="10956341" y="5614416"/>
            <a:ext cx="30403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 밖 노드·관계를 지우고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지운 개수를 통계로 남김</a:t>
            </a:r>
            <a:endParaRPr lang="en-US" sz="1400" dirty="0"/>
          </a:p>
        </p:txBody>
      </p:sp>
      <p:sp>
        <p:nvSpPr>
          <p:cNvPr id="88" name="Text 85"/>
          <p:cNvSpPr txBox="1"/>
          <p:nvPr/>
        </p:nvSpPr>
        <p:spPr>
          <a:xfrm>
            <a:off x="7321601" y="621792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확인: 노드 타입을 주면 목록 밖 타입은 기본 불허</a:t>
            </a:r>
            <a:endParaRPr lang="en-US" sz="1400" dirty="0"/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8BC24497-9B99-563E-60CF-F555E82682DA}"/>
              </a:ext>
            </a:extLst>
          </p:cNvPr>
          <p:cNvGrpSpPr/>
          <p:nvPr/>
        </p:nvGrpSpPr>
        <p:grpSpPr>
          <a:xfrm>
            <a:off x="509321" y="6601968"/>
            <a:ext cx="13624560" cy="804672"/>
            <a:chOff x="509321" y="6601968"/>
            <a:chExt cx="13624560" cy="621792"/>
          </a:xfrm>
        </p:grpSpPr>
        <p:sp>
          <p:nvSpPr>
            <p:cNvPr id="89" name="Shape 86"/>
            <p:cNvSpPr/>
            <p:nvPr/>
          </p:nvSpPr>
          <p:spPr>
            <a:xfrm>
              <a:off x="509321" y="6601968"/>
              <a:ext cx="13624560" cy="621792"/>
            </a:xfrm>
            <a:prstGeom prst="roundRect">
              <a:avLst>
                <a:gd name="adj" fmla="val 11765"/>
              </a:avLst>
            </a:prstGeom>
            <a:solidFill>
              <a:srgbClr val="EEF3FA"/>
            </a:solidFill>
            <a:ln w="19050">
              <a:solidFill>
                <a:srgbClr val="2E74C6"/>
              </a:solidFill>
              <a:prstDash val="solid"/>
            </a:ln>
          </p:spPr>
          <p:txBody>
            <a:bodyPr/>
            <a:lstStyle/>
            <a:p>
              <a:endParaRPr lang="ko-KR" altLang="en-US" sz="2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0" name="Shape 87"/>
            <p:cNvSpPr/>
            <p:nvPr/>
          </p:nvSpPr>
          <p:spPr>
            <a:xfrm>
              <a:off x="509321" y="6601968"/>
              <a:ext cx="82296" cy="621792"/>
            </a:xfrm>
            <a:prstGeom prst="rect">
              <a:avLst/>
            </a:prstGeom>
            <a:solidFill>
              <a:srgbClr val="2E74C6"/>
            </a:solidFill>
            <a:ln/>
          </p:spPr>
          <p:txBody>
            <a:bodyPr/>
            <a:lstStyle/>
            <a:p>
              <a:endParaRPr lang="ko-KR" altLang="en-US" sz="2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1" name="Text 88"/>
            <p:cNvSpPr txBox="1"/>
            <p:nvPr/>
          </p:nvSpPr>
          <p:spPr>
            <a:xfrm>
              <a:off x="737921" y="6601968"/>
              <a:ext cx="1325880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E2A5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결론: 스키마는 인덱싱 전 설계 단계에서 확정해 파일로 고정, 인덱싱은 읽어 </a:t>
              </a:r>
              <a:r>
                <a:rPr lang="en-US" sz="1600" b="1" dirty="0" err="1">
                  <a:solidFill>
                    <a:srgbClr val="1E2A5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쓰기만</a:t>
              </a:r>
              <a:r>
                <a:rPr lang="en-US" sz="1600" b="1" dirty="0">
                  <a:solidFill>
                    <a:srgbClr val="1E2A5C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함.</a:t>
              </a:r>
            </a:p>
            <a:p>
              <a:pPr marL="0" indent="0" algn="l">
                <a:buNone/>
              </a:pPr>
              <a:r>
                <a:rPr lang="en-US" b="1" dirty="0" err="1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정형</a:t>
              </a:r>
              <a:r>
                <a:rPr lang="en-US" b="1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테이블은 </a:t>
              </a:r>
              <a:r>
                <a:rPr lang="en-US" b="1" dirty="0" err="1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변환</a:t>
              </a:r>
              <a:r>
                <a:rPr lang="en-US" b="1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b="1" dirty="0" err="1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규칙으로</a:t>
              </a:r>
              <a:r>
                <a:rPr lang="en-US" b="1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문서는 표본 → 후보 → </a:t>
              </a:r>
              <a:r>
                <a:rPr lang="en-US" b="1" dirty="0" err="1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사람</a:t>
              </a:r>
              <a:r>
                <a:rPr lang="en-US" b="1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b="1" dirty="0" err="1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확정으로</a:t>
              </a:r>
              <a:r>
                <a:rPr lang="en-US" b="1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b="1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스키마 설계</a:t>
              </a:r>
              <a:endParaRPr lang="en-US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</a:t>
            </a:r>
            <a:r>
              <a:rPr lang="ko-KR" alt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</a:t>
            </a:r>
            <a:r>
              <a:rPr lang="ko-KR" altLang="en-US" dirty="0"/>
              <a:t>도출</a:t>
            </a:r>
            <a:r>
              <a:rPr lang="en-US" altLang="ko-KR" dirty="0"/>
              <a:t>: </a:t>
            </a:r>
            <a:r>
              <a:rPr lang="en-US" sz="32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스키마에</a:t>
            </a: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정의하는 7가지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노드·관계 타입과 각각의 속성, 연결 패턴이 뼈대 — 제약과 허용 범위로 무엇을 지킬지 정함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09321" y="1700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뼈대 ① ~ ⑤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338121" y="17007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정의할 것 · GraphSchema 칸 · 카드 예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9321" y="2011680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0761" y="210312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600761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39673" y="2011680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타입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200961" y="201168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node_types[].label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35601" y="201168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Card, Benefit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9321" y="2587752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00761" y="267919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600761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39673" y="2587752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속성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2200961" y="258775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node_types[]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.properties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035601" y="258775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{name, annual_fee}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09321" y="3163824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600761" y="325526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600761" y="3255264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039673" y="3163824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타입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2200961" y="3163824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relationship_types[]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.label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035601" y="3163824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HAS_BENEFIT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9321" y="3739896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600761" y="383133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600761" y="3831336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039673" y="3739896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속성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2200961" y="3739896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relationship_types[]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.properties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035601" y="3739896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HAS_BENEFIT {valid_until}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09321" y="4315968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600761" y="440740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600761" y="4407408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1039673" y="4315968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패턴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2200961" y="431596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patterns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(출발, 관계, 도착)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5035601" y="4315968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(Card, HAS_BENEFIT,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Benefit)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09321" y="5166360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600761" y="525780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 txBox="1"/>
          <p:nvPr/>
        </p:nvSpPr>
        <p:spPr>
          <a:xfrm>
            <a:off x="600761" y="525780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1039673" y="5166360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제약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2200961" y="516636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constraints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UNIQUENESS · EXISTENCE · KEY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5035601" y="516636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Card.name = KEY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509321" y="5742432"/>
            <a:ext cx="6675120" cy="676656"/>
          </a:xfrm>
          <a:prstGeom prst="roundRect">
            <a:avLst>
              <a:gd name="adj" fmla="val 8108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1"/>
          <p:cNvSpPr/>
          <p:nvPr/>
        </p:nvSpPr>
        <p:spPr>
          <a:xfrm>
            <a:off x="600761" y="590702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 txBox="1"/>
          <p:nvPr/>
        </p:nvSpPr>
        <p:spPr>
          <a:xfrm>
            <a:off x="600761" y="5907024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</a:t>
            </a:r>
            <a:endParaRPr lang="en-US" sz="1600" dirty="0"/>
          </a:p>
        </p:txBody>
      </p:sp>
      <p:sp>
        <p:nvSpPr>
          <p:cNvPr id="46" name="Text 43"/>
          <p:cNvSpPr txBox="1"/>
          <p:nvPr/>
        </p:nvSpPr>
        <p:spPr>
          <a:xfrm>
            <a:off x="1039673" y="5742432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 범위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2200961" y="5742432"/>
            <a:ext cx="2788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additional_node_types,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additional_relationship_types,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additional_patterns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5035601" y="5742432"/>
            <a:ext cx="2057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①~⑤에 지정된 목록 밖을 허용할지 여부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509321" y="4892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지킬 규칙 ⑥ ⑦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7413041" y="1737360"/>
            <a:ext cx="6720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8"/>
          <p:cNvSpPr/>
          <p:nvPr/>
        </p:nvSpPr>
        <p:spPr>
          <a:xfrm>
            <a:off x="7595921" y="1883664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EEF3FA"/>
          </a:solidFill>
          <a:ln w="19050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9"/>
          <p:cNvSpPr/>
          <p:nvPr/>
        </p:nvSpPr>
        <p:spPr>
          <a:xfrm>
            <a:off x="7687361" y="1956816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 txBox="1"/>
          <p:nvPr/>
        </p:nvSpPr>
        <p:spPr>
          <a:xfrm>
            <a:off x="7687361" y="1956816"/>
            <a:ext cx="1965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:Card</a:t>
            </a:r>
            <a:endParaRPr lang="en-US" sz="1500" dirty="0"/>
          </a:p>
        </p:txBody>
      </p:sp>
      <p:sp>
        <p:nvSpPr>
          <p:cNvPr id="54" name="Text 51"/>
          <p:cNvSpPr txBox="1"/>
          <p:nvPr/>
        </p:nvSpPr>
        <p:spPr>
          <a:xfrm>
            <a:off x="7733081" y="2322576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 (키)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annual_fee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11802161" y="1883664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EEF3FA"/>
          </a:solidFill>
          <a:ln w="19050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3"/>
          <p:cNvSpPr/>
          <p:nvPr/>
        </p:nvSpPr>
        <p:spPr>
          <a:xfrm>
            <a:off x="11893601" y="1956816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 txBox="1"/>
          <p:nvPr/>
        </p:nvSpPr>
        <p:spPr>
          <a:xfrm>
            <a:off x="11893601" y="1956816"/>
            <a:ext cx="1965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:Benefit</a:t>
            </a:r>
            <a:endParaRPr lang="en-US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11939321" y="2322576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rate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9781337" y="2423160"/>
            <a:ext cx="1984248" cy="0"/>
          </a:xfrm>
          <a:prstGeom prst="line">
            <a:avLst/>
          </a:prstGeom>
          <a:noFill/>
          <a:ln w="25400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7"/>
          <p:cNvSpPr txBox="1"/>
          <p:nvPr/>
        </p:nvSpPr>
        <p:spPr>
          <a:xfrm>
            <a:off x="9744761" y="20756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:HAS_BENEFIT</a:t>
            </a:r>
            <a:endParaRPr lang="en-US" sz="1500" dirty="0"/>
          </a:p>
        </p:txBody>
      </p:sp>
      <p:sp>
        <p:nvSpPr>
          <p:cNvPr id="61" name="Text 58"/>
          <p:cNvSpPr txBox="1"/>
          <p:nvPr/>
        </p:nvSpPr>
        <p:spPr>
          <a:xfrm>
            <a:off x="9744761" y="24780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{valid_until}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9470441" y="1792224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 txBox="1"/>
          <p:nvPr/>
        </p:nvSpPr>
        <p:spPr>
          <a:xfrm>
            <a:off x="9470441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>
            <a:off x="9333281" y="2596896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2"/>
          <p:cNvSpPr txBox="1"/>
          <p:nvPr/>
        </p:nvSpPr>
        <p:spPr>
          <a:xfrm>
            <a:off x="9333281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8784641" y="2313432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 txBox="1"/>
          <p:nvPr/>
        </p:nvSpPr>
        <p:spPr>
          <a:xfrm>
            <a:off x="8784641" y="2313432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</a:t>
            </a:r>
            <a:endParaRPr lang="en-US" sz="1400" dirty="0"/>
          </a:p>
        </p:txBody>
      </p:sp>
      <p:sp>
        <p:nvSpPr>
          <p:cNvPr id="68" name="Shape 65"/>
          <p:cNvSpPr/>
          <p:nvPr/>
        </p:nvSpPr>
        <p:spPr>
          <a:xfrm>
            <a:off x="10618013" y="1764792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 txBox="1"/>
          <p:nvPr/>
        </p:nvSpPr>
        <p:spPr>
          <a:xfrm>
            <a:off x="10618013" y="1764792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400" dirty="0"/>
          </a:p>
        </p:txBody>
      </p:sp>
      <p:sp>
        <p:nvSpPr>
          <p:cNvPr id="70" name="Shape 67"/>
          <p:cNvSpPr/>
          <p:nvPr/>
        </p:nvSpPr>
        <p:spPr>
          <a:xfrm>
            <a:off x="11459261" y="2459736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 txBox="1"/>
          <p:nvPr/>
        </p:nvSpPr>
        <p:spPr>
          <a:xfrm>
            <a:off x="11459261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1400" dirty="0"/>
          </a:p>
        </p:txBody>
      </p:sp>
      <p:sp>
        <p:nvSpPr>
          <p:cNvPr id="72" name="Shape 69"/>
          <p:cNvSpPr/>
          <p:nvPr/>
        </p:nvSpPr>
        <p:spPr>
          <a:xfrm>
            <a:off x="10618013" y="2752344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0"/>
          <p:cNvSpPr txBox="1"/>
          <p:nvPr/>
        </p:nvSpPr>
        <p:spPr>
          <a:xfrm>
            <a:off x="10618013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</a:t>
            </a:r>
            <a:endParaRPr lang="en-US" sz="1400" dirty="0"/>
          </a:p>
        </p:txBody>
      </p:sp>
      <p:sp>
        <p:nvSpPr>
          <p:cNvPr id="74" name="Shape 71"/>
          <p:cNvSpPr/>
          <p:nvPr/>
        </p:nvSpPr>
        <p:spPr>
          <a:xfrm>
            <a:off x="7413041" y="3493008"/>
            <a:ext cx="6720840" cy="2907792"/>
          </a:xfrm>
          <a:prstGeom prst="roundRect">
            <a:avLst>
              <a:gd name="adj" fmla="val 1887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2"/>
          <p:cNvSpPr txBox="1"/>
          <p:nvPr/>
        </p:nvSpPr>
        <p:spPr>
          <a:xfrm>
            <a:off x="7522769" y="3566160"/>
            <a:ext cx="6501384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schema = GraphSchema.model_validate({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"node_types": [                              # ① ②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{"label": "Card", "properties": [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{"name": "name", "type": "STRING"},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{"name": "annual_fee", "type": "INTEGER"}]},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{"label": "Benefit", "properties": [...]}],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"relationship_types": [{"label": "HAS_BENEFIT",   # ③ ④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"properties": [{"name": "valid_until", "type": "DATE"}]}],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"patterns": [("Card", "HAS_BENEFIT", "Benefit")],   # ⑤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"constraints": [{"type": "KEY", "node_type": "Card",  # ⑥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  "property_names": ["name"]}],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"additional_node_types": False})                # ⑦</a:t>
            </a:r>
            <a:endParaRPr lang="en-US" sz="1400" dirty="0"/>
          </a:p>
        </p:txBody>
      </p:sp>
      <p:sp>
        <p:nvSpPr>
          <p:cNvPr id="76" name="Text 73"/>
          <p:cNvSpPr txBox="1"/>
          <p:nvPr/>
        </p:nvSpPr>
        <p:spPr>
          <a:xfrm>
            <a:off x="7413041" y="3182112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7칸을 채운 Native GraphSchema — 실행 확인: name 없는 Card는 가지치기가 지움</a:t>
            </a:r>
            <a:endParaRPr lang="en-US" sz="1400" dirty="0"/>
          </a:p>
        </p:txBody>
      </p:sp>
      <p:sp>
        <p:nvSpPr>
          <p:cNvPr id="77" name="Shape 74"/>
          <p:cNvSpPr/>
          <p:nvPr/>
        </p:nvSpPr>
        <p:spPr>
          <a:xfrm>
            <a:off x="509321" y="6492240"/>
            <a:ext cx="13624560" cy="73152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5"/>
          <p:cNvSpPr/>
          <p:nvPr/>
        </p:nvSpPr>
        <p:spPr>
          <a:xfrm>
            <a:off x="509321" y="6492240"/>
            <a:ext cx="82296" cy="731520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6"/>
          <p:cNvSpPr txBox="1"/>
          <p:nvPr/>
        </p:nvSpPr>
        <p:spPr>
          <a:xfrm>
            <a:off x="737921" y="6492240"/>
            <a:ext cx="1325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최소한 = ① · ③ · ⑤ + ⑥ 고유키, 속성은 질문에 쓰는 것만 · 타입마다 description을 적으면 LLM이 고르는 기준이 됨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제약: 지정한 속성에 대해 UNIQUENESS는 고유 강제, EXISTENCE는 존재 강제, KEY는 고유 + 존재를 강제함. UNIQUENESS는 지정한 속성이 비어 있어도 허용하나 KEY는 불허함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</a:t>
            </a:r>
            <a:r>
              <a:rPr lang="ko-KR" alt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도출</a:t>
            </a:r>
            <a:r>
              <a:rPr lang="en-US" altLang="ko-KR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</a:t>
            </a:r>
            <a:r>
              <a:rPr lang="en-US" sz="32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정형</a:t>
            </a: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테이블 → 노드·관계 타입: 변환 규칙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모델 없이 규칙으로 바꿈 — 단, FK를 세기 전에 '그 표 자체가 조회 대상인가'부터 물음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521001" y="1755648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2521001" y="1755648"/>
            <a:ext cx="20116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 1개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526841" y="2157984"/>
            <a:ext cx="0" cy="18288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09321" y="2359152"/>
            <a:ext cx="6035040" cy="502920"/>
          </a:xfrm>
          <a:prstGeom prst="roundRect">
            <a:avLst>
              <a:gd name="adj" fmla="val 14545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09321" y="2359152"/>
            <a:ext cx="60350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Q1. 그 표 자체가 조회 대상인 엔티티인가?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835201" y="2880360"/>
            <a:ext cx="0" cy="32004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908353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989881" y="2880360"/>
            <a:ext cx="0" cy="32004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063033" y="28895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아니오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09321" y="3218688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646481" y="3218688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타입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 = 노드 속성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FK = 관계 타입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FK 열은 바꾼 뒤 지움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09321" y="4709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FK 0 · 1개인 보통 테이블은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대부분 여기로 옴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435401" y="3218688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3435401" y="3218688"/>
            <a:ext cx="3108960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Q2. FK 몇 개?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435401" y="3730752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3545129" y="37307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 · 업무 열 없음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타입 1개로 흡수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435401" y="4334256"/>
            <a:ext cx="31089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3545129" y="433425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조인 테이블</a:t>
            </a:r>
            <a:r>
              <a:rPr lang="en-US" altLang="ko-KR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</a:t>
            </a: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 + 업무 속성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타입 + 관계 속성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(조회·집계하면 노드)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435401" y="5157216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3545129" y="5157216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 이상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타입(중간 노드)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9321" y="5797296"/>
            <a:ext cx="6035040" cy="585216"/>
          </a:xfrm>
          <a:prstGeom prst="roundRect">
            <a:avLst>
              <a:gd name="adj" fmla="val 12500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46481" y="5797296"/>
            <a:ext cx="576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Q1이 먼저? FK 수만 보면 이체 기록(FK 2개)이 관계로 흡수돼 이체 자체를 찾을 수 없음 (예 4)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818681" y="1755648"/>
            <a:ext cx="7315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6910121" y="184708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6910121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7321601" y="1865376"/>
            <a:ext cx="2331720" cy="859536"/>
          </a:xfrm>
          <a:prstGeom prst="roundRect">
            <a:avLst>
              <a:gd name="adj" fmla="val 638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7367321" y="1865376"/>
            <a:ext cx="224028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 · 재료 ·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회원재료제외(회원FK, 재료FK)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9699041" y="2295144"/>
            <a:ext cx="22860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10019081" y="2084832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10019081" y="2084832"/>
            <a:ext cx="914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:회원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13128041" y="2084832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13128041" y="2084832"/>
            <a:ext cx="914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:재료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10960913" y="2276856"/>
            <a:ext cx="213969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10842041" y="19751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:제외함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9973361" y="24871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 3 → 노드 타입 2 + 관계 타입 1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6818681" y="2907792"/>
            <a:ext cx="7315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6910121" y="299923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 txBox="1"/>
          <p:nvPr/>
        </p:nvSpPr>
        <p:spPr>
          <a:xfrm>
            <a:off x="6910121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7321601" y="3017520"/>
            <a:ext cx="2331720" cy="859536"/>
          </a:xfrm>
          <a:prstGeom prst="roundRect">
            <a:avLst>
              <a:gd name="adj" fmla="val 638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 txBox="1"/>
          <p:nvPr/>
        </p:nvSpPr>
        <p:spPr>
          <a:xfrm>
            <a:off x="7367321" y="3017520"/>
            <a:ext cx="224028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주문상품(주문FK, 상품FK,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수량, 단가)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9699041" y="3447288"/>
            <a:ext cx="22860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10019081" y="3236976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 txBox="1"/>
          <p:nvPr/>
        </p:nvSpPr>
        <p:spPr>
          <a:xfrm>
            <a:off x="10019081" y="3236976"/>
            <a:ext cx="914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:주문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13128041" y="3236976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 txBox="1"/>
          <p:nvPr/>
        </p:nvSpPr>
        <p:spPr>
          <a:xfrm>
            <a:off x="13128041" y="3236976"/>
            <a:ext cx="914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:상품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10960913" y="3429000"/>
            <a:ext cx="213969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 txBox="1"/>
          <p:nvPr/>
        </p:nvSpPr>
        <p:spPr>
          <a:xfrm>
            <a:off x="10842041" y="3127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:포함 {수량, 단가}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9973361" y="36393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상품별 판매 집계가 잦으면 :주문상품 노드로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6818681" y="4059936"/>
            <a:ext cx="7315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1"/>
          <p:cNvSpPr/>
          <p:nvPr/>
        </p:nvSpPr>
        <p:spPr>
          <a:xfrm>
            <a:off x="6910121" y="415137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2"/>
          <p:cNvSpPr txBox="1"/>
          <p:nvPr/>
        </p:nvSpPr>
        <p:spPr>
          <a:xfrm>
            <a:off x="6910121" y="4151376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7321601" y="4169664"/>
            <a:ext cx="2331720" cy="859536"/>
          </a:xfrm>
          <a:prstGeom prst="roundRect">
            <a:avLst>
              <a:gd name="adj" fmla="val 638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 txBox="1"/>
          <p:nvPr/>
        </p:nvSpPr>
        <p:spPr>
          <a:xfrm>
            <a:off x="7367321" y="4169664"/>
            <a:ext cx="224028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수강신청(학생FK, 과목FK,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학기FK)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9699041" y="4599432"/>
            <a:ext cx="22860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6"/>
          <p:cNvSpPr/>
          <p:nvPr/>
        </p:nvSpPr>
        <p:spPr>
          <a:xfrm>
            <a:off x="10019081" y="4389120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7"/>
          <p:cNvSpPr txBox="1"/>
          <p:nvPr/>
        </p:nvSpPr>
        <p:spPr>
          <a:xfrm>
            <a:off x="10019081" y="4389120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:학생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11550701" y="4389120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 txBox="1"/>
          <p:nvPr/>
        </p:nvSpPr>
        <p:spPr>
          <a:xfrm>
            <a:off x="11550701" y="4389120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:수강신청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13082321" y="4389120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1"/>
          <p:cNvSpPr txBox="1"/>
          <p:nvPr/>
        </p:nvSpPr>
        <p:spPr>
          <a:xfrm>
            <a:off x="13082321" y="4389120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:과목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11006633" y="4581144"/>
            <a:ext cx="51663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 txBox="1"/>
          <p:nvPr/>
        </p:nvSpPr>
        <p:spPr>
          <a:xfrm>
            <a:off x="10887761" y="4279392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:신청</a:t>
            </a:r>
            <a:endParaRPr lang="en-US" sz="1400" dirty="0"/>
          </a:p>
        </p:txBody>
      </p:sp>
      <p:sp>
        <p:nvSpPr>
          <p:cNvPr id="67" name="Shape 64"/>
          <p:cNvSpPr/>
          <p:nvPr/>
        </p:nvSpPr>
        <p:spPr>
          <a:xfrm>
            <a:off x="12538253" y="4581144"/>
            <a:ext cx="51663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5"/>
          <p:cNvSpPr txBox="1"/>
          <p:nvPr/>
        </p:nvSpPr>
        <p:spPr>
          <a:xfrm>
            <a:off x="12419381" y="4279392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:대상</a:t>
            </a:r>
            <a:endParaRPr lang="en-US" sz="1400" dirty="0"/>
          </a:p>
        </p:txBody>
      </p:sp>
      <p:sp>
        <p:nvSpPr>
          <p:cNvPr id="69" name="Text 66"/>
          <p:cNvSpPr txBox="1"/>
          <p:nvPr/>
        </p:nvSpPr>
        <p:spPr>
          <a:xfrm>
            <a:off x="9973361" y="47914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관계는 양 끝이 둘뿐 → 중간 노드(학기도 같은 방식), 홉 +1</a:t>
            </a:r>
            <a:endParaRPr lang="en-US" sz="1400" dirty="0"/>
          </a:p>
        </p:txBody>
      </p:sp>
      <p:sp>
        <p:nvSpPr>
          <p:cNvPr id="70" name="Shape 67"/>
          <p:cNvSpPr/>
          <p:nvPr/>
        </p:nvSpPr>
        <p:spPr>
          <a:xfrm>
            <a:off x="6818681" y="5212080"/>
            <a:ext cx="7315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8"/>
          <p:cNvSpPr/>
          <p:nvPr/>
        </p:nvSpPr>
        <p:spPr>
          <a:xfrm>
            <a:off x="6910121" y="530352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 txBox="1"/>
          <p:nvPr/>
        </p:nvSpPr>
        <p:spPr>
          <a:xfrm>
            <a:off x="6910121" y="5303520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73" name="Shape 70"/>
          <p:cNvSpPr/>
          <p:nvPr/>
        </p:nvSpPr>
        <p:spPr>
          <a:xfrm>
            <a:off x="7321601" y="5321808"/>
            <a:ext cx="2331720" cy="859536"/>
          </a:xfrm>
          <a:prstGeom prst="roundRect">
            <a:avLst>
              <a:gd name="adj" fmla="val 638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 txBox="1"/>
          <p:nvPr/>
        </p:nvSpPr>
        <p:spPr>
          <a:xfrm>
            <a:off x="7367321" y="5321808"/>
            <a:ext cx="224028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이체(출금계좌FK, 입금계좌FK,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금액, 일시)</a:t>
            </a:r>
            <a:endParaRPr lang="en-US" sz="1400" dirty="0"/>
          </a:p>
        </p:txBody>
      </p:sp>
      <p:sp>
        <p:nvSpPr>
          <p:cNvPr id="75" name="Shape 72"/>
          <p:cNvSpPr/>
          <p:nvPr/>
        </p:nvSpPr>
        <p:spPr>
          <a:xfrm>
            <a:off x="9699041" y="5751576"/>
            <a:ext cx="22860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3"/>
          <p:cNvSpPr/>
          <p:nvPr/>
        </p:nvSpPr>
        <p:spPr>
          <a:xfrm>
            <a:off x="10019081" y="5541264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4"/>
          <p:cNvSpPr txBox="1"/>
          <p:nvPr/>
        </p:nvSpPr>
        <p:spPr>
          <a:xfrm>
            <a:off x="10019081" y="5541264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:계좌</a:t>
            </a:r>
            <a:endParaRPr lang="en-US" sz="1400" dirty="0"/>
          </a:p>
        </p:txBody>
      </p:sp>
      <p:sp>
        <p:nvSpPr>
          <p:cNvPr id="78" name="Shape 75"/>
          <p:cNvSpPr/>
          <p:nvPr/>
        </p:nvSpPr>
        <p:spPr>
          <a:xfrm>
            <a:off x="11550701" y="5541264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6"/>
          <p:cNvSpPr txBox="1"/>
          <p:nvPr/>
        </p:nvSpPr>
        <p:spPr>
          <a:xfrm>
            <a:off x="11550701" y="5541264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:이체</a:t>
            </a:r>
            <a:endParaRPr lang="en-US" sz="1400" dirty="0"/>
          </a:p>
        </p:txBody>
      </p:sp>
      <p:sp>
        <p:nvSpPr>
          <p:cNvPr id="80" name="Shape 77"/>
          <p:cNvSpPr/>
          <p:nvPr/>
        </p:nvSpPr>
        <p:spPr>
          <a:xfrm>
            <a:off x="13082321" y="5541264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8"/>
          <p:cNvSpPr txBox="1"/>
          <p:nvPr/>
        </p:nvSpPr>
        <p:spPr>
          <a:xfrm>
            <a:off x="13082321" y="5541264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:계좌</a:t>
            </a:r>
            <a:endParaRPr lang="en-US" sz="1400" dirty="0"/>
          </a:p>
        </p:txBody>
      </p:sp>
      <p:sp>
        <p:nvSpPr>
          <p:cNvPr id="82" name="Shape 79"/>
          <p:cNvSpPr/>
          <p:nvPr/>
        </p:nvSpPr>
        <p:spPr>
          <a:xfrm>
            <a:off x="11006633" y="5733288"/>
            <a:ext cx="51663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0"/>
          <p:cNvSpPr txBox="1"/>
          <p:nvPr/>
        </p:nvSpPr>
        <p:spPr>
          <a:xfrm>
            <a:off x="10887761" y="5431536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:출금</a:t>
            </a:r>
            <a:endParaRPr lang="en-US" sz="1400" dirty="0"/>
          </a:p>
        </p:txBody>
      </p:sp>
      <p:sp>
        <p:nvSpPr>
          <p:cNvPr id="84" name="Shape 81"/>
          <p:cNvSpPr/>
          <p:nvPr/>
        </p:nvSpPr>
        <p:spPr>
          <a:xfrm>
            <a:off x="12538253" y="5733288"/>
            <a:ext cx="51663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2"/>
          <p:cNvSpPr txBox="1"/>
          <p:nvPr/>
        </p:nvSpPr>
        <p:spPr>
          <a:xfrm>
            <a:off x="12419381" y="5431536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:입금</a:t>
            </a:r>
            <a:endParaRPr lang="en-US" sz="1400" dirty="0"/>
          </a:p>
        </p:txBody>
      </p:sp>
      <p:sp>
        <p:nvSpPr>
          <p:cNvPr id="86" name="Text 83"/>
          <p:cNvSpPr txBox="1"/>
          <p:nvPr/>
        </p:nvSpPr>
        <p:spPr>
          <a:xfrm>
            <a:off x="9973361" y="5943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FK 2개지만 조회 대상 → 노드</a:t>
            </a:r>
            <a:endParaRPr lang="en-US" sz="1400" dirty="0"/>
          </a:p>
        </p:txBody>
      </p:sp>
      <p:sp>
        <p:nvSpPr>
          <p:cNvPr id="87" name="Shape 84"/>
          <p:cNvSpPr/>
          <p:nvPr/>
        </p:nvSpPr>
        <p:spPr>
          <a:xfrm>
            <a:off x="509321" y="6492240"/>
            <a:ext cx="13624560" cy="73152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5"/>
          <p:cNvSpPr/>
          <p:nvPr/>
        </p:nvSpPr>
        <p:spPr>
          <a:xfrm>
            <a:off x="509321" y="6492240"/>
            <a:ext cx="82296" cy="731520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6"/>
          <p:cNvSpPr txBox="1"/>
          <p:nvPr/>
        </p:nvSpPr>
        <p:spPr>
          <a:xfrm>
            <a:off x="737921" y="6492240"/>
            <a:ext cx="1325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 공식 변환 규칙과 같음: 테이블 → 라벨 · FK → 관계 · 조인 테이블 → 관계 + 속성 · 셋 이상 → 중간 노드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이름에 공백 없음(Neo4j 권고: 라벨 PascalCase · 관계 대문자_밑줄) · 정형에서 나온 타입은 LLM 추출 비용이 들지 않음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dirty="0"/>
              <a:t>1. </a:t>
            </a:r>
            <a:r>
              <a:rPr lang="ko-KR" altLang="en-US" dirty="0"/>
              <a:t>스키마 도출</a:t>
            </a:r>
            <a:r>
              <a:rPr lang="en-US" altLang="ko-KR" dirty="0"/>
              <a:t>: </a:t>
            </a:r>
            <a:r>
              <a:rPr lang="en-US" sz="32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</a:t>
            </a: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문서 → 노드·관계 타입: 표본 → 후보 → 사람 확정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LLM은 표본에서 후보만 뽑고 확정은 사람이 함 — 확정한 목록을 GraphSchema로 고정해 추출기에 넘김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250545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09321" y="1737360"/>
            <a:ext cx="25054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종류별 표본 N건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042209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289097" y="1737360"/>
            <a:ext cx="2505456" cy="566928"/>
          </a:xfrm>
          <a:prstGeom prst="roundRect">
            <a:avLst>
              <a:gd name="adj" fmla="val 12903"/>
            </a:avLst>
          </a:prstGeom>
          <a:solidFill>
            <a:srgbClr val="EEF3FA"/>
          </a:solidFill>
          <a:ln w="15875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3289097" y="1737360"/>
            <a:ext cx="25054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추출기 → 후보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821985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068873" y="1737360"/>
            <a:ext cx="250545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6068873" y="1737360"/>
            <a:ext cx="25054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정형 후보와 합침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601761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8848649" y="1737360"/>
            <a:ext cx="2505456" cy="566928"/>
          </a:xfrm>
          <a:prstGeom prst="roundRect">
            <a:avLst>
              <a:gd name="adj" fmla="val 12903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8848649" y="1737360"/>
            <a:ext cx="25054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 확정 (사람)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1381537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11628425" y="1737360"/>
            <a:ext cx="2505456" cy="566928"/>
          </a:xfrm>
          <a:prstGeom prst="roundRect">
            <a:avLst>
              <a:gd name="adj" fmla="val 12903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11628425" y="1737360"/>
            <a:ext cx="25054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GraphSchema 고정 → 추출기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09321" y="2487168"/>
            <a:ext cx="630936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509321" y="2487168"/>
            <a:ext cx="63093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뽑는 도구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09321" y="2926080"/>
            <a:ext cx="6309360" cy="804672"/>
          </a:xfrm>
          <a:prstGeom prst="roundRect">
            <a:avLst>
              <a:gd name="adj" fmla="val 909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600761" y="301752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00761" y="3017520"/>
            <a:ext cx="160020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Native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neo4j-graphrag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338121" y="292608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후보: SchemaFromTextExtractor().run(text=표본)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확정: 고친 스키마를 schema로 넘김(안 넘기면 매번 자동)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9321" y="3794760"/>
            <a:ext cx="6309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600761" y="388620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600761" y="3886200"/>
            <a:ext cx="160020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 LLM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Builder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2338121" y="379476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후보: 'Get Schema From Text'가 스키마 제안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확정: 화면에서 사람이 고름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09321" y="4663440"/>
            <a:ext cx="6309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600761" y="475488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600761" y="4754880"/>
            <a:ext cx="160020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MS GraphRAG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2338121" y="466344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후보: graphrag prompt-tune --discover-entity-types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확정: 저장된 프롬프트 파일을 사람이 고침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09321" y="5532120"/>
            <a:ext cx="6309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600761" y="562356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600761" y="5623560"/>
            <a:ext cx="160020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LangChain ·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LlamaIndex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2338121" y="553212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후보: 자동 후보 단계 없음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확정: 사람이 허용 목록을 먼저 적음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7047281" y="2487168"/>
            <a:ext cx="7086600" cy="365760"/>
          </a:xfrm>
          <a:prstGeom prst="roundRect">
            <a:avLst>
              <a:gd name="adj" fmla="val 125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7047281" y="2487168"/>
            <a:ext cx="70866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 확정 — 사람이 줄이고 이름을 정함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047281" y="2926080"/>
            <a:ext cx="7086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7157009" y="30358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7157009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7641641" y="299923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의미는 합치고 이름을 정함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7641641" y="3383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온톨로지: 용어 나열 · 계층 정리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7641641" y="3657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Brand · CardProduct → Card, Fee · AnnualFee → Fee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7047281" y="4087368"/>
            <a:ext cx="7086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7157009" y="419709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 txBox="1"/>
          <p:nvPr/>
        </p:nvSpPr>
        <p:spPr>
          <a:xfrm>
            <a:off x="7157009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7641641" y="41605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쓰는 워크플로우 단계가 없는 관계 타입은 뺌</a:t>
            </a:r>
            <a:endParaRPr lang="en-US" sz="1600" dirty="0"/>
          </a:p>
        </p:txBody>
      </p:sp>
      <p:sp>
        <p:nvSpPr>
          <p:cNvPr id="49" name="Text 46"/>
          <p:cNvSpPr txBox="1"/>
          <p:nvPr/>
        </p:nvSpPr>
        <p:spPr>
          <a:xfrm>
            <a:off x="7641641" y="4544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온톨로지: 역량 질문(답해야 할 질문이 범위를 정함)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7641641" y="48188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어느 단계도 따라가지 않는 관계 → 다음 회차 후보로 1줄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7047281" y="5248656"/>
            <a:ext cx="7086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9"/>
          <p:cNvSpPr/>
          <p:nvPr/>
        </p:nvSpPr>
        <p:spPr>
          <a:xfrm>
            <a:off x="7157009" y="535838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 txBox="1"/>
          <p:nvPr/>
        </p:nvSpPr>
        <p:spPr>
          <a:xfrm>
            <a:off x="7157009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700" dirty="0"/>
          </a:p>
        </p:txBody>
      </p:sp>
      <p:sp>
        <p:nvSpPr>
          <p:cNvPr id="54" name="Text 51"/>
          <p:cNvSpPr txBox="1"/>
          <p:nvPr/>
        </p:nvSpPr>
        <p:spPr>
          <a:xfrm>
            <a:off x="7641641" y="532180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적재 원천이 없는 노드 타입은 뺌</a:t>
            </a:r>
            <a:endParaRPr lang="en-US" sz="1600" dirty="0"/>
          </a:p>
        </p:txBody>
      </p:sp>
      <p:sp>
        <p:nvSpPr>
          <p:cNvPr id="55" name="Text 52"/>
          <p:cNvSpPr txBox="1"/>
          <p:nvPr/>
        </p:nvSpPr>
        <p:spPr>
          <a:xfrm>
            <a:off x="7641641" y="57058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가이드 고유 규칙(빈 노드 방지)</a:t>
            </a:r>
            <a:endParaRPr lang="en-US" sz="1400" dirty="0"/>
          </a:p>
        </p:txBody>
      </p:sp>
      <p:sp>
        <p:nvSpPr>
          <p:cNvPr id="56" name="Text 53"/>
          <p:cNvSpPr txBox="1"/>
          <p:nvPr/>
        </p:nvSpPr>
        <p:spPr>
          <a:xfrm>
            <a:off x="7641641" y="59801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어느 원천도 채우지 않는 타입 → 정의하지 않음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509321" y="6492240"/>
            <a:ext cx="3303270" cy="749808"/>
          </a:xfrm>
          <a:prstGeom prst="roundRect">
            <a:avLst>
              <a:gd name="adj" fmla="val 97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5"/>
          <p:cNvSpPr/>
          <p:nvPr/>
        </p:nvSpPr>
        <p:spPr>
          <a:xfrm>
            <a:off x="600761" y="668426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 txBox="1"/>
          <p:nvPr/>
        </p:nvSpPr>
        <p:spPr>
          <a:xfrm>
            <a:off x="600761" y="6684264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1057961" y="6492240"/>
            <a:ext cx="26814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표본에 없던 타입은 안 나옴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문서 종류마다 표본, 표본 수 기록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3949751" y="6492240"/>
            <a:ext cx="3303270" cy="749808"/>
          </a:xfrm>
          <a:prstGeom prst="roundRect">
            <a:avLst>
              <a:gd name="adj" fmla="val 97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9"/>
          <p:cNvSpPr/>
          <p:nvPr/>
        </p:nvSpPr>
        <p:spPr>
          <a:xfrm>
            <a:off x="4041191" y="668426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 txBox="1"/>
          <p:nvPr/>
        </p:nvSpPr>
        <p:spPr>
          <a:xfrm>
            <a:off x="4041191" y="6684264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64" name="Text 61"/>
          <p:cNvSpPr txBox="1"/>
          <p:nvPr/>
        </p:nvSpPr>
        <p:spPr>
          <a:xfrm>
            <a:off x="4498391" y="6492240"/>
            <a:ext cx="26814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기본값(organization ·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person · geo · event) 그대로 금지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7390181" y="6492240"/>
            <a:ext cx="3303270" cy="749808"/>
          </a:xfrm>
          <a:prstGeom prst="roundRect">
            <a:avLst>
              <a:gd name="adj" fmla="val 97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3"/>
          <p:cNvSpPr/>
          <p:nvPr/>
        </p:nvSpPr>
        <p:spPr>
          <a:xfrm>
            <a:off x="7481621" y="668426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 txBox="1"/>
          <p:nvPr/>
        </p:nvSpPr>
        <p:spPr>
          <a:xfrm>
            <a:off x="7481621" y="6684264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68" name="Text 65"/>
          <p:cNvSpPr txBox="1"/>
          <p:nvPr/>
        </p:nvSpPr>
        <p:spPr>
          <a:xfrm>
            <a:off x="7938821" y="6492240"/>
            <a:ext cx="26814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빼면 그래프에 아예 없음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(가리는 것은 접근 필터의 일)</a:t>
            </a:r>
            <a:endParaRPr lang="en-US" sz="1400" dirty="0"/>
          </a:p>
        </p:txBody>
      </p:sp>
      <p:sp>
        <p:nvSpPr>
          <p:cNvPr id="69" name="Shape 66"/>
          <p:cNvSpPr/>
          <p:nvPr/>
        </p:nvSpPr>
        <p:spPr>
          <a:xfrm>
            <a:off x="10830611" y="6492240"/>
            <a:ext cx="3303270" cy="749808"/>
          </a:xfrm>
          <a:prstGeom prst="roundRect">
            <a:avLst>
              <a:gd name="adj" fmla="val 97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7"/>
          <p:cNvSpPr/>
          <p:nvPr/>
        </p:nvSpPr>
        <p:spPr>
          <a:xfrm>
            <a:off x="10922051" y="668426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 txBox="1"/>
          <p:nvPr/>
        </p:nvSpPr>
        <p:spPr>
          <a:xfrm>
            <a:off x="10922051" y="6684264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72" name="Text 69"/>
          <p:cNvSpPr txBox="1"/>
          <p:nvPr/>
        </p:nvSpPr>
        <p:spPr>
          <a:xfrm>
            <a:off x="11379251" y="6492240"/>
            <a:ext cx="26814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 뒤 역량 질문으로 되짚기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(가이드에 없는 보완점)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1966</Words>
  <Application>Microsoft Office PowerPoint</Application>
  <PresentationFormat>사용자 지정</PresentationFormat>
  <Paragraphs>245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Arial</vt:lpstr>
      <vt:lpstr>Pretendard</vt:lpstr>
      <vt:lpstr>Pretendard SemiBold</vt:lpstr>
      <vt:lpstr>Office Theme</vt:lpstr>
      <vt:lpstr>1. 스키마 도출: 노드·관계 타입은 추출 전에 먼저 정함</vt:lpstr>
      <vt:lpstr>1. 스키마 도출: 스키마에 정의하는 7가지</vt:lpstr>
      <vt:lpstr>1. 스키마 도출: 정형 테이블 → 노드·관계 타입: 변환 규칙</vt:lpstr>
      <vt:lpstr>1. 스키마 도출: 소스 문서 → 노드·관계 타입: 표본 → 후보 → 사람 확정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해경 이</cp:lastModifiedBy>
  <cp:revision>6</cp:revision>
  <dcterms:created xsi:type="dcterms:W3CDTF">2026-10-14T05:17:00Z</dcterms:created>
  <dcterms:modified xsi:type="dcterms:W3CDTF">2026-10-14T05:39:05Z</dcterms:modified>
</cp:coreProperties>
</file>