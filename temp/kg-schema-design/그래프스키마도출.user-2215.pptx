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96" y="22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662165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스키마 도출은 인덱싱 파이프라인의 단계가 아니라 설계 단계의 일임. 사람이 후보를 줄이고 이름을 정해 확정하므로 매 실행 자동으로 돌리지 않음. 확정한 GraphSchema를 파일로 두고 버전을 관리하며, 인덱싱은 그 파일을 읽어 ④ 추출의 프롬프트 안내와 가지치기에 씀. 스키마가 바뀌면 새 세대로 다시 인덱싱함. 인덱싱 줄의 KG 저장과 병합은 다른 단계임: Native는 저장기(Neo4jWriter)가 먼저 쓰고 병합기(resolver)가 DB 안에서 같은 이름 노드를 합침(SimpleKGPipeline 연결 순서 writer → resolver). 임베딩은 합쳐진 노드 설명을 벡터로 바꾸는 단계라 병합 다음에 둠. 청크 벡터는 기존 벡터DB 인덱싱의 벡터를 KG 저장 때 함께 넣어 다시 만들지 않음. 같은 카드가 어떤 청크에선 Brand, 어떤 청크에선 CardProduct로 뽑히면 병합 단계에서도 못 합침(라벨이 달라서). 실측: 로컬 gemma-4 12B로 스키마 없이 청크 2개를 추출했더니 라벨이 11종 나왔고, 카드는 Brand와 CardProduct, 요금은 Fee와 AnnualFee로 갈렸음. Native neo4j-graphrag는 스키마를 안 주면 SimpleKGPipeline이 매번 입력 글에서 스키마를 자동으로 뽑아 쓰므로(사람 검토 없음) 실행마다 달라질 수 있음 — 그래서 설계 단계에서 고정함.</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①~⑤가 뼈대임: 노드 타입, 노드 속성, 관계, 관계 속성, 그리고 어느 노드에서 어느 노드로 그 관계가 갈 수 있는지를 정하는 연결 패턴. ⑥ 제약은 고유키와 필수 속성이며 UNIQUENESS, EXISTENCE, KEY 세 종류가 있음. KEY는 필수이면서 고유함. ⑦ 허용 범위는 목록 밖의 타입, 패턴, 속성을 지울지 통과시킬지이며, 목록을 주면 기본은 지움. 실행 확인(neo4j-graphrag 1.22.0): 이 코드로 만든 스키마로 가지치기를 돌리니 name이 없는 Card 노드가 MISSING_REQUIRED_PROPERTY로 지워졌음. 타입과 속성마다 description을 적으면 추출 프롬프트에 들어가 LLM이 고르는 기준이 됨. 속성의 type(STRING, INTEGER 등)은 적을 수 있지만 지금 버전의 가지치기는 값 형식을 검사하지 않으므로 금액과 날짜는 저장 전에 따로 변환함. 최대 홉 수, 결과 상한, 상충 관계 쌍은 검색과 검수에 쓰는 규칙이라 추출용 스키마에는 넣지 않음.</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Neo4j 공식 관계형 → 그래프 변환 규칙과 같음: 테이블은 라벨, 행은 노드, 열은 속성, FK는 관계로 바꾸고 FK 열은 지움, 조인 테이블은 관계로 바꾸고 그 열은 관계 속성. 관계는 양 끝이 둘뿐이라 셋 이상을 묶으면 중간 노드로 풂. 판정 결과는 4가지이고 오른쪽 예시가 같은 번호임. ① 조회 대상이면 노드 타입: 이체는 FK가 2개지만 이체 자체를 찾으므로 노드. ② FK가 2개이고 업무 열이 없으면 관계로 흡수: 사용자역할 테이블은 사용자와 역할을 잇기만 하므로 노드를 만들지 않음. ③ FK 2개 + 업무 속성이면 관계 속성: 주문상품의 수량과 단가는 '포함' 관계의 속성. 상품별 판매 집계처럼 그 속성을 조회하거나 집계하면 노드로 둠. ④ FK 3개 이상이면 중간 노드: 수강신청은 학생, 과목, 학기를 함께 묶어 관계 하나로 못 담음. 조회 대상 질문을 먼저 하는 이유는 ① 이체 예: FK 개수만 보면 관계로 흡수되어 이체 자체를 찾을 수 없게 됨. 정형에서 나온 타입은 LLM 추출이 필요 없어 비용이 들지 않으므로 정형을 먼저 훑는 것이 이득임.</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 장의 변환 규칙은 대부분 기계적으로 적용할 수 있어서, 규칙을 프롬프트에 적어 바이브 코딩 도구에 맡김. 규칙 ②③④와 검증, 그림, 저장은 AI가 하고, 업무 판단이 필요한 규칙 ①과 이름, 최종 승인은 사람이 함. DB 카탈로그는 DB가 원래 갖고 있는 구조 설명 테이블이라 따로 만들 필요가 없음(PostgreSQL은 pg_catalog). FK 개수는 열이 아니라 제약 수로 셈: card의 product_id와 brand는 열 2개지만 FK 제약 1개임. 라벨은 Neo4j 이름 규칙에 따라 영문(Card, HAS_CARD)으로 두고, 한글 이름은 description에 넣어 그림과 LLM 안내에 씀. 한글 라벨도 동작은 하지만(실행 확인), 영문 속성 이름과 섞이지 않게 하려고 영문으로 정함. 8단계에서 수정을 요청하면 5단계부터 다시 하며, 5회가 넘으면 남은 쟁점을 정리해 멈춤. 최종 파일은 GraphSchema.save()로 저장한 뒤 from_file()로 다시 읽어 개수가 같은지 확인하고, 승인 기록을 함께 남김.</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문서 종류와 상관없이 쓰는 절차임. ① 역량 질문은 이 스키마로 만든 그래프가 답해야 할 질문 목록이며, Ontology 101에서 범위를 정하고 나중에 충분한지 시험하는 기준으로 씀. 답이 될 타입 이름은 적지 않고 질문으로만 씀. ② neo4j-graphrag의 SchemaFromTextExtractor는 글을 받아 스키마 후보를 내고, examples 자리에 역량 질문을 넣음. 표본은 비율이 아니라 건수로 정함(드문 타입을 95% 확률로 보려면 등장률 10%면 29건). 앞서 나온 이름을 다시 쓰라는 안내를 넣으면 이름은 모이지만 새 개념이 막혀서 이 단계에서는 넣지 않음. ③ 사람이 합치기, 빼기, 보태기로 뼈대를 정함. 드문 이름을 빈도로 거르면 핵심 개념이 버려지므로 질문 기준으로 살림. 타입 설명(description)이 추출 품질을 크게 좌우하므로 무엇이 아닌지까지 좁게 씀. LLM이 제안하는 제약은 자주 충돌하므로 사람이 정함. ④ LLMEntityRelationExtractor에 뼈대를 schema로 주고 GraphPruning으로 정리한 뒤, 정답표나 역량 질문의 답이 채워지는지 셈. 잘못 뽑기가 많으면 설명을 고쳐 다시 함. ⑤ GraphSchema.save()로 파일을 고정하고 인덱싱은 그 파일만 읽음. 화면으로 하려면 Neo4j LLM Graph Builder의 Get Schema From Text가 ②에 해당함.</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역량 질문은 문서만 보고 지어내지 않고 사용자가 실제로 묻는 질문에서 출발함. 상담 이력의 출처는 D3 안내문의 검색 평가 질문과 RAGAS 평가셋 문항임. 회원 번호 같은 값을 빈칸으로 바꾸면 같은 틀의 질문이 하나로 묶이고, 묶음마다 역량 질문을 1개 이상 씀. 제안과 응답처럼 한 유형에 두 질문이 필요하면 나눠 씀. 질문에는 Complaint 같은 답이 될 이름을 쓰지 않음. 이 예의 초안은 LLM(클로니)이 사용자 질문을 보고 작성했고 사람이 검토함. 약관과 혜택도 같은 방법으로 5개씩 정했음.</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문서를 성격이 비슷한 묶음으로 나눠 묶음마다 표본을 뽑음. 상담은 고객 세그먼트 6개, 혜택은 청크 성격 4개로 나눴음. 1건씩 넣는 이유는 새 이름이 몇 개 늘었는지 세어 멈출 때를 정하려는 것임. 가운데는 실제 1건(C-20260701-016)에 대한 추출기 출력임. Proposal과 Condition은 업무 개념이고, Customer의 email과 birthdate 속성은 가명처리 대상이라 ③에서 버릴 후보임. 30건을 모으면 이름이 53개로 흩어지고 업무 개념 이름은 2 ~ 5건씩만 나옴. 같은 30건에 앞 결과 이름을 넘기면 10개로 모이지만 업무 개념은 불만 하나만 나왔음.</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② 결과(이름 53개와 나온 건수)와 역량 질문 5개를 LLM에 주고 초안을 추천받았음(이 예에서는 클로니가 추천). 추천에는 항목마다 근거가 된 질문 번호를 붙임. 병합은 같은 뜻의 이름을 하나로 합치는 것, 제거는 질문에 안 쓰이거나 다른 원천(RDB)에 있거나 가명처리 대상인 것을 빼는 것, 추가는 후보에 없거나 거의 없던 개념을 넣는 것임. 고객 응답(수용, 거절)은 후보에 1건뿐이었지만 질문 3에 필요해 추가함. 사람은 데이터 사정으로 판단함: 응답을 노드로 둘지 속성으로 둘지, 제약은 Community 판에서 되는 UNIQUENESS만. 오른쪽 아래 설명은 ④ 시험을 거쳐 좁힌 최종 판이며, 처음부터 해당과 비해당을 함께 쓰는 것이 좋음.</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LLMEntityRelationExtractor에 스키마 초안을 schema로 주고 GraphPruning으로 초안 밖 노드를 지운 뒤 정답표와 비교함. 왼쪽은 불만이 있는 상담 1건으로, 불만 원인, 재검토 조건, 이전 상담 연결은 맞았지만 제안은 상담사가 한 다른 안내(자동납부 재등록 절차 비교)를 골라 응답도 수용으로 적었음. 정답은 할인을 늘리는 제안과 보류임. 오른쪽은 불만이 없는 주소 변경 문의로, 답이 없어야 하는 문서임. v1 설명에서는 '이사'를 불만으로, 절차 안내를 제안으로 뽑았고, 설명을 좁힌 v2에서는 둘 다 사라지고 제안 1개와 이유가 정답과 같아졌음.</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v1은 처음 쓴 설명, v2는 시험 결과를 보고 좁힌 설명임. 불만 오탐은 불만이 없는 상담 24건 중 Complaint를 만든 수, 제안 노드 수는 48건에서 만든 Proposal 합계, 응답 일치는 뽑은 응답이 정답 하나뿐인 기록 수임. 설명 몇 줄을 바꾸자 오탐과 작은 안내를 제안으로 뽑는 일이 크게 줄었음. 남은 문제는 응답 엄격 일치 37 / 48과 불만 오탐 4건이며, 오탐 4건은 '종이 영수증이 없어 불편'처럼 고객이 실제로 불편을 말한 경우라 정답 기준을 다시 볼 대상임.</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상담 스키마 초안 v2로 저장과 다시 읽기를 해 보았음(사람의 최종 승인 전이라 프로젝트에는 저장하지 않고 작업 폴더에서 시연). 다시 읽은 스키마는 저장 전과 같았고, Neo4j 서버 없이 됨. additional_* 세 값이 False라 인덱싱 때 목록 밖 노드 타입과 관계는 가지치기가 지움. 스키마나 원천이 바뀌면 새 세대로 다시 인덱싱하며, 상담 원문을 v3로 고쳤을 때 새 세대를 만들어 상담 48청크만 새로 임베딩하고 나머지 170청크는 재사용했음. 혜택과 약관은 ②까지 했음. 혜택은 질문을 넣자 제외 대상(Exclusion)이 핵심이 되어 후보가 거의 초안이 되고, 약관은 이름이 흩어져 조항 구조 초안을 사람이 먼저 그리는 쪽이 맞아 보임.</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내용_단쪽">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8406" y="868680"/>
            <a:ext cx="13613587" cy="0"/>
          </a:xfrm>
          <a:prstGeom prst="line">
            <a:avLst/>
          </a:prstGeom>
          <a:noFill/>
          <a:ln w="19050">
            <a:solidFill>
              <a:srgbClr val="E2E8F0"/>
            </a:solidFill>
            <a:prstDash val="solid"/>
          </a:ln>
        </p:spPr>
        <p:txBody>
          <a:bodyPr/>
          <a:lstStyle/>
          <a:p>
            <a:endParaRPr lang="ko-KR" altLang="en-US"/>
          </a:p>
        </p:txBody>
      </p:sp>
      <p:sp>
        <p:nvSpPr>
          <p:cNvPr id="3" name="Text 1"/>
          <p:cNvSpPr/>
          <p:nvPr/>
        </p:nvSpPr>
        <p:spPr>
          <a:xfrm>
            <a:off x="445770" y="7787945"/>
            <a:ext cx="1531620" cy="246888"/>
          </a:xfrm>
          <a:prstGeom prst="rect">
            <a:avLst/>
          </a:prstGeom>
          <a:noFill/>
          <a:ln/>
        </p:spPr>
        <p:txBody>
          <a:bodyPr wrap="square" lIns="0" tIns="0" rIns="0" bIns="0" rtlCol="0" anchor="ctr"/>
          <a:lstStyle/>
          <a:p>
            <a:pPr marL="0" indent="0">
              <a:buNone/>
            </a:pPr>
            <a:r>
              <a:rPr lang="en-US" sz="1200" dirty="0">
                <a:solidFill>
                  <a:srgbClr val="A6A6A6"/>
                </a:solidFill>
                <a:latin typeface="Pretendard" pitchFamily="34" charset="0"/>
                <a:ea typeface="Pretendard" pitchFamily="34" charset="-122"/>
                <a:cs typeface="Pretendard" pitchFamily="34" charset="-120"/>
              </a:rPr>
              <a:t>무단전재 및 배포 금지</a:t>
            </a:r>
            <a:endParaRPr lang="en-US" sz="1200" dirty="0"/>
          </a:p>
        </p:txBody>
      </p:sp>
      <p:sp>
        <p:nvSpPr>
          <p:cNvPr id="4" name="Text 2"/>
          <p:cNvSpPr>
            <a:spLocks noGrp="1"/>
          </p:cNvSpPr>
          <p:nvPr>
            <p:ph type="title"/>
          </p:nvPr>
        </p:nvSpPr>
        <p:spPr>
          <a:xfrm>
            <a:off x="509321" y="99670"/>
            <a:ext cx="13738860" cy="828446"/>
          </a:xfrm>
          <a:prstGeom prst="rect">
            <a:avLst/>
          </a:prstGeom>
          <a:noFill/>
          <a:ln/>
        </p:spPr>
        <p:txBody>
          <a:bodyPr wrap="square" rtlCol="0"/>
          <a:lstStyle>
            <a:lvl1pPr marL="0" indent="0" algn="l">
              <a:buNone/>
              <a:defRPr lang="en-US" sz="3200" b="1" dirty="0">
                <a:solidFill>
                  <a:srgbClr val="2C2926"/>
                </a:solidFill>
                <a:latin typeface="Pretendard" pitchFamily="34" charset="0"/>
                <a:ea typeface="Pretendard" pitchFamily="34" charset="-122"/>
                <a:cs typeface="Pretendard" pitchFamily="34" charset="-120"/>
              </a:defRPr>
            </a:lvl1pPr>
          </a:lstStyle>
          <a:p>
            <a:pPr marL="0" indent="0" algn="l">
              <a:buNone/>
            </a:pPr>
            <a:endParaRPr lang="en-US" sz="32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neo4j.com/docs/neo4j-graphrag-python/current/user_guide_kg_builder.htm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journals.plos.org/plosone/article?id=10.1371/journal.pone.0232076" TargetMode="External"/><Relationship Id="rId5" Type="http://schemas.openxmlformats.org/officeDocument/2006/relationships/hyperlink" Target="https://protege.stanford.edu/publications/ontology_development/ontology101-noy-mcguinness.html" TargetMode="External"/><Relationship Id="rId4" Type="http://schemas.openxmlformats.org/officeDocument/2006/relationships/hyperlink" Target="https://neo4j.com/labs/genai-ecosystem/llm-graph-builder-features/"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노드 타입과 관계는 추출 전에 먼저 정함</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스키마는 추출 결과가 아니라 추출기에 주는 허용 목록 — 먼저 정하지 않으면 같은 개념이 여러 라벨로 쪼개짐</a:t>
            </a:r>
            <a:endParaRPr lang="en-US" sz="1800" dirty="0"/>
          </a:p>
        </p:txBody>
      </p:sp>
      <p:sp>
        <p:nvSpPr>
          <p:cNvPr id="5" name="Shape 2"/>
          <p:cNvSpPr/>
          <p:nvPr/>
        </p:nvSpPr>
        <p:spPr>
          <a:xfrm>
            <a:off x="509321" y="1700784"/>
            <a:ext cx="1783080" cy="457200"/>
          </a:xfrm>
          <a:prstGeom prst="roundRect">
            <a:avLst>
              <a:gd name="adj" fmla="val 12000"/>
            </a:avLst>
          </a:prstGeom>
          <a:solidFill>
            <a:srgbClr val="2E74C6"/>
          </a:solidFill>
          <a:ln/>
        </p:spPr>
        <p:txBody>
          <a:bodyPr/>
          <a:lstStyle/>
          <a:p>
            <a:endParaRPr lang="ko-KR" altLang="en-US"/>
          </a:p>
        </p:txBody>
      </p:sp>
      <p:sp>
        <p:nvSpPr>
          <p:cNvPr id="6" name="Text 3"/>
          <p:cNvSpPr txBox="1"/>
          <p:nvPr/>
        </p:nvSpPr>
        <p:spPr>
          <a:xfrm>
            <a:off x="509321" y="1700784"/>
            <a:ext cx="1783080"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설계 시(사전 1회)</a:t>
            </a:r>
            <a:endParaRPr lang="en-US" sz="1400" dirty="0"/>
          </a:p>
        </p:txBody>
      </p:sp>
      <p:sp>
        <p:nvSpPr>
          <p:cNvPr id="7" name="Shape 4"/>
          <p:cNvSpPr/>
          <p:nvPr/>
        </p:nvSpPr>
        <p:spPr>
          <a:xfrm>
            <a:off x="509321" y="2432304"/>
            <a:ext cx="1783080" cy="457200"/>
          </a:xfrm>
          <a:prstGeom prst="roundRect">
            <a:avLst>
              <a:gd name="adj" fmla="val 12000"/>
            </a:avLst>
          </a:prstGeom>
          <a:solidFill>
            <a:srgbClr val="1E2A5C"/>
          </a:solidFill>
          <a:ln/>
        </p:spPr>
        <p:txBody>
          <a:bodyPr/>
          <a:lstStyle/>
          <a:p>
            <a:endParaRPr lang="ko-KR" altLang="en-US"/>
          </a:p>
        </p:txBody>
      </p:sp>
      <p:sp>
        <p:nvSpPr>
          <p:cNvPr id="8" name="Text 5"/>
          <p:cNvSpPr txBox="1"/>
          <p:nvPr/>
        </p:nvSpPr>
        <p:spPr>
          <a:xfrm>
            <a:off x="509321" y="2432304"/>
            <a:ext cx="1783080"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인덱싱 시(매 실행)</a:t>
            </a:r>
            <a:endParaRPr lang="en-US" sz="1400" dirty="0"/>
          </a:p>
        </p:txBody>
      </p:sp>
      <p:sp>
        <p:nvSpPr>
          <p:cNvPr id="9" name="Shape 6"/>
          <p:cNvSpPr/>
          <p:nvPr/>
        </p:nvSpPr>
        <p:spPr>
          <a:xfrm>
            <a:off x="2402129" y="170078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10" name="Text 7"/>
          <p:cNvSpPr txBox="1"/>
          <p:nvPr/>
        </p:nvSpPr>
        <p:spPr>
          <a:xfrm>
            <a:off x="2402129" y="170078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원천 분석</a:t>
            </a:r>
            <a:endParaRPr lang="en-US" sz="1400" dirty="0"/>
          </a:p>
        </p:txBody>
      </p:sp>
      <p:sp>
        <p:nvSpPr>
          <p:cNvPr id="11" name="Shape 8"/>
          <p:cNvSpPr/>
          <p:nvPr/>
        </p:nvSpPr>
        <p:spPr>
          <a:xfrm>
            <a:off x="3720008" y="1929384"/>
            <a:ext cx="146304" cy="0"/>
          </a:xfrm>
          <a:prstGeom prst="line">
            <a:avLst/>
          </a:prstGeom>
          <a:noFill/>
          <a:ln w="22225">
            <a:solidFill>
              <a:srgbClr val="4A5364"/>
            </a:solidFill>
            <a:prstDash val="solid"/>
            <a:tailEnd type="triangle"/>
          </a:ln>
        </p:spPr>
        <p:txBody>
          <a:bodyPr/>
          <a:lstStyle/>
          <a:p>
            <a:endParaRPr lang="ko-KR" altLang="en-US"/>
          </a:p>
        </p:txBody>
      </p:sp>
      <p:sp>
        <p:nvSpPr>
          <p:cNvPr id="12" name="Shape 9"/>
          <p:cNvSpPr/>
          <p:nvPr/>
        </p:nvSpPr>
        <p:spPr>
          <a:xfrm>
            <a:off x="3893744" y="170078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13" name="Text 10"/>
          <p:cNvSpPr txBox="1"/>
          <p:nvPr/>
        </p:nvSpPr>
        <p:spPr>
          <a:xfrm>
            <a:off x="3893744" y="170078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후보 도출</a:t>
            </a:r>
            <a:endParaRPr lang="en-US" sz="1400" dirty="0"/>
          </a:p>
        </p:txBody>
      </p:sp>
      <p:sp>
        <p:nvSpPr>
          <p:cNvPr id="14" name="Shape 11"/>
          <p:cNvSpPr/>
          <p:nvPr/>
        </p:nvSpPr>
        <p:spPr>
          <a:xfrm>
            <a:off x="5211623" y="1929384"/>
            <a:ext cx="146304" cy="0"/>
          </a:xfrm>
          <a:prstGeom prst="line">
            <a:avLst/>
          </a:prstGeom>
          <a:noFill/>
          <a:ln w="22225">
            <a:solidFill>
              <a:srgbClr val="4A5364"/>
            </a:solidFill>
            <a:prstDash val="solid"/>
            <a:tailEnd type="triangle"/>
          </a:ln>
        </p:spPr>
        <p:txBody>
          <a:bodyPr/>
          <a:lstStyle/>
          <a:p>
            <a:endParaRPr lang="ko-KR" altLang="en-US"/>
          </a:p>
        </p:txBody>
      </p:sp>
      <p:sp>
        <p:nvSpPr>
          <p:cNvPr id="15" name="Shape 12"/>
          <p:cNvSpPr/>
          <p:nvPr/>
        </p:nvSpPr>
        <p:spPr>
          <a:xfrm>
            <a:off x="5385359" y="1700784"/>
            <a:ext cx="1290447" cy="457200"/>
          </a:xfrm>
          <a:prstGeom prst="roundRect">
            <a:avLst>
              <a:gd name="adj" fmla="val 16000"/>
            </a:avLst>
          </a:prstGeom>
          <a:solidFill>
            <a:srgbClr val="2E74C6"/>
          </a:solidFill>
          <a:ln/>
        </p:spPr>
        <p:txBody>
          <a:bodyPr/>
          <a:lstStyle/>
          <a:p>
            <a:endParaRPr lang="ko-KR" altLang="en-US"/>
          </a:p>
        </p:txBody>
      </p:sp>
      <p:sp>
        <p:nvSpPr>
          <p:cNvPr id="16" name="Text 13"/>
          <p:cNvSpPr txBox="1"/>
          <p:nvPr/>
        </p:nvSpPr>
        <p:spPr>
          <a:xfrm>
            <a:off x="5385359" y="1700784"/>
            <a:ext cx="1290447"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3단계 확정</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(사람)</a:t>
            </a:r>
            <a:endParaRPr lang="en-US" sz="1400" dirty="0"/>
          </a:p>
        </p:txBody>
      </p:sp>
      <p:sp>
        <p:nvSpPr>
          <p:cNvPr id="17" name="Shape 14"/>
          <p:cNvSpPr/>
          <p:nvPr/>
        </p:nvSpPr>
        <p:spPr>
          <a:xfrm>
            <a:off x="6703238" y="1929384"/>
            <a:ext cx="146304" cy="0"/>
          </a:xfrm>
          <a:prstGeom prst="line">
            <a:avLst/>
          </a:prstGeom>
          <a:noFill/>
          <a:ln w="22225">
            <a:solidFill>
              <a:srgbClr val="4A5364"/>
            </a:solidFill>
            <a:prstDash val="solid"/>
            <a:tailEnd type="triangle"/>
          </a:ln>
        </p:spPr>
        <p:txBody>
          <a:bodyPr/>
          <a:lstStyle/>
          <a:p>
            <a:endParaRPr lang="ko-KR" altLang="en-US"/>
          </a:p>
        </p:txBody>
      </p:sp>
      <p:sp>
        <p:nvSpPr>
          <p:cNvPr id="18" name="Shape 15"/>
          <p:cNvSpPr/>
          <p:nvPr/>
        </p:nvSpPr>
        <p:spPr>
          <a:xfrm>
            <a:off x="6876974" y="1700784"/>
            <a:ext cx="2782062" cy="457200"/>
          </a:xfrm>
          <a:prstGeom prst="roundRect">
            <a:avLst>
              <a:gd name="adj" fmla="val 16000"/>
            </a:avLst>
          </a:prstGeom>
          <a:solidFill>
            <a:srgbClr val="EEF3FA"/>
          </a:solidFill>
          <a:ln w="25400">
            <a:solidFill>
              <a:srgbClr val="2E74C6"/>
            </a:solidFill>
            <a:prstDash val="solid"/>
          </a:ln>
        </p:spPr>
        <p:txBody>
          <a:bodyPr/>
          <a:lstStyle/>
          <a:p>
            <a:endParaRPr lang="ko-KR" altLang="en-US"/>
          </a:p>
        </p:txBody>
      </p:sp>
      <p:sp>
        <p:nvSpPr>
          <p:cNvPr id="19" name="Text 16"/>
          <p:cNvSpPr txBox="1"/>
          <p:nvPr/>
        </p:nvSpPr>
        <p:spPr>
          <a:xfrm>
            <a:off x="6876974" y="1700784"/>
            <a:ext cx="2782062" cy="457200"/>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GraphSchema 파일</a:t>
            </a:r>
            <a:endParaRPr lang="en-US" sz="1400" dirty="0"/>
          </a:p>
          <a:p>
            <a:pPr marL="0" indent="0" algn="ctr">
              <a:buNone/>
            </a:pPr>
            <a:r>
              <a:rPr lang="en-US" sz="1400" b="1" dirty="0">
                <a:solidFill>
                  <a:srgbClr val="1E2A5C"/>
                </a:solidFill>
                <a:latin typeface="Pretendard" pitchFamily="34" charset="0"/>
                <a:ea typeface="Pretendard" pitchFamily="34" charset="-122"/>
                <a:cs typeface="Pretendard" pitchFamily="34" charset="-120"/>
              </a:rPr>
              <a:t>(버전 관리)</a:t>
            </a:r>
            <a:endParaRPr lang="en-US" sz="1400" dirty="0"/>
          </a:p>
        </p:txBody>
      </p:sp>
      <p:sp>
        <p:nvSpPr>
          <p:cNvPr id="20" name="Text 17"/>
          <p:cNvSpPr txBox="1"/>
          <p:nvPr/>
        </p:nvSpPr>
        <p:spPr>
          <a:xfrm>
            <a:off x="9951644" y="1664208"/>
            <a:ext cx="4182237" cy="530352"/>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인덱싱은 읽기만 함</a:t>
            </a:r>
            <a:endParaRPr lang="en-US" sz="1400" dirty="0"/>
          </a:p>
          <a:p>
            <a:pPr marL="0" indent="0" algn="l">
              <a:buNone/>
            </a:pPr>
            <a:r>
              <a:rPr lang="en-US" sz="1400" b="1" dirty="0">
                <a:solidFill>
                  <a:srgbClr val="2E74C6"/>
                </a:solidFill>
                <a:latin typeface="Pretendard" pitchFamily="34" charset="0"/>
                <a:ea typeface="Pretendard" pitchFamily="34" charset="-122"/>
                <a:cs typeface="Pretendard" pitchFamily="34" charset="-120"/>
              </a:rPr>
              <a:t>바뀌면 새 세대로 재인덱싱</a:t>
            </a:r>
            <a:endParaRPr lang="en-US" sz="1400" dirty="0"/>
          </a:p>
        </p:txBody>
      </p:sp>
      <p:sp>
        <p:nvSpPr>
          <p:cNvPr id="21" name="Shape 18"/>
          <p:cNvSpPr/>
          <p:nvPr/>
        </p:nvSpPr>
        <p:spPr>
          <a:xfrm>
            <a:off x="2402129"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22" name="Text 19"/>
          <p:cNvSpPr txBox="1"/>
          <p:nvPr/>
        </p:nvSpPr>
        <p:spPr>
          <a:xfrm>
            <a:off x="2402129"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로드</a:t>
            </a:r>
            <a:endParaRPr lang="en-US" sz="1400" dirty="0"/>
          </a:p>
        </p:txBody>
      </p:sp>
      <p:sp>
        <p:nvSpPr>
          <p:cNvPr id="23" name="Shape 20"/>
          <p:cNvSpPr/>
          <p:nvPr/>
        </p:nvSpPr>
        <p:spPr>
          <a:xfrm>
            <a:off x="3720008" y="2660904"/>
            <a:ext cx="146304" cy="0"/>
          </a:xfrm>
          <a:prstGeom prst="line">
            <a:avLst/>
          </a:prstGeom>
          <a:noFill/>
          <a:ln w="22225">
            <a:solidFill>
              <a:srgbClr val="4A5364"/>
            </a:solidFill>
            <a:prstDash val="solid"/>
            <a:tailEnd type="triangle"/>
          </a:ln>
        </p:spPr>
        <p:txBody>
          <a:bodyPr/>
          <a:lstStyle/>
          <a:p>
            <a:endParaRPr lang="ko-KR" altLang="en-US"/>
          </a:p>
        </p:txBody>
      </p:sp>
      <p:sp>
        <p:nvSpPr>
          <p:cNvPr id="24" name="Shape 21"/>
          <p:cNvSpPr/>
          <p:nvPr/>
        </p:nvSpPr>
        <p:spPr>
          <a:xfrm>
            <a:off x="3893744"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25" name="Text 22"/>
          <p:cNvSpPr txBox="1"/>
          <p:nvPr/>
        </p:nvSpPr>
        <p:spPr>
          <a:xfrm>
            <a:off x="3893744"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정제와</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가명처리</a:t>
            </a:r>
            <a:endParaRPr lang="en-US" sz="1400" dirty="0"/>
          </a:p>
        </p:txBody>
      </p:sp>
      <p:sp>
        <p:nvSpPr>
          <p:cNvPr id="26" name="Shape 23"/>
          <p:cNvSpPr/>
          <p:nvPr/>
        </p:nvSpPr>
        <p:spPr>
          <a:xfrm>
            <a:off x="5211623" y="2660904"/>
            <a:ext cx="146304" cy="0"/>
          </a:xfrm>
          <a:prstGeom prst="line">
            <a:avLst/>
          </a:prstGeom>
          <a:noFill/>
          <a:ln w="22225">
            <a:solidFill>
              <a:srgbClr val="4A5364"/>
            </a:solidFill>
            <a:prstDash val="solid"/>
            <a:tailEnd type="triangle"/>
          </a:ln>
        </p:spPr>
        <p:txBody>
          <a:bodyPr/>
          <a:lstStyle/>
          <a:p>
            <a:endParaRPr lang="ko-KR" altLang="en-US"/>
          </a:p>
        </p:txBody>
      </p:sp>
      <p:sp>
        <p:nvSpPr>
          <p:cNvPr id="27" name="Shape 24"/>
          <p:cNvSpPr/>
          <p:nvPr/>
        </p:nvSpPr>
        <p:spPr>
          <a:xfrm>
            <a:off x="5385359"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28" name="Text 25"/>
          <p:cNvSpPr txBox="1"/>
          <p:nvPr/>
        </p:nvSpPr>
        <p:spPr>
          <a:xfrm>
            <a:off x="5385359"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③ 청킹</a:t>
            </a:r>
            <a:endParaRPr lang="en-US" sz="1400" dirty="0"/>
          </a:p>
        </p:txBody>
      </p:sp>
      <p:sp>
        <p:nvSpPr>
          <p:cNvPr id="29" name="Shape 26"/>
          <p:cNvSpPr/>
          <p:nvPr/>
        </p:nvSpPr>
        <p:spPr>
          <a:xfrm>
            <a:off x="6703238" y="2660904"/>
            <a:ext cx="146304" cy="0"/>
          </a:xfrm>
          <a:prstGeom prst="line">
            <a:avLst/>
          </a:prstGeom>
          <a:noFill/>
          <a:ln w="22225">
            <a:solidFill>
              <a:srgbClr val="4A5364"/>
            </a:solidFill>
            <a:prstDash val="solid"/>
            <a:tailEnd type="triangle"/>
          </a:ln>
        </p:spPr>
        <p:txBody>
          <a:bodyPr/>
          <a:lstStyle/>
          <a:p>
            <a:endParaRPr lang="ko-KR" altLang="en-US"/>
          </a:p>
        </p:txBody>
      </p:sp>
      <p:sp>
        <p:nvSpPr>
          <p:cNvPr id="30" name="Shape 27"/>
          <p:cNvSpPr/>
          <p:nvPr/>
        </p:nvSpPr>
        <p:spPr>
          <a:xfrm>
            <a:off x="6876974" y="2432304"/>
            <a:ext cx="1290447" cy="457200"/>
          </a:xfrm>
          <a:prstGeom prst="roundRect">
            <a:avLst>
              <a:gd name="adj" fmla="val 16000"/>
            </a:avLst>
          </a:prstGeom>
          <a:solidFill>
            <a:srgbClr val="1E2A5C"/>
          </a:solidFill>
          <a:ln/>
        </p:spPr>
        <p:txBody>
          <a:bodyPr/>
          <a:lstStyle/>
          <a:p>
            <a:endParaRPr lang="ko-KR" altLang="en-US"/>
          </a:p>
        </p:txBody>
      </p:sp>
      <p:sp>
        <p:nvSpPr>
          <p:cNvPr id="31" name="Text 28"/>
          <p:cNvSpPr txBox="1"/>
          <p:nvPr/>
        </p:nvSpPr>
        <p:spPr>
          <a:xfrm>
            <a:off x="6876974"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④ 추출</a:t>
            </a:r>
            <a:endParaRPr lang="en-US" sz="1400" dirty="0"/>
          </a:p>
        </p:txBody>
      </p:sp>
      <p:sp>
        <p:nvSpPr>
          <p:cNvPr id="32" name="Shape 29"/>
          <p:cNvSpPr/>
          <p:nvPr/>
        </p:nvSpPr>
        <p:spPr>
          <a:xfrm>
            <a:off x="8194853" y="2660904"/>
            <a:ext cx="146304" cy="0"/>
          </a:xfrm>
          <a:prstGeom prst="line">
            <a:avLst/>
          </a:prstGeom>
          <a:noFill/>
          <a:ln w="22225">
            <a:solidFill>
              <a:srgbClr val="4A5364"/>
            </a:solidFill>
            <a:prstDash val="solid"/>
            <a:tailEnd type="triangle"/>
          </a:ln>
        </p:spPr>
        <p:txBody>
          <a:bodyPr/>
          <a:lstStyle/>
          <a:p>
            <a:endParaRPr lang="ko-KR" altLang="en-US"/>
          </a:p>
        </p:txBody>
      </p:sp>
      <p:sp>
        <p:nvSpPr>
          <p:cNvPr id="33" name="Shape 30"/>
          <p:cNvSpPr/>
          <p:nvPr/>
        </p:nvSpPr>
        <p:spPr>
          <a:xfrm>
            <a:off x="8368589" y="2432304"/>
            <a:ext cx="1290447" cy="457200"/>
          </a:xfrm>
          <a:prstGeom prst="roundRect">
            <a:avLst>
              <a:gd name="adj" fmla="val 16000"/>
            </a:avLst>
          </a:prstGeom>
          <a:solidFill>
            <a:srgbClr val="1E2A5C"/>
          </a:solidFill>
          <a:ln/>
        </p:spPr>
        <p:txBody>
          <a:bodyPr/>
          <a:lstStyle/>
          <a:p>
            <a:endParaRPr lang="ko-KR" altLang="en-US"/>
          </a:p>
        </p:txBody>
      </p:sp>
      <p:sp>
        <p:nvSpPr>
          <p:cNvPr id="34" name="Text 31"/>
          <p:cNvSpPr txBox="1"/>
          <p:nvPr/>
        </p:nvSpPr>
        <p:spPr>
          <a:xfrm>
            <a:off x="8368589"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가지치기</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(Pruning)</a:t>
            </a:r>
            <a:endParaRPr lang="en-US" sz="1400" dirty="0"/>
          </a:p>
        </p:txBody>
      </p:sp>
      <p:sp>
        <p:nvSpPr>
          <p:cNvPr id="35" name="Shape 32"/>
          <p:cNvSpPr/>
          <p:nvPr/>
        </p:nvSpPr>
        <p:spPr>
          <a:xfrm>
            <a:off x="9686468" y="2660904"/>
            <a:ext cx="146304" cy="0"/>
          </a:xfrm>
          <a:prstGeom prst="line">
            <a:avLst/>
          </a:prstGeom>
          <a:noFill/>
          <a:ln w="22225">
            <a:solidFill>
              <a:srgbClr val="4A5364"/>
            </a:solidFill>
            <a:prstDash val="solid"/>
            <a:tailEnd type="triangle"/>
          </a:ln>
        </p:spPr>
        <p:txBody>
          <a:bodyPr/>
          <a:lstStyle/>
          <a:p>
            <a:endParaRPr lang="ko-KR" altLang="en-US"/>
          </a:p>
        </p:txBody>
      </p:sp>
      <p:sp>
        <p:nvSpPr>
          <p:cNvPr id="36" name="Shape 33"/>
          <p:cNvSpPr/>
          <p:nvPr/>
        </p:nvSpPr>
        <p:spPr>
          <a:xfrm>
            <a:off x="9860204"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37" name="Text 34"/>
          <p:cNvSpPr txBox="1"/>
          <p:nvPr/>
        </p:nvSpPr>
        <p:spPr>
          <a:xfrm>
            <a:off x="9860204"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KG 저장</a:t>
            </a:r>
            <a:endParaRPr lang="en-US" sz="1400" dirty="0"/>
          </a:p>
        </p:txBody>
      </p:sp>
      <p:sp>
        <p:nvSpPr>
          <p:cNvPr id="38" name="Shape 35"/>
          <p:cNvSpPr/>
          <p:nvPr/>
        </p:nvSpPr>
        <p:spPr>
          <a:xfrm>
            <a:off x="11178083" y="2660904"/>
            <a:ext cx="146304" cy="0"/>
          </a:xfrm>
          <a:prstGeom prst="line">
            <a:avLst/>
          </a:prstGeom>
          <a:noFill/>
          <a:ln w="22225">
            <a:solidFill>
              <a:srgbClr val="4A5364"/>
            </a:solidFill>
            <a:prstDash val="solid"/>
            <a:tailEnd type="triangle"/>
          </a:ln>
        </p:spPr>
        <p:txBody>
          <a:bodyPr/>
          <a:lstStyle/>
          <a:p>
            <a:endParaRPr lang="ko-KR" altLang="en-US"/>
          </a:p>
        </p:txBody>
      </p:sp>
      <p:sp>
        <p:nvSpPr>
          <p:cNvPr id="39" name="Shape 36"/>
          <p:cNvSpPr/>
          <p:nvPr/>
        </p:nvSpPr>
        <p:spPr>
          <a:xfrm>
            <a:off x="11351819"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40" name="Text 37"/>
          <p:cNvSpPr txBox="1"/>
          <p:nvPr/>
        </p:nvSpPr>
        <p:spPr>
          <a:xfrm>
            <a:off x="11351819"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병합</a:t>
            </a:r>
            <a:endParaRPr lang="en-US" sz="1400" dirty="0"/>
          </a:p>
        </p:txBody>
      </p:sp>
      <p:sp>
        <p:nvSpPr>
          <p:cNvPr id="41" name="Shape 38"/>
          <p:cNvSpPr/>
          <p:nvPr/>
        </p:nvSpPr>
        <p:spPr>
          <a:xfrm>
            <a:off x="12669698" y="2660904"/>
            <a:ext cx="146304" cy="0"/>
          </a:xfrm>
          <a:prstGeom prst="line">
            <a:avLst/>
          </a:prstGeom>
          <a:noFill/>
          <a:ln w="22225">
            <a:solidFill>
              <a:srgbClr val="4A5364"/>
            </a:solidFill>
            <a:prstDash val="solid"/>
            <a:tailEnd type="triangle"/>
          </a:ln>
        </p:spPr>
        <p:txBody>
          <a:bodyPr/>
          <a:lstStyle/>
          <a:p>
            <a:endParaRPr lang="ko-KR" altLang="en-US"/>
          </a:p>
        </p:txBody>
      </p:sp>
      <p:sp>
        <p:nvSpPr>
          <p:cNvPr id="42" name="Shape 39"/>
          <p:cNvSpPr/>
          <p:nvPr/>
        </p:nvSpPr>
        <p:spPr>
          <a:xfrm>
            <a:off x="12843434"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43" name="Text 40"/>
          <p:cNvSpPr txBox="1"/>
          <p:nvPr/>
        </p:nvSpPr>
        <p:spPr>
          <a:xfrm>
            <a:off x="12843434"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임베딩</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(노드 설명)</a:t>
            </a:r>
            <a:endParaRPr lang="en-US" sz="1400" dirty="0"/>
          </a:p>
        </p:txBody>
      </p:sp>
      <p:sp>
        <p:nvSpPr>
          <p:cNvPr id="44" name="Shape 41"/>
          <p:cNvSpPr/>
          <p:nvPr/>
        </p:nvSpPr>
        <p:spPr>
          <a:xfrm>
            <a:off x="7522197" y="2176272"/>
            <a:ext cx="0" cy="237744"/>
          </a:xfrm>
          <a:prstGeom prst="line">
            <a:avLst/>
          </a:prstGeom>
          <a:noFill/>
          <a:ln w="22225">
            <a:solidFill>
              <a:srgbClr val="2E74C6"/>
            </a:solidFill>
            <a:prstDash val="dash"/>
            <a:tailEnd type="triangle"/>
          </a:ln>
        </p:spPr>
        <p:txBody>
          <a:bodyPr/>
          <a:lstStyle/>
          <a:p>
            <a:endParaRPr lang="ko-KR" altLang="en-US"/>
          </a:p>
        </p:txBody>
      </p:sp>
      <p:sp>
        <p:nvSpPr>
          <p:cNvPr id="45" name="Shape 42"/>
          <p:cNvSpPr/>
          <p:nvPr/>
        </p:nvSpPr>
        <p:spPr>
          <a:xfrm>
            <a:off x="9013812" y="2176272"/>
            <a:ext cx="0" cy="237744"/>
          </a:xfrm>
          <a:prstGeom prst="line">
            <a:avLst/>
          </a:prstGeom>
          <a:noFill/>
          <a:ln w="22225">
            <a:solidFill>
              <a:srgbClr val="2E74C6"/>
            </a:solidFill>
            <a:prstDash val="dash"/>
            <a:tailEnd type="triangle"/>
          </a:ln>
        </p:spPr>
        <p:txBody>
          <a:bodyPr/>
          <a:lstStyle/>
          <a:p>
            <a:endParaRPr lang="ko-KR" altLang="en-US"/>
          </a:p>
        </p:txBody>
      </p:sp>
      <p:sp>
        <p:nvSpPr>
          <p:cNvPr id="46" name="Text 43"/>
          <p:cNvSpPr txBox="1"/>
          <p:nvPr/>
        </p:nvSpPr>
        <p:spPr>
          <a:xfrm>
            <a:off x="7595349" y="2167128"/>
            <a:ext cx="914400" cy="256032"/>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읽어 씀</a:t>
            </a:r>
            <a:endParaRPr lang="en-US" sz="1400" dirty="0"/>
          </a:p>
        </p:txBody>
      </p:sp>
      <p:sp>
        <p:nvSpPr>
          <p:cNvPr id="47" name="Shape 44"/>
          <p:cNvSpPr/>
          <p:nvPr/>
        </p:nvSpPr>
        <p:spPr>
          <a:xfrm>
            <a:off x="509321" y="3017520"/>
            <a:ext cx="6583680" cy="365760"/>
          </a:xfrm>
          <a:prstGeom prst="roundRect">
            <a:avLst>
              <a:gd name="adj" fmla="val 12500"/>
            </a:avLst>
          </a:prstGeom>
          <a:solidFill>
            <a:srgbClr val="404155"/>
          </a:solidFill>
          <a:ln/>
        </p:spPr>
        <p:txBody>
          <a:bodyPr/>
          <a:lstStyle/>
          <a:p>
            <a:endParaRPr lang="ko-KR" altLang="en-US"/>
          </a:p>
        </p:txBody>
      </p:sp>
      <p:sp>
        <p:nvSpPr>
          <p:cNvPr id="48" name="Text 45"/>
          <p:cNvSpPr txBox="1"/>
          <p:nvPr/>
        </p:nvSpPr>
        <p:spPr>
          <a:xfrm>
            <a:off x="509321" y="3017520"/>
            <a:ext cx="658368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스키마 없이 추출하면 (실측)</a:t>
            </a:r>
            <a:endParaRPr lang="en-US" sz="1600" dirty="0"/>
          </a:p>
        </p:txBody>
      </p:sp>
      <p:sp>
        <p:nvSpPr>
          <p:cNvPr id="49" name="Shape 46"/>
          <p:cNvSpPr/>
          <p:nvPr/>
        </p:nvSpPr>
        <p:spPr>
          <a:xfrm>
            <a:off x="509321" y="3438144"/>
            <a:ext cx="6583680" cy="3072384"/>
          </a:xfrm>
          <a:prstGeom prst="roundRect">
            <a:avLst>
              <a:gd name="adj" fmla="val 2381"/>
            </a:avLst>
          </a:prstGeom>
          <a:solidFill>
            <a:srgbClr val="FFFFFF"/>
          </a:solidFill>
          <a:ln w="12700">
            <a:solidFill>
              <a:srgbClr val="D9E0EC"/>
            </a:solidFill>
            <a:prstDash val="solid"/>
          </a:ln>
        </p:spPr>
        <p:txBody>
          <a:bodyPr/>
          <a:lstStyle/>
          <a:p>
            <a:endParaRPr lang="ko-KR" altLang="en-US"/>
          </a:p>
        </p:txBody>
      </p:sp>
      <p:sp>
        <p:nvSpPr>
          <p:cNvPr id="50" name="Text 47"/>
          <p:cNvSpPr txBox="1"/>
          <p:nvPr/>
        </p:nvSpPr>
        <p:spPr>
          <a:xfrm>
            <a:off x="692201" y="3511296"/>
            <a:ext cx="6217920" cy="310896"/>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로컬 gemma-4 12B로 청크 2개를 스키마 없이 추출 → 라벨 11종</a:t>
            </a:r>
            <a:endParaRPr lang="en-US" sz="1500" dirty="0"/>
          </a:p>
        </p:txBody>
      </p:sp>
      <p:sp>
        <p:nvSpPr>
          <p:cNvPr id="51" name="Shape 48"/>
          <p:cNvSpPr/>
          <p:nvPr/>
        </p:nvSpPr>
        <p:spPr>
          <a:xfrm>
            <a:off x="692201" y="3895344"/>
            <a:ext cx="1143000" cy="329184"/>
          </a:xfrm>
          <a:prstGeom prst="roundRect">
            <a:avLst>
              <a:gd name="adj" fmla="val 45000"/>
            </a:avLst>
          </a:prstGeom>
          <a:solidFill>
            <a:srgbClr val="2E74C6"/>
          </a:solidFill>
          <a:ln/>
        </p:spPr>
        <p:txBody>
          <a:bodyPr/>
          <a:lstStyle/>
          <a:p>
            <a:endParaRPr lang="ko-KR" altLang="en-US"/>
          </a:p>
        </p:txBody>
      </p:sp>
      <p:sp>
        <p:nvSpPr>
          <p:cNvPr id="52" name="Text 49"/>
          <p:cNvSpPr txBox="1"/>
          <p:nvPr/>
        </p:nvSpPr>
        <p:spPr>
          <a:xfrm>
            <a:off x="692201" y="3895344"/>
            <a:ext cx="1143000"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Brand</a:t>
            </a:r>
            <a:endParaRPr lang="en-US" sz="1400" dirty="0"/>
          </a:p>
        </p:txBody>
      </p:sp>
      <p:sp>
        <p:nvSpPr>
          <p:cNvPr id="53" name="Shape 50"/>
          <p:cNvSpPr/>
          <p:nvPr/>
        </p:nvSpPr>
        <p:spPr>
          <a:xfrm>
            <a:off x="1926641" y="3895344"/>
            <a:ext cx="1508760" cy="329184"/>
          </a:xfrm>
          <a:prstGeom prst="roundRect">
            <a:avLst>
              <a:gd name="adj" fmla="val 45000"/>
            </a:avLst>
          </a:prstGeom>
          <a:solidFill>
            <a:srgbClr val="2E74C6"/>
          </a:solidFill>
          <a:ln/>
        </p:spPr>
        <p:txBody>
          <a:bodyPr/>
          <a:lstStyle/>
          <a:p>
            <a:endParaRPr lang="ko-KR" altLang="en-US"/>
          </a:p>
        </p:txBody>
      </p:sp>
      <p:sp>
        <p:nvSpPr>
          <p:cNvPr id="54" name="Text 51"/>
          <p:cNvSpPr txBox="1"/>
          <p:nvPr/>
        </p:nvSpPr>
        <p:spPr>
          <a:xfrm>
            <a:off x="1926641" y="3895344"/>
            <a:ext cx="1508760"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CardProduct</a:t>
            </a:r>
            <a:endParaRPr lang="en-US" sz="1400" dirty="0"/>
          </a:p>
        </p:txBody>
      </p:sp>
      <p:sp>
        <p:nvSpPr>
          <p:cNvPr id="55" name="Text 52"/>
          <p:cNvSpPr txBox="1"/>
          <p:nvPr/>
        </p:nvSpPr>
        <p:spPr>
          <a:xfrm>
            <a:off x="3572561" y="3895344"/>
            <a:ext cx="3291840" cy="329184"/>
          </a:xfrm>
          <a:prstGeom prst="rect">
            <a:avLst/>
          </a:prstGeom>
          <a:noFill/>
          <a:ln/>
        </p:spPr>
        <p:txBody>
          <a:bodyPr wrap="square" lIns="0" tIns="0" rIns="0" bIns="0" rtlCol="0" anchor="ctr"/>
          <a:lstStyle/>
          <a:p>
            <a:pPr marL="0" indent="0" algn="l">
              <a:buNone/>
            </a:pPr>
            <a:r>
              <a:rPr lang="en-US" sz="1500" b="1" dirty="0">
                <a:solidFill>
                  <a:srgbClr val="2E74C6"/>
                </a:solidFill>
                <a:latin typeface="Pretendard" pitchFamily="34" charset="0"/>
                <a:ea typeface="Pretendard" pitchFamily="34" charset="-122"/>
                <a:cs typeface="Pretendard" pitchFamily="34" charset="-120"/>
              </a:rPr>
              <a:t>= 카드 하나가 라벨 2개로</a:t>
            </a:r>
            <a:endParaRPr lang="en-US" sz="1500" dirty="0"/>
          </a:p>
        </p:txBody>
      </p:sp>
      <p:sp>
        <p:nvSpPr>
          <p:cNvPr id="56" name="Shape 53"/>
          <p:cNvSpPr/>
          <p:nvPr/>
        </p:nvSpPr>
        <p:spPr>
          <a:xfrm>
            <a:off x="692201" y="4297680"/>
            <a:ext cx="1143000" cy="329184"/>
          </a:xfrm>
          <a:prstGeom prst="roundRect">
            <a:avLst>
              <a:gd name="adj" fmla="val 45000"/>
            </a:avLst>
          </a:prstGeom>
          <a:solidFill>
            <a:srgbClr val="2E74C6"/>
          </a:solidFill>
          <a:ln/>
        </p:spPr>
        <p:txBody>
          <a:bodyPr/>
          <a:lstStyle/>
          <a:p>
            <a:endParaRPr lang="ko-KR" altLang="en-US"/>
          </a:p>
        </p:txBody>
      </p:sp>
      <p:sp>
        <p:nvSpPr>
          <p:cNvPr id="57" name="Text 54"/>
          <p:cNvSpPr txBox="1"/>
          <p:nvPr/>
        </p:nvSpPr>
        <p:spPr>
          <a:xfrm>
            <a:off x="692201" y="4297680"/>
            <a:ext cx="1143000"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Fee</a:t>
            </a:r>
            <a:endParaRPr lang="en-US" sz="1400" dirty="0"/>
          </a:p>
        </p:txBody>
      </p:sp>
      <p:sp>
        <p:nvSpPr>
          <p:cNvPr id="58" name="Shape 55"/>
          <p:cNvSpPr/>
          <p:nvPr/>
        </p:nvSpPr>
        <p:spPr>
          <a:xfrm>
            <a:off x="1926641" y="4297680"/>
            <a:ext cx="1508760" cy="329184"/>
          </a:xfrm>
          <a:prstGeom prst="roundRect">
            <a:avLst>
              <a:gd name="adj" fmla="val 45000"/>
            </a:avLst>
          </a:prstGeom>
          <a:solidFill>
            <a:srgbClr val="2E74C6"/>
          </a:solidFill>
          <a:ln/>
        </p:spPr>
        <p:txBody>
          <a:bodyPr/>
          <a:lstStyle/>
          <a:p>
            <a:endParaRPr lang="ko-KR" altLang="en-US"/>
          </a:p>
        </p:txBody>
      </p:sp>
      <p:sp>
        <p:nvSpPr>
          <p:cNvPr id="59" name="Text 56"/>
          <p:cNvSpPr txBox="1"/>
          <p:nvPr/>
        </p:nvSpPr>
        <p:spPr>
          <a:xfrm>
            <a:off x="1926641" y="4297680"/>
            <a:ext cx="1508760"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AnnualFee</a:t>
            </a:r>
            <a:endParaRPr lang="en-US" sz="1400" dirty="0"/>
          </a:p>
        </p:txBody>
      </p:sp>
      <p:sp>
        <p:nvSpPr>
          <p:cNvPr id="60" name="Text 57"/>
          <p:cNvSpPr txBox="1"/>
          <p:nvPr/>
        </p:nvSpPr>
        <p:spPr>
          <a:xfrm>
            <a:off x="3572561" y="4297680"/>
            <a:ext cx="3291840" cy="329184"/>
          </a:xfrm>
          <a:prstGeom prst="rect">
            <a:avLst/>
          </a:prstGeom>
          <a:noFill/>
          <a:ln/>
        </p:spPr>
        <p:txBody>
          <a:bodyPr wrap="square" lIns="0" tIns="0" rIns="0" bIns="0" rtlCol="0" anchor="ctr"/>
          <a:lstStyle/>
          <a:p>
            <a:pPr marL="0" indent="0" algn="l">
              <a:buNone/>
            </a:pPr>
            <a:r>
              <a:rPr lang="en-US" sz="1500" b="1" dirty="0">
                <a:solidFill>
                  <a:srgbClr val="2E74C6"/>
                </a:solidFill>
                <a:latin typeface="Pretendard" pitchFamily="34" charset="0"/>
                <a:ea typeface="Pretendard" pitchFamily="34" charset="-122"/>
                <a:cs typeface="Pretendard" pitchFamily="34" charset="-120"/>
              </a:rPr>
              <a:t>= 요금도 라벨 2개로</a:t>
            </a:r>
            <a:endParaRPr lang="en-US" sz="1500" dirty="0"/>
          </a:p>
        </p:txBody>
      </p:sp>
      <p:sp>
        <p:nvSpPr>
          <p:cNvPr id="61" name="Shape 58"/>
          <p:cNvSpPr/>
          <p:nvPr/>
        </p:nvSpPr>
        <p:spPr>
          <a:xfrm>
            <a:off x="692201" y="4718304"/>
            <a:ext cx="114300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62" name="Text 59"/>
          <p:cNvSpPr txBox="1"/>
          <p:nvPr/>
        </p:nvSpPr>
        <p:spPr>
          <a:xfrm>
            <a:off x="692201" y="4718304"/>
            <a:ext cx="114300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Channel</a:t>
            </a:r>
            <a:endParaRPr lang="en-US" sz="1400" dirty="0"/>
          </a:p>
        </p:txBody>
      </p:sp>
      <p:sp>
        <p:nvSpPr>
          <p:cNvPr id="63" name="Shape 60"/>
          <p:cNvSpPr/>
          <p:nvPr/>
        </p:nvSpPr>
        <p:spPr>
          <a:xfrm>
            <a:off x="1926641" y="4718304"/>
            <a:ext cx="109728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64" name="Text 61"/>
          <p:cNvSpPr txBox="1"/>
          <p:nvPr/>
        </p:nvSpPr>
        <p:spPr>
          <a:xfrm>
            <a:off x="1926641" y="4718304"/>
            <a:ext cx="109728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Benefit</a:t>
            </a:r>
            <a:endParaRPr lang="en-US" sz="1400" dirty="0"/>
          </a:p>
        </p:txBody>
      </p:sp>
      <p:sp>
        <p:nvSpPr>
          <p:cNvPr id="65" name="Shape 62"/>
          <p:cNvSpPr/>
          <p:nvPr/>
        </p:nvSpPr>
        <p:spPr>
          <a:xfrm>
            <a:off x="3115361" y="4718304"/>
            <a:ext cx="114300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66" name="Text 63"/>
          <p:cNvSpPr txBox="1"/>
          <p:nvPr/>
        </p:nvSpPr>
        <p:spPr>
          <a:xfrm>
            <a:off x="3115361" y="4718304"/>
            <a:ext cx="114300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Guardian</a:t>
            </a:r>
            <a:endParaRPr lang="en-US" sz="1400" dirty="0"/>
          </a:p>
        </p:txBody>
      </p:sp>
      <p:sp>
        <p:nvSpPr>
          <p:cNvPr id="67" name="Shape 64"/>
          <p:cNvSpPr/>
          <p:nvPr/>
        </p:nvSpPr>
        <p:spPr>
          <a:xfrm>
            <a:off x="4349801" y="4718304"/>
            <a:ext cx="91440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68" name="Text 65"/>
          <p:cNvSpPr txBox="1"/>
          <p:nvPr/>
        </p:nvSpPr>
        <p:spPr>
          <a:xfrm>
            <a:off x="4349801" y="4718304"/>
            <a:ext cx="91440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Grade</a:t>
            </a:r>
            <a:endParaRPr lang="en-US" sz="1400" dirty="0"/>
          </a:p>
        </p:txBody>
      </p:sp>
      <p:sp>
        <p:nvSpPr>
          <p:cNvPr id="69" name="Shape 66"/>
          <p:cNvSpPr/>
          <p:nvPr/>
        </p:nvSpPr>
        <p:spPr>
          <a:xfrm>
            <a:off x="5355641" y="4718304"/>
            <a:ext cx="82296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70" name="Text 67"/>
          <p:cNvSpPr txBox="1"/>
          <p:nvPr/>
        </p:nvSpPr>
        <p:spPr>
          <a:xfrm>
            <a:off x="5355641" y="4718304"/>
            <a:ext cx="82296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Date</a:t>
            </a:r>
            <a:endParaRPr lang="en-US" sz="1400" dirty="0"/>
          </a:p>
        </p:txBody>
      </p:sp>
      <p:sp>
        <p:nvSpPr>
          <p:cNvPr id="71" name="Shape 68"/>
          <p:cNvSpPr/>
          <p:nvPr/>
        </p:nvSpPr>
        <p:spPr>
          <a:xfrm>
            <a:off x="692201" y="5102352"/>
            <a:ext cx="86868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72" name="Text 69"/>
          <p:cNvSpPr txBox="1"/>
          <p:nvPr/>
        </p:nvSpPr>
        <p:spPr>
          <a:xfrm>
            <a:off x="692201" y="5102352"/>
            <a:ext cx="86868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Store</a:t>
            </a:r>
            <a:endParaRPr lang="en-US" sz="1400" dirty="0"/>
          </a:p>
        </p:txBody>
      </p:sp>
      <p:sp>
        <p:nvSpPr>
          <p:cNvPr id="73" name="Shape 70"/>
          <p:cNvSpPr/>
          <p:nvPr/>
        </p:nvSpPr>
        <p:spPr>
          <a:xfrm>
            <a:off x="1652321" y="5102352"/>
            <a:ext cx="224028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74" name="Text 71"/>
          <p:cNvSpPr txBox="1"/>
          <p:nvPr/>
        </p:nvSpPr>
        <p:spPr>
          <a:xfrm>
            <a:off x="1652321" y="5102352"/>
            <a:ext cx="224028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PerformanceCondition</a:t>
            </a:r>
            <a:endParaRPr lang="en-US" sz="1400" dirty="0"/>
          </a:p>
        </p:txBody>
      </p:sp>
      <p:sp>
        <p:nvSpPr>
          <p:cNvPr id="75" name="Shape 72"/>
          <p:cNvSpPr/>
          <p:nvPr/>
        </p:nvSpPr>
        <p:spPr>
          <a:xfrm>
            <a:off x="692201" y="5522976"/>
            <a:ext cx="6217920" cy="0"/>
          </a:xfrm>
          <a:prstGeom prst="line">
            <a:avLst/>
          </a:prstGeom>
          <a:noFill/>
          <a:ln w="12700">
            <a:solidFill>
              <a:srgbClr val="D9E0EC"/>
            </a:solidFill>
            <a:prstDash val="solid"/>
          </a:ln>
        </p:spPr>
        <p:txBody>
          <a:bodyPr/>
          <a:lstStyle/>
          <a:p>
            <a:endParaRPr lang="ko-KR" altLang="en-US"/>
          </a:p>
        </p:txBody>
      </p:sp>
      <p:sp>
        <p:nvSpPr>
          <p:cNvPr id="76" name="Text 73"/>
          <p:cNvSpPr txBox="1"/>
          <p:nvPr/>
        </p:nvSpPr>
        <p:spPr>
          <a:xfrm>
            <a:off x="692201" y="5568696"/>
            <a:ext cx="6217920" cy="292608"/>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GraphRAG 도구 기본 노드 타입/관계가 없거나 너무 일반적임</a:t>
            </a:r>
            <a:endParaRPr lang="en-US" sz="1500" dirty="0"/>
          </a:p>
        </p:txBody>
      </p:sp>
      <p:sp>
        <p:nvSpPr>
          <p:cNvPr id="77" name="Text 74"/>
          <p:cNvSpPr txBox="1"/>
          <p:nvPr/>
        </p:nvSpPr>
        <p:spPr>
          <a:xfrm>
            <a:off x="692201" y="5852160"/>
            <a:ext cx="6217920" cy="640080"/>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 Neo4j: 스키마를 안 주면 매번 입력 글에서 자동 추출(사람 검토 없음)</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 MS GraphRAG 기본 타입: organization, person, geo, event</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 LangChain+Neo4j: 허용 목록이 비면 아무 타입이나 만듦</a:t>
            </a:r>
            <a:endParaRPr lang="en-US" sz="1400" dirty="0"/>
          </a:p>
        </p:txBody>
      </p:sp>
      <p:sp>
        <p:nvSpPr>
          <p:cNvPr id="78" name="Shape 75"/>
          <p:cNvSpPr/>
          <p:nvPr/>
        </p:nvSpPr>
        <p:spPr>
          <a:xfrm>
            <a:off x="7321601" y="3017520"/>
            <a:ext cx="6812280" cy="365760"/>
          </a:xfrm>
          <a:prstGeom prst="roundRect">
            <a:avLst>
              <a:gd name="adj" fmla="val 12500"/>
            </a:avLst>
          </a:prstGeom>
          <a:solidFill>
            <a:srgbClr val="1E2A5C"/>
          </a:solidFill>
          <a:ln/>
        </p:spPr>
        <p:txBody>
          <a:bodyPr/>
          <a:lstStyle/>
          <a:p>
            <a:endParaRPr lang="ko-KR" altLang="en-US"/>
          </a:p>
        </p:txBody>
      </p:sp>
      <p:sp>
        <p:nvSpPr>
          <p:cNvPr id="79" name="Text 76"/>
          <p:cNvSpPr txBox="1"/>
          <p:nvPr/>
        </p:nvSpPr>
        <p:spPr>
          <a:xfrm>
            <a:off x="7321601" y="3017520"/>
            <a:ext cx="681228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스키마를 주면 (Native GraphSchema)</a:t>
            </a:r>
            <a:endParaRPr lang="en-US" sz="1600" dirty="0"/>
          </a:p>
        </p:txBody>
      </p:sp>
      <p:sp>
        <p:nvSpPr>
          <p:cNvPr id="80" name="Shape 77"/>
          <p:cNvSpPr/>
          <p:nvPr/>
        </p:nvSpPr>
        <p:spPr>
          <a:xfrm>
            <a:off x="7321601" y="3438144"/>
            <a:ext cx="6812280" cy="1700784"/>
          </a:xfrm>
          <a:prstGeom prst="roundRect">
            <a:avLst>
              <a:gd name="adj" fmla="val 3226"/>
            </a:avLst>
          </a:prstGeom>
          <a:solidFill>
            <a:srgbClr val="F5F8FC"/>
          </a:solidFill>
          <a:ln w="12700">
            <a:solidFill>
              <a:srgbClr val="D9E0EC"/>
            </a:solidFill>
            <a:prstDash val="solid"/>
          </a:ln>
        </p:spPr>
        <p:txBody>
          <a:bodyPr/>
          <a:lstStyle/>
          <a:p>
            <a:endParaRPr lang="ko-KR" altLang="en-US"/>
          </a:p>
        </p:txBody>
      </p:sp>
      <p:sp>
        <p:nvSpPr>
          <p:cNvPr id="81" name="Text 78"/>
          <p:cNvSpPr txBox="1"/>
          <p:nvPr/>
        </p:nvSpPr>
        <p:spPr>
          <a:xfrm>
            <a:off x="7431329" y="3511296"/>
            <a:ext cx="6592824" cy="1572768"/>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schema = GraphSchema.model_validate({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"node_types": ["Card", "Benefit", "Fee"],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"relationship_types": ["HAS_BENEFIT", "HAS_FEE"],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"patterns": [("Card", "HAS_BENEFIT", "Benefit"),</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("Card", "HAS_FEE", "Fee")]})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graph = await extractor.run(chunks=chunks, schema=schema)</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result = await GraphPruning().run(graph, schema)</a:t>
            </a:r>
            <a:endParaRPr lang="en-US" sz="1400" dirty="0"/>
          </a:p>
        </p:txBody>
      </p:sp>
      <p:sp>
        <p:nvSpPr>
          <p:cNvPr id="82" name="Shape 79"/>
          <p:cNvSpPr/>
          <p:nvPr/>
        </p:nvSpPr>
        <p:spPr>
          <a:xfrm>
            <a:off x="7321601" y="5248656"/>
            <a:ext cx="3314700" cy="914400"/>
          </a:xfrm>
          <a:prstGeom prst="roundRect">
            <a:avLst>
              <a:gd name="adj" fmla="val 8000"/>
            </a:avLst>
          </a:prstGeom>
          <a:solidFill>
            <a:srgbClr val="EEF3FA"/>
          </a:solidFill>
          <a:ln w="12700">
            <a:solidFill>
              <a:srgbClr val="2E74C6"/>
            </a:solidFill>
            <a:prstDash val="solid"/>
          </a:ln>
        </p:spPr>
        <p:txBody>
          <a:bodyPr/>
          <a:lstStyle/>
          <a:p>
            <a:endParaRPr lang="ko-KR" altLang="en-US"/>
          </a:p>
        </p:txBody>
      </p:sp>
      <p:sp>
        <p:nvSpPr>
          <p:cNvPr id="83" name="Text 80"/>
          <p:cNvSpPr txBox="1"/>
          <p:nvPr/>
        </p:nvSpPr>
        <p:spPr>
          <a:xfrm>
            <a:off x="7458761" y="5285232"/>
            <a:ext cx="3040380" cy="310896"/>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① 추출 안내</a:t>
            </a:r>
            <a:endParaRPr lang="en-US" sz="1600" dirty="0"/>
          </a:p>
        </p:txBody>
      </p:sp>
      <p:sp>
        <p:nvSpPr>
          <p:cNvPr id="84" name="Text 81"/>
          <p:cNvSpPr txBox="1"/>
          <p:nvPr/>
        </p:nvSpPr>
        <p:spPr>
          <a:xfrm>
            <a:off x="7458761" y="5614416"/>
            <a:ext cx="3040380" cy="512064"/>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허용 목록이 추출 프롬프트에</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들어가 LLM이 그 안에서 고름</a:t>
            </a:r>
            <a:endParaRPr lang="en-US" sz="1400" dirty="0"/>
          </a:p>
        </p:txBody>
      </p:sp>
      <p:sp>
        <p:nvSpPr>
          <p:cNvPr id="85" name="Shape 82"/>
          <p:cNvSpPr/>
          <p:nvPr/>
        </p:nvSpPr>
        <p:spPr>
          <a:xfrm>
            <a:off x="10819181" y="5248656"/>
            <a:ext cx="3314700" cy="914400"/>
          </a:xfrm>
          <a:prstGeom prst="roundRect">
            <a:avLst>
              <a:gd name="adj" fmla="val 8000"/>
            </a:avLst>
          </a:prstGeom>
          <a:solidFill>
            <a:srgbClr val="EEF3FA"/>
          </a:solidFill>
          <a:ln w="12700">
            <a:solidFill>
              <a:srgbClr val="2E74C6"/>
            </a:solidFill>
            <a:prstDash val="solid"/>
          </a:ln>
        </p:spPr>
        <p:txBody>
          <a:bodyPr/>
          <a:lstStyle/>
          <a:p>
            <a:endParaRPr lang="ko-KR" altLang="en-US"/>
          </a:p>
        </p:txBody>
      </p:sp>
      <p:sp>
        <p:nvSpPr>
          <p:cNvPr id="86" name="Text 83"/>
          <p:cNvSpPr txBox="1"/>
          <p:nvPr/>
        </p:nvSpPr>
        <p:spPr>
          <a:xfrm>
            <a:off x="10956341" y="5285232"/>
            <a:ext cx="3040380" cy="310896"/>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② 가지치기</a:t>
            </a:r>
            <a:endParaRPr lang="en-US" sz="1600" dirty="0"/>
          </a:p>
        </p:txBody>
      </p:sp>
      <p:sp>
        <p:nvSpPr>
          <p:cNvPr id="87" name="Text 84"/>
          <p:cNvSpPr txBox="1"/>
          <p:nvPr/>
        </p:nvSpPr>
        <p:spPr>
          <a:xfrm>
            <a:off x="10956341" y="5614416"/>
            <a:ext cx="3040380" cy="512064"/>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목록 밖 노드와 관계를 지우고</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지운 개수를 통계로 남김</a:t>
            </a:r>
            <a:endParaRPr lang="en-US" sz="1400" dirty="0"/>
          </a:p>
        </p:txBody>
      </p:sp>
      <p:sp>
        <p:nvSpPr>
          <p:cNvPr id="88" name="Text 85"/>
          <p:cNvSpPr txBox="1"/>
          <p:nvPr/>
        </p:nvSpPr>
        <p:spPr>
          <a:xfrm>
            <a:off x="7321601" y="6217920"/>
            <a:ext cx="6812280" cy="274320"/>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실행 확인: 노드 타입을 주면 목록 밖 타입은 기본 불허</a:t>
            </a:r>
            <a:endParaRPr lang="en-US" sz="1400" dirty="0"/>
          </a:p>
        </p:txBody>
      </p:sp>
      <p:sp>
        <p:nvSpPr>
          <p:cNvPr id="89" name="Shape 86"/>
          <p:cNvSpPr/>
          <p:nvPr/>
        </p:nvSpPr>
        <p:spPr>
          <a:xfrm>
            <a:off x="509321" y="6601968"/>
            <a:ext cx="13624560" cy="621792"/>
          </a:xfrm>
          <a:prstGeom prst="roundRect">
            <a:avLst>
              <a:gd name="adj" fmla="val 11765"/>
            </a:avLst>
          </a:prstGeom>
          <a:solidFill>
            <a:srgbClr val="EEF3FA"/>
          </a:solidFill>
          <a:ln w="19050">
            <a:solidFill>
              <a:srgbClr val="2E74C6"/>
            </a:solidFill>
            <a:prstDash val="solid"/>
          </a:ln>
        </p:spPr>
        <p:txBody>
          <a:bodyPr/>
          <a:lstStyle/>
          <a:p>
            <a:endParaRPr lang="ko-KR" altLang="en-US"/>
          </a:p>
        </p:txBody>
      </p:sp>
      <p:sp>
        <p:nvSpPr>
          <p:cNvPr id="90" name="Shape 87"/>
          <p:cNvSpPr/>
          <p:nvPr/>
        </p:nvSpPr>
        <p:spPr>
          <a:xfrm>
            <a:off x="509321" y="6601968"/>
            <a:ext cx="82296" cy="621792"/>
          </a:xfrm>
          <a:prstGeom prst="rect">
            <a:avLst/>
          </a:prstGeom>
          <a:solidFill>
            <a:srgbClr val="2E74C6"/>
          </a:solidFill>
          <a:ln/>
        </p:spPr>
        <p:txBody>
          <a:bodyPr/>
          <a:lstStyle/>
          <a:p>
            <a:endParaRPr lang="ko-KR" altLang="en-US"/>
          </a:p>
        </p:txBody>
      </p:sp>
      <p:sp>
        <p:nvSpPr>
          <p:cNvPr id="91" name="Text 88"/>
          <p:cNvSpPr txBox="1"/>
          <p:nvPr/>
        </p:nvSpPr>
        <p:spPr>
          <a:xfrm>
            <a:off x="737921" y="6601968"/>
            <a:ext cx="13258800" cy="62179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결론: 스키마는 인덱싱 전 설계 단계에서 확정해 파일로 고정, 인덱싱은 읽어 쓰기만 함.</a:t>
            </a:r>
            <a:endParaRPr lang="en-US" sz="1600" dirty="0"/>
          </a:p>
          <a:p>
            <a:pPr marL="0" indent="0" algn="l">
              <a:buNone/>
            </a:pPr>
            <a:r>
              <a:rPr lang="en-US" sz="1600" b="1" dirty="0">
                <a:solidFill>
                  <a:srgbClr val="1E2A5C"/>
                </a:solidFill>
                <a:latin typeface="Pretendard" pitchFamily="34" charset="0"/>
                <a:ea typeface="Pretendard" pitchFamily="34" charset="-122"/>
                <a:cs typeface="Pretendard" pitchFamily="34" charset="-120"/>
              </a:rPr>
              <a:t>정형 테이블은 변환 규칙으로, 문서는 표본 → 후보 → 사람 확정으로 스키마 설계</a:t>
            </a:r>
            <a:endParaRPr lang="en-US" sz="16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스키마에 정의하는 7가지</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노드 타입과 관계, 각각의 속성, 연결 패턴이 뼈대 — 제약과 허용 범위로 무엇을 지킬지 정함</a:t>
            </a:r>
            <a:endParaRPr lang="en-US" sz="1800" dirty="0"/>
          </a:p>
        </p:txBody>
      </p:sp>
      <p:sp>
        <p:nvSpPr>
          <p:cNvPr id="5" name="Text 2"/>
          <p:cNvSpPr txBox="1"/>
          <p:nvPr/>
        </p:nvSpPr>
        <p:spPr>
          <a:xfrm>
            <a:off x="509321" y="1700784"/>
            <a:ext cx="182880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뼈대 ① ~ ⑤</a:t>
            </a:r>
            <a:endParaRPr lang="en-US" sz="1400" dirty="0"/>
          </a:p>
        </p:txBody>
      </p:sp>
      <p:sp>
        <p:nvSpPr>
          <p:cNvPr id="6" name="Text 3"/>
          <p:cNvSpPr txBox="1"/>
          <p:nvPr/>
        </p:nvSpPr>
        <p:spPr>
          <a:xfrm>
            <a:off x="2338121" y="1700784"/>
            <a:ext cx="4846320" cy="274320"/>
          </a:xfrm>
          <a:prstGeom prst="rect">
            <a:avLst/>
          </a:prstGeom>
          <a:noFill/>
          <a:ln/>
        </p:spPr>
        <p:txBody>
          <a:bodyPr wrap="square" lIns="0" tIns="0" rIns="0" bIns="0" rtlCol="0" anchor="ctr"/>
          <a:lstStyle/>
          <a:p>
            <a:pPr marL="0" indent="0" algn="r">
              <a:buNone/>
            </a:pPr>
            <a:r>
              <a:rPr lang="en-US" sz="1400" dirty="0">
                <a:solidFill>
                  <a:srgbClr val="4A5364"/>
                </a:solidFill>
                <a:latin typeface="Pretendard" pitchFamily="34" charset="0"/>
                <a:ea typeface="Pretendard" pitchFamily="34" charset="-122"/>
                <a:cs typeface="Pretendard" pitchFamily="34" charset="-120"/>
              </a:rPr>
              <a:t>왼쪽부터 정의할 것, GraphSchema 칸, 카드 예</a:t>
            </a:r>
            <a:endParaRPr lang="en-US" sz="1400" dirty="0"/>
          </a:p>
        </p:txBody>
      </p:sp>
      <p:sp>
        <p:nvSpPr>
          <p:cNvPr id="7" name="Shape 4"/>
          <p:cNvSpPr/>
          <p:nvPr/>
        </p:nvSpPr>
        <p:spPr>
          <a:xfrm>
            <a:off x="509321" y="2011680"/>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8" name="Shape 5"/>
          <p:cNvSpPr/>
          <p:nvPr/>
        </p:nvSpPr>
        <p:spPr>
          <a:xfrm>
            <a:off x="600761" y="2103120"/>
            <a:ext cx="347472" cy="347472"/>
          </a:xfrm>
          <a:prstGeom prst="roundRect">
            <a:avLst>
              <a:gd name="adj" fmla="val 13158"/>
            </a:avLst>
          </a:prstGeom>
          <a:solidFill>
            <a:srgbClr val="1E2A5C"/>
          </a:solidFill>
          <a:ln/>
        </p:spPr>
        <p:txBody>
          <a:bodyPr/>
          <a:lstStyle/>
          <a:p>
            <a:endParaRPr lang="ko-KR" altLang="en-US"/>
          </a:p>
        </p:txBody>
      </p:sp>
      <p:sp>
        <p:nvSpPr>
          <p:cNvPr id="9" name="Text 6"/>
          <p:cNvSpPr txBox="1"/>
          <p:nvPr/>
        </p:nvSpPr>
        <p:spPr>
          <a:xfrm>
            <a:off x="600761" y="2103120"/>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①</a:t>
            </a:r>
            <a:endParaRPr lang="en-US" sz="1600" dirty="0"/>
          </a:p>
        </p:txBody>
      </p:sp>
      <p:sp>
        <p:nvSpPr>
          <p:cNvPr id="10" name="Text 7"/>
          <p:cNvSpPr txBox="1"/>
          <p:nvPr/>
        </p:nvSpPr>
        <p:spPr>
          <a:xfrm>
            <a:off x="1039673" y="2011680"/>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노드 타입</a:t>
            </a:r>
            <a:endParaRPr lang="en-US" sz="1600" dirty="0"/>
          </a:p>
        </p:txBody>
      </p:sp>
      <p:sp>
        <p:nvSpPr>
          <p:cNvPr id="11" name="Text 8"/>
          <p:cNvSpPr txBox="1"/>
          <p:nvPr/>
        </p:nvSpPr>
        <p:spPr>
          <a:xfrm>
            <a:off x="2200961" y="2011680"/>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node_types[].label</a:t>
            </a:r>
            <a:endParaRPr lang="en-US" sz="1400" dirty="0"/>
          </a:p>
        </p:txBody>
      </p:sp>
      <p:sp>
        <p:nvSpPr>
          <p:cNvPr id="12" name="Text 9"/>
          <p:cNvSpPr txBox="1"/>
          <p:nvPr/>
        </p:nvSpPr>
        <p:spPr>
          <a:xfrm>
            <a:off x="5035601" y="2011680"/>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Card, Benefit</a:t>
            </a:r>
            <a:endParaRPr lang="en-US" sz="1400" dirty="0"/>
          </a:p>
        </p:txBody>
      </p:sp>
      <p:sp>
        <p:nvSpPr>
          <p:cNvPr id="13" name="Shape 10"/>
          <p:cNvSpPr/>
          <p:nvPr/>
        </p:nvSpPr>
        <p:spPr>
          <a:xfrm>
            <a:off x="509321" y="2587752"/>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14" name="Shape 11"/>
          <p:cNvSpPr/>
          <p:nvPr/>
        </p:nvSpPr>
        <p:spPr>
          <a:xfrm>
            <a:off x="600761" y="2679192"/>
            <a:ext cx="347472" cy="347472"/>
          </a:xfrm>
          <a:prstGeom prst="roundRect">
            <a:avLst>
              <a:gd name="adj" fmla="val 13158"/>
            </a:avLst>
          </a:prstGeom>
          <a:solidFill>
            <a:srgbClr val="1E2A5C"/>
          </a:solidFill>
          <a:ln/>
        </p:spPr>
        <p:txBody>
          <a:bodyPr/>
          <a:lstStyle/>
          <a:p>
            <a:endParaRPr lang="ko-KR" altLang="en-US"/>
          </a:p>
        </p:txBody>
      </p:sp>
      <p:sp>
        <p:nvSpPr>
          <p:cNvPr id="15" name="Text 12"/>
          <p:cNvSpPr txBox="1"/>
          <p:nvPr/>
        </p:nvSpPr>
        <p:spPr>
          <a:xfrm>
            <a:off x="600761" y="2679192"/>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②</a:t>
            </a:r>
            <a:endParaRPr lang="en-US" sz="1600" dirty="0"/>
          </a:p>
        </p:txBody>
      </p:sp>
      <p:sp>
        <p:nvSpPr>
          <p:cNvPr id="16" name="Text 13"/>
          <p:cNvSpPr txBox="1"/>
          <p:nvPr/>
        </p:nvSpPr>
        <p:spPr>
          <a:xfrm>
            <a:off x="1039673" y="2587752"/>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노드 속성</a:t>
            </a:r>
            <a:endParaRPr lang="en-US" sz="1600" dirty="0"/>
          </a:p>
        </p:txBody>
      </p:sp>
      <p:sp>
        <p:nvSpPr>
          <p:cNvPr id="17" name="Text 14"/>
          <p:cNvSpPr txBox="1"/>
          <p:nvPr/>
        </p:nvSpPr>
        <p:spPr>
          <a:xfrm>
            <a:off x="2200961" y="2587752"/>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node_types[]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.properties</a:t>
            </a:r>
            <a:endParaRPr lang="en-US" sz="1400" dirty="0"/>
          </a:p>
        </p:txBody>
      </p:sp>
      <p:sp>
        <p:nvSpPr>
          <p:cNvPr id="18" name="Text 15"/>
          <p:cNvSpPr txBox="1"/>
          <p:nvPr/>
        </p:nvSpPr>
        <p:spPr>
          <a:xfrm>
            <a:off x="5035601" y="2587752"/>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Card {name, annual_fee}</a:t>
            </a:r>
            <a:endParaRPr lang="en-US" sz="1400" dirty="0"/>
          </a:p>
        </p:txBody>
      </p:sp>
      <p:sp>
        <p:nvSpPr>
          <p:cNvPr id="19" name="Shape 16"/>
          <p:cNvSpPr/>
          <p:nvPr/>
        </p:nvSpPr>
        <p:spPr>
          <a:xfrm>
            <a:off x="509321" y="3163824"/>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20" name="Shape 17"/>
          <p:cNvSpPr/>
          <p:nvPr/>
        </p:nvSpPr>
        <p:spPr>
          <a:xfrm>
            <a:off x="600761" y="3255264"/>
            <a:ext cx="347472" cy="347472"/>
          </a:xfrm>
          <a:prstGeom prst="roundRect">
            <a:avLst>
              <a:gd name="adj" fmla="val 13158"/>
            </a:avLst>
          </a:prstGeom>
          <a:solidFill>
            <a:srgbClr val="1E2A5C"/>
          </a:solidFill>
          <a:ln/>
        </p:spPr>
        <p:txBody>
          <a:bodyPr/>
          <a:lstStyle/>
          <a:p>
            <a:endParaRPr lang="ko-KR" altLang="en-US"/>
          </a:p>
        </p:txBody>
      </p:sp>
      <p:sp>
        <p:nvSpPr>
          <p:cNvPr id="21" name="Text 18"/>
          <p:cNvSpPr txBox="1"/>
          <p:nvPr/>
        </p:nvSpPr>
        <p:spPr>
          <a:xfrm>
            <a:off x="600761" y="3255264"/>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③</a:t>
            </a:r>
            <a:endParaRPr lang="en-US" sz="1600" dirty="0"/>
          </a:p>
        </p:txBody>
      </p:sp>
      <p:sp>
        <p:nvSpPr>
          <p:cNvPr id="22" name="Text 19"/>
          <p:cNvSpPr txBox="1"/>
          <p:nvPr/>
        </p:nvSpPr>
        <p:spPr>
          <a:xfrm>
            <a:off x="1039673" y="3163824"/>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관계</a:t>
            </a:r>
            <a:endParaRPr lang="en-US" sz="1600" dirty="0"/>
          </a:p>
        </p:txBody>
      </p:sp>
      <p:sp>
        <p:nvSpPr>
          <p:cNvPr id="23" name="Text 20"/>
          <p:cNvSpPr txBox="1"/>
          <p:nvPr/>
        </p:nvSpPr>
        <p:spPr>
          <a:xfrm>
            <a:off x="2200961" y="3163824"/>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relationship_types[]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.label</a:t>
            </a:r>
            <a:endParaRPr lang="en-US" sz="1400" dirty="0"/>
          </a:p>
        </p:txBody>
      </p:sp>
      <p:sp>
        <p:nvSpPr>
          <p:cNvPr id="24" name="Text 21"/>
          <p:cNvSpPr txBox="1"/>
          <p:nvPr/>
        </p:nvSpPr>
        <p:spPr>
          <a:xfrm>
            <a:off x="5035601" y="3163824"/>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HAS_BENEFIT</a:t>
            </a:r>
            <a:endParaRPr lang="en-US" sz="1400" dirty="0"/>
          </a:p>
        </p:txBody>
      </p:sp>
      <p:sp>
        <p:nvSpPr>
          <p:cNvPr id="25" name="Shape 22"/>
          <p:cNvSpPr/>
          <p:nvPr/>
        </p:nvSpPr>
        <p:spPr>
          <a:xfrm>
            <a:off x="509321" y="3739896"/>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26" name="Shape 23"/>
          <p:cNvSpPr/>
          <p:nvPr/>
        </p:nvSpPr>
        <p:spPr>
          <a:xfrm>
            <a:off x="600761" y="3831336"/>
            <a:ext cx="347472" cy="347472"/>
          </a:xfrm>
          <a:prstGeom prst="roundRect">
            <a:avLst>
              <a:gd name="adj" fmla="val 13158"/>
            </a:avLst>
          </a:prstGeom>
          <a:solidFill>
            <a:srgbClr val="1E2A5C"/>
          </a:solidFill>
          <a:ln/>
        </p:spPr>
        <p:txBody>
          <a:bodyPr/>
          <a:lstStyle/>
          <a:p>
            <a:endParaRPr lang="ko-KR" altLang="en-US"/>
          </a:p>
        </p:txBody>
      </p:sp>
      <p:sp>
        <p:nvSpPr>
          <p:cNvPr id="27" name="Text 24"/>
          <p:cNvSpPr txBox="1"/>
          <p:nvPr/>
        </p:nvSpPr>
        <p:spPr>
          <a:xfrm>
            <a:off x="600761" y="3831336"/>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④</a:t>
            </a:r>
            <a:endParaRPr lang="en-US" sz="1600" dirty="0"/>
          </a:p>
        </p:txBody>
      </p:sp>
      <p:sp>
        <p:nvSpPr>
          <p:cNvPr id="28" name="Text 25"/>
          <p:cNvSpPr txBox="1"/>
          <p:nvPr/>
        </p:nvSpPr>
        <p:spPr>
          <a:xfrm>
            <a:off x="1039673" y="3739896"/>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관계 속성</a:t>
            </a:r>
            <a:endParaRPr lang="en-US" sz="1600" dirty="0"/>
          </a:p>
        </p:txBody>
      </p:sp>
      <p:sp>
        <p:nvSpPr>
          <p:cNvPr id="29" name="Text 26"/>
          <p:cNvSpPr txBox="1"/>
          <p:nvPr/>
        </p:nvSpPr>
        <p:spPr>
          <a:xfrm>
            <a:off x="2200961" y="3739896"/>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relationship_types[]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.properties</a:t>
            </a:r>
            <a:endParaRPr lang="en-US" sz="1400" dirty="0"/>
          </a:p>
        </p:txBody>
      </p:sp>
      <p:sp>
        <p:nvSpPr>
          <p:cNvPr id="30" name="Text 27"/>
          <p:cNvSpPr txBox="1"/>
          <p:nvPr/>
        </p:nvSpPr>
        <p:spPr>
          <a:xfrm>
            <a:off x="5035601" y="3739896"/>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HAS_BENEFIT {valid_until}</a:t>
            </a:r>
            <a:endParaRPr lang="en-US" sz="1400" dirty="0"/>
          </a:p>
        </p:txBody>
      </p:sp>
      <p:sp>
        <p:nvSpPr>
          <p:cNvPr id="31" name="Shape 28"/>
          <p:cNvSpPr/>
          <p:nvPr/>
        </p:nvSpPr>
        <p:spPr>
          <a:xfrm>
            <a:off x="509321" y="4315968"/>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32" name="Shape 29"/>
          <p:cNvSpPr/>
          <p:nvPr/>
        </p:nvSpPr>
        <p:spPr>
          <a:xfrm>
            <a:off x="600761" y="4407408"/>
            <a:ext cx="347472" cy="347472"/>
          </a:xfrm>
          <a:prstGeom prst="roundRect">
            <a:avLst>
              <a:gd name="adj" fmla="val 13158"/>
            </a:avLst>
          </a:prstGeom>
          <a:solidFill>
            <a:srgbClr val="1E2A5C"/>
          </a:solidFill>
          <a:ln/>
        </p:spPr>
        <p:txBody>
          <a:bodyPr/>
          <a:lstStyle/>
          <a:p>
            <a:endParaRPr lang="ko-KR" altLang="en-US"/>
          </a:p>
        </p:txBody>
      </p:sp>
      <p:sp>
        <p:nvSpPr>
          <p:cNvPr id="33" name="Text 30"/>
          <p:cNvSpPr txBox="1"/>
          <p:nvPr/>
        </p:nvSpPr>
        <p:spPr>
          <a:xfrm>
            <a:off x="600761" y="4407408"/>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⑤</a:t>
            </a:r>
            <a:endParaRPr lang="en-US" sz="1600" dirty="0"/>
          </a:p>
        </p:txBody>
      </p:sp>
      <p:sp>
        <p:nvSpPr>
          <p:cNvPr id="34" name="Text 31"/>
          <p:cNvSpPr txBox="1"/>
          <p:nvPr/>
        </p:nvSpPr>
        <p:spPr>
          <a:xfrm>
            <a:off x="1039673" y="4315968"/>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연결 패턴</a:t>
            </a:r>
            <a:endParaRPr lang="en-US" sz="1600" dirty="0"/>
          </a:p>
        </p:txBody>
      </p:sp>
      <p:sp>
        <p:nvSpPr>
          <p:cNvPr id="35" name="Text 32"/>
          <p:cNvSpPr txBox="1"/>
          <p:nvPr/>
        </p:nvSpPr>
        <p:spPr>
          <a:xfrm>
            <a:off x="2200961" y="4315968"/>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patterns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(출발, 관계, 도착)</a:t>
            </a:r>
            <a:endParaRPr lang="en-US" sz="1400" dirty="0"/>
          </a:p>
        </p:txBody>
      </p:sp>
      <p:sp>
        <p:nvSpPr>
          <p:cNvPr id="36" name="Text 33"/>
          <p:cNvSpPr txBox="1"/>
          <p:nvPr/>
        </p:nvSpPr>
        <p:spPr>
          <a:xfrm>
            <a:off x="5035601" y="4315968"/>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(Card, HAS_BENEFIT,</a:t>
            </a:r>
            <a:endParaRPr lang="en-US" sz="1400" dirty="0"/>
          </a:p>
          <a:p>
            <a:pPr marL="0" indent="0" algn="l">
              <a:buNone/>
            </a:pPr>
            <a:r>
              <a:rPr lang="en-US" sz="1400" b="1" dirty="0">
                <a:solidFill>
                  <a:srgbClr val="2B3242"/>
                </a:solidFill>
                <a:latin typeface="Pretendard" pitchFamily="34" charset="0"/>
                <a:ea typeface="Pretendard" pitchFamily="34" charset="-122"/>
                <a:cs typeface="Pretendard" pitchFamily="34" charset="-120"/>
              </a:rPr>
              <a:t>Benefit)</a:t>
            </a:r>
            <a:endParaRPr lang="en-US" sz="1400" dirty="0"/>
          </a:p>
        </p:txBody>
      </p:sp>
      <p:sp>
        <p:nvSpPr>
          <p:cNvPr id="37" name="Shape 34"/>
          <p:cNvSpPr/>
          <p:nvPr/>
        </p:nvSpPr>
        <p:spPr>
          <a:xfrm>
            <a:off x="509321" y="5166360"/>
            <a:ext cx="6675120" cy="530352"/>
          </a:xfrm>
          <a:prstGeom prst="roundRect">
            <a:avLst>
              <a:gd name="adj" fmla="val 10345"/>
            </a:avLst>
          </a:prstGeom>
          <a:solidFill>
            <a:srgbClr val="EEF3FA"/>
          </a:solidFill>
          <a:ln w="12700">
            <a:solidFill>
              <a:srgbClr val="2E74C6"/>
            </a:solidFill>
            <a:prstDash val="solid"/>
          </a:ln>
        </p:spPr>
        <p:txBody>
          <a:bodyPr/>
          <a:lstStyle/>
          <a:p>
            <a:endParaRPr lang="ko-KR" altLang="en-US"/>
          </a:p>
        </p:txBody>
      </p:sp>
      <p:sp>
        <p:nvSpPr>
          <p:cNvPr id="38" name="Shape 35"/>
          <p:cNvSpPr/>
          <p:nvPr/>
        </p:nvSpPr>
        <p:spPr>
          <a:xfrm>
            <a:off x="600761" y="5257800"/>
            <a:ext cx="347472" cy="347472"/>
          </a:xfrm>
          <a:prstGeom prst="roundRect">
            <a:avLst>
              <a:gd name="adj" fmla="val 13158"/>
            </a:avLst>
          </a:prstGeom>
          <a:solidFill>
            <a:srgbClr val="2E74C6"/>
          </a:solidFill>
          <a:ln/>
        </p:spPr>
        <p:txBody>
          <a:bodyPr/>
          <a:lstStyle/>
          <a:p>
            <a:endParaRPr lang="ko-KR" altLang="en-US"/>
          </a:p>
        </p:txBody>
      </p:sp>
      <p:sp>
        <p:nvSpPr>
          <p:cNvPr id="39" name="Text 36"/>
          <p:cNvSpPr txBox="1"/>
          <p:nvPr/>
        </p:nvSpPr>
        <p:spPr>
          <a:xfrm>
            <a:off x="600761" y="5257800"/>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⑥</a:t>
            </a:r>
            <a:endParaRPr lang="en-US" sz="1600" dirty="0"/>
          </a:p>
        </p:txBody>
      </p:sp>
      <p:sp>
        <p:nvSpPr>
          <p:cNvPr id="40" name="Text 37"/>
          <p:cNvSpPr txBox="1"/>
          <p:nvPr/>
        </p:nvSpPr>
        <p:spPr>
          <a:xfrm>
            <a:off x="1039673" y="5166360"/>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제약</a:t>
            </a:r>
            <a:endParaRPr lang="en-US" sz="1600" dirty="0"/>
          </a:p>
        </p:txBody>
      </p:sp>
      <p:sp>
        <p:nvSpPr>
          <p:cNvPr id="41" name="Text 38"/>
          <p:cNvSpPr txBox="1"/>
          <p:nvPr/>
        </p:nvSpPr>
        <p:spPr>
          <a:xfrm>
            <a:off x="2200961" y="5166360"/>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constraints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UNIQUENESS, EXISTENCE, KEY</a:t>
            </a:r>
            <a:endParaRPr lang="en-US" sz="1400" dirty="0"/>
          </a:p>
        </p:txBody>
      </p:sp>
      <p:sp>
        <p:nvSpPr>
          <p:cNvPr id="42" name="Text 39"/>
          <p:cNvSpPr txBox="1"/>
          <p:nvPr/>
        </p:nvSpPr>
        <p:spPr>
          <a:xfrm>
            <a:off x="5035601" y="5166360"/>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Card.name = KEY</a:t>
            </a:r>
            <a:endParaRPr lang="en-US" sz="1400" dirty="0"/>
          </a:p>
        </p:txBody>
      </p:sp>
      <p:sp>
        <p:nvSpPr>
          <p:cNvPr id="43" name="Shape 40"/>
          <p:cNvSpPr/>
          <p:nvPr/>
        </p:nvSpPr>
        <p:spPr>
          <a:xfrm>
            <a:off x="509321" y="5742432"/>
            <a:ext cx="6675120" cy="676656"/>
          </a:xfrm>
          <a:prstGeom prst="roundRect">
            <a:avLst>
              <a:gd name="adj" fmla="val 8108"/>
            </a:avLst>
          </a:prstGeom>
          <a:solidFill>
            <a:srgbClr val="EEF3FA"/>
          </a:solidFill>
          <a:ln w="12700">
            <a:solidFill>
              <a:srgbClr val="2E74C6"/>
            </a:solidFill>
            <a:prstDash val="solid"/>
          </a:ln>
        </p:spPr>
        <p:txBody>
          <a:bodyPr/>
          <a:lstStyle/>
          <a:p>
            <a:endParaRPr lang="ko-KR" altLang="en-US"/>
          </a:p>
        </p:txBody>
      </p:sp>
      <p:sp>
        <p:nvSpPr>
          <p:cNvPr id="44" name="Shape 41"/>
          <p:cNvSpPr/>
          <p:nvPr/>
        </p:nvSpPr>
        <p:spPr>
          <a:xfrm>
            <a:off x="600761" y="5907024"/>
            <a:ext cx="347472" cy="347472"/>
          </a:xfrm>
          <a:prstGeom prst="roundRect">
            <a:avLst>
              <a:gd name="adj" fmla="val 13158"/>
            </a:avLst>
          </a:prstGeom>
          <a:solidFill>
            <a:srgbClr val="2E74C6"/>
          </a:solidFill>
          <a:ln/>
        </p:spPr>
        <p:txBody>
          <a:bodyPr/>
          <a:lstStyle/>
          <a:p>
            <a:endParaRPr lang="ko-KR" altLang="en-US"/>
          </a:p>
        </p:txBody>
      </p:sp>
      <p:sp>
        <p:nvSpPr>
          <p:cNvPr id="45" name="Text 42"/>
          <p:cNvSpPr txBox="1"/>
          <p:nvPr/>
        </p:nvSpPr>
        <p:spPr>
          <a:xfrm>
            <a:off x="600761" y="5907024"/>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⑦</a:t>
            </a:r>
            <a:endParaRPr lang="en-US" sz="1600" dirty="0"/>
          </a:p>
        </p:txBody>
      </p:sp>
      <p:sp>
        <p:nvSpPr>
          <p:cNvPr id="46" name="Text 43"/>
          <p:cNvSpPr txBox="1"/>
          <p:nvPr/>
        </p:nvSpPr>
        <p:spPr>
          <a:xfrm>
            <a:off x="1039673" y="5742432"/>
            <a:ext cx="1143000" cy="676656"/>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허용 범위</a:t>
            </a:r>
            <a:endParaRPr lang="en-US" sz="1600" dirty="0"/>
          </a:p>
        </p:txBody>
      </p:sp>
      <p:sp>
        <p:nvSpPr>
          <p:cNvPr id="47" name="Text 44"/>
          <p:cNvSpPr txBox="1"/>
          <p:nvPr/>
        </p:nvSpPr>
        <p:spPr>
          <a:xfrm>
            <a:off x="2200961" y="5742432"/>
            <a:ext cx="2788920" cy="676656"/>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additional_node_types,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additional_relationship_types,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additional_patterns</a:t>
            </a:r>
            <a:endParaRPr lang="en-US" sz="1400" dirty="0"/>
          </a:p>
        </p:txBody>
      </p:sp>
      <p:sp>
        <p:nvSpPr>
          <p:cNvPr id="48" name="Text 45"/>
          <p:cNvSpPr txBox="1"/>
          <p:nvPr/>
        </p:nvSpPr>
        <p:spPr>
          <a:xfrm>
            <a:off x="5035601" y="5742432"/>
            <a:ext cx="2057400" cy="676656"/>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①~⑤에 지정된 목록 밖을 허용할지 여부</a:t>
            </a:r>
            <a:endParaRPr lang="en-US" sz="1400" dirty="0"/>
          </a:p>
        </p:txBody>
      </p:sp>
      <p:sp>
        <p:nvSpPr>
          <p:cNvPr id="49" name="Text 46"/>
          <p:cNvSpPr txBox="1"/>
          <p:nvPr/>
        </p:nvSpPr>
        <p:spPr>
          <a:xfrm>
            <a:off x="509321" y="4892040"/>
            <a:ext cx="2286000" cy="256032"/>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지킬 규칙 ⑥ ⑦</a:t>
            </a:r>
            <a:endParaRPr lang="en-US" sz="1400" dirty="0"/>
          </a:p>
        </p:txBody>
      </p:sp>
      <p:sp>
        <p:nvSpPr>
          <p:cNvPr id="50" name="Shape 47"/>
          <p:cNvSpPr/>
          <p:nvPr/>
        </p:nvSpPr>
        <p:spPr>
          <a:xfrm>
            <a:off x="7413041" y="1737360"/>
            <a:ext cx="6720840" cy="1371600"/>
          </a:xfrm>
          <a:prstGeom prst="roundRect">
            <a:avLst>
              <a:gd name="adj" fmla="val 5333"/>
            </a:avLst>
          </a:prstGeom>
          <a:solidFill>
            <a:srgbClr val="FFFFFF"/>
          </a:solidFill>
          <a:ln w="12700">
            <a:solidFill>
              <a:srgbClr val="D9E0EC"/>
            </a:solidFill>
            <a:prstDash val="solid"/>
          </a:ln>
        </p:spPr>
        <p:txBody>
          <a:bodyPr/>
          <a:lstStyle/>
          <a:p>
            <a:endParaRPr lang="ko-KR" altLang="en-US"/>
          </a:p>
        </p:txBody>
      </p:sp>
      <p:sp>
        <p:nvSpPr>
          <p:cNvPr id="51" name="Shape 48"/>
          <p:cNvSpPr/>
          <p:nvPr/>
        </p:nvSpPr>
        <p:spPr>
          <a:xfrm>
            <a:off x="7595921" y="1883664"/>
            <a:ext cx="2148840" cy="1078992"/>
          </a:xfrm>
          <a:prstGeom prst="roundRect">
            <a:avLst>
              <a:gd name="adj" fmla="val 6780"/>
            </a:avLst>
          </a:prstGeom>
          <a:solidFill>
            <a:srgbClr val="EEF3FA"/>
          </a:solidFill>
          <a:ln w="19050">
            <a:solidFill>
              <a:srgbClr val="1E2A5C"/>
            </a:solidFill>
            <a:prstDash val="solid"/>
          </a:ln>
        </p:spPr>
        <p:txBody>
          <a:bodyPr/>
          <a:lstStyle/>
          <a:p>
            <a:endParaRPr lang="ko-KR" altLang="en-US"/>
          </a:p>
        </p:txBody>
      </p:sp>
      <p:sp>
        <p:nvSpPr>
          <p:cNvPr id="52" name="Shape 49"/>
          <p:cNvSpPr/>
          <p:nvPr/>
        </p:nvSpPr>
        <p:spPr>
          <a:xfrm>
            <a:off x="7687361" y="1956816"/>
            <a:ext cx="1965960" cy="329184"/>
          </a:xfrm>
          <a:prstGeom prst="roundRect">
            <a:avLst>
              <a:gd name="adj" fmla="val 13889"/>
            </a:avLst>
          </a:prstGeom>
          <a:solidFill>
            <a:srgbClr val="1E2A5C"/>
          </a:solidFill>
          <a:ln/>
        </p:spPr>
        <p:txBody>
          <a:bodyPr/>
          <a:lstStyle/>
          <a:p>
            <a:endParaRPr lang="ko-KR" altLang="en-US"/>
          </a:p>
        </p:txBody>
      </p:sp>
      <p:sp>
        <p:nvSpPr>
          <p:cNvPr id="53" name="Text 50"/>
          <p:cNvSpPr txBox="1"/>
          <p:nvPr/>
        </p:nvSpPr>
        <p:spPr>
          <a:xfrm>
            <a:off x="7687361" y="1956816"/>
            <a:ext cx="1965960"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:Card</a:t>
            </a:r>
            <a:endParaRPr lang="en-US" sz="1500" dirty="0"/>
          </a:p>
        </p:txBody>
      </p:sp>
      <p:sp>
        <p:nvSpPr>
          <p:cNvPr id="54" name="Text 51"/>
          <p:cNvSpPr txBox="1"/>
          <p:nvPr/>
        </p:nvSpPr>
        <p:spPr>
          <a:xfrm>
            <a:off x="7733081" y="2322576"/>
            <a:ext cx="1874520" cy="585216"/>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name (키)</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annual_fee</a:t>
            </a:r>
            <a:endParaRPr lang="en-US" sz="1400" dirty="0"/>
          </a:p>
        </p:txBody>
      </p:sp>
      <p:sp>
        <p:nvSpPr>
          <p:cNvPr id="55" name="Shape 52"/>
          <p:cNvSpPr/>
          <p:nvPr/>
        </p:nvSpPr>
        <p:spPr>
          <a:xfrm>
            <a:off x="11802161" y="1883664"/>
            <a:ext cx="2148840" cy="1078992"/>
          </a:xfrm>
          <a:prstGeom prst="roundRect">
            <a:avLst>
              <a:gd name="adj" fmla="val 6780"/>
            </a:avLst>
          </a:prstGeom>
          <a:solidFill>
            <a:srgbClr val="EEF3FA"/>
          </a:solidFill>
          <a:ln w="19050">
            <a:solidFill>
              <a:srgbClr val="1E2A5C"/>
            </a:solidFill>
            <a:prstDash val="solid"/>
          </a:ln>
        </p:spPr>
        <p:txBody>
          <a:bodyPr/>
          <a:lstStyle/>
          <a:p>
            <a:endParaRPr lang="ko-KR" altLang="en-US"/>
          </a:p>
        </p:txBody>
      </p:sp>
      <p:sp>
        <p:nvSpPr>
          <p:cNvPr id="56" name="Shape 53"/>
          <p:cNvSpPr/>
          <p:nvPr/>
        </p:nvSpPr>
        <p:spPr>
          <a:xfrm>
            <a:off x="11893601" y="1956816"/>
            <a:ext cx="1965960" cy="329184"/>
          </a:xfrm>
          <a:prstGeom prst="roundRect">
            <a:avLst>
              <a:gd name="adj" fmla="val 13889"/>
            </a:avLst>
          </a:prstGeom>
          <a:solidFill>
            <a:srgbClr val="1E2A5C"/>
          </a:solidFill>
          <a:ln/>
        </p:spPr>
        <p:txBody>
          <a:bodyPr/>
          <a:lstStyle/>
          <a:p>
            <a:endParaRPr lang="ko-KR" altLang="en-US"/>
          </a:p>
        </p:txBody>
      </p:sp>
      <p:sp>
        <p:nvSpPr>
          <p:cNvPr id="57" name="Text 54"/>
          <p:cNvSpPr txBox="1"/>
          <p:nvPr/>
        </p:nvSpPr>
        <p:spPr>
          <a:xfrm>
            <a:off x="11893601" y="1956816"/>
            <a:ext cx="1965960"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:Benefit</a:t>
            </a:r>
            <a:endParaRPr lang="en-US" sz="1500" dirty="0"/>
          </a:p>
        </p:txBody>
      </p:sp>
      <p:sp>
        <p:nvSpPr>
          <p:cNvPr id="58" name="Text 55"/>
          <p:cNvSpPr txBox="1"/>
          <p:nvPr/>
        </p:nvSpPr>
        <p:spPr>
          <a:xfrm>
            <a:off x="11939321" y="2322576"/>
            <a:ext cx="1874520" cy="585216"/>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name</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rate</a:t>
            </a:r>
            <a:endParaRPr lang="en-US" sz="1400" dirty="0"/>
          </a:p>
        </p:txBody>
      </p:sp>
      <p:sp>
        <p:nvSpPr>
          <p:cNvPr id="59" name="Shape 56"/>
          <p:cNvSpPr/>
          <p:nvPr/>
        </p:nvSpPr>
        <p:spPr>
          <a:xfrm>
            <a:off x="9781337" y="2423160"/>
            <a:ext cx="1984248" cy="0"/>
          </a:xfrm>
          <a:prstGeom prst="line">
            <a:avLst/>
          </a:prstGeom>
          <a:noFill/>
          <a:ln w="25400">
            <a:solidFill>
              <a:srgbClr val="1E2A5C"/>
            </a:solidFill>
            <a:prstDash val="solid"/>
            <a:tailEnd type="triangle"/>
          </a:ln>
        </p:spPr>
        <p:txBody>
          <a:bodyPr/>
          <a:lstStyle/>
          <a:p>
            <a:endParaRPr lang="ko-KR" altLang="en-US"/>
          </a:p>
        </p:txBody>
      </p:sp>
      <p:sp>
        <p:nvSpPr>
          <p:cNvPr id="60" name="Text 57"/>
          <p:cNvSpPr txBox="1"/>
          <p:nvPr/>
        </p:nvSpPr>
        <p:spPr>
          <a:xfrm>
            <a:off x="9744761" y="2075688"/>
            <a:ext cx="2057400" cy="292608"/>
          </a:xfrm>
          <a:prstGeom prst="rect">
            <a:avLst/>
          </a:prstGeom>
          <a:noFill/>
          <a:ln/>
        </p:spPr>
        <p:txBody>
          <a:bodyPr wrap="square" lIns="0" tIns="0" rIns="0" bIns="0" rtlCol="0" anchor="ctr"/>
          <a:lstStyle/>
          <a:p>
            <a:pPr marL="0" indent="0" algn="ctr">
              <a:buNone/>
            </a:pPr>
            <a:r>
              <a:rPr lang="en-US" sz="1500" b="1" dirty="0">
                <a:solidFill>
                  <a:srgbClr val="2E74C6"/>
                </a:solidFill>
                <a:latin typeface="Pretendard" pitchFamily="34" charset="0"/>
                <a:ea typeface="Pretendard" pitchFamily="34" charset="-122"/>
                <a:cs typeface="Pretendard" pitchFamily="34" charset="-120"/>
              </a:rPr>
              <a:t>:HAS_BENEFIT</a:t>
            </a:r>
            <a:endParaRPr lang="en-US" sz="1500" dirty="0"/>
          </a:p>
        </p:txBody>
      </p:sp>
      <p:sp>
        <p:nvSpPr>
          <p:cNvPr id="61" name="Text 58"/>
          <p:cNvSpPr txBox="1"/>
          <p:nvPr/>
        </p:nvSpPr>
        <p:spPr>
          <a:xfrm>
            <a:off x="9744761" y="2478024"/>
            <a:ext cx="2057400" cy="274320"/>
          </a:xfrm>
          <a:prstGeom prst="rect">
            <a:avLst/>
          </a:prstGeom>
          <a:noFill/>
          <a:ln/>
        </p:spPr>
        <p:txBody>
          <a:bodyPr wrap="square" lIns="0" tIns="0" rIns="0" bIns="0"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{valid_until}</a:t>
            </a:r>
            <a:endParaRPr lang="en-US" sz="1400" dirty="0"/>
          </a:p>
        </p:txBody>
      </p:sp>
      <p:sp>
        <p:nvSpPr>
          <p:cNvPr id="62" name="Shape 59"/>
          <p:cNvSpPr/>
          <p:nvPr/>
        </p:nvSpPr>
        <p:spPr>
          <a:xfrm>
            <a:off x="9470441" y="1792224"/>
            <a:ext cx="310896" cy="310896"/>
          </a:xfrm>
          <a:prstGeom prst="roundRect">
            <a:avLst>
              <a:gd name="adj" fmla="val 45000"/>
            </a:avLst>
          </a:prstGeom>
          <a:solidFill>
            <a:srgbClr val="1E2A5C"/>
          </a:solidFill>
          <a:ln/>
        </p:spPr>
        <p:txBody>
          <a:bodyPr/>
          <a:lstStyle/>
          <a:p>
            <a:endParaRPr lang="ko-KR" altLang="en-US"/>
          </a:p>
        </p:txBody>
      </p:sp>
      <p:sp>
        <p:nvSpPr>
          <p:cNvPr id="63" name="Text 60"/>
          <p:cNvSpPr txBox="1"/>
          <p:nvPr/>
        </p:nvSpPr>
        <p:spPr>
          <a:xfrm>
            <a:off x="9470441" y="1792224"/>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①</a:t>
            </a:r>
            <a:endParaRPr lang="en-US" sz="1400" dirty="0"/>
          </a:p>
        </p:txBody>
      </p:sp>
      <p:sp>
        <p:nvSpPr>
          <p:cNvPr id="64" name="Shape 61"/>
          <p:cNvSpPr/>
          <p:nvPr/>
        </p:nvSpPr>
        <p:spPr>
          <a:xfrm>
            <a:off x="9333281" y="2596896"/>
            <a:ext cx="310896" cy="310896"/>
          </a:xfrm>
          <a:prstGeom prst="roundRect">
            <a:avLst>
              <a:gd name="adj" fmla="val 45000"/>
            </a:avLst>
          </a:prstGeom>
          <a:solidFill>
            <a:srgbClr val="1E2A5C"/>
          </a:solidFill>
          <a:ln/>
        </p:spPr>
        <p:txBody>
          <a:bodyPr/>
          <a:lstStyle/>
          <a:p>
            <a:endParaRPr lang="ko-KR" altLang="en-US"/>
          </a:p>
        </p:txBody>
      </p:sp>
      <p:sp>
        <p:nvSpPr>
          <p:cNvPr id="65" name="Text 62"/>
          <p:cNvSpPr txBox="1"/>
          <p:nvPr/>
        </p:nvSpPr>
        <p:spPr>
          <a:xfrm>
            <a:off x="9333281" y="2596896"/>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②</a:t>
            </a:r>
            <a:endParaRPr lang="en-US" sz="1400" dirty="0"/>
          </a:p>
        </p:txBody>
      </p:sp>
      <p:sp>
        <p:nvSpPr>
          <p:cNvPr id="66" name="Shape 63"/>
          <p:cNvSpPr/>
          <p:nvPr/>
        </p:nvSpPr>
        <p:spPr>
          <a:xfrm>
            <a:off x="8784641" y="2313432"/>
            <a:ext cx="310896" cy="310896"/>
          </a:xfrm>
          <a:prstGeom prst="roundRect">
            <a:avLst>
              <a:gd name="adj" fmla="val 45000"/>
            </a:avLst>
          </a:prstGeom>
          <a:solidFill>
            <a:srgbClr val="2E74C6"/>
          </a:solidFill>
          <a:ln/>
        </p:spPr>
        <p:txBody>
          <a:bodyPr/>
          <a:lstStyle/>
          <a:p>
            <a:endParaRPr lang="ko-KR" altLang="en-US"/>
          </a:p>
        </p:txBody>
      </p:sp>
      <p:sp>
        <p:nvSpPr>
          <p:cNvPr id="67" name="Text 64"/>
          <p:cNvSpPr txBox="1"/>
          <p:nvPr/>
        </p:nvSpPr>
        <p:spPr>
          <a:xfrm>
            <a:off x="8784641" y="2313432"/>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⑥</a:t>
            </a:r>
            <a:endParaRPr lang="en-US" sz="1400" dirty="0"/>
          </a:p>
        </p:txBody>
      </p:sp>
      <p:sp>
        <p:nvSpPr>
          <p:cNvPr id="68" name="Shape 65"/>
          <p:cNvSpPr/>
          <p:nvPr/>
        </p:nvSpPr>
        <p:spPr>
          <a:xfrm>
            <a:off x="10618013" y="1764792"/>
            <a:ext cx="310896" cy="310896"/>
          </a:xfrm>
          <a:prstGeom prst="roundRect">
            <a:avLst>
              <a:gd name="adj" fmla="val 45000"/>
            </a:avLst>
          </a:prstGeom>
          <a:solidFill>
            <a:srgbClr val="1E2A5C"/>
          </a:solidFill>
          <a:ln/>
        </p:spPr>
        <p:txBody>
          <a:bodyPr/>
          <a:lstStyle/>
          <a:p>
            <a:endParaRPr lang="ko-KR" altLang="en-US"/>
          </a:p>
        </p:txBody>
      </p:sp>
      <p:sp>
        <p:nvSpPr>
          <p:cNvPr id="69" name="Text 66"/>
          <p:cNvSpPr txBox="1"/>
          <p:nvPr/>
        </p:nvSpPr>
        <p:spPr>
          <a:xfrm>
            <a:off x="10618013" y="1764792"/>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③</a:t>
            </a:r>
            <a:endParaRPr lang="en-US" sz="1400" dirty="0"/>
          </a:p>
        </p:txBody>
      </p:sp>
      <p:sp>
        <p:nvSpPr>
          <p:cNvPr id="70" name="Shape 67"/>
          <p:cNvSpPr/>
          <p:nvPr/>
        </p:nvSpPr>
        <p:spPr>
          <a:xfrm>
            <a:off x="11459261" y="2459736"/>
            <a:ext cx="310896" cy="310896"/>
          </a:xfrm>
          <a:prstGeom prst="roundRect">
            <a:avLst>
              <a:gd name="adj" fmla="val 45000"/>
            </a:avLst>
          </a:prstGeom>
          <a:solidFill>
            <a:srgbClr val="1E2A5C"/>
          </a:solidFill>
          <a:ln/>
        </p:spPr>
        <p:txBody>
          <a:bodyPr/>
          <a:lstStyle/>
          <a:p>
            <a:endParaRPr lang="ko-KR" altLang="en-US"/>
          </a:p>
        </p:txBody>
      </p:sp>
      <p:sp>
        <p:nvSpPr>
          <p:cNvPr id="71" name="Text 68"/>
          <p:cNvSpPr txBox="1"/>
          <p:nvPr/>
        </p:nvSpPr>
        <p:spPr>
          <a:xfrm>
            <a:off x="11459261" y="2459736"/>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④</a:t>
            </a:r>
            <a:endParaRPr lang="en-US" sz="1400" dirty="0"/>
          </a:p>
        </p:txBody>
      </p:sp>
      <p:sp>
        <p:nvSpPr>
          <p:cNvPr id="72" name="Shape 69"/>
          <p:cNvSpPr/>
          <p:nvPr/>
        </p:nvSpPr>
        <p:spPr>
          <a:xfrm>
            <a:off x="10618013" y="2752344"/>
            <a:ext cx="310896" cy="310896"/>
          </a:xfrm>
          <a:prstGeom prst="roundRect">
            <a:avLst>
              <a:gd name="adj" fmla="val 45000"/>
            </a:avLst>
          </a:prstGeom>
          <a:solidFill>
            <a:srgbClr val="1E2A5C"/>
          </a:solidFill>
          <a:ln/>
        </p:spPr>
        <p:txBody>
          <a:bodyPr/>
          <a:lstStyle/>
          <a:p>
            <a:endParaRPr lang="ko-KR" altLang="en-US"/>
          </a:p>
        </p:txBody>
      </p:sp>
      <p:sp>
        <p:nvSpPr>
          <p:cNvPr id="73" name="Text 70"/>
          <p:cNvSpPr txBox="1"/>
          <p:nvPr/>
        </p:nvSpPr>
        <p:spPr>
          <a:xfrm>
            <a:off x="10618013" y="2752344"/>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⑤</a:t>
            </a:r>
            <a:endParaRPr lang="en-US" sz="1400" dirty="0"/>
          </a:p>
        </p:txBody>
      </p:sp>
      <p:sp>
        <p:nvSpPr>
          <p:cNvPr id="74" name="Shape 71"/>
          <p:cNvSpPr/>
          <p:nvPr/>
        </p:nvSpPr>
        <p:spPr>
          <a:xfrm>
            <a:off x="7413041" y="3493008"/>
            <a:ext cx="6720840" cy="2907792"/>
          </a:xfrm>
          <a:prstGeom prst="roundRect">
            <a:avLst>
              <a:gd name="adj" fmla="val 1887"/>
            </a:avLst>
          </a:prstGeom>
          <a:solidFill>
            <a:srgbClr val="F5F8FC"/>
          </a:solidFill>
          <a:ln w="12700">
            <a:solidFill>
              <a:srgbClr val="D9E0EC"/>
            </a:solidFill>
            <a:prstDash val="solid"/>
          </a:ln>
        </p:spPr>
        <p:txBody>
          <a:bodyPr/>
          <a:lstStyle/>
          <a:p>
            <a:endParaRPr lang="ko-KR" altLang="en-US"/>
          </a:p>
        </p:txBody>
      </p:sp>
      <p:sp>
        <p:nvSpPr>
          <p:cNvPr id="75" name="Text 72"/>
          <p:cNvSpPr txBox="1"/>
          <p:nvPr/>
        </p:nvSpPr>
        <p:spPr>
          <a:xfrm>
            <a:off x="7522769" y="3566160"/>
            <a:ext cx="6501384" cy="2779776"/>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schema = GraphSchema.model_validate({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"node_types": [                              # ① ②</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{"label": "Card", "properties":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{"name": "name", "type": "STRING"},</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{"name": "annual_fee", "type": "INTEGER"}]},</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{"label": "Benefit", "properties":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"relationship_types": [{"label": "HAS_BENEFIT",   # ③ ④</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"properties": [{"name": "valid_until", "type": "DATE"}]}],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"patterns": [("Card", "HAS_BENEFIT", "Benefit")],   # ⑤</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"constraints": [{"type": "KEY", "node_type": "Card",  # ⑥</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"property_names": ["name"]}],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"additional_node_types": False})                # ⑦</a:t>
            </a:r>
            <a:endParaRPr lang="en-US" sz="1400" dirty="0"/>
          </a:p>
        </p:txBody>
      </p:sp>
      <p:sp>
        <p:nvSpPr>
          <p:cNvPr id="76" name="Text 73"/>
          <p:cNvSpPr txBox="1"/>
          <p:nvPr/>
        </p:nvSpPr>
        <p:spPr>
          <a:xfrm>
            <a:off x="7413041" y="3182112"/>
            <a:ext cx="6720840" cy="274320"/>
          </a:xfrm>
          <a:prstGeom prst="rect">
            <a:avLst/>
          </a:prstGeom>
          <a:noFill/>
          <a:ln/>
        </p:spPr>
        <p:txBody>
          <a:bodyPr wrap="square" lIns="0" tIns="0" rIns="0" bIns="0"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7칸을 채운 Native GraphSchema — 실행 확인: name 없는 Card는 가지치기가 지움</a:t>
            </a:r>
            <a:endParaRPr lang="en-US" sz="1400" dirty="0"/>
          </a:p>
        </p:txBody>
      </p:sp>
      <p:sp>
        <p:nvSpPr>
          <p:cNvPr id="77" name="Shape 74"/>
          <p:cNvSpPr/>
          <p:nvPr/>
        </p:nvSpPr>
        <p:spPr>
          <a:xfrm>
            <a:off x="509321" y="6492240"/>
            <a:ext cx="13624560" cy="731520"/>
          </a:xfrm>
          <a:prstGeom prst="roundRect">
            <a:avLst>
              <a:gd name="adj" fmla="val 10000"/>
            </a:avLst>
          </a:prstGeom>
          <a:solidFill>
            <a:srgbClr val="EEF3FA"/>
          </a:solidFill>
          <a:ln w="19050">
            <a:solidFill>
              <a:srgbClr val="2E74C6"/>
            </a:solidFill>
            <a:prstDash val="solid"/>
          </a:ln>
        </p:spPr>
        <p:txBody>
          <a:bodyPr/>
          <a:lstStyle/>
          <a:p>
            <a:endParaRPr lang="ko-KR" altLang="en-US"/>
          </a:p>
        </p:txBody>
      </p:sp>
      <p:sp>
        <p:nvSpPr>
          <p:cNvPr id="78" name="Shape 75"/>
          <p:cNvSpPr/>
          <p:nvPr/>
        </p:nvSpPr>
        <p:spPr>
          <a:xfrm>
            <a:off x="509321" y="6492240"/>
            <a:ext cx="82296" cy="731520"/>
          </a:xfrm>
          <a:prstGeom prst="rect">
            <a:avLst/>
          </a:prstGeom>
          <a:solidFill>
            <a:srgbClr val="2E74C6"/>
          </a:solidFill>
          <a:ln/>
        </p:spPr>
        <p:txBody>
          <a:bodyPr/>
          <a:lstStyle/>
          <a:p>
            <a:endParaRPr lang="ko-KR" altLang="en-US"/>
          </a:p>
        </p:txBody>
      </p:sp>
      <p:sp>
        <p:nvSpPr>
          <p:cNvPr id="79" name="Text 76"/>
          <p:cNvSpPr txBox="1"/>
          <p:nvPr/>
        </p:nvSpPr>
        <p:spPr>
          <a:xfrm>
            <a:off x="737921" y="6492240"/>
            <a:ext cx="13258800" cy="7315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 최소한 = ①, ③, ⑤ + ⑥ 고유키. 속성은 질문에 쓰는 것만 정의하고, 타입마다 description을 적으면 LLM이 고르는 기준이 됨</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 제약: 지정한 속성에 대해 UNIQUENESS는 고유 강제, EXISTENCE는 존재 강제, KEY는 고유 + 존재를 강제함. UNIQUENESS는 지정한 속성이 비어 있어도 허용하나 KEY는 불허함</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정형 테이블 → 노드 </a:t>
            </a:r>
            <a:r>
              <a:rPr lang="en-US" sz="3200" b="1" dirty="0" err="1">
                <a:solidFill>
                  <a:srgbClr val="2C2926"/>
                </a:solidFill>
                <a:latin typeface="Pretendard" pitchFamily="34" charset="0"/>
                <a:ea typeface="Pretendard" pitchFamily="34" charset="-122"/>
                <a:cs typeface="Pretendard" pitchFamily="34" charset="-120"/>
              </a:rPr>
              <a:t>타입과</a:t>
            </a:r>
            <a:r>
              <a:rPr lang="en-US" sz="3200" b="1" dirty="0">
                <a:solidFill>
                  <a:srgbClr val="2C2926"/>
                </a:solidFill>
                <a:latin typeface="Pretendard" pitchFamily="34" charset="0"/>
                <a:ea typeface="Pretendard" pitchFamily="34" charset="-122"/>
                <a:cs typeface="Pretendard" pitchFamily="34" charset="-120"/>
              </a:rPr>
              <a:t> </a:t>
            </a:r>
            <a:r>
              <a:rPr lang="en-US" sz="3200" b="1" dirty="0" err="1">
                <a:solidFill>
                  <a:srgbClr val="2C2926"/>
                </a:solidFill>
                <a:latin typeface="Pretendard" pitchFamily="34" charset="0"/>
                <a:ea typeface="Pretendard" pitchFamily="34" charset="-122"/>
                <a:cs typeface="Pretendard" pitchFamily="34" charset="-120"/>
              </a:rPr>
              <a:t>관계</a:t>
            </a:r>
            <a:r>
              <a:rPr lang="en-US" sz="3200" b="1" dirty="0">
                <a:solidFill>
                  <a:srgbClr val="2C2926"/>
                </a:solidFill>
                <a:latin typeface="Pretendard" pitchFamily="34" charset="0"/>
                <a:ea typeface="Pretendard" pitchFamily="34" charset="-122"/>
                <a:cs typeface="Pretendard" pitchFamily="34" charset="-120"/>
              </a:rPr>
              <a:t> </a:t>
            </a:r>
            <a:r>
              <a:rPr lang="ko-KR" altLang="en-US" sz="3200" b="1" dirty="0">
                <a:solidFill>
                  <a:srgbClr val="2C2926"/>
                </a:solidFill>
                <a:latin typeface="Pretendard" pitchFamily="34" charset="0"/>
                <a:ea typeface="Pretendard" pitchFamily="34" charset="-122"/>
                <a:cs typeface="Pretendard" pitchFamily="34" charset="-120"/>
              </a:rPr>
              <a:t>추출 규칙</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모델 없이 규칙으로 바꿈 — 단, FK를 세기 전에 '그 표 자체가 조회 대상인가'부터 물음</a:t>
            </a:r>
            <a:endParaRPr lang="en-US" sz="1800" dirty="0"/>
          </a:p>
        </p:txBody>
      </p:sp>
      <p:sp>
        <p:nvSpPr>
          <p:cNvPr id="5" name="Shape 2"/>
          <p:cNvSpPr/>
          <p:nvPr/>
        </p:nvSpPr>
        <p:spPr>
          <a:xfrm>
            <a:off x="2521001" y="1755648"/>
            <a:ext cx="2011680" cy="384048"/>
          </a:xfrm>
          <a:prstGeom prst="roundRect">
            <a:avLst>
              <a:gd name="adj" fmla="val 19048"/>
            </a:avLst>
          </a:prstGeom>
          <a:solidFill>
            <a:srgbClr val="1E2A5C"/>
          </a:solidFill>
          <a:ln/>
        </p:spPr>
        <p:txBody>
          <a:bodyPr/>
          <a:lstStyle/>
          <a:p>
            <a:endParaRPr lang="ko-KR" altLang="en-US"/>
          </a:p>
        </p:txBody>
      </p:sp>
      <p:sp>
        <p:nvSpPr>
          <p:cNvPr id="6" name="Text 3"/>
          <p:cNvSpPr txBox="1"/>
          <p:nvPr/>
        </p:nvSpPr>
        <p:spPr>
          <a:xfrm>
            <a:off x="2521001" y="1755648"/>
            <a:ext cx="2011680" cy="38404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테이블 1개</a:t>
            </a:r>
            <a:endParaRPr lang="en-US" sz="1500" dirty="0"/>
          </a:p>
        </p:txBody>
      </p:sp>
      <p:sp>
        <p:nvSpPr>
          <p:cNvPr id="7" name="Shape 4"/>
          <p:cNvSpPr/>
          <p:nvPr/>
        </p:nvSpPr>
        <p:spPr>
          <a:xfrm>
            <a:off x="3526841" y="2157984"/>
            <a:ext cx="0" cy="182880"/>
          </a:xfrm>
          <a:prstGeom prst="line">
            <a:avLst/>
          </a:prstGeom>
          <a:noFill/>
          <a:ln w="22225">
            <a:solidFill>
              <a:srgbClr val="4A5364"/>
            </a:solidFill>
            <a:prstDash val="solid"/>
            <a:tailEnd type="triangle"/>
          </a:ln>
        </p:spPr>
        <p:txBody>
          <a:bodyPr/>
          <a:lstStyle/>
          <a:p>
            <a:endParaRPr lang="ko-KR" altLang="en-US"/>
          </a:p>
        </p:txBody>
      </p:sp>
      <p:sp>
        <p:nvSpPr>
          <p:cNvPr id="8" name="Shape 5"/>
          <p:cNvSpPr/>
          <p:nvPr/>
        </p:nvSpPr>
        <p:spPr>
          <a:xfrm>
            <a:off x="509321" y="2359152"/>
            <a:ext cx="6035040" cy="502920"/>
          </a:xfrm>
          <a:prstGeom prst="roundRect">
            <a:avLst>
              <a:gd name="adj" fmla="val 14545"/>
            </a:avLst>
          </a:prstGeom>
          <a:solidFill>
            <a:srgbClr val="EEF3FA"/>
          </a:solidFill>
          <a:ln w="19050">
            <a:solidFill>
              <a:srgbClr val="2E74C6"/>
            </a:solidFill>
            <a:prstDash val="solid"/>
          </a:ln>
        </p:spPr>
        <p:txBody>
          <a:bodyPr/>
          <a:lstStyle/>
          <a:p>
            <a:endParaRPr lang="ko-KR" altLang="en-US"/>
          </a:p>
        </p:txBody>
      </p:sp>
      <p:sp>
        <p:nvSpPr>
          <p:cNvPr id="9" name="Text 6"/>
          <p:cNvSpPr txBox="1"/>
          <p:nvPr/>
        </p:nvSpPr>
        <p:spPr>
          <a:xfrm>
            <a:off x="509321" y="2359152"/>
            <a:ext cx="6035040" cy="502920"/>
          </a:xfrm>
          <a:prstGeom prst="rect">
            <a:avLst/>
          </a:prstGeom>
          <a:noFill/>
          <a:ln/>
        </p:spPr>
        <p:txBody>
          <a:bodyPr wrap="square" lIns="1016" tIns="1016" rIns="1016" bIns="1016" rtlCol="0" anchor="ctr"/>
          <a:lstStyle/>
          <a:p>
            <a:pPr marL="0" indent="0" algn="ctr">
              <a:buNone/>
            </a:pPr>
            <a:r>
              <a:rPr lang="en-US" sz="1600" b="1" dirty="0">
                <a:solidFill>
                  <a:srgbClr val="1E2A5C"/>
                </a:solidFill>
                <a:latin typeface="Pretendard" pitchFamily="34" charset="0"/>
                <a:ea typeface="Pretendard" pitchFamily="34" charset="-122"/>
                <a:cs typeface="Pretendard" pitchFamily="34" charset="-120"/>
              </a:rPr>
              <a:t>Q1. 그 표 자체가 조회 대상인 엔티티인가?</a:t>
            </a:r>
            <a:endParaRPr lang="en-US" sz="1600" dirty="0"/>
          </a:p>
        </p:txBody>
      </p:sp>
      <p:sp>
        <p:nvSpPr>
          <p:cNvPr id="10" name="Shape 7"/>
          <p:cNvSpPr/>
          <p:nvPr/>
        </p:nvSpPr>
        <p:spPr>
          <a:xfrm>
            <a:off x="1835201" y="2880360"/>
            <a:ext cx="0" cy="320040"/>
          </a:xfrm>
          <a:prstGeom prst="line">
            <a:avLst/>
          </a:prstGeom>
          <a:noFill/>
          <a:ln w="22225">
            <a:solidFill>
              <a:srgbClr val="1E2A5C"/>
            </a:solidFill>
            <a:prstDash val="solid"/>
            <a:tailEnd type="triangle"/>
          </a:ln>
        </p:spPr>
        <p:txBody>
          <a:bodyPr/>
          <a:lstStyle/>
          <a:p>
            <a:endParaRPr lang="ko-KR" altLang="en-US"/>
          </a:p>
        </p:txBody>
      </p:sp>
      <p:sp>
        <p:nvSpPr>
          <p:cNvPr id="11" name="Text 8"/>
          <p:cNvSpPr txBox="1"/>
          <p:nvPr/>
        </p:nvSpPr>
        <p:spPr>
          <a:xfrm>
            <a:off x="1908353" y="2889504"/>
            <a:ext cx="457200" cy="274320"/>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예</a:t>
            </a:r>
            <a:endParaRPr lang="en-US" sz="1500" dirty="0"/>
          </a:p>
        </p:txBody>
      </p:sp>
      <p:sp>
        <p:nvSpPr>
          <p:cNvPr id="12" name="Shape 9"/>
          <p:cNvSpPr/>
          <p:nvPr/>
        </p:nvSpPr>
        <p:spPr>
          <a:xfrm>
            <a:off x="4989881" y="2880360"/>
            <a:ext cx="0" cy="320040"/>
          </a:xfrm>
          <a:prstGeom prst="line">
            <a:avLst/>
          </a:prstGeom>
          <a:noFill/>
          <a:ln w="22225">
            <a:solidFill>
              <a:srgbClr val="4A5364"/>
            </a:solidFill>
            <a:prstDash val="solid"/>
            <a:tailEnd type="triangle"/>
          </a:ln>
        </p:spPr>
        <p:txBody>
          <a:bodyPr/>
          <a:lstStyle/>
          <a:p>
            <a:endParaRPr lang="ko-KR" altLang="en-US"/>
          </a:p>
        </p:txBody>
      </p:sp>
      <p:sp>
        <p:nvSpPr>
          <p:cNvPr id="13" name="Text 10"/>
          <p:cNvSpPr txBox="1"/>
          <p:nvPr/>
        </p:nvSpPr>
        <p:spPr>
          <a:xfrm>
            <a:off x="5063033" y="2889504"/>
            <a:ext cx="731520" cy="274320"/>
          </a:xfrm>
          <a:prstGeom prst="rect">
            <a:avLst/>
          </a:prstGeom>
          <a:noFill/>
          <a:ln/>
        </p:spPr>
        <p:txBody>
          <a:bodyPr wrap="square" lIns="0" tIns="0" rIns="0" bIns="0" rtlCol="0" anchor="ctr"/>
          <a:lstStyle/>
          <a:p>
            <a:pPr marL="0" indent="0" algn="l">
              <a:buNone/>
            </a:pPr>
            <a:r>
              <a:rPr lang="en-US" sz="1500" b="1" dirty="0">
                <a:solidFill>
                  <a:srgbClr val="4A5364"/>
                </a:solidFill>
                <a:latin typeface="Pretendard" pitchFamily="34" charset="0"/>
                <a:ea typeface="Pretendard" pitchFamily="34" charset="-122"/>
                <a:cs typeface="Pretendard" pitchFamily="34" charset="-120"/>
              </a:rPr>
              <a:t>아니오</a:t>
            </a:r>
            <a:endParaRPr lang="en-US" sz="1500" dirty="0"/>
          </a:p>
        </p:txBody>
      </p:sp>
      <p:sp>
        <p:nvSpPr>
          <p:cNvPr id="14" name="Shape 11"/>
          <p:cNvSpPr/>
          <p:nvPr/>
        </p:nvSpPr>
        <p:spPr>
          <a:xfrm>
            <a:off x="509321" y="3218688"/>
            <a:ext cx="2651760" cy="1417320"/>
          </a:xfrm>
          <a:prstGeom prst="roundRect">
            <a:avLst>
              <a:gd name="adj" fmla="val 5161"/>
            </a:avLst>
          </a:prstGeom>
          <a:solidFill>
            <a:srgbClr val="1E2A5C"/>
          </a:solidFill>
          <a:ln/>
        </p:spPr>
        <p:txBody>
          <a:bodyPr/>
          <a:lstStyle/>
          <a:p>
            <a:endParaRPr lang="ko-KR" altLang="en-US"/>
          </a:p>
        </p:txBody>
      </p:sp>
      <p:sp>
        <p:nvSpPr>
          <p:cNvPr id="15" name="Shape 12"/>
          <p:cNvSpPr/>
          <p:nvPr/>
        </p:nvSpPr>
        <p:spPr>
          <a:xfrm>
            <a:off x="619049" y="3310128"/>
            <a:ext cx="329184" cy="329184"/>
          </a:xfrm>
          <a:prstGeom prst="roundRect">
            <a:avLst>
              <a:gd name="adj" fmla="val 45000"/>
            </a:avLst>
          </a:prstGeom>
          <a:solidFill>
            <a:srgbClr val="FFFFFF"/>
          </a:solidFill>
          <a:ln/>
        </p:spPr>
        <p:txBody>
          <a:bodyPr/>
          <a:lstStyle/>
          <a:p>
            <a:endParaRPr lang="ko-KR" altLang="en-US"/>
          </a:p>
        </p:txBody>
      </p:sp>
      <p:sp>
        <p:nvSpPr>
          <p:cNvPr id="16" name="Text 13"/>
          <p:cNvSpPr txBox="1"/>
          <p:nvPr/>
        </p:nvSpPr>
        <p:spPr>
          <a:xfrm>
            <a:off x="619049" y="3310128"/>
            <a:ext cx="329184" cy="32918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①</a:t>
            </a:r>
            <a:endParaRPr lang="en-US" sz="1500" dirty="0"/>
          </a:p>
        </p:txBody>
      </p:sp>
      <p:sp>
        <p:nvSpPr>
          <p:cNvPr id="17" name="Text 14"/>
          <p:cNvSpPr txBox="1"/>
          <p:nvPr/>
        </p:nvSpPr>
        <p:spPr>
          <a:xfrm>
            <a:off x="1057961" y="3218688"/>
            <a:ext cx="2011680" cy="1417320"/>
          </a:xfrm>
          <a:prstGeom prst="rect">
            <a:avLst/>
          </a:prstGeom>
          <a:noFill/>
          <a:ln/>
        </p:spPr>
        <p:txBody>
          <a:bodyPr wrap="square" lIns="0" tIns="0" rIns="0" bIns="0" rtlCol="0" anchor="ctr"/>
          <a:lstStyle/>
          <a:p>
            <a:pPr marL="0" indent="0">
              <a:spcAft>
                <a:spcPts val="400"/>
              </a:spcAft>
              <a:buNone/>
            </a:pPr>
            <a:r>
              <a:rPr lang="en-US" sz="1800" b="1" dirty="0">
                <a:solidFill>
                  <a:srgbClr val="FFFFFF"/>
                </a:solidFill>
                <a:latin typeface="Pretendard" pitchFamily="34" charset="0"/>
                <a:ea typeface="Pretendard" pitchFamily="34" charset="-122"/>
                <a:cs typeface="Pretendard" pitchFamily="34" charset="-120"/>
              </a:rPr>
              <a:t>노드 타입</a:t>
            </a:r>
            <a:endParaRPr lang="en-US" sz="1800" dirty="0"/>
          </a:p>
          <a:p>
            <a:pPr marL="0" indent="0">
              <a:spcAft>
                <a:spcPts val="400"/>
              </a:spcAft>
              <a:buNone/>
            </a:pPr>
            <a:r>
              <a:rPr lang="en-US" sz="1400" dirty="0">
                <a:solidFill>
                  <a:srgbClr val="D9E3F5"/>
                </a:solidFill>
                <a:latin typeface="Pretendard" pitchFamily="34" charset="0"/>
                <a:ea typeface="Pretendard" pitchFamily="34" charset="-122"/>
                <a:cs typeface="Pretendard" pitchFamily="34" charset="-120"/>
              </a:rPr>
              <a:t>열 = 노드 속성</a:t>
            </a:r>
            <a:endParaRPr lang="en-US" sz="1800" dirty="0"/>
          </a:p>
          <a:p>
            <a:pPr marL="0" indent="0">
              <a:spcAft>
                <a:spcPts val="400"/>
              </a:spcAft>
              <a:buNone/>
            </a:pPr>
            <a:r>
              <a:rPr lang="en-US" sz="1400" dirty="0">
                <a:solidFill>
                  <a:srgbClr val="D9E3F5"/>
                </a:solidFill>
                <a:latin typeface="Pretendard" pitchFamily="34" charset="0"/>
                <a:ea typeface="Pretendard" pitchFamily="34" charset="-122"/>
                <a:cs typeface="Pretendard" pitchFamily="34" charset="-120"/>
              </a:rPr>
              <a:t>FK = 관계</a:t>
            </a:r>
            <a:endParaRPr lang="en-US" sz="1800" dirty="0"/>
          </a:p>
          <a:p>
            <a:pPr marL="0" indent="0">
              <a:spcAft>
                <a:spcPts val="400"/>
              </a:spcAft>
              <a:buNone/>
            </a:pPr>
            <a:r>
              <a:rPr lang="en-US" sz="1400" dirty="0">
                <a:solidFill>
                  <a:srgbClr val="D9E3F5"/>
                </a:solidFill>
                <a:latin typeface="Pretendard" pitchFamily="34" charset="0"/>
                <a:ea typeface="Pretendard" pitchFamily="34" charset="-122"/>
                <a:cs typeface="Pretendard" pitchFamily="34" charset="-120"/>
              </a:rPr>
              <a:t>FK 열은 바꾼 뒤 지움</a:t>
            </a:r>
            <a:endParaRPr lang="en-US" sz="1800" dirty="0"/>
          </a:p>
        </p:txBody>
      </p:sp>
      <p:sp>
        <p:nvSpPr>
          <p:cNvPr id="18" name="Text 15"/>
          <p:cNvSpPr txBox="1"/>
          <p:nvPr/>
        </p:nvSpPr>
        <p:spPr>
          <a:xfrm>
            <a:off x="509321" y="4709160"/>
            <a:ext cx="2651760" cy="548640"/>
          </a:xfrm>
          <a:prstGeom prst="rect">
            <a:avLst/>
          </a:prstGeom>
          <a:noFill/>
          <a:ln/>
        </p:spPr>
        <p:txBody>
          <a:bodyPr wrap="square" lIns="0" tIns="0" rIns="0" bIns="0" rtlCol="0" anchor="ctr"/>
          <a:lstStyle/>
          <a:p>
            <a:pPr marL="0" indent="0" algn="ctr">
              <a:buNone/>
            </a:pPr>
            <a:r>
              <a:rPr lang="en-US" sz="1400" dirty="0">
                <a:solidFill>
                  <a:srgbClr val="4A5364"/>
                </a:solidFill>
                <a:latin typeface="Pretendard" pitchFamily="34" charset="0"/>
                <a:ea typeface="Pretendard" pitchFamily="34" charset="-122"/>
                <a:cs typeface="Pretendard" pitchFamily="34" charset="-120"/>
              </a:rPr>
              <a:t>FK가 0개 또는 1개인</a:t>
            </a:r>
            <a:endParaRPr lang="en-US" sz="1400" dirty="0"/>
          </a:p>
          <a:p>
            <a:pPr marL="0" indent="0" algn="ctr">
              <a:buNone/>
            </a:pPr>
            <a:r>
              <a:rPr lang="en-US" sz="1400" dirty="0">
                <a:solidFill>
                  <a:srgbClr val="4A5364"/>
                </a:solidFill>
                <a:latin typeface="Pretendard" pitchFamily="34" charset="0"/>
                <a:ea typeface="Pretendard" pitchFamily="34" charset="-122"/>
                <a:cs typeface="Pretendard" pitchFamily="34" charset="-120"/>
              </a:rPr>
              <a:t>보통 테이블은 대부분 여기로 옴</a:t>
            </a:r>
            <a:endParaRPr lang="en-US" sz="1400" dirty="0"/>
          </a:p>
        </p:txBody>
      </p:sp>
      <p:sp>
        <p:nvSpPr>
          <p:cNvPr id="19" name="Shape 16"/>
          <p:cNvSpPr/>
          <p:nvPr/>
        </p:nvSpPr>
        <p:spPr>
          <a:xfrm>
            <a:off x="3435401" y="3218688"/>
            <a:ext cx="3108960" cy="420624"/>
          </a:xfrm>
          <a:prstGeom prst="roundRect">
            <a:avLst>
              <a:gd name="adj" fmla="val 17391"/>
            </a:avLst>
          </a:prstGeom>
          <a:solidFill>
            <a:srgbClr val="EEF3FA"/>
          </a:solidFill>
          <a:ln w="12700">
            <a:solidFill>
              <a:srgbClr val="2E74C6"/>
            </a:solidFill>
            <a:prstDash val="solid"/>
          </a:ln>
        </p:spPr>
        <p:txBody>
          <a:bodyPr/>
          <a:lstStyle/>
          <a:p>
            <a:endParaRPr lang="ko-KR" altLang="en-US"/>
          </a:p>
        </p:txBody>
      </p:sp>
      <p:sp>
        <p:nvSpPr>
          <p:cNvPr id="20" name="Text 17"/>
          <p:cNvSpPr txBox="1"/>
          <p:nvPr/>
        </p:nvSpPr>
        <p:spPr>
          <a:xfrm>
            <a:off x="3435401" y="3218688"/>
            <a:ext cx="3108960" cy="42062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Q2. FK 몇 개?</a:t>
            </a:r>
            <a:endParaRPr lang="en-US" sz="1500" dirty="0"/>
          </a:p>
        </p:txBody>
      </p:sp>
      <p:sp>
        <p:nvSpPr>
          <p:cNvPr id="21" name="Shape 18"/>
          <p:cNvSpPr/>
          <p:nvPr/>
        </p:nvSpPr>
        <p:spPr>
          <a:xfrm>
            <a:off x="3435401" y="3730752"/>
            <a:ext cx="310896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22" name="Shape 19"/>
          <p:cNvSpPr/>
          <p:nvPr/>
        </p:nvSpPr>
        <p:spPr>
          <a:xfrm>
            <a:off x="3508553" y="3831336"/>
            <a:ext cx="329184" cy="329184"/>
          </a:xfrm>
          <a:prstGeom prst="roundRect">
            <a:avLst>
              <a:gd name="adj" fmla="val 45000"/>
            </a:avLst>
          </a:prstGeom>
          <a:solidFill>
            <a:srgbClr val="2E74C6"/>
          </a:solidFill>
          <a:ln/>
        </p:spPr>
        <p:txBody>
          <a:bodyPr/>
          <a:lstStyle/>
          <a:p>
            <a:endParaRPr lang="ko-KR" altLang="en-US"/>
          </a:p>
        </p:txBody>
      </p:sp>
      <p:sp>
        <p:nvSpPr>
          <p:cNvPr id="23" name="Text 20"/>
          <p:cNvSpPr txBox="1"/>
          <p:nvPr/>
        </p:nvSpPr>
        <p:spPr>
          <a:xfrm>
            <a:off x="3508553" y="3831336"/>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②</a:t>
            </a:r>
            <a:endParaRPr lang="en-US" sz="1500" dirty="0"/>
          </a:p>
        </p:txBody>
      </p:sp>
      <p:sp>
        <p:nvSpPr>
          <p:cNvPr id="24" name="Text 21"/>
          <p:cNvSpPr txBox="1"/>
          <p:nvPr/>
        </p:nvSpPr>
        <p:spPr>
          <a:xfrm>
            <a:off x="3910889" y="3730752"/>
            <a:ext cx="2578608" cy="530352"/>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조인 테이블: 2개이고 업무 열 없음</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관계 1개로 흡수</a:t>
            </a:r>
            <a:endParaRPr lang="en-US" sz="1400" dirty="0"/>
          </a:p>
        </p:txBody>
      </p:sp>
      <p:sp>
        <p:nvSpPr>
          <p:cNvPr id="25" name="Shape 22"/>
          <p:cNvSpPr/>
          <p:nvPr/>
        </p:nvSpPr>
        <p:spPr>
          <a:xfrm>
            <a:off x="3435401" y="4334256"/>
            <a:ext cx="3108960" cy="749808"/>
          </a:xfrm>
          <a:prstGeom prst="roundRect">
            <a:avLst>
              <a:gd name="adj" fmla="val 7317"/>
            </a:avLst>
          </a:prstGeom>
          <a:solidFill>
            <a:srgbClr val="FFFFFF"/>
          </a:solidFill>
          <a:ln w="12700">
            <a:solidFill>
              <a:srgbClr val="D9E0EC"/>
            </a:solidFill>
            <a:prstDash val="solid"/>
          </a:ln>
        </p:spPr>
        <p:txBody>
          <a:bodyPr/>
          <a:lstStyle/>
          <a:p>
            <a:endParaRPr lang="ko-KR" altLang="en-US"/>
          </a:p>
        </p:txBody>
      </p:sp>
      <p:sp>
        <p:nvSpPr>
          <p:cNvPr id="26" name="Shape 23"/>
          <p:cNvSpPr/>
          <p:nvPr/>
        </p:nvSpPr>
        <p:spPr>
          <a:xfrm>
            <a:off x="3508553" y="4544568"/>
            <a:ext cx="329184" cy="329184"/>
          </a:xfrm>
          <a:prstGeom prst="roundRect">
            <a:avLst>
              <a:gd name="adj" fmla="val 45000"/>
            </a:avLst>
          </a:prstGeom>
          <a:solidFill>
            <a:srgbClr val="2E74C6"/>
          </a:solidFill>
          <a:ln/>
        </p:spPr>
        <p:txBody>
          <a:bodyPr/>
          <a:lstStyle/>
          <a:p>
            <a:endParaRPr lang="ko-KR" altLang="en-US"/>
          </a:p>
        </p:txBody>
      </p:sp>
      <p:sp>
        <p:nvSpPr>
          <p:cNvPr id="27" name="Text 24"/>
          <p:cNvSpPr txBox="1"/>
          <p:nvPr/>
        </p:nvSpPr>
        <p:spPr>
          <a:xfrm>
            <a:off x="3508553" y="4544568"/>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③</a:t>
            </a:r>
            <a:endParaRPr lang="en-US" sz="1500" dirty="0"/>
          </a:p>
        </p:txBody>
      </p:sp>
      <p:sp>
        <p:nvSpPr>
          <p:cNvPr id="28" name="Text 25"/>
          <p:cNvSpPr txBox="1"/>
          <p:nvPr/>
        </p:nvSpPr>
        <p:spPr>
          <a:xfrm>
            <a:off x="3910889" y="4334256"/>
            <a:ext cx="2578608" cy="749808"/>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조인 테이블: 2개 + 업무 속성</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관계 + 관계 속성</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(조회하거나 집계하면 노드)</a:t>
            </a:r>
            <a:endParaRPr lang="en-US" sz="1400" dirty="0"/>
          </a:p>
        </p:txBody>
      </p:sp>
      <p:sp>
        <p:nvSpPr>
          <p:cNvPr id="29" name="Shape 26"/>
          <p:cNvSpPr/>
          <p:nvPr/>
        </p:nvSpPr>
        <p:spPr>
          <a:xfrm>
            <a:off x="3435401" y="5157216"/>
            <a:ext cx="3108960" cy="530352"/>
          </a:xfrm>
          <a:prstGeom prst="roundRect">
            <a:avLst>
              <a:gd name="adj" fmla="val 10345"/>
            </a:avLst>
          </a:prstGeom>
          <a:solidFill>
            <a:srgbClr val="1E2A5C"/>
          </a:solidFill>
          <a:ln/>
        </p:spPr>
        <p:txBody>
          <a:bodyPr/>
          <a:lstStyle/>
          <a:p>
            <a:endParaRPr lang="ko-KR" altLang="en-US"/>
          </a:p>
        </p:txBody>
      </p:sp>
      <p:sp>
        <p:nvSpPr>
          <p:cNvPr id="30" name="Shape 27"/>
          <p:cNvSpPr/>
          <p:nvPr/>
        </p:nvSpPr>
        <p:spPr>
          <a:xfrm>
            <a:off x="3508553" y="5257800"/>
            <a:ext cx="329184" cy="329184"/>
          </a:xfrm>
          <a:prstGeom prst="roundRect">
            <a:avLst>
              <a:gd name="adj" fmla="val 45000"/>
            </a:avLst>
          </a:prstGeom>
          <a:solidFill>
            <a:srgbClr val="FFFFFF"/>
          </a:solidFill>
          <a:ln/>
        </p:spPr>
        <p:txBody>
          <a:bodyPr/>
          <a:lstStyle/>
          <a:p>
            <a:endParaRPr lang="ko-KR" altLang="en-US"/>
          </a:p>
        </p:txBody>
      </p:sp>
      <p:sp>
        <p:nvSpPr>
          <p:cNvPr id="31" name="Text 28"/>
          <p:cNvSpPr txBox="1"/>
          <p:nvPr/>
        </p:nvSpPr>
        <p:spPr>
          <a:xfrm>
            <a:off x="3508553" y="5257800"/>
            <a:ext cx="329184" cy="32918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④</a:t>
            </a:r>
            <a:endParaRPr lang="en-US" sz="1500" dirty="0"/>
          </a:p>
        </p:txBody>
      </p:sp>
      <p:sp>
        <p:nvSpPr>
          <p:cNvPr id="32" name="Text 29"/>
          <p:cNvSpPr txBox="1"/>
          <p:nvPr/>
        </p:nvSpPr>
        <p:spPr>
          <a:xfrm>
            <a:off x="3910889" y="5157216"/>
            <a:ext cx="2578608" cy="530352"/>
          </a:xfrm>
          <a:prstGeom prst="rect">
            <a:avLst/>
          </a:prstGeom>
          <a:noFill/>
          <a:ln/>
        </p:spPr>
        <p:txBody>
          <a:bodyPr wrap="square" lIns="0" tIns="0" rIns="0" bIns="0" rtlCol="0" anchor="ctr"/>
          <a:lstStyle/>
          <a:p>
            <a:pPr marL="0" indent="0">
              <a:buNone/>
            </a:pPr>
            <a:r>
              <a:rPr lang="en-US" sz="1400" b="1" dirty="0">
                <a:solidFill>
                  <a:srgbClr val="FFFFFF"/>
                </a:solidFill>
                <a:latin typeface="Pretendard" pitchFamily="34" charset="0"/>
                <a:ea typeface="Pretendard" pitchFamily="34" charset="-122"/>
                <a:cs typeface="Pretendard" pitchFamily="34" charset="-120"/>
              </a:rPr>
              <a:t>3개 이상</a:t>
            </a:r>
            <a:endParaRPr lang="en-US" sz="1400" dirty="0"/>
          </a:p>
          <a:p>
            <a:pPr marL="0" indent="0">
              <a:buNone/>
            </a:pPr>
            <a:r>
              <a:rPr lang="en-US" sz="1400" dirty="0">
                <a:solidFill>
                  <a:srgbClr val="D9E3F5"/>
                </a:solidFill>
                <a:latin typeface="Pretendard" pitchFamily="34" charset="0"/>
                <a:ea typeface="Pretendard" pitchFamily="34" charset="-122"/>
                <a:cs typeface="Pretendard" pitchFamily="34" charset="-120"/>
              </a:rPr>
              <a:t>노드 타입(중간 노드)</a:t>
            </a:r>
            <a:endParaRPr lang="en-US" sz="1400" dirty="0"/>
          </a:p>
        </p:txBody>
      </p:sp>
      <p:sp>
        <p:nvSpPr>
          <p:cNvPr id="33" name="Shape 30"/>
          <p:cNvSpPr/>
          <p:nvPr/>
        </p:nvSpPr>
        <p:spPr>
          <a:xfrm>
            <a:off x="509321" y="5797296"/>
            <a:ext cx="6035040" cy="585216"/>
          </a:xfrm>
          <a:prstGeom prst="roundRect">
            <a:avLst>
              <a:gd name="adj" fmla="val 12500"/>
            </a:avLst>
          </a:prstGeom>
          <a:solidFill>
            <a:srgbClr val="EEF3FA"/>
          </a:solidFill>
          <a:ln w="12700">
            <a:solidFill>
              <a:srgbClr val="2E74C6"/>
            </a:solidFill>
            <a:prstDash val="solid"/>
          </a:ln>
        </p:spPr>
        <p:txBody>
          <a:bodyPr/>
          <a:lstStyle/>
          <a:p>
            <a:endParaRPr lang="ko-KR" altLang="en-US"/>
          </a:p>
        </p:txBody>
      </p:sp>
      <p:sp>
        <p:nvSpPr>
          <p:cNvPr id="34" name="Text 31"/>
          <p:cNvSpPr txBox="1"/>
          <p:nvPr/>
        </p:nvSpPr>
        <p:spPr>
          <a:xfrm>
            <a:off x="646481" y="5797296"/>
            <a:ext cx="5760720" cy="58521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왜 Q1이 먼저? FK 수만 보면 이체 기록(FK 2개)이 관계로 흡수돼 이체 자체를 찾을 수 없음 (예 ①)</a:t>
            </a:r>
            <a:endParaRPr lang="en-US" sz="1400" dirty="0"/>
          </a:p>
        </p:txBody>
      </p:sp>
      <p:sp>
        <p:nvSpPr>
          <p:cNvPr id="35" name="Shape 32"/>
          <p:cNvSpPr/>
          <p:nvPr/>
        </p:nvSpPr>
        <p:spPr>
          <a:xfrm>
            <a:off x="6818681" y="1755648"/>
            <a:ext cx="731520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36" name="Shape 33"/>
          <p:cNvSpPr/>
          <p:nvPr/>
        </p:nvSpPr>
        <p:spPr>
          <a:xfrm>
            <a:off x="6910121" y="1847088"/>
            <a:ext cx="329184" cy="329184"/>
          </a:xfrm>
          <a:prstGeom prst="roundRect">
            <a:avLst>
              <a:gd name="adj" fmla="val 45000"/>
            </a:avLst>
          </a:prstGeom>
          <a:solidFill>
            <a:srgbClr val="2E74C6"/>
          </a:solidFill>
          <a:ln/>
        </p:spPr>
        <p:txBody>
          <a:bodyPr/>
          <a:lstStyle/>
          <a:p>
            <a:endParaRPr lang="ko-KR" altLang="en-US"/>
          </a:p>
        </p:txBody>
      </p:sp>
      <p:sp>
        <p:nvSpPr>
          <p:cNvPr id="37" name="Text 34"/>
          <p:cNvSpPr txBox="1"/>
          <p:nvPr/>
        </p:nvSpPr>
        <p:spPr>
          <a:xfrm>
            <a:off x="6910121" y="1847088"/>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①</a:t>
            </a:r>
            <a:endParaRPr lang="en-US" sz="1500" dirty="0"/>
          </a:p>
        </p:txBody>
      </p:sp>
      <p:sp>
        <p:nvSpPr>
          <p:cNvPr id="38" name="Shape 35"/>
          <p:cNvSpPr/>
          <p:nvPr/>
        </p:nvSpPr>
        <p:spPr>
          <a:xfrm>
            <a:off x="7321601" y="1865376"/>
            <a:ext cx="2331720" cy="859536"/>
          </a:xfrm>
          <a:prstGeom prst="roundRect">
            <a:avLst>
              <a:gd name="adj" fmla="val 6383"/>
            </a:avLst>
          </a:prstGeom>
          <a:solidFill>
            <a:srgbClr val="F5F8FC"/>
          </a:solidFill>
          <a:ln w="12700">
            <a:solidFill>
              <a:srgbClr val="D9E0EC"/>
            </a:solidFill>
            <a:prstDash val="solid"/>
          </a:ln>
        </p:spPr>
        <p:txBody>
          <a:bodyPr/>
          <a:lstStyle/>
          <a:p>
            <a:endParaRPr lang="ko-KR" altLang="en-US"/>
          </a:p>
        </p:txBody>
      </p:sp>
      <p:sp>
        <p:nvSpPr>
          <p:cNvPr id="39" name="Text 36"/>
          <p:cNvSpPr txBox="1"/>
          <p:nvPr/>
        </p:nvSpPr>
        <p:spPr>
          <a:xfrm>
            <a:off x="7367321" y="1865376"/>
            <a:ext cx="2240280" cy="859536"/>
          </a:xfrm>
          <a:prstGeom prst="rect">
            <a:avLst/>
          </a:prstGeom>
          <a:noFill/>
          <a:ln/>
        </p:spPr>
        <p:txBody>
          <a:bodyPr wrap="square" lIns="508" tIns="508" rIns="508" bIns="508"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이체(출금계좌FK, 입금계좌FK,</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금액, 일시)</a:t>
            </a:r>
            <a:endParaRPr lang="en-US" sz="1400" dirty="0"/>
          </a:p>
        </p:txBody>
      </p:sp>
      <p:sp>
        <p:nvSpPr>
          <p:cNvPr id="40" name="Shape 37"/>
          <p:cNvSpPr/>
          <p:nvPr/>
        </p:nvSpPr>
        <p:spPr>
          <a:xfrm>
            <a:off x="9699041" y="2295144"/>
            <a:ext cx="228600" cy="0"/>
          </a:xfrm>
          <a:prstGeom prst="line">
            <a:avLst/>
          </a:prstGeom>
          <a:noFill/>
          <a:ln w="22225">
            <a:solidFill>
              <a:srgbClr val="4A5364"/>
            </a:solidFill>
            <a:prstDash val="solid"/>
            <a:tailEnd type="triangle"/>
          </a:ln>
        </p:spPr>
        <p:txBody>
          <a:bodyPr/>
          <a:lstStyle/>
          <a:p>
            <a:endParaRPr lang="ko-KR" altLang="en-US"/>
          </a:p>
        </p:txBody>
      </p:sp>
      <p:sp>
        <p:nvSpPr>
          <p:cNvPr id="41" name="Shape 38"/>
          <p:cNvSpPr/>
          <p:nvPr/>
        </p:nvSpPr>
        <p:spPr>
          <a:xfrm>
            <a:off x="10019081" y="2084832"/>
            <a:ext cx="96012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42" name="Text 39"/>
          <p:cNvSpPr txBox="1"/>
          <p:nvPr/>
        </p:nvSpPr>
        <p:spPr>
          <a:xfrm>
            <a:off x="10019081" y="2084832"/>
            <a:ext cx="96012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:계좌</a:t>
            </a:r>
            <a:endParaRPr lang="en-US" sz="1400" dirty="0"/>
          </a:p>
        </p:txBody>
      </p:sp>
      <p:sp>
        <p:nvSpPr>
          <p:cNvPr id="43" name="Shape 40"/>
          <p:cNvSpPr/>
          <p:nvPr/>
        </p:nvSpPr>
        <p:spPr>
          <a:xfrm>
            <a:off x="11550701" y="2084832"/>
            <a:ext cx="960120" cy="384048"/>
          </a:xfrm>
          <a:prstGeom prst="roundRect">
            <a:avLst>
              <a:gd name="adj" fmla="val 28571"/>
            </a:avLst>
          </a:prstGeom>
          <a:solidFill>
            <a:srgbClr val="1E2A5C"/>
          </a:solidFill>
          <a:ln/>
        </p:spPr>
        <p:txBody>
          <a:bodyPr/>
          <a:lstStyle/>
          <a:p>
            <a:endParaRPr lang="ko-KR" altLang="en-US"/>
          </a:p>
        </p:txBody>
      </p:sp>
      <p:sp>
        <p:nvSpPr>
          <p:cNvPr id="44" name="Text 41"/>
          <p:cNvSpPr txBox="1"/>
          <p:nvPr/>
        </p:nvSpPr>
        <p:spPr>
          <a:xfrm>
            <a:off x="11550701" y="2084832"/>
            <a:ext cx="960120" cy="38404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:이체</a:t>
            </a:r>
            <a:endParaRPr lang="en-US" sz="1400" dirty="0"/>
          </a:p>
        </p:txBody>
      </p:sp>
      <p:sp>
        <p:nvSpPr>
          <p:cNvPr id="45" name="Shape 42"/>
          <p:cNvSpPr/>
          <p:nvPr/>
        </p:nvSpPr>
        <p:spPr>
          <a:xfrm>
            <a:off x="13082321" y="2084832"/>
            <a:ext cx="96012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46" name="Text 43"/>
          <p:cNvSpPr txBox="1"/>
          <p:nvPr/>
        </p:nvSpPr>
        <p:spPr>
          <a:xfrm>
            <a:off x="13082321" y="2084832"/>
            <a:ext cx="96012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:계좌</a:t>
            </a:r>
            <a:endParaRPr lang="en-US" sz="1400" dirty="0"/>
          </a:p>
        </p:txBody>
      </p:sp>
      <p:sp>
        <p:nvSpPr>
          <p:cNvPr id="47" name="Shape 44"/>
          <p:cNvSpPr/>
          <p:nvPr/>
        </p:nvSpPr>
        <p:spPr>
          <a:xfrm>
            <a:off x="11006633" y="2276856"/>
            <a:ext cx="516636" cy="0"/>
          </a:xfrm>
          <a:prstGeom prst="line">
            <a:avLst/>
          </a:prstGeom>
          <a:noFill/>
          <a:ln w="22225">
            <a:solidFill>
              <a:srgbClr val="1E2A5C"/>
            </a:solidFill>
            <a:prstDash val="solid"/>
            <a:tailEnd type="triangle"/>
          </a:ln>
        </p:spPr>
        <p:txBody>
          <a:bodyPr/>
          <a:lstStyle/>
          <a:p>
            <a:endParaRPr lang="ko-KR" altLang="en-US"/>
          </a:p>
        </p:txBody>
      </p:sp>
      <p:sp>
        <p:nvSpPr>
          <p:cNvPr id="48" name="Text 45"/>
          <p:cNvSpPr txBox="1"/>
          <p:nvPr/>
        </p:nvSpPr>
        <p:spPr>
          <a:xfrm>
            <a:off x="10887761" y="1975104"/>
            <a:ext cx="75438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:출금</a:t>
            </a:r>
            <a:endParaRPr lang="en-US" sz="1400" dirty="0"/>
          </a:p>
        </p:txBody>
      </p:sp>
      <p:sp>
        <p:nvSpPr>
          <p:cNvPr id="49" name="Shape 46"/>
          <p:cNvSpPr/>
          <p:nvPr/>
        </p:nvSpPr>
        <p:spPr>
          <a:xfrm>
            <a:off x="12538253" y="2276856"/>
            <a:ext cx="516636" cy="0"/>
          </a:xfrm>
          <a:prstGeom prst="line">
            <a:avLst/>
          </a:prstGeom>
          <a:noFill/>
          <a:ln w="22225">
            <a:solidFill>
              <a:srgbClr val="1E2A5C"/>
            </a:solidFill>
            <a:prstDash val="solid"/>
            <a:tailEnd type="triangle"/>
          </a:ln>
        </p:spPr>
        <p:txBody>
          <a:bodyPr/>
          <a:lstStyle/>
          <a:p>
            <a:endParaRPr lang="ko-KR" altLang="en-US"/>
          </a:p>
        </p:txBody>
      </p:sp>
      <p:sp>
        <p:nvSpPr>
          <p:cNvPr id="50" name="Text 47"/>
          <p:cNvSpPr txBox="1"/>
          <p:nvPr/>
        </p:nvSpPr>
        <p:spPr>
          <a:xfrm>
            <a:off x="12419381" y="1975104"/>
            <a:ext cx="75438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:입금</a:t>
            </a:r>
            <a:endParaRPr lang="en-US" sz="1400" dirty="0"/>
          </a:p>
        </p:txBody>
      </p:sp>
      <p:sp>
        <p:nvSpPr>
          <p:cNvPr id="51" name="Text 48"/>
          <p:cNvSpPr txBox="1"/>
          <p:nvPr/>
        </p:nvSpPr>
        <p:spPr>
          <a:xfrm>
            <a:off x="9973361" y="2487168"/>
            <a:ext cx="41148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조회 대상 → 노드 타입(FK가 2개여도)</a:t>
            </a:r>
            <a:endParaRPr lang="en-US" sz="1400" dirty="0"/>
          </a:p>
        </p:txBody>
      </p:sp>
      <p:sp>
        <p:nvSpPr>
          <p:cNvPr id="52" name="Shape 49"/>
          <p:cNvSpPr/>
          <p:nvPr/>
        </p:nvSpPr>
        <p:spPr>
          <a:xfrm>
            <a:off x="6818681" y="2907792"/>
            <a:ext cx="731520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53" name="Shape 50"/>
          <p:cNvSpPr/>
          <p:nvPr/>
        </p:nvSpPr>
        <p:spPr>
          <a:xfrm>
            <a:off x="6910121" y="2999232"/>
            <a:ext cx="329184" cy="329184"/>
          </a:xfrm>
          <a:prstGeom prst="roundRect">
            <a:avLst>
              <a:gd name="adj" fmla="val 45000"/>
            </a:avLst>
          </a:prstGeom>
          <a:solidFill>
            <a:srgbClr val="2E74C6"/>
          </a:solidFill>
          <a:ln/>
        </p:spPr>
        <p:txBody>
          <a:bodyPr/>
          <a:lstStyle/>
          <a:p>
            <a:endParaRPr lang="ko-KR" altLang="en-US"/>
          </a:p>
        </p:txBody>
      </p:sp>
      <p:sp>
        <p:nvSpPr>
          <p:cNvPr id="54" name="Text 51"/>
          <p:cNvSpPr txBox="1"/>
          <p:nvPr/>
        </p:nvSpPr>
        <p:spPr>
          <a:xfrm>
            <a:off x="6910121" y="2999232"/>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②</a:t>
            </a:r>
            <a:endParaRPr lang="en-US" sz="1500" dirty="0"/>
          </a:p>
        </p:txBody>
      </p:sp>
      <p:sp>
        <p:nvSpPr>
          <p:cNvPr id="55" name="Shape 52"/>
          <p:cNvSpPr/>
          <p:nvPr/>
        </p:nvSpPr>
        <p:spPr>
          <a:xfrm>
            <a:off x="7321601" y="3017520"/>
            <a:ext cx="2331720" cy="859536"/>
          </a:xfrm>
          <a:prstGeom prst="roundRect">
            <a:avLst>
              <a:gd name="adj" fmla="val 6383"/>
            </a:avLst>
          </a:prstGeom>
          <a:solidFill>
            <a:srgbClr val="F5F8FC"/>
          </a:solidFill>
          <a:ln w="12700">
            <a:solidFill>
              <a:srgbClr val="D9E0EC"/>
            </a:solidFill>
            <a:prstDash val="solid"/>
          </a:ln>
        </p:spPr>
        <p:txBody>
          <a:bodyPr/>
          <a:lstStyle/>
          <a:p>
            <a:endParaRPr lang="ko-KR" altLang="en-US"/>
          </a:p>
        </p:txBody>
      </p:sp>
      <p:sp>
        <p:nvSpPr>
          <p:cNvPr id="56" name="Text 53"/>
          <p:cNvSpPr txBox="1"/>
          <p:nvPr/>
        </p:nvSpPr>
        <p:spPr>
          <a:xfrm>
            <a:off x="7367321" y="3017520"/>
            <a:ext cx="2240280" cy="859536"/>
          </a:xfrm>
          <a:prstGeom prst="rect">
            <a:avLst/>
          </a:prstGeom>
          <a:noFill/>
          <a:ln/>
        </p:spPr>
        <p:txBody>
          <a:bodyPr wrap="square" lIns="508" tIns="508" rIns="508" bIns="508"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사용자, 역할,</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사용자역할(사용자FK, 역할FK)</a:t>
            </a:r>
            <a:endParaRPr lang="en-US" sz="1400" dirty="0"/>
          </a:p>
        </p:txBody>
      </p:sp>
      <p:sp>
        <p:nvSpPr>
          <p:cNvPr id="57" name="Shape 54"/>
          <p:cNvSpPr/>
          <p:nvPr/>
        </p:nvSpPr>
        <p:spPr>
          <a:xfrm>
            <a:off x="9699041" y="3447288"/>
            <a:ext cx="228600" cy="0"/>
          </a:xfrm>
          <a:prstGeom prst="line">
            <a:avLst/>
          </a:prstGeom>
          <a:noFill/>
          <a:ln w="22225">
            <a:solidFill>
              <a:srgbClr val="4A5364"/>
            </a:solidFill>
            <a:prstDash val="solid"/>
            <a:tailEnd type="triangle"/>
          </a:ln>
        </p:spPr>
        <p:txBody>
          <a:bodyPr/>
          <a:lstStyle/>
          <a:p>
            <a:endParaRPr lang="ko-KR" altLang="en-US"/>
          </a:p>
        </p:txBody>
      </p:sp>
      <p:sp>
        <p:nvSpPr>
          <p:cNvPr id="58" name="Shape 55"/>
          <p:cNvSpPr/>
          <p:nvPr/>
        </p:nvSpPr>
        <p:spPr>
          <a:xfrm>
            <a:off x="10019081" y="3236976"/>
            <a:ext cx="91440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59" name="Text 56"/>
          <p:cNvSpPr txBox="1"/>
          <p:nvPr/>
        </p:nvSpPr>
        <p:spPr>
          <a:xfrm>
            <a:off x="10019081" y="3236976"/>
            <a:ext cx="91440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:사용자</a:t>
            </a:r>
            <a:endParaRPr lang="en-US" sz="1400" dirty="0"/>
          </a:p>
        </p:txBody>
      </p:sp>
      <p:sp>
        <p:nvSpPr>
          <p:cNvPr id="60" name="Shape 57"/>
          <p:cNvSpPr/>
          <p:nvPr/>
        </p:nvSpPr>
        <p:spPr>
          <a:xfrm>
            <a:off x="13128041" y="3236976"/>
            <a:ext cx="91440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61" name="Text 58"/>
          <p:cNvSpPr txBox="1"/>
          <p:nvPr/>
        </p:nvSpPr>
        <p:spPr>
          <a:xfrm>
            <a:off x="13128041" y="3236976"/>
            <a:ext cx="91440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:역할</a:t>
            </a:r>
            <a:endParaRPr lang="en-US" sz="1400" dirty="0"/>
          </a:p>
        </p:txBody>
      </p:sp>
      <p:sp>
        <p:nvSpPr>
          <p:cNvPr id="62" name="Shape 59"/>
          <p:cNvSpPr/>
          <p:nvPr/>
        </p:nvSpPr>
        <p:spPr>
          <a:xfrm>
            <a:off x="10960913" y="3429000"/>
            <a:ext cx="2139696" cy="0"/>
          </a:xfrm>
          <a:prstGeom prst="line">
            <a:avLst/>
          </a:prstGeom>
          <a:noFill/>
          <a:ln w="22225">
            <a:solidFill>
              <a:srgbClr val="1E2A5C"/>
            </a:solidFill>
            <a:prstDash val="solid"/>
            <a:tailEnd type="triangle"/>
          </a:ln>
        </p:spPr>
        <p:txBody>
          <a:bodyPr/>
          <a:lstStyle/>
          <a:p>
            <a:endParaRPr lang="ko-KR" altLang="en-US"/>
          </a:p>
        </p:txBody>
      </p:sp>
      <p:sp>
        <p:nvSpPr>
          <p:cNvPr id="63" name="Text 60"/>
          <p:cNvSpPr txBox="1"/>
          <p:nvPr/>
        </p:nvSpPr>
        <p:spPr>
          <a:xfrm>
            <a:off x="10842041" y="3127248"/>
            <a:ext cx="237744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:맡음</a:t>
            </a:r>
            <a:endParaRPr lang="en-US" sz="1400" dirty="0"/>
          </a:p>
        </p:txBody>
      </p:sp>
      <p:sp>
        <p:nvSpPr>
          <p:cNvPr id="64" name="Text 61"/>
          <p:cNvSpPr txBox="1"/>
          <p:nvPr/>
        </p:nvSpPr>
        <p:spPr>
          <a:xfrm>
            <a:off x="9973361" y="3639312"/>
            <a:ext cx="41148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업무 열 없음 → 관계로 흡수(사용자역할 노드 없음)</a:t>
            </a:r>
            <a:endParaRPr lang="en-US" sz="1400" dirty="0"/>
          </a:p>
        </p:txBody>
      </p:sp>
      <p:sp>
        <p:nvSpPr>
          <p:cNvPr id="65" name="Shape 62"/>
          <p:cNvSpPr/>
          <p:nvPr/>
        </p:nvSpPr>
        <p:spPr>
          <a:xfrm>
            <a:off x="6818681" y="4059936"/>
            <a:ext cx="731520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66" name="Shape 63"/>
          <p:cNvSpPr/>
          <p:nvPr/>
        </p:nvSpPr>
        <p:spPr>
          <a:xfrm>
            <a:off x="6910121" y="4151376"/>
            <a:ext cx="329184" cy="329184"/>
          </a:xfrm>
          <a:prstGeom prst="roundRect">
            <a:avLst>
              <a:gd name="adj" fmla="val 45000"/>
            </a:avLst>
          </a:prstGeom>
          <a:solidFill>
            <a:srgbClr val="2E74C6"/>
          </a:solidFill>
          <a:ln/>
        </p:spPr>
        <p:txBody>
          <a:bodyPr/>
          <a:lstStyle/>
          <a:p>
            <a:endParaRPr lang="ko-KR" altLang="en-US"/>
          </a:p>
        </p:txBody>
      </p:sp>
      <p:sp>
        <p:nvSpPr>
          <p:cNvPr id="67" name="Text 64"/>
          <p:cNvSpPr txBox="1"/>
          <p:nvPr/>
        </p:nvSpPr>
        <p:spPr>
          <a:xfrm>
            <a:off x="6910121" y="4151376"/>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③</a:t>
            </a:r>
            <a:endParaRPr lang="en-US" sz="1500" dirty="0"/>
          </a:p>
        </p:txBody>
      </p:sp>
      <p:sp>
        <p:nvSpPr>
          <p:cNvPr id="68" name="Shape 65"/>
          <p:cNvSpPr/>
          <p:nvPr/>
        </p:nvSpPr>
        <p:spPr>
          <a:xfrm>
            <a:off x="7321601" y="4169664"/>
            <a:ext cx="2331720" cy="859536"/>
          </a:xfrm>
          <a:prstGeom prst="roundRect">
            <a:avLst>
              <a:gd name="adj" fmla="val 6383"/>
            </a:avLst>
          </a:prstGeom>
          <a:solidFill>
            <a:srgbClr val="F5F8FC"/>
          </a:solidFill>
          <a:ln w="12700">
            <a:solidFill>
              <a:srgbClr val="D9E0EC"/>
            </a:solidFill>
            <a:prstDash val="solid"/>
          </a:ln>
        </p:spPr>
        <p:txBody>
          <a:bodyPr/>
          <a:lstStyle/>
          <a:p>
            <a:endParaRPr lang="ko-KR" altLang="en-US"/>
          </a:p>
        </p:txBody>
      </p:sp>
      <p:sp>
        <p:nvSpPr>
          <p:cNvPr id="69" name="Text 66"/>
          <p:cNvSpPr txBox="1"/>
          <p:nvPr/>
        </p:nvSpPr>
        <p:spPr>
          <a:xfrm>
            <a:off x="7367321" y="4169664"/>
            <a:ext cx="2240280" cy="859536"/>
          </a:xfrm>
          <a:prstGeom prst="rect">
            <a:avLst/>
          </a:prstGeom>
          <a:noFill/>
          <a:ln/>
        </p:spPr>
        <p:txBody>
          <a:bodyPr wrap="square" lIns="508" tIns="508" rIns="508" bIns="508"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주문상품(주문FK, 상품FK,</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수량, 단가)</a:t>
            </a:r>
            <a:endParaRPr lang="en-US" sz="1400" dirty="0"/>
          </a:p>
        </p:txBody>
      </p:sp>
      <p:sp>
        <p:nvSpPr>
          <p:cNvPr id="70" name="Shape 67"/>
          <p:cNvSpPr/>
          <p:nvPr/>
        </p:nvSpPr>
        <p:spPr>
          <a:xfrm>
            <a:off x="9699041" y="4599432"/>
            <a:ext cx="228600" cy="0"/>
          </a:xfrm>
          <a:prstGeom prst="line">
            <a:avLst/>
          </a:prstGeom>
          <a:noFill/>
          <a:ln w="22225">
            <a:solidFill>
              <a:srgbClr val="4A5364"/>
            </a:solidFill>
            <a:prstDash val="solid"/>
            <a:tailEnd type="triangle"/>
          </a:ln>
        </p:spPr>
        <p:txBody>
          <a:bodyPr/>
          <a:lstStyle/>
          <a:p>
            <a:endParaRPr lang="ko-KR" altLang="en-US"/>
          </a:p>
        </p:txBody>
      </p:sp>
      <p:sp>
        <p:nvSpPr>
          <p:cNvPr id="71" name="Shape 68"/>
          <p:cNvSpPr/>
          <p:nvPr/>
        </p:nvSpPr>
        <p:spPr>
          <a:xfrm>
            <a:off x="10019081" y="4389120"/>
            <a:ext cx="91440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72" name="Text 69"/>
          <p:cNvSpPr txBox="1"/>
          <p:nvPr/>
        </p:nvSpPr>
        <p:spPr>
          <a:xfrm>
            <a:off x="10019081" y="4389120"/>
            <a:ext cx="91440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:주문</a:t>
            </a:r>
            <a:endParaRPr lang="en-US" sz="1400" dirty="0"/>
          </a:p>
        </p:txBody>
      </p:sp>
      <p:sp>
        <p:nvSpPr>
          <p:cNvPr id="73" name="Shape 70"/>
          <p:cNvSpPr/>
          <p:nvPr/>
        </p:nvSpPr>
        <p:spPr>
          <a:xfrm>
            <a:off x="13128041" y="4389120"/>
            <a:ext cx="91440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74" name="Text 71"/>
          <p:cNvSpPr txBox="1"/>
          <p:nvPr/>
        </p:nvSpPr>
        <p:spPr>
          <a:xfrm>
            <a:off x="13128041" y="4389120"/>
            <a:ext cx="91440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:상품</a:t>
            </a:r>
            <a:endParaRPr lang="en-US" sz="1400" dirty="0"/>
          </a:p>
        </p:txBody>
      </p:sp>
      <p:sp>
        <p:nvSpPr>
          <p:cNvPr id="75" name="Shape 72"/>
          <p:cNvSpPr/>
          <p:nvPr/>
        </p:nvSpPr>
        <p:spPr>
          <a:xfrm>
            <a:off x="10960913" y="4581144"/>
            <a:ext cx="2139696" cy="0"/>
          </a:xfrm>
          <a:prstGeom prst="line">
            <a:avLst/>
          </a:prstGeom>
          <a:noFill/>
          <a:ln w="22225">
            <a:solidFill>
              <a:srgbClr val="1E2A5C"/>
            </a:solidFill>
            <a:prstDash val="solid"/>
            <a:tailEnd type="triangle"/>
          </a:ln>
        </p:spPr>
        <p:txBody>
          <a:bodyPr/>
          <a:lstStyle/>
          <a:p>
            <a:endParaRPr lang="ko-KR" altLang="en-US"/>
          </a:p>
        </p:txBody>
      </p:sp>
      <p:sp>
        <p:nvSpPr>
          <p:cNvPr id="76" name="Text 73"/>
          <p:cNvSpPr txBox="1"/>
          <p:nvPr/>
        </p:nvSpPr>
        <p:spPr>
          <a:xfrm>
            <a:off x="10842041" y="4279392"/>
            <a:ext cx="237744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:포함 {수량, 단가}</a:t>
            </a:r>
            <a:endParaRPr lang="en-US" sz="1400" dirty="0"/>
          </a:p>
        </p:txBody>
      </p:sp>
      <p:sp>
        <p:nvSpPr>
          <p:cNvPr id="77" name="Text 74"/>
          <p:cNvSpPr txBox="1"/>
          <p:nvPr/>
        </p:nvSpPr>
        <p:spPr>
          <a:xfrm>
            <a:off x="9973361" y="4791456"/>
            <a:ext cx="41148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업무 속성 → 관계 속성(판매 집계가 잦으면 노드)</a:t>
            </a:r>
            <a:endParaRPr lang="en-US" sz="1400" dirty="0"/>
          </a:p>
        </p:txBody>
      </p:sp>
      <p:sp>
        <p:nvSpPr>
          <p:cNvPr id="78" name="Shape 75"/>
          <p:cNvSpPr/>
          <p:nvPr/>
        </p:nvSpPr>
        <p:spPr>
          <a:xfrm>
            <a:off x="6818681" y="5212080"/>
            <a:ext cx="731520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79" name="Shape 76"/>
          <p:cNvSpPr/>
          <p:nvPr/>
        </p:nvSpPr>
        <p:spPr>
          <a:xfrm>
            <a:off x="6910121" y="5303520"/>
            <a:ext cx="329184" cy="329184"/>
          </a:xfrm>
          <a:prstGeom prst="roundRect">
            <a:avLst>
              <a:gd name="adj" fmla="val 45000"/>
            </a:avLst>
          </a:prstGeom>
          <a:solidFill>
            <a:srgbClr val="2E74C6"/>
          </a:solidFill>
          <a:ln/>
        </p:spPr>
        <p:txBody>
          <a:bodyPr/>
          <a:lstStyle/>
          <a:p>
            <a:endParaRPr lang="ko-KR" altLang="en-US"/>
          </a:p>
        </p:txBody>
      </p:sp>
      <p:sp>
        <p:nvSpPr>
          <p:cNvPr id="80" name="Text 77"/>
          <p:cNvSpPr txBox="1"/>
          <p:nvPr/>
        </p:nvSpPr>
        <p:spPr>
          <a:xfrm>
            <a:off x="6910121" y="5303520"/>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④</a:t>
            </a:r>
            <a:endParaRPr lang="en-US" sz="1500" dirty="0"/>
          </a:p>
        </p:txBody>
      </p:sp>
      <p:sp>
        <p:nvSpPr>
          <p:cNvPr id="81" name="Shape 78"/>
          <p:cNvSpPr/>
          <p:nvPr/>
        </p:nvSpPr>
        <p:spPr>
          <a:xfrm>
            <a:off x="7321601" y="5321808"/>
            <a:ext cx="2331720" cy="859536"/>
          </a:xfrm>
          <a:prstGeom prst="roundRect">
            <a:avLst>
              <a:gd name="adj" fmla="val 6383"/>
            </a:avLst>
          </a:prstGeom>
          <a:solidFill>
            <a:srgbClr val="F5F8FC"/>
          </a:solidFill>
          <a:ln w="12700">
            <a:solidFill>
              <a:srgbClr val="D9E0EC"/>
            </a:solidFill>
            <a:prstDash val="solid"/>
          </a:ln>
        </p:spPr>
        <p:txBody>
          <a:bodyPr/>
          <a:lstStyle/>
          <a:p>
            <a:endParaRPr lang="ko-KR" altLang="en-US"/>
          </a:p>
        </p:txBody>
      </p:sp>
      <p:sp>
        <p:nvSpPr>
          <p:cNvPr id="82" name="Text 79"/>
          <p:cNvSpPr txBox="1"/>
          <p:nvPr/>
        </p:nvSpPr>
        <p:spPr>
          <a:xfrm>
            <a:off x="7367321" y="5321808"/>
            <a:ext cx="2240280" cy="859536"/>
          </a:xfrm>
          <a:prstGeom prst="rect">
            <a:avLst/>
          </a:prstGeom>
          <a:noFill/>
          <a:ln/>
        </p:spPr>
        <p:txBody>
          <a:bodyPr wrap="square" lIns="508" tIns="508" rIns="508" bIns="508"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수강신청(학생FK, 과목FK,</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학기FK)</a:t>
            </a:r>
            <a:endParaRPr lang="en-US" sz="1400" dirty="0"/>
          </a:p>
        </p:txBody>
      </p:sp>
      <p:sp>
        <p:nvSpPr>
          <p:cNvPr id="83" name="Shape 80"/>
          <p:cNvSpPr/>
          <p:nvPr/>
        </p:nvSpPr>
        <p:spPr>
          <a:xfrm>
            <a:off x="9699041" y="5751576"/>
            <a:ext cx="228600" cy="0"/>
          </a:xfrm>
          <a:prstGeom prst="line">
            <a:avLst/>
          </a:prstGeom>
          <a:noFill/>
          <a:ln w="22225">
            <a:solidFill>
              <a:srgbClr val="4A5364"/>
            </a:solidFill>
            <a:prstDash val="solid"/>
            <a:tailEnd type="triangle"/>
          </a:ln>
        </p:spPr>
        <p:txBody>
          <a:bodyPr/>
          <a:lstStyle/>
          <a:p>
            <a:endParaRPr lang="ko-KR" altLang="en-US"/>
          </a:p>
        </p:txBody>
      </p:sp>
      <p:sp>
        <p:nvSpPr>
          <p:cNvPr id="84" name="Shape 81"/>
          <p:cNvSpPr/>
          <p:nvPr/>
        </p:nvSpPr>
        <p:spPr>
          <a:xfrm>
            <a:off x="10019081" y="5541264"/>
            <a:ext cx="96012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85" name="Text 82"/>
          <p:cNvSpPr txBox="1"/>
          <p:nvPr/>
        </p:nvSpPr>
        <p:spPr>
          <a:xfrm>
            <a:off x="10019081" y="5541264"/>
            <a:ext cx="96012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:학생</a:t>
            </a:r>
            <a:endParaRPr lang="en-US" sz="1400" dirty="0"/>
          </a:p>
        </p:txBody>
      </p:sp>
      <p:sp>
        <p:nvSpPr>
          <p:cNvPr id="86" name="Shape 83"/>
          <p:cNvSpPr/>
          <p:nvPr/>
        </p:nvSpPr>
        <p:spPr>
          <a:xfrm>
            <a:off x="11550701" y="5541264"/>
            <a:ext cx="960120" cy="384048"/>
          </a:xfrm>
          <a:prstGeom prst="roundRect">
            <a:avLst>
              <a:gd name="adj" fmla="val 28571"/>
            </a:avLst>
          </a:prstGeom>
          <a:solidFill>
            <a:srgbClr val="1E2A5C"/>
          </a:solidFill>
          <a:ln/>
        </p:spPr>
        <p:txBody>
          <a:bodyPr/>
          <a:lstStyle/>
          <a:p>
            <a:endParaRPr lang="ko-KR" altLang="en-US"/>
          </a:p>
        </p:txBody>
      </p:sp>
      <p:sp>
        <p:nvSpPr>
          <p:cNvPr id="87" name="Text 84"/>
          <p:cNvSpPr txBox="1"/>
          <p:nvPr/>
        </p:nvSpPr>
        <p:spPr>
          <a:xfrm>
            <a:off x="11550701" y="5541264"/>
            <a:ext cx="960120" cy="38404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:수강신청</a:t>
            </a:r>
            <a:endParaRPr lang="en-US" sz="1400" dirty="0"/>
          </a:p>
        </p:txBody>
      </p:sp>
      <p:sp>
        <p:nvSpPr>
          <p:cNvPr id="88" name="Shape 85"/>
          <p:cNvSpPr/>
          <p:nvPr/>
        </p:nvSpPr>
        <p:spPr>
          <a:xfrm>
            <a:off x="13082321" y="5541264"/>
            <a:ext cx="96012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89" name="Text 86"/>
          <p:cNvSpPr txBox="1"/>
          <p:nvPr/>
        </p:nvSpPr>
        <p:spPr>
          <a:xfrm>
            <a:off x="13082321" y="5541264"/>
            <a:ext cx="96012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:과목</a:t>
            </a:r>
            <a:endParaRPr lang="en-US" sz="1400" dirty="0"/>
          </a:p>
        </p:txBody>
      </p:sp>
      <p:sp>
        <p:nvSpPr>
          <p:cNvPr id="90" name="Shape 87"/>
          <p:cNvSpPr/>
          <p:nvPr/>
        </p:nvSpPr>
        <p:spPr>
          <a:xfrm>
            <a:off x="11006633" y="5733288"/>
            <a:ext cx="516636" cy="0"/>
          </a:xfrm>
          <a:prstGeom prst="line">
            <a:avLst/>
          </a:prstGeom>
          <a:noFill/>
          <a:ln w="22225">
            <a:solidFill>
              <a:srgbClr val="1E2A5C"/>
            </a:solidFill>
            <a:prstDash val="solid"/>
            <a:tailEnd type="triangle"/>
          </a:ln>
        </p:spPr>
        <p:txBody>
          <a:bodyPr/>
          <a:lstStyle/>
          <a:p>
            <a:endParaRPr lang="ko-KR" altLang="en-US"/>
          </a:p>
        </p:txBody>
      </p:sp>
      <p:sp>
        <p:nvSpPr>
          <p:cNvPr id="91" name="Text 88"/>
          <p:cNvSpPr txBox="1"/>
          <p:nvPr/>
        </p:nvSpPr>
        <p:spPr>
          <a:xfrm>
            <a:off x="10887761" y="5431536"/>
            <a:ext cx="75438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:신청</a:t>
            </a:r>
            <a:endParaRPr lang="en-US" sz="1400" dirty="0"/>
          </a:p>
        </p:txBody>
      </p:sp>
      <p:sp>
        <p:nvSpPr>
          <p:cNvPr id="92" name="Shape 89"/>
          <p:cNvSpPr/>
          <p:nvPr/>
        </p:nvSpPr>
        <p:spPr>
          <a:xfrm>
            <a:off x="12538253" y="5733288"/>
            <a:ext cx="516636" cy="0"/>
          </a:xfrm>
          <a:prstGeom prst="line">
            <a:avLst/>
          </a:prstGeom>
          <a:noFill/>
          <a:ln w="22225">
            <a:solidFill>
              <a:srgbClr val="1E2A5C"/>
            </a:solidFill>
            <a:prstDash val="solid"/>
            <a:tailEnd type="triangle"/>
          </a:ln>
        </p:spPr>
        <p:txBody>
          <a:bodyPr/>
          <a:lstStyle/>
          <a:p>
            <a:endParaRPr lang="ko-KR" altLang="en-US"/>
          </a:p>
        </p:txBody>
      </p:sp>
      <p:sp>
        <p:nvSpPr>
          <p:cNvPr id="93" name="Text 90"/>
          <p:cNvSpPr txBox="1"/>
          <p:nvPr/>
        </p:nvSpPr>
        <p:spPr>
          <a:xfrm>
            <a:off x="12419381" y="5431536"/>
            <a:ext cx="75438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:대상</a:t>
            </a:r>
            <a:endParaRPr lang="en-US" sz="1400" dirty="0"/>
          </a:p>
        </p:txBody>
      </p:sp>
      <p:sp>
        <p:nvSpPr>
          <p:cNvPr id="94" name="Text 91"/>
          <p:cNvSpPr txBox="1"/>
          <p:nvPr/>
        </p:nvSpPr>
        <p:spPr>
          <a:xfrm>
            <a:off x="9973361" y="5943600"/>
            <a:ext cx="41148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FK 3개 → 중간 노드(학기도 같은 방식), 홉 +1</a:t>
            </a:r>
            <a:endParaRPr lang="en-US" sz="1400" dirty="0"/>
          </a:p>
        </p:txBody>
      </p:sp>
      <p:sp>
        <p:nvSpPr>
          <p:cNvPr id="95" name="Shape 92"/>
          <p:cNvSpPr/>
          <p:nvPr/>
        </p:nvSpPr>
        <p:spPr>
          <a:xfrm>
            <a:off x="509321" y="6492240"/>
            <a:ext cx="13624560" cy="731520"/>
          </a:xfrm>
          <a:prstGeom prst="roundRect">
            <a:avLst>
              <a:gd name="adj" fmla="val 10000"/>
            </a:avLst>
          </a:prstGeom>
          <a:solidFill>
            <a:srgbClr val="EEF3FA"/>
          </a:solidFill>
          <a:ln w="19050">
            <a:solidFill>
              <a:srgbClr val="2E74C6"/>
            </a:solidFill>
            <a:prstDash val="solid"/>
          </a:ln>
        </p:spPr>
        <p:txBody>
          <a:bodyPr/>
          <a:lstStyle/>
          <a:p>
            <a:endParaRPr lang="ko-KR" altLang="en-US"/>
          </a:p>
        </p:txBody>
      </p:sp>
      <p:sp>
        <p:nvSpPr>
          <p:cNvPr id="96" name="Shape 93"/>
          <p:cNvSpPr/>
          <p:nvPr/>
        </p:nvSpPr>
        <p:spPr>
          <a:xfrm>
            <a:off x="509321" y="6492240"/>
            <a:ext cx="82296" cy="731520"/>
          </a:xfrm>
          <a:prstGeom prst="rect">
            <a:avLst/>
          </a:prstGeom>
          <a:solidFill>
            <a:srgbClr val="2E74C6"/>
          </a:solidFill>
          <a:ln/>
        </p:spPr>
        <p:txBody>
          <a:bodyPr/>
          <a:lstStyle/>
          <a:p>
            <a:endParaRPr lang="ko-KR" altLang="en-US"/>
          </a:p>
        </p:txBody>
      </p:sp>
      <p:sp>
        <p:nvSpPr>
          <p:cNvPr id="97" name="Text 94"/>
          <p:cNvSpPr txBox="1"/>
          <p:nvPr/>
        </p:nvSpPr>
        <p:spPr>
          <a:xfrm>
            <a:off x="737921" y="6492240"/>
            <a:ext cx="13258800" cy="7315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Neo4j 공식 변환 규칙과 같음: 테이블 → 라벨 , FK → 관계 , 조인 테이블 → 관계 또는 관계 + 속성,  셋 이상 → 중간 노드</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이름에 공백 없음(Neo4j 권고: 라벨은 PascalCase, 관계는 대문자_밑줄). 정형에서 나온 타입은 LLM 추출 비용이 들지 않음</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프롬프트로 정형 테이블의 </a:t>
            </a:r>
            <a:r>
              <a:rPr lang="en-US" sz="3200" b="1" dirty="0" err="1">
                <a:solidFill>
                  <a:srgbClr val="2C2926"/>
                </a:solidFill>
                <a:latin typeface="Pretendard" pitchFamily="34" charset="0"/>
                <a:ea typeface="Pretendard" pitchFamily="34" charset="-122"/>
                <a:cs typeface="Pretendard" pitchFamily="34" charset="-120"/>
              </a:rPr>
              <a:t>스키마</a:t>
            </a:r>
            <a:r>
              <a:rPr lang="en-US" sz="3200" b="1" dirty="0">
                <a:solidFill>
                  <a:srgbClr val="2C2926"/>
                </a:solidFill>
                <a:latin typeface="Pretendard" pitchFamily="34" charset="0"/>
                <a:ea typeface="Pretendard" pitchFamily="34" charset="-122"/>
                <a:cs typeface="Pretendard" pitchFamily="34" charset="-120"/>
              </a:rPr>
              <a:t> </a:t>
            </a:r>
            <a:r>
              <a:rPr lang="ko-KR" altLang="en-US" sz="3200" b="1" dirty="0">
                <a:solidFill>
                  <a:srgbClr val="2C2926"/>
                </a:solidFill>
                <a:latin typeface="Pretendard" pitchFamily="34" charset="0"/>
                <a:ea typeface="Pretendard" pitchFamily="34" charset="-122"/>
                <a:cs typeface="Pretendard" pitchFamily="34" charset="-120"/>
              </a:rPr>
              <a:t>후보 </a:t>
            </a:r>
            <a:r>
              <a:rPr lang="en-US" sz="3200" b="1" dirty="0" err="1">
                <a:solidFill>
                  <a:srgbClr val="2C2926"/>
                </a:solidFill>
                <a:latin typeface="Pretendard" pitchFamily="34" charset="0"/>
                <a:ea typeface="Pretendard" pitchFamily="34" charset="-122"/>
                <a:cs typeface="Pretendard" pitchFamily="34" charset="-120"/>
              </a:rPr>
              <a:t>도출</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변환 규칙을 프롬프트에 담아 바이브 코딩 도구에 맡김 — AI는 읽고 판정하고 그리며, 사람은 세 번 답하고 승인함</a:t>
            </a:r>
            <a:endParaRPr lang="en-US" sz="1800" dirty="0"/>
          </a:p>
        </p:txBody>
      </p:sp>
      <p:sp>
        <p:nvSpPr>
          <p:cNvPr id="5" name="Shape 2"/>
          <p:cNvSpPr/>
          <p:nvPr/>
        </p:nvSpPr>
        <p:spPr>
          <a:xfrm>
            <a:off x="2127809" y="1700784"/>
            <a:ext cx="12006072" cy="749808"/>
          </a:xfrm>
          <a:prstGeom prst="roundRect">
            <a:avLst>
              <a:gd name="adj" fmla="val 7317"/>
            </a:avLst>
          </a:prstGeom>
          <a:solidFill>
            <a:srgbClr val="F5F8FC"/>
          </a:solidFill>
          <a:ln/>
        </p:spPr>
        <p:txBody>
          <a:bodyPr/>
          <a:lstStyle/>
          <a:p>
            <a:endParaRPr lang="ko-KR" altLang="en-US"/>
          </a:p>
        </p:txBody>
      </p:sp>
      <p:sp>
        <p:nvSpPr>
          <p:cNvPr id="6" name="Shape 3"/>
          <p:cNvSpPr/>
          <p:nvPr/>
        </p:nvSpPr>
        <p:spPr>
          <a:xfrm>
            <a:off x="509321" y="1700784"/>
            <a:ext cx="1554480" cy="749808"/>
          </a:xfrm>
          <a:prstGeom prst="roundRect">
            <a:avLst>
              <a:gd name="adj" fmla="val 7317"/>
            </a:avLst>
          </a:prstGeom>
          <a:solidFill>
            <a:srgbClr val="2E74C6"/>
          </a:solidFill>
          <a:ln/>
        </p:spPr>
        <p:txBody>
          <a:bodyPr/>
          <a:lstStyle/>
          <a:p>
            <a:endParaRPr lang="ko-KR" altLang="en-US"/>
          </a:p>
        </p:txBody>
      </p:sp>
      <p:sp>
        <p:nvSpPr>
          <p:cNvPr id="7" name="Text 4"/>
          <p:cNvSpPr txBox="1"/>
          <p:nvPr/>
        </p:nvSpPr>
        <p:spPr>
          <a:xfrm>
            <a:off x="509321" y="1700784"/>
            <a:ext cx="1554480" cy="7498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사람</a:t>
            </a:r>
            <a:endParaRPr lang="en-US" sz="1400" dirty="0"/>
          </a:p>
        </p:txBody>
      </p:sp>
      <p:sp>
        <p:nvSpPr>
          <p:cNvPr id="8" name="Shape 5"/>
          <p:cNvSpPr/>
          <p:nvPr/>
        </p:nvSpPr>
        <p:spPr>
          <a:xfrm>
            <a:off x="2127809" y="2615184"/>
            <a:ext cx="12006072" cy="749808"/>
          </a:xfrm>
          <a:prstGeom prst="roundRect">
            <a:avLst>
              <a:gd name="adj" fmla="val 7317"/>
            </a:avLst>
          </a:prstGeom>
          <a:solidFill>
            <a:srgbClr val="F5F8FC"/>
          </a:solidFill>
          <a:ln/>
        </p:spPr>
        <p:txBody>
          <a:bodyPr/>
          <a:lstStyle/>
          <a:p>
            <a:endParaRPr lang="ko-KR" altLang="en-US"/>
          </a:p>
        </p:txBody>
      </p:sp>
      <p:sp>
        <p:nvSpPr>
          <p:cNvPr id="9" name="Shape 6"/>
          <p:cNvSpPr/>
          <p:nvPr/>
        </p:nvSpPr>
        <p:spPr>
          <a:xfrm>
            <a:off x="509321" y="2615184"/>
            <a:ext cx="1554480" cy="749808"/>
          </a:xfrm>
          <a:prstGeom prst="roundRect">
            <a:avLst>
              <a:gd name="adj" fmla="val 7317"/>
            </a:avLst>
          </a:prstGeom>
          <a:solidFill>
            <a:srgbClr val="1E2A5C"/>
          </a:solidFill>
          <a:ln/>
        </p:spPr>
        <p:txBody>
          <a:bodyPr/>
          <a:lstStyle/>
          <a:p>
            <a:endParaRPr lang="ko-KR" altLang="en-US"/>
          </a:p>
        </p:txBody>
      </p:sp>
      <p:sp>
        <p:nvSpPr>
          <p:cNvPr id="10" name="Text 7"/>
          <p:cNvSpPr txBox="1"/>
          <p:nvPr/>
        </p:nvSpPr>
        <p:spPr>
          <a:xfrm>
            <a:off x="509321" y="2615184"/>
            <a:ext cx="1554480" cy="7498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AI</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(바이브 코딩 도구)</a:t>
            </a:r>
            <a:endParaRPr lang="en-US" sz="1400" dirty="0"/>
          </a:p>
        </p:txBody>
      </p:sp>
      <p:sp>
        <p:nvSpPr>
          <p:cNvPr id="11" name="Shape 8"/>
          <p:cNvSpPr/>
          <p:nvPr/>
        </p:nvSpPr>
        <p:spPr>
          <a:xfrm>
            <a:off x="2200961" y="1755648"/>
            <a:ext cx="1163320" cy="640080"/>
          </a:xfrm>
          <a:prstGeom prst="roundRect">
            <a:avLst>
              <a:gd name="adj" fmla="val 11429"/>
            </a:avLst>
          </a:prstGeom>
          <a:solidFill>
            <a:srgbClr val="2E74C6"/>
          </a:solidFill>
          <a:ln/>
        </p:spPr>
        <p:txBody>
          <a:bodyPr/>
          <a:lstStyle/>
          <a:p>
            <a:endParaRPr lang="ko-KR" altLang="en-US"/>
          </a:p>
        </p:txBody>
      </p:sp>
      <p:sp>
        <p:nvSpPr>
          <p:cNvPr id="12" name="Text 9"/>
          <p:cNvSpPr txBox="1"/>
          <p:nvPr/>
        </p:nvSpPr>
        <p:spPr>
          <a:xfrm>
            <a:off x="22009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1. 입력 받기</a:t>
            </a:r>
            <a:endParaRPr lang="en-US" sz="1400" dirty="0"/>
          </a:p>
        </p:txBody>
      </p:sp>
      <p:sp>
        <p:nvSpPr>
          <p:cNvPr id="13" name="Shape 10"/>
          <p:cNvSpPr/>
          <p:nvPr/>
        </p:nvSpPr>
        <p:spPr>
          <a:xfrm>
            <a:off x="33917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14" name="Shape 11"/>
          <p:cNvSpPr/>
          <p:nvPr/>
        </p:nvSpPr>
        <p:spPr>
          <a:xfrm>
            <a:off x="35471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15" name="Text 12"/>
          <p:cNvSpPr txBox="1"/>
          <p:nvPr/>
        </p:nvSpPr>
        <p:spPr>
          <a:xfrm>
            <a:off x="35471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2. DB</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카탈로그 읽기</a:t>
            </a:r>
            <a:endParaRPr lang="en-US" sz="1400" dirty="0"/>
          </a:p>
        </p:txBody>
      </p:sp>
      <p:sp>
        <p:nvSpPr>
          <p:cNvPr id="16" name="Shape 13"/>
          <p:cNvSpPr/>
          <p:nvPr/>
        </p:nvSpPr>
        <p:spPr>
          <a:xfrm>
            <a:off x="4737913" y="2990088"/>
            <a:ext cx="128016" cy="0"/>
          </a:xfrm>
          <a:prstGeom prst="line">
            <a:avLst/>
          </a:prstGeom>
          <a:noFill/>
          <a:ln w="22225">
            <a:solidFill>
              <a:srgbClr val="4A5364"/>
            </a:solidFill>
            <a:prstDash val="solid"/>
            <a:tailEnd type="triangle"/>
          </a:ln>
        </p:spPr>
        <p:txBody>
          <a:bodyPr/>
          <a:lstStyle/>
          <a:p>
            <a:endParaRPr lang="ko-KR" altLang="en-US"/>
          </a:p>
        </p:txBody>
      </p:sp>
      <p:sp>
        <p:nvSpPr>
          <p:cNvPr id="17" name="Shape 14"/>
          <p:cNvSpPr/>
          <p:nvPr/>
        </p:nvSpPr>
        <p:spPr>
          <a:xfrm>
            <a:off x="48933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18" name="Text 15"/>
          <p:cNvSpPr txBox="1"/>
          <p:nvPr/>
        </p:nvSpPr>
        <p:spPr>
          <a:xfrm>
            <a:off x="48933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3. 규칙 판정</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(②③④)</a:t>
            </a:r>
            <a:endParaRPr lang="en-US" sz="1400" dirty="0"/>
          </a:p>
        </p:txBody>
      </p:sp>
      <p:sp>
        <p:nvSpPr>
          <p:cNvPr id="19" name="Shape 16"/>
          <p:cNvSpPr/>
          <p:nvPr/>
        </p:nvSpPr>
        <p:spPr>
          <a:xfrm flipV="1">
            <a:off x="60841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20" name="Shape 17"/>
          <p:cNvSpPr/>
          <p:nvPr/>
        </p:nvSpPr>
        <p:spPr>
          <a:xfrm>
            <a:off x="6239561" y="1755648"/>
            <a:ext cx="1163320" cy="640080"/>
          </a:xfrm>
          <a:prstGeom prst="roundRect">
            <a:avLst>
              <a:gd name="adj" fmla="val 11429"/>
            </a:avLst>
          </a:prstGeom>
          <a:solidFill>
            <a:srgbClr val="2E74C6"/>
          </a:solidFill>
          <a:ln/>
        </p:spPr>
        <p:txBody>
          <a:bodyPr/>
          <a:lstStyle/>
          <a:p>
            <a:endParaRPr lang="ko-KR" altLang="en-US"/>
          </a:p>
        </p:txBody>
      </p:sp>
      <p:sp>
        <p:nvSpPr>
          <p:cNvPr id="21" name="Text 18"/>
          <p:cNvSpPr txBox="1"/>
          <p:nvPr/>
        </p:nvSpPr>
        <p:spPr>
          <a:xfrm>
            <a:off x="62395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4. 규칙 ①과</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이름 답</a:t>
            </a:r>
            <a:endParaRPr lang="en-US" sz="1400" dirty="0"/>
          </a:p>
        </p:txBody>
      </p:sp>
      <p:sp>
        <p:nvSpPr>
          <p:cNvPr id="22" name="Shape 19"/>
          <p:cNvSpPr/>
          <p:nvPr/>
        </p:nvSpPr>
        <p:spPr>
          <a:xfrm>
            <a:off x="74303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23" name="Shape 20"/>
          <p:cNvSpPr/>
          <p:nvPr/>
        </p:nvSpPr>
        <p:spPr>
          <a:xfrm>
            <a:off x="75857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24" name="Text 21"/>
          <p:cNvSpPr txBox="1"/>
          <p:nvPr/>
        </p:nvSpPr>
        <p:spPr>
          <a:xfrm>
            <a:off x="75857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5. 스키마</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초안</a:t>
            </a:r>
            <a:endParaRPr lang="en-US" sz="1400" dirty="0"/>
          </a:p>
        </p:txBody>
      </p:sp>
      <p:sp>
        <p:nvSpPr>
          <p:cNvPr id="25" name="Shape 22"/>
          <p:cNvSpPr/>
          <p:nvPr/>
        </p:nvSpPr>
        <p:spPr>
          <a:xfrm>
            <a:off x="8776513" y="2990088"/>
            <a:ext cx="128016" cy="0"/>
          </a:xfrm>
          <a:prstGeom prst="line">
            <a:avLst/>
          </a:prstGeom>
          <a:noFill/>
          <a:ln w="22225">
            <a:solidFill>
              <a:srgbClr val="4A5364"/>
            </a:solidFill>
            <a:prstDash val="solid"/>
            <a:tailEnd type="triangle"/>
          </a:ln>
        </p:spPr>
        <p:txBody>
          <a:bodyPr/>
          <a:lstStyle/>
          <a:p>
            <a:endParaRPr lang="ko-KR" altLang="en-US"/>
          </a:p>
        </p:txBody>
      </p:sp>
      <p:sp>
        <p:nvSpPr>
          <p:cNvPr id="26" name="Shape 23"/>
          <p:cNvSpPr/>
          <p:nvPr/>
        </p:nvSpPr>
        <p:spPr>
          <a:xfrm>
            <a:off x="89319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27" name="Text 24"/>
          <p:cNvSpPr txBox="1"/>
          <p:nvPr/>
        </p:nvSpPr>
        <p:spPr>
          <a:xfrm>
            <a:off x="89319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6. 기계 검증</a:t>
            </a:r>
            <a:endParaRPr lang="en-US" sz="1400" dirty="0"/>
          </a:p>
        </p:txBody>
      </p:sp>
      <p:sp>
        <p:nvSpPr>
          <p:cNvPr id="28" name="Shape 25"/>
          <p:cNvSpPr/>
          <p:nvPr/>
        </p:nvSpPr>
        <p:spPr>
          <a:xfrm>
            <a:off x="10122713" y="2990088"/>
            <a:ext cx="128016" cy="0"/>
          </a:xfrm>
          <a:prstGeom prst="line">
            <a:avLst/>
          </a:prstGeom>
          <a:noFill/>
          <a:ln w="22225">
            <a:solidFill>
              <a:srgbClr val="4A5364"/>
            </a:solidFill>
            <a:prstDash val="solid"/>
            <a:tailEnd type="triangle"/>
          </a:ln>
        </p:spPr>
        <p:txBody>
          <a:bodyPr/>
          <a:lstStyle/>
          <a:p>
            <a:endParaRPr lang="ko-KR" altLang="en-US"/>
          </a:p>
        </p:txBody>
      </p:sp>
      <p:sp>
        <p:nvSpPr>
          <p:cNvPr id="29" name="Shape 26"/>
          <p:cNvSpPr/>
          <p:nvPr/>
        </p:nvSpPr>
        <p:spPr>
          <a:xfrm>
            <a:off x="102781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30" name="Text 27"/>
          <p:cNvSpPr txBox="1"/>
          <p:nvPr/>
        </p:nvSpPr>
        <p:spPr>
          <a:xfrm>
            <a:off x="102781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7. Mermaid</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그림</a:t>
            </a:r>
            <a:endParaRPr lang="en-US" sz="1400" dirty="0"/>
          </a:p>
        </p:txBody>
      </p:sp>
      <p:sp>
        <p:nvSpPr>
          <p:cNvPr id="31" name="Shape 28"/>
          <p:cNvSpPr/>
          <p:nvPr/>
        </p:nvSpPr>
        <p:spPr>
          <a:xfrm flipV="1">
            <a:off x="114689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32" name="Shape 29"/>
          <p:cNvSpPr/>
          <p:nvPr/>
        </p:nvSpPr>
        <p:spPr>
          <a:xfrm>
            <a:off x="11624361" y="1755648"/>
            <a:ext cx="1163320" cy="640080"/>
          </a:xfrm>
          <a:prstGeom prst="roundRect">
            <a:avLst>
              <a:gd name="adj" fmla="val 11429"/>
            </a:avLst>
          </a:prstGeom>
          <a:solidFill>
            <a:srgbClr val="2E74C6"/>
          </a:solidFill>
          <a:ln/>
        </p:spPr>
        <p:txBody>
          <a:bodyPr/>
          <a:lstStyle/>
          <a:p>
            <a:endParaRPr lang="ko-KR" altLang="en-US"/>
          </a:p>
        </p:txBody>
      </p:sp>
      <p:sp>
        <p:nvSpPr>
          <p:cNvPr id="33" name="Text 30"/>
          <p:cNvSpPr txBox="1"/>
          <p:nvPr/>
        </p:nvSpPr>
        <p:spPr>
          <a:xfrm>
            <a:off x="116243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8. 검증과</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승인</a:t>
            </a:r>
            <a:endParaRPr lang="en-US" sz="1400" dirty="0"/>
          </a:p>
        </p:txBody>
      </p:sp>
      <p:sp>
        <p:nvSpPr>
          <p:cNvPr id="34" name="Shape 31"/>
          <p:cNvSpPr/>
          <p:nvPr/>
        </p:nvSpPr>
        <p:spPr>
          <a:xfrm>
            <a:off x="128151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35" name="Shape 32"/>
          <p:cNvSpPr/>
          <p:nvPr/>
        </p:nvSpPr>
        <p:spPr>
          <a:xfrm>
            <a:off x="129705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36" name="Text 33"/>
          <p:cNvSpPr txBox="1"/>
          <p:nvPr/>
        </p:nvSpPr>
        <p:spPr>
          <a:xfrm>
            <a:off x="129705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9. 저장과</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다시 읽기</a:t>
            </a:r>
            <a:endParaRPr lang="en-US" sz="1400" dirty="0"/>
          </a:p>
        </p:txBody>
      </p:sp>
      <p:sp>
        <p:nvSpPr>
          <p:cNvPr id="37" name="Shape 34"/>
          <p:cNvSpPr/>
          <p:nvPr/>
        </p:nvSpPr>
        <p:spPr>
          <a:xfrm>
            <a:off x="12206021" y="2414016"/>
            <a:ext cx="0" cy="1078992"/>
          </a:xfrm>
          <a:prstGeom prst="line">
            <a:avLst/>
          </a:prstGeom>
          <a:noFill/>
          <a:ln w="19050">
            <a:solidFill>
              <a:srgbClr val="2E74C6"/>
            </a:solidFill>
            <a:prstDash val="dash"/>
            <a:tailEnd type="none"/>
          </a:ln>
        </p:spPr>
        <p:txBody>
          <a:bodyPr/>
          <a:lstStyle/>
          <a:p>
            <a:endParaRPr lang="ko-KR" altLang="en-US"/>
          </a:p>
        </p:txBody>
      </p:sp>
      <p:sp>
        <p:nvSpPr>
          <p:cNvPr id="38" name="Shape 35"/>
          <p:cNvSpPr/>
          <p:nvPr/>
        </p:nvSpPr>
        <p:spPr>
          <a:xfrm>
            <a:off x="8167421" y="3493008"/>
            <a:ext cx="4038600" cy="0"/>
          </a:xfrm>
          <a:prstGeom prst="line">
            <a:avLst/>
          </a:prstGeom>
          <a:noFill/>
          <a:ln w="19050">
            <a:solidFill>
              <a:srgbClr val="2E74C6"/>
            </a:solidFill>
            <a:prstDash val="dash"/>
          </a:ln>
        </p:spPr>
        <p:txBody>
          <a:bodyPr/>
          <a:lstStyle/>
          <a:p>
            <a:endParaRPr lang="ko-KR" altLang="en-US"/>
          </a:p>
        </p:txBody>
      </p:sp>
      <p:sp>
        <p:nvSpPr>
          <p:cNvPr id="39" name="Shape 36"/>
          <p:cNvSpPr/>
          <p:nvPr/>
        </p:nvSpPr>
        <p:spPr>
          <a:xfrm flipV="1">
            <a:off x="8167421" y="3328416"/>
            <a:ext cx="0" cy="164592"/>
          </a:xfrm>
          <a:prstGeom prst="line">
            <a:avLst/>
          </a:prstGeom>
          <a:noFill/>
          <a:ln w="19050">
            <a:solidFill>
              <a:srgbClr val="2E74C6"/>
            </a:solidFill>
            <a:prstDash val="dash"/>
            <a:tailEnd type="triangle"/>
          </a:ln>
        </p:spPr>
        <p:txBody>
          <a:bodyPr/>
          <a:lstStyle/>
          <a:p>
            <a:endParaRPr lang="ko-KR" altLang="en-US"/>
          </a:p>
        </p:txBody>
      </p:sp>
      <p:sp>
        <p:nvSpPr>
          <p:cNvPr id="40" name="Text 37"/>
          <p:cNvSpPr txBox="1"/>
          <p:nvPr/>
        </p:nvSpPr>
        <p:spPr>
          <a:xfrm>
            <a:off x="8258861" y="3511296"/>
            <a:ext cx="3855720" cy="274320"/>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수정 요청 시 5단계부터 다시(최대 5회)</a:t>
            </a:r>
            <a:endParaRPr lang="en-US" sz="1400" dirty="0"/>
          </a:p>
        </p:txBody>
      </p:sp>
      <p:sp>
        <p:nvSpPr>
          <p:cNvPr id="41" name="Shape 38"/>
          <p:cNvSpPr/>
          <p:nvPr/>
        </p:nvSpPr>
        <p:spPr>
          <a:xfrm>
            <a:off x="509321" y="3858768"/>
            <a:ext cx="4343400" cy="365760"/>
          </a:xfrm>
          <a:prstGeom prst="roundRect">
            <a:avLst>
              <a:gd name="adj" fmla="val 12500"/>
            </a:avLst>
          </a:prstGeom>
          <a:solidFill>
            <a:srgbClr val="2E74C6"/>
          </a:solidFill>
          <a:ln/>
        </p:spPr>
        <p:txBody>
          <a:bodyPr/>
          <a:lstStyle/>
          <a:p>
            <a:endParaRPr lang="ko-KR" altLang="en-US"/>
          </a:p>
        </p:txBody>
      </p:sp>
      <p:sp>
        <p:nvSpPr>
          <p:cNvPr id="42" name="Text 39"/>
          <p:cNvSpPr txBox="1"/>
          <p:nvPr/>
        </p:nvSpPr>
        <p:spPr>
          <a:xfrm>
            <a:off x="509321" y="3858768"/>
            <a:ext cx="43434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사람이 답하는 곳 3번</a:t>
            </a:r>
            <a:endParaRPr lang="en-US" sz="1600" dirty="0"/>
          </a:p>
        </p:txBody>
      </p:sp>
      <p:sp>
        <p:nvSpPr>
          <p:cNvPr id="43" name="Shape 40"/>
          <p:cNvSpPr/>
          <p:nvPr/>
        </p:nvSpPr>
        <p:spPr>
          <a:xfrm>
            <a:off x="509321" y="4297680"/>
            <a:ext cx="4343400" cy="585216"/>
          </a:xfrm>
          <a:prstGeom prst="roundRect">
            <a:avLst>
              <a:gd name="adj" fmla="val 9375"/>
            </a:avLst>
          </a:prstGeom>
          <a:solidFill>
            <a:srgbClr val="EEF3FA"/>
          </a:solidFill>
          <a:ln w="12700">
            <a:solidFill>
              <a:srgbClr val="2E74C6"/>
            </a:solidFill>
            <a:prstDash val="solid"/>
          </a:ln>
        </p:spPr>
        <p:txBody>
          <a:bodyPr/>
          <a:lstStyle/>
          <a:p>
            <a:endParaRPr lang="ko-KR" altLang="en-US"/>
          </a:p>
        </p:txBody>
      </p:sp>
      <p:sp>
        <p:nvSpPr>
          <p:cNvPr id="44" name="Shape 41"/>
          <p:cNvSpPr/>
          <p:nvPr/>
        </p:nvSpPr>
        <p:spPr>
          <a:xfrm>
            <a:off x="600761" y="4416552"/>
            <a:ext cx="347472" cy="347472"/>
          </a:xfrm>
          <a:prstGeom prst="roundRect">
            <a:avLst>
              <a:gd name="adj" fmla="val 13158"/>
            </a:avLst>
          </a:prstGeom>
          <a:solidFill>
            <a:srgbClr val="2E74C6"/>
          </a:solidFill>
          <a:ln/>
        </p:spPr>
        <p:txBody>
          <a:bodyPr/>
          <a:lstStyle/>
          <a:p>
            <a:endParaRPr lang="ko-KR" altLang="en-US"/>
          </a:p>
        </p:txBody>
      </p:sp>
      <p:sp>
        <p:nvSpPr>
          <p:cNvPr id="45" name="Text 42"/>
          <p:cNvSpPr txBox="1"/>
          <p:nvPr/>
        </p:nvSpPr>
        <p:spPr>
          <a:xfrm>
            <a:off x="600761" y="4416552"/>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1</a:t>
            </a:r>
            <a:endParaRPr lang="en-US" sz="1600" dirty="0"/>
          </a:p>
        </p:txBody>
      </p:sp>
      <p:sp>
        <p:nvSpPr>
          <p:cNvPr id="46" name="Text 43"/>
          <p:cNvSpPr txBox="1"/>
          <p:nvPr/>
        </p:nvSpPr>
        <p:spPr>
          <a:xfrm>
            <a:off x="1057961" y="4297680"/>
            <a:ext cx="3703320" cy="58521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출력 폴더와 DB 접속 정보</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비밀번호는 .env에 직접 등록</a:t>
            </a:r>
            <a:endParaRPr lang="en-US" sz="1400" dirty="0"/>
          </a:p>
        </p:txBody>
      </p:sp>
      <p:sp>
        <p:nvSpPr>
          <p:cNvPr id="47" name="Shape 44"/>
          <p:cNvSpPr/>
          <p:nvPr/>
        </p:nvSpPr>
        <p:spPr>
          <a:xfrm>
            <a:off x="509321" y="4946904"/>
            <a:ext cx="4343400" cy="804672"/>
          </a:xfrm>
          <a:prstGeom prst="roundRect">
            <a:avLst>
              <a:gd name="adj" fmla="val 6818"/>
            </a:avLst>
          </a:prstGeom>
          <a:solidFill>
            <a:srgbClr val="EEF3FA"/>
          </a:solidFill>
          <a:ln w="12700">
            <a:solidFill>
              <a:srgbClr val="2E74C6"/>
            </a:solidFill>
            <a:prstDash val="solid"/>
          </a:ln>
        </p:spPr>
        <p:txBody>
          <a:bodyPr/>
          <a:lstStyle/>
          <a:p>
            <a:endParaRPr lang="ko-KR" altLang="en-US"/>
          </a:p>
        </p:txBody>
      </p:sp>
      <p:sp>
        <p:nvSpPr>
          <p:cNvPr id="48" name="Shape 45"/>
          <p:cNvSpPr/>
          <p:nvPr/>
        </p:nvSpPr>
        <p:spPr>
          <a:xfrm>
            <a:off x="600761" y="5175504"/>
            <a:ext cx="347472" cy="347472"/>
          </a:xfrm>
          <a:prstGeom prst="roundRect">
            <a:avLst>
              <a:gd name="adj" fmla="val 13158"/>
            </a:avLst>
          </a:prstGeom>
          <a:solidFill>
            <a:srgbClr val="2E74C6"/>
          </a:solidFill>
          <a:ln/>
        </p:spPr>
        <p:txBody>
          <a:bodyPr/>
          <a:lstStyle/>
          <a:p>
            <a:endParaRPr lang="ko-KR" altLang="en-US"/>
          </a:p>
        </p:txBody>
      </p:sp>
      <p:sp>
        <p:nvSpPr>
          <p:cNvPr id="49" name="Text 46"/>
          <p:cNvSpPr txBox="1"/>
          <p:nvPr/>
        </p:nvSpPr>
        <p:spPr>
          <a:xfrm>
            <a:off x="600761" y="5175504"/>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4</a:t>
            </a:r>
            <a:endParaRPr lang="en-US" sz="1600" dirty="0"/>
          </a:p>
        </p:txBody>
      </p:sp>
      <p:sp>
        <p:nvSpPr>
          <p:cNvPr id="50" name="Text 47"/>
          <p:cNvSpPr txBox="1"/>
          <p:nvPr/>
        </p:nvSpPr>
        <p:spPr>
          <a:xfrm>
            <a:off x="1057961" y="4946904"/>
            <a:ext cx="3703320" cy="804672"/>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규칙 ① 후보(FK 2개 + 업무 열)를 노드 타입</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또는 관계 + 관계 속성으로 정함</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뺄 테이블, 이름 후보 승인</a:t>
            </a:r>
            <a:endParaRPr lang="en-US" sz="1400" dirty="0"/>
          </a:p>
        </p:txBody>
      </p:sp>
      <p:sp>
        <p:nvSpPr>
          <p:cNvPr id="51" name="Shape 48"/>
          <p:cNvSpPr/>
          <p:nvPr/>
        </p:nvSpPr>
        <p:spPr>
          <a:xfrm>
            <a:off x="509321" y="5815584"/>
            <a:ext cx="4343400" cy="585216"/>
          </a:xfrm>
          <a:prstGeom prst="roundRect">
            <a:avLst>
              <a:gd name="adj" fmla="val 9375"/>
            </a:avLst>
          </a:prstGeom>
          <a:solidFill>
            <a:srgbClr val="EEF3FA"/>
          </a:solidFill>
          <a:ln w="12700">
            <a:solidFill>
              <a:srgbClr val="2E74C6"/>
            </a:solidFill>
            <a:prstDash val="solid"/>
          </a:ln>
        </p:spPr>
        <p:txBody>
          <a:bodyPr/>
          <a:lstStyle/>
          <a:p>
            <a:endParaRPr lang="ko-KR" altLang="en-US"/>
          </a:p>
        </p:txBody>
      </p:sp>
      <p:sp>
        <p:nvSpPr>
          <p:cNvPr id="52" name="Shape 49"/>
          <p:cNvSpPr/>
          <p:nvPr/>
        </p:nvSpPr>
        <p:spPr>
          <a:xfrm>
            <a:off x="600761" y="5934456"/>
            <a:ext cx="347472" cy="347472"/>
          </a:xfrm>
          <a:prstGeom prst="roundRect">
            <a:avLst>
              <a:gd name="adj" fmla="val 13158"/>
            </a:avLst>
          </a:prstGeom>
          <a:solidFill>
            <a:srgbClr val="2E74C6"/>
          </a:solidFill>
          <a:ln/>
        </p:spPr>
        <p:txBody>
          <a:bodyPr/>
          <a:lstStyle/>
          <a:p>
            <a:endParaRPr lang="ko-KR" altLang="en-US"/>
          </a:p>
        </p:txBody>
      </p:sp>
      <p:sp>
        <p:nvSpPr>
          <p:cNvPr id="53" name="Text 50"/>
          <p:cNvSpPr txBox="1"/>
          <p:nvPr/>
        </p:nvSpPr>
        <p:spPr>
          <a:xfrm>
            <a:off x="600761" y="5934456"/>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8</a:t>
            </a:r>
            <a:endParaRPr lang="en-US" sz="1600" dirty="0"/>
          </a:p>
        </p:txBody>
      </p:sp>
      <p:sp>
        <p:nvSpPr>
          <p:cNvPr id="54" name="Text 51"/>
          <p:cNvSpPr txBox="1"/>
          <p:nvPr/>
        </p:nvSpPr>
        <p:spPr>
          <a:xfrm>
            <a:off x="1057961" y="5815584"/>
            <a:ext cx="3703320" cy="58521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Mermaid 그림과 판정표를 보고 승인</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(승인자와 일시를 기록)</a:t>
            </a:r>
            <a:endParaRPr lang="en-US" sz="1400" dirty="0"/>
          </a:p>
        </p:txBody>
      </p:sp>
      <p:sp>
        <p:nvSpPr>
          <p:cNvPr id="55" name="Shape 52"/>
          <p:cNvSpPr/>
          <p:nvPr/>
        </p:nvSpPr>
        <p:spPr>
          <a:xfrm>
            <a:off x="5081321" y="3858768"/>
            <a:ext cx="4572000" cy="365760"/>
          </a:xfrm>
          <a:prstGeom prst="roundRect">
            <a:avLst>
              <a:gd name="adj" fmla="val 12500"/>
            </a:avLst>
          </a:prstGeom>
          <a:solidFill>
            <a:srgbClr val="1E2A5C"/>
          </a:solidFill>
          <a:ln/>
        </p:spPr>
        <p:txBody>
          <a:bodyPr/>
          <a:lstStyle/>
          <a:p>
            <a:endParaRPr lang="ko-KR" altLang="en-US"/>
          </a:p>
        </p:txBody>
      </p:sp>
      <p:sp>
        <p:nvSpPr>
          <p:cNvPr id="56" name="Text 53"/>
          <p:cNvSpPr txBox="1"/>
          <p:nvPr/>
        </p:nvSpPr>
        <p:spPr>
          <a:xfrm>
            <a:off x="5081321" y="3858768"/>
            <a:ext cx="45720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AI가 지키는 규칙</a:t>
            </a:r>
            <a:endParaRPr lang="en-US" sz="1600" dirty="0"/>
          </a:p>
        </p:txBody>
      </p:sp>
      <p:sp>
        <p:nvSpPr>
          <p:cNvPr id="57" name="Shape 54"/>
          <p:cNvSpPr/>
          <p:nvPr/>
        </p:nvSpPr>
        <p:spPr>
          <a:xfrm>
            <a:off x="5081321" y="4297680"/>
            <a:ext cx="4572000" cy="2103120"/>
          </a:xfrm>
          <a:prstGeom prst="roundRect">
            <a:avLst>
              <a:gd name="adj" fmla="val 3478"/>
            </a:avLst>
          </a:prstGeom>
          <a:solidFill>
            <a:srgbClr val="FFFFFF"/>
          </a:solidFill>
          <a:ln w="12700">
            <a:solidFill>
              <a:srgbClr val="D9E0EC"/>
            </a:solidFill>
            <a:prstDash val="solid"/>
          </a:ln>
        </p:spPr>
        <p:txBody>
          <a:bodyPr/>
          <a:lstStyle/>
          <a:p>
            <a:endParaRPr lang="ko-KR" altLang="en-US"/>
          </a:p>
        </p:txBody>
      </p:sp>
      <p:sp>
        <p:nvSpPr>
          <p:cNvPr id="58" name="Text 55"/>
          <p:cNvSpPr txBox="1"/>
          <p:nvPr/>
        </p:nvSpPr>
        <p:spPr>
          <a:xfrm>
            <a:off x="5264201" y="4352544"/>
            <a:ext cx="4297680" cy="1993392"/>
          </a:xfrm>
          <a:prstGeom prst="rect">
            <a:avLst/>
          </a:prstGeom>
          <a:noFill/>
          <a:ln/>
        </p:spPr>
        <p:txBody>
          <a:bodyPr wrap="square" lIns="0" tIns="0" rIns="0" bIns="0" rtlCol="0" anchor="ctr"/>
          <a:lstStyle/>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FK 개수는 열 수가 아니라 제약 수로 셈</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DB는 읽기 전용, 비밀번호는 .env에만 둠</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라벨은 영문, 한글 이름은 description에 넣음</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그림은 Mermaid만 씀</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규칙 ① 판정과 이름은 추측해 확정하지 않음</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후보 표시가 남으면 스키마 파일을 만들지 않음</a:t>
            </a:r>
            <a:endParaRPr lang="en-US" sz="1400" dirty="0"/>
          </a:p>
        </p:txBody>
      </p:sp>
      <p:sp>
        <p:nvSpPr>
          <p:cNvPr id="59" name="Shape 56"/>
          <p:cNvSpPr/>
          <p:nvPr/>
        </p:nvSpPr>
        <p:spPr>
          <a:xfrm>
            <a:off x="9881921" y="3858768"/>
            <a:ext cx="4251960" cy="365760"/>
          </a:xfrm>
          <a:prstGeom prst="roundRect">
            <a:avLst>
              <a:gd name="adj" fmla="val 12500"/>
            </a:avLst>
          </a:prstGeom>
          <a:solidFill>
            <a:srgbClr val="404155"/>
          </a:solidFill>
          <a:ln/>
        </p:spPr>
        <p:txBody>
          <a:bodyPr/>
          <a:lstStyle/>
          <a:p>
            <a:endParaRPr lang="ko-KR" altLang="en-US"/>
          </a:p>
        </p:txBody>
      </p:sp>
      <p:sp>
        <p:nvSpPr>
          <p:cNvPr id="60" name="Text 57"/>
          <p:cNvSpPr txBox="1"/>
          <p:nvPr/>
        </p:nvSpPr>
        <p:spPr>
          <a:xfrm>
            <a:off x="9881921" y="3858768"/>
            <a:ext cx="42519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승인 화면 예 (Mermaid 그림)</a:t>
            </a:r>
            <a:endParaRPr lang="en-US" sz="1600" dirty="0"/>
          </a:p>
        </p:txBody>
      </p:sp>
      <p:sp>
        <p:nvSpPr>
          <p:cNvPr id="61" name="Shape 58"/>
          <p:cNvSpPr/>
          <p:nvPr/>
        </p:nvSpPr>
        <p:spPr>
          <a:xfrm>
            <a:off x="9881921" y="4297680"/>
            <a:ext cx="4251960" cy="2103120"/>
          </a:xfrm>
          <a:prstGeom prst="roundRect">
            <a:avLst>
              <a:gd name="adj" fmla="val 3478"/>
            </a:avLst>
          </a:prstGeom>
          <a:solidFill>
            <a:srgbClr val="FFFFFF"/>
          </a:solidFill>
          <a:ln w="12700">
            <a:solidFill>
              <a:srgbClr val="D9E0EC"/>
            </a:solidFill>
            <a:prstDash val="solid"/>
          </a:ln>
        </p:spPr>
        <p:txBody>
          <a:bodyPr/>
          <a:lstStyle/>
          <a:p>
            <a:endParaRPr lang="ko-KR" altLang="en-US"/>
          </a:p>
        </p:txBody>
      </p:sp>
      <p:sp>
        <p:nvSpPr>
          <p:cNvPr id="62" name="Shape 59"/>
          <p:cNvSpPr/>
          <p:nvPr/>
        </p:nvSpPr>
        <p:spPr>
          <a:xfrm>
            <a:off x="10019081" y="4480560"/>
            <a:ext cx="1417320" cy="1325880"/>
          </a:xfrm>
          <a:prstGeom prst="roundRect">
            <a:avLst>
              <a:gd name="adj" fmla="val 5517"/>
            </a:avLst>
          </a:prstGeom>
          <a:solidFill>
            <a:srgbClr val="EEF3FA"/>
          </a:solidFill>
          <a:ln w="19050">
            <a:solidFill>
              <a:srgbClr val="1E2A5C"/>
            </a:solidFill>
            <a:prstDash val="solid"/>
          </a:ln>
        </p:spPr>
        <p:txBody>
          <a:bodyPr/>
          <a:lstStyle/>
          <a:p>
            <a:endParaRPr lang="ko-KR" altLang="en-US"/>
          </a:p>
        </p:txBody>
      </p:sp>
      <p:sp>
        <p:nvSpPr>
          <p:cNvPr id="63" name="Shape 60"/>
          <p:cNvSpPr/>
          <p:nvPr/>
        </p:nvSpPr>
        <p:spPr>
          <a:xfrm>
            <a:off x="10092233" y="4553712"/>
            <a:ext cx="1271016" cy="329184"/>
          </a:xfrm>
          <a:prstGeom prst="roundRect">
            <a:avLst>
              <a:gd name="adj" fmla="val 13889"/>
            </a:avLst>
          </a:prstGeom>
          <a:solidFill>
            <a:srgbClr val="1E2A5C"/>
          </a:solidFill>
          <a:ln/>
        </p:spPr>
        <p:txBody>
          <a:bodyPr/>
          <a:lstStyle/>
          <a:p>
            <a:endParaRPr lang="ko-KR" altLang="en-US"/>
          </a:p>
        </p:txBody>
      </p:sp>
      <p:sp>
        <p:nvSpPr>
          <p:cNvPr id="64" name="Text 61"/>
          <p:cNvSpPr txBox="1"/>
          <p:nvPr/>
        </p:nvSpPr>
        <p:spPr>
          <a:xfrm>
            <a:off x="10092233" y="4553712"/>
            <a:ext cx="1271016"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:Member</a:t>
            </a:r>
            <a:endParaRPr lang="en-US" sz="1400" dirty="0"/>
          </a:p>
        </p:txBody>
      </p:sp>
      <p:sp>
        <p:nvSpPr>
          <p:cNvPr id="65" name="Text 62"/>
          <p:cNvSpPr txBox="1"/>
          <p:nvPr/>
        </p:nvSpPr>
        <p:spPr>
          <a:xfrm>
            <a:off x="10092233" y="4919472"/>
            <a:ext cx="1271016" cy="832104"/>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(회원)</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member_id (키)</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age_band</a:t>
            </a:r>
            <a:endParaRPr lang="en-US" sz="1400" dirty="0"/>
          </a:p>
        </p:txBody>
      </p:sp>
      <p:sp>
        <p:nvSpPr>
          <p:cNvPr id="66" name="Shape 63"/>
          <p:cNvSpPr/>
          <p:nvPr/>
        </p:nvSpPr>
        <p:spPr>
          <a:xfrm>
            <a:off x="12579401" y="4480560"/>
            <a:ext cx="1417320" cy="1325880"/>
          </a:xfrm>
          <a:prstGeom prst="roundRect">
            <a:avLst>
              <a:gd name="adj" fmla="val 5517"/>
            </a:avLst>
          </a:prstGeom>
          <a:solidFill>
            <a:srgbClr val="EEF3FA"/>
          </a:solidFill>
          <a:ln w="19050">
            <a:solidFill>
              <a:srgbClr val="1E2A5C"/>
            </a:solidFill>
            <a:prstDash val="solid"/>
          </a:ln>
        </p:spPr>
        <p:txBody>
          <a:bodyPr/>
          <a:lstStyle/>
          <a:p>
            <a:endParaRPr lang="ko-KR" altLang="en-US"/>
          </a:p>
        </p:txBody>
      </p:sp>
      <p:sp>
        <p:nvSpPr>
          <p:cNvPr id="67" name="Shape 64"/>
          <p:cNvSpPr/>
          <p:nvPr/>
        </p:nvSpPr>
        <p:spPr>
          <a:xfrm>
            <a:off x="12652553" y="4553712"/>
            <a:ext cx="1271016" cy="329184"/>
          </a:xfrm>
          <a:prstGeom prst="roundRect">
            <a:avLst>
              <a:gd name="adj" fmla="val 13889"/>
            </a:avLst>
          </a:prstGeom>
          <a:solidFill>
            <a:srgbClr val="1E2A5C"/>
          </a:solidFill>
          <a:ln/>
        </p:spPr>
        <p:txBody>
          <a:bodyPr/>
          <a:lstStyle/>
          <a:p>
            <a:endParaRPr lang="ko-KR" altLang="en-US"/>
          </a:p>
        </p:txBody>
      </p:sp>
      <p:sp>
        <p:nvSpPr>
          <p:cNvPr id="68" name="Text 65"/>
          <p:cNvSpPr txBox="1"/>
          <p:nvPr/>
        </p:nvSpPr>
        <p:spPr>
          <a:xfrm>
            <a:off x="12652553" y="4553712"/>
            <a:ext cx="1271016"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:Card</a:t>
            </a:r>
            <a:endParaRPr lang="en-US" sz="1400" dirty="0"/>
          </a:p>
        </p:txBody>
      </p:sp>
      <p:sp>
        <p:nvSpPr>
          <p:cNvPr id="69" name="Text 66"/>
          <p:cNvSpPr txBox="1"/>
          <p:nvPr/>
        </p:nvSpPr>
        <p:spPr>
          <a:xfrm>
            <a:off x="12652553" y="4919472"/>
            <a:ext cx="1271016" cy="832104"/>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(카드)</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card_id (키)</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status</a:t>
            </a:r>
            <a:endParaRPr lang="en-US" sz="1400" dirty="0"/>
          </a:p>
        </p:txBody>
      </p:sp>
      <p:sp>
        <p:nvSpPr>
          <p:cNvPr id="70" name="Shape 67"/>
          <p:cNvSpPr/>
          <p:nvPr/>
        </p:nvSpPr>
        <p:spPr>
          <a:xfrm>
            <a:off x="11472977" y="5143500"/>
            <a:ext cx="1069848" cy="0"/>
          </a:xfrm>
          <a:prstGeom prst="line">
            <a:avLst/>
          </a:prstGeom>
          <a:noFill/>
          <a:ln w="25400">
            <a:solidFill>
              <a:srgbClr val="1E2A5C"/>
            </a:solidFill>
            <a:prstDash val="solid"/>
            <a:tailEnd type="triangle"/>
          </a:ln>
        </p:spPr>
        <p:txBody>
          <a:bodyPr/>
          <a:lstStyle/>
          <a:p>
            <a:endParaRPr lang="ko-KR" altLang="en-US"/>
          </a:p>
        </p:txBody>
      </p:sp>
      <p:sp>
        <p:nvSpPr>
          <p:cNvPr id="71" name="Text 68"/>
          <p:cNvSpPr txBox="1"/>
          <p:nvPr/>
        </p:nvSpPr>
        <p:spPr>
          <a:xfrm>
            <a:off x="11436401" y="4814316"/>
            <a:ext cx="1143000" cy="274320"/>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HAS_CARD</a:t>
            </a:r>
            <a:endParaRPr lang="en-US" sz="1400" dirty="0"/>
          </a:p>
        </p:txBody>
      </p:sp>
      <p:sp>
        <p:nvSpPr>
          <p:cNvPr id="72" name="Text 69"/>
          <p:cNvSpPr txBox="1"/>
          <p:nvPr/>
        </p:nvSpPr>
        <p:spPr>
          <a:xfrm>
            <a:off x="11436401" y="5198364"/>
            <a:ext cx="1143000" cy="274320"/>
          </a:xfrm>
          <a:prstGeom prst="rect">
            <a:avLst/>
          </a:prstGeom>
          <a:noFill/>
          <a:ln/>
        </p:spPr>
        <p:txBody>
          <a:bodyPr wrap="square" lIns="0" tIns="0" rIns="0" bIns="0"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(보유함)</a:t>
            </a:r>
            <a:endParaRPr lang="en-US" sz="1400" dirty="0"/>
          </a:p>
        </p:txBody>
      </p:sp>
      <p:sp>
        <p:nvSpPr>
          <p:cNvPr id="73" name="Text 70"/>
          <p:cNvSpPr txBox="1"/>
          <p:nvPr/>
        </p:nvSpPr>
        <p:spPr>
          <a:xfrm>
            <a:off x="10019081" y="5897880"/>
            <a:ext cx="3977640" cy="448056"/>
          </a:xfrm>
          <a:prstGeom prst="rect">
            <a:avLst/>
          </a:prstGeom>
          <a:noFill/>
          <a:ln/>
        </p:spPr>
        <p:txBody>
          <a:bodyPr wrap="square" lIns="0" tIns="0" rIns="0" bIns="0" rtlCol="0" anchor="ctr"/>
          <a:lstStyle/>
          <a:p>
            <a:pPr marL="0" indent="0" algn="ctr">
              <a:buNone/>
            </a:pPr>
            <a:r>
              <a:rPr lang="en-US" sz="1400" dirty="0">
                <a:solidFill>
                  <a:srgbClr val="4A5364"/>
                </a:solidFill>
                <a:latin typeface="Pretendard" pitchFamily="34" charset="0"/>
                <a:ea typeface="Pretendard" pitchFamily="34" charset="-122"/>
                <a:cs typeface="Pretendard" pitchFamily="34" charset="-120"/>
              </a:rPr>
              <a:t>영문 라벨 아래에 한글 이름을 함께 적어</a:t>
            </a:r>
            <a:endParaRPr lang="en-US" sz="1400" dirty="0"/>
          </a:p>
          <a:p>
            <a:pPr marL="0" indent="0" algn="ctr">
              <a:buNone/>
            </a:pPr>
            <a:r>
              <a:rPr lang="en-US" sz="1400" dirty="0">
                <a:solidFill>
                  <a:srgbClr val="4A5364"/>
                </a:solidFill>
                <a:latin typeface="Pretendard" pitchFamily="34" charset="0"/>
                <a:ea typeface="Pretendard" pitchFamily="34" charset="-122"/>
                <a:cs typeface="Pretendard" pitchFamily="34" charset="-120"/>
              </a:rPr>
              <a:t>검토하는 사람이 바로 읽게 함</a:t>
            </a:r>
            <a:endParaRPr lang="en-US" sz="1400" dirty="0"/>
          </a:p>
        </p:txBody>
      </p:sp>
      <p:sp>
        <p:nvSpPr>
          <p:cNvPr id="74" name="Shape 71"/>
          <p:cNvSpPr/>
          <p:nvPr/>
        </p:nvSpPr>
        <p:spPr>
          <a:xfrm>
            <a:off x="509321" y="6510528"/>
            <a:ext cx="13624560" cy="694944"/>
          </a:xfrm>
          <a:prstGeom prst="roundRect">
            <a:avLst>
              <a:gd name="adj" fmla="val 10526"/>
            </a:avLst>
          </a:prstGeom>
          <a:solidFill>
            <a:srgbClr val="EEF3FA"/>
          </a:solidFill>
          <a:ln w="19050">
            <a:solidFill>
              <a:srgbClr val="2E74C6"/>
            </a:solidFill>
            <a:prstDash val="solid"/>
          </a:ln>
        </p:spPr>
        <p:txBody>
          <a:bodyPr/>
          <a:lstStyle/>
          <a:p>
            <a:endParaRPr lang="ko-KR" altLang="en-US"/>
          </a:p>
        </p:txBody>
      </p:sp>
      <p:sp>
        <p:nvSpPr>
          <p:cNvPr id="75" name="Shape 72"/>
          <p:cNvSpPr/>
          <p:nvPr/>
        </p:nvSpPr>
        <p:spPr>
          <a:xfrm>
            <a:off x="509321" y="6510528"/>
            <a:ext cx="82296" cy="694944"/>
          </a:xfrm>
          <a:prstGeom prst="rect">
            <a:avLst/>
          </a:prstGeom>
          <a:solidFill>
            <a:srgbClr val="2E74C6"/>
          </a:solidFill>
          <a:ln/>
        </p:spPr>
        <p:txBody>
          <a:bodyPr/>
          <a:lstStyle/>
          <a:p>
            <a:endParaRPr lang="ko-KR" altLang="en-US"/>
          </a:p>
        </p:txBody>
      </p:sp>
      <p:sp>
        <p:nvSpPr>
          <p:cNvPr id="76" name="Text 73"/>
          <p:cNvSpPr txBox="1"/>
          <p:nvPr/>
        </p:nvSpPr>
        <p:spPr>
          <a:xfrm>
            <a:off x="737921" y="6510528"/>
            <a:ext cx="13258800" cy="694944"/>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결과: graph_schema.json(승인본)과 approval.json(승인자, 승인 일시, 입력 파일 SHA-256). 인덱싱은 이 파일을 읽기만 함</a:t>
            </a:r>
            <a:endParaRPr lang="en-US" sz="1500" dirty="0"/>
          </a:p>
          <a:p>
            <a:pPr marL="0" indent="0" algn="l">
              <a:buNone/>
            </a:pPr>
            <a:r>
              <a:rPr lang="en-US" sz="1500" b="1" dirty="0">
                <a:solidFill>
                  <a:srgbClr val="1E2A5C"/>
                </a:solidFill>
                <a:latin typeface="Pretendard" pitchFamily="34" charset="0"/>
                <a:ea typeface="Pretendard" pitchFamily="34" charset="-122"/>
                <a:cs typeface="Pretendard" pitchFamily="34" charset="-120"/>
              </a:rPr>
              <a:t>GraphSchema 검증, 저장, 다시 읽기는 Neo4j 서버 없이 됨(실행 확인)</a:t>
            </a:r>
            <a:endParaRPr lang="en-US" sz="1500" dirty="0"/>
          </a:p>
        </p:txBody>
      </p:sp>
      <p:sp>
        <p:nvSpPr>
          <p:cNvPr id="77" name="Text 74"/>
          <p:cNvSpPr txBox="1"/>
          <p:nvPr/>
        </p:nvSpPr>
        <p:spPr>
          <a:xfrm>
            <a:off x="470916" y="7341718"/>
            <a:ext cx="13525805" cy="338328"/>
          </a:xfrm>
          <a:prstGeom prst="rect">
            <a:avLst/>
          </a:prstGeom>
          <a:noFill/>
          <a:ln/>
        </p:spPr>
        <p:txBody>
          <a:bodyPr wrap="square" lIns="0" tIns="0" rIns="0" bIns="0" rtlCol="0" anchor="ctr"/>
          <a:lstStyle/>
          <a:p>
            <a:pPr marL="0" indent="0" algn="l">
              <a:buNone/>
            </a:pPr>
            <a:r>
              <a:rPr lang="en-US" sz="1600" dirty="0">
                <a:solidFill>
                  <a:srgbClr val="2B3242"/>
                </a:solidFill>
                <a:latin typeface="Pretendard" pitchFamily="34" charset="0"/>
                <a:ea typeface="Pretendard" pitchFamily="34" charset="-122"/>
                <a:cs typeface="Pretendard" pitchFamily="34" charset="-120"/>
              </a:rPr>
              <a:t>※ DB 카탈로그를 읽을 스키마는 원본 테이블이 있는 스키마로 지정하고, 서비스용 뷰(View)가 정의된 스키마(예: app)는 쓰지 않음</a:t>
            </a:r>
            <a:endParaRPr lang="en-US" sz="16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소스 문서 → 노드 </a:t>
            </a:r>
            <a:r>
              <a:rPr lang="en-US" sz="3200" b="1" dirty="0" err="1">
                <a:solidFill>
                  <a:srgbClr val="2C2926"/>
                </a:solidFill>
                <a:latin typeface="Pretendard" pitchFamily="34" charset="0"/>
                <a:ea typeface="Pretendard" pitchFamily="34" charset="-122"/>
                <a:cs typeface="Pretendard" pitchFamily="34" charset="-120"/>
              </a:rPr>
              <a:t>타입과</a:t>
            </a:r>
            <a:r>
              <a:rPr lang="en-US" sz="3200" b="1" dirty="0">
                <a:solidFill>
                  <a:srgbClr val="2C2926"/>
                </a:solidFill>
                <a:latin typeface="Pretendard" pitchFamily="34" charset="0"/>
                <a:ea typeface="Pretendard" pitchFamily="34" charset="-122"/>
                <a:cs typeface="Pretendard" pitchFamily="34" charset="-120"/>
              </a:rPr>
              <a:t> </a:t>
            </a:r>
            <a:r>
              <a:rPr lang="en-US" sz="3200" b="1" dirty="0" err="1">
                <a:solidFill>
                  <a:srgbClr val="2C2926"/>
                </a:solidFill>
                <a:latin typeface="Pretendard" pitchFamily="34" charset="0"/>
                <a:ea typeface="Pretendard" pitchFamily="34" charset="-122"/>
                <a:cs typeface="Pretendard" pitchFamily="34" charset="-120"/>
              </a:rPr>
              <a:t>관계</a:t>
            </a:r>
            <a:r>
              <a:rPr lang="en-US" sz="3200" b="1" dirty="0">
                <a:solidFill>
                  <a:srgbClr val="2C2926"/>
                </a:solidFill>
                <a:latin typeface="Pretendard" pitchFamily="34" charset="0"/>
                <a:ea typeface="Pretendard" pitchFamily="34" charset="-122"/>
                <a:cs typeface="Pretendard" pitchFamily="34" charset="-120"/>
              </a:rPr>
              <a:t> </a:t>
            </a:r>
            <a:r>
              <a:rPr lang="ko-KR" altLang="en-US" sz="3200" b="1" dirty="0">
                <a:solidFill>
                  <a:srgbClr val="2C2926"/>
                </a:solidFill>
                <a:latin typeface="Pretendard" pitchFamily="34" charset="0"/>
                <a:ea typeface="Pretendard" pitchFamily="34" charset="-122"/>
                <a:cs typeface="Pretendard" pitchFamily="34" charset="-120"/>
              </a:rPr>
              <a:t>추출 방안</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ko-KR" altLang="en-US" sz="1800" dirty="0">
                <a:solidFill>
                  <a:srgbClr val="000000"/>
                </a:solidFill>
                <a:latin typeface="Pretendard SemiBold" pitchFamily="34" charset="0"/>
                <a:ea typeface="Pretendard SemiBold" pitchFamily="34" charset="-122"/>
                <a:cs typeface="Pretendard SemiBold" pitchFamily="34" charset="-120"/>
              </a:rPr>
              <a:t>역량 질문</a:t>
            </a:r>
            <a:r>
              <a:rPr lang="en-US" altLang="ko-KR" sz="1800" dirty="0">
                <a:solidFill>
                  <a:srgbClr val="000000"/>
                </a:solidFill>
                <a:latin typeface="Pretendard SemiBold" pitchFamily="34" charset="0"/>
                <a:ea typeface="Pretendard SemiBold" pitchFamily="34" charset="-122"/>
                <a:cs typeface="Pretendard SemiBold" pitchFamily="34" charset="-120"/>
              </a:rPr>
              <a:t>(KG</a:t>
            </a:r>
            <a:r>
              <a:rPr lang="ko-KR" altLang="en-US" sz="1800" dirty="0">
                <a:solidFill>
                  <a:srgbClr val="000000"/>
                </a:solidFill>
                <a:latin typeface="Pretendard SemiBold" pitchFamily="34" charset="0"/>
                <a:ea typeface="Pretendard SemiBold" pitchFamily="34" charset="-122"/>
                <a:cs typeface="Pretendard SemiBold" pitchFamily="34" charset="-120"/>
              </a:rPr>
              <a:t>가 답해야 할 질문</a:t>
            </a:r>
            <a:r>
              <a:rPr lang="en-US" altLang="ko-KR" sz="1800" dirty="0">
                <a:solidFill>
                  <a:srgbClr val="000000"/>
                </a:solidFill>
                <a:latin typeface="Pretendard SemiBold" pitchFamily="34" charset="0"/>
                <a:ea typeface="Pretendard SemiBold" pitchFamily="34" charset="-122"/>
                <a:cs typeface="Pretendard SemiBold" pitchFamily="34" charset="-120"/>
              </a:rPr>
              <a:t>)</a:t>
            </a:r>
            <a:r>
              <a:rPr lang="ko-KR" altLang="en-US" dirty="0">
                <a:solidFill>
                  <a:srgbClr val="000000"/>
                </a:solidFill>
                <a:latin typeface="Pretendard SemiBold" pitchFamily="34" charset="0"/>
                <a:ea typeface="Pretendard SemiBold" pitchFamily="34" charset="-122"/>
                <a:cs typeface="Pretendard SemiBold" pitchFamily="34" charset="-120"/>
              </a:rPr>
              <a:t>을 주고</a:t>
            </a:r>
            <a:r>
              <a:rPr lang="ko-KR" alt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a:solidFill>
                  <a:srgbClr val="000000"/>
                </a:solidFill>
                <a:latin typeface="Pretendard SemiBold" pitchFamily="34" charset="0"/>
                <a:ea typeface="Pretendard SemiBold" pitchFamily="34" charset="-122"/>
                <a:cs typeface="Pretendard SemiBold" pitchFamily="34" charset="-120"/>
              </a:rPr>
              <a:t>LLM</a:t>
            </a:r>
            <a:r>
              <a:rPr lang="ko-KR" altLang="en-US" sz="1800" dirty="0">
                <a:solidFill>
                  <a:srgbClr val="000000"/>
                </a:solidFill>
                <a:latin typeface="Pretendard SemiBold" pitchFamily="34" charset="0"/>
                <a:ea typeface="Pretendard SemiBold" pitchFamily="34" charset="-122"/>
                <a:cs typeface="Pretendard SemiBold" pitchFamily="34" charset="-120"/>
              </a:rPr>
              <a:t>으로</a:t>
            </a:r>
            <a:r>
              <a:rPr lang="en-US" sz="1800" dirty="0">
                <a:solidFill>
                  <a:srgbClr val="000000"/>
                </a:solidFill>
                <a:latin typeface="Pretendard SemiBold" pitchFamily="34" charset="0"/>
                <a:ea typeface="Pretendard SemiBold" pitchFamily="34" charset="-122"/>
                <a:cs typeface="Pretendard SemiBold" pitchFamily="34" charset="-120"/>
              </a:rPr>
              <a:t> </a:t>
            </a:r>
            <a:r>
              <a:rPr lang="ko-KR" altLang="en-US" sz="1800" dirty="0">
                <a:solidFill>
                  <a:srgbClr val="000000"/>
                </a:solidFill>
                <a:latin typeface="Pretendard SemiBold" pitchFamily="34" charset="0"/>
                <a:ea typeface="Pretendard SemiBold" pitchFamily="34" charset="-122"/>
                <a:cs typeface="Pretendard SemiBold" pitchFamily="34" charset="-120"/>
              </a:rPr>
              <a:t>스키마 </a:t>
            </a:r>
            <a:r>
              <a:rPr lang="en-US" sz="1800" dirty="0" err="1">
                <a:solidFill>
                  <a:srgbClr val="000000"/>
                </a:solidFill>
                <a:latin typeface="Pretendard SemiBold" pitchFamily="34" charset="0"/>
                <a:ea typeface="Pretendard SemiBold" pitchFamily="34" charset="-122"/>
                <a:cs typeface="Pretendard SemiBold" pitchFamily="34" charset="-120"/>
              </a:rPr>
              <a:t>후보</a:t>
            </a:r>
            <a:r>
              <a:rPr lang="ko-KR" altLang="en-US" sz="1800" dirty="0">
                <a:solidFill>
                  <a:srgbClr val="000000"/>
                </a:solidFill>
                <a:latin typeface="Pretendard SemiBold" pitchFamily="34" charset="0"/>
                <a:ea typeface="Pretendard SemiBold" pitchFamily="34" charset="-122"/>
                <a:cs typeface="Pretendard SemiBold" pitchFamily="34" charset="-120"/>
              </a:rPr>
              <a:t>를</a:t>
            </a:r>
            <a:r>
              <a:rPr lang="en-US" sz="1800" dirty="0">
                <a:solidFill>
                  <a:srgbClr val="000000"/>
                </a:solidFill>
                <a:latin typeface="Pretendard SemiBold" pitchFamily="34" charset="0"/>
                <a:ea typeface="Pretendard SemiBold" pitchFamily="34" charset="-122"/>
                <a:cs typeface="Pretendard SemiBold" pitchFamily="34" charset="-120"/>
              </a:rPr>
              <a:t> </a:t>
            </a:r>
            <a:r>
              <a:rPr lang="ko-KR" altLang="en-US" sz="1800" dirty="0">
                <a:solidFill>
                  <a:srgbClr val="000000"/>
                </a:solidFill>
                <a:latin typeface="Pretendard SemiBold" pitchFamily="34" charset="0"/>
                <a:ea typeface="Pretendard SemiBold" pitchFamily="34" charset="-122"/>
                <a:cs typeface="Pretendard SemiBold" pitchFamily="34" charset="-120"/>
              </a:rPr>
              <a:t>넓게 </a:t>
            </a:r>
            <a:r>
              <a:rPr lang="en-US" sz="1800" dirty="0">
                <a:solidFill>
                  <a:srgbClr val="000000"/>
                </a:solidFill>
                <a:latin typeface="Pretendard SemiBold" pitchFamily="34" charset="0"/>
                <a:ea typeface="Pretendard SemiBold" pitchFamily="34" charset="-122"/>
                <a:cs typeface="Pretendard SemiBold" pitchFamily="34" charset="-120"/>
              </a:rPr>
              <a:t>뽑</a:t>
            </a:r>
            <a:r>
              <a:rPr lang="ko-KR" altLang="en-US" sz="1800" dirty="0">
                <a:solidFill>
                  <a:srgbClr val="000000"/>
                </a:solidFill>
                <a:latin typeface="Pretendard SemiBold" pitchFamily="34" charset="0"/>
                <a:ea typeface="Pretendard SemiBold" pitchFamily="34" charset="-122"/>
                <a:cs typeface="Pretendard SemiBold" pitchFamily="34" charset="-120"/>
              </a:rPr>
              <a:t>은 뒤</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사람이</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확정</a:t>
            </a:r>
            <a:r>
              <a:rPr lang="ko-KR" altLang="en-US" sz="1800" dirty="0">
                <a:solidFill>
                  <a:srgbClr val="000000"/>
                </a:solidFill>
                <a:latin typeface="Pretendard SemiBold" pitchFamily="34" charset="0"/>
                <a:ea typeface="Pretendard SemiBold" pitchFamily="34" charset="-122"/>
                <a:cs typeface="Pretendard SemiBold" pitchFamily="34" charset="-120"/>
              </a:rPr>
              <a:t>하고</a:t>
            </a:r>
            <a:r>
              <a:rPr lang="en-US" sz="1800" dirty="0">
                <a:solidFill>
                  <a:srgbClr val="000000"/>
                </a:solidFill>
                <a:latin typeface="Pretendard SemiBold" pitchFamily="34" charset="0"/>
                <a:ea typeface="Pretendard SemiBold" pitchFamily="34" charset="-122"/>
                <a:cs typeface="Pretendard SemiBold" pitchFamily="34" charset="-120"/>
              </a:rPr>
              <a:t> </a:t>
            </a:r>
            <a:r>
              <a:rPr lang="ko-KR" altLang="en-US" sz="1800" dirty="0">
                <a:solidFill>
                  <a:srgbClr val="000000"/>
                </a:solidFill>
                <a:latin typeface="Pretendard SemiBold" pitchFamily="34" charset="0"/>
                <a:ea typeface="Pretendard SemiBold" pitchFamily="34" charset="-122"/>
                <a:cs typeface="Pretendard SemiBold" pitchFamily="34" charset="-120"/>
              </a:rPr>
              <a:t>표본 문서로 </a:t>
            </a:r>
            <a:r>
              <a:rPr lang="en-US" sz="1800" dirty="0" err="1">
                <a:solidFill>
                  <a:srgbClr val="000000"/>
                </a:solidFill>
                <a:latin typeface="Pretendard SemiBold" pitchFamily="34" charset="0"/>
                <a:ea typeface="Pretendard SemiBold" pitchFamily="34" charset="-122"/>
                <a:cs typeface="Pretendard SemiBold" pitchFamily="34" charset="-120"/>
              </a:rPr>
              <a:t>추출해</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검증</a:t>
            </a:r>
            <a:r>
              <a:rPr lang="ko-KR" altLang="en-US" sz="1800" dirty="0">
                <a:solidFill>
                  <a:srgbClr val="000000"/>
                </a:solidFill>
                <a:latin typeface="Pretendard SemiBold" pitchFamily="34" charset="0"/>
                <a:ea typeface="Pretendard SemiBold" pitchFamily="34" charset="-122"/>
                <a:cs typeface="Pretendard SemiBold" pitchFamily="34" charset="-120"/>
              </a:rPr>
              <a:t>하여</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GraphSchema로</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고정</a:t>
            </a:r>
            <a:r>
              <a:rPr lang="ko-KR" altLang="en-US" sz="1800" dirty="0">
                <a:solidFill>
                  <a:srgbClr val="000000"/>
                </a:solidFill>
                <a:latin typeface="Pretendard SemiBold" pitchFamily="34" charset="0"/>
                <a:ea typeface="Pretendard SemiBold" pitchFamily="34" charset="-122"/>
                <a:cs typeface="Pretendard SemiBold" pitchFamily="34" charset="-120"/>
              </a:rPr>
              <a:t>함</a:t>
            </a:r>
            <a:endParaRPr lang="en-US" sz="1800" dirty="0"/>
          </a:p>
        </p:txBody>
      </p:sp>
      <p:sp>
        <p:nvSpPr>
          <p:cNvPr id="5" name="Shape 2"/>
          <p:cNvSpPr/>
          <p:nvPr/>
        </p:nvSpPr>
        <p:spPr>
          <a:xfrm>
            <a:off x="509321" y="1737360"/>
            <a:ext cx="2505456" cy="566928"/>
          </a:xfrm>
          <a:prstGeom prst="roundRect">
            <a:avLst>
              <a:gd name="adj" fmla="val 12903"/>
            </a:avLst>
          </a:prstGeom>
          <a:solidFill>
            <a:srgbClr val="2E74C6"/>
          </a:solidFill>
          <a:ln/>
        </p:spPr>
        <p:txBody>
          <a:bodyPr/>
          <a:lstStyle/>
          <a:p>
            <a:endParaRPr lang="ko-KR" altLang="en-US"/>
          </a:p>
        </p:txBody>
      </p:sp>
      <p:sp>
        <p:nvSpPr>
          <p:cNvPr id="6" name="Text 3"/>
          <p:cNvSpPr txBox="1"/>
          <p:nvPr/>
        </p:nvSpPr>
        <p:spPr>
          <a:xfrm>
            <a:off x="509321"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① 역량 질문 정하기</a:t>
            </a:r>
            <a:endParaRPr lang="en-US" sz="1500" dirty="0"/>
          </a:p>
          <a:p>
            <a:pPr marL="0" indent="0" algn="ctr">
              <a:buNone/>
            </a:pPr>
            <a:r>
              <a:rPr lang="en-US" sz="1500" b="1" dirty="0">
                <a:solidFill>
                  <a:srgbClr val="FFFFFF"/>
                </a:solidFill>
                <a:latin typeface="Pretendard" pitchFamily="34" charset="0"/>
                <a:ea typeface="Pretendard" pitchFamily="34" charset="-122"/>
                <a:cs typeface="Pretendard" pitchFamily="34" charset="-120"/>
              </a:rPr>
              <a:t>(LLM </a:t>
            </a:r>
            <a:r>
              <a:rPr lang="ko-KR" altLang="en-US" sz="1500" b="1" dirty="0">
                <a:solidFill>
                  <a:srgbClr val="FFFFFF"/>
                </a:solidFill>
                <a:latin typeface="Pretendard" pitchFamily="34" charset="0"/>
                <a:ea typeface="Pretendard" pitchFamily="34" charset="-122"/>
                <a:cs typeface="Pretendard" pitchFamily="34" charset="-120"/>
              </a:rPr>
              <a:t>추천</a:t>
            </a:r>
            <a:r>
              <a:rPr lang="en-US" altLang="ko-KR" sz="1500" b="1" dirty="0">
                <a:solidFill>
                  <a:srgbClr val="FFFFFF"/>
                </a:solidFill>
                <a:latin typeface="Pretendard" pitchFamily="34" charset="0"/>
                <a:ea typeface="Pretendard" pitchFamily="34" charset="-122"/>
                <a:cs typeface="Pretendard" pitchFamily="34" charset="-120"/>
              </a:rPr>
              <a:t>+</a:t>
            </a:r>
            <a:r>
              <a:rPr lang="ko-KR" altLang="en-US" sz="1500" b="1" dirty="0">
                <a:solidFill>
                  <a:srgbClr val="FFFFFF"/>
                </a:solidFill>
                <a:latin typeface="Pretendard" pitchFamily="34" charset="0"/>
                <a:ea typeface="Pretendard" pitchFamily="34" charset="-122"/>
                <a:cs typeface="Pretendard" pitchFamily="34" charset="-120"/>
              </a:rPr>
              <a:t>사람확정</a:t>
            </a:r>
            <a:r>
              <a:rPr lang="en-US" altLang="ko-KR" sz="1500" b="1" dirty="0">
                <a:solidFill>
                  <a:srgbClr val="FFFFFF"/>
                </a:solidFill>
                <a:latin typeface="Pretendard" pitchFamily="34" charset="0"/>
                <a:ea typeface="Pretendard" pitchFamily="34" charset="-122"/>
                <a:cs typeface="Pretendard" pitchFamily="34" charset="-120"/>
              </a:rPr>
              <a:t>)</a:t>
            </a:r>
            <a:endParaRPr lang="en-US" sz="1500" dirty="0"/>
          </a:p>
        </p:txBody>
      </p:sp>
      <p:sp>
        <p:nvSpPr>
          <p:cNvPr id="7" name="Shape 4"/>
          <p:cNvSpPr/>
          <p:nvPr/>
        </p:nvSpPr>
        <p:spPr>
          <a:xfrm>
            <a:off x="3042209" y="2020824"/>
            <a:ext cx="219456" cy="0"/>
          </a:xfrm>
          <a:prstGeom prst="line">
            <a:avLst/>
          </a:prstGeom>
          <a:noFill/>
          <a:ln w="22225">
            <a:solidFill>
              <a:srgbClr val="4A5364"/>
            </a:solidFill>
            <a:prstDash val="solid"/>
            <a:tailEnd type="triangle"/>
          </a:ln>
        </p:spPr>
        <p:txBody>
          <a:bodyPr/>
          <a:lstStyle/>
          <a:p>
            <a:endParaRPr lang="ko-KR" altLang="en-US"/>
          </a:p>
        </p:txBody>
      </p:sp>
      <p:sp>
        <p:nvSpPr>
          <p:cNvPr id="8" name="Shape 5"/>
          <p:cNvSpPr/>
          <p:nvPr/>
        </p:nvSpPr>
        <p:spPr>
          <a:xfrm>
            <a:off x="3289097" y="1737360"/>
            <a:ext cx="2505456" cy="566928"/>
          </a:xfrm>
          <a:prstGeom prst="roundRect">
            <a:avLst>
              <a:gd name="adj" fmla="val 12903"/>
            </a:avLst>
          </a:prstGeom>
          <a:solidFill>
            <a:srgbClr val="EEF3FA"/>
          </a:solidFill>
          <a:ln w="19050">
            <a:solidFill>
              <a:srgbClr val="2E74C6"/>
            </a:solidFill>
            <a:prstDash val="solid"/>
          </a:ln>
        </p:spPr>
        <p:txBody>
          <a:bodyPr/>
          <a:lstStyle/>
          <a:p>
            <a:endParaRPr lang="ko-KR" altLang="en-US"/>
          </a:p>
        </p:txBody>
      </p:sp>
      <p:sp>
        <p:nvSpPr>
          <p:cNvPr id="9" name="Text 6"/>
          <p:cNvSpPr txBox="1"/>
          <p:nvPr/>
        </p:nvSpPr>
        <p:spPr>
          <a:xfrm>
            <a:off x="3289097"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② </a:t>
            </a:r>
            <a:r>
              <a:rPr lang="ko-KR" altLang="en-US" sz="1500" b="1" dirty="0">
                <a:solidFill>
                  <a:srgbClr val="1E2A5C"/>
                </a:solidFill>
                <a:latin typeface="Pretendard" pitchFamily="34" charset="0"/>
                <a:ea typeface="Pretendard" pitchFamily="34" charset="-122"/>
                <a:cs typeface="Pretendard" pitchFamily="34" charset="-120"/>
              </a:rPr>
              <a:t>스키마 후보 넓게 </a:t>
            </a:r>
            <a:r>
              <a:rPr lang="en-US" sz="1500" b="1" dirty="0" err="1">
                <a:solidFill>
                  <a:srgbClr val="1E2A5C"/>
                </a:solidFill>
                <a:latin typeface="Pretendard" pitchFamily="34" charset="0"/>
                <a:ea typeface="Pretendard" pitchFamily="34" charset="-122"/>
                <a:cs typeface="Pretendard" pitchFamily="34" charset="-120"/>
              </a:rPr>
              <a:t>뽑기</a:t>
            </a:r>
            <a:endParaRPr lang="en-US" sz="1500" dirty="0"/>
          </a:p>
          <a:p>
            <a:pPr marL="0" indent="0" algn="ctr">
              <a:buNone/>
            </a:pPr>
            <a:r>
              <a:rPr lang="en-US" sz="1500" b="1" dirty="0">
                <a:solidFill>
                  <a:srgbClr val="1E2A5C"/>
                </a:solidFill>
                <a:latin typeface="Pretendard" pitchFamily="34" charset="0"/>
                <a:ea typeface="Pretendard" pitchFamily="34" charset="-122"/>
                <a:cs typeface="Pretendard" pitchFamily="34" charset="-120"/>
              </a:rPr>
              <a:t>(LLM)</a:t>
            </a:r>
            <a:endParaRPr lang="en-US" sz="1500" dirty="0"/>
          </a:p>
        </p:txBody>
      </p:sp>
      <p:sp>
        <p:nvSpPr>
          <p:cNvPr id="10" name="Shape 7"/>
          <p:cNvSpPr/>
          <p:nvPr/>
        </p:nvSpPr>
        <p:spPr>
          <a:xfrm>
            <a:off x="5821985" y="2020824"/>
            <a:ext cx="219456" cy="0"/>
          </a:xfrm>
          <a:prstGeom prst="line">
            <a:avLst/>
          </a:prstGeom>
          <a:noFill/>
          <a:ln w="22225">
            <a:solidFill>
              <a:srgbClr val="4A5364"/>
            </a:solidFill>
            <a:prstDash val="solid"/>
            <a:tailEnd type="triangle"/>
          </a:ln>
        </p:spPr>
        <p:txBody>
          <a:bodyPr/>
          <a:lstStyle/>
          <a:p>
            <a:endParaRPr lang="ko-KR" altLang="en-US"/>
          </a:p>
        </p:txBody>
      </p:sp>
      <p:sp>
        <p:nvSpPr>
          <p:cNvPr id="11" name="Shape 8"/>
          <p:cNvSpPr/>
          <p:nvPr/>
        </p:nvSpPr>
        <p:spPr>
          <a:xfrm>
            <a:off x="6068873" y="1737360"/>
            <a:ext cx="2505456" cy="566928"/>
          </a:xfrm>
          <a:prstGeom prst="roundRect">
            <a:avLst>
              <a:gd name="adj" fmla="val 12903"/>
            </a:avLst>
          </a:prstGeom>
          <a:solidFill>
            <a:srgbClr val="2E74C6"/>
          </a:solidFill>
          <a:ln/>
        </p:spPr>
        <p:txBody>
          <a:bodyPr/>
          <a:lstStyle/>
          <a:p>
            <a:endParaRPr lang="ko-KR" altLang="en-US"/>
          </a:p>
        </p:txBody>
      </p:sp>
      <p:sp>
        <p:nvSpPr>
          <p:cNvPr id="12" name="Text 9"/>
          <p:cNvSpPr txBox="1"/>
          <p:nvPr/>
        </p:nvSpPr>
        <p:spPr>
          <a:xfrm>
            <a:off x="6068873"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③ </a:t>
            </a:r>
            <a:r>
              <a:rPr lang="ko-KR" altLang="en-US" sz="1500" b="1" dirty="0">
                <a:solidFill>
                  <a:srgbClr val="FFFFFF"/>
                </a:solidFill>
                <a:latin typeface="Pretendard" pitchFamily="34" charset="0"/>
                <a:ea typeface="Pretendard" pitchFamily="34" charset="-122"/>
                <a:cs typeface="Pretendard" pitchFamily="34" charset="-120"/>
              </a:rPr>
              <a:t>스키마 후보</a:t>
            </a:r>
            <a:r>
              <a:rPr lang="en-US" sz="1500" b="1" dirty="0">
                <a:solidFill>
                  <a:srgbClr val="FFFFFF"/>
                </a:solidFill>
                <a:latin typeface="Pretendard" pitchFamily="34" charset="0"/>
                <a:ea typeface="Pretendard" pitchFamily="34" charset="-122"/>
                <a:cs typeface="Pretendard" pitchFamily="34" charset="-120"/>
              </a:rPr>
              <a:t> 확정</a:t>
            </a:r>
            <a:endParaRPr lang="en-US" sz="1500" dirty="0"/>
          </a:p>
          <a:p>
            <a:pPr marL="0" indent="0" algn="ctr">
              <a:buNone/>
            </a:pPr>
            <a:r>
              <a:rPr lang="en-US" sz="1500" b="1" dirty="0">
                <a:solidFill>
                  <a:srgbClr val="FFFFFF"/>
                </a:solidFill>
                <a:latin typeface="Pretendard" pitchFamily="34" charset="0"/>
                <a:ea typeface="Pretendard" pitchFamily="34" charset="-122"/>
                <a:cs typeface="Pretendard" pitchFamily="34" charset="-120"/>
              </a:rPr>
              <a:t>(LLM </a:t>
            </a:r>
            <a:r>
              <a:rPr lang="ko-KR" altLang="en-US" sz="1500" b="1" dirty="0">
                <a:solidFill>
                  <a:srgbClr val="FFFFFF"/>
                </a:solidFill>
                <a:latin typeface="Pretendard" pitchFamily="34" charset="0"/>
                <a:ea typeface="Pretendard" pitchFamily="34" charset="-122"/>
                <a:cs typeface="Pretendard" pitchFamily="34" charset="-120"/>
              </a:rPr>
              <a:t>추천 </a:t>
            </a:r>
            <a:r>
              <a:rPr lang="en-US" altLang="ko-KR" sz="1500" b="1" dirty="0">
                <a:solidFill>
                  <a:srgbClr val="FFFFFF"/>
                </a:solidFill>
                <a:latin typeface="Pretendard" pitchFamily="34" charset="0"/>
                <a:ea typeface="Pretendard" pitchFamily="34" charset="-122"/>
                <a:cs typeface="Pretendard" pitchFamily="34" charset="-120"/>
              </a:rPr>
              <a:t>+ </a:t>
            </a:r>
            <a:r>
              <a:rPr lang="en-US" sz="1500" b="1" dirty="0" err="1">
                <a:solidFill>
                  <a:srgbClr val="FFFFFF"/>
                </a:solidFill>
                <a:latin typeface="Pretendard" pitchFamily="34" charset="0"/>
                <a:ea typeface="Pretendard" pitchFamily="34" charset="-122"/>
                <a:cs typeface="Pretendard" pitchFamily="34" charset="-120"/>
              </a:rPr>
              <a:t>사람</a:t>
            </a:r>
            <a:r>
              <a:rPr lang="ko-KR" altLang="en-US" sz="1500" b="1" dirty="0">
                <a:solidFill>
                  <a:srgbClr val="FFFFFF"/>
                </a:solidFill>
                <a:latin typeface="Pretendard" pitchFamily="34" charset="0"/>
                <a:ea typeface="Pretendard" pitchFamily="34" charset="-122"/>
                <a:cs typeface="Pretendard" pitchFamily="34" charset="-120"/>
              </a:rPr>
              <a:t>확정</a:t>
            </a:r>
            <a:r>
              <a:rPr lang="en-US" altLang="ko-KR" sz="1500" b="1" dirty="0">
                <a:solidFill>
                  <a:srgbClr val="FFFFFF"/>
                </a:solidFill>
                <a:latin typeface="Pretendard" pitchFamily="34" charset="0"/>
                <a:ea typeface="Pretendard" pitchFamily="34" charset="-122"/>
                <a:cs typeface="Pretendard" pitchFamily="34" charset="-120"/>
              </a:rPr>
              <a:t>)</a:t>
            </a:r>
            <a:endParaRPr lang="en-US" sz="1500" dirty="0"/>
          </a:p>
        </p:txBody>
      </p:sp>
      <p:sp>
        <p:nvSpPr>
          <p:cNvPr id="13" name="Shape 10"/>
          <p:cNvSpPr/>
          <p:nvPr/>
        </p:nvSpPr>
        <p:spPr>
          <a:xfrm>
            <a:off x="8601761" y="2020824"/>
            <a:ext cx="219456" cy="0"/>
          </a:xfrm>
          <a:prstGeom prst="line">
            <a:avLst/>
          </a:prstGeom>
          <a:noFill/>
          <a:ln w="22225">
            <a:solidFill>
              <a:srgbClr val="4A5364"/>
            </a:solidFill>
            <a:prstDash val="solid"/>
            <a:tailEnd type="triangle"/>
          </a:ln>
        </p:spPr>
        <p:txBody>
          <a:bodyPr/>
          <a:lstStyle/>
          <a:p>
            <a:endParaRPr lang="ko-KR" altLang="en-US"/>
          </a:p>
        </p:txBody>
      </p:sp>
      <p:sp>
        <p:nvSpPr>
          <p:cNvPr id="14" name="Shape 11"/>
          <p:cNvSpPr/>
          <p:nvPr/>
        </p:nvSpPr>
        <p:spPr>
          <a:xfrm>
            <a:off x="8848649" y="1737360"/>
            <a:ext cx="2505456" cy="566928"/>
          </a:xfrm>
          <a:prstGeom prst="roundRect">
            <a:avLst>
              <a:gd name="adj" fmla="val 12903"/>
            </a:avLst>
          </a:prstGeom>
          <a:solidFill>
            <a:srgbClr val="EEF3FA"/>
          </a:solidFill>
          <a:ln w="19050">
            <a:solidFill>
              <a:srgbClr val="2E74C6"/>
            </a:solidFill>
            <a:prstDash val="solid"/>
          </a:ln>
        </p:spPr>
        <p:txBody>
          <a:bodyPr/>
          <a:lstStyle/>
          <a:p>
            <a:endParaRPr lang="ko-KR" altLang="en-US"/>
          </a:p>
        </p:txBody>
      </p:sp>
      <p:sp>
        <p:nvSpPr>
          <p:cNvPr id="15" name="Text 12"/>
          <p:cNvSpPr txBox="1"/>
          <p:nvPr/>
        </p:nvSpPr>
        <p:spPr>
          <a:xfrm>
            <a:off x="8848649"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④ 채우기 시험</a:t>
            </a:r>
            <a:endParaRPr lang="en-US" sz="1500" dirty="0"/>
          </a:p>
          <a:p>
            <a:pPr marL="0" indent="0" algn="ctr">
              <a:buNone/>
            </a:pPr>
            <a:r>
              <a:rPr lang="en-US" sz="1500" b="1" dirty="0">
                <a:solidFill>
                  <a:srgbClr val="1E2A5C"/>
                </a:solidFill>
                <a:latin typeface="Pretendard" pitchFamily="34" charset="0"/>
                <a:ea typeface="Pretendard" pitchFamily="34" charset="-122"/>
                <a:cs typeface="Pretendard" pitchFamily="34" charset="-120"/>
              </a:rPr>
              <a:t>(LLM + </a:t>
            </a:r>
            <a:r>
              <a:rPr lang="en-US" sz="1500" b="1" dirty="0" err="1">
                <a:solidFill>
                  <a:srgbClr val="1E2A5C"/>
                </a:solidFill>
                <a:latin typeface="Pretendard" pitchFamily="34" charset="0"/>
                <a:ea typeface="Pretendard" pitchFamily="34" charset="-122"/>
                <a:cs typeface="Pretendard" pitchFamily="34" charset="-120"/>
              </a:rPr>
              <a:t>사람</a:t>
            </a:r>
            <a:r>
              <a:rPr lang="en-US" sz="1500" b="1" dirty="0">
                <a:solidFill>
                  <a:srgbClr val="1E2A5C"/>
                </a:solidFill>
                <a:latin typeface="Pretendard" pitchFamily="34" charset="0"/>
                <a:ea typeface="Pretendard" pitchFamily="34" charset="-122"/>
                <a:cs typeface="Pretendard" pitchFamily="34" charset="-120"/>
              </a:rPr>
              <a:t>)</a:t>
            </a:r>
            <a:endParaRPr lang="en-US" sz="1500" dirty="0"/>
          </a:p>
        </p:txBody>
      </p:sp>
      <p:sp>
        <p:nvSpPr>
          <p:cNvPr id="16" name="Shape 13"/>
          <p:cNvSpPr/>
          <p:nvPr/>
        </p:nvSpPr>
        <p:spPr>
          <a:xfrm>
            <a:off x="11381537" y="2020824"/>
            <a:ext cx="219456" cy="0"/>
          </a:xfrm>
          <a:prstGeom prst="line">
            <a:avLst/>
          </a:prstGeom>
          <a:noFill/>
          <a:ln w="22225">
            <a:solidFill>
              <a:srgbClr val="4A5364"/>
            </a:solidFill>
            <a:prstDash val="solid"/>
            <a:tailEnd type="triangle"/>
          </a:ln>
        </p:spPr>
        <p:txBody>
          <a:bodyPr/>
          <a:lstStyle/>
          <a:p>
            <a:endParaRPr lang="ko-KR" altLang="en-US"/>
          </a:p>
        </p:txBody>
      </p:sp>
      <p:sp>
        <p:nvSpPr>
          <p:cNvPr id="17" name="Shape 14"/>
          <p:cNvSpPr/>
          <p:nvPr/>
        </p:nvSpPr>
        <p:spPr>
          <a:xfrm>
            <a:off x="11628425" y="1737360"/>
            <a:ext cx="2505456" cy="566928"/>
          </a:xfrm>
          <a:prstGeom prst="roundRect">
            <a:avLst>
              <a:gd name="adj" fmla="val 12903"/>
            </a:avLst>
          </a:prstGeom>
          <a:solidFill>
            <a:srgbClr val="1E2A5C"/>
          </a:solidFill>
          <a:ln/>
        </p:spPr>
        <p:txBody>
          <a:bodyPr/>
          <a:lstStyle/>
          <a:p>
            <a:endParaRPr lang="ko-KR" altLang="en-US"/>
          </a:p>
        </p:txBody>
      </p:sp>
      <p:sp>
        <p:nvSpPr>
          <p:cNvPr id="18" name="Text 15"/>
          <p:cNvSpPr txBox="1"/>
          <p:nvPr/>
        </p:nvSpPr>
        <p:spPr>
          <a:xfrm>
            <a:off x="11628425"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⑤ </a:t>
            </a:r>
            <a:r>
              <a:rPr lang="ko-KR" altLang="en-US" sz="1500" b="1" dirty="0">
                <a:solidFill>
                  <a:srgbClr val="FFFFFF"/>
                </a:solidFill>
                <a:latin typeface="Pretendard" pitchFamily="34" charset="0"/>
                <a:ea typeface="Pretendard" pitchFamily="34" charset="-122"/>
                <a:cs typeface="Pretendard" pitchFamily="34" charset="-120"/>
              </a:rPr>
              <a:t>스키마 설계 확정</a:t>
            </a:r>
            <a:endParaRPr lang="en-US" sz="1500" dirty="0"/>
          </a:p>
          <a:p>
            <a:pPr marL="0" indent="0" algn="ctr">
              <a:buNone/>
            </a:pPr>
            <a:r>
              <a:rPr lang="en-US" sz="1500" b="1" dirty="0">
                <a:solidFill>
                  <a:srgbClr val="FFFFFF"/>
                </a:solidFill>
                <a:latin typeface="Pretendard" pitchFamily="34" charset="0"/>
                <a:ea typeface="Pretendard" pitchFamily="34" charset="-122"/>
                <a:cs typeface="Pretendard" pitchFamily="34" charset="-120"/>
              </a:rPr>
              <a:t>(</a:t>
            </a:r>
            <a:r>
              <a:rPr lang="en-US" sz="1500" b="1" dirty="0" err="1">
                <a:solidFill>
                  <a:srgbClr val="FFFFFF"/>
                </a:solidFill>
                <a:latin typeface="Pretendard" pitchFamily="34" charset="0"/>
                <a:ea typeface="Pretendard" pitchFamily="34" charset="-122"/>
                <a:cs typeface="Pretendard" pitchFamily="34" charset="-120"/>
              </a:rPr>
              <a:t>코드</a:t>
            </a:r>
            <a:r>
              <a:rPr lang="en-US" sz="1500" b="1" dirty="0">
                <a:solidFill>
                  <a:srgbClr val="FFFFFF"/>
                </a:solidFill>
                <a:latin typeface="Pretendard" pitchFamily="34" charset="0"/>
                <a:ea typeface="Pretendard" pitchFamily="34" charset="-122"/>
                <a:cs typeface="Pretendard" pitchFamily="34" charset="-120"/>
              </a:rPr>
              <a:t>)</a:t>
            </a:r>
            <a:endParaRPr lang="en-US" sz="1500" dirty="0"/>
          </a:p>
        </p:txBody>
      </p:sp>
      <p:sp>
        <p:nvSpPr>
          <p:cNvPr id="19" name="Shape 16"/>
          <p:cNvSpPr/>
          <p:nvPr/>
        </p:nvSpPr>
        <p:spPr>
          <a:xfrm>
            <a:off x="10101377" y="2322576"/>
            <a:ext cx="0" cy="237744"/>
          </a:xfrm>
          <a:prstGeom prst="line">
            <a:avLst/>
          </a:prstGeom>
          <a:noFill/>
          <a:ln w="19050">
            <a:solidFill>
              <a:srgbClr val="2E74C6"/>
            </a:solidFill>
            <a:prstDash val="dash"/>
            <a:tailEnd type="none"/>
          </a:ln>
        </p:spPr>
        <p:txBody>
          <a:bodyPr/>
          <a:lstStyle/>
          <a:p>
            <a:endParaRPr lang="ko-KR" altLang="en-US"/>
          </a:p>
        </p:txBody>
      </p:sp>
      <p:sp>
        <p:nvSpPr>
          <p:cNvPr id="20" name="Shape 17"/>
          <p:cNvSpPr/>
          <p:nvPr/>
        </p:nvSpPr>
        <p:spPr>
          <a:xfrm>
            <a:off x="7321601" y="2560320"/>
            <a:ext cx="2779776" cy="0"/>
          </a:xfrm>
          <a:prstGeom prst="line">
            <a:avLst/>
          </a:prstGeom>
          <a:noFill/>
          <a:ln w="19050">
            <a:solidFill>
              <a:srgbClr val="2E74C6"/>
            </a:solidFill>
            <a:prstDash val="dash"/>
          </a:ln>
        </p:spPr>
        <p:txBody>
          <a:bodyPr/>
          <a:lstStyle/>
          <a:p>
            <a:endParaRPr lang="ko-KR" altLang="en-US"/>
          </a:p>
        </p:txBody>
      </p:sp>
      <p:sp>
        <p:nvSpPr>
          <p:cNvPr id="21" name="Shape 18"/>
          <p:cNvSpPr/>
          <p:nvPr/>
        </p:nvSpPr>
        <p:spPr>
          <a:xfrm flipV="1">
            <a:off x="7321601" y="2322576"/>
            <a:ext cx="0" cy="237744"/>
          </a:xfrm>
          <a:prstGeom prst="line">
            <a:avLst/>
          </a:prstGeom>
          <a:noFill/>
          <a:ln w="19050">
            <a:solidFill>
              <a:srgbClr val="2E74C6"/>
            </a:solidFill>
            <a:prstDash val="dash"/>
            <a:tailEnd type="triangle"/>
          </a:ln>
        </p:spPr>
        <p:txBody>
          <a:bodyPr/>
          <a:lstStyle/>
          <a:p>
            <a:endParaRPr lang="ko-KR" altLang="en-US"/>
          </a:p>
        </p:txBody>
      </p:sp>
      <p:sp>
        <p:nvSpPr>
          <p:cNvPr id="22" name="Text 19"/>
          <p:cNvSpPr txBox="1"/>
          <p:nvPr/>
        </p:nvSpPr>
        <p:spPr>
          <a:xfrm>
            <a:off x="7413041" y="2322576"/>
            <a:ext cx="2596896" cy="219456"/>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설명 고쳐 다시</a:t>
            </a:r>
            <a:endParaRPr lang="en-US" sz="1400" dirty="0"/>
          </a:p>
        </p:txBody>
      </p:sp>
      <p:sp>
        <p:nvSpPr>
          <p:cNvPr id="23" name="Shape 20"/>
          <p:cNvSpPr/>
          <p:nvPr/>
        </p:nvSpPr>
        <p:spPr>
          <a:xfrm>
            <a:off x="509321" y="2697480"/>
            <a:ext cx="2505456" cy="2756578"/>
          </a:xfrm>
          <a:prstGeom prst="roundRect">
            <a:avLst>
              <a:gd name="adj" fmla="val 3265"/>
            </a:avLst>
          </a:prstGeom>
          <a:solidFill>
            <a:srgbClr val="EEF3FA"/>
          </a:solidFill>
          <a:ln w="12700">
            <a:solidFill>
              <a:srgbClr val="2E74C6"/>
            </a:solidFill>
            <a:prstDash val="solid"/>
          </a:ln>
        </p:spPr>
        <p:txBody>
          <a:bodyPr/>
          <a:lstStyle/>
          <a:p>
            <a:endParaRPr lang="ko-KR" altLang="en-US"/>
          </a:p>
        </p:txBody>
      </p:sp>
      <p:sp>
        <p:nvSpPr>
          <p:cNvPr id="24" name="Text 21"/>
          <p:cNvSpPr txBox="1"/>
          <p:nvPr/>
        </p:nvSpPr>
        <p:spPr>
          <a:xfrm>
            <a:off x="637337" y="2825495"/>
            <a:ext cx="2286000" cy="2345099"/>
          </a:xfrm>
          <a:prstGeom prst="rect">
            <a:avLst/>
          </a:prstGeom>
          <a:noFill/>
          <a:ln/>
        </p:spPr>
        <p:txBody>
          <a:bodyPr wrap="square" lIns="0" tIns="0" rIns="0" bIns="0" rtlCol="0" anchor="t"/>
          <a:lstStyle/>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문서 종류마다 답해야 할 </a:t>
            </a:r>
            <a:r>
              <a:rPr lang="en-US" sz="1400" dirty="0" err="1">
                <a:solidFill>
                  <a:srgbClr val="2B3242"/>
                </a:solidFill>
                <a:latin typeface="Pretendard" pitchFamily="34" charset="0"/>
                <a:ea typeface="Pretendard" pitchFamily="34" charset="-122"/>
                <a:cs typeface="Pretendard" pitchFamily="34" charset="-120"/>
              </a:rPr>
              <a:t>질문</a:t>
            </a:r>
            <a:r>
              <a:rPr lang="en-US"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정의</a:t>
            </a:r>
            <a:endParaRPr lang="en-US" sz="1400" dirty="0"/>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질문에는 답이 될 </a:t>
            </a:r>
            <a:r>
              <a:rPr lang="ko-KR" altLang="en-US" sz="1400" dirty="0" err="1">
                <a:solidFill>
                  <a:srgbClr val="2B3242"/>
                </a:solidFill>
                <a:latin typeface="Pretendard" pitchFamily="34" charset="0"/>
                <a:ea typeface="Pretendard" pitchFamily="34" charset="-122"/>
                <a:cs typeface="Pretendard" pitchFamily="34" charset="-120"/>
              </a:rPr>
              <a:t>노드타입이나</a:t>
            </a:r>
            <a:r>
              <a:rPr lang="ko-KR" altLang="en-US" sz="1400" dirty="0">
                <a:solidFill>
                  <a:srgbClr val="2B3242"/>
                </a:solidFill>
                <a:latin typeface="Pretendard" pitchFamily="34" charset="0"/>
                <a:ea typeface="Pretendard" pitchFamily="34" charset="-122"/>
                <a:cs typeface="Pretendard" pitchFamily="34" charset="-120"/>
              </a:rPr>
              <a:t> 관계를 미리 쓰지 않음</a:t>
            </a:r>
            <a:endParaRPr lang="en-US" sz="1400" dirty="0"/>
          </a:p>
          <a:p>
            <a:pPr marL="152400" indent="-152400">
              <a:spcAft>
                <a:spcPts val="1000"/>
              </a:spcAft>
              <a:buSzPct val="100000"/>
              <a:buChar char="•"/>
            </a:pPr>
            <a:r>
              <a:rPr lang="en-US" altLang="ko-KR" sz="1400" dirty="0">
                <a:solidFill>
                  <a:srgbClr val="2B3242"/>
                </a:solidFill>
                <a:latin typeface="Pretendard" pitchFamily="34" charset="0"/>
                <a:ea typeface="Pretendard" pitchFamily="34" charset="-122"/>
                <a:cs typeface="Pretendard" pitchFamily="34" charset="-120"/>
              </a:rPr>
              <a:t>Ontology 101</a:t>
            </a:r>
            <a:r>
              <a:rPr lang="ko-KR" altLang="en-US" sz="1400" dirty="0">
                <a:solidFill>
                  <a:srgbClr val="2B3242"/>
                </a:solidFill>
                <a:latin typeface="Pretendard" pitchFamily="34" charset="0"/>
                <a:ea typeface="Pretendard" pitchFamily="34" charset="-122"/>
                <a:cs typeface="Pretendard" pitchFamily="34" charset="-120"/>
              </a:rPr>
              <a:t>의 역량질문 가이드에 기반하여 </a:t>
            </a:r>
            <a:r>
              <a:rPr lang="en-US" altLang="ko-KR" sz="1400" dirty="0">
                <a:solidFill>
                  <a:srgbClr val="2B3242"/>
                </a:solidFill>
                <a:latin typeface="Pretendard" pitchFamily="34" charset="0"/>
                <a:ea typeface="Pretendard" pitchFamily="34" charset="-122"/>
                <a:cs typeface="Pretendard" pitchFamily="34" charset="-120"/>
              </a:rPr>
              <a:t>LLM</a:t>
            </a:r>
            <a:r>
              <a:rPr lang="ko-KR" altLang="en-US" sz="1400" dirty="0">
                <a:solidFill>
                  <a:srgbClr val="2B3242"/>
                </a:solidFill>
                <a:latin typeface="Pretendard" pitchFamily="34" charset="0"/>
                <a:ea typeface="Pretendard" pitchFamily="34" charset="-122"/>
                <a:cs typeface="Pretendard" pitchFamily="34" charset="-120"/>
              </a:rPr>
              <a:t>에 초안 작성 요청하고 사람 검토</a:t>
            </a:r>
            <a:endParaRPr lang="en-US" sz="1400" dirty="0"/>
          </a:p>
        </p:txBody>
      </p:sp>
      <p:sp>
        <p:nvSpPr>
          <p:cNvPr id="25" name="Shape 22"/>
          <p:cNvSpPr/>
          <p:nvPr/>
        </p:nvSpPr>
        <p:spPr>
          <a:xfrm>
            <a:off x="3289097" y="2697480"/>
            <a:ext cx="2505456" cy="2756578"/>
          </a:xfrm>
          <a:prstGeom prst="roundRect">
            <a:avLst>
              <a:gd name="adj" fmla="val 3265"/>
            </a:avLst>
          </a:prstGeom>
          <a:solidFill>
            <a:srgbClr val="FFFFFF"/>
          </a:solidFill>
          <a:ln w="12700">
            <a:solidFill>
              <a:srgbClr val="D9E0EC"/>
            </a:solidFill>
            <a:prstDash val="solid"/>
          </a:ln>
        </p:spPr>
        <p:txBody>
          <a:bodyPr/>
          <a:lstStyle/>
          <a:p>
            <a:endParaRPr lang="ko-KR" altLang="en-US"/>
          </a:p>
        </p:txBody>
      </p:sp>
      <p:sp>
        <p:nvSpPr>
          <p:cNvPr id="26" name="Text 23"/>
          <p:cNvSpPr txBox="1"/>
          <p:nvPr/>
        </p:nvSpPr>
        <p:spPr>
          <a:xfrm>
            <a:off x="3417113" y="2825495"/>
            <a:ext cx="2286000" cy="2345099"/>
          </a:xfrm>
          <a:prstGeom prst="rect">
            <a:avLst/>
          </a:prstGeom>
          <a:noFill/>
          <a:ln/>
        </p:spPr>
        <p:txBody>
          <a:bodyPr wrap="square" lIns="0" tIns="0" rIns="0" bIns="0" rtlCol="0" anchor="t"/>
          <a:lstStyle/>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문서 종류별로 </a:t>
            </a:r>
            <a:r>
              <a:rPr lang="en-US" altLang="ko-KR" sz="1400" dirty="0">
                <a:solidFill>
                  <a:srgbClr val="2B3242"/>
                </a:solidFill>
                <a:latin typeface="Pretendard" pitchFamily="34" charset="0"/>
                <a:ea typeface="Pretendard" pitchFamily="34" charset="-122"/>
                <a:cs typeface="Pretendard" pitchFamily="34" charset="-120"/>
              </a:rPr>
              <a:t>1</a:t>
            </a:r>
            <a:r>
              <a:rPr lang="ko-KR" altLang="en-US" sz="1400" dirty="0">
                <a:solidFill>
                  <a:srgbClr val="2B3242"/>
                </a:solidFill>
                <a:latin typeface="Pretendard" pitchFamily="34" charset="0"/>
                <a:ea typeface="Pretendard" pitchFamily="34" charset="-122"/>
                <a:cs typeface="Pretendard" pitchFamily="34" charset="-120"/>
              </a:rPr>
              <a:t>차로 묶고 필요 시 하위 그룹별로 묶은 후 각 묶음마다</a:t>
            </a:r>
            <a:r>
              <a:rPr lang="en-US" sz="1400" dirty="0">
                <a:solidFill>
                  <a:srgbClr val="2B3242"/>
                </a:solidFill>
                <a:latin typeface="Pretendard" pitchFamily="34" charset="0"/>
                <a:ea typeface="Pretendard" pitchFamily="34" charset="-122"/>
                <a:cs typeface="Pretendard" pitchFamily="34" charset="-120"/>
              </a:rPr>
              <a:t> </a:t>
            </a:r>
            <a:r>
              <a:rPr lang="en-US" sz="1400" dirty="0" err="1">
                <a:solidFill>
                  <a:srgbClr val="2B3242"/>
                </a:solidFill>
                <a:latin typeface="Pretendard" pitchFamily="34" charset="0"/>
                <a:ea typeface="Pretendard" pitchFamily="34" charset="-122"/>
                <a:cs typeface="Pretendard" pitchFamily="34" charset="-120"/>
              </a:rPr>
              <a:t>표본</a:t>
            </a:r>
            <a:r>
              <a:rPr lang="ko-KR" altLang="en-US" sz="1400" dirty="0">
                <a:solidFill>
                  <a:srgbClr val="2B3242"/>
                </a:solidFill>
                <a:latin typeface="Pretendard" pitchFamily="34" charset="0"/>
                <a:ea typeface="Pretendard" pitchFamily="34" charset="-122"/>
                <a:cs typeface="Pretendard" pitchFamily="34" charset="-120"/>
              </a:rPr>
              <a:t>문서 추출</a:t>
            </a:r>
            <a:r>
              <a:rPr lang="en-US" sz="1400" dirty="0">
                <a:solidFill>
                  <a:srgbClr val="2B3242"/>
                </a:solidFill>
                <a:latin typeface="Pretendard" pitchFamily="34" charset="0"/>
                <a:ea typeface="Pretendard" pitchFamily="34" charset="-122"/>
                <a:cs typeface="Pretendard" pitchFamily="34" charset="-120"/>
              </a:rPr>
              <a:t>: 시작 10건, 상한 30건(비율이 아니라 건수)</a:t>
            </a:r>
            <a:endParaRPr lang="en-US" sz="1400" dirty="0"/>
          </a:p>
          <a:p>
            <a:pPr marL="152400" indent="-152400">
              <a:spcAft>
                <a:spcPts val="1000"/>
              </a:spcAft>
              <a:buSzPct val="100000"/>
              <a:buChar char="•"/>
            </a:pPr>
            <a:r>
              <a:rPr lang="en-US" sz="1300" dirty="0">
                <a:solidFill>
                  <a:srgbClr val="2B3242"/>
                </a:solidFill>
                <a:latin typeface="Pretendard" pitchFamily="34" charset="0"/>
                <a:ea typeface="Pretendard" pitchFamily="34" charset="-122"/>
                <a:cs typeface="Pretendard" pitchFamily="34" charset="-120"/>
              </a:rPr>
              <a:t>SchemaFromTextExtractor</a:t>
            </a:r>
            <a:r>
              <a:rPr lang="en-US" sz="1400" dirty="0">
                <a:solidFill>
                  <a:srgbClr val="2B3242"/>
                </a:solidFill>
                <a:latin typeface="Pretendard" pitchFamily="34" charset="0"/>
                <a:ea typeface="Pretendard" pitchFamily="34" charset="-122"/>
                <a:cs typeface="Pretendard" pitchFamily="34" charset="-120"/>
              </a:rPr>
              <a:t>에 질문을 examples로 넣음</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앞서 나온 이름을 다시 쓰라는 안내는 넣지 않음</a:t>
            </a:r>
            <a:endParaRPr lang="en-US" sz="1400" dirty="0"/>
          </a:p>
        </p:txBody>
      </p:sp>
      <p:sp>
        <p:nvSpPr>
          <p:cNvPr id="27" name="Shape 24"/>
          <p:cNvSpPr/>
          <p:nvPr/>
        </p:nvSpPr>
        <p:spPr>
          <a:xfrm>
            <a:off x="6068873" y="2697480"/>
            <a:ext cx="2505456" cy="2756578"/>
          </a:xfrm>
          <a:prstGeom prst="roundRect">
            <a:avLst>
              <a:gd name="adj" fmla="val 3265"/>
            </a:avLst>
          </a:prstGeom>
          <a:solidFill>
            <a:srgbClr val="EEF3FA"/>
          </a:solidFill>
          <a:ln w="12700">
            <a:solidFill>
              <a:srgbClr val="2E74C6"/>
            </a:solidFill>
            <a:prstDash val="solid"/>
          </a:ln>
        </p:spPr>
        <p:txBody>
          <a:bodyPr/>
          <a:lstStyle/>
          <a:p>
            <a:endParaRPr lang="ko-KR" altLang="en-US"/>
          </a:p>
        </p:txBody>
      </p:sp>
      <p:sp>
        <p:nvSpPr>
          <p:cNvPr id="28" name="Text 25"/>
          <p:cNvSpPr txBox="1"/>
          <p:nvPr/>
        </p:nvSpPr>
        <p:spPr>
          <a:xfrm>
            <a:off x="6196889" y="2825495"/>
            <a:ext cx="2286000" cy="2345099"/>
          </a:xfrm>
          <a:prstGeom prst="rect">
            <a:avLst/>
          </a:prstGeom>
          <a:noFill/>
          <a:ln/>
        </p:spPr>
        <p:txBody>
          <a:bodyPr wrap="square" lIns="0" tIns="0" rIns="0" bIns="0" rtlCol="0" anchor="t"/>
          <a:lstStyle/>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②의 후보목록과 역량질문을 주고 </a:t>
            </a:r>
            <a:r>
              <a:rPr lang="en-US" sz="1400" dirty="0">
                <a:solidFill>
                  <a:srgbClr val="2B3242"/>
                </a:solidFill>
                <a:latin typeface="Pretendard" pitchFamily="34" charset="0"/>
                <a:ea typeface="Pretendard" pitchFamily="34" charset="-122"/>
                <a:cs typeface="Pretendard" pitchFamily="34" charset="-120"/>
              </a:rPr>
              <a:t>LLM</a:t>
            </a:r>
            <a:r>
              <a:rPr lang="ko-KR" altLang="en-US" sz="1400" dirty="0">
                <a:solidFill>
                  <a:srgbClr val="2B3242"/>
                </a:solidFill>
                <a:latin typeface="Pretendard" pitchFamily="34" charset="0"/>
                <a:ea typeface="Pretendard" pitchFamily="34" charset="-122"/>
                <a:cs typeface="Pretendard" pitchFamily="34" charset="-120"/>
              </a:rPr>
              <a:t>에 스키마 초안 요청</a:t>
            </a:r>
            <a:endParaRPr lang="en-US" altLang="ko-KR" sz="1400" dirty="0">
              <a:solidFill>
                <a:srgbClr val="2B3242"/>
              </a:solidFill>
              <a:latin typeface="Pretendard" pitchFamily="34" charset="0"/>
              <a:ea typeface="Pretendard" pitchFamily="34" charset="-122"/>
              <a:cs typeface="Pretendard" pitchFamily="34" charset="-120"/>
            </a:endParaRPr>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초안</a:t>
            </a:r>
            <a:r>
              <a:rPr lang="en-US" altLang="ko-KR" sz="1400" dirty="0">
                <a:solidFill>
                  <a:srgbClr val="2B3242"/>
                </a:solidFill>
                <a:latin typeface="Pretendard" pitchFamily="34" charset="0"/>
                <a:ea typeface="Pretendard" pitchFamily="34" charset="-122"/>
                <a:cs typeface="Pretendard" pitchFamily="34" charset="-120"/>
              </a:rPr>
              <a:t>:</a:t>
            </a:r>
            <a:r>
              <a:rPr lang="ko-KR" altLang="en-US" sz="1400" dirty="0">
                <a:solidFill>
                  <a:srgbClr val="2B3242"/>
                </a:solidFill>
                <a:latin typeface="Pretendard" pitchFamily="34" charset="0"/>
                <a:ea typeface="Pretendard" pitchFamily="34" charset="-122"/>
                <a:cs typeface="Pretendard" pitchFamily="34" charset="-120"/>
              </a:rPr>
              <a:t> 추가</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제거</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병합할 것과 각각의 근거</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그리고 구체적 설명</a:t>
            </a:r>
            <a:r>
              <a:rPr lang="en-US" altLang="ko-KR" sz="1400" dirty="0">
                <a:solidFill>
                  <a:srgbClr val="2B3242"/>
                </a:solidFill>
                <a:latin typeface="Pretendard" pitchFamily="34" charset="0"/>
                <a:ea typeface="Pretendard" pitchFamily="34" charset="-122"/>
                <a:cs typeface="Pretendard" pitchFamily="34" charset="-120"/>
              </a:rPr>
              <a:t>(</a:t>
            </a:r>
            <a:r>
              <a:rPr lang="ko-KR" altLang="en-US" sz="1400" dirty="0">
                <a:solidFill>
                  <a:srgbClr val="2B3242"/>
                </a:solidFill>
                <a:latin typeface="Pretendard" pitchFamily="34" charset="0"/>
                <a:ea typeface="Pretendard" pitchFamily="34" charset="-122"/>
                <a:cs typeface="Pretendard" pitchFamily="34" charset="-120"/>
              </a:rPr>
              <a:t>해당과 비해당</a:t>
            </a:r>
            <a:r>
              <a:rPr lang="en-US" altLang="ko-KR" sz="1400" dirty="0">
                <a:solidFill>
                  <a:srgbClr val="2B3242"/>
                </a:solidFill>
                <a:latin typeface="Pretendard" pitchFamily="34" charset="0"/>
                <a:ea typeface="Pretendard" pitchFamily="34" charset="-122"/>
                <a:cs typeface="Pretendard" pitchFamily="34" charset="-120"/>
              </a:rPr>
              <a:t>)</a:t>
            </a:r>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사람이 검토해 스키마 초안 확정</a:t>
            </a:r>
            <a:r>
              <a:rPr lang="en-US" altLang="ko-KR" sz="1400" dirty="0">
                <a:solidFill>
                  <a:srgbClr val="2B3242"/>
                </a:solidFill>
                <a:latin typeface="Pretendard" pitchFamily="34" charset="0"/>
                <a:ea typeface="Pretendard" pitchFamily="34" charset="-122"/>
                <a:cs typeface="Pretendard" pitchFamily="34" charset="-120"/>
              </a:rPr>
              <a:t>(</a:t>
            </a:r>
            <a:r>
              <a:rPr lang="ko-KR" altLang="en-US" sz="1400" dirty="0">
                <a:solidFill>
                  <a:srgbClr val="2B3242"/>
                </a:solidFill>
                <a:latin typeface="Pretendard" pitchFamily="34" charset="0"/>
                <a:ea typeface="Pretendard" pitchFamily="34" charset="-122"/>
                <a:cs typeface="Pretendard" pitchFamily="34" charset="-120"/>
              </a:rPr>
              <a:t>빈도로 거르지 않고 드문 이름도 살림</a:t>
            </a:r>
            <a:r>
              <a:rPr lang="en-US" altLang="ko-KR" sz="1400" dirty="0">
                <a:solidFill>
                  <a:srgbClr val="2B3242"/>
                </a:solidFill>
                <a:latin typeface="Pretendard" pitchFamily="34" charset="0"/>
                <a:ea typeface="Pretendard" pitchFamily="34" charset="-122"/>
                <a:cs typeface="Pretendard" pitchFamily="34" charset="-120"/>
              </a:rPr>
              <a:t>)</a:t>
            </a:r>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사람이 값 규칙</a:t>
            </a:r>
            <a:r>
              <a:rPr lang="en-US" altLang="ko-KR" sz="1400" dirty="0">
                <a:solidFill>
                  <a:srgbClr val="2B3242"/>
                </a:solidFill>
                <a:latin typeface="Pretendard" pitchFamily="34" charset="0"/>
                <a:ea typeface="Pretendard" pitchFamily="34" charset="-122"/>
                <a:cs typeface="Pretendard" pitchFamily="34" charset="-120"/>
              </a:rPr>
              <a:t>(</a:t>
            </a:r>
            <a:r>
              <a:rPr lang="ko-KR" altLang="en-US" sz="1400" dirty="0">
                <a:solidFill>
                  <a:srgbClr val="2B3242"/>
                </a:solidFill>
                <a:latin typeface="Pretendard" pitchFamily="34" charset="0"/>
                <a:ea typeface="Pretendard" pitchFamily="34" charset="-122"/>
                <a:cs typeface="Pretendard" pitchFamily="34" charset="-120"/>
              </a:rPr>
              <a:t>중복제거</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필수존재</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정함</a:t>
            </a:r>
            <a:endParaRPr lang="en-US" altLang="ko-KR" sz="1400" dirty="0">
              <a:solidFill>
                <a:srgbClr val="2B3242"/>
              </a:solidFill>
              <a:latin typeface="Pretendard" pitchFamily="34" charset="0"/>
              <a:ea typeface="Pretendard" pitchFamily="34" charset="-122"/>
              <a:cs typeface="Pretendard" pitchFamily="34" charset="-120"/>
            </a:endParaRPr>
          </a:p>
          <a:p>
            <a:pPr marL="152400" indent="-152400">
              <a:spcAft>
                <a:spcPts val="1000"/>
              </a:spcAft>
              <a:buSzPct val="100000"/>
              <a:buChar char="•"/>
            </a:pPr>
            <a:endParaRPr lang="en-US" altLang="ko-KR" sz="1400" dirty="0">
              <a:solidFill>
                <a:srgbClr val="2B3242"/>
              </a:solidFill>
              <a:latin typeface="Pretendard" pitchFamily="34" charset="0"/>
              <a:ea typeface="Pretendard" pitchFamily="34" charset="-122"/>
              <a:cs typeface="Pretendard" pitchFamily="34" charset="-120"/>
            </a:endParaRPr>
          </a:p>
        </p:txBody>
      </p:sp>
      <p:sp>
        <p:nvSpPr>
          <p:cNvPr id="29" name="Shape 26"/>
          <p:cNvSpPr/>
          <p:nvPr/>
        </p:nvSpPr>
        <p:spPr>
          <a:xfrm>
            <a:off x="8848649" y="2697480"/>
            <a:ext cx="2505456" cy="2756578"/>
          </a:xfrm>
          <a:prstGeom prst="roundRect">
            <a:avLst>
              <a:gd name="adj" fmla="val 3265"/>
            </a:avLst>
          </a:prstGeom>
          <a:solidFill>
            <a:srgbClr val="FFFFFF"/>
          </a:solidFill>
          <a:ln w="12700">
            <a:solidFill>
              <a:srgbClr val="D9E0EC"/>
            </a:solidFill>
            <a:prstDash val="solid"/>
          </a:ln>
        </p:spPr>
        <p:txBody>
          <a:bodyPr/>
          <a:lstStyle/>
          <a:p>
            <a:endParaRPr lang="ko-KR" altLang="en-US"/>
          </a:p>
        </p:txBody>
      </p:sp>
      <p:sp>
        <p:nvSpPr>
          <p:cNvPr id="30" name="Text 27"/>
          <p:cNvSpPr txBox="1"/>
          <p:nvPr/>
        </p:nvSpPr>
        <p:spPr>
          <a:xfrm>
            <a:off x="8976665" y="2825495"/>
            <a:ext cx="2286000" cy="2345099"/>
          </a:xfrm>
          <a:prstGeom prst="rect">
            <a:avLst/>
          </a:prstGeom>
          <a:noFill/>
          <a:ln/>
        </p:spPr>
        <p:txBody>
          <a:bodyPr wrap="square" lIns="0" tIns="0" rIns="0" bIns="0" rtlCol="0" anchor="t"/>
          <a:lstStyle/>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스키마 초안을</a:t>
            </a:r>
            <a:r>
              <a:rPr lang="en-US" sz="1400" dirty="0">
                <a:solidFill>
                  <a:srgbClr val="2B3242"/>
                </a:solidFill>
                <a:latin typeface="Pretendard" pitchFamily="34" charset="0"/>
                <a:ea typeface="Pretendard" pitchFamily="34" charset="-122"/>
                <a:cs typeface="Pretendard" pitchFamily="34" charset="-120"/>
              </a:rPr>
              <a:t> schema로 주고 추출한 뒤 GraphPruning으로 정리</a:t>
            </a:r>
            <a:endParaRPr lang="en-US" sz="1400" dirty="0"/>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표본 문서의 기대 답과 비교</a:t>
            </a:r>
            <a:r>
              <a:rPr lang="en-US" altLang="ko-KR" sz="1400" dirty="0">
                <a:solidFill>
                  <a:srgbClr val="2B3242"/>
                </a:solidFill>
                <a:latin typeface="Pretendard" pitchFamily="34" charset="0"/>
                <a:ea typeface="Pretendard" pitchFamily="34" charset="-122"/>
                <a:cs typeface="Pretendard" pitchFamily="34" charset="-120"/>
              </a:rPr>
              <a:t>(</a:t>
            </a:r>
            <a:r>
              <a:rPr lang="ko-KR" altLang="en-US" sz="1400" dirty="0">
                <a:solidFill>
                  <a:srgbClr val="2B3242"/>
                </a:solidFill>
                <a:latin typeface="Pretendard" pitchFamily="34" charset="0"/>
                <a:ea typeface="Pretendard" pitchFamily="34" charset="-122"/>
                <a:cs typeface="Pretendard" pitchFamily="34" charset="-120"/>
              </a:rPr>
              <a:t>답이 없어야 하는 문서 포함</a:t>
            </a:r>
            <a:r>
              <a:rPr lang="en-US" altLang="ko-KR" sz="1400" dirty="0">
                <a:solidFill>
                  <a:srgbClr val="2B3242"/>
                </a:solidFill>
                <a:latin typeface="Pretendard" pitchFamily="34" charset="0"/>
                <a:ea typeface="Pretendard" pitchFamily="34" charset="-122"/>
                <a:cs typeface="Pretendard" pitchFamily="34" charset="-120"/>
              </a:rPr>
              <a:t>)</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잘못 뽑기가 많으면 설명을 고쳐 ③</a:t>
            </a:r>
            <a:r>
              <a:rPr lang="en-US" sz="1400" dirty="0" err="1">
                <a:solidFill>
                  <a:srgbClr val="2B3242"/>
                </a:solidFill>
                <a:latin typeface="Pretendard" pitchFamily="34" charset="0"/>
                <a:ea typeface="Pretendard" pitchFamily="34" charset="-122"/>
                <a:cs typeface="Pretendard" pitchFamily="34" charset="-120"/>
              </a:rPr>
              <a:t>으로</a:t>
            </a:r>
            <a:r>
              <a:rPr lang="en-US"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돌아가 반복 수행</a:t>
            </a:r>
            <a:endParaRPr lang="en-US" sz="1400" dirty="0"/>
          </a:p>
        </p:txBody>
      </p:sp>
      <p:sp>
        <p:nvSpPr>
          <p:cNvPr id="31" name="Shape 28"/>
          <p:cNvSpPr/>
          <p:nvPr/>
        </p:nvSpPr>
        <p:spPr>
          <a:xfrm>
            <a:off x="11628425" y="2697480"/>
            <a:ext cx="2505456" cy="2756578"/>
          </a:xfrm>
          <a:prstGeom prst="roundRect">
            <a:avLst>
              <a:gd name="adj" fmla="val 3265"/>
            </a:avLst>
          </a:prstGeom>
          <a:solidFill>
            <a:srgbClr val="FFFFFF"/>
          </a:solidFill>
          <a:ln w="12700">
            <a:solidFill>
              <a:srgbClr val="D9E0EC"/>
            </a:solidFill>
            <a:prstDash val="solid"/>
          </a:ln>
        </p:spPr>
        <p:txBody>
          <a:bodyPr/>
          <a:lstStyle/>
          <a:p>
            <a:endParaRPr lang="ko-KR" altLang="en-US"/>
          </a:p>
        </p:txBody>
      </p:sp>
      <p:sp>
        <p:nvSpPr>
          <p:cNvPr id="32" name="Text 29"/>
          <p:cNvSpPr txBox="1"/>
          <p:nvPr/>
        </p:nvSpPr>
        <p:spPr>
          <a:xfrm>
            <a:off x="11756441" y="2825495"/>
            <a:ext cx="2286000" cy="2345099"/>
          </a:xfrm>
          <a:prstGeom prst="rect">
            <a:avLst/>
          </a:prstGeom>
          <a:noFill/>
          <a:ln/>
        </p:spPr>
        <p:txBody>
          <a:bodyPr wrap="square" lIns="0" tIns="0" rIns="0" bIns="0" rtlCol="0" anchor="t"/>
          <a:lstStyle/>
          <a:p>
            <a:pPr marL="152400" indent="-152400">
              <a:spcAft>
                <a:spcPts val="1000"/>
              </a:spcAft>
              <a:buSzPct val="100000"/>
              <a:buChar char="•"/>
            </a:pPr>
            <a:r>
              <a:rPr lang="en-US" sz="1400" dirty="0" err="1">
                <a:solidFill>
                  <a:srgbClr val="2B3242"/>
                </a:solidFill>
                <a:latin typeface="Pretendard" pitchFamily="34" charset="0"/>
                <a:ea typeface="Pretendard" pitchFamily="34" charset="-122"/>
                <a:cs typeface="Pretendard" pitchFamily="34" charset="-120"/>
              </a:rPr>
              <a:t>GraphSchema.save</a:t>
            </a:r>
            <a:r>
              <a:rPr lang="en-US" sz="1400" dirty="0">
                <a:solidFill>
                  <a:srgbClr val="2B3242"/>
                </a:solidFill>
                <a:latin typeface="Pretendard" pitchFamily="34" charset="0"/>
                <a:ea typeface="Pretendard" pitchFamily="34" charset="-122"/>
                <a:cs typeface="Pretendard" pitchFamily="34" charset="-120"/>
              </a:rPr>
              <a:t>()</a:t>
            </a:r>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스키마 설계 밖 </a:t>
            </a:r>
            <a:r>
              <a:rPr lang="ko-KR" altLang="en-US" sz="1400" dirty="0" err="1">
                <a:solidFill>
                  <a:srgbClr val="2B3242"/>
                </a:solidFill>
                <a:latin typeface="Pretendard" pitchFamily="34" charset="0"/>
                <a:ea typeface="Pretendard" pitchFamily="34" charset="-122"/>
                <a:cs typeface="Pretendard" pitchFamily="34" charset="-120"/>
              </a:rPr>
              <a:t>노드타입</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관계</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속성은 만들지 않음</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인덱싱은 이 파일을 읽기만 함</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바뀌면 새 세대로 다시 인덱싱</a:t>
            </a:r>
            <a:endParaRPr lang="en-US" sz="1400" dirty="0"/>
          </a:p>
        </p:txBody>
      </p:sp>
      <p:sp>
        <p:nvSpPr>
          <p:cNvPr id="33" name="Text 30"/>
          <p:cNvSpPr txBox="1"/>
          <p:nvPr/>
        </p:nvSpPr>
        <p:spPr>
          <a:xfrm>
            <a:off x="509321" y="5592133"/>
            <a:ext cx="1828800" cy="29260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주의</a:t>
            </a:r>
            <a:endParaRPr lang="en-US" sz="1600" dirty="0"/>
          </a:p>
        </p:txBody>
      </p:sp>
      <p:sp>
        <p:nvSpPr>
          <p:cNvPr id="34" name="Shape 31"/>
          <p:cNvSpPr/>
          <p:nvPr/>
        </p:nvSpPr>
        <p:spPr>
          <a:xfrm>
            <a:off x="509321" y="5939605"/>
            <a:ext cx="3303270" cy="1143000"/>
          </a:xfrm>
          <a:prstGeom prst="roundRect">
            <a:avLst>
              <a:gd name="adj" fmla="val 6400"/>
            </a:avLst>
          </a:prstGeom>
          <a:solidFill>
            <a:srgbClr val="F5F8FC"/>
          </a:solidFill>
          <a:ln w="12700">
            <a:solidFill>
              <a:srgbClr val="D9E0EC"/>
            </a:solidFill>
            <a:prstDash val="solid"/>
          </a:ln>
        </p:spPr>
        <p:txBody>
          <a:bodyPr/>
          <a:lstStyle/>
          <a:p>
            <a:endParaRPr lang="ko-KR" altLang="en-US"/>
          </a:p>
        </p:txBody>
      </p:sp>
      <p:sp>
        <p:nvSpPr>
          <p:cNvPr id="35" name="Shape 32"/>
          <p:cNvSpPr/>
          <p:nvPr/>
        </p:nvSpPr>
        <p:spPr>
          <a:xfrm>
            <a:off x="600761" y="6328225"/>
            <a:ext cx="365760" cy="365760"/>
          </a:xfrm>
          <a:prstGeom prst="roundRect">
            <a:avLst>
              <a:gd name="adj" fmla="val 12500"/>
            </a:avLst>
          </a:prstGeom>
          <a:solidFill>
            <a:srgbClr val="404155"/>
          </a:solidFill>
          <a:ln/>
        </p:spPr>
        <p:txBody>
          <a:bodyPr/>
          <a:lstStyle/>
          <a:p>
            <a:endParaRPr lang="ko-KR" altLang="en-US"/>
          </a:p>
        </p:txBody>
      </p:sp>
      <p:sp>
        <p:nvSpPr>
          <p:cNvPr id="36" name="Text 33"/>
          <p:cNvSpPr txBox="1"/>
          <p:nvPr/>
        </p:nvSpPr>
        <p:spPr>
          <a:xfrm>
            <a:off x="600761" y="6328225"/>
            <a:ext cx="365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t>
            </a:r>
            <a:endParaRPr lang="en-US" sz="1600" dirty="0"/>
          </a:p>
        </p:txBody>
      </p:sp>
      <p:sp>
        <p:nvSpPr>
          <p:cNvPr id="37" name="Text 34"/>
          <p:cNvSpPr txBox="1"/>
          <p:nvPr/>
        </p:nvSpPr>
        <p:spPr>
          <a:xfrm>
            <a:off x="1057961" y="5939605"/>
            <a:ext cx="2681478" cy="1143000"/>
          </a:xfrm>
          <a:prstGeom prst="rect">
            <a:avLst/>
          </a:prstGeom>
          <a:noFill/>
          <a:ln/>
        </p:spPr>
        <p:txBody>
          <a:bodyPr wrap="square" lIns="0" tIns="0" rIns="0" bIns="0" rtlCol="0" anchor="ctr"/>
          <a:lstStyle/>
          <a:p>
            <a:pPr marL="0" indent="0" algn="l">
              <a:buNone/>
            </a:pPr>
            <a:r>
              <a:rPr lang="ko-KR" altLang="en-US" sz="1500" dirty="0">
                <a:solidFill>
                  <a:srgbClr val="2B3242"/>
                </a:solidFill>
                <a:latin typeface="Pretendard" pitchFamily="34" charset="0"/>
                <a:ea typeface="Pretendard" pitchFamily="34" charset="-122"/>
                <a:cs typeface="Pretendard" pitchFamily="34" charset="-120"/>
              </a:rPr>
              <a:t>②에서는 앞 결과의 이름을 넘기지 않음</a:t>
            </a:r>
            <a:r>
              <a:rPr lang="en-US" altLang="ko-KR"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넘기면 이름은 모이지만 새 개념이 안 나옴</a:t>
            </a:r>
            <a:r>
              <a:rPr lang="en-US" sz="1500" dirty="0">
                <a:solidFill>
                  <a:srgbClr val="2B3242"/>
                </a:solidFill>
                <a:latin typeface="Pretendard" pitchFamily="34" charset="0"/>
                <a:ea typeface="Pretendard" pitchFamily="34" charset="-122"/>
                <a:cs typeface="Pretendard" pitchFamily="34" charset="-120"/>
              </a:rPr>
              <a:t>→ ④</a:t>
            </a:r>
            <a:r>
              <a:rPr lang="en-US" sz="1500" dirty="0" err="1">
                <a:solidFill>
                  <a:srgbClr val="2B3242"/>
                </a:solidFill>
                <a:latin typeface="Pretendard" pitchFamily="34" charset="0"/>
                <a:ea typeface="Pretendard" pitchFamily="34" charset="-122"/>
                <a:cs typeface="Pretendard" pitchFamily="34" charset="-120"/>
              </a:rPr>
              <a:t>에서만</a:t>
            </a:r>
            <a:r>
              <a:rPr lang="en-US"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사용</a:t>
            </a:r>
            <a:endParaRPr lang="en-US" sz="1500" dirty="0"/>
          </a:p>
        </p:txBody>
      </p:sp>
      <p:sp>
        <p:nvSpPr>
          <p:cNvPr id="38" name="Shape 35"/>
          <p:cNvSpPr/>
          <p:nvPr/>
        </p:nvSpPr>
        <p:spPr>
          <a:xfrm>
            <a:off x="3949751" y="5939605"/>
            <a:ext cx="3303270" cy="1143000"/>
          </a:xfrm>
          <a:prstGeom prst="roundRect">
            <a:avLst>
              <a:gd name="adj" fmla="val 6400"/>
            </a:avLst>
          </a:prstGeom>
          <a:solidFill>
            <a:srgbClr val="F5F8FC"/>
          </a:solidFill>
          <a:ln w="12700">
            <a:solidFill>
              <a:srgbClr val="D9E0EC"/>
            </a:solidFill>
            <a:prstDash val="solid"/>
          </a:ln>
        </p:spPr>
        <p:txBody>
          <a:bodyPr/>
          <a:lstStyle/>
          <a:p>
            <a:endParaRPr lang="ko-KR" altLang="en-US"/>
          </a:p>
        </p:txBody>
      </p:sp>
      <p:sp>
        <p:nvSpPr>
          <p:cNvPr id="39" name="Shape 36"/>
          <p:cNvSpPr/>
          <p:nvPr/>
        </p:nvSpPr>
        <p:spPr>
          <a:xfrm>
            <a:off x="4041191" y="6328225"/>
            <a:ext cx="365760" cy="365760"/>
          </a:xfrm>
          <a:prstGeom prst="roundRect">
            <a:avLst>
              <a:gd name="adj" fmla="val 12500"/>
            </a:avLst>
          </a:prstGeom>
          <a:solidFill>
            <a:srgbClr val="404155"/>
          </a:solidFill>
          <a:ln/>
        </p:spPr>
        <p:txBody>
          <a:bodyPr/>
          <a:lstStyle/>
          <a:p>
            <a:endParaRPr lang="ko-KR" altLang="en-US"/>
          </a:p>
        </p:txBody>
      </p:sp>
      <p:sp>
        <p:nvSpPr>
          <p:cNvPr id="40" name="Text 37"/>
          <p:cNvSpPr txBox="1"/>
          <p:nvPr/>
        </p:nvSpPr>
        <p:spPr>
          <a:xfrm>
            <a:off x="4041191" y="6328225"/>
            <a:ext cx="365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t>
            </a:r>
            <a:endParaRPr lang="en-US" sz="1600" dirty="0"/>
          </a:p>
        </p:txBody>
      </p:sp>
      <p:sp>
        <p:nvSpPr>
          <p:cNvPr id="41" name="Text 38"/>
          <p:cNvSpPr txBox="1"/>
          <p:nvPr/>
        </p:nvSpPr>
        <p:spPr>
          <a:xfrm>
            <a:off x="4498391" y="5939605"/>
            <a:ext cx="2681478" cy="1143000"/>
          </a:xfrm>
          <a:prstGeom prst="rect">
            <a:avLst/>
          </a:prstGeom>
          <a:noFill/>
          <a:ln/>
        </p:spPr>
        <p:txBody>
          <a:bodyPr wrap="square" lIns="0" tIns="0" rIns="0" bIns="0"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대화 속 </a:t>
            </a:r>
            <a:r>
              <a:rPr lang="en-US" sz="1500" dirty="0" err="1">
                <a:solidFill>
                  <a:srgbClr val="2B3242"/>
                </a:solidFill>
                <a:latin typeface="Pretendard" pitchFamily="34" charset="0"/>
                <a:ea typeface="Pretendard" pitchFamily="34" charset="-122"/>
                <a:cs typeface="Pretendard" pitchFamily="34" charset="-120"/>
              </a:rPr>
              <a:t>행위나</a:t>
            </a:r>
            <a:r>
              <a:rPr lang="en-US" sz="1500" dirty="0">
                <a:solidFill>
                  <a:srgbClr val="2B3242"/>
                </a:solidFill>
                <a:latin typeface="Pretendard" pitchFamily="34" charset="0"/>
                <a:ea typeface="Pretendard" pitchFamily="34" charset="-122"/>
                <a:cs typeface="Pretendard" pitchFamily="34" charset="-120"/>
              </a:rPr>
              <a:t> 조항 규칙 같은 구조는 LLM이 잘 못 뽑음 → </a:t>
            </a:r>
            <a:r>
              <a:rPr lang="en-US" sz="1500" dirty="0" err="1">
                <a:solidFill>
                  <a:srgbClr val="2B3242"/>
                </a:solidFill>
                <a:latin typeface="Pretendard" pitchFamily="34" charset="0"/>
                <a:ea typeface="Pretendard" pitchFamily="34" charset="-122"/>
                <a:cs typeface="Pretendard" pitchFamily="34" charset="-120"/>
              </a:rPr>
              <a:t>사람이</a:t>
            </a:r>
            <a:r>
              <a:rPr lang="en-US"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직접 </a:t>
            </a:r>
            <a:r>
              <a:rPr lang="ko-KR" altLang="en-US" sz="1500" dirty="0" err="1">
                <a:solidFill>
                  <a:srgbClr val="2B3242"/>
                </a:solidFill>
                <a:latin typeface="Pretendard" pitchFamily="34" charset="0"/>
                <a:ea typeface="Pretendard" pitchFamily="34" charset="-122"/>
                <a:cs typeface="Pretendard" pitchFamily="34" charset="-120"/>
              </a:rPr>
              <a:t>노드타입</a:t>
            </a:r>
            <a:r>
              <a:rPr lang="en-US" altLang="ko-KR"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관계</a:t>
            </a:r>
            <a:r>
              <a:rPr lang="en-US" altLang="ko-KR"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속성 넣기</a:t>
            </a:r>
            <a:endParaRPr lang="en-US" sz="1500" dirty="0"/>
          </a:p>
        </p:txBody>
      </p:sp>
      <p:sp>
        <p:nvSpPr>
          <p:cNvPr id="42" name="Shape 39"/>
          <p:cNvSpPr/>
          <p:nvPr/>
        </p:nvSpPr>
        <p:spPr>
          <a:xfrm>
            <a:off x="7390181" y="5939605"/>
            <a:ext cx="3303270" cy="1143000"/>
          </a:xfrm>
          <a:prstGeom prst="roundRect">
            <a:avLst>
              <a:gd name="adj" fmla="val 6400"/>
            </a:avLst>
          </a:prstGeom>
          <a:solidFill>
            <a:srgbClr val="F5F8FC"/>
          </a:solidFill>
          <a:ln w="12700">
            <a:solidFill>
              <a:srgbClr val="D9E0EC"/>
            </a:solidFill>
            <a:prstDash val="solid"/>
          </a:ln>
        </p:spPr>
        <p:txBody>
          <a:bodyPr/>
          <a:lstStyle/>
          <a:p>
            <a:endParaRPr lang="ko-KR" altLang="en-US"/>
          </a:p>
        </p:txBody>
      </p:sp>
      <p:sp>
        <p:nvSpPr>
          <p:cNvPr id="43" name="Shape 40"/>
          <p:cNvSpPr/>
          <p:nvPr/>
        </p:nvSpPr>
        <p:spPr>
          <a:xfrm>
            <a:off x="7481621" y="6328225"/>
            <a:ext cx="365760" cy="365760"/>
          </a:xfrm>
          <a:prstGeom prst="roundRect">
            <a:avLst>
              <a:gd name="adj" fmla="val 12500"/>
            </a:avLst>
          </a:prstGeom>
          <a:solidFill>
            <a:srgbClr val="404155"/>
          </a:solidFill>
          <a:ln/>
        </p:spPr>
        <p:txBody>
          <a:bodyPr/>
          <a:lstStyle/>
          <a:p>
            <a:endParaRPr lang="ko-KR" altLang="en-US"/>
          </a:p>
        </p:txBody>
      </p:sp>
      <p:sp>
        <p:nvSpPr>
          <p:cNvPr id="44" name="Text 41"/>
          <p:cNvSpPr txBox="1"/>
          <p:nvPr/>
        </p:nvSpPr>
        <p:spPr>
          <a:xfrm>
            <a:off x="7481621" y="6328225"/>
            <a:ext cx="365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t>
            </a:r>
            <a:endParaRPr lang="en-US" sz="1600" dirty="0"/>
          </a:p>
        </p:txBody>
      </p:sp>
      <p:sp>
        <p:nvSpPr>
          <p:cNvPr id="45" name="Text 42"/>
          <p:cNvSpPr txBox="1"/>
          <p:nvPr/>
        </p:nvSpPr>
        <p:spPr>
          <a:xfrm>
            <a:off x="7938821" y="5939605"/>
            <a:ext cx="2681478" cy="1143000"/>
          </a:xfrm>
          <a:prstGeom prst="rect">
            <a:avLst/>
          </a:prstGeom>
          <a:noFill/>
          <a:ln/>
        </p:spPr>
        <p:txBody>
          <a:bodyPr wrap="square" lIns="0" tIns="0" rIns="0" bIns="0"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여러 문서에 걸친 관계(카드 비교 등)는 청크 단위 추출로 </a:t>
            </a:r>
            <a:r>
              <a:rPr lang="en-US" sz="1500" dirty="0" err="1">
                <a:solidFill>
                  <a:srgbClr val="2B3242"/>
                </a:solidFill>
                <a:latin typeface="Pretendard" pitchFamily="34" charset="0"/>
                <a:ea typeface="Pretendard" pitchFamily="34" charset="-122"/>
                <a:cs typeface="Pretendard" pitchFamily="34" charset="-120"/>
              </a:rPr>
              <a:t>나오지</a:t>
            </a:r>
            <a:r>
              <a:rPr lang="en-US" sz="1500" dirty="0">
                <a:solidFill>
                  <a:srgbClr val="2B3242"/>
                </a:solidFill>
                <a:latin typeface="Pretendard" pitchFamily="34" charset="0"/>
                <a:ea typeface="Pretendard" pitchFamily="34" charset="-122"/>
                <a:cs typeface="Pretendard" pitchFamily="34" charset="-120"/>
              </a:rPr>
              <a:t> </a:t>
            </a:r>
            <a:r>
              <a:rPr lang="en-US" sz="1500" dirty="0" err="1">
                <a:solidFill>
                  <a:srgbClr val="2B3242"/>
                </a:solidFill>
                <a:latin typeface="Pretendard" pitchFamily="34" charset="0"/>
                <a:ea typeface="Pretendard" pitchFamily="34" charset="-122"/>
                <a:cs typeface="Pretendard" pitchFamily="34" charset="-120"/>
              </a:rPr>
              <a:t>않음</a:t>
            </a:r>
            <a:r>
              <a:rPr lang="en-US" sz="1500" dirty="0">
                <a:solidFill>
                  <a:srgbClr val="2B3242"/>
                </a:solidFill>
                <a:latin typeface="Pretendard" pitchFamily="34" charset="0"/>
                <a:ea typeface="Pretendard" pitchFamily="34" charset="-122"/>
                <a:cs typeface="Pretendard" pitchFamily="34" charset="-120"/>
              </a:rPr>
              <a:t> </a:t>
            </a:r>
          </a:p>
          <a:p>
            <a:r>
              <a:rPr lang="en-US" altLang="ko-KR"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검색에서 처리</a:t>
            </a:r>
            <a:endParaRPr lang="en-US" sz="1500" dirty="0"/>
          </a:p>
        </p:txBody>
      </p:sp>
      <p:sp>
        <p:nvSpPr>
          <p:cNvPr id="46" name="Shape 43"/>
          <p:cNvSpPr/>
          <p:nvPr/>
        </p:nvSpPr>
        <p:spPr>
          <a:xfrm>
            <a:off x="10830611" y="5939605"/>
            <a:ext cx="3303270" cy="1143000"/>
          </a:xfrm>
          <a:prstGeom prst="roundRect">
            <a:avLst>
              <a:gd name="adj" fmla="val 6400"/>
            </a:avLst>
          </a:prstGeom>
          <a:solidFill>
            <a:srgbClr val="F5F8FC"/>
          </a:solidFill>
          <a:ln w="12700">
            <a:solidFill>
              <a:srgbClr val="D9E0EC"/>
            </a:solidFill>
            <a:prstDash val="solid"/>
          </a:ln>
        </p:spPr>
        <p:txBody>
          <a:bodyPr/>
          <a:lstStyle/>
          <a:p>
            <a:endParaRPr lang="ko-KR" altLang="en-US"/>
          </a:p>
        </p:txBody>
      </p:sp>
      <p:sp>
        <p:nvSpPr>
          <p:cNvPr id="47" name="Shape 44"/>
          <p:cNvSpPr/>
          <p:nvPr/>
        </p:nvSpPr>
        <p:spPr>
          <a:xfrm>
            <a:off x="10922051" y="6328225"/>
            <a:ext cx="365760" cy="365760"/>
          </a:xfrm>
          <a:prstGeom prst="roundRect">
            <a:avLst>
              <a:gd name="adj" fmla="val 12500"/>
            </a:avLst>
          </a:prstGeom>
          <a:solidFill>
            <a:srgbClr val="404155"/>
          </a:solidFill>
          <a:ln/>
        </p:spPr>
        <p:txBody>
          <a:bodyPr/>
          <a:lstStyle/>
          <a:p>
            <a:endParaRPr lang="ko-KR" altLang="en-US"/>
          </a:p>
        </p:txBody>
      </p:sp>
      <p:sp>
        <p:nvSpPr>
          <p:cNvPr id="48" name="Text 45"/>
          <p:cNvSpPr txBox="1"/>
          <p:nvPr/>
        </p:nvSpPr>
        <p:spPr>
          <a:xfrm>
            <a:off x="10922051" y="6328225"/>
            <a:ext cx="365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t>
            </a:r>
            <a:endParaRPr lang="en-US" sz="1600" dirty="0"/>
          </a:p>
        </p:txBody>
      </p:sp>
      <p:sp>
        <p:nvSpPr>
          <p:cNvPr id="49" name="Text 46"/>
          <p:cNvSpPr txBox="1"/>
          <p:nvPr/>
        </p:nvSpPr>
        <p:spPr>
          <a:xfrm>
            <a:off x="11379251" y="5939605"/>
            <a:ext cx="2681478" cy="1143000"/>
          </a:xfrm>
          <a:prstGeom prst="rect">
            <a:avLst/>
          </a:prstGeom>
          <a:noFill/>
          <a:ln/>
        </p:spPr>
        <p:txBody>
          <a:bodyPr wrap="square" lIns="0" tIns="0" rIns="0" bIns="0"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멈춤: 2건 이상 나온 새 이름이 연속 3건 없으면 그 층은 멈춤</a:t>
            </a:r>
            <a:endParaRPr lang="en-US" sz="1500" dirty="0"/>
          </a:p>
        </p:txBody>
      </p:sp>
      <p:sp>
        <p:nvSpPr>
          <p:cNvPr id="50" name="Shape 47"/>
          <p:cNvSpPr/>
          <p:nvPr/>
        </p:nvSpPr>
        <p:spPr>
          <a:xfrm>
            <a:off x="509321" y="7388352"/>
            <a:ext cx="13624560" cy="0"/>
          </a:xfrm>
          <a:prstGeom prst="line">
            <a:avLst/>
          </a:prstGeom>
          <a:noFill/>
          <a:ln w="12700">
            <a:solidFill>
              <a:srgbClr val="E9ECF3"/>
            </a:solidFill>
            <a:prstDash val="solid"/>
          </a:ln>
        </p:spPr>
        <p:txBody>
          <a:bodyPr/>
          <a:lstStyle/>
          <a:p>
            <a:endParaRPr lang="ko-KR" altLang="en-US"/>
          </a:p>
        </p:txBody>
      </p:sp>
      <p:sp>
        <p:nvSpPr>
          <p:cNvPr id="51" name="Text 48"/>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출처: </a:t>
            </a:r>
            <a:r>
              <a:rPr lang="en-US" sz="1400" u="sng" dirty="0">
                <a:solidFill>
                  <a:srgbClr val="2E74C6"/>
                </a:solidFill>
                <a:latin typeface="Pretendard" pitchFamily="34" charset="0"/>
                <a:ea typeface="Pretendard" pitchFamily="34" charset="-122"/>
                <a:cs typeface="Pretendard" pitchFamily="34" charset="-120"/>
                <a:hlinkClick r:id="rId3" tooltip="https://neo4j.com/docs/neo4j-graphrag-python/current/user_guide_kg_builder.html">
                  <a:extLst>
                    <a:ext uri="{A12FA001-AC4F-418D-AE19-62706E023703}">
                      <ahyp:hlinkClr xmlns:ahyp="http://schemas.microsoft.com/office/drawing/2018/hyperlinkcolor" val="tx"/>
                    </a:ext>
                  </a:extLst>
                </a:hlinkClick>
              </a:rPr>
              <a:t>Neo4j GraphRAG Python 사용자 안내</a:t>
            </a:r>
            <a:r>
              <a:rPr lang="en-US" sz="1400" dirty="0">
                <a:solidFill>
                  <a:srgbClr val="7C8598"/>
                </a:solidFill>
                <a:latin typeface="Pretendard" pitchFamily="34" charset="0"/>
                <a:ea typeface="Pretendard" pitchFamily="34" charset="-122"/>
                <a:cs typeface="Pretendard" pitchFamily="34" charset="-120"/>
              </a:rPr>
              <a:t>, </a:t>
            </a:r>
            <a:r>
              <a:rPr lang="en-US" sz="1400" u="sng" dirty="0">
                <a:solidFill>
                  <a:srgbClr val="2E74C6"/>
                </a:solidFill>
                <a:latin typeface="Pretendard" pitchFamily="34" charset="0"/>
                <a:ea typeface="Pretendard" pitchFamily="34" charset="-122"/>
                <a:cs typeface="Pretendard" pitchFamily="34" charset="-120"/>
                <a:hlinkClick r:id="rId4" tooltip="https://neo4j.com/labs/genai-ecosystem/llm-graph-builder-features/">
                  <a:extLst>
                    <a:ext uri="{A12FA001-AC4F-418D-AE19-62706E023703}">
                      <ahyp:hlinkClr xmlns:ahyp="http://schemas.microsoft.com/office/drawing/2018/hyperlinkcolor" val="tx"/>
                    </a:ext>
                  </a:extLst>
                </a:hlinkClick>
              </a:rPr>
              <a:t>Neo4j LLM Graph Builder 기능</a:t>
            </a:r>
            <a:r>
              <a:rPr lang="en-US" sz="1400" dirty="0">
                <a:solidFill>
                  <a:srgbClr val="7C8598"/>
                </a:solidFill>
                <a:latin typeface="Pretendard" pitchFamily="34" charset="0"/>
                <a:ea typeface="Pretendard" pitchFamily="34" charset="-122"/>
                <a:cs typeface="Pretendard" pitchFamily="34" charset="-120"/>
              </a:rPr>
              <a:t>, </a:t>
            </a:r>
            <a:r>
              <a:rPr lang="en-US" sz="1400" u="sng" dirty="0">
                <a:solidFill>
                  <a:srgbClr val="2E74C6"/>
                </a:solidFill>
                <a:latin typeface="Pretendard" pitchFamily="34" charset="0"/>
                <a:ea typeface="Pretendard" pitchFamily="34" charset="-122"/>
                <a:cs typeface="Pretendard" pitchFamily="34" charset="-120"/>
                <a:hlinkClick r:id="rId5" tooltip="https://protege.stanford.edu/publications/ontology_development/ontology101-noy-mcguinness.html">
                  <a:extLst>
                    <a:ext uri="{A12FA001-AC4F-418D-AE19-62706E023703}">
                      <ahyp:hlinkClr xmlns:ahyp="http://schemas.microsoft.com/office/drawing/2018/hyperlinkcolor" val="tx"/>
                    </a:ext>
                  </a:extLst>
                </a:hlinkClick>
              </a:rPr>
              <a:t>Noy와 McGuinness, Ontology 101(역량 질문)</a:t>
            </a:r>
            <a:r>
              <a:rPr lang="en-US" sz="1400" dirty="0">
                <a:solidFill>
                  <a:srgbClr val="7C8598"/>
                </a:solidFill>
                <a:latin typeface="Pretendard" pitchFamily="34" charset="0"/>
                <a:ea typeface="Pretendard" pitchFamily="34" charset="-122"/>
                <a:cs typeface="Pretendard" pitchFamily="34" charset="-120"/>
              </a:rPr>
              <a:t>, </a:t>
            </a:r>
            <a:r>
              <a:rPr lang="en-US" sz="1400" u="sng" dirty="0">
                <a:solidFill>
                  <a:srgbClr val="2E74C6"/>
                </a:solidFill>
                <a:latin typeface="Pretendard" pitchFamily="34" charset="0"/>
                <a:ea typeface="Pretendard" pitchFamily="34" charset="-122"/>
                <a:cs typeface="Pretendard" pitchFamily="34" charset="-120"/>
                <a:hlinkClick r:id="rId6" tooltip="https://journals.plos.org/plosone/article?id=10.1371/journal.pone.0232076">
                  <a:extLst>
                    <a:ext uri="{A12FA001-AC4F-418D-AE19-62706E023703}">
                      <ahyp:hlinkClr xmlns:ahyp="http://schemas.microsoft.com/office/drawing/2018/hyperlinkcolor" val="tx"/>
                    </a:ext>
                  </a:extLst>
                </a:hlinkClick>
              </a:rPr>
              <a:t>Guest 외(2020) 포화 기준</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단계 ① 역량 질문 정하기(예시: 상담 이력)</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실제 사용자 질문을 모아 값을 빈칸으로 바꾸고 유형으로 묶은 뒤, 유형마다 역량 질문을 씀</a:t>
            </a:r>
            <a:endParaRPr lang="en-US" sz="1800" dirty="0"/>
          </a:p>
        </p:txBody>
      </p:sp>
      <p:sp>
        <p:nvSpPr>
          <p:cNvPr id="5" name="Shape 2"/>
          <p:cNvSpPr/>
          <p:nvPr/>
        </p:nvSpPr>
        <p:spPr>
          <a:xfrm>
            <a:off x="509321" y="1737360"/>
            <a:ext cx="4572000" cy="365760"/>
          </a:xfrm>
          <a:prstGeom prst="roundRect">
            <a:avLst>
              <a:gd name="adj" fmla="val 12500"/>
            </a:avLst>
          </a:prstGeom>
          <a:solidFill>
            <a:srgbClr val="404155"/>
          </a:solidFill>
          <a:ln/>
        </p:spPr>
        <p:txBody>
          <a:bodyPr/>
          <a:lstStyle/>
          <a:p>
            <a:endParaRPr/>
          </a:p>
        </p:txBody>
      </p:sp>
      <p:sp>
        <p:nvSpPr>
          <p:cNvPr id="6" name="Text 3"/>
          <p:cNvSpPr txBox="1"/>
          <p:nvPr/>
        </p:nvSpPr>
        <p:spPr>
          <a:xfrm>
            <a:off x="509321" y="1737360"/>
            <a:ext cx="45720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실제 사용자 질문(출처)</a:t>
            </a:r>
            <a:endParaRPr lang="en-US" sz="1600" dirty="0"/>
          </a:p>
        </p:txBody>
      </p:sp>
      <p:sp>
        <p:nvSpPr>
          <p:cNvPr id="7" name="Shape 4"/>
          <p:cNvSpPr/>
          <p:nvPr/>
        </p:nvSpPr>
        <p:spPr>
          <a:xfrm>
            <a:off x="5401361" y="1737360"/>
            <a:ext cx="3520440" cy="365760"/>
          </a:xfrm>
          <a:prstGeom prst="roundRect">
            <a:avLst>
              <a:gd name="adj" fmla="val 12500"/>
            </a:avLst>
          </a:prstGeom>
          <a:solidFill>
            <a:srgbClr val="404155"/>
          </a:solidFill>
          <a:ln/>
        </p:spPr>
        <p:txBody>
          <a:bodyPr/>
          <a:lstStyle/>
          <a:p>
            <a:endParaRPr/>
          </a:p>
        </p:txBody>
      </p:sp>
      <p:sp>
        <p:nvSpPr>
          <p:cNvPr id="8" name="Text 5"/>
          <p:cNvSpPr txBox="1"/>
          <p:nvPr/>
        </p:nvSpPr>
        <p:spPr>
          <a:xfrm>
            <a:off x="5401361" y="1737360"/>
            <a:ext cx="352044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값을 빈칸으로 → 질문 유형</a:t>
            </a:r>
            <a:endParaRPr lang="en-US" sz="1600" dirty="0"/>
          </a:p>
        </p:txBody>
      </p:sp>
      <p:sp>
        <p:nvSpPr>
          <p:cNvPr id="9" name="Shape 6"/>
          <p:cNvSpPr/>
          <p:nvPr/>
        </p:nvSpPr>
        <p:spPr>
          <a:xfrm>
            <a:off x="9241841" y="1737360"/>
            <a:ext cx="4892040" cy="365760"/>
          </a:xfrm>
          <a:prstGeom prst="roundRect">
            <a:avLst>
              <a:gd name="adj" fmla="val 12500"/>
            </a:avLst>
          </a:prstGeom>
          <a:solidFill>
            <a:srgbClr val="1E2A5C"/>
          </a:solidFill>
          <a:ln/>
        </p:spPr>
        <p:txBody>
          <a:bodyPr/>
          <a:lstStyle/>
          <a:p>
            <a:endParaRPr/>
          </a:p>
        </p:txBody>
      </p:sp>
      <p:sp>
        <p:nvSpPr>
          <p:cNvPr id="10" name="Text 7"/>
          <p:cNvSpPr txBox="1"/>
          <p:nvPr/>
        </p:nvSpPr>
        <p:spPr>
          <a:xfrm>
            <a:off x="9241841" y="1737360"/>
            <a:ext cx="489204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역량 질문(상담 이력 5개)</a:t>
            </a:r>
            <a:endParaRPr lang="en-US" sz="1600" dirty="0"/>
          </a:p>
        </p:txBody>
      </p:sp>
      <p:sp>
        <p:nvSpPr>
          <p:cNvPr id="11" name="Shape 8"/>
          <p:cNvSpPr/>
          <p:nvPr/>
        </p:nvSpPr>
        <p:spPr>
          <a:xfrm>
            <a:off x="5117897" y="1920240"/>
            <a:ext cx="246888" cy="0"/>
          </a:xfrm>
          <a:prstGeom prst="line">
            <a:avLst/>
          </a:prstGeom>
          <a:noFill/>
          <a:ln w="25400">
            <a:solidFill>
              <a:srgbClr val="4A5364"/>
            </a:solidFill>
            <a:prstDash val="solid"/>
            <a:tailEnd type="triangle"/>
          </a:ln>
        </p:spPr>
        <p:txBody>
          <a:bodyPr/>
          <a:lstStyle/>
          <a:p>
            <a:endParaRPr/>
          </a:p>
        </p:txBody>
      </p:sp>
      <p:sp>
        <p:nvSpPr>
          <p:cNvPr id="12" name="Shape 9"/>
          <p:cNvSpPr/>
          <p:nvPr/>
        </p:nvSpPr>
        <p:spPr>
          <a:xfrm>
            <a:off x="8958377" y="1920240"/>
            <a:ext cx="246888" cy="0"/>
          </a:xfrm>
          <a:prstGeom prst="line">
            <a:avLst/>
          </a:prstGeom>
          <a:noFill/>
          <a:ln w="25400">
            <a:solidFill>
              <a:srgbClr val="4A5364"/>
            </a:solidFill>
            <a:prstDash val="solid"/>
            <a:tailEnd type="triangle"/>
          </a:ln>
        </p:spPr>
        <p:txBody>
          <a:bodyPr/>
          <a:lstStyle/>
          <a:p>
            <a:endParaRPr/>
          </a:p>
        </p:txBody>
      </p:sp>
      <p:sp>
        <p:nvSpPr>
          <p:cNvPr id="13" name="Shape 10"/>
          <p:cNvSpPr/>
          <p:nvPr/>
        </p:nvSpPr>
        <p:spPr>
          <a:xfrm>
            <a:off x="509321" y="2212848"/>
            <a:ext cx="4572000" cy="768096"/>
          </a:xfrm>
          <a:prstGeom prst="roundRect">
            <a:avLst>
              <a:gd name="adj" fmla="val 7143"/>
            </a:avLst>
          </a:prstGeom>
          <a:solidFill>
            <a:srgbClr val="FFFFFF"/>
          </a:solidFill>
          <a:ln w="12700">
            <a:solidFill>
              <a:srgbClr val="D9E0EC"/>
            </a:solidFill>
            <a:prstDash val="solid"/>
          </a:ln>
        </p:spPr>
        <p:txBody>
          <a:bodyPr/>
          <a:lstStyle/>
          <a:p>
            <a:endParaRPr/>
          </a:p>
        </p:txBody>
      </p:sp>
      <p:sp>
        <p:nvSpPr>
          <p:cNvPr id="14" name="Text 11"/>
          <p:cNvSpPr txBox="1"/>
          <p:nvPr/>
        </p:nvSpPr>
        <p:spPr>
          <a:xfrm>
            <a:off x="619049" y="2212848"/>
            <a:ext cx="3566160" cy="768096"/>
          </a:xfrm>
          <a:prstGeom prst="rect">
            <a:avLst/>
          </a:prstGeom>
          <a:noFill/>
          <a:ln/>
        </p:spPr>
        <p:txBody>
          <a:bodyPr wrap="square" lIns="0" tIns="0" rIns="0" bIns="0" rtlCol="0" anchor="ctr"/>
          <a:lstStyle/>
          <a:p>
            <a:pPr marL="0" indent="0">
              <a:buNone/>
            </a:pPr>
            <a:r>
              <a:rPr lang="en-US" sz="1400" b="1" dirty="0">
                <a:solidFill>
                  <a:srgbClr val="4A5364"/>
                </a:solidFill>
                <a:latin typeface="Pretendard" pitchFamily="34" charset="0"/>
                <a:ea typeface="Pretendard" pitchFamily="34" charset="-122"/>
                <a:cs typeface="Pretendard" pitchFamily="34" charset="-120"/>
              </a:rPr>
              <a:t>D3 안내문 검색 평가</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이 고객의 최근 불편은 무엇이고 이전 상담과 무엇이 달라졌는가?</a:t>
            </a:r>
            <a:endParaRPr lang="en-US" sz="1400" dirty="0"/>
          </a:p>
        </p:txBody>
      </p:sp>
      <p:sp>
        <p:nvSpPr>
          <p:cNvPr id="15" name="Shape 12"/>
          <p:cNvSpPr/>
          <p:nvPr/>
        </p:nvSpPr>
        <p:spPr>
          <a:xfrm>
            <a:off x="4258361" y="2450592"/>
            <a:ext cx="329184" cy="292608"/>
          </a:xfrm>
          <a:prstGeom prst="roundRect">
            <a:avLst>
              <a:gd name="adj" fmla="val 25000"/>
            </a:avLst>
          </a:prstGeom>
          <a:solidFill>
            <a:srgbClr val="2E74C6"/>
          </a:solidFill>
          <a:ln/>
        </p:spPr>
        <p:txBody>
          <a:bodyPr/>
          <a:lstStyle/>
          <a:p>
            <a:endParaRPr/>
          </a:p>
        </p:txBody>
      </p:sp>
      <p:sp>
        <p:nvSpPr>
          <p:cNvPr id="16" name="Text 13"/>
          <p:cNvSpPr txBox="1"/>
          <p:nvPr/>
        </p:nvSpPr>
        <p:spPr>
          <a:xfrm>
            <a:off x="4258361" y="2450592"/>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A</a:t>
            </a:r>
            <a:endParaRPr lang="en-US" sz="1400" dirty="0"/>
          </a:p>
        </p:txBody>
      </p:sp>
      <p:sp>
        <p:nvSpPr>
          <p:cNvPr id="17" name="Shape 14"/>
          <p:cNvSpPr/>
          <p:nvPr/>
        </p:nvSpPr>
        <p:spPr>
          <a:xfrm>
            <a:off x="4624121" y="2450592"/>
            <a:ext cx="329184" cy="292608"/>
          </a:xfrm>
          <a:prstGeom prst="roundRect">
            <a:avLst>
              <a:gd name="adj" fmla="val 25000"/>
            </a:avLst>
          </a:prstGeom>
          <a:solidFill>
            <a:srgbClr val="2E74C6"/>
          </a:solidFill>
          <a:ln/>
        </p:spPr>
        <p:txBody>
          <a:bodyPr/>
          <a:lstStyle/>
          <a:p>
            <a:endParaRPr/>
          </a:p>
        </p:txBody>
      </p:sp>
      <p:sp>
        <p:nvSpPr>
          <p:cNvPr id="18" name="Text 15"/>
          <p:cNvSpPr txBox="1"/>
          <p:nvPr/>
        </p:nvSpPr>
        <p:spPr>
          <a:xfrm>
            <a:off x="4624121" y="2450592"/>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D</a:t>
            </a:r>
            <a:endParaRPr lang="en-US" sz="1400" dirty="0"/>
          </a:p>
        </p:txBody>
      </p:sp>
      <p:sp>
        <p:nvSpPr>
          <p:cNvPr id="19" name="Shape 16"/>
          <p:cNvSpPr/>
          <p:nvPr/>
        </p:nvSpPr>
        <p:spPr>
          <a:xfrm>
            <a:off x="509321" y="3054096"/>
            <a:ext cx="4572000" cy="768096"/>
          </a:xfrm>
          <a:prstGeom prst="roundRect">
            <a:avLst>
              <a:gd name="adj" fmla="val 7143"/>
            </a:avLst>
          </a:prstGeom>
          <a:solidFill>
            <a:srgbClr val="FFFFFF"/>
          </a:solidFill>
          <a:ln w="12700">
            <a:solidFill>
              <a:srgbClr val="D9E0EC"/>
            </a:solidFill>
            <a:prstDash val="solid"/>
          </a:ln>
        </p:spPr>
        <p:txBody>
          <a:bodyPr/>
          <a:lstStyle/>
          <a:p>
            <a:endParaRPr/>
          </a:p>
        </p:txBody>
      </p:sp>
      <p:sp>
        <p:nvSpPr>
          <p:cNvPr id="20" name="Text 17"/>
          <p:cNvSpPr txBox="1"/>
          <p:nvPr/>
        </p:nvSpPr>
        <p:spPr>
          <a:xfrm>
            <a:off x="619049" y="3054096"/>
            <a:ext cx="3566160" cy="768096"/>
          </a:xfrm>
          <a:prstGeom prst="rect">
            <a:avLst/>
          </a:prstGeom>
          <a:noFill/>
          <a:ln/>
        </p:spPr>
        <p:txBody>
          <a:bodyPr wrap="square" lIns="0" tIns="0" rIns="0" bIns="0" rtlCol="0" anchor="ctr"/>
          <a:lstStyle/>
          <a:p>
            <a:pPr marL="0" indent="0">
              <a:buNone/>
            </a:pPr>
            <a:r>
              <a:rPr lang="en-US" sz="1400" b="1" dirty="0">
                <a:solidFill>
                  <a:srgbClr val="4A5364"/>
                </a:solidFill>
                <a:latin typeface="Pretendard" pitchFamily="34" charset="0"/>
                <a:ea typeface="Pretendard" pitchFamily="34" charset="-122"/>
                <a:cs typeface="Pretendard" pitchFamily="34" charset="-120"/>
              </a:rPr>
              <a:t>D3 안내문 검색 평가</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어떤 제안을 받아들이거나 거절했으며 고객이 밝힌 이유는 무엇인가?</a:t>
            </a:r>
            <a:endParaRPr lang="en-US" sz="1400" dirty="0"/>
          </a:p>
        </p:txBody>
      </p:sp>
      <p:sp>
        <p:nvSpPr>
          <p:cNvPr id="21" name="Shape 18"/>
          <p:cNvSpPr/>
          <p:nvPr/>
        </p:nvSpPr>
        <p:spPr>
          <a:xfrm>
            <a:off x="4624121" y="3291840"/>
            <a:ext cx="329184" cy="292608"/>
          </a:xfrm>
          <a:prstGeom prst="roundRect">
            <a:avLst>
              <a:gd name="adj" fmla="val 25000"/>
            </a:avLst>
          </a:prstGeom>
          <a:solidFill>
            <a:srgbClr val="2E74C6"/>
          </a:solidFill>
          <a:ln/>
        </p:spPr>
        <p:txBody>
          <a:bodyPr/>
          <a:lstStyle/>
          <a:p>
            <a:endParaRPr/>
          </a:p>
        </p:txBody>
      </p:sp>
      <p:sp>
        <p:nvSpPr>
          <p:cNvPr id="22" name="Text 19"/>
          <p:cNvSpPr txBox="1"/>
          <p:nvPr/>
        </p:nvSpPr>
        <p:spPr>
          <a:xfrm>
            <a:off x="4624121" y="3291840"/>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B</a:t>
            </a:r>
            <a:endParaRPr lang="en-US" sz="1400" dirty="0"/>
          </a:p>
        </p:txBody>
      </p:sp>
      <p:sp>
        <p:nvSpPr>
          <p:cNvPr id="23" name="Shape 20"/>
          <p:cNvSpPr/>
          <p:nvPr/>
        </p:nvSpPr>
        <p:spPr>
          <a:xfrm>
            <a:off x="509321" y="3895344"/>
            <a:ext cx="4572000" cy="768096"/>
          </a:xfrm>
          <a:prstGeom prst="roundRect">
            <a:avLst>
              <a:gd name="adj" fmla="val 7143"/>
            </a:avLst>
          </a:prstGeom>
          <a:solidFill>
            <a:srgbClr val="FFFFFF"/>
          </a:solidFill>
          <a:ln w="12700">
            <a:solidFill>
              <a:srgbClr val="D9E0EC"/>
            </a:solidFill>
            <a:prstDash val="solid"/>
          </a:ln>
        </p:spPr>
        <p:txBody>
          <a:bodyPr/>
          <a:lstStyle/>
          <a:p>
            <a:endParaRPr/>
          </a:p>
        </p:txBody>
      </p:sp>
      <p:sp>
        <p:nvSpPr>
          <p:cNvPr id="24" name="Text 21"/>
          <p:cNvSpPr txBox="1"/>
          <p:nvPr/>
        </p:nvSpPr>
        <p:spPr>
          <a:xfrm>
            <a:off x="619049" y="3895344"/>
            <a:ext cx="3566160" cy="768096"/>
          </a:xfrm>
          <a:prstGeom prst="rect">
            <a:avLst/>
          </a:prstGeom>
          <a:noFill/>
          <a:ln/>
        </p:spPr>
        <p:txBody>
          <a:bodyPr wrap="square" lIns="0" tIns="0" rIns="0" bIns="0" rtlCol="0" anchor="ctr"/>
          <a:lstStyle/>
          <a:p>
            <a:pPr marL="0" indent="0">
              <a:buNone/>
            </a:pPr>
            <a:r>
              <a:rPr lang="en-US" sz="1400" b="1" dirty="0">
                <a:solidFill>
                  <a:srgbClr val="4A5364"/>
                </a:solidFill>
                <a:latin typeface="Pretendard" pitchFamily="34" charset="0"/>
                <a:ea typeface="Pretendard" pitchFamily="34" charset="-122"/>
                <a:cs typeface="Pretendard" pitchFamily="34" charset="-120"/>
              </a:rPr>
              <a:t>평가셋 Q15</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M-1042 회원은 생활비를 이 카드로 옮기는 것을 왜 원하지 않았나요?</a:t>
            </a:r>
            <a:endParaRPr lang="en-US" sz="1400" dirty="0"/>
          </a:p>
        </p:txBody>
      </p:sp>
      <p:sp>
        <p:nvSpPr>
          <p:cNvPr id="25" name="Shape 22"/>
          <p:cNvSpPr/>
          <p:nvPr/>
        </p:nvSpPr>
        <p:spPr>
          <a:xfrm>
            <a:off x="4624121" y="4133088"/>
            <a:ext cx="329184" cy="292608"/>
          </a:xfrm>
          <a:prstGeom prst="roundRect">
            <a:avLst>
              <a:gd name="adj" fmla="val 25000"/>
            </a:avLst>
          </a:prstGeom>
          <a:solidFill>
            <a:srgbClr val="2E74C6"/>
          </a:solidFill>
          <a:ln/>
        </p:spPr>
        <p:txBody>
          <a:bodyPr/>
          <a:lstStyle/>
          <a:p>
            <a:endParaRPr/>
          </a:p>
        </p:txBody>
      </p:sp>
      <p:sp>
        <p:nvSpPr>
          <p:cNvPr id="26" name="Text 23"/>
          <p:cNvSpPr txBox="1"/>
          <p:nvPr/>
        </p:nvSpPr>
        <p:spPr>
          <a:xfrm>
            <a:off x="4624121" y="4133088"/>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B</a:t>
            </a:r>
            <a:endParaRPr lang="en-US" sz="1400" dirty="0"/>
          </a:p>
        </p:txBody>
      </p:sp>
      <p:sp>
        <p:nvSpPr>
          <p:cNvPr id="27" name="Shape 24"/>
          <p:cNvSpPr/>
          <p:nvPr/>
        </p:nvSpPr>
        <p:spPr>
          <a:xfrm>
            <a:off x="509321" y="4736592"/>
            <a:ext cx="4572000" cy="768096"/>
          </a:xfrm>
          <a:prstGeom prst="roundRect">
            <a:avLst>
              <a:gd name="adj" fmla="val 7143"/>
            </a:avLst>
          </a:prstGeom>
          <a:solidFill>
            <a:srgbClr val="FFFFFF"/>
          </a:solidFill>
          <a:ln w="12700">
            <a:solidFill>
              <a:srgbClr val="D9E0EC"/>
            </a:solidFill>
            <a:prstDash val="solid"/>
          </a:ln>
        </p:spPr>
        <p:txBody>
          <a:bodyPr/>
          <a:lstStyle/>
          <a:p>
            <a:endParaRPr/>
          </a:p>
        </p:txBody>
      </p:sp>
      <p:sp>
        <p:nvSpPr>
          <p:cNvPr id="28" name="Text 25"/>
          <p:cNvSpPr txBox="1"/>
          <p:nvPr/>
        </p:nvSpPr>
        <p:spPr>
          <a:xfrm>
            <a:off x="619049" y="4736592"/>
            <a:ext cx="3566160" cy="768096"/>
          </a:xfrm>
          <a:prstGeom prst="rect">
            <a:avLst/>
          </a:prstGeom>
          <a:noFill/>
          <a:ln/>
        </p:spPr>
        <p:txBody>
          <a:bodyPr wrap="square" lIns="0" tIns="0" rIns="0" bIns="0" rtlCol="0" anchor="ctr"/>
          <a:lstStyle/>
          <a:p>
            <a:pPr marL="0" indent="0">
              <a:buNone/>
            </a:pPr>
            <a:r>
              <a:rPr lang="en-US" sz="1400" b="1" dirty="0">
                <a:solidFill>
                  <a:srgbClr val="4A5364"/>
                </a:solidFill>
                <a:latin typeface="Pretendard" pitchFamily="34" charset="0"/>
                <a:ea typeface="Pretendard" pitchFamily="34" charset="-122"/>
                <a:cs typeface="Pretendard" pitchFamily="34" charset="-120"/>
              </a:rPr>
              <a:t>평가셋 Q16</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M-3001 회원은 … 어떤 조건이면 옮기겠다고 했나요?</a:t>
            </a:r>
            <a:endParaRPr lang="en-US" sz="1400" dirty="0"/>
          </a:p>
        </p:txBody>
      </p:sp>
      <p:sp>
        <p:nvSpPr>
          <p:cNvPr id="29" name="Shape 26"/>
          <p:cNvSpPr/>
          <p:nvPr/>
        </p:nvSpPr>
        <p:spPr>
          <a:xfrm>
            <a:off x="4624121" y="4974336"/>
            <a:ext cx="329184" cy="292608"/>
          </a:xfrm>
          <a:prstGeom prst="roundRect">
            <a:avLst>
              <a:gd name="adj" fmla="val 25000"/>
            </a:avLst>
          </a:prstGeom>
          <a:solidFill>
            <a:srgbClr val="2E74C6"/>
          </a:solidFill>
          <a:ln/>
        </p:spPr>
        <p:txBody>
          <a:bodyPr/>
          <a:lstStyle/>
          <a:p>
            <a:endParaRPr/>
          </a:p>
        </p:txBody>
      </p:sp>
      <p:sp>
        <p:nvSpPr>
          <p:cNvPr id="30" name="Text 27"/>
          <p:cNvSpPr txBox="1"/>
          <p:nvPr/>
        </p:nvSpPr>
        <p:spPr>
          <a:xfrm>
            <a:off x="4624121" y="4974336"/>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a:t>
            </a:r>
            <a:endParaRPr lang="en-US" sz="1400" dirty="0"/>
          </a:p>
        </p:txBody>
      </p:sp>
      <p:sp>
        <p:nvSpPr>
          <p:cNvPr id="31" name="Shape 28"/>
          <p:cNvSpPr/>
          <p:nvPr/>
        </p:nvSpPr>
        <p:spPr>
          <a:xfrm>
            <a:off x="5401361" y="2212848"/>
            <a:ext cx="3520440" cy="768096"/>
          </a:xfrm>
          <a:prstGeom prst="roundRect">
            <a:avLst>
              <a:gd name="adj" fmla="val 7143"/>
            </a:avLst>
          </a:prstGeom>
          <a:solidFill>
            <a:srgbClr val="EEF3FA"/>
          </a:solidFill>
          <a:ln w="12700">
            <a:solidFill>
              <a:srgbClr val="2E74C6"/>
            </a:solidFill>
            <a:prstDash val="solid"/>
          </a:ln>
        </p:spPr>
        <p:txBody>
          <a:bodyPr/>
          <a:lstStyle/>
          <a:p>
            <a:endParaRPr/>
          </a:p>
        </p:txBody>
      </p:sp>
      <p:sp>
        <p:nvSpPr>
          <p:cNvPr id="32" name="Shape 29"/>
          <p:cNvSpPr/>
          <p:nvPr/>
        </p:nvSpPr>
        <p:spPr>
          <a:xfrm>
            <a:off x="5492801" y="2450592"/>
            <a:ext cx="329184" cy="292608"/>
          </a:xfrm>
          <a:prstGeom prst="roundRect">
            <a:avLst>
              <a:gd name="adj" fmla="val 25000"/>
            </a:avLst>
          </a:prstGeom>
          <a:solidFill>
            <a:srgbClr val="2E74C6"/>
          </a:solidFill>
          <a:ln/>
        </p:spPr>
        <p:txBody>
          <a:bodyPr/>
          <a:lstStyle/>
          <a:p>
            <a:endParaRPr/>
          </a:p>
        </p:txBody>
      </p:sp>
      <p:sp>
        <p:nvSpPr>
          <p:cNvPr id="33" name="Text 30"/>
          <p:cNvSpPr txBox="1"/>
          <p:nvPr/>
        </p:nvSpPr>
        <p:spPr>
          <a:xfrm>
            <a:off x="5492801" y="2450592"/>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A</a:t>
            </a:r>
            <a:endParaRPr lang="en-US" sz="1400" dirty="0"/>
          </a:p>
        </p:txBody>
      </p:sp>
      <p:sp>
        <p:nvSpPr>
          <p:cNvPr id="34" name="Text 31"/>
          <p:cNvSpPr txBox="1"/>
          <p:nvPr/>
        </p:nvSpPr>
        <p:spPr>
          <a:xfrm>
            <a:off x="5904281" y="2212848"/>
            <a:ext cx="2926080" cy="76809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{회원}의 최근 불편과 그 원인은?</a:t>
            </a:r>
            <a:endParaRPr lang="en-US" sz="1400" dirty="0"/>
          </a:p>
        </p:txBody>
      </p:sp>
      <p:sp>
        <p:nvSpPr>
          <p:cNvPr id="35" name="Shape 32"/>
          <p:cNvSpPr/>
          <p:nvPr/>
        </p:nvSpPr>
        <p:spPr>
          <a:xfrm>
            <a:off x="5401361" y="3054096"/>
            <a:ext cx="3520440" cy="768096"/>
          </a:xfrm>
          <a:prstGeom prst="roundRect">
            <a:avLst>
              <a:gd name="adj" fmla="val 7143"/>
            </a:avLst>
          </a:prstGeom>
          <a:solidFill>
            <a:srgbClr val="EEF3FA"/>
          </a:solidFill>
          <a:ln w="12700">
            <a:solidFill>
              <a:srgbClr val="2E74C6"/>
            </a:solidFill>
            <a:prstDash val="solid"/>
          </a:ln>
        </p:spPr>
        <p:txBody>
          <a:bodyPr/>
          <a:lstStyle/>
          <a:p>
            <a:endParaRPr/>
          </a:p>
        </p:txBody>
      </p:sp>
      <p:sp>
        <p:nvSpPr>
          <p:cNvPr id="36" name="Shape 33"/>
          <p:cNvSpPr/>
          <p:nvPr/>
        </p:nvSpPr>
        <p:spPr>
          <a:xfrm>
            <a:off x="5492801" y="3291840"/>
            <a:ext cx="329184" cy="292608"/>
          </a:xfrm>
          <a:prstGeom prst="roundRect">
            <a:avLst>
              <a:gd name="adj" fmla="val 25000"/>
            </a:avLst>
          </a:prstGeom>
          <a:solidFill>
            <a:srgbClr val="2E74C6"/>
          </a:solidFill>
          <a:ln/>
        </p:spPr>
        <p:txBody>
          <a:bodyPr/>
          <a:lstStyle/>
          <a:p>
            <a:endParaRPr/>
          </a:p>
        </p:txBody>
      </p:sp>
      <p:sp>
        <p:nvSpPr>
          <p:cNvPr id="37" name="Text 34"/>
          <p:cNvSpPr txBox="1"/>
          <p:nvPr/>
        </p:nvSpPr>
        <p:spPr>
          <a:xfrm>
            <a:off x="5492801" y="3291840"/>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B</a:t>
            </a:r>
            <a:endParaRPr lang="en-US" sz="1400" dirty="0"/>
          </a:p>
        </p:txBody>
      </p:sp>
      <p:sp>
        <p:nvSpPr>
          <p:cNvPr id="38" name="Text 35"/>
          <p:cNvSpPr txBox="1"/>
          <p:nvPr/>
        </p:nvSpPr>
        <p:spPr>
          <a:xfrm>
            <a:off x="5904281" y="3054096"/>
            <a:ext cx="2926080" cy="76809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{회원}이 받은 제안과 수용 또는 거절, 이유는?</a:t>
            </a:r>
            <a:endParaRPr lang="en-US" sz="1400" dirty="0"/>
          </a:p>
        </p:txBody>
      </p:sp>
      <p:sp>
        <p:nvSpPr>
          <p:cNvPr id="39" name="Shape 36"/>
          <p:cNvSpPr/>
          <p:nvPr/>
        </p:nvSpPr>
        <p:spPr>
          <a:xfrm>
            <a:off x="5401361" y="3895344"/>
            <a:ext cx="3520440" cy="768096"/>
          </a:xfrm>
          <a:prstGeom prst="roundRect">
            <a:avLst>
              <a:gd name="adj" fmla="val 7143"/>
            </a:avLst>
          </a:prstGeom>
          <a:solidFill>
            <a:srgbClr val="EEF3FA"/>
          </a:solidFill>
          <a:ln w="12700">
            <a:solidFill>
              <a:srgbClr val="2E74C6"/>
            </a:solidFill>
            <a:prstDash val="solid"/>
          </a:ln>
        </p:spPr>
        <p:txBody>
          <a:bodyPr/>
          <a:lstStyle/>
          <a:p>
            <a:endParaRPr/>
          </a:p>
        </p:txBody>
      </p:sp>
      <p:sp>
        <p:nvSpPr>
          <p:cNvPr id="40" name="Shape 37"/>
          <p:cNvSpPr/>
          <p:nvPr/>
        </p:nvSpPr>
        <p:spPr>
          <a:xfrm>
            <a:off x="5492801" y="4133088"/>
            <a:ext cx="329184" cy="292608"/>
          </a:xfrm>
          <a:prstGeom prst="roundRect">
            <a:avLst>
              <a:gd name="adj" fmla="val 25000"/>
            </a:avLst>
          </a:prstGeom>
          <a:solidFill>
            <a:srgbClr val="2E74C6"/>
          </a:solidFill>
          <a:ln/>
        </p:spPr>
        <p:txBody>
          <a:bodyPr/>
          <a:lstStyle/>
          <a:p>
            <a:endParaRPr/>
          </a:p>
        </p:txBody>
      </p:sp>
      <p:sp>
        <p:nvSpPr>
          <p:cNvPr id="41" name="Text 38"/>
          <p:cNvSpPr txBox="1"/>
          <p:nvPr/>
        </p:nvSpPr>
        <p:spPr>
          <a:xfrm>
            <a:off x="5492801" y="4133088"/>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a:t>
            </a:r>
            <a:endParaRPr lang="en-US" sz="1400" dirty="0"/>
          </a:p>
        </p:txBody>
      </p:sp>
      <p:sp>
        <p:nvSpPr>
          <p:cNvPr id="42" name="Text 39"/>
          <p:cNvSpPr txBox="1"/>
          <p:nvPr/>
        </p:nvSpPr>
        <p:spPr>
          <a:xfrm>
            <a:off x="5904281" y="3895344"/>
            <a:ext cx="2926080" cy="76809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{회원}은 어떤 조건이면 다시 보나?</a:t>
            </a:r>
            <a:endParaRPr lang="en-US" sz="1400" dirty="0"/>
          </a:p>
        </p:txBody>
      </p:sp>
      <p:sp>
        <p:nvSpPr>
          <p:cNvPr id="43" name="Shape 40"/>
          <p:cNvSpPr/>
          <p:nvPr/>
        </p:nvSpPr>
        <p:spPr>
          <a:xfrm>
            <a:off x="5401361" y="4736592"/>
            <a:ext cx="3520440" cy="768096"/>
          </a:xfrm>
          <a:prstGeom prst="roundRect">
            <a:avLst>
              <a:gd name="adj" fmla="val 7143"/>
            </a:avLst>
          </a:prstGeom>
          <a:solidFill>
            <a:srgbClr val="EEF3FA"/>
          </a:solidFill>
          <a:ln w="12700">
            <a:solidFill>
              <a:srgbClr val="2E74C6"/>
            </a:solidFill>
            <a:prstDash val="solid"/>
          </a:ln>
        </p:spPr>
        <p:txBody>
          <a:bodyPr/>
          <a:lstStyle/>
          <a:p>
            <a:endParaRPr/>
          </a:p>
        </p:txBody>
      </p:sp>
      <p:sp>
        <p:nvSpPr>
          <p:cNvPr id="44" name="Shape 41"/>
          <p:cNvSpPr/>
          <p:nvPr/>
        </p:nvSpPr>
        <p:spPr>
          <a:xfrm>
            <a:off x="5492801" y="4974336"/>
            <a:ext cx="329184" cy="292608"/>
          </a:xfrm>
          <a:prstGeom prst="roundRect">
            <a:avLst>
              <a:gd name="adj" fmla="val 25000"/>
            </a:avLst>
          </a:prstGeom>
          <a:solidFill>
            <a:srgbClr val="2E74C6"/>
          </a:solidFill>
          <a:ln/>
        </p:spPr>
        <p:txBody>
          <a:bodyPr/>
          <a:lstStyle/>
          <a:p>
            <a:endParaRPr/>
          </a:p>
        </p:txBody>
      </p:sp>
      <p:sp>
        <p:nvSpPr>
          <p:cNvPr id="45" name="Text 42"/>
          <p:cNvSpPr txBox="1"/>
          <p:nvPr/>
        </p:nvSpPr>
        <p:spPr>
          <a:xfrm>
            <a:off x="5492801" y="4974336"/>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D</a:t>
            </a:r>
            <a:endParaRPr lang="en-US" sz="1400" dirty="0"/>
          </a:p>
        </p:txBody>
      </p:sp>
      <p:sp>
        <p:nvSpPr>
          <p:cNvPr id="46" name="Text 43"/>
          <p:cNvSpPr txBox="1"/>
          <p:nvPr/>
        </p:nvSpPr>
        <p:spPr>
          <a:xfrm>
            <a:off x="5904281" y="4736592"/>
            <a:ext cx="2926080" cy="76809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{회원}의 이 상담은 어느 상담과 이어지나?</a:t>
            </a:r>
            <a:endParaRPr lang="en-US" sz="1400" dirty="0"/>
          </a:p>
        </p:txBody>
      </p:sp>
      <p:sp>
        <p:nvSpPr>
          <p:cNvPr id="47" name="Shape 44"/>
          <p:cNvSpPr/>
          <p:nvPr/>
        </p:nvSpPr>
        <p:spPr>
          <a:xfrm>
            <a:off x="9241841" y="2212848"/>
            <a:ext cx="4892040" cy="566928"/>
          </a:xfrm>
          <a:prstGeom prst="roundRect">
            <a:avLst>
              <a:gd name="adj" fmla="val 9677"/>
            </a:avLst>
          </a:prstGeom>
          <a:solidFill>
            <a:srgbClr val="FFFFFF"/>
          </a:solidFill>
          <a:ln w="12700">
            <a:solidFill>
              <a:srgbClr val="2E74C6"/>
            </a:solidFill>
            <a:prstDash val="solid"/>
          </a:ln>
        </p:spPr>
        <p:txBody>
          <a:bodyPr/>
          <a:lstStyle/>
          <a:p>
            <a:endParaRPr/>
          </a:p>
        </p:txBody>
      </p:sp>
      <p:sp>
        <p:nvSpPr>
          <p:cNvPr id="48" name="Shape 45"/>
          <p:cNvSpPr/>
          <p:nvPr/>
        </p:nvSpPr>
        <p:spPr>
          <a:xfrm>
            <a:off x="9333281" y="2350008"/>
            <a:ext cx="329184" cy="292608"/>
          </a:xfrm>
          <a:prstGeom prst="roundRect">
            <a:avLst>
              <a:gd name="adj" fmla="val 25000"/>
            </a:avLst>
          </a:prstGeom>
          <a:solidFill>
            <a:srgbClr val="2E74C6"/>
          </a:solidFill>
          <a:ln/>
        </p:spPr>
        <p:txBody>
          <a:bodyPr/>
          <a:lstStyle/>
          <a:p>
            <a:endParaRPr/>
          </a:p>
        </p:txBody>
      </p:sp>
      <p:sp>
        <p:nvSpPr>
          <p:cNvPr id="49" name="Text 46"/>
          <p:cNvSpPr txBox="1"/>
          <p:nvPr/>
        </p:nvSpPr>
        <p:spPr>
          <a:xfrm>
            <a:off x="9333281" y="2350008"/>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A</a:t>
            </a:r>
            <a:endParaRPr lang="en-US" sz="1400" dirty="0"/>
          </a:p>
        </p:txBody>
      </p:sp>
      <p:sp>
        <p:nvSpPr>
          <p:cNvPr id="50" name="Text 47"/>
          <p:cNvSpPr txBox="1"/>
          <p:nvPr/>
        </p:nvSpPr>
        <p:spPr>
          <a:xfrm>
            <a:off x="9744761" y="2212848"/>
            <a:ext cx="4297680" cy="56692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1. 고객이 말한 불만 원인은 무엇인가?</a:t>
            </a:r>
            <a:endParaRPr lang="en-US" sz="1400" dirty="0"/>
          </a:p>
        </p:txBody>
      </p:sp>
      <p:sp>
        <p:nvSpPr>
          <p:cNvPr id="51" name="Shape 48"/>
          <p:cNvSpPr/>
          <p:nvPr/>
        </p:nvSpPr>
        <p:spPr>
          <a:xfrm>
            <a:off x="9241841" y="2843784"/>
            <a:ext cx="4892040" cy="566928"/>
          </a:xfrm>
          <a:prstGeom prst="roundRect">
            <a:avLst>
              <a:gd name="adj" fmla="val 9677"/>
            </a:avLst>
          </a:prstGeom>
          <a:solidFill>
            <a:srgbClr val="FFFFFF"/>
          </a:solidFill>
          <a:ln w="12700">
            <a:solidFill>
              <a:srgbClr val="2E74C6"/>
            </a:solidFill>
            <a:prstDash val="solid"/>
          </a:ln>
        </p:spPr>
        <p:txBody>
          <a:bodyPr/>
          <a:lstStyle/>
          <a:p>
            <a:endParaRPr/>
          </a:p>
        </p:txBody>
      </p:sp>
      <p:sp>
        <p:nvSpPr>
          <p:cNvPr id="52" name="Shape 49"/>
          <p:cNvSpPr/>
          <p:nvPr/>
        </p:nvSpPr>
        <p:spPr>
          <a:xfrm>
            <a:off x="9333281" y="2980944"/>
            <a:ext cx="329184" cy="292608"/>
          </a:xfrm>
          <a:prstGeom prst="roundRect">
            <a:avLst>
              <a:gd name="adj" fmla="val 25000"/>
            </a:avLst>
          </a:prstGeom>
          <a:solidFill>
            <a:srgbClr val="2E74C6"/>
          </a:solidFill>
          <a:ln/>
        </p:spPr>
        <p:txBody>
          <a:bodyPr/>
          <a:lstStyle/>
          <a:p>
            <a:endParaRPr/>
          </a:p>
        </p:txBody>
      </p:sp>
      <p:sp>
        <p:nvSpPr>
          <p:cNvPr id="53" name="Text 50"/>
          <p:cNvSpPr txBox="1"/>
          <p:nvPr/>
        </p:nvSpPr>
        <p:spPr>
          <a:xfrm>
            <a:off x="9333281" y="2980944"/>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B</a:t>
            </a:r>
            <a:endParaRPr lang="en-US" sz="1400" dirty="0"/>
          </a:p>
        </p:txBody>
      </p:sp>
      <p:sp>
        <p:nvSpPr>
          <p:cNvPr id="54" name="Text 51"/>
          <p:cNvSpPr txBox="1"/>
          <p:nvPr/>
        </p:nvSpPr>
        <p:spPr>
          <a:xfrm>
            <a:off x="9744761" y="2843784"/>
            <a:ext cx="4297680" cy="56692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2. 상담사가 어떤 제안을 했는가?</a:t>
            </a:r>
            <a:endParaRPr lang="en-US" sz="1400" dirty="0"/>
          </a:p>
        </p:txBody>
      </p:sp>
      <p:sp>
        <p:nvSpPr>
          <p:cNvPr id="55" name="Shape 52"/>
          <p:cNvSpPr/>
          <p:nvPr/>
        </p:nvSpPr>
        <p:spPr>
          <a:xfrm>
            <a:off x="9241841" y="3474720"/>
            <a:ext cx="4892040" cy="566928"/>
          </a:xfrm>
          <a:prstGeom prst="roundRect">
            <a:avLst>
              <a:gd name="adj" fmla="val 9677"/>
            </a:avLst>
          </a:prstGeom>
          <a:solidFill>
            <a:srgbClr val="FFFFFF"/>
          </a:solidFill>
          <a:ln w="12700">
            <a:solidFill>
              <a:srgbClr val="2E74C6"/>
            </a:solidFill>
            <a:prstDash val="solid"/>
          </a:ln>
        </p:spPr>
        <p:txBody>
          <a:bodyPr/>
          <a:lstStyle/>
          <a:p>
            <a:endParaRPr/>
          </a:p>
        </p:txBody>
      </p:sp>
      <p:sp>
        <p:nvSpPr>
          <p:cNvPr id="56" name="Shape 53"/>
          <p:cNvSpPr/>
          <p:nvPr/>
        </p:nvSpPr>
        <p:spPr>
          <a:xfrm>
            <a:off x="9333281" y="3611880"/>
            <a:ext cx="329184" cy="292608"/>
          </a:xfrm>
          <a:prstGeom prst="roundRect">
            <a:avLst>
              <a:gd name="adj" fmla="val 25000"/>
            </a:avLst>
          </a:prstGeom>
          <a:solidFill>
            <a:srgbClr val="2E74C6"/>
          </a:solidFill>
          <a:ln/>
        </p:spPr>
        <p:txBody>
          <a:bodyPr/>
          <a:lstStyle/>
          <a:p>
            <a:endParaRPr/>
          </a:p>
        </p:txBody>
      </p:sp>
      <p:sp>
        <p:nvSpPr>
          <p:cNvPr id="57" name="Text 54"/>
          <p:cNvSpPr txBox="1"/>
          <p:nvPr/>
        </p:nvSpPr>
        <p:spPr>
          <a:xfrm>
            <a:off x="9333281" y="3611880"/>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B</a:t>
            </a:r>
            <a:endParaRPr lang="en-US" sz="1400" dirty="0"/>
          </a:p>
        </p:txBody>
      </p:sp>
      <p:sp>
        <p:nvSpPr>
          <p:cNvPr id="58" name="Text 55"/>
          <p:cNvSpPr txBox="1"/>
          <p:nvPr/>
        </p:nvSpPr>
        <p:spPr>
          <a:xfrm>
            <a:off x="9744761" y="3474720"/>
            <a:ext cx="4297680" cy="56692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3. 고객은 그 제안을 수용했는가, 거절했는가, 보류했는가? 그 이유는?</a:t>
            </a:r>
            <a:endParaRPr lang="en-US" sz="1400" dirty="0"/>
          </a:p>
        </p:txBody>
      </p:sp>
      <p:sp>
        <p:nvSpPr>
          <p:cNvPr id="59" name="Shape 56"/>
          <p:cNvSpPr/>
          <p:nvPr/>
        </p:nvSpPr>
        <p:spPr>
          <a:xfrm>
            <a:off x="9241841" y="4105656"/>
            <a:ext cx="4892040" cy="566928"/>
          </a:xfrm>
          <a:prstGeom prst="roundRect">
            <a:avLst>
              <a:gd name="adj" fmla="val 9677"/>
            </a:avLst>
          </a:prstGeom>
          <a:solidFill>
            <a:srgbClr val="FFFFFF"/>
          </a:solidFill>
          <a:ln w="12700">
            <a:solidFill>
              <a:srgbClr val="2E74C6"/>
            </a:solidFill>
            <a:prstDash val="solid"/>
          </a:ln>
        </p:spPr>
        <p:txBody>
          <a:bodyPr/>
          <a:lstStyle/>
          <a:p>
            <a:endParaRPr/>
          </a:p>
        </p:txBody>
      </p:sp>
      <p:sp>
        <p:nvSpPr>
          <p:cNvPr id="60" name="Shape 57"/>
          <p:cNvSpPr/>
          <p:nvPr/>
        </p:nvSpPr>
        <p:spPr>
          <a:xfrm>
            <a:off x="9333281" y="4242816"/>
            <a:ext cx="329184" cy="292608"/>
          </a:xfrm>
          <a:prstGeom prst="roundRect">
            <a:avLst>
              <a:gd name="adj" fmla="val 25000"/>
            </a:avLst>
          </a:prstGeom>
          <a:solidFill>
            <a:srgbClr val="2E74C6"/>
          </a:solidFill>
          <a:ln/>
        </p:spPr>
        <p:txBody>
          <a:bodyPr/>
          <a:lstStyle/>
          <a:p>
            <a:endParaRPr/>
          </a:p>
        </p:txBody>
      </p:sp>
      <p:sp>
        <p:nvSpPr>
          <p:cNvPr id="61" name="Text 58"/>
          <p:cNvSpPr txBox="1"/>
          <p:nvPr/>
        </p:nvSpPr>
        <p:spPr>
          <a:xfrm>
            <a:off x="9333281" y="4242816"/>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a:t>
            </a:r>
            <a:endParaRPr lang="en-US" sz="1400" dirty="0"/>
          </a:p>
        </p:txBody>
      </p:sp>
      <p:sp>
        <p:nvSpPr>
          <p:cNvPr id="62" name="Text 59"/>
          <p:cNvSpPr txBox="1"/>
          <p:nvPr/>
        </p:nvSpPr>
        <p:spPr>
          <a:xfrm>
            <a:off x="9744761" y="4105656"/>
            <a:ext cx="4297680" cy="56692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4. 고객은 어떤 조건이 되면 다시 검토하겠다고 했는가?</a:t>
            </a:r>
            <a:endParaRPr lang="en-US" sz="1400" dirty="0"/>
          </a:p>
        </p:txBody>
      </p:sp>
      <p:sp>
        <p:nvSpPr>
          <p:cNvPr id="63" name="Shape 60"/>
          <p:cNvSpPr/>
          <p:nvPr/>
        </p:nvSpPr>
        <p:spPr>
          <a:xfrm>
            <a:off x="9241841" y="4736592"/>
            <a:ext cx="4892040" cy="566928"/>
          </a:xfrm>
          <a:prstGeom prst="roundRect">
            <a:avLst>
              <a:gd name="adj" fmla="val 9677"/>
            </a:avLst>
          </a:prstGeom>
          <a:solidFill>
            <a:srgbClr val="FFFFFF"/>
          </a:solidFill>
          <a:ln w="12700">
            <a:solidFill>
              <a:srgbClr val="2E74C6"/>
            </a:solidFill>
            <a:prstDash val="solid"/>
          </a:ln>
        </p:spPr>
        <p:txBody>
          <a:bodyPr/>
          <a:lstStyle/>
          <a:p>
            <a:endParaRPr/>
          </a:p>
        </p:txBody>
      </p:sp>
      <p:sp>
        <p:nvSpPr>
          <p:cNvPr id="64" name="Shape 61"/>
          <p:cNvSpPr/>
          <p:nvPr/>
        </p:nvSpPr>
        <p:spPr>
          <a:xfrm>
            <a:off x="9333281" y="4873752"/>
            <a:ext cx="329184" cy="292608"/>
          </a:xfrm>
          <a:prstGeom prst="roundRect">
            <a:avLst>
              <a:gd name="adj" fmla="val 25000"/>
            </a:avLst>
          </a:prstGeom>
          <a:solidFill>
            <a:srgbClr val="2E74C6"/>
          </a:solidFill>
          <a:ln/>
        </p:spPr>
        <p:txBody>
          <a:bodyPr/>
          <a:lstStyle/>
          <a:p>
            <a:endParaRPr/>
          </a:p>
        </p:txBody>
      </p:sp>
      <p:sp>
        <p:nvSpPr>
          <p:cNvPr id="65" name="Text 62"/>
          <p:cNvSpPr txBox="1"/>
          <p:nvPr/>
        </p:nvSpPr>
        <p:spPr>
          <a:xfrm>
            <a:off x="9333281" y="4873752"/>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D</a:t>
            </a:r>
            <a:endParaRPr lang="en-US" sz="1400" dirty="0"/>
          </a:p>
        </p:txBody>
      </p:sp>
      <p:sp>
        <p:nvSpPr>
          <p:cNvPr id="66" name="Text 63"/>
          <p:cNvSpPr txBox="1"/>
          <p:nvPr/>
        </p:nvSpPr>
        <p:spPr>
          <a:xfrm>
            <a:off x="9744761" y="4736592"/>
            <a:ext cx="4297680" cy="56692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5. 이 상담은 같은 고객의 어떤 이전 상담과 이어지는가?</a:t>
            </a:r>
            <a:endParaRPr lang="en-US" sz="1400" dirty="0"/>
          </a:p>
        </p:txBody>
      </p:sp>
      <p:sp>
        <p:nvSpPr>
          <p:cNvPr id="67" name="Shape 64"/>
          <p:cNvSpPr/>
          <p:nvPr/>
        </p:nvSpPr>
        <p:spPr>
          <a:xfrm>
            <a:off x="509321" y="5559552"/>
            <a:ext cx="6675120" cy="841248"/>
          </a:xfrm>
          <a:prstGeom prst="roundRect">
            <a:avLst>
              <a:gd name="adj" fmla="val 8696"/>
            </a:avLst>
          </a:prstGeom>
          <a:solidFill>
            <a:srgbClr val="F5F8FC"/>
          </a:solidFill>
          <a:ln w="12700">
            <a:solidFill>
              <a:srgbClr val="D9E0EC"/>
            </a:solidFill>
            <a:prstDash val="solid"/>
          </a:ln>
        </p:spPr>
        <p:txBody>
          <a:bodyPr/>
          <a:lstStyle/>
          <a:p>
            <a:endParaRPr/>
          </a:p>
        </p:txBody>
      </p:sp>
      <p:sp>
        <p:nvSpPr>
          <p:cNvPr id="68" name="Text 65"/>
          <p:cNvSpPr txBox="1"/>
          <p:nvPr/>
        </p:nvSpPr>
        <p:spPr>
          <a:xfrm>
            <a:off x="646481" y="5559552"/>
            <a:ext cx="6400800" cy="841248"/>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답이 될 이름은 쓰지 않음</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피함: "Complaint 노드의 cause는?"   권함: "고객이 말한 불만 원인은?"</a:t>
            </a:r>
            <a:endParaRPr lang="en-US" sz="1400" dirty="0"/>
          </a:p>
        </p:txBody>
      </p:sp>
      <p:sp>
        <p:nvSpPr>
          <p:cNvPr id="69" name="Shape 66"/>
          <p:cNvSpPr/>
          <p:nvPr/>
        </p:nvSpPr>
        <p:spPr>
          <a:xfrm>
            <a:off x="7458761" y="5559552"/>
            <a:ext cx="6675120" cy="841248"/>
          </a:xfrm>
          <a:prstGeom prst="roundRect">
            <a:avLst>
              <a:gd name="adj" fmla="val 8696"/>
            </a:avLst>
          </a:prstGeom>
          <a:solidFill>
            <a:srgbClr val="F5F8FC"/>
          </a:solidFill>
          <a:ln w="12700">
            <a:solidFill>
              <a:srgbClr val="D9E0EC"/>
            </a:solidFill>
            <a:prstDash val="solid"/>
          </a:ln>
        </p:spPr>
        <p:txBody>
          <a:bodyPr/>
          <a:lstStyle/>
          <a:p>
            <a:endParaRPr/>
          </a:p>
        </p:txBody>
      </p:sp>
      <p:sp>
        <p:nvSpPr>
          <p:cNvPr id="70" name="Text 67"/>
          <p:cNvSpPr txBox="1"/>
          <p:nvPr/>
        </p:nvSpPr>
        <p:spPr>
          <a:xfrm>
            <a:off x="7595921" y="5559552"/>
            <a:ext cx="6400800" cy="841248"/>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다른 문서도 같은 방법(각 5개)</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약관: 어떤 조건을 채우면 어떤 면제나 혜택을 받는가?</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혜택: 혜택의 한도와 제외 대상은 무엇인가?</a:t>
            </a:r>
            <a:endParaRPr lang="en-US" sz="1400" dirty="0"/>
          </a:p>
        </p:txBody>
      </p:sp>
      <p:sp>
        <p:nvSpPr>
          <p:cNvPr id="71" name="Shape 68"/>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txBody>
          <a:bodyPr/>
          <a:lstStyle/>
          <a:p>
            <a:endParaRPr/>
          </a:p>
        </p:txBody>
      </p:sp>
      <p:sp>
        <p:nvSpPr>
          <p:cNvPr id="72" name="Shape 69"/>
          <p:cNvSpPr/>
          <p:nvPr/>
        </p:nvSpPr>
        <p:spPr>
          <a:xfrm>
            <a:off x="509321" y="6510528"/>
            <a:ext cx="82296" cy="658368"/>
          </a:xfrm>
          <a:prstGeom prst="rect">
            <a:avLst/>
          </a:prstGeom>
          <a:solidFill>
            <a:srgbClr val="2E74C6"/>
          </a:solidFill>
          <a:ln/>
        </p:spPr>
        <p:txBody>
          <a:bodyPr/>
          <a:lstStyle/>
          <a:p>
            <a:endParaRPr/>
          </a:p>
        </p:txBody>
      </p:sp>
      <p:sp>
        <p:nvSpPr>
          <p:cNvPr id="73" name="Text 70"/>
          <p:cNvSpPr txBox="1"/>
          <p:nvPr/>
        </p:nvSpPr>
        <p:spPr>
          <a:xfrm>
            <a:off x="737921" y="6510528"/>
            <a:ext cx="13258800" cy="65836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초안은 LLM이 사용자 질문을 보고 작성하고 사람이 검토해 확정함. 개수는 정해 두지 않고 질문 유형마다 1개 이상</a:t>
            </a:r>
            <a:endParaRPr lang="en-US" sz="1600" dirty="0"/>
          </a:p>
        </p:txBody>
      </p:sp>
      <p:sp>
        <p:nvSpPr>
          <p:cNvPr id="74" name="Shape 71"/>
          <p:cNvSpPr/>
          <p:nvPr/>
        </p:nvSpPr>
        <p:spPr>
          <a:xfrm>
            <a:off x="509321" y="7388352"/>
            <a:ext cx="13624560" cy="0"/>
          </a:xfrm>
          <a:prstGeom prst="line">
            <a:avLst/>
          </a:prstGeom>
          <a:noFill/>
          <a:ln w="12700">
            <a:solidFill>
              <a:srgbClr val="E9ECF3"/>
            </a:solidFill>
            <a:prstDash val="solid"/>
          </a:ln>
        </p:spPr>
        <p:txBody>
          <a:bodyPr/>
          <a:lstStyle/>
          <a:p>
            <a:endParaRPr/>
          </a:p>
        </p:txBody>
      </p:sp>
      <p:sp>
        <p:nvSpPr>
          <p:cNvPr id="75" name="Text 72"/>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근거: D3 상담 이력 안내문(검색 평가 질문), RAGAS 평가셋 Q15와 Q16, 역량 질문은 스키마 후보 실험에 쓴 문장 그대로</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단계 ② 스키마 후보 넓게 뽑기(예시: 상담 이력)</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묶음별 표본을 1건씩 SchemaFromTextExtractor에 넣고(역량 질문만 examples로), 나온 이름을 모두 모음</a:t>
            </a:r>
            <a:endParaRPr lang="en-US" sz="1800" dirty="0"/>
          </a:p>
        </p:txBody>
      </p:sp>
      <p:sp>
        <p:nvSpPr>
          <p:cNvPr id="5" name="Shape 2"/>
          <p:cNvSpPr/>
          <p:nvPr/>
        </p:nvSpPr>
        <p:spPr>
          <a:xfrm>
            <a:off x="509321" y="1737360"/>
            <a:ext cx="4206240" cy="365760"/>
          </a:xfrm>
          <a:prstGeom prst="roundRect">
            <a:avLst>
              <a:gd name="adj" fmla="val 12500"/>
            </a:avLst>
          </a:prstGeom>
          <a:solidFill>
            <a:srgbClr val="404155"/>
          </a:solidFill>
          <a:ln/>
        </p:spPr>
        <p:txBody>
          <a:bodyPr/>
          <a:lstStyle/>
          <a:p>
            <a:endParaRPr/>
          </a:p>
        </p:txBody>
      </p:sp>
      <p:sp>
        <p:nvSpPr>
          <p:cNvPr id="6" name="Text 3"/>
          <p:cNvSpPr txBox="1"/>
          <p:nvPr/>
        </p:nvSpPr>
        <p:spPr>
          <a:xfrm>
            <a:off x="509321" y="1737360"/>
            <a:ext cx="420624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묶음과 표본 수</a:t>
            </a:r>
            <a:endParaRPr lang="en-US" sz="1600" dirty="0"/>
          </a:p>
        </p:txBody>
      </p:sp>
      <p:sp>
        <p:nvSpPr>
          <p:cNvPr id="7" name="Shape 4"/>
          <p:cNvSpPr/>
          <p:nvPr/>
        </p:nvSpPr>
        <p:spPr>
          <a:xfrm>
            <a:off x="509321" y="2212848"/>
            <a:ext cx="4206240" cy="1097280"/>
          </a:xfrm>
          <a:prstGeom prst="roundRect">
            <a:avLst>
              <a:gd name="adj" fmla="val 5000"/>
            </a:avLst>
          </a:prstGeom>
          <a:solidFill>
            <a:srgbClr val="FFFFFF"/>
          </a:solidFill>
          <a:ln w="12700">
            <a:solidFill>
              <a:srgbClr val="D9E0EC"/>
            </a:solidFill>
            <a:prstDash val="solid"/>
          </a:ln>
        </p:spPr>
        <p:txBody>
          <a:bodyPr/>
          <a:lstStyle/>
          <a:p>
            <a:endParaRPr/>
          </a:p>
        </p:txBody>
      </p:sp>
      <p:sp>
        <p:nvSpPr>
          <p:cNvPr id="8" name="Shape 5"/>
          <p:cNvSpPr/>
          <p:nvPr/>
        </p:nvSpPr>
        <p:spPr>
          <a:xfrm>
            <a:off x="600761" y="2304288"/>
            <a:ext cx="731520" cy="914400"/>
          </a:xfrm>
          <a:prstGeom prst="roundRect">
            <a:avLst>
              <a:gd name="adj" fmla="val 7500"/>
            </a:avLst>
          </a:prstGeom>
          <a:solidFill>
            <a:srgbClr val="1E2A5C"/>
          </a:solidFill>
          <a:ln/>
        </p:spPr>
        <p:txBody>
          <a:bodyPr/>
          <a:lstStyle/>
          <a:p>
            <a:endParaRPr/>
          </a:p>
        </p:txBody>
      </p:sp>
      <p:sp>
        <p:nvSpPr>
          <p:cNvPr id="9" name="Text 6"/>
          <p:cNvSpPr txBox="1"/>
          <p:nvPr/>
        </p:nvSpPr>
        <p:spPr>
          <a:xfrm>
            <a:off x="600761" y="2304288"/>
            <a:ext cx="731520" cy="914400"/>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약관</a:t>
            </a:r>
            <a:endParaRPr lang="en-US" sz="1500" dirty="0"/>
          </a:p>
        </p:txBody>
      </p:sp>
      <p:sp>
        <p:nvSpPr>
          <p:cNvPr id="10" name="Text 7"/>
          <p:cNvSpPr txBox="1"/>
          <p:nvPr/>
        </p:nvSpPr>
        <p:spPr>
          <a:xfrm>
            <a:off x="1442009" y="2212848"/>
            <a:ext cx="3182112" cy="1097280"/>
          </a:xfrm>
          <a:prstGeom prst="rect">
            <a:avLst/>
          </a:prstGeom>
          <a:noFill/>
          <a:ln/>
        </p:spPr>
        <p:txBody>
          <a:bodyPr wrap="square" lIns="0" tIns="0" rIns="0" bIns="0" rtlCol="0" anchor="ctr"/>
          <a:lstStyle/>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10청크 → 묶음 1개</a:t>
            </a:r>
            <a:endParaRPr lang="en-US" sz="1400" dirty="0"/>
          </a:p>
          <a:p>
            <a:pPr marL="0" indent="0">
              <a:spcAft>
                <a:spcPts val="300"/>
              </a:spcAft>
              <a:buNone/>
            </a:pPr>
            <a:r>
              <a:rPr lang="en-US" sz="1400" b="1" dirty="0">
                <a:solidFill>
                  <a:srgbClr val="2E74C6"/>
                </a:solidFill>
                <a:latin typeface="Pretendard" pitchFamily="34" charset="0"/>
                <a:ea typeface="Pretendard" pitchFamily="34" charset="-122"/>
                <a:cs typeface="Pretendard" pitchFamily="34" charset="-120"/>
              </a:rPr>
              <a:t>10건 전부 봄</a:t>
            </a:r>
            <a:endParaRPr lang="en-US" sz="1400" dirty="0"/>
          </a:p>
        </p:txBody>
      </p:sp>
      <p:sp>
        <p:nvSpPr>
          <p:cNvPr id="11" name="Shape 8"/>
          <p:cNvSpPr/>
          <p:nvPr/>
        </p:nvSpPr>
        <p:spPr>
          <a:xfrm>
            <a:off x="509321" y="3401568"/>
            <a:ext cx="4206240" cy="1097280"/>
          </a:xfrm>
          <a:prstGeom prst="roundRect">
            <a:avLst>
              <a:gd name="adj" fmla="val 5000"/>
            </a:avLst>
          </a:prstGeom>
          <a:solidFill>
            <a:srgbClr val="FFFFFF"/>
          </a:solidFill>
          <a:ln w="12700">
            <a:solidFill>
              <a:srgbClr val="D9E0EC"/>
            </a:solidFill>
            <a:prstDash val="solid"/>
          </a:ln>
        </p:spPr>
        <p:txBody>
          <a:bodyPr/>
          <a:lstStyle/>
          <a:p>
            <a:endParaRPr/>
          </a:p>
        </p:txBody>
      </p:sp>
      <p:sp>
        <p:nvSpPr>
          <p:cNvPr id="12" name="Shape 9"/>
          <p:cNvSpPr/>
          <p:nvPr/>
        </p:nvSpPr>
        <p:spPr>
          <a:xfrm>
            <a:off x="600761" y="3493008"/>
            <a:ext cx="731520" cy="914400"/>
          </a:xfrm>
          <a:prstGeom prst="roundRect">
            <a:avLst>
              <a:gd name="adj" fmla="val 7500"/>
            </a:avLst>
          </a:prstGeom>
          <a:solidFill>
            <a:srgbClr val="1E2A5C"/>
          </a:solidFill>
          <a:ln/>
        </p:spPr>
        <p:txBody>
          <a:bodyPr/>
          <a:lstStyle/>
          <a:p>
            <a:endParaRPr/>
          </a:p>
        </p:txBody>
      </p:sp>
      <p:sp>
        <p:nvSpPr>
          <p:cNvPr id="13" name="Text 10"/>
          <p:cNvSpPr txBox="1"/>
          <p:nvPr/>
        </p:nvSpPr>
        <p:spPr>
          <a:xfrm>
            <a:off x="600761" y="3493008"/>
            <a:ext cx="731520" cy="914400"/>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상담</a:t>
            </a:r>
            <a:endParaRPr lang="en-US" sz="1500" dirty="0"/>
          </a:p>
        </p:txBody>
      </p:sp>
      <p:sp>
        <p:nvSpPr>
          <p:cNvPr id="14" name="Text 11"/>
          <p:cNvSpPr txBox="1"/>
          <p:nvPr/>
        </p:nvSpPr>
        <p:spPr>
          <a:xfrm>
            <a:off x="1442009" y="3401568"/>
            <a:ext cx="3182112" cy="1097280"/>
          </a:xfrm>
          <a:prstGeom prst="rect">
            <a:avLst/>
          </a:prstGeom>
          <a:noFill/>
          <a:ln/>
        </p:spPr>
        <p:txBody>
          <a:bodyPr wrap="square" lIns="0" tIns="0" rIns="0" bIns="0" rtlCol="0" anchor="ctr"/>
          <a:lstStyle/>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48건 → 고객 세그먼트 묶음 6개</a:t>
            </a:r>
            <a:endParaRPr lang="en-US" sz="1400" dirty="0"/>
          </a:p>
          <a:p>
            <a:pPr marL="0" indent="0">
              <a:spcAft>
                <a:spcPts val="300"/>
              </a:spcAft>
              <a:buNone/>
            </a:pPr>
            <a:r>
              <a:rPr lang="en-US" sz="1400" b="1" dirty="0">
                <a:solidFill>
                  <a:srgbClr val="2E74C6"/>
                </a:solidFill>
                <a:latin typeface="Pretendard" pitchFamily="34" charset="0"/>
                <a:ea typeface="Pretendard" pitchFamily="34" charset="-122"/>
                <a:cs typeface="Pretendard" pitchFamily="34" charset="-120"/>
              </a:rPr>
              <a:t>시작 12건(묶음마다 2건), 상한 30건</a:t>
            </a:r>
            <a:endParaRPr lang="en-US" sz="1400" dirty="0"/>
          </a:p>
        </p:txBody>
      </p:sp>
      <p:sp>
        <p:nvSpPr>
          <p:cNvPr id="15" name="Shape 12"/>
          <p:cNvSpPr/>
          <p:nvPr/>
        </p:nvSpPr>
        <p:spPr>
          <a:xfrm>
            <a:off x="509321" y="4590288"/>
            <a:ext cx="4206240" cy="1097280"/>
          </a:xfrm>
          <a:prstGeom prst="roundRect">
            <a:avLst>
              <a:gd name="adj" fmla="val 5000"/>
            </a:avLst>
          </a:prstGeom>
          <a:solidFill>
            <a:srgbClr val="FFFFFF"/>
          </a:solidFill>
          <a:ln w="12700">
            <a:solidFill>
              <a:srgbClr val="D9E0EC"/>
            </a:solidFill>
            <a:prstDash val="solid"/>
          </a:ln>
        </p:spPr>
        <p:txBody>
          <a:bodyPr/>
          <a:lstStyle/>
          <a:p>
            <a:endParaRPr/>
          </a:p>
        </p:txBody>
      </p:sp>
      <p:sp>
        <p:nvSpPr>
          <p:cNvPr id="16" name="Shape 13"/>
          <p:cNvSpPr/>
          <p:nvPr/>
        </p:nvSpPr>
        <p:spPr>
          <a:xfrm>
            <a:off x="600761" y="4681728"/>
            <a:ext cx="731520" cy="914400"/>
          </a:xfrm>
          <a:prstGeom prst="roundRect">
            <a:avLst>
              <a:gd name="adj" fmla="val 7500"/>
            </a:avLst>
          </a:prstGeom>
          <a:solidFill>
            <a:srgbClr val="1E2A5C"/>
          </a:solidFill>
          <a:ln/>
        </p:spPr>
        <p:txBody>
          <a:bodyPr/>
          <a:lstStyle/>
          <a:p>
            <a:endParaRPr/>
          </a:p>
        </p:txBody>
      </p:sp>
      <p:sp>
        <p:nvSpPr>
          <p:cNvPr id="17" name="Text 14"/>
          <p:cNvSpPr txBox="1"/>
          <p:nvPr/>
        </p:nvSpPr>
        <p:spPr>
          <a:xfrm>
            <a:off x="600761" y="4681728"/>
            <a:ext cx="731520" cy="914400"/>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혜택</a:t>
            </a:r>
            <a:endParaRPr lang="en-US" sz="1500" dirty="0"/>
          </a:p>
        </p:txBody>
      </p:sp>
      <p:sp>
        <p:nvSpPr>
          <p:cNvPr id="18" name="Text 15"/>
          <p:cNvSpPr txBox="1"/>
          <p:nvPr/>
        </p:nvSpPr>
        <p:spPr>
          <a:xfrm>
            <a:off x="1442009" y="4590288"/>
            <a:ext cx="3182112" cy="1097280"/>
          </a:xfrm>
          <a:prstGeom prst="rect">
            <a:avLst/>
          </a:prstGeom>
          <a:noFill/>
          <a:ln/>
        </p:spPr>
        <p:txBody>
          <a:bodyPr wrap="square" lIns="0" tIns="0" rIns="0" bIns="0" rtlCol="0" anchor="ctr"/>
          <a:lstStyle/>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160청크 → 묶음 4개(공통 안내 4, 참고 카드 7, 카드 개요 64, 혜택 상세 85)</a:t>
            </a:r>
            <a:endParaRPr lang="en-US" sz="1400" dirty="0"/>
          </a:p>
          <a:p>
            <a:pPr marL="0" indent="0">
              <a:spcAft>
                <a:spcPts val="300"/>
              </a:spcAft>
              <a:buNone/>
            </a:pPr>
            <a:r>
              <a:rPr lang="en-US" sz="1400" b="1" dirty="0">
                <a:solidFill>
                  <a:srgbClr val="2E74C6"/>
                </a:solidFill>
                <a:latin typeface="Pretendard" pitchFamily="34" charset="0"/>
                <a:ea typeface="Pretendard" pitchFamily="34" charset="-122"/>
                <a:cs typeface="Pretendard" pitchFamily="34" charset="-120"/>
              </a:rPr>
              <a:t>시작 4, 7, 10, 10건, 묶음마다 상한 30건</a:t>
            </a:r>
            <a:endParaRPr lang="en-US" sz="1400" dirty="0"/>
          </a:p>
        </p:txBody>
      </p:sp>
      <p:sp>
        <p:nvSpPr>
          <p:cNvPr id="20" name="Shape 17"/>
          <p:cNvSpPr/>
          <p:nvPr/>
        </p:nvSpPr>
        <p:spPr>
          <a:xfrm>
            <a:off x="4989881" y="1737360"/>
            <a:ext cx="4846320" cy="365760"/>
          </a:xfrm>
          <a:prstGeom prst="roundRect">
            <a:avLst>
              <a:gd name="adj" fmla="val 12500"/>
            </a:avLst>
          </a:prstGeom>
          <a:solidFill>
            <a:srgbClr val="1E2A5C"/>
          </a:solidFill>
          <a:ln/>
        </p:spPr>
        <p:txBody>
          <a:bodyPr/>
          <a:lstStyle/>
          <a:p>
            <a:endParaRPr/>
          </a:p>
        </p:txBody>
      </p:sp>
      <p:sp>
        <p:nvSpPr>
          <p:cNvPr id="21" name="Text 18"/>
          <p:cNvSpPr txBox="1"/>
          <p:nvPr/>
        </p:nvSpPr>
        <p:spPr>
          <a:xfrm>
            <a:off x="4989881" y="1737360"/>
            <a:ext cx="484632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실제 1건: C-20260701-016(타사 관리 절차 비교)</a:t>
            </a:r>
            <a:endParaRPr lang="en-US" sz="1600" dirty="0"/>
          </a:p>
        </p:txBody>
      </p:sp>
      <p:sp>
        <p:nvSpPr>
          <p:cNvPr id="22" name="Shape 19"/>
          <p:cNvSpPr/>
          <p:nvPr/>
        </p:nvSpPr>
        <p:spPr>
          <a:xfrm>
            <a:off x="4989881" y="2212848"/>
            <a:ext cx="4846320" cy="1627632"/>
          </a:xfrm>
          <a:prstGeom prst="roundRect">
            <a:avLst>
              <a:gd name="adj" fmla="val 3371"/>
            </a:avLst>
          </a:prstGeom>
          <a:solidFill>
            <a:srgbClr val="F5F8FC"/>
          </a:solidFill>
          <a:ln w="12700">
            <a:solidFill>
              <a:srgbClr val="D9E0EC"/>
            </a:solidFill>
            <a:prstDash val="solid"/>
          </a:ln>
        </p:spPr>
        <p:txBody>
          <a:bodyPr/>
          <a:lstStyle/>
          <a:p>
            <a:endParaRPr/>
          </a:p>
        </p:txBody>
      </p:sp>
      <p:sp>
        <p:nvSpPr>
          <p:cNvPr id="23" name="Text 20"/>
          <p:cNvSpPr txBox="1"/>
          <p:nvPr/>
        </p:nvSpPr>
        <p:spPr>
          <a:xfrm>
            <a:off x="5099609" y="2249424"/>
            <a:ext cx="4626864" cy="155448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고객: 전환 신청은 아직 안 했어요. 매달 신청을 반복해야 하는 게 불만의 원인이에요.</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상담사: 지금 카드를 유지하시면 자주 쓰시는 곳 할인을 늘릴 수 있는지 확인해 볼까요?</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고객: 그건 다음 결제일이 지나고 다시 볼게요. …</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고객: 2026-06-26 상담 C-20260626-011과 이어지는 기록으로 남겨 주세요.</a:t>
            </a:r>
            <a:endParaRPr lang="en-US" sz="1400" dirty="0"/>
          </a:p>
        </p:txBody>
      </p:sp>
      <p:sp>
        <p:nvSpPr>
          <p:cNvPr id="24" name="Shape 21"/>
          <p:cNvSpPr/>
          <p:nvPr/>
        </p:nvSpPr>
        <p:spPr>
          <a:xfrm>
            <a:off x="5218481" y="3858768"/>
            <a:ext cx="0" cy="274320"/>
          </a:xfrm>
          <a:prstGeom prst="line">
            <a:avLst/>
          </a:prstGeom>
          <a:noFill/>
          <a:ln w="25400">
            <a:solidFill>
              <a:srgbClr val="1E2A5C"/>
            </a:solidFill>
            <a:prstDash val="solid"/>
            <a:tailEnd type="triangle"/>
          </a:ln>
        </p:spPr>
        <p:txBody>
          <a:bodyPr/>
          <a:lstStyle/>
          <a:p>
            <a:endParaRPr/>
          </a:p>
        </p:txBody>
      </p:sp>
      <p:sp>
        <p:nvSpPr>
          <p:cNvPr id="25" name="Text 22"/>
          <p:cNvSpPr txBox="1"/>
          <p:nvPr/>
        </p:nvSpPr>
        <p:spPr>
          <a:xfrm>
            <a:off x="5373929" y="3858768"/>
            <a:ext cx="4462272"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SchemaFromTextExtractor(examples = 역량 질문)</a:t>
            </a:r>
            <a:endParaRPr lang="en-US" sz="1400" dirty="0"/>
          </a:p>
        </p:txBody>
      </p:sp>
      <p:sp>
        <p:nvSpPr>
          <p:cNvPr id="26" name="Shape 23"/>
          <p:cNvSpPr/>
          <p:nvPr/>
        </p:nvSpPr>
        <p:spPr>
          <a:xfrm>
            <a:off x="4989881" y="4169664"/>
            <a:ext cx="4846320" cy="2212848"/>
          </a:xfrm>
          <a:prstGeom prst="roundRect">
            <a:avLst>
              <a:gd name="adj" fmla="val 2479"/>
            </a:avLst>
          </a:prstGeom>
          <a:solidFill>
            <a:srgbClr val="FFFFFF"/>
          </a:solidFill>
          <a:ln w="12700">
            <a:solidFill>
              <a:srgbClr val="2E74C6"/>
            </a:solidFill>
            <a:prstDash val="solid"/>
          </a:ln>
        </p:spPr>
        <p:txBody>
          <a:bodyPr/>
          <a:lstStyle/>
          <a:p>
            <a:endParaRPr/>
          </a:p>
        </p:txBody>
      </p:sp>
      <p:sp>
        <p:nvSpPr>
          <p:cNvPr id="27" name="Text 24"/>
          <p:cNvSpPr txBox="1"/>
          <p:nvPr/>
        </p:nvSpPr>
        <p:spPr>
          <a:xfrm>
            <a:off x="5099609" y="4224528"/>
            <a:ext cx="274320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나온 노드 타입 6개</a:t>
            </a:r>
            <a:endParaRPr lang="en-US" sz="1400" dirty="0"/>
          </a:p>
        </p:txBody>
      </p:sp>
      <p:sp>
        <p:nvSpPr>
          <p:cNvPr id="28" name="Shape 25"/>
          <p:cNvSpPr/>
          <p:nvPr/>
        </p:nvSpPr>
        <p:spPr>
          <a:xfrm>
            <a:off x="5099609" y="4553712"/>
            <a:ext cx="969264" cy="310896"/>
          </a:xfrm>
          <a:prstGeom prst="roundRect">
            <a:avLst>
              <a:gd name="adj" fmla="val 23529"/>
            </a:avLst>
          </a:prstGeom>
          <a:solidFill>
            <a:srgbClr val="F5F8FC"/>
          </a:solidFill>
          <a:ln/>
        </p:spPr>
        <p:txBody>
          <a:bodyPr/>
          <a:lstStyle/>
          <a:p>
            <a:endParaRPr/>
          </a:p>
        </p:txBody>
      </p:sp>
      <p:sp>
        <p:nvSpPr>
          <p:cNvPr id="29" name="Text 26"/>
          <p:cNvSpPr txBox="1"/>
          <p:nvPr/>
        </p:nvSpPr>
        <p:spPr>
          <a:xfrm>
            <a:off x="5099609" y="4553712"/>
            <a:ext cx="969264"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Customer</a:t>
            </a:r>
            <a:endParaRPr lang="en-US" sz="1400" dirty="0"/>
          </a:p>
        </p:txBody>
      </p:sp>
      <p:sp>
        <p:nvSpPr>
          <p:cNvPr id="30" name="Shape 27"/>
          <p:cNvSpPr/>
          <p:nvPr/>
        </p:nvSpPr>
        <p:spPr>
          <a:xfrm>
            <a:off x="6160313" y="4553712"/>
            <a:ext cx="1257300" cy="310896"/>
          </a:xfrm>
          <a:prstGeom prst="roundRect">
            <a:avLst>
              <a:gd name="adj" fmla="val 23529"/>
            </a:avLst>
          </a:prstGeom>
          <a:solidFill>
            <a:srgbClr val="F5F8FC"/>
          </a:solidFill>
          <a:ln/>
        </p:spPr>
        <p:txBody>
          <a:bodyPr/>
          <a:lstStyle/>
          <a:p>
            <a:endParaRPr/>
          </a:p>
        </p:txBody>
      </p:sp>
      <p:sp>
        <p:nvSpPr>
          <p:cNvPr id="31" name="Text 28"/>
          <p:cNvSpPr txBox="1"/>
          <p:nvPr/>
        </p:nvSpPr>
        <p:spPr>
          <a:xfrm>
            <a:off x="6160313" y="4553712"/>
            <a:ext cx="1257300"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Transaction</a:t>
            </a:r>
            <a:endParaRPr lang="en-US" sz="1400" dirty="0"/>
          </a:p>
        </p:txBody>
      </p:sp>
      <p:sp>
        <p:nvSpPr>
          <p:cNvPr id="32" name="Shape 29"/>
          <p:cNvSpPr/>
          <p:nvPr/>
        </p:nvSpPr>
        <p:spPr>
          <a:xfrm>
            <a:off x="7509053" y="4553712"/>
            <a:ext cx="873252" cy="310896"/>
          </a:xfrm>
          <a:prstGeom prst="roundRect">
            <a:avLst>
              <a:gd name="adj" fmla="val 23529"/>
            </a:avLst>
          </a:prstGeom>
          <a:solidFill>
            <a:srgbClr val="F5F8FC"/>
          </a:solidFill>
          <a:ln/>
        </p:spPr>
        <p:txBody>
          <a:bodyPr/>
          <a:lstStyle/>
          <a:p>
            <a:endParaRPr/>
          </a:p>
        </p:txBody>
      </p:sp>
      <p:sp>
        <p:nvSpPr>
          <p:cNvPr id="33" name="Text 30"/>
          <p:cNvSpPr txBox="1"/>
          <p:nvPr/>
        </p:nvSpPr>
        <p:spPr>
          <a:xfrm>
            <a:off x="7509053" y="4553712"/>
            <a:ext cx="873252"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Request</a:t>
            </a:r>
            <a:endParaRPr lang="en-US" sz="1400" dirty="0"/>
          </a:p>
        </p:txBody>
      </p:sp>
      <p:sp>
        <p:nvSpPr>
          <p:cNvPr id="34" name="Shape 31"/>
          <p:cNvSpPr/>
          <p:nvPr/>
        </p:nvSpPr>
        <p:spPr>
          <a:xfrm>
            <a:off x="8473745" y="4553712"/>
            <a:ext cx="777240" cy="310896"/>
          </a:xfrm>
          <a:prstGeom prst="roundRect">
            <a:avLst>
              <a:gd name="adj" fmla="val 23529"/>
            </a:avLst>
          </a:prstGeom>
          <a:solidFill>
            <a:srgbClr val="F5F8FC"/>
          </a:solidFill>
          <a:ln/>
        </p:spPr>
        <p:txBody>
          <a:bodyPr/>
          <a:lstStyle/>
          <a:p>
            <a:endParaRPr/>
          </a:p>
        </p:txBody>
      </p:sp>
      <p:sp>
        <p:nvSpPr>
          <p:cNvPr id="35" name="Text 32"/>
          <p:cNvSpPr txBox="1"/>
          <p:nvPr/>
        </p:nvSpPr>
        <p:spPr>
          <a:xfrm>
            <a:off x="8473745" y="4553712"/>
            <a:ext cx="777240"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Record</a:t>
            </a:r>
            <a:endParaRPr lang="en-US" sz="1400" dirty="0"/>
          </a:p>
        </p:txBody>
      </p:sp>
      <p:sp>
        <p:nvSpPr>
          <p:cNvPr id="36" name="Shape 33"/>
          <p:cNvSpPr/>
          <p:nvPr/>
        </p:nvSpPr>
        <p:spPr>
          <a:xfrm>
            <a:off x="5099609" y="4937760"/>
            <a:ext cx="969264" cy="310896"/>
          </a:xfrm>
          <a:prstGeom prst="roundRect">
            <a:avLst>
              <a:gd name="adj" fmla="val 23529"/>
            </a:avLst>
          </a:prstGeom>
          <a:solidFill>
            <a:srgbClr val="2E74C6"/>
          </a:solidFill>
          <a:ln/>
        </p:spPr>
        <p:txBody>
          <a:bodyPr/>
          <a:lstStyle/>
          <a:p>
            <a:endParaRPr/>
          </a:p>
        </p:txBody>
      </p:sp>
      <p:sp>
        <p:nvSpPr>
          <p:cNvPr id="37" name="Text 34"/>
          <p:cNvSpPr txBox="1"/>
          <p:nvPr/>
        </p:nvSpPr>
        <p:spPr>
          <a:xfrm>
            <a:off x="5099609" y="4937760"/>
            <a:ext cx="969264"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Proposal</a:t>
            </a:r>
            <a:endParaRPr lang="en-US" sz="1400" dirty="0"/>
          </a:p>
        </p:txBody>
      </p:sp>
      <p:sp>
        <p:nvSpPr>
          <p:cNvPr id="38" name="Shape 35"/>
          <p:cNvSpPr/>
          <p:nvPr/>
        </p:nvSpPr>
        <p:spPr>
          <a:xfrm>
            <a:off x="6160313" y="4937760"/>
            <a:ext cx="1065276" cy="310896"/>
          </a:xfrm>
          <a:prstGeom prst="roundRect">
            <a:avLst>
              <a:gd name="adj" fmla="val 23529"/>
            </a:avLst>
          </a:prstGeom>
          <a:solidFill>
            <a:srgbClr val="2E74C6"/>
          </a:solidFill>
          <a:ln/>
        </p:spPr>
        <p:txBody>
          <a:bodyPr/>
          <a:lstStyle/>
          <a:p>
            <a:endParaRPr/>
          </a:p>
        </p:txBody>
      </p:sp>
      <p:sp>
        <p:nvSpPr>
          <p:cNvPr id="39" name="Text 36"/>
          <p:cNvSpPr txBox="1"/>
          <p:nvPr/>
        </p:nvSpPr>
        <p:spPr>
          <a:xfrm>
            <a:off x="6160313" y="4937760"/>
            <a:ext cx="106527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Condition</a:t>
            </a:r>
            <a:endParaRPr lang="en-US" sz="1400" dirty="0"/>
          </a:p>
        </p:txBody>
      </p:sp>
      <p:sp>
        <p:nvSpPr>
          <p:cNvPr id="40" name="Text 37"/>
          <p:cNvSpPr txBox="1"/>
          <p:nvPr/>
        </p:nvSpPr>
        <p:spPr>
          <a:xfrm>
            <a:off x="5099609" y="5349240"/>
            <a:ext cx="4626864" cy="987552"/>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관계 7개: MAKES_REQUEST, PROVIDES_PROPOSAL, HAS_CONDITION, CONTINUES_WITH 등</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파랑 = 업무 개념. Customer 속성으로 email, birthdate까지 제안 → 가명처리 대상이라 ③에서 버림</a:t>
            </a:r>
            <a:endParaRPr lang="en-US" sz="1400" dirty="0"/>
          </a:p>
        </p:txBody>
      </p:sp>
      <p:sp>
        <p:nvSpPr>
          <p:cNvPr id="41" name="Shape 38"/>
          <p:cNvSpPr/>
          <p:nvPr/>
        </p:nvSpPr>
        <p:spPr>
          <a:xfrm>
            <a:off x="10110521" y="1737360"/>
            <a:ext cx="4023360" cy="365760"/>
          </a:xfrm>
          <a:prstGeom prst="roundRect">
            <a:avLst>
              <a:gd name="adj" fmla="val 12500"/>
            </a:avLst>
          </a:prstGeom>
          <a:solidFill>
            <a:srgbClr val="1E2A5C"/>
          </a:solidFill>
          <a:ln/>
        </p:spPr>
        <p:txBody>
          <a:bodyPr/>
          <a:lstStyle/>
          <a:p>
            <a:endParaRPr/>
          </a:p>
        </p:txBody>
      </p:sp>
      <p:sp>
        <p:nvSpPr>
          <p:cNvPr id="42" name="Text 39"/>
          <p:cNvSpPr txBox="1"/>
          <p:nvPr/>
        </p:nvSpPr>
        <p:spPr>
          <a:xfrm>
            <a:off x="10110521" y="1737360"/>
            <a:ext cx="40233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30건을 모은 결과</a:t>
            </a:r>
            <a:endParaRPr lang="en-US" sz="1600" dirty="0"/>
          </a:p>
        </p:txBody>
      </p:sp>
      <p:sp>
        <p:nvSpPr>
          <p:cNvPr id="43" name="Shape 40"/>
          <p:cNvSpPr/>
          <p:nvPr/>
        </p:nvSpPr>
        <p:spPr>
          <a:xfrm>
            <a:off x="10110521" y="2212848"/>
            <a:ext cx="4023360" cy="822960"/>
          </a:xfrm>
          <a:prstGeom prst="roundRect">
            <a:avLst>
              <a:gd name="adj" fmla="val 6667"/>
            </a:avLst>
          </a:prstGeom>
          <a:solidFill>
            <a:srgbClr val="EEF3FA"/>
          </a:solidFill>
          <a:ln w="12700">
            <a:solidFill>
              <a:srgbClr val="2E74C6"/>
            </a:solidFill>
            <a:prstDash val="solid"/>
          </a:ln>
        </p:spPr>
        <p:txBody>
          <a:bodyPr/>
          <a:lstStyle/>
          <a:p>
            <a:endParaRPr/>
          </a:p>
        </p:txBody>
      </p:sp>
      <p:sp>
        <p:nvSpPr>
          <p:cNvPr id="44" name="Text 41"/>
          <p:cNvSpPr txBox="1"/>
          <p:nvPr/>
        </p:nvSpPr>
        <p:spPr>
          <a:xfrm>
            <a:off x="10110521" y="2212848"/>
            <a:ext cx="4023360" cy="822960"/>
          </a:xfrm>
          <a:prstGeom prst="rect">
            <a:avLst/>
          </a:prstGeom>
          <a:noFill/>
          <a:ln/>
        </p:spPr>
        <p:txBody>
          <a:bodyPr wrap="square" lIns="0" tIns="0" rIns="0" bIns="0" rtlCol="0" anchor="ctr"/>
          <a:lstStyle/>
          <a:p>
            <a:pPr marL="0" indent="0" algn="ctr">
              <a:buNone/>
            </a:pPr>
            <a:r>
              <a:rPr lang="en-US" sz="1800" b="1" dirty="0">
                <a:solidFill>
                  <a:srgbClr val="1E2A5C"/>
                </a:solidFill>
                <a:latin typeface="Pretendard" pitchFamily="34" charset="0"/>
                <a:ea typeface="Pretendard" pitchFamily="34" charset="-122"/>
                <a:cs typeface="Pretendard" pitchFamily="34" charset="-120"/>
              </a:rPr>
              <a:t>노드 타입 53개, 관계 106개</a:t>
            </a:r>
            <a:endParaRPr lang="en-US" sz="1800" dirty="0"/>
          </a:p>
        </p:txBody>
      </p:sp>
      <p:sp>
        <p:nvSpPr>
          <p:cNvPr id="45" name="Text 42"/>
          <p:cNvSpPr txBox="1"/>
          <p:nvPr/>
        </p:nvSpPr>
        <p:spPr>
          <a:xfrm>
            <a:off x="10156241" y="3127248"/>
            <a:ext cx="3931920" cy="1737360"/>
          </a:xfrm>
          <a:prstGeom prst="rect">
            <a:avLst/>
          </a:prstGeom>
          <a:noFill/>
          <a:ln/>
        </p:spPr>
        <p:txBody>
          <a:bodyPr wrap="square" lIns="0" tIns="0" rIns="0" bIns="0" rtlCol="0" anchor="t"/>
          <a:lstStyle/>
          <a:p>
            <a:pPr marL="0" indent="0">
              <a:spcAft>
                <a:spcPts val="400"/>
              </a:spcAft>
              <a:buNone/>
            </a:pPr>
            <a:r>
              <a:rPr lang="en-US" sz="1400" b="1" dirty="0">
                <a:solidFill>
                  <a:srgbClr val="1E2A5C"/>
                </a:solidFill>
                <a:latin typeface="Pretendard" pitchFamily="34" charset="0"/>
                <a:ea typeface="Pretendard" pitchFamily="34" charset="-122"/>
                <a:cs typeface="Pretendard" pitchFamily="34" charset="-120"/>
              </a:rPr>
              <a:t>많이 </a:t>
            </a:r>
            <a:r>
              <a:rPr lang="en-US" sz="1400" b="1" dirty="0" err="1">
                <a:solidFill>
                  <a:srgbClr val="1E2A5C"/>
                </a:solidFill>
                <a:latin typeface="Pretendard" pitchFamily="34" charset="0"/>
                <a:ea typeface="Pretendard" pitchFamily="34" charset="-122"/>
                <a:cs typeface="Pretendard" pitchFamily="34" charset="-120"/>
              </a:rPr>
              <a:t>나온</a:t>
            </a:r>
            <a:r>
              <a:rPr lang="en-US" sz="1400" b="1" dirty="0">
                <a:solidFill>
                  <a:srgbClr val="1E2A5C"/>
                </a:solidFill>
                <a:latin typeface="Pretendard" pitchFamily="34" charset="0"/>
                <a:ea typeface="Pretendard" pitchFamily="34" charset="-122"/>
                <a:cs typeface="Pretendard" pitchFamily="34" charset="-120"/>
              </a:rPr>
              <a:t> </a:t>
            </a:r>
            <a:r>
              <a:rPr lang="ko-KR" altLang="en-US" sz="1400" b="1" dirty="0">
                <a:solidFill>
                  <a:srgbClr val="1E2A5C"/>
                </a:solidFill>
                <a:latin typeface="Pretendard" pitchFamily="34" charset="0"/>
                <a:ea typeface="Pretendard" pitchFamily="34" charset="-122"/>
                <a:cs typeface="Pretendard" pitchFamily="34" charset="-120"/>
              </a:rPr>
              <a:t>타입 이름</a:t>
            </a:r>
            <a:endParaRPr lang="en-US" sz="1400" dirty="0"/>
          </a:p>
          <a:p>
            <a:pPr marL="0" indent="0">
              <a:spcAft>
                <a:spcPts val="400"/>
              </a:spcAft>
              <a:buNone/>
            </a:pPr>
            <a:r>
              <a:rPr lang="en-US" sz="1400" dirty="0">
                <a:solidFill>
                  <a:srgbClr val="2B3242"/>
                </a:solidFill>
                <a:latin typeface="Pretendard" pitchFamily="34" charset="0"/>
                <a:ea typeface="Pretendard" pitchFamily="34" charset="-122"/>
                <a:cs typeface="Pretendard" pitchFamily="34" charset="-120"/>
              </a:rPr>
              <a:t>Customer 29, Request 20, Transaction 18, Consultation 12, TransactionSummary 10</a:t>
            </a:r>
            <a:endParaRPr lang="en-US" sz="1400" dirty="0"/>
          </a:p>
          <a:p>
            <a:pPr marL="0" indent="0">
              <a:spcAft>
                <a:spcPts val="400"/>
              </a:spcAft>
              <a:buNone/>
            </a:pPr>
            <a:r>
              <a:rPr lang="en-US" sz="1400" b="1" dirty="0">
                <a:solidFill>
                  <a:srgbClr val="2E74C6"/>
                </a:solidFill>
                <a:latin typeface="Pretendard" pitchFamily="34" charset="0"/>
                <a:ea typeface="Pretendard" pitchFamily="34" charset="-122"/>
                <a:cs typeface="Pretendard" pitchFamily="34" charset="-120"/>
              </a:rPr>
              <a:t>드물게 나온 </a:t>
            </a:r>
            <a:r>
              <a:rPr lang="en-US" sz="1400" b="1" dirty="0" err="1">
                <a:solidFill>
                  <a:srgbClr val="2E74C6"/>
                </a:solidFill>
                <a:latin typeface="Pretendard" pitchFamily="34" charset="0"/>
                <a:ea typeface="Pretendard" pitchFamily="34" charset="-122"/>
                <a:cs typeface="Pretendard" pitchFamily="34" charset="-120"/>
              </a:rPr>
              <a:t>업무</a:t>
            </a:r>
            <a:r>
              <a:rPr lang="en-US" sz="1400" b="1" dirty="0">
                <a:solidFill>
                  <a:srgbClr val="2E74C6"/>
                </a:solidFill>
                <a:latin typeface="Pretendard" pitchFamily="34" charset="0"/>
                <a:ea typeface="Pretendard" pitchFamily="34" charset="-122"/>
                <a:cs typeface="Pretendard" pitchFamily="34" charset="-120"/>
              </a:rPr>
              <a:t> </a:t>
            </a:r>
            <a:r>
              <a:rPr lang="en-US" sz="1400" b="1" dirty="0" err="1">
                <a:solidFill>
                  <a:srgbClr val="2E74C6"/>
                </a:solidFill>
                <a:latin typeface="Pretendard" pitchFamily="34" charset="0"/>
                <a:ea typeface="Pretendard" pitchFamily="34" charset="-122"/>
                <a:cs typeface="Pretendard" pitchFamily="34" charset="-120"/>
              </a:rPr>
              <a:t>개념</a:t>
            </a:r>
            <a:r>
              <a:rPr lang="en-US" sz="1400" b="1" dirty="0">
                <a:solidFill>
                  <a:srgbClr val="2E74C6"/>
                </a:solidFill>
                <a:latin typeface="Pretendard" pitchFamily="34" charset="0"/>
                <a:ea typeface="Pretendard" pitchFamily="34" charset="-122"/>
                <a:cs typeface="Pretendard" pitchFamily="34" charset="-120"/>
              </a:rPr>
              <a:t>(</a:t>
            </a:r>
            <a:r>
              <a:rPr lang="ko-KR" altLang="en-US" sz="1400" b="1" dirty="0">
                <a:solidFill>
                  <a:srgbClr val="2E74C6"/>
                </a:solidFill>
                <a:latin typeface="Pretendard" pitchFamily="34" charset="0"/>
                <a:ea typeface="Pretendard" pitchFamily="34" charset="-122"/>
                <a:cs typeface="Pretendard" pitchFamily="34" charset="-120"/>
              </a:rPr>
              <a:t>역량질문이 찾는 개념</a:t>
            </a:r>
            <a:r>
              <a:rPr lang="en-US" altLang="ko-KR" sz="1400" b="1" dirty="0">
                <a:solidFill>
                  <a:srgbClr val="2E74C6"/>
                </a:solidFill>
                <a:latin typeface="Pretendard" pitchFamily="34" charset="0"/>
                <a:ea typeface="Pretendard" pitchFamily="34" charset="-122"/>
                <a:cs typeface="Pretendard" pitchFamily="34" charset="-120"/>
              </a:rPr>
              <a:t>)</a:t>
            </a:r>
            <a:endParaRPr lang="en-US" sz="1400" dirty="0"/>
          </a:p>
          <a:p>
            <a:pPr marL="0" indent="0">
              <a:spcAft>
                <a:spcPts val="400"/>
              </a:spcAft>
              <a:buNone/>
            </a:pPr>
            <a:r>
              <a:rPr lang="en-US" sz="1400" dirty="0">
                <a:solidFill>
                  <a:srgbClr val="2B3242"/>
                </a:solidFill>
                <a:latin typeface="Pretendard" pitchFamily="34" charset="0"/>
                <a:ea typeface="Pretendard" pitchFamily="34" charset="-122"/>
                <a:cs typeface="Pretendard" pitchFamily="34" charset="-120"/>
              </a:rPr>
              <a:t>Issue 5, Complaint 2, Proposal 2, Condition 2, REJECTS_CHANGE 1</a:t>
            </a:r>
            <a:endParaRPr lang="en-US" sz="1400" dirty="0"/>
          </a:p>
        </p:txBody>
      </p:sp>
      <p:sp>
        <p:nvSpPr>
          <p:cNvPr id="46" name="Shape 43"/>
          <p:cNvSpPr/>
          <p:nvPr/>
        </p:nvSpPr>
        <p:spPr>
          <a:xfrm>
            <a:off x="10110521" y="4937760"/>
            <a:ext cx="4023360" cy="1444752"/>
          </a:xfrm>
          <a:prstGeom prst="roundRect">
            <a:avLst>
              <a:gd name="adj" fmla="val 3797"/>
            </a:avLst>
          </a:prstGeom>
          <a:solidFill>
            <a:srgbClr val="F5F8FC"/>
          </a:solidFill>
          <a:ln w="12700">
            <a:solidFill>
              <a:srgbClr val="D9E0EC"/>
            </a:solidFill>
            <a:prstDash val="solid"/>
          </a:ln>
        </p:spPr>
        <p:txBody>
          <a:bodyPr/>
          <a:lstStyle/>
          <a:p>
            <a:endParaRPr/>
          </a:p>
        </p:txBody>
      </p:sp>
      <p:sp>
        <p:nvSpPr>
          <p:cNvPr id="47" name="Text 44"/>
          <p:cNvSpPr txBox="1"/>
          <p:nvPr/>
        </p:nvSpPr>
        <p:spPr>
          <a:xfrm>
            <a:off x="10220249" y="4937760"/>
            <a:ext cx="3803904" cy="1444752"/>
          </a:xfrm>
          <a:prstGeom prst="rect">
            <a:avLst/>
          </a:prstGeom>
          <a:noFill/>
          <a:ln/>
        </p:spPr>
        <p:txBody>
          <a:bodyPr wrap="square" lIns="0" tIns="0" rIns="0" bIns="0" rtlCol="0" anchor="ctr"/>
          <a:lstStyle/>
          <a:p>
            <a:pPr marL="0" indent="0">
              <a:buNone/>
            </a:pPr>
            <a:r>
              <a:rPr lang="en-US" sz="1400" b="1" dirty="0">
                <a:solidFill>
                  <a:srgbClr val="4A5364"/>
                </a:solidFill>
                <a:latin typeface="Pretendard" pitchFamily="34" charset="0"/>
                <a:ea typeface="Pretendard" pitchFamily="34" charset="-122"/>
                <a:cs typeface="Pretendard" pitchFamily="34" charset="-120"/>
              </a:rPr>
              <a:t>같은 30건, 앞 결과 이름을 넘기면</a:t>
            </a:r>
            <a:endParaRPr lang="en-US" sz="1400" dirty="0"/>
          </a:p>
          <a:p>
            <a:pPr marL="0" indent="0">
              <a:buNone/>
            </a:pPr>
            <a:r>
              <a:rPr lang="ko-KR" altLang="en-US" sz="1400" dirty="0">
                <a:solidFill>
                  <a:srgbClr val="2B3242"/>
                </a:solidFill>
                <a:latin typeface="Pretendard" pitchFamily="34" charset="0"/>
                <a:ea typeface="Pretendard" pitchFamily="34" charset="-122"/>
                <a:cs typeface="Pretendard" pitchFamily="34" charset="-120"/>
              </a:rPr>
              <a:t>타입 이름은 </a:t>
            </a:r>
            <a:r>
              <a:rPr lang="en-US" sz="1400" dirty="0">
                <a:solidFill>
                  <a:srgbClr val="2B3242"/>
                </a:solidFill>
                <a:latin typeface="Pretendard" pitchFamily="34" charset="0"/>
                <a:ea typeface="Pretendard" pitchFamily="34" charset="-122"/>
                <a:cs typeface="Pretendard" pitchFamily="34" charset="-120"/>
              </a:rPr>
              <a:t>10개로 모이지만 업무 </a:t>
            </a:r>
            <a:r>
              <a:rPr lang="en-US" sz="1400" dirty="0" err="1">
                <a:solidFill>
                  <a:srgbClr val="2B3242"/>
                </a:solidFill>
                <a:latin typeface="Pretendard" pitchFamily="34" charset="0"/>
                <a:ea typeface="Pretendard" pitchFamily="34" charset="-122"/>
                <a:cs typeface="Pretendard" pitchFamily="34" charset="-120"/>
              </a:rPr>
              <a:t>개념</a:t>
            </a:r>
            <a:r>
              <a:rPr lang="en-US" sz="1400" dirty="0">
                <a:solidFill>
                  <a:srgbClr val="2B3242"/>
                </a:solidFill>
                <a:latin typeface="Pretendard" pitchFamily="34" charset="0"/>
                <a:ea typeface="Pretendard" pitchFamily="34" charset="-122"/>
                <a:cs typeface="Pretendard" pitchFamily="34" charset="-120"/>
              </a:rPr>
              <a:t> 2 / 5</a:t>
            </a:r>
            <a:endParaRPr lang="en-US" sz="1400" dirty="0"/>
          </a:p>
          <a:p>
            <a:pPr marL="0" indent="0">
              <a:buNone/>
            </a:pPr>
            <a:endParaRPr lang="en-US" sz="1400" b="1" dirty="0">
              <a:solidFill>
                <a:srgbClr val="2E74C6"/>
              </a:solidFill>
              <a:latin typeface="Pretendard" pitchFamily="34" charset="0"/>
              <a:ea typeface="Pretendard" pitchFamily="34" charset="-122"/>
              <a:cs typeface="Pretendard" pitchFamily="34" charset="-120"/>
            </a:endParaRPr>
          </a:p>
          <a:p>
            <a:pPr marL="0" indent="0">
              <a:buNone/>
            </a:pPr>
            <a:r>
              <a:rPr lang="en-US" sz="1400" b="1" dirty="0" err="1">
                <a:solidFill>
                  <a:srgbClr val="2E74C6"/>
                </a:solidFill>
                <a:latin typeface="Pretendard" pitchFamily="34" charset="0"/>
                <a:ea typeface="Pretendard" pitchFamily="34" charset="-122"/>
                <a:cs typeface="Pretendard" pitchFamily="34" charset="-120"/>
              </a:rPr>
              <a:t>넘기지</a:t>
            </a:r>
            <a:r>
              <a:rPr lang="en-US" sz="1400" b="1" dirty="0">
                <a:solidFill>
                  <a:srgbClr val="2E74C6"/>
                </a:solidFill>
                <a:latin typeface="Pretendard" pitchFamily="34" charset="0"/>
                <a:ea typeface="Pretendard" pitchFamily="34" charset="-122"/>
                <a:cs typeface="Pretendard" pitchFamily="34" charset="-120"/>
              </a:rPr>
              <a:t> </a:t>
            </a:r>
            <a:r>
              <a:rPr lang="en-US" sz="1400" b="1" dirty="0" err="1">
                <a:solidFill>
                  <a:srgbClr val="2E74C6"/>
                </a:solidFill>
                <a:latin typeface="Pretendard" pitchFamily="34" charset="0"/>
                <a:ea typeface="Pretendard" pitchFamily="34" charset="-122"/>
                <a:cs typeface="Pretendard" pitchFamily="34" charset="-120"/>
              </a:rPr>
              <a:t>않으면</a:t>
            </a: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marL="0" indent="0">
              <a:buNone/>
            </a:pPr>
            <a:r>
              <a:rPr lang="ko-KR" altLang="en-US" sz="1400" dirty="0">
                <a:solidFill>
                  <a:srgbClr val="2B3242"/>
                </a:solidFill>
                <a:latin typeface="Pretendard" pitchFamily="34" charset="0"/>
                <a:ea typeface="Pretendard" pitchFamily="34" charset="-122"/>
                <a:cs typeface="Pretendard" pitchFamily="34" charset="-120"/>
              </a:rPr>
              <a:t>타입이름은 </a:t>
            </a:r>
            <a:r>
              <a:rPr lang="en-US" sz="1400" dirty="0">
                <a:solidFill>
                  <a:srgbClr val="2B3242"/>
                </a:solidFill>
                <a:latin typeface="Pretendard" pitchFamily="34" charset="0"/>
                <a:ea typeface="Pretendard" pitchFamily="34" charset="-122"/>
                <a:cs typeface="Pretendard" pitchFamily="34" charset="-120"/>
              </a:rPr>
              <a:t>53개로 흩어지지만 업무 </a:t>
            </a:r>
            <a:r>
              <a:rPr lang="en-US" sz="1400" dirty="0" err="1">
                <a:solidFill>
                  <a:srgbClr val="2B3242"/>
                </a:solidFill>
                <a:latin typeface="Pretendard" pitchFamily="34" charset="0"/>
                <a:ea typeface="Pretendard" pitchFamily="34" charset="-122"/>
                <a:cs typeface="Pretendard" pitchFamily="34" charset="-120"/>
              </a:rPr>
              <a:t>개념</a:t>
            </a:r>
            <a:r>
              <a:rPr lang="en-US" sz="1400" dirty="0">
                <a:solidFill>
                  <a:srgbClr val="2B3242"/>
                </a:solidFill>
                <a:latin typeface="Pretendard" pitchFamily="34" charset="0"/>
                <a:ea typeface="Pretendard" pitchFamily="34" charset="-122"/>
                <a:cs typeface="Pretendard" pitchFamily="34" charset="-120"/>
              </a:rPr>
              <a:t> 5 / 5</a:t>
            </a:r>
            <a:endParaRPr lang="en-US" sz="1400" dirty="0"/>
          </a:p>
        </p:txBody>
      </p:sp>
      <p:sp>
        <p:nvSpPr>
          <p:cNvPr id="48" name="Shape 45"/>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txBody>
          <a:bodyPr/>
          <a:lstStyle/>
          <a:p>
            <a:endParaRPr/>
          </a:p>
        </p:txBody>
      </p:sp>
      <p:sp>
        <p:nvSpPr>
          <p:cNvPr id="49" name="Shape 46"/>
          <p:cNvSpPr/>
          <p:nvPr/>
        </p:nvSpPr>
        <p:spPr>
          <a:xfrm>
            <a:off x="509321" y="6510528"/>
            <a:ext cx="82296" cy="658368"/>
          </a:xfrm>
          <a:prstGeom prst="rect">
            <a:avLst/>
          </a:prstGeom>
          <a:solidFill>
            <a:srgbClr val="2E74C6"/>
          </a:solidFill>
          <a:ln/>
        </p:spPr>
        <p:txBody>
          <a:bodyPr/>
          <a:lstStyle/>
          <a:p>
            <a:endParaRPr/>
          </a:p>
        </p:txBody>
      </p:sp>
      <p:sp>
        <p:nvSpPr>
          <p:cNvPr id="50" name="Text 47"/>
          <p:cNvSpPr txBox="1"/>
          <p:nvPr/>
        </p:nvSpPr>
        <p:spPr>
          <a:xfrm>
            <a:off x="737921" y="6510528"/>
            <a:ext cx="13258800" cy="65836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드물게 나온 이름이 핵심일 수 있음 — 빈도로 거르지 말고 ③에서 역량 질문을 기준으로 판단</a:t>
            </a:r>
            <a:endParaRPr lang="en-US" sz="1600" dirty="0"/>
          </a:p>
        </p:txBody>
      </p:sp>
      <p:sp>
        <p:nvSpPr>
          <p:cNvPr id="51" name="Shape 48"/>
          <p:cNvSpPr/>
          <p:nvPr/>
        </p:nvSpPr>
        <p:spPr>
          <a:xfrm>
            <a:off x="509321" y="7388352"/>
            <a:ext cx="13624560" cy="0"/>
          </a:xfrm>
          <a:prstGeom prst="line">
            <a:avLst/>
          </a:prstGeom>
          <a:noFill/>
          <a:ln w="12700">
            <a:solidFill>
              <a:srgbClr val="E9ECF3"/>
            </a:solidFill>
            <a:prstDash val="solid"/>
          </a:ln>
        </p:spPr>
        <p:txBody>
          <a:bodyPr/>
          <a:lstStyle/>
          <a:p>
            <a:endParaRPr/>
          </a:p>
        </p:txBody>
      </p:sp>
      <p:sp>
        <p:nvSpPr>
          <p:cNvPr id="52" name="Text 49"/>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실측: 2026-10-18, Groq openai/gpt-oss-120b, neo4j-graphrag 1.22.0, 합성 상담 이력 v3, 상담 30건(세그먼트 균형 순서), 업무 개념 = 불만, 제안, 응답, 재검토 조건</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단계 ③ 스키마 후보 확정(LLM 추천 + 사람 확정)</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후보 목록과 역량 질문을 LLM에 주면 병합, 제거, 추가 초안과 근거를 추천하고, 사람이 검토해 스키마 초안을 확정함</a:t>
            </a:r>
            <a:endParaRPr lang="en-US" sz="1800" dirty="0"/>
          </a:p>
        </p:txBody>
      </p:sp>
      <p:sp>
        <p:nvSpPr>
          <p:cNvPr id="5" name="Shape 2"/>
          <p:cNvSpPr/>
          <p:nvPr/>
        </p:nvSpPr>
        <p:spPr>
          <a:xfrm>
            <a:off x="509321" y="1737360"/>
            <a:ext cx="6858000" cy="365760"/>
          </a:xfrm>
          <a:prstGeom prst="roundRect">
            <a:avLst>
              <a:gd name="adj" fmla="val 12500"/>
            </a:avLst>
          </a:prstGeom>
          <a:solidFill>
            <a:srgbClr val="404155"/>
          </a:solidFill>
          <a:ln/>
        </p:spPr>
        <p:txBody>
          <a:bodyPr/>
          <a:lstStyle/>
          <a:p>
            <a:endParaRPr/>
          </a:p>
        </p:txBody>
      </p:sp>
      <p:sp>
        <p:nvSpPr>
          <p:cNvPr id="6" name="Text 3"/>
          <p:cNvSpPr txBox="1"/>
          <p:nvPr/>
        </p:nvSpPr>
        <p:spPr>
          <a:xfrm>
            <a:off x="509321" y="1737360"/>
            <a:ext cx="68580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LLM 추천(괄호 = 근거가 된 역량 질문 번호)</a:t>
            </a:r>
            <a:endParaRPr lang="en-US" sz="1600" dirty="0"/>
          </a:p>
        </p:txBody>
      </p:sp>
      <p:sp>
        <p:nvSpPr>
          <p:cNvPr id="7" name="Shape 4"/>
          <p:cNvSpPr/>
          <p:nvPr/>
        </p:nvSpPr>
        <p:spPr>
          <a:xfrm>
            <a:off x="509321" y="2212848"/>
            <a:ext cx="6858000" cy="1499616"/>
          </a:xfrm>
          <a:prstGeom prst="roundRect">
            <a:avLst>
              <a:gd name="adj" fmla="val 3659"/>
            </a:avLst>
          </a:prstGeom>
          <a:solidFill>
            <a:srgbClr val="FFFFFF"/>
          </a:solidFill>
          <a:ln w="12700">
            <a:solidFill>
              <a:srgbClr val="D9E0EC"/>
            </a:solidFill>
            <a:prstDash val="solid"/>
          </a:ln>
        </p:spPr>
        <p:txBody>
          <a:bodyPr/>
          <a:lstStyle/>
          <a:p>
            <a:endParaRPr/>
          </a:p>
        </p:txBody>
      </p:sp>
      <p:sp>
        <p:nvSpPr>
          <p:cNvPr id="8" name="Shape 5"/>
          <p:cNvSpPr/>
          <p:nvPr/>
        </p:nvSpPr>
        <p:spPr>
          <a:xfrm>
            <a:off x="600761" y="2286000"/>
            <a:ext cx="731520" cy="1353312"/>
          </a:xfrm>
          <a:prstGeom prst="roundRect">
            <a:avLst>
              <a:gd name="adj" fmla="val 7500"/>
            </a:avLst>
          </a:prstGeom>
          <a:solidFill>
            <a:srgbClr val="1E2A5C"/>
          </a:solidFill>
          <a:ln/>
        </p:spPr>
        <p:txBody>
          <a:bodyPr/>
          <a:lstStyle/>
          <a:p>
            <a:endParaRPr/>
          </a:p>
        </p:txBody>
      </p:sp>
      <p:sp>
        <p:nvSpPr>
          <p:cNvPr id="9" name="Text 6"/>
          <p:cNvSpPr txBox="1"/>
          <p:nvPr/>
        </p:nvSpPr>
        <p:spPr>
          <a:xfrm>
            <a:off x="600761" y="2286000"/>
            <a:ext cx="731520" cy="1353312"/>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병합</a:t>
            </a:r>
            <a:endParaRPr lang="en-US" sz="1500" dirty="0"/>
          </a:p>
        </p:txBody>
      </p:sp>
      <p:sp>
        <p:nvSpPr>
          <p:cNvPr id="10" name="Text 7"/>
          <p:cNvSpPr txBox="1"/>
          <p:nvPr/>
        </p:nvSpPr>
        <p:spPr>
          <a:xfrm>
            <a:off x="1442009" y="2212848"/>
            <a:ext cx="5852160" cy="1499616"/>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Issue, Complaint → Complaint (1)</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Proposal, SUGGESTS, MAKES_PROPOSAL → Proposal (2)</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Condition → ReconsiderCondition (4)</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Consultation, Conversation, Session, Record → Consultation (5)</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FOLLOWS, CONTINUES_FROM, PREVIOUS_SESSION → FOLLOWS (5)</a:t>
            </a:r>
            <a:endParaRPr lang="en-US" sz="1400" dirty="0"/>
          </a:p>
        </p:txBody>
      </p:sp>
      <p:sp>
        <p:nvSpPr>
          <p:cNvPr id="11" name="Shape 8"/>
          <p:cNvSpPr/>
          <p:nvPr/>
        </p:nvSpPr>
        <p:spPr>
          <a:xfrm>
            <a:off x="509321" y="3803904"/>
            <a:ext cx="6858000" cy="1225296"/>
          </a:xfrm>
          <a:prstGeom prst="roundRect">
            <a:avLst>
              <a:gd name="adj" fmla="val 4478"/>
            </a:avLst>
          </a:prstGeom>
          <a:solidFill>
            <a:srgbClr val="FFFFFF"/>
          </a:solidFill>
          <a:ln w="12700">
            <a:solidFill>
              <a:srgbClr val="D9E0EC"/>
            </a:solidFill>
            <a:prstDash val="solid"/>
          </a:ln>
        </p:spPr>
        <p:txBody>
          <a:bodyPr/>
          <a:lstStyle/>
          <a:p>
            <a:endParaRPr/>
          </a:p>
        </p:txBody>
      </p:sp>
      <p:sp>
        <p:nvSpPr>
          <p:cNvPr id="12" name="Shape 9"/>
          <p:cNvSpPr/>
          <p:nvPr/>
        </p:nvSpPr>
        <p:spPr>
          <a:xfrm>
            <a:off x="600761" y="3877056"/>
            <a:ext cx="731520" cy="1078992"/>
          </a:xfrm>
          <a:prstGeom prst="roundRect">
            <a:avLst>
              <a:gd name="adj" fmla="val 7500"/>
            </a:avLst>
          </a:prstGeom>
          <a:solidFill>
            <a:srgbClr val="404155"/>
          </a:solidFill>
          <a:ln/>
        </p:spPr>
        <p:txBody>
          <a:bodyPr/>
          <a:lstStyle/>
          <a:p>
            <a:endParaRPr/>
          </a:p>
        </p:txBody>
      </p:sp>
      <p:sp>
        <p:nvSpPr>
          <p:cNvPr id="13" name="Text 10"/>
          <p:cNvSpPr txBox="1"/>
          <p:nvPr/>
        </p:nvSpPr>
        <p:spPr>
          <a:xfrm>
            <a:off x="600761" y="3877056"/>
            <a:ext cx="731520" cy="1078992"/>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제거</a:t>
            </a:r>
            <a:endParaRPr lang="en-US" sz="1500" dirty="0"/>
          </a:p>
        </p:txBody>
      </p:sp>
      <p:sp>
        <p:nvSpPr>
          <p:cNvPr id="14" name="Text 11"/>
          <p:cNvSpPr txBox="1"/>
          <p:nvPr/>
        </p:nvSpPr>
        <p:spPr>
          <a:xfrm>
            <a:off x="1442009" y="3803904"/>
            <a:ext cx="5852160" cy="1225296"/>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Request, Menu, Address, Order: 어느 질문에도 안 쓰임</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Transaction, TransactionSummary: RDB에 이미 있는 집계</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Customer의 name, email, birthdate: 가명처리 대상</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Agent, Counselor: 메타데이터(상담사 가명ID)로 충분</a:t>
            </a:r>
            <a:endParaRPr lang="en-US" sz="1400" dirty="0"/>
          </a:p>
        </p:txBody>
      </p:sp>
      <p:sp>
        <p:nvSpPr>
          <p:cNvPr id="15" name="Shape 12"/>
          <p:cNvSpPr/>
          <p:nvPr/>
        </p:nvSpPr>
        <p:spPr>
          <a:xfrm>
            <a:off x="509321" y="5120640"/>
            <a:ext cx="6858000" cy="950976"/>
          </a:xfrm>
          <a:prstGeom prst="roundRect">
            <a:avLst>
              <a:gd name="adj" fmla="val 5769"/>
            </a:avLst>
          </a:prstGeom>
          <a:solidFill>
            <a:srgbClr val="FFFFFF"/>
          </a:solidFill>
          <a:ln w="12700">
            <a:solidFill>
              <a:srgbClr val="D9E0EC"/>
            </a:solidFill>
            <a:prstDash val="solid"/>
          </a:ln>
        </p:spPr>
        <p:txBody>
          <a:bodyPr/>
          <a:lstStyle/>
          <a:p>
            <a:endParaRPr/>
          </a:p>
        </p:txBody>
      </p:sp>
      <p:sp>
        <p:nvSpPr>
          <p:cNvPr id="16" name="Shape 13"/>
          <p:cNvSpPr/>
          <p:nvPr/>
        </p:nvSpPr>
        <p:spPr>
          <a:xfrm>
            <a:off x="600761" y="5193792"/>
            <a:ext cx="731520" cy="804672"/>
          </a:xfrm>
          <a:prstGeom prst="roundRect">
            <a:avLst>
              <a:gd name="adj" fmla="val 7500"/>
            </a:avLst>
          </a:prstGeom>
          <a:solidFill>
            <a:srgbClr val="2E74C6"/>
          </a:solidFill>
          <a:ln/>
        </p:spPr>
        <p:txBody>
          <a:bodyPr/>
          <a:lstStyle/>
          <a:p>
            <a:endParaRPr/>
          </a:p>
        </p:txBody>
      </p:sp>
      <p:sp>
        <p:nvSpPr>
          <p:cNvPr id="17" name="Text 14"/>
          <p:cNvSpPr txBox="1"/>
          <p:nvPr/>
        </p:nvSpPr>
        <p:spPr>
          <a:xfrm>
            <a:off x="600761" y="5193792"/>
            <a:ext cx="731520" cy="804672"/>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추가</a:t>
            </a:r>
            <a:endParaRPr lang="en-US" sz="1500" dirty="0"/>
          </a:p>
        </p:txBody>
      </p:sp>
      <p:sp>
        <p:nvSpPr>
          <p:cNvPr id="18" name="Text 15"/>
          <p:cNvSpPr txBox="1"/>
          <p:nvPr/>
        </p:nvSpPr>
        <p:spPr>
          <a:xfrm>
            <a:off x="1442009" y="5120640"/>
            <a:ext cx="5852160" cy="950976"/>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Proposal.decision, decision_reason (3): 후보는 REJECTS_CHANGE 1건뿐</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ADDRESSES: 제안이 어느 불만을 겨냥했나 (1, 2)</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RECONSIDER_WHEN: 보류한 제안의 재검토 조건 (4)</a:t>
            </a:r>
            <a:endParaRPr lang="en-US" sz="1400" dirty="0"/>
          </a:p>
        </p:txBody>
      </p:sp>
      <p:sp>
        <p:nvSpPr>
          <p:cNvPr id="19" name="Shape 16"/>
          <p:cNvSpPr/>
          <p:nvPr/>
        </p:nvSpPr>
        <p:spPr>
          <a:xfrm>
            <a:off x="7641641" y="1737360"/>
            <a:ext cx="6492240" cy="365760"/>
          </a:xfrm>
          <a:prstGeom prst="roundRect">
            <a:avLst>
              <a:gd name="adj" fmla="val 12500"/>
            </a:avLst>
          </a:prstGeom>
          <a:solidFill>
            <a:srgbClr val="1E2A5C"/>
          </a:solidFill>
          <a:ln/>
        </p:spPr>
        <p:txBody>
          <a:bodyPr/>
          <a:lstStyle/>
          <a:p>
            <a:endParaRPr/>
          </a:p>
        </p:txBody>
      </p:sp>
      <p:sp>
        <p:nvSpPr>
          <p:cNvPr id="20" name="Text 17"/>
          <p:cNvSpPr txBox="1"/>
          <p:nvPr/>
        </p:nvSpPr>
        <p:spPr>
          <a:xfrm>
            <a:off x="7641641" y="1737360"/>
            <a:ext cx="649224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사람이 검토해 정한 것</a:t>
            </a:r>
            <a:endParaRPr lang="en-US" sz="1600" dirty="0"/>
          </a:p>
        </p:txBody>
      </p:sp>
      <p:sp>
        <p:nvSpPr>
          <p:cNvPr id="21" name="Shape 18"/>
          <p:cNvSpPr/>
          <p:nvPr/>
        </p:nvSpPr>
        <p:spPr>
          <a:xfrm>
            <a:off x="7641641" y="2212848"/>
            <a:ext cx="6492240" cy="969264"/>
          </a:xfrm>
          <a:prstGeom prst="roundRect">
            <a:avLst>
              <a:gd name="adj" fmla="val 5660"/>
            </a:avLst>
          </a:prstGeom>
          <a:solidFill>
            <a:srgbClr val="EEF3FA"/>
          </a:solidFill>
          <a:ln w="12700">
            <a:solidFill>
              <a:srgbClr val="2E74C6"/>
            </a:solidFill>
            <a:prstDash val="solid"/>
          </a:ln>
        </p:spPr>
        <p:txBody>
          <a:bodyPr/>
          <a:lstStyle/>
          <a:p>
            <a:endParaRPr/>
          </a:p>
        </p:txBody>
      </p:sp>
      <p:sp>
        <p:nvSpPr>
          <p:cNvPr id="22" name="Text 19"/>
          <p:cNvSpPr txBox="1"/>
          <p:nvPr/>
        </p:nvSpPr>
        <p:spPr>
          <a:xfrm>
            <a:off x="7751369" y="2212848"/>
            <a:ext cx="6309360" cy="96926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 고객 응답은 노드 대신 Proposal 속성(decision, decision_reason)으로</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 상담 주제(Request)는 노드 대신 Consultation.topic 속성으로</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 제약은 Consultation.record_id UNIQUENESS 하나(Community 판)</a:t>
            </a:r>
            <a:endParaRPr lang="en-US" sz="1400" dirty="0"/>
          </a:p>
        </p:txBody>
      </p:sp>
      <p:sp>
        <p:nvSpPr>
          <p:cNvPr id="23" name="Shape 20"/>
          <p:cNvSpPr/>
          <p:nvPr/>
        </p:nvSpPr>
        <p:spPr>
          <a:xfrm>
            <a:off x="7733081" y="4178808"/>
            <a:ext cx="1828800" cy="658368"/>
          </a:xfrm>
          <a:prstGeom prst="roundRect">
            <a:avLst>
              <a:gd name="adj" fmla="val 11111"/>
            </a:avLst>
          </a:prstGeom>
          <a:solidFill>
            <a:srgbClr val="1E2A5C"/>
          </a:solidFill>
          <a:ln w="19050">
            <a:solidFill>
              <a:srgbClr val="1E2A5C"/>
            </a:solidFill>
            <a:prstDash val="solid"/>
          </a:ln>
        </p:spPr>
        <p:txBody>
          <a:bodyPr/>
          <a:lstStyle/>
          <a:p>
            <a:endParaRPr/>
          </a:p>
        </p:txBody>
      </p:sp>
      <p:sp>
        <p:nvSpPr>
          <p:cNvPr id="24" name="Text 21"/>
          <p:cNvSpPr txBox="1"/>
          <p:nvPr/>
        </p:nvSpPr>
        <p:spPr>
          <a:xfrm>
            <a:off x="7806233" y="4206240"/>
            <a:ext cx="1682496"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:Consultation</a:t>
            </a:r>
            <a:endParaRPr lang="en-US" sz="1400" dirty="0"/>
          </a:p>
        </p:txBody>
      </p:sp>
      <p:sp>
        <p:nvSpPr>
          <p:cNvPr id="25" name="Text 22"/>
          <p:cNvSpPr txBox="1"/>
          <p:nvPr/>
        </p:nvSpPr>
        <p:spPr>
          <a:xfrm>
            <a:off x="7806233" y="4471416"/>
            <a:ext cx="1682496" cy="347472"/>
          </a:xfrm>
          <a:prstGeom prst="rect">
            <a:avLst/>
          </a:prstGeom>
          <a:noFill/>
          <a:ln/>
        </p:spPr>
        <p:txBody>
          <a:bodyPr wrap="square" lIns="0" tIns="0" rIns="0" bIns="0" rtlCol="0" anchor="t"/>
          <a:lstStyle/>
          <a:p>
            <a:pPr marL="0" indent="0" algn="ctr">
              <a:buNone/>
            </a:pPr>
            <a:r>
              <a:rPr lang="en-US" sz="1400" dirty="0">
                <a:solidFill>
                  <a:srgbClr val="D9E3F5"/>
                </a:solidFill>
                <a:latin typeface="Pretendard" pitchFamily="34" charset="0"/>
                <a:ea typeface="Pretendard" pitchFamily="34" charset="-122"/>
                <a:cs typeface="Pretendard" pitchFamily="34" charset="-120"/>
              </a:rPr>
              <a:t>record_id (키)</a:t>
            </a:r>
            <a:endParaRPr lang="en-US" sz="1400" dirty="0"/>
          </a:p>
        </p:txBody>
      </p:sp>
      <p:sp>
        <p:nvSpPr>
          <p:cNvPr id="26" name="Shape 23"/>
          <p:cNvSpPr/>
          <p:nvPr/>
        </p:nvSpPr>
        <p:spPr>
          <a:xfrm>
            <a:off x="7733081" y="5184648"/>
            <a:ext cx="1828800" cy="566928"/>
          </a:xfrm>
          <a:prstGeom prst="roundRect">
            <a:avLst>
              <a:gd name="adj" fmla="val 12903"/>
            </a:avLst>
          </a:prstGeom>
          <a:solidFill>
            <a:srgbClr val="EEF3FA"/>
          </a:solidFill>
          <a:ln w="19050">
            <a:solidFill>
              <a:srgbClr val="7C8598"/>
            </a:solidFill>
            <a:prstDash val="dash"/>
          </a:ln>
        </p:spPr>
        <p:txBody>
          <a:bodyPr/>
          <a:lstStyle/>
          <a:p>
            <a:endParaRPr/>
          </a:p>
        </p:txBody>
      </p:sp>
      <p:sp>
        <p:nvSpPr>
          <p:cNvPr id="27" name="Text 24"/>
          <p:cNvSpPr txBox="1"/>
          <p:nvPr/>
        </p:nvSpPr>
        <p:spPr>
          <a:xfrm>
            <a:off x="7806233" y="5212080"/>
            <a:ext cx="1682496" cy="274320"/>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:Consultation</a:t>
            </a:r>
            <a:endParaRPr lang="en-US" sz="1400" dirty="0"/>
          </a:p>
        </p:txBody>
      </p:sp>
      <p:sp>
        <p:nvSpPr>
          <p:cNvPr id="28" name="Text 25"/>
          <p:cNvSpPr txBox="1"/>
          <p:nvPr/>
        </p:nvSpPr>
        <p:spPr>
          <a:xfrm>
            <a:off x="7806233" y="5477256"/>
            <a:ext cx="1682496" cy="256032"/>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앞선 상담</a:t>
            </a:r>
            <a:endParaRPr lang="en-US" sz="1400" dirty="0"/>
          </a:p>
        </p:txBody>
      </p:sp>
      <p:sp>
        <p:nvSpPr>
          <p:cNvPr id="29" name="Shape 26"/>
          <p:cNvSpPr/>
          <p:nvPr/>
        </p:nvSpPr>
        <p:spPr>
          <a:xfrm>
            <a:off x="11756441" y="3310128"/>
            <a:ext cx="2286000" cy="621792"/>
          </a:xfrm>
          <a:prstGeom prst="roundRect">
            <a:avLst>
              <a:gd name="adj" fmla="val 11765"/>
            </a:avLst>
          </a:prstGeom>
          <a:solidFill>
            <a:srgbClr val="EEF3FA"/>
          </a:solidFill>
          <a:ln w="19050">
            <a:solidFill>
              <a:srgbClr val="1E2A5C"/>
            </a:solidFill>
            <a:prstDash val="solid"/>
          </a:ln>
        </p:spPr>
        <p:txBody>
          <a:bodyPr/>
          <a:lstStyle/>
          <a:p>
            <a:endParaRPr/>
          </a:p>
        </p:txBody>
      </p:sp>
      <p:sp>
        <p:nvSpPr>
          <p:cNvPr id="30" name="Text 27"/>
          <p:cNvSpPr txBox="1"/>
          <p:nvPr/>
        </p:nvSpPr>
        <p:spPr>
          <a:xfrm>
            <a:off x="11829593" y="3337560"/>
            <a:ext cx="2139696" cy="274320"/>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:Complaint</a:t>
            </a:r>
            <a:endParaRPr lang="en-US" sz="1400" dirty="0"/>
          </a:p>
        </p:txBody>
      </p:sp>
      <p:sp>
        <p:nvSpPr>
          <p:cNvPr id="31" name="Text 28"/>
          <p:cNvSpPr txBox="1"/>
          <p:nvPr/>
        </p:nvSpPr>
        <p:spPr>
          <a:xfrm>
            <a:off x="11829593" y="3602736"/>
            <a:ext cx="2139696" cy="310896"/>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cause, category</a:t>
            </a:r>
            <a:endParaRPr lang="en-US" sz="1400" dirty="0"/>
          </a:p>
        </p:txBody>
      </p:sp>
      <p:sp>
        <p:nvSpPr>
          <p:cNvPr id="32" name="Shape 29"/>
          <p:cNvSpPr/>
          <p:nvPr/>
        </p:nvSpPr>
        <p:spPr>
          <a:xfrm>
            <a:off x="11756441" y="4178808"/>
            <a:ext cx="2286000" cy="822960"/>
          </a:xfrm>
          <a:prstGeom prst="roundRect">
            <a:avLst>
              <a:gd name="adj" fmla="val 8889"/>
            </a:avLst>
          </a:prstGeom>
          <a:solidFill>
            <a:srgbClr val="EEF3FA"/>
          </a:solidFill>
          <a:ln w="19050">
            <a:solidFill>
              <a:srgbClr val="1E2A5C"/>
            </a:solidFill>
            <a:prstDash val="solid"/>
          </a:ln>
        </p:spPr>
        <p:txBody>
          <a:bodyPr/>
          <a:lstStyle/>
          <a:p>
            <a:endParaRPr/>
          </a:p>
        </p:txBody>
      </p:sp>
      <p:sp>
        <p:nvSpPr>
          <p:cNvPr id="33" name="Text 30"/>
          <p:cNvSpPr txBox="1"/>
          <p:nvPr/>
        </p:nvSpPr>
        <p:spPr>
          <a:xfrm>
            <a:off x="11829593" y="4206240"/>
            <a:ext cx="2139696" cy="274320"/>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:Proposal</a:t>
            </a:r>
            <a:endParaRPr lang="en-US" sz="1400" dirty="0"/>
          </a:p>
        </p:txBody>
      </p:sp>
      <p:sp>
        <p:nvSpPr>
          <p:cNvPr id="34" name="Text 31"/>
          <p:cNvSpPr txBox="1"/>
          <p:nvPr/>
        </p:nvSpPr>
        <p:spPr>
          <a:xfrm>
            <a:off x="11829593" y="4471416"/>
            <a:ext cx="2139696" cy="512064"/>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content, decision,</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decision_reason</a:t>
            </a:r>
            <a:endParaRPr lang="en-US" sz="1400" dirty="0"/>
          </a:p>
        </p:txBody>
      </p:sp>
      <p:sp>
        <p:nvSpPr>
          <p:cNvPr id="35" name="Shape 32"/>
          <p:cNvSpPr/>
          <p:nvPr/>
        </p:nvSpPr>
        <p:spPr>
          <a:xfrm>
            <a:off x="11756441" y="5248656"/>
            <a:ext cx="2286000" cy="566928"/>
          </a:xfrm>
          <a:prstGeom prst="roundRect">
            <a:avLst>
              <a:gd name="adj" fmla="val 12903"/>
            </a:avLst>
          </a:prstGeom>
          <a:solidFill>
            <a:srgbClr val="EEF3FA"/>
          </a:solidFill>
          <a:ln w="19050">
            <a:solidFill>
              <a:srgbClr val="1E2A5C"/>
            </a:solidFill>
            <a:prstDash val="solid"/>
          </a:ln>
        </p:spPr>
        <p:txBody>
          <a:bodyPr/>
          <a:lstStyle/>
          <a:p>
            <a:endParaRPr/>
          </a:p>
        </p:txBody>
      </p:sp>
      <p:sp>
        <p:nvSpPr>
          <p:cNvPr id="36" name="Text 33"/>
          <p:cNvSpPr txBox="1"/>
          <p:nvPr/>
        </p:nvSpPr>
        <p:spPr>
          <a:xfrm>
            <a:off x="11829593" y="5276088"/>
            <a:ext cx="2139696" cy="274320"/>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:ReconsiderCondition</a:t>
            </a:r>
            <a:endParaRPr lang="en-US" sz="1400" dirty="0"/>
          </a:p>
        </p:txBody>
      </p:sp>
      <p:sp>
        <p:nvSpPr>
          <p:cNvPr id="37" name="Text 34"/>
          <p:cNvSpPr txBox="1"/>
          <p:nvPr/>
        </p:nvSpPr>
        <p:spPr>
          <a:xfrm>
            <a:off x="11829593" y="5541264"/>
            <a:ext cx="2139696" cy="256032"/>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description</a:t>
            </a:r>
            <a:endParaRPr lang="en-US" sz="1400" dirty="0"/>
          </a:p>
        </p:txBody>
      </p:sp>
      <p:sp>
        <p:nvSpPr>
          <p:cNvPr id="38" name="Shape 35"/>
          <p:cNvSpPr/>
          <p:nvPr/>
        </p:nvSpPr>
        <p:spPr>
          <a:xfrm flipV="1">
            <a:off x="9589313" y="3675888"/>
            <a:ext cx="2139696" cy="594360"/>
          </a:xfrm>
          <a:prstGeom prst="line">
            <a:avLst/>
          </a:prstGeom>
          <a:noFill/>
          <a:ln w="19050">
            <a:solidFill>
              <a:srgbClr val="1E2A5C"/>
            </a:solidFill>
            <a:prstDash val="solid"/>
            <a:tailEnd type="triangle"/>
          </a:ln>
        </p:spPr>
        <p:txBody>
          <a:bodyPr/>
          <a:lstStyle/>
          <a:p>
            <a:endParaRPr/>
          </a:p>
        </p:txBody>
      </p:sp>
      <p:sp>
        <p:nvSpPr>
          <p:cNvPr id="39" name="Text 36"/>
          <p:cNvSpPr txBox="1"/>
          <p:nvPr/>
        </p:nvSpPr>
        <p:spPr>
          <a:xfrm>
            <a:off x="9607601" y="3602736"/>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HAS_COMPLAINT</a:t>
            </a:r>
            <a:endParaRPr lang="en-US" sz="1400" dirty="0"/>
          </a:p>
        </p:txBody>
      </p:sp>
      <p:sp>
        <p:nvSpPr>
          <p:cNvPr id="40" name="Shape 37"/>
          <p:cNvSpPr/>
          <p:nvPr/>
        </p:nvSpPr>
        <p:spPr>
          <a:xfrm>
            <a:off x="9589313" y="4590288"/>
            <a:ext cx="2139696" cy="0"/>
          </a:xfrm>
          <a:prstGeom prst="line">
            <a:avLst/>
          </a:prstGeom>
          <a:noFill/>
          <a:ln w="19050">
            <a:solidFill>
              <a:srgbClr val="1E2A5C"/>
            </a:solidFill>
            <a:prstDash val="solid"/>
            <a:tailEnd type="triangle"/>
          </a:ln>
        </p:spPr>
        <p:txBody>
          <a:bodyPr/>
          <a:lstStyle/>
          <a:p>
            <a:endParaRPr/>
          </a:p>
        </p:txBody>
      </p:sp>
      <p:sp>
        <p:nvSpPr>
          <p:cNvPr id="41" name="Text 38"/>
          <p:cNvSpPr txBox="1"/>
          <p:nvPr/>
        </p:nvSpPr>
        <p:spPr>
          <a:xfrm>
            <a:off x="9607601" y="4315968"/>
            <a:ext cx="2103120" cy="237744"/>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HAS_PROPOSAL</a:t>
            </a:r>
            <a:endParaRPr lang="en-US" sz="1400" dirty="0"/>
          </a:p>
        </p:txBody>
      </p:sp>
      <p:sp>
        <p:nvSpPr>
          <p:cNvPr id="42" name="Shape 39"/>
          <p:cNvSpPr/>
          <p:nvPr/>
        </p:nvSpPr>
        <p:spPr>
          <a:xfrm flipV="1">
            <a:off x="12899441" y="3950208"/>
            <a:ext cx="0" cy="210312"/>
          </a:xfrm>
          <a:prstGeom prst="line">
            <a:avLst/>
          </a:prstGeom>
          <a:noFill/>
          <a:ln w="19050">
            <a:solidFill>
              <a:srgbClr val="2E74C6"/>
            </a:solidFill>
            <a:prstDash val="solid"/>
            <a:tailEnd type="triangle"/>
          </a:ln>
        </p:spPr>
        <p:txBody>
          <a:bodyPr/>
          <a:lstStyle/>
          <a:p>
            <a:endParaRPr/>
          </a:p>
        </p:txBody>
      </p:sp>
      <p:sp>
        <p:nvSpPr>
          <p:cNvPr id="43" name="Text 40"/>
          <p:cNvSpPr txBox="1"/>
          <p:nvPr/>
        </p:nvSpPr>
        <p:spPr>
          <a:xfrm>
            <a:off x="12954305" y="3931920"/>
            <a:ext cx="1097280" cy="219456"/>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ADDRESSES</a:t>
            </a:r>
            <a:endParaRPr lang="en-US" sz="1400" dirty="0"/>
          </a:p>
        </p:txBody>
      </p:sp>
      <p:sp>
        <p:nvSpPr>
          <p:cNvPr id="44" name="Shape 41"/>
          <p:cNvSpPr/>
          <p:nvPr/>
        </p:nvSpPr>
        <p:spPr>
          <a:xfrm>
            <a:off x="12899441" y="5020056"/>
            <a:ext cx="0" cy="210312"/>
          </a:xfrm>
          <a:prstGeom prst="line">
            <a:avLst/>
          </a:prstGeom>
          <a:noFill/>
          <a:ln w="19050">
            <a:solidFill>
              <a:srgbClr val="2E74C6"/>
            </a:solidFill>
            <a:prstDash val="solid"/>
            <a:tailEnd type="triangle"/>
          </a:ln>
        </p:spPr>
        <p:txBody>
          <a:bodyPr/>
          <a:lstStyle/>
          <a:p>
            <a:endParaRPr/>
          </a:p>
        </p:txBody>
      </p:sp>
      <p:sp>
        <p:nvSpPr>
          <p:cNvPr id="45" name="Text 42"/>
          <p:cNvSpPr txBox="1"/>
          <p:nvPr/>
        </p:nvSpPr>
        <p:spPr>
          <a:xfrm>
            <a:off x="10933481" y="5010912"/>
            <a:ext cx="1901952" cy="237744"/>
          </a:xfrm>
          <a:prstGeom prst="rect">
            <a:avLst/>
          </a:prstGeom>
          <a:noFill/>
          <a:ln/>
        </p:spPr>
        <p:txBody>
          <a:bodyPr wrap="square" lIns="0" tIns="0" rIns="0" bIns="0" rtlCol="0" anchor="ctr"/>
          <a:lstStyle/>
          <a:p>
            <a:pPr marL="0" indent="0" algn="r">
              <a:buNone/>
            </a:pPr>
            <a:r>
              <a:rPr lang="en-US" sz="1400" b="1" dirty="0">
                <a:solidFill>
                  <a:srgbClr val="2E74C6"/>
                </a:solidFill>
                <a:latin typeface="Pretendard" pitchFamily="34" charset="0"/>
                <a:ea typeface="Pretendard" pitchFamily="34" charset="-122"/>
                <a:cs typeface="Pretendard" pitchFamily="34" charset="-120"/>
              </a:rPr>
              <a:t>RECONSIDER_WHEN</a:t>
            </a:r>
            <a:endParaRPr lang="en-US" sz="1400" dirty="0"/>
          </a:p>
        </p:txBody>
      </p:sp>
      <p:sp>
        <p:nvSpPr>
          <p:cNvPr id="46" name="Shape 43"/>
          <p:cNvSpPr/>
          <p:nvPr/>
        </p:nvSpPr>
        <p:spPr>
          <a:xfrm>
            <a:off x="8647481" y="4855464"/>
            <a:ext cx="0" cy="310896"/>
          </a:xfrm>
          <a:prstGeom prst="line">
            <a:avLst/>
          </a:prstGeom>
          <a:noFill/>
          <a:ln w="19050">
            <a:solidFill>
              <a:srgbClr val="1E2A5C"/>
            </a:solidFill>
            <a:prstDash val="solid"/>
            <a:tailEnd type="triangle"/>
          </a:ln>
        </p:spPr>
        <p:txBody>
          <a:bodyPr/>
          <a:lstStyle/>
          <a:p>
            <a:endParaRPr/>
          </a:p>
        </p:txBody>
      </p:sp>
      <p:sp>
        <p:nvSpPr>
          <p:cNvPr id="47" name="Text 44"/>
          <p:cNvSpPr txBox="1"/>
          <p:nvPr/>
        </p:nvSpPr>
        <p:spPr>
          <a:xfrm>
            <a:off x="8702345" y="4882896"/>
            <a:ext cx="100584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FOLLOWS</a:t>
            </a:r>
            <a:endParaRPr lang="en-US" sz="1400" dirty="0"/>
          </a:p>
        </p:txBody>
      </p:sp>
      <p:sp>
        <p:nvSpPr>
          <p:cNvPr id="48" name="Shape 45"/>
          <p:cNvSpPr/>
          <p:nvPr/>
        </p:nvSpPr>
        <p:spPr>
          <a:xfrm>
            <a:off x="7641641" y="5870448"/>
            <a:ext cx="6492240" cy="548640"/>
          </a:xfrm>
          <a:prstGeom prst="roundRect">
            <a:avLst>
              <a:gd name="adj" fmla="val 10000"/>
            </a:avLst>
          </a:prstGeom>
          <a:solidFill>
            <a:srgbClr val="F5F8FC"/>
          </a:solidFill>
          <a:ln w="12700">
            <a:solidFill>
              <a:srgbClr val="D9E0EC"/>
            </a:solidFill>
            <a:prstDash val="solid"/>
          </a:ln>
        </p:spPr>
        <p:txBody>
          <a:bodyPr/>
          <a:lstStyle/>
          <a:p>
            <a:endParaRPr/>
          </a:p>
        </p:txBody>
      </p:sp>
      <p:sp>
        <p:nvSpPr>
          <p:cNvPr id="49" name="Text 46"/>
          <p:cNvSpPr txBox="1"/>
          <p:nvPr/>
        </p:nvSpPr>
        <p:spPr>
          <a:xfrm>
            <a:off x="7751369" y="5870448"/>
            <a:ext cx="6309360" cy="54864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Complaint 설명: 불만이나 불편을 분명히 말한 경우만. 문의 목적, 개인 사정은 아님</a:t>
            </a:r>
            <a:endParaRPr lang="en-US" sz="1400" dirty="0"/>
          </a:p>
        </p:txBody>
      </p:sp>
      <p:sp>
        <p:nvSpPr>
          <p:cNvPr id="50" name="Shape 47"/>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txBody>
          <a:bodyPr/>
          <a:lstStyle/>
          <a:p>
            <a:endParaRPr/>
          </a:p>
        </p:txBody>
      </p:sp>
      <p:sp>
        <p:nvSpPr>
          <p:cNvPr id="51" name="Shape 48"/>
          <p:cNvSpPr/>
          <p:nvPr/>
        </p:nvSpPr>
        <p:spPr>
          <a:xfrm>
            <a:off x="509321" y="6510528"/>
            <a:ext cx="82296" cy="658368"/>
          </a:xfrm>
          <a:prstGeom prst="rect">
            <a:avLst/>
          </a:prstGeom>
          <a:solidFill>
            <a:srgbClr val="2E74C6"/>
          </a:solidFill>
          <a:ln/>
        </p:spPr>
        <p:txBody>
          <a:bodyPr/>
          <a:lstStyle/>
          <a:p>
            <a:endParaRPr/>
          </a:p>
        </p:txBody>
      </p:sp>
      <p:sp>
        <p:nvSpPr>
          <p:cNvPr id="52" name="Text 49"/>
          <p:cNvSpPr txBox="1"/>
          <p:nvPr/>
        </p:nvSpPr>
        <p:spPr>
          <a:xfrm>
            <a:off x="737921" y="6510528"/>
            <a:ext cx="13258800" cy="65836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결과: 스키마 초안 = 노드 타입 4, 관계 5, 패턴 5, 제약 1. 사람은 질문과 데이터 사정(RDB, 가명처리, Neo4j 판)으로 판단</a:t>
            </a:r>
            <a:endParaRPr lang="en-US" sz="1600" dirty="0"/>
          </a:p>
        </p:txBody>
      </p:sp>
      <p:sp>
        <p:nvSpPr>
          <p:cNvPr id="53" name="Shape 50"/>
          <p:cNvSpPr/>
          <p:nvPr/>
        </p:nvSpPr>
        <p:spPr>
          <a:xfrm>
            <a:off x="509321" y="7388352"/>
            <a:ext cx="13624560" cy="0"/>
          </a:xfrm>
          <a:prstGeom prst="line">
            <a:avLst/>
          </a:prstGeom>
          <a:noFill/>
          <a:ln w="12700">
            <a:solidFill>
              <a:srgbClr val="E9ECF3"/>
            </a:solidFill>
            <a:prstDash val="solid"/>
          </a:ln>
        </p:spPr>
        <p:txBody>
          <a:bodyPr/>
          <a:lstStyle/>
          <a:p>
            <a:endParaRPr/>
          </a:p>
        </p:txBody>
      </p:sp>
      <p:sp>
        <p:nvSpPr>
          <p:cNvPr id="54" name="Text 51"/>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근거: 단계 ② 결과(이름 53개와 건수)와 역량 질문 5개, 초안 파일 skeleton_consult_v2.json(GraphSchema 검증 통과)</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단계 ④ 채우기 시험(1) 실제 1건씩 대조</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스키마 초안을 schema로 주고 상담 48건 전체를 실제 추출해, 강사용 정답표와 한 건씩 맞춰 봄</a:t>
            </a:r>
            <a:endParaRPr lang="en-US" sz="1800" dirty="0"/>
          </a:p>
        </p:txBody>
      </p:sp>
      <p:sp>
        <p:nvSpPr>
          <p:cNvPr id="5" name="Shape 2"/>
          <p:cNvSpPr/>
          <p:nvPr/>
        </p:nvSpPr>
        <p:spPr>
          <a:xfrm>
            <a:off x="509321" y="1737360"/>
            <a:ext cx="6675120" cy="365760"/>
          </a:xfrm>
          <a:prstGeom prst="roundRect">
            <a:avLst>
              <a:gd name="adj" fmla="val 12500"/>
            </a:avLst>
          </a:prstGeom>
          <a:solidFill>
            <a:srgbClr val="404155"/>
          </a:solidFill>
          <a:ln/>
        </p:spPr>
        <p:txBody>
          <a:bodyPr/>
          <a:lstStyle/>
          <a:p>
            <a:endParaRPr/>
          </a:p>
        </p:txBody>
      </p:sp>
      <p:sp>
        <p:nvSpPr>
          <p:cNvPr id="6" name="Text 3"/>
          <p:cNvSpPr txBox="1"/>
          <p:nvPr/>
        </p:nvSpPr>
        <p:spPr>
          <a:xfrm>
            <a:off x="509321" y="1737360"/>
            <a:ext cx="667512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C-20260701-016, 불만이 있는 상담(v2 설명)</a:t>
            </a:r>
            <a:endParaRPr lang="en-US" sz="1600" dirty="0"/>
          </a:p>
        </p:txBody>
      </p:sp>
      <p:sp>
        <p:nvSpPr>
          <p:cNvPr id="7" name="Text 4"/>
          <p:cNvSpPr txBox="1"/>
          <p:nvPr/>
        </p:nvSpPr>
        <p:spPr>
          <a:xfrm>
            <a:off x="600761" y="2157984"/>
            <a:ext cx="1280160" cy="256032"/>
          </a:xfrm>
          <a:prstGeom prst="rect">
            <a:avLst/>
          </a:prstGeom>
          <a:noFill/>
          <a:ln/>
        </p:spPr>
        <p:txBody>
          <a:bodyPr wrap="square" lIns="0" tIns="0" rIns="0" bIns="0"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항목</a:t>
            </a:r>
            <a:endParaRPr lang="en-US" sz="1400" dirty="0"/>
          </a:p>
        </p:txBody>
      </p:sp>
      <p:sp>
        <p:nvSpPr>
          <p:cNvPr id="8" name="Text 5"/>
          <p:cNvSpPr txBox="1"/>
          <p:nvPr/>
        </p:nvSpPr>
        <p:spPr>
          <a:xfrm>
            <a:off x="1926641" y="2157984"/>
            <a:ext cx="2194560" cy="256032"/>
          </a:xfrm>
          <a:prstGeom prst="rect">
            <a:avLst/>
          </a:prstGeom>
          <a:noFill/>
          <a:ln/>
        </p:spPr>
        <p:txBody>
          <a:bodyPr wrap="square" lIns="0" tIns="0" rIns="0" bIns="0"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정답(대조표)</a:t>
            </a:r>
            <a:endParaRPr lang="en-US" sz="1400" dirty="0"/>
          </a:p>
        </p:txBody>
      </p:sp>
      <p:sp>
        <p:nvSpPr>
          <p:cNvPr id="9" name="Text 6"/>
          <p:cNvSpPr txBox="1"/>
          <p:nvPr/>
        </p:nvSpPr>
        <p:spPr>
          <a:xfrm>
            <a:off x="4166921" y="2157984"/>
            <a:ext cx="2194560" cy="256032"/>
          </a:xfrm>
          <a:prstGeom prst="rect">
            <a:avLst/>
          </a:prstGeom>
          <a:noFill/>
          <a:ln/>
        </p:spPr>
        <p:txBody>
          <a:bodyPr wrap="square" lIns="0" tIns="0" rIns="0" bIns="0"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추출 결과</a:t>
            </a:r>
            <a:endParaRPr lang="en-US" sz="1400" dirty="0"/>
          </a:p>
        </p:txBody>
      </p:sp>
      <p:sp>
        <p:nvSpPr>
          <p:cNvPr id="10" name="Shape 7"/>
          <p:cNvSpPr/>
          <p:nvPr/>
        </p:nvSpPr>
        <p:spPr>
          <a:xfrm>
            <a:off x="509321" y="2468880"/>
            <a:ext cx="6675120" cy="731520"/>
          </a:xfrm>
          <a:prstGeom prst="roundRect">
            <a:avLst>
              <a:gd name="adj" fmla="val 7500"/>
            </a:avLst>
          </a:prstGeom>
          <a:solidFill>
            <a:srgbClr val="FFFFFF"/>
          </a:solidFill>
          <a:ln w="12700">
            <a:solidFill>
              <a:srgbClr val="D9E0EC"/>
            </a:solidFill>
            <a:prstDash val="solid"/>
          </a:ln>
        </p:spPr>
        <p:txBody>
          <a:bodyPr/>
          <a:lstStyle/>
          <a:p>
            <a:endParaRPr/>
          </a:p>
        </p:txBody>
      </p:sp>
      <p:sp>
        <p:nvSpPr>
          <p:cNvPr id="11" name="Text 8"/>
          <p:cNvSpPr txBox="1"/>
          <p:nvPr/>
        </p:nvSpPr>
        <p:spPr>
          <a:xfrm>
            <a:off x="600761" y="2468880"/>
            <a:ext cx="1280160" cy="7315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불만 원인</a:t>
            </a:r>
            <a:endParaRPr lang="en-US" sz="1400" dirty="0"/>
          </a:p>
        </p:txBody>
      </p:sp>
      <p:sp>
        <p:nvSpPr>
          <p:cNvPr id="12" name="Text 9"/>
          <p:cNvSpPr txBox="1"/>
          <p:nvPr/>
        </p:nvSpPr>
        <p:spPr>
          <a:xfrm>
            <a:off x="1926641" y="2468880"/>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매달 신청을 반복해야 하는 게 불만의 원인</a:t>
            </a:r>
            <a:endParaRPr lang="en-US" sz="1400" dirty="0"/>
          </a:p>
        </p:txBody>
      </p:sp>
      <p:sp>
        <p:nvSpPr>
          <p:cNvPr id="13" name="Text 10"/>
          <p:cNvSpPr txBox="1"/>
          <p:nvPr/>
        </p:nvSpPr>
        <p:spPr>
          <a:xfrm>
            <a:off x="4166921" y="2468880"/>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같음</a:t>
            </a:r>
            <a:endParaRPr lang="en-US" sz="1400" dirty="0"/>
          </a:p>
        </p:txBody>
      </p:sp>
      <p:sp>
        <p:nvSpPr>
          <p:cNvPr id="14" name="Shape 11"/>
          <p:cNvSpPr/>
          <p:nvPr/>
        </p:nvSpPr>
        <p:spPr>
          <a:xfrm>
            <a:off x="6416345" y="2679192"/>
            <a:ext cx="658368" cy="310896"/>
          </a:xfrm>
          <a:prstGeom prst="roundRect">
            <a:avLst>
              <a:gd name="adj" fmla="val 23529"/>
            </a:avLst>
          </a:prstGeom>
          <a:solidFill>
            <a:srgbClr val="2E74C6"/>
          </a:solidFill>
          <a:ln/>
        </p:spPr>
        <p:txBody>
          <a:bodyPr/>
          <a:lstStyle/>
          <a:p>
            <a:endParaRPr/>
          </a:p>
        </p:txBody>
      </p:sp>
      <p:sp>
        <p:nvSpPr>
          <p:cNvPr id="15" name="Text 12"/>
          <p:cNvSpPr txBox="1"/>
          <p:nvPr/>
        </p:nvSpPr>
        <p:spPr>
          <a:xfrm>
            <a:off x="6416345" y="2679192"/>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맞음</a:t>
            </a:r>
            <a:endParaRPr lang="en-US" sz="1400" dirty="0"/>
          </a:p>
        </p:txBody>
      </p:sp>
      <p:sp>
        <p:nvSpPr>
          <p:cNvPr id="16" name="Shape 13"/>
          <p:cNvSpPr/>
          <p:nvPr/>
        </p:nvSpPr>
        <p:spPr>
          <a:xfrm>
            <a:off x="509321" y="3273552"/>
            <a:ext cx="6675120" cy="731520"/>
          </a:xfrm>
          <a:prstGeom prst="roundRect">
            <a:avLst>
              <a:gd name="adj" fmla="val 7500"/>
            </a:avLst>
          </a:prstGeom>
          <a:solidFill>
            <a:srgbClr val="FFFFFF"/>
          </a:solidFill>
          <a:ln w="12700">
            <a:solidFill>
              <a:srgbClr val="D9E0EC"/>
            </a:solidFill>
            <a:prstDash val="solid"/>
          </a:ln>
        </p:spPr>
        <p:txBody>
          <a:bodyPr/>
          <a:lstStyle/>
          <a:p>
            <a:endParaRPr/>
          </a:p>
        </p:txBody>
      </p:sp>
      <p:sp>
        <p:nvSpPr>
          <p:cNvPr id="17" name="Text 14"/>
          <p:cNvSpPr txBox="1"/>
          <p:nvPr/>
        </p:nvSpPr>
        <p:spPr>
          <a:xfrm>
            <a:off x="600761" y="3273552"/>
            <a:ext cx="1280160" cy="7315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재검토 조건</a:t>
            </a:r>
            <a:endParaRPr lang="en-US" sz="1400" dirty="0"/>
          </a:p>
        </p:txBody>
      </p:sp>
      <p:sp>
        <p:nvSpPr>
          <p:cNvPr id="18" name="Text 15"/>
          <p:cNvSpPr txBox="1"/>
          <p:nvPr/>
        </p:nvSpPr>
        <p:spPr>
          <a:xfrm>
            <a:off x="1926641" y="3273552"/>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다음 결제일이 지나고 다시 볼게요</a:t>
            </a:r>
            <a:endParaRPr lang="en-US" sz="1400" dirty="0"/>
          </a:p>
        </p:txBody>
      </p:sp>
      <p:sp>
        <p:nvSpPr>
          <p:cNvPr id="19" name="Text 16"/>
          <p:cNvSpPr txBox="1"/>
          <p:nvPr/>
        </p:nvSpPr>
        <p:spPr>
          <a:xfrm>
            <a:off x="4166921" y="3273552"/>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같음</a:t>
            </a:r>
            <a:endParaRPr lang="en-US" sz="1400" dirty="0"/>
          </a:p>
        </p:txBody>
      </p:sp>
      <p:sp>
        <p:nvSpPr>
          <p:cNvPr id="20" name="Shape 17"/>
          <p:cNvSpPr/>
          <p:nvPr/>
        </p:nvSpPr>
        <p:spPr>
          <a:xfrm>
            <a:off x="6416345" y="3483864"/>
            <a:ext cx="658368" cy="310896"/>
          </a:xfrm>
          <a:prstGeom prst="roundRect">
            <a:avLst>
              <a:gd name="adj" fmla="val 23529"/>
            </a:avLst>
          </a:prstGeom>
          <a:solidFill>
            <a:srgbClr val="2E74C6"/>
          </a:solidFill>
          <a:ln/>
        </p:spPr>
        <p:txBody>
          <a:bodyPr/>
          <a:lstStyle/>
          <a:p>
            <a:endParaRPr/>
          </a:p>
        </p:txBody>
      </p:sp>
      <p:sp>
        <p:nvSpPr>
          <p:cNvPr id="21" name="Text 18"/>
          <p:cNvSpPr txBox="1"/>
          <p:nvPr/>
        </p:nvSpPr>
        <p:spPr>
          <a:xfrm>
            <a:off x="6416345" y="3483864"/>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맞음</a:t>
            </a:r>
            <a:endParaRPr lang="en-US" sz="1400" dirty="0"/>
          </a:p>
        </p:txBody>
      </p:sp>
      <p:sp>
        <p:nvSpPr>
          <p:cNvPr id="22" name="Shape 19"/>
          <p:cNvSpPr/>
          <p:nvPr/>
        </p:nvSpPr>
        <p:spPr>
          <a:xfrm>
            <a:off x="509321" y="4078224"/>
            <a:ext cx="6675120" cy="731520"/>
          </a:xfrm>
          <a:prstGeom prst="roundRect">
            <a:avLst>
              <a:gd name="adj" fmla="val 7500"/>
            </a:avLst>
          </a:prstGeom>
          <a:solidFill>
            <a:srgbClr val="FFFFFF"/>
          </a:solidFill>
          <a:ln w="12700">
            <a:solidFill>
              <a:srgbClr val="D9E0EC"/>
            </a:solidFill>
            <a:prstDash val="solid"/>
          </a:ln>
        </p:spPr>
        <p:txBody>
          <a:bodyPr/>
          <a:lstStyle/>
          <a:p>
            <a:endParaRPr/>
          </a:p>
        </p:txBody>
      </p:sp>
      <p:sp>
        <p:nvSpPr>
          <p:cNvPr id="23" name="Text 20"/>
          <p:cNvSpPr txBox="1"/>
          <p:nvPr/>
        </p:nvSpPr>
        <p:spPr>
          <a:xfrm>
            <a:off x="600761" y="4078224"/>
            <a:ext cx="1280160" cy="7315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이전 상담</a:t>
            </a:r>
            <a:endParaRPr lang="en-US" sz="1400" dirty="0"/>
          </a:p>
        </p:txBody>
      </p:sp>
      <p:sp>
        <p:nvSpPr>
          <p:cNvPr id="24" name="Text 21"/>
          <p:cNvSpPr txBox="1"/>
          <p:nvPr/>
        </p:nvSpPr>
        <p:spPr>
          <a:xfrm>
            <a:off x="1926641" y="4078224"/>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C-20260626-011</a:t>
            </a:r>
            <a:endParaRPr lang="en-US" sz="1400" dirty="0"/>
          </a:p>
        </p:txBody>
      </p:sp>
      <p:sp>
        <p:nvSpPr>
          <p:cNvPr id="25" name="Text 22"/>
          <p:cNvSpPr txBox="1"/>
          <p:nvPr/>
        </p:nvSpPr>
        <p:spPr>
          <a:xfrm>
            <a:off x="4166921" y="4078224"/>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같음(FOLLOWS 관계)</a:t>
            </a:r>
            <a:endParaRPr lang="en-US" sz="1400" dirty="0"/>
          </a:p>
        </p:txBody>
      </p:sp>
      <p:sp>
        <p:nvSpPr>
          <p:cNvPr id="26" name="Shape 23"/>
          <p:cNvSpPr/>
          <p:nvPr/>
        </p:nvSpPr>
        <p:spPr>
          <a:xfrm>
            <a:off x="6416345" y="4288536"/>
            <a:ext cx="658368" cy="310896"/>
          </a:xfrm>
          <a:prstGeom prst="roundRect">
            <a:avLst>
              <a:gd name="adj" fmla="val 23529"/>
            </a:avLst>
          </a:prstGeom>
          <a:solidFill>
            <a:srgbClr val="2E74C6"/>
          </a:solidFill>
          <a:ln/>
        </p:spPr>
        <p:txBody>
          <a:bodyPr/>
          <a:lstStyle/>
          <a:p>
            <a:endParaRPr/>
          </a:p>
        </p:txBody>
      </p:sp>
      <p:sp>
        <p:nvSpPr>
          <p:cNvPr id="27" name="Text 24"/>
          <p:cNvSpPr txBox="1"/>
          <p:nvPr/>
        </p:nvSpPr>
        <p:spPr>
          <a:xfrm>
            <a:off x="6416345" y="4288536"/>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맞음</a:t>
            </a:r>
            <a:endParaRPr lang="en-US" sz="1400" dirty="0"/>
          </a:p>
        </p:txBody>
      </p:sp>
      <p:sp>
        <p:nvSpPr>
          <p:cNvPr id="28" name="Shape 25"/>
          <p:cNvSpPr/>
          <p:nvPr/>
        </p:nvSpPr>
        <p:spPr>
          <a:xfrm>
            <a:off x="509321" y="4882896"/>
            <a:ext cx="6675120" cy="731520"/>
          </a:xfrm>
          <a:prstGeom prst="roundRect">
            <a:avLst>
              <a:gd name="adj" fmla="val 7500"/>
            </a:avLst>
          </a:prstGeom>
          <a:solidFill>
            <a:srgbClr val="F5F8FC"/>
          </a:solidFill>
          <a:ln w="12700">
            <a:solidFill>
              <a:srgbClr val="404155"/>
            </a:solidFill>
            <a:prstDash val="solid"/>
          </a:ln>
        </p:spPr>
        <p:txBody>
          <a:bodyPr/>
          <a:lstStyle/>
          <a:p>
            <a:endParaRPr/>
          </a:p>
        </p:txBody>
      </p:sp>
      <p:sp>
        <p:nvSpPr>
          <p:cNvPr id="29" name="Text 26"/>
          <p:cNvSpPr txBox="1"/>
          <p:nvPr/>
        </p:nvSpPr>
        <p:spPr>
          <a:xfrm>
            <a:off x="600761" y="4882896"/>
            <a:ext cx="1280160" cy="7315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제안과 응답</a:t>
            </a:r>
            <a:endParaRPr lang="en-US" sz="1400" dirty="0"/>
          </a:p>
        </p:txBody>
      </p:sp>
      <p:sp>
        <p:nvSpPr>
          <p:cNvPr id="30" name="Text 27"/>
          <p:cNvSpPr txBox="1"/>
          <p:nvPr/>
        </p:nvSpPr>
        <p:spPr>
          <a:xfrm>
            <a:off x="1926641" y="4882896"/>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할인을 늘릴 수 있는지 확인, 보류</a:t>
            </a:r>
            <a:endParaRPr lang="en-US" sz="1400" dirty="0"/>
          </a:p>
        </p:txBody>
      </p:sp>
      <p:sp>
        <p:nvSpPr>
          <p:cNvPr id="31" name="Text 28"/>
          <p:cNvSpPr txBox="1"/>
          <p:nvPr/>
        </p:nvSpPr>
        <p:spPr>
          <a:xfrm>
            <a:off x="4166921" y="4882896"/>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자동납부 재등록 절차 비교, 수용</a:t>
            </a:r>
            <a:endParaRPr lang="en-US" sz="1400" dirty="0"/>
          </a:p>
        </p:txBody>
      </p:sp>
      <p:sp>
        <p:nvSpPr>
          <p:cNvPr id="32" name="Shape 29"/>
          <p:cNvSpPr/>
          <p:nvPr/>
        </p:nvSpPr>
        <p:spPr>
          <a:xfrm>
            <a:off x="6416345" y="5093208"/>
            <a:ext cx="658368" cy="310896"/>
          </a:xfrm>
          <a:prstGeom prst="roundRect">
            <a:avLst>
              <a:gd name="adj" fmla="val 23529"/>
            </a:avLst>
          </a:prstGeom>
          <a:solidFill>
            <a:srgbClr val="404155"/>
          </a:solidFill>
          <a:ln/>
        </p:spPr>
        <p:txBody>
          <a:bodyPr/>
          <a:lstStyle/>
          <a:p>
            <a:endParaRPr/>
          </a:p>
        </p:txBody>
      </p:sp>
      <p:sp>
        <p:nvSpPr>
          <p:cNvPr id="33" name="Text 30"/>
          <p:cNvSpPr txBox="1"/>
          <p:nvPr/>
        </p:nvSpPr>
        <p:spPr>
          <a:xfrm>
            <a:off x="6416345" y="5093208"/>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틀림</a:t>
            </a:r>
            <a:endParaRPr lang="en-US" sz="1400" dirty="0"/>
          </a:p>
        </p:txBody>
      </p:sp>
      <p:sp>
        <p:nvSpPr>
          <p:cNvPr id="34" name="Text 31"/>
          <p:cNvSpPr txBox="1"/>
          <p:nvPr/>
        </p:nvSpPr>
        <p:spPr>
          <a:xfrm>
            <a:off x="509321" y="5742432"/>
            <a:ext cx="6675120" cy="640080"/>
          </a:xfrm>
          <a:prstGeom prst="rect">
            <a:avLst/>
          </a:prstGeom>
          <a:noFill/>
          <a:ln/>
        </p:spPr>
        <p:txBody>
          <a:bodyPr wrap="square" lIns="0" tIns="0" rIns="0" bIns="0" rtlCol="0" anchor="t"/>
          <a:lstStyle/>
          <a:p>
            <a:pPr marL="0" indent="0" algn="l">
              <a:buNone/>
            </a:pPr>
            <a:r>
              <a:rPr lang="en-US" sz="1400" dirty="0">
                <a:solidFill>
                  <a:srgbClr val="4A5364"/>
                </a:solidFill>
                <a:latin typeface="Pretendard" pitchFamily="34" charset="0"/>
                <a:ea typeface="Pretendard" pitchFamily="34" charset="-122"/>
                <a:cs typeface="Pretendard" pitchFamily="34" charset="-120"/>
              </a:rPr>
              <a:t>제안이 둘 이상인 상담에서 다른 안내를 고르는 실수가 남음(응답 엄격 일치 37 / 48의 이유)</a:t>
            </a:r>
            <a:endParaRPr lang="en-US" sz="1400" dirty="0"/>
          </a:p>
        </p:txBody>
      </p:sp>
      <p:sp>
        <p:nvSpPr>
          <p:cNvPr id="35" name="Shape 32"/>
          <p:cNvSpPr/>
          <p:nvPr/>
        </p:nvSpPr>
        <p:spPr>
          <a:xfrm>
            <a:off x="7458761" y="1737360"/>
            <a:ext cx="6675120" cy="365760"/>
          </a:xfrm>
          <a:prstGeom prst="roundRect">
            <a:avLst>
              <a:gd name="adj" fmla="val 12500"/>
            </a:avLst>
          </a:prstGeom>
          <a:solidFill>
            <a:srgbClr val="1E2A5C"/>
          </a:solidFill>
          <a:ln/>
        </p:spPr>
        <p:txBody>
          <a:bodyPr/>
          <a:lstStyle/>
          <a:p>
            <a:endParaRPr/>
          </a:p>
        </p:txBody>
      </p:sp>
      <p:sp>
        <p:nvSpPr>
          <p:cNvPr id="36" name="Text 33"/>
          <p:cNvSpPr txBox="1"/>
          <p:nvPr/>
        </p:nvSpPr>
        <p:spPr>
          <a:xfrm>
            <a:off x="7458761" y="1737360"/>
            <a:ext cx="667512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C-20260310-018, 불만이 없는 주소 변경 문의</a:t>
            </a:r>
            <a:endParaRPr lang="en-US" sz="1600" dirty="0"/>
          </a:p>
        </p:txBody>
      </p:sp>
      <p:sp>
        <p:nvSpPr>
          <p:cNvPr id="37" name="Text 34"/>
          <p:cNvSpPr txBox="1"/>
          <p:nvPr/>
        </p:nvSpPr>
        <p:spPr>
          <a:xfrm>
            <a:off x="7458761" y="2157984"/>
            <a:ext cx="6675120" cy="256032"/>
          </a:xfrm>
          <a:prstGeom prst="rect">
            <a:avLst/>
          </a:prstGeom>
          <a:noFill/>
          <a:ln/>
        </p:spPr>
        <p:txBody>
          <a:bodyPr wrap="square" lIns="0" tIns="0" rIns="0" bIns="0"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답이 없어야 하는 문서: 불만이 나오면 잘못 뽑은 것</a:t>
            </a:r>
            <a:endParaRPr lang="en-US" sz="1400" dirty="0"/>
          </a:p>
        </p:txBody>
      </p:sp>
      <p:sp>
        <p:nvSpPr>
          <p:cNvPr id="38" name="Shape 35"/>
          <p:cNvSpPr/>
          <p:nvPr/>
        </p:nvSpPr>
        <p:spPr>
          <a:xfrm>
            <a:off x="7458761" y="2468880"/>
            <a:ext cx="6675120" cy="1481328"/>
          </a:xfrm>
          <a:prstGeom prst="roundRect">
            <a:avLst>
              <a:gd name="adj" fmla="val 3704"/>
            </a:avLst>
          </a:prstGeom>
          <a:solidFill>
            <a:srgbClr val="FFFFFF"/>
          </a:solidFill>
          <a:ln w="12700">
            <a:solidFill>
              <a:srgbClr val="D9E0EC"/>
            </a:solidFill>
            <a:prstDash val="solid"/>
          </a:ln>
        </p:spPr>
        <p:txBody>
          <a:bodyPr/>
          <a:lstStyle/>
          <a:p>
            <a:endParaRPr/>
          </a:p>
        </p:txBody>
      </p:sp>
      <p:sp>
        <p:nvSpPr>
          <p:cNvPr id="39" name="Shape 36"/>
          <p:cNvSpPr/>
          <p:nvPr/>
        </p:nvSpPr>
        <p:spPr>
          <a:xfrm>
            <a:off x="7550201" y="2560320"/>
            <a:ext cx="1463040" cy="292608"/>
          </a:xfrm>
          <a:prstGeom prst="roundRect">
            <a:avLst>
              <a:gd name="adj" fmla="val 25000"/>
            </a:avLst>
          </a:prstGeom>
          <a:solidFill>
            <a:srgbClr val="4A5364"/>
          </a:solidFill>
          <a:ln/>
        </p:spPr>
        <p:txBody>
          <a:bodyPr/>
          <a:lstStyle/>
          <a:p>
            <a:endParaRPr/>
          </a:p>
        </p:txBody>
      </p:sp>
      <p:sp>
        <p:nvSpPr>
          <p:cNvPr id="40" name="Text 37"/>
          <p:cNvSpPr txBox="1"/>
          <p:nvPr/>
        </p:nvSpPr>
        <p:spPr>
          <a:xfrm>
            <a:off x="7550201" y="2560320"/>
            <a:ext cx="1463040"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v1 설명</a:t>
            </a:r>
            <a:endParaRPr lang="en-US" sz="1400" dirty="0"/>
          </a:p>
        </p:txBody>
      </p:sp>
      <p:sp>
        <p:nvSpPr>
          <p:cNvPr id="41" name="Text 38"/>
          <p:cNvSpPr txBox="1"/>
          <p:nvPr/>
        </p:nvSpPr>
        <p:spPr>
          <a:xfrm>
            <a:off x="7595921" y="2926080"/>
            <a:ext cx="5623560" cy="47548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Complaint {cause: "이사"}</a:t>
            </a:r>
            <a:endParaRPr lang="en-US" sz="1400" dirty="0"/>
          </a:p>
        </p:txBody>
      </p:sp>
      <p:sp>
        <p:nvSpPr>
          <p:cNvPr id="42" name="Shape 39"/>
          <p:cNvSpPr/>
          <p:nvPr/>
        </p:nvSpPr>
        <p:spPr>
          <a:xfrm>
            <a:off x="13347497" y="2999232"/>
            <a:ext cx="658368" cy="310896"/>
          </a:xfrm>
          <a:prstGeom prst="roundRect">
            <a:avLst>
              <a:gd name="adj" fmla="val 23529"/>
            </a:avLst>
          </a:prstGeom>
          <a:solidFill>
            <a:srgbClr val="404155"/>
          </a:solidFill>
          <a:ln/>
        </p:spPr>
        <p:txBody>
          <a:bodyPr/>
          <a:lstStyle/>
          <a:p>
            <a:endParaRPr/>
          </a:p>
        </p:txBody>
      </p:sp>
      <p:sp>
        <p:nvSpPr>
          <p:cNvPr id="43" name="Text 40"/>
          <p:cNvSpPr txBox="1"/>
          <p:nvPr/>
        </p:nvSpPr>
        <p:spPr>
          <a:xfrm>
            <a:off x="13347497" y="2999232"/>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틀림</a:t>
            </a:r>
            <a:endParaRPr lang="en-US" sz="1400" dirty="0"/>
          </a:p>
        </p:txBody>
      </p:sp>
      <p:sp>
        <p:nvSpPr>
          <p:cNvPr id="44" name="Text 41"/>
          <p:cNvSpPr txBox="1"/>
          <p:nvPr/>
        </p:nvSpPr>
        <p:spPr>
          <a:xfrm>
            <a:off x="7595921" y="3419856"/>
            <a:ext cx="5623560" cy="47548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Proposal 2개: 수령지 직접 변경 방법(수용), 후속 안내를 영업점 방식으로(수용)</a:t>
            </a:r>
            <a:endParaRPr lang="en-US" sz="1400" dirty="0"/>
          </a:p>
        </p:txBody>
      </p:sp>
      <p:sp>
        <p:nvSpPr>
          <p:cNvPr id="45" name="Shape 42"/>
          <p:cNvSpPr/>
          <p:nvPr/>
        </p:nvSpPr>
        <p:spPr>
          <a:xfrm>
            <a:off x="13347497" y="3493008"/>
            <a:ext cx="658368" cy="310896"/>
          </a:xfrm>
          <a:prstGeom prst="roundRect">
            <a:avLst>
              <a:gd name="adj" fmla="val 23529"/>
            </a:avLst>
          </a:prstGeom>
          <a:solidFill>
            <a:srgbClr val="404155"/>
          </a:solidFill>
          <a:ln/>
        </p:spPr>
        <p:txBody>
          <a:bodyPr/>
          <a:lstStyle/>
          <a:p>
            <a:endParaRPr/>
          </a:p>
        </p:txBody>
      </p:sp>
      <p:sp>
        <p:nvSpPr>
          <p:cNvPr id="46" name="Text 43"/>
          <p:cNvSpPr txBox="1"/>
          <p:nvPr/>
        </p:nvSpPr>
        <p:spPr>
          <a:xfrm>
            <a:off x="13347497" y="3493008"/>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틀림</a:t>
            </a:r>
            <a:endParaRPr lang="en-US" sz="1400" dirty="0"/>
          </a:p>
        </p:txBody>
      </p:sp>
      <p:sp>
        <p:nvSpPr>
          <p:cNvPr id="47" name="Shape 44"/>
          <p:cNvSpPr/>
          <p:nvPr/>
        </p:nvSpPr>
        <p:spPr>
          <a:xfrm>
            <a:off x="7458761" y="4059936"/>
            <a:ext cx="6675120" cy="1481328"/>
          </a:xfrm>
          <a:prstGeom prst="roundRect">
            <a:avLst>
              <a:gd name="adj" fmla="val 3704"/>
            </a:avLst>
          </a:prstGeom>
          <a:solidFill>
            <a:srgbClr val="EEF3FA"/>
          </a:solidFill>
          <a:ln w="12700">
            <a:solidFill>
              <a:srgbClr val="2E74C6"/>
            </a:solidFill>
            <a:prstDash val="solid"/>
          </a:ln>
        </p:spPr>
        <p:txBody>
          <a:bodyPr/>
          <a:lstStyle/>
          <a:p>
            <a:endParaRPr/>
          </a:p>
        </p:txBody>
      </p:sp>
      <p:sp>
        <p:nvSpPr>
          <p:cNvPr id="48" name="Shape 45"/>
          <p:cNvSpPr/>
          <p:nvPr/>
        </p:nvSpPr>
        <p:spPr>
          <a:xfrm>
            <a:off x="7550201" y="4151376"/>
            <a:ext cx="1463040" cy="292608"/>
          </a:xfrm>
          <a:prstGeom prst="roundRect">
            <a:avLst>
              <a:gd name="adj" fmla="val 25000"/>
            </a:avLst>
          </a:prstGeom>
          <a:solidFill>
            <a:srgbClr val="2E74C6"/>
          </a:solidFill>
          <a:ln/>
        </p:spPr>
        <p:txBody>
          <a:bodyPr/>
          <a:lstStyle/>
          <a:p>
            <a:endParaRPr/>
          </a:p>
        </p:txBody>
      </p:sp>
      <p:sp>
        <p:nvSpPr>
          <p:cNvPr id="49" name="Text 46"/>
          <p:cNvSpPr txBox="1"/>
          <p:nvPr/>
        </p:nvSpPr>
        <p:spPr>
          <a:xfrm>
            <a:off x="7550201" y="4151376"/>
            <a:ext cx="1463040"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v2 설명(좁힘)</a:t>
            </a:r>
            <a:endParaRPr lang="en-US" sz="1400" dirty="0"/>
          </a:p>
        </p:txBody>
      </p:sp>
      <p:sp>
        <p:nvSpPr>
          <p:cNvPr id="50" name="Text 47"/>
          <p:cNvSpPr txBox="1"/>
          <p:nvPr/>
        </p:nvSpPr>
        <p:spPr>
          <a:xfrm>
            <a:off x="7595921" y="4517136"/>
            <a:ext cx="5623560" cy="47548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Complaint 없음</a:t>
            </a:r>
            <a:endParaRPr lang="en-US" sz="1400" dirty="0"/>
          </a:p>
        </p:txBody>
      </p:sp>
      <p:sp>
        <p:nvSpPr>
          <p:cNvPr id="51" name="Shape 48"/>
          <p:cNvSpPr/>
          <p:nvPr/>
        </p:nvSpPr>
        <p:spPr>
          <a:xfrm>
            <a:off x="13347497" y="4590288"/>
            <a:ext cx="658368" cy="310896"/>
          </a:xfrm>
          <a:prstGeom prst="roundRect">
            <a:avLst>
              <a:gd name="adj" fmla="val 23529"/>
            </a:avLst>
          </a:prstGeom>
          <a:solidFill>
            <a:srgbClr val="2E74C6"/>
          </a:solidFill>
          <a:ln/>
        </p:spPr>
        <p:txBody>
          <a:bodyPr/>
          <a:lstStyle/>
          <a:p>
            <a:endParaRPr/>
          </a:p>
        </p:txBody>
      </p:sp>
      <p:sp>
        <p:nvSpPr>
          <p:cNvPr id="52" name="Text 49"/>
          <p:cNvSpPr txBox="1"/>
          <p:nvPr/>
        </p:nvSpPr>
        <p:spPr>
          <a:xfrm>
            <a:off x="13347497" y="4590288"/>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맞음</a:t>
            </a:r>
            <a:endParaRPr lang="en-US" sz="1400" dirty="0"/>
          </a:p>
        </p:txBody>
      </p:sp>
      <p:sp>
        <p:nvSpPr>
          <p:cNvPr id="53" name="Text 50"/>
          <p:cNvSpPr txBox="1"/>
          <p:nvPr/>
        </p:nvSpPr>
        <p:spPr>
          <a:xfrm>
            <a:off x="7595921" y="5010912"/>
            <a:ext cx="5623560" cy="47548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Proposal 1개: 앱에서 본인 인증하고 수령지를 직접 바꾸는 방법, 수용, 이유 "집에서 바로 할 수 있는 쪽이 편해서요"</a:t>
            </a:r>
            <a:endParaRPr lang="en-US" sz="1400" dirty="0"/>
          </a:p>
        </p:txBody>
      </p:sp>
      <p:sp>
        <p:nvSpPr>
          <p:cNvPr id="54" name="Shape 51"/>
          <p:cNvSpPr/>
          <p:nvPr/>
        </p:nvSpPr>
        <p:spPr>
          <a:xfrm>
            <a:off x="13347497" y="5084064"/>
            <a:ext cx="658368" cy="310896"/>
          </a:xfrm>
          <a:prstGeom prst="roundRect">
            <a:avLst>
              <a:gd name="adj" fmla="val 23529"/>
            </a:avLst>
          </a:prstGeom>
          <a:solidFill>
            <a:srgbClr val="2E74C6"/>
          </a:solidFill>
          <a:ln/>
        </p:spPr>
        <p:txBody>
          <a:bodyPr/>
          <a:lstStyle/>
          <a:p>
            <a:endParaRPr/>
          </a:p>
        </p:txBody>
      </p:sp>
      <p:sp>
        <p:nvSpPr>
          <p:cNvPr id="55" name="Text 52"/>
          <p:cNvSpPr txBox="1"/>
          <p:nvPr/>
        </p:nvSpPr>
        <p:spPr>
          <a:xfrm>
            <a:off x="13347497" y="5084064"/>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맞음</a:t>
            </a:r>
            <a:endParaRPr lang="en-US" sz="1400" dirty="0"/>
          </a:p>
        </p:txBody>
      </p:sp>
      <p:sp>
        <p:nvSpPr>
          <p:cNvPr id="56" name="Text 53"/>
          <p:cNvSpPr txBox="1"/>
          <p:nvPr/>
        </p:nvSpPr>
        <p:spPr>
          <a:xfrm>
            <a:off x="7458761" y="5650992"/>
            <a:ext cx="6675120" cy="731520"/>
          </a:xfrm>
          <a:prstGeom prst="rect">
            <a:avLst/>
          </a:prstGeom>
          <a:noFill/>
          <a:ln/>
        </p:spPr>
        <p:txBody>
          <a:bodyPr wrap="square" lIns="0" tIns="0" rIns="0" bIns="0" rtlCol="0" anchor="t"/>
          <a:lstStyle/>
          <a:p>
            <a:pPr marL="0" indent="0" algn="l">
              <a:buNone/>
            </a:pPr>
            <a:r>
              <a:rPr lang="en-US" sz="1400" dirty="0">
                <a:solidFill>
                  <a:srgbClr val="4A5364"/>
                </a:solidFill>
                <a:latin typeface="Pretendard" pitchFamily="34" charset="0"/>
                <a:ea typeface="Pretendard" pitchFamily="34" charset="-122"/>
                <a:cs typeface="Pretendard" pitchFamily="34" charset="-120"/>
              </a:rPr>
              <a:t>v1의 두 번째 제안은 절차 안내라 틀림. 정답표 제안은 1개</a:t>
            </a:r>
            <a:endParaRPr lang="en-US" sz="1400" dirty="0"/>
          </a:p>
        </p:txBody>
      </p:sp>
      <p:sp>
        <p:nvSpPr>
          <p:cNvPr id="57" name="Shape 54"/>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txBody>
          <a:bodyPr/>
          <a:lstStyle/>
          <a:p>
            <a:endParaRPr/>
          </a:p>
        </p:txBody>
      </p:sp>
      <p:sp>
        <p:nvSpPr>
          <p:cNvPr id="58" name="Shape 55"/>
          <p:cNvSpPr/>
          <p:nvPr/>
        </p:nvSpPr>
        <p:spPr>
          <a:xfrm>
            <a:off x="509321" y="6510528"/>
            <a:ext cx="82296" cy="658368"/>
          </a:xfrm>
          <a:prstGeom prst="rect">
            <a:avLst/>
          </a:prstGeom>
          <a:solidFill>
            <a:srgbClr val="2E74C6"/>
          </a:solidFill>
          <a:ln/>
        </p:spPr>
        <p:txBody>
          <a:bodyPr/>
          <a:lstStyle/>
          <a:p>
            <a:endParaRPr/>
          </a:p>
        </p:txBody>
      </p:sp>
      <p:sp>
        <p:nvSpPr>
          <p:cNvPr id="59" name="Text 56"/>
          <p:cNvSpPr txBox="1"/>
          <p:nvPr/>
        </p:nvSpPr>
        <p:spPr>
          <a:xfrm>
            <a:off x="737921" y="6510528"/>
            <a:ext cx="13258800" cy="65836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한 건씩 맞춰 보면 어떤 설명이 넓은지 보임. 답이 없어야 하는 문서가 있어야 잘못 뽑기를 찾음</a:t>
            </a:r>
            <a:endParaRPr lang="en-US" sz="1600" dirty="0"/>
          </a:p>
        </p:txBody>
      </p:sp>
      <p:sp>
        <p:nvSpPr>
          <p:cNvPr id="60" name="Shape 57"/>
          <p:cNvSpPr/>
          <p:nvPr/>
        </p:nvSpPr>
        <p:spPr>
          <a:xfrm>
            <a:off x="509321" y="7388352"/>
            <a:ext cx="13624560" cy="0"/>
          </a:xfrm>
          <a:prstGeom prst="line">
            <a:avLst/>
          </a:prstGeom>
          <a:noFill/>
          <a:ln w="12700">
            <a:solidFill>
              <a:srgbClr val="E9ECF3"/>
            </a:solidFill>
            <a:prstDash val="solid"/>
          </a:ln>
        </p:spPr>
        <p:txBody>
          <a:bodyPr/>
          <a:lstStyle/>
          <a:p>
            <a:endParaRPr/>
          </a:p>
        </p:txBody>
      </p:sp>
      <p:sp>
        <p:nvSpPr>
          <p:cNvPr id="61" name="Text 58"/>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실측: 2026-10-18, Groq openai/gpt-oss-120b, neo4j-graphrag 1.22.0, 합성 상담 이력 v3, LLMEntityRelationExtractor와 GraphPruning, 정답: 강사용 상담근거 대조표(v3)</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단계 ④ 채우기 시험(2) 전체 지표와 설명 고치기</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48건 지표로 보고 잘못 뽑기가 많은 타입의 설명을 고쳐 ③으로 돌아감 — 한 번 고치자 불만 오탐이 22건에서 4건으로</a:t>
            </a:r>
            <a:endParaRPr lang="en-US" sz="1800" dirty="0"/>
          </a:p>
        </p:txBody>
      </p:sp>
      <p:sp>
        <p:nvSpPr>
          <p:cNvPr id="5" name="Shape 2"/>
          <p:cNvSpPr/>
          <p:nvPr/>
        </p:nvSpPr>
        <p:spPr>
          <a:xfrm>
            <a:off x="509321" y="1737360"/>
            <a:ext cx="6675120" cy="365760"/>
          </a:xfrm>
          <a:prstGeom prst="roundRect">
            <a:avLst>
              <a:gd name="adj" fmla="val 12500"/>
            </a:avLst>
          </a:prstGeom>
          <a:solidFill>
            <a:srgbClr val="404155"/>
          </a:solidFill>
          <a:ln/>
        </p:spPr>
        <p:txBody>
          <a:bodyPr/>
          <a:lstStyle/>
          <a:p>
            <a:endParaRPr/>
          </a:p>
        </p:txBody>
      </p:sp>
      <p:sp>
        <p:nvSpPr>
          <p:cNvPr id="6" name="Text 3"/>
          <p:cNvSpPr txBox="1"/>
          <p:nvPr/>
        </p:nvSpPr>
        <p:spPr>
          <a:xfrm>
            <a:off x="509321" y="1737360"/>
            <a:ext cx="667512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상담 48건, 정답표와 비교</a:t>
            </a:r>
            <a:endParaRPr lang="en-US" sz="1600" dirty="0"/>
          </a:p>
        </p:txBody>
      </p:sp>
      <p:sp>
        <p:nvSpPr>
          <p:cNvPr id="7" name="Shape 4"/>
          <p:cNvSpPr/>
          <p:nvPr/>
        </p:nvSpPr>
        <p:spPr>
          <a:xfrm>
            <a:off x="3252521" y="2231136"/>
            <a:ext cx="274320" cy="164592"/>
          </a:xfrm>
          <a:prstGeom prst="rect">
            <a:avLst/>
          </a:prstGeom>
          <a:solidFill>
            <a:srgbClr val="C3CEE0"/>
          </a:solidFill>
          <a:ln/>
        </p:spPr>
        <p:txBody>
          <a:bodyPr/>
          <a:lstStyle/>
          <a:p>
            <a:endParaRPr/>
          </a:p>
        </p:txBody>
      </p:sp>
      <p:sp>
        <p:nvSpPr>
          <p:cNvPr id="8" name="Text 5"/>
          <p:cNvSpPr txBox="1"/>
          <p:nvPr/>
        </p:nvSpPr>
        <p:spPr>
          <a:xfrm>
            <a:off x="3599993" y="2157984"/>
            <a:ext cx="9144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v1 설명</a:t>
            </a:r>
            <a:endParaRPr lang="en-US" sz="1400" dirty="0"/>
          </a:p>
        </p:txBody>
      </p:sp>
      <p:sp>
        <p:nvSpPr>
          <p:cNvPr id="9" name="Shape 6"/>
          <p:cNvSpPr/>
          <p:nvPr/>
        </p:nvSpPr>
        <p:spPr>
          <a:xfrm>
            <a:off x="4532681" y="2231136"/>
            <a:ext cx="274320" cy="164592"/>
          </a:xfrm>
          <a:prstGeom prst="rect">
            <a:avLst/>
          </a:prstGeom>
          <a:solidFill>
            <a:srgbClr val="2E74C6"/>
          </a:solidFill>
          <a:ln/>
        </p:spPr>
        <p:txBody>
          <a:bodyPr/>
          <a:lstStyle/>
          <a:p>
            <a:endParaRPr/>
          </a:p>
        </p:txBody>
      </p:sp>
      <p:sp>
        <p:nvSpPr>
          <p:cNvPr id="10" name="Text 7"/>
          <p:cNvSpPr txBox="1"/>
          <p:nvPr/>
        </p:nvSpPr>
        <p:spPr>
          <a:xfrm>
            <a:off x="4880153" y="2157984"/>
            <a:ext cx="146304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v2 설명(좁힘)</a:t>
            </a:r>
            <a:endParaRPr lang="en-US" sz="1400" dirty="0"/>
          </a:p>
        </p:txBody>
      </p:sp>
      <p:sp>
        <p:nvSpPr>
          <p:cNvPr id="11" name="Shape 8"/>
          <p:cNvSpPr/>
          <p:nvPr/>
        </p:nvSpPr>
        <p:spPr>
          <a:xfrm>
            <a:off x="509321" y="2542032"/>
            <a:ext cx="6675120" cy="676656"/>
          </a:xfrm>
          <a:prstGeom prst="roundRect">
            <a:avLst>
              <a:gd name="adj" fmla="val 8108"/>
            </a:avLst>
          </a:prstGeom>
          <a:solidFill>
            <a:srgbClr val="FFFFFF"/>
          </a:solidFill>
          <a:ln w="12700">
            <a:solidFill>
              <a:srgbClr val="D9E0EC"/>
            </a:solidFill>
            <a:prstDash val="solid"/>
          </a:ln>
        </p:spPr>
        <p:txBody>
          <a:bodyPr/>
          <a:lstStyle/>
          <a:p>
            <a:endParaRPr/>
          </a:p>
        </p:txBody>
      </p:sp>
      <p:sp>
        <p:nvSpPr>
          <p:cNvPr id="12" name="Text 9"/>
          <p:cNvSpPr txBox="1"/>
          <p:nvPr/>
        </p:nvSpPr>
        <p:spPr>
          <a:xfrm>
            <a:off x="619049" y="2596896"/>
            <a:ext cx="260604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불만을 잘못 뽑음</a:t>
            </a:r>
            <a:endParaRPr lang="en-US" sz="1400" dirty="0"/>
          </a:p>
        </p:txBody>
      </p:sp>
      <p:sp>
        <p:nvSpPr>
          <p:cNvPr id="13" name="Text 10"/>
          <p:cNvSpPr txBox="1"/>
          <p:nvPr/>
        </p:nvSpPr>
        <p:spPr>
          <a:xfrm>
            <a:off x="619049" y="2889504"/>
            <a:ext cx="2606040" cy="274320"/>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불만 없는 24건 중, 낮을수록 좋음</a:t>
            </a:r>
            <a:endParaRPr lang="en-US" sz="1400" dirty="0"/>
          </a:p>
        </p:txBody>
      </p:sp>
      <p:sp>
        <p:nvSpPr>
          <p:cNvPr id="14" name="Shape 11"/>
          <p:cNvSpPr/>
          <p:nvPr/>
        </p:nvSpPr>
        <p:spPr>
          <a:xfrm>
            <a:off x="3252521" y="2670048"/>
            <a:ext cx="2849880" cy="182880"/>
          </a:xfrm>
          <a:prstGeom prst="rect">
            <a:avLst/>
          </a:prstGeom>
          <a:solidFill>
            <a:srgbClr val="C3CEE0"/>
          </a:solidFill>
          <a:ln/>
        </p:spPr>
        <p:txBody>
          <a:bodyPr/>
          <a:lstStyle/>
          <a:p>
            <a:endParaRPr/>
          </a:p>
        </p:txBody>
      </p:sp>
      <p:sp>
        <p:nvSpPr>
          <p:cNvPr id="15" name="Text 12"/>
          <p:cNvSpPr txBox="1"/>
          <p:nvPr/>
        </p:nvSpPr>
        <p:spPr>
          <a:xfrm>
            <a:off x="6157265" y="2615184"/>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22</a:t>
            </a:r>
            <a:endParaRPr lang="en-US" sz="1400" dirty="0"/>
          </a:p>
        </p:txBody>
      </p:sp>
      <p:sp>
        <p:nvSpPr>
          <p:cNvPr id="16" name="Shape 13"/>
          <p:cNvSpPr/>
          <p:nvPr/>
        </p:nvSpPr>
        <p:spPr>
          <a:xfrm>
            <a:off x="3252521" y="2926080"/>
            <a:ext cx="518160" cy="182880"/>
          </a:xfrm>
          <a:prstGeom prst="rect">
            <a:avLst/>
          </a:prstGeom>
          <a:solidFill>
            <a:srgbClr val="2E74C6"/>
          </a:solidFill>
          <a:ln/>
        </p:spPr>
        <p:txBody>
          <a:bodyPr/>
          <a:lstStyle/>
          <a:p>
            <a:endParaRPr/>
          </a:p>
        </p:txBody>
      </p:sp>
      <p:sp>
        <p:nvSpPr>
          <p:cNvPr id="17" name="Text 14"/>
          <p:cNvSpPr txBox="1"/>
          <p:nvPr/>
        </p:nvSpPr>
        <p:spPr>
          <a:xfrm>
            <a:off x="3825545" y="2871216"/>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4</a:t>
            </a:r>
            <a:endParaRPr lang="en-US" sz="1400" dirty="0"/>
          </a:p>
        </p:txBody>
      </p:sp>
      <p:sp>
        <p:nvSpPr>
          <p:cNvPr id="18" name="Shape 15"/>
          <p:cNvSpPr/>
          <p:nvPr/>
        </p:nvSpPr>
        <p:spPr>
          <a:xfrm>
            <a:off x="509321" y="3291840"/>
            <a:ext cx="6675120" cy="676656"/>
          </a:xfrm>
          <a:prstGeom prst="roundRect">
            <a:avLst>
              <a:gd name="adj" fmla="val 8108"/>
            </a:avLst>
          </a:prstGeom>
          <a:solidFill>
            <a:srgbClr val="FFFFFF"/>
          </a:solidFill>
          <a:ln w="12700">
            <a:solidFill>
              <a:srgbClr val="D9E0EC"/>
            </a:solidFill>
            <a:prstDash val="solid"/>
          </a:ln>
        </p:spPr>
        <p:txBody>
          <a:bodyPr/>
          <a:lstStyle/>
          <a:p>
            <a:endParaRPr/>
          </a:p>
        </p:txBody>
      </p:sp>
      <p:sp>
        <p:nvSpPr>
          <p:cNvPr id="19" name="Text 16"/>
          <p:cNvSpPr txBox="1"/>
          <p:nvPr/>
        </p:nvSpPr>
        <p:spPr>
          <a:xfrm>
            <a:off x="619049" y="3346704"/>
            <a:ext cx="260604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제안 노드 수</a:t>
            </a:r>
            <a:endParaRPr lang="en-US" sz="1400" dirty="0"/>
          </a:p>
        </p:txBody>
      </p:sp>
      <p:sp>
        <p:nvSpPr>
          <p:cNvPr id="20" name="Text 17"/>
          <p:cNvSpPr txBox="1"/>
          <p:nvPr/>
        </p:nvSpPr>
        <p:spPr>
          <a:xfrm>
            <a:off x="619049" y="3639312"/>
            <a:ext cx="2606040" cy="274320"/>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48건 합계, 낮을수록 좋음</a:t>
            </a:r>
            <a:endParaRPr lang="en-US" sz="1400" dirty="0"/>
          </a:p>
        </p:txBody>
      </p:sp>
      <p:sp>
        <p:nvSpPr>
          <p:cNvPr id="21" name="Shape 18"/>
          <p:cNvSpPr/>
          <p:nvPr/>
        </p:nvSpPr>
        <p:spPr>
          <a:xfrm>
            <a:off x="3252521" y="3419856"/>
            <a:ext cx="3108960" cy="182880"/>
          </a:xfrm>
          <a:prstGeom prst="rect">
            <a:avLst/>
          </a:prstGeom>
          <a:solidFill>
            <a:srgbClr val="C3CEE0"/>
          </a:solidFill>
          <a:ln/>
        </p:spPr>
        <p:txBody>
          <a:bodyPr/>
          <a:lstStyle/>
          <a:p>
            <a:endParaRPr/>
          </a:p>
        </p:txBody>
      </p:sp>
      <p:sp>
        <p:nvSpPr>
          <p:cNvPr id="22" name="Text 19"/>
          <p:cNvSpPr txBox="1"/>
          <p:nvPr/>
        </p:nvSpPr>
        <p:spPr>
          <a:xfrm>
            <a:off x="6416345" y="3364992"/>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87</a:t>
            </a:r>
            <a:endParaRPr lang="en-US" sz="1400" dirty="0"/>
          </a:p>
        </p:txBody>
      </p:sp>
      <p:sp>
        <p:nvSpPr>
          <p:cNvPr id="23" name="Shape 20"/>
          <p:cNvSpPr/>
          <p:nvPr/>
        </p:nvSpPr>
        <p:spPr>
          <a:xfrm>
            <a:off x="3252521" y="3675888"/>
            <a:ext cx="2001170" cy="182880"/>
          </a:xfrm>
          <a:prstGeom prst="rect">
            <a:avLst/>
          </a:prstGeom>
          <a:solidFill>
            <a:srgbClr val="2E74C6"/>
          </a:solidFill>
          <a:ln/>
        </p:spPr>
        <p:txBody>
          <a:bodyPr/>
          <a:lstStyle/>
          <a:p>
            <a:endParaRPr/>
          </a:p>
        </p:txBody>
      </p:sp>
      <p:sp>
        <p:nvSpPr>
          <p:cNvPr id="24" name="Text 21"/>
          <p:cNvSpPr txBox="1"/>
          <p:nvPr/>
        </p:nvSpPr>
        <p:spPr>
          <a:xfrm>
            <a:off x="5308554" y="3621024"/>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56</a:t>
            </a:r>
            <a:endParaRPr lang="en-US" sz="1400" dirty="0"/>
          </a:p>
        </p:txBody>
      </p:sp>
      <p:sp>
        <p:nvSpPr>
          <p:cNvPr id="25" name="Shape 22"/>
          <p:cNvSpPr/>
          <p:nvPr/>
        </p:nvSpPr>
        <p:spPr>
          <a:xfrm>
            <a:off x="509321" y="4041648"/>
            <a:ext cx="6675120" cy="676656"/>
          </a:xfrm>
          <a:prstGeom prst="roundRect">
            <a:avLst>
              <a:gd name="adj" fmla="val 8108"/>
            </a:avLst>
          </a:prstGeom>
          <a:solidFill>
            <a:srgbClr val="FFFFFF"/>
          </a:solidFill>
          <a:ln w="12700">
            <a:solidFill>
              <a:srgbClr val="D9E0EC"/>
            </a:solidFill>
            <a:prstDash val="solid"/>
          </a:ln>
        </p:spPr>
        <p:txBody>
          <a:bodyPr/>
          <a:lstStyle/>
          <a:p>
            <a:endParaRPr/>
          </a:p>
        </p:txBody>
      </p:sp>
      <p:sp>
        <p:nvSpPr>
          <p:cNvPr id="26" name="Text 23"/>
          <p:cNvSpPr txBox="1"/>
          <p:nvPr/>
        </p:nvSpPr>
        <p:spPr>
          <a:xfrm>
            <a:off x="619049" y="4096512"/>
            <a:ext cx="260604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응답이 정답과 같음</a:t>
            </a:r>
            <a:endParaRPr lang="en-US" sz="1400" dirty="0"/>
          </a:p>
        </p:txBody>
      </p:sp>
      <p:sp>
        <p:nvSpPr>
          <p:cNvPr id="27" name="Text 24"/>
          <p:cNvSpPr txBox="1"/>
          <p:nvPr/>
        </p:nvSpPr>
        <p:spPr>
          <a:xfrm>
            <a:off x="619049" y="4389120"/>
            <a:ext cx="2606040" cy="274320"/>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48건 중, 높을수록 좋음</a:t>
            </a:r>
            <a:endParaRPr lang="en-US" sz="1400" dirty="0"/>
          </a:p>
        </p:txBody>
      </p:sp>
      <p:sp>
        <p:nvSpPr>
          <p:cNvPr id="28" name="Shape 25"/>
          <p:cNvSpPr/>
          <p:nvPr/>
        </p:nvSpPr>
        <p:spPr>
          <a:xfrm>
            <a:off x="3252521" y="4169664"/>
            <a:ext cx="2007870" cy="182880"/>
          </a:xfrm>
          <a:prstGeom prst="rect">
            <a:avLst/>
          </a:prstGeom>
          <a:solidFill>
            <a:srgbClr val="C3CEE0"/>
          </a:solidFill>
          <a:ln/>
        </p:spPr>
        <p:txBody>
          <a:bodyPr/>
          <a:lstStyle/>
          <a:p>
            <a:endParaRPr/>
          </a:p>
        </p:txBody>
      </p:sp>
      <p:sp>
        <p:nvSpPr>
          <p:cNvPr id="29" name="Text 26"/>
          <p:cNvSpPr txBox="1"/>
          <p:nvPr/>
        </p:nvSpPr>
        <p:spPr>
          <a:xfrm>
            <a:off x="5315255" y="4114800"/>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31</a:t>
            </a:r>
            <a:endParaRPr lang="en-US" sz="1400" dirty="0"/>
          </a:p>
        </p:txBody>
      </p:sp>
      <p:sp>
        <p:nvSpPr>
          <p:cNvPr id="30" name="Shape 27"/>
          <p:cNvSpPr/>
          <p:nvPr/>
        </p:nvSpPr>
        <p:spPr>
          <a:xfrm>
            <a:off x="3252521" y="4425696"/>
            <a:ext cx="2396490" cy="182880"/>
          </a:xfrm>
          <a:prstGeom prst="rect">
            <a:avLst/>
          </a:prstGeom>
          <a:solidFill>
            <a:srgbClr val="2E74C6"/>
          </a:solidFill>
          <a:ln/>
        </p:spPr>
        <p:txBody>
          <a:bodyPr/>
          <a:lstStyle/>
          <a:p>
            <a:endParaRPr/>
          </a:p>
        </p:txBody>
      </p:sp>
      <p:sp>
        <p:nvSpPr>
          <p:cNvPr id="31" name="Text 28"/>
          <p:cNvSpPr txBox="1"/>
          <p:nvPr/>
        </p:nvSpPr>
        <p:spPr>
          <a:xfrm>
            <a:off x="5703875" y="4370832"/>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37</a:t>
            </a:r>
            <a:endParaRPr lang="en-US" sz="1400" dirty="0"/>
          </a:p>
        </p:txBody>
      </p:sp>
      <p:sp>
        <p:nvSpPr>
          <p:cNvPr id="32" name="Shape 29"/>
          <p:cNvSpPr/>
          <p:nvPr/>
        </p:nvSpPr>
        <p:spPr>
          <a:xfrm>
            <a:off x="509321" y="4791456"/>
            <a:ext cx="6675120" cy="676656"/>
          </a:xfrm>
          <a:prstGeom prst="roundRect">
            <a:avLst>
              <a:gd name="adj" fmla="val 8108"/>
            </a:avLst>
          </a:prstGeom>
          <a:solidFill>
            <a:srgbClr val="FFFFFF"/>
          </a:solidFill>
          <a:ln w="12700">
            <a:solidFill>
              <a:srgbClr val="D9E0EC"/>
            </a:solidFill>
            <a:prstDash val="solid"/>
          </a:ln>
        </p:spPr>
        <p:txBody>
          <a:bodyPr/>
          <a:lstStyle/>
          <a:p>
            <a:endParaRPr/>
          </a:p>
        </p:txBody>
      </p:sp>
      <p:sp>
        <p:nvSpPr>
          <p:cNvPr id="33" name="Text 30"/>
          <p:cNvSpPr txBox="1"/>
          <p:nvPr/>
        </p:nvSpPr>
        <p:spPr>
          <a:xfrm>
            <a:off x="619049" y="4846320"/>
            <a:ext cx="260604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재검토 조건을 잘못 뽑음</a:t>
            </a:r>
            <a:endParaRPr lang="en-US" sz="1400" dirty="0"/>
          </a:p>
        </p:txBody>
      </p:sp>
      <p:sp>
        <p:nvSpPr>
          <p:cNvPr id="34" name="Text 31"/>
          <p:cNvSpPr txBox="1"/>
          <p:nvPr/>
        </p:nvSpPr>
        <p:spPr>
          <a:xfrm>
            <a:off x="619049" y="5138928"/>
            <a:ext cx="2606040" cy="274320"/>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조건 없는 29건 중, 낮을수록 좋음</a:t>
            </a:r>
            <a:endParaRPr lang="en-US" sz="1400" dirty="0"/>
          </a:p>
        </p:txBody>
      </p:sp>
      <p:sp>
        <p:nvSpPr>
          <p:cNvPr id="35" name="Shape 32"/>
          <p:cNvSpPr/>
          <p:nvPr/>
        </p:nvSpPr>
        <p:spPr>
          <a:xfrm>
            <a:off x="3252521" y="4919472"/>
            <a:ext cx="643233" cy="182880"/>
          </a:xfrm>
          <a:prstGeom prst="rect">
            <a:avLst/>
          </a:prstGeom>
          <a:solidFill>
            <a:srgbClr val="C3CEE0"/>
          </a:solidFill>
          <a:ln/>
        </p:spPr>
        <p:txBody>
          <a:bodyPr/>
          <a:lstStyle/>
          <a:p>
            <a:endParaRPr/>
          </a:p>
        </p:txBody>
      </p:sp>
      <p:sp>
        <p:nvSpPr>
          <p:cNvPr id="36" name="Text 33"/>
          <p:cNvSpPr txBox="1"/>
          <p:nvPr/>
        </p:nvSpPr>
        <p:spPr>
          <a:xfrm>
            <a:off x="3950618" y="4864608"/>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6</a:t>
            </a:r>
            <a:endParaRPr lang="en-US" sz="1400" dirty="0"/>
          </a:p>
        </p:txBody>
      </p:sp>
      <p:sp>
        <p:nvSpPr>
          <p:cNvPr id="37" name="Shape 34"/>
          <p:cNvSpPr/>
          <p:nvPr/>
        </p:nvSpPr>
        <p:spPr>
          <a:xfrm>
            <a:off x="3252521" y="5175504"/>
            <a:ext cx="45720" cy="182880"/>
          </a:xfrm>
          <a:prstGeom prst="rect">
            <a:avLst/>
          </a:prstGeom>
          <a:solidFill>
            <a:srgbClr val="2E74C6"/>
          </a:solidFill>
          <a:ln/>
        </p:spPr>
        <p:txBody>
          <a:bodyPr/>
          <a:lstStyle/>
          <a:p>
            <a:endParaRPr/>
          </a:p>
        </p:txBody>
      </p:sp>
      <p:sp>
        <p:nvSpPr>
          <p:cNvPr id="38" name="Text 35"/>
          <p:cNvSpPr txBox="1"/>
          <p:nvPr/>
        </p:nvSpPr>
        <p:spPr>
          <a:xfrm>
            <a:off x="3353105" y="5120640"/>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0</a:t>
            </a:r>
            <a:endParaRPr lang="en-US" sz="1400" dirty="0"/>
          </a:p>
        </p:txBody>
      </p:sp>
      <p:sp>
        <p:nvSpPr>
          <p:cNvPr id="39" name="Shape 36"/>
          <p:cNvSpPr/>
          <p:nvPr/>
        </p:nvSpPr>
        <p:spPr>
          <a:xfrm>
            <a:off x="509321" y="5541264"/>
            <a:ext cx="6675120" cy="676656"/>
          </a:xfrm>
          <a:prstGeom prst="roundRect">
            <a:avLst>
              <a:gd name="adj" fmla="val 8108"/>
            </a:avLst>
          </a:prstGeom>
          <a:solidFill>
            <a:srgbClr val="FFFFFF"/>
          </a:solidFill>
          <a:ln w="12700">
            <a:solidFill>
              <a:srgbClr val="D9E0EC"/>
            </a:solidFill>
            <a:prstDash val="solid"/>
          </a:ln>
        </p:spPr>
        <p:txBody>
          <a:bodyPr/>
          <a:lstStyle/>
          <a:p>
            <a:endParaRPr/>
          </a:p>
        </p:txBody>
      </p:sp>
      <p:sp>
        <p:nvSpPr>
          <p:cNvPr id="40" name="Text 37"/>
          <p:cNvSpPr txBox="1"/>
          <p:nvPr/>
        </p:nvSpPr>
        <p:spPr>
          <a:xfrm>
            <a:off x="619049" y="5596128"/>
            <a:ext cx="260604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이전 상담 연결을 뽑음</a:t>
            </a:r>
            <a:endParaRPr lang="en-US" sz="1400" dirty="0"/>
          </a:p>
        </p:txBody>
      </p:sp>
      <p:sp>
        <p:nvSpPr>
          <p:cNvPr id="41" name="Text 38"/>
          <p:cNvSpPr txBox="1"/>
          <p:nvPr/>
        </p:nvSpPr>
        <p:spPr>
          <a:xfrm>
            <a:off x="619049" y="5888736"/>
            <a:ext cx="2606040" cy="274320"/>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연결 있는 36건 중, 높을수록 좋음</a:t>
            </a:r>
            <a:endParaRPr lang="en-US" sz="1400" dirty="0"/>
          </a:p>
        </p:txBody>
      </p:sp>
      <p:sp>
        <p:nvSpPr>
          <p:cNvPr id="42" name="Shape 39"/>
          <p:cNvSpPr/>
          <p:nvPr/>
        </p:nvSpPr>
        <p:spPr>
          <a:xfrm>
            <a:off x="3252521" y="5669280"/>
            <a:ext cx="2936240" cy="182880"/>
          </a:xfrm>
          <a:prstGeom prst="rect">
            <a:avLst/>
          </a:prstGeom>
          <a:solidFill>
            <a:srgbClr val="C3CEE0"/>
          </a:solidFill>
          <a:ln/>
        </p:spPr>
        <p:txBody>
          <a:bodyPr/>
          <a:lstStyle/>
          <a:p>
            <a:endParaRPr/>
          </a:p>
        </p:txBody>
      </p:sp>
      <p:sp>
        <p:nvSpPr>
          <p:cNvPr id="43" name="Text 40"/>
          <p:cNvSpPr txBox="1"/>
          <p:nvPr/>
        </p:nvSpPr>
        <p:spPr>
          <a:xfrm>
            <a:off x="6243625" y="5614416"/>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34</a:t>
            </a:r>
            <a:endParaRPr lang="en-US" sz="1400" dirty="0"/>
          </a:p>
        </p:txBody>
      </p:sp>
      <p:sp>
        <p:nvSpPr>
          <p:cNvPr id="44" name="Shape 41"/>
          <p:cNvSpPr/>
          <p:nvPr/>
        </p:nvSpPr>
        <p:spPr>
          <a:xfrm>
            <a:off x="3252521" y="5925312"/>
            <a:ext cx="3108960" cy="182880"/>
          </a:xfrm>
          <a:prstGeom prst="rect">
            <a:avLst/>
          </a:prstGeom>
          <a:solidFill>
            <a:srgbClr val="2E74C6"/>
          </a:solidFill>
          <a:ln/>
        </p:spPr>
        <p:txBody>
          <a:bodyPr/>
          <a:lstStyle/>
          <a:p>
            <a:endParaRPr/>
          </a:p>
        </p:txBody>
      </p:sp>
      <p:sp>
        <p:nvSpPr>
          <p:cNvPr id="45" name="Text 42"/>
          <p:cNvSpPr txBox="1"/>
          <p:nvPr/>
        </p:nvSpPr>
        <p:spPr>
          <a:xfrm>
            <a:off x="6416345" y="5870448"/>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36</a:t>
            </a:r>
            <a:endParaRPr lang="en-US" sz="1400" dirty="0"/>
          </a:p>
        </p:txBody>
      </p:sp>
      <p:sp>
        <p:nvSpPr>
          <p:cNvPr id="46" name="Shape 43"/>
          <p:cNvSpPr/>
          <p:nvPr/>
        </p:nvSpPr>
        <p:spPr>
          <a:xfrm>
            <a:off x="7458761" y="1737360"/>
            <a:ext cx="6675120" cy="365760"/>
          </a:xfrm>
          <a:prstGeom prst="roundRect">
            <a:avLst>
              <a:gd name="adj" fmla="val 12500"/>
            </a:avLst>
          </a:prstGeom>
          <a:solidFill>
            <a:srgbClr val="1E2A5C"/>
          </a:solidFill>
          <a:ln/>
        </p:spPr>
        <p:txBody>
          <a:bodyPr/>
          <a:lstStyle/>
          <a:p>
            <a:endParaRPr/>
          </a:p>
        </p:txBody>
      </p:sp>
      <p:sp>
        <p:nvSpPr>
          <p:cNvPr id="47" name="Text 44"/>
          <p:cNvSpPr txBox="1"/>
          <p:nvPr/>
        </p:nvSpPr>
        <p:spPr>
          <a:xfrm>
            <a:off x="7458761" y="1737360"/>
            <a:ext cx="667512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고친 설명(description)</a:t>
            </a:r>
            <a:endParaRPr lang="en-US" sz="1600" dirty="0"/>
          </a:p>
        </p:txBody>
      </p:sp>
      <p:sp>
        <p:nvSpPr>
          <p:cNvPr id="48" name="Shape 45"/>
          <p:cNvSpPr/>
          <p:nvPr/>
        </p:nvSpPr>
        <p:spPr>
          <a:xfrm>
            <a:off x="7458761" y="2212848"/>
            <a:ext cx="6675120" cy="1371600"/>
          </a:xfrm>
          <a:prstGeom prst="roundRect">
            <a:avLst>
              <a:gd name="adj" fmla="val 4000"/>
            </a:avLst>
          </a:prstGeom>
          <a:solidFill>
            <a:srgbClr val="FFFFFF"/>
          </a:solidFill>
          <a:ln w="12700">
            <a:solidFill>
              <a:srgbClr val="D9E0EC"/>
            </a:solidFill>
            <a:prstDash val="solid"/>
          </a:ln>
        </p:spPr>
        <p:txBody>
          <a:bodyPr/>
          <a:lstStyle/>
          <a:p>
            <a:endParaRPr/>
          </a:p>
        </p:txBody>
      </p:sp>
      <p:sp>
        <p:nvSpPr>
          <p:cNvPr id="49" name="Shape 46"/>
          <p:cNvSpPr/>
          <p:nvPr/>
        </p:nvSpPr>
        <p:spPr>
          <a:xfrm>
            <a:off x="7550201" y="2304288"/>
            <a:ext cx="1280160" cy="292608"/>
          </a:xfrm>
          <a:prstGeom prst="roundRect">
            <a:avLst>
              <a:gd name="adj" fmla="val 25000"/>
            </a:avLst>
          </a:prstGeom>
          <a:solidFill>
            <a:srgbClr val="1E2A5C"/>
          </a:solidFill>
          <a:ln/>
        </p:spPr>
        <p:txBody>
          <a:bodyPr/>
          <a:lstStyle/>
          <a:p>
            <a:endParaRPr/>
          </a:p>
        </p:txBody>
      </p:sp>
      <p:sp>
        <p:nvSpPr>
          <p:cNvPr id="50" name="Text 47"/>
          <p:cNvSpPr txBox="1"/>
          <p:nvPr/>
        </p:nvSpPr>
        <p:spPr>
          <a:xfrm>
            <a:off x="7550201" y="2304288"/>
            <a:ext cx="1280160"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Complaint</a:t>
            </a:r>
            <a:endParaRPr lang="en-US" sz="1400" dirty="0"/>
          </a:p>
        </p:txBody>
      </p:sp>
      <p:sp>
        <p:nvSpPr>
          <p:cNvPr id="51" name="Text 48"/>
          <p:cNvSpPr txBox="1"/>
          <p:nvPr/>
        </p:nvSpPr>
        <p:spPr>
          <a:xfrm>
            <a:off x="7595921" y="2651760"/>
            <a:ext cx="6400800" cy="877824"/>
          </a:xfrm>
          <a:prstGeom prst="rect">
            <a:avLst/>
          </a:prstGeom>
          <a:noFill/>
          <a:ln/>
        </p:spPr>
        <p:txBody>
          <a:bodyPr wrap="square" lIns="0" tIns="0" rIns="0" bIns="0" rtlCol="0" anchor="t"/>
          <a:lstStyle/>
          <a:p>
            <a:pPr marL="0" indent="0">
              <a:spcAft>
                <a:spcPts val="400"/>
              </a:spcAft>
              <a:buNone/>
            </a:pPr>
            <a:r>
              <a:rPr lang="en-US" sz="1400" dirty="0">
                <a:solidFill>
                  <a:srgbClr val="4A5364"/>
                </a:solidFill>
                <a:latin typeface="Pretendard" pitchFamily="34" charset="0"/>
                <a:ea typeface="Pretendard" pitchFamily="34" charset="-122"/>
                <a:cs typeface="Pretendard" pitchFamily="34" charset="-120"/>
              </a:rPr>
              <a:t>v1: 고객이 말한 불만과 그 원인</a:t>
            </a:r>
            <a:endParaRPr lang="en-US" sz="1400" dirty="0"/>
          </a:p>
          <a:p>
            <a:pPr marL="0" indent="0">
              <a:spcAft>
                <a:spcPts val="400"/>
              </a:spcAft>
              <a:buNone/>
            </a:pPr>
            <a:r>
              <a:rPr lang="en-US" sz="1400" b="1" dirty="0">
                <a:solidFill>
                  <a:srgbClr val="1E2A5C"/>
                </a:solidFill>
                <a:latin typeface="Pretendard" pitchFamily="34" charset="0"/>
                <a:ea typeface="Pretendard" pitchFamily="34" charset="-122"/>
                <a:cs typeface="Pretendard" pitchFamily="34" charset="-120"/>
              </a:rPr>
              <a:t>v2: 불만이나 불편을 분명히 말한 경우만. 단순 문의 목적, 개인 사정(이사, 지출 감소), 궁금증은 아님</a:t>
            </a:r>
            <a:endParaRPr lang="en-US" sz="1400" dirty="0"/>
          </a:p>
        </p:txBody>
      </p:sp>
      <p:sp>
        <p:nvSpPr>
          <p:cNvPr id="52" name="Shape 49"/>
          <p:cNvSpPr/>
          <p:nvPr/>
        </p:nvSpPr>
        <p:spPr>
          <a:xfrm>
            <a:off x="7458761" y="3694176"/>
            <a:ext cx="6675120" cy="1371600"/>
          </a:xfrm>
          <a:prstGeom prst="roundRect">
            <a:avLst>
              <a:gd name="adj" fmla="val 4000"/>
            </a:avLst>
          </a:prstGeom>
          <a:solidFill>
            <a:srgbClr val="FFFFFF"/>
          </a:solidFill>
          <a:ln w="12700">
            <a:solidFill>
              <a:srgbClr val="D9E0EC"/>
            </a:solidFill>
            <a:prstDash val="solid"/>
          </a:ln>
        </p:spPr>
        <p:txBody>
          <a:bodyPr/>
          <a:lstStyle/>
          <a:p>
            <a:endParaRPr/>
          </a:p>
        </p:txBody>
      </p:sp>
      <p:sp>
        <p:nvSpPr>
          <p:cNvPr id="53" name="Shape 50"/>
          <p:cNvSpPr/>
          <p:nvPr/>
        </p:nvSpPr>
        <p:spPr>
          <a:xfrm>
            <a:off x="7550201" y="3785616"/>
            <a:ext cx="1280160" cy="292608"/>
          </a:xfrm>
          <a:prstGeom prst="roundRect">
            <a:avLst>
              <a:gd name="adj" fmla="val 25000"/>
            </a:avLst>
          </a:prstGeom>
          <a:solidFill>
            <a:srgbClr val="1E2A5C"/>
          </a:solidFill>
          <a:ln/>
        </p:spPr>
        <p:txBody>
          <a:bodyPr/>
          <a:lstStyle/>
          <a:p>
            <a:endParaRPr/>
          </a:p>
        </p:txBody>
      </p:sp>
      <p:sp>
        <p:nvSpPr>
          <p:cNvPr id="54" name="Text 51"/>
          <p:cNvSpPr txBox="1"/>
          <p:nvPr/>
        </p:nvSpPr>
        <p:spPr>
          <a:xfrm>
            <a:off x="7550201" y="3785616"/>
            <a:ext cx="1280160"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Proposal</a:t>
            </a:r>
            <a:endParaRPr lang="en-US" sz="1400" dirty="0"/>
          </a:p>
        </p:txBody>
      </p:sp>
      <p:sp>
        <p:nvSpPr>
          <p:cNvPr id="55" name="Text 52"/>
          <p:cNvSpPr txBox="1"/>
          <p:nvPr/>
        </p:nvSpPr>
        <p:spPr>
          <a:xfrm>
            <a:off x="7595921" y="4133088"/>
            <a:ext cx="6400800" cy="877824"/>
          </a:xfrm>
          <a:prstGeom prst="rect">
            <a:avLst/>
          </a:prstGeom>
          <a:noFill/>
          <a:ln/>
        </p:spPr>
        <p:txBody>
          <a:bodyPr wrap="square" lIns="0" tIns="0" rIns="0" bIns="0" rtlCol="0" anchor="t"/>
          <a:lstStyle/>
          <a:p>
            <a:pPr marL="0" indent="0">
              <a:spcAft>
                <a:spcPts val="400"/>
              </a:spcAft>
              <a:buNone/>
            </a:pPr>
            <a:r>
              <a:rPr lang="en-US" sz="1400" dirty="0">
                <a:solidFill>
                  <a:srgbClr val="4A5364"/>
                </a:solidFill>
                <a:latin typeface="Pretendard" pitchFamily="34" charset="0"/>
                <a:ea typeface="Pretendard" pitchFamily="34" charset="-122"/>
                <a:cs typeface="Pretendard" pitchFamily="34" charset="-120"/>
              </a:rPr>
              <a:t>v1: 상담사가 한 제안과 고객의 응답</a:t>
            </a:r>
            <a:endParaRPr lang="en-US" sz="1400" dirty="0"/>
          </a:p>
          <a:p>
            <a:pPr marL="0" indent="0">
              <a:spcAft>
                <a:spcPts val="400"/>
              </a:spcAft>
              <a:buNone/>
            </a:pPr>
            <a:r>
              <a:rPr lang="en-US" sz="1400" b="1" dirty="0">
                <a:solidFill>
                  <a:srgbClr val="1E2A5C"/>
                </a:solidFill>
                <a:latin typeface="Pretendard" pitchFamily="34" charset="0"/>
                <a:ea typeface="Pretendard" pitchFamily="34" charset="-122"/>
                <a:cs typeface="Pretendard" pitchFamily="34" charset="-120"/>
              </a:rPr>
              <a:t>v2: 고객이 받아들이거나 거절할 수 있는 구체적 대안만. '확인해 드릴게요' 같은 절차 안내는 아님, 보통 1개</a:t>
            </a:r>
            <a:endParaRPr lang="en-US" sz="1400" dirty="0"/>
          </a:p>
        </p:txBody>
      </p:sp>
      <p:sp>
        <p:nvSpPr>
          <p:cNvPr id="56" name="Shape 53"/>
          <p:cNvSpPr/>
          <p:nvPr/>
        </p:nvSpPr>
        <p:spPr>
          <a:xfrm>
            <a:off x="7458761" y="5175504"/>
            <a:ext cx="6675120" cy="1207008"/>
          </a:xfrm>
          <a:prstGeom prst="roundRect">
            <a:avLst>
              <a:gd name="adj" fmla="val 4545"/>
            </a:avLst>
          </a:prstGeom>
          <a:solidFill>
            <a:srgbClr val="F5F8FC"/>
          </a:solidFill>
          <a:ln w="12700">
            <a:solidFill>
              <a:srgbClr val="D9E0EC"/>
            </a:solidFill>
            <a:prstDash val="solid"/>
          </a:ln>
        </p:spPr>
        <p:txBody>
          <a:bodyPr/>
          <a:lstStyle/>
          <a:p>
            <a:endParaRPr/>
          </a:p>
        </p:txBody>
      </p:sp>
      <p:sp>
        <p:nvSpPr>
          <p:cNvPr id="57" name="Text 54"/>
          <p:cNvSpPr txBox="1"/>
          <p:nvPr/>
        </p:nvSpPr>
        <p:spPr>
          <a:xfrm>
            <a:off x="7595921" y="5175504"/>
            <a:ext cx="6400800" cy="1207008"/>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남은 문제</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응답 엄격 일치 37 / 48: 제안이 여럿이면 다른 안내를 고름</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불만 오탐 4건: '종이 영수증이 없어 불편'처럼 실제 불편 발화 → 정답 기준을 다시 볼 대상</a:t>
            </a:r>
            <a:endParaRPr lang="en-US" sz="1400" dirty="0"/>
          </a:p>
        </p:txBody>
      </p:sp>
      <p:sp>
        <p:nvSpPr>
          <p:cNvPr id="58" name="Shape 55"/>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txBody>
          <a:bodyPr/>
          <a:lstStyle/>
          <a:p>
            <a:endParaRPr/>
          </a:p>
        </p:txBody>
      </p:sp>
      <p:sp>
        <p:nvSpPr>
          <p:cNvPr id="59" name="Shape 56"/>
          <p:cNvSpPr/>
          <p:nvPr/>
        </p:nvSpPr>
        <p:spPr>
          <a:xfrm>
            <a:off x="509321" y="6510528"/>
            <a:ext cx="82296" cy="658368"/>
          </a:xfrm>
          <a:prstGeom prst="rect">
            <a:avLst/>
          </a:prstGeom>
          <a:solidFill>
            <a:srgbClr val="2E74C6"/>
          </a:solidFill>
          <a:ln/>
        </p:spPr>
        <p:txBody>
          <a:bodyPr/>
          <a:lstStyle/>
          <a:p>
            <a:endParaRPr/>
          </a:p>
        </p:txBody>
      </p:sp>
      <p:sp>
        <p:nvSpPr>
          <p:cNvPr id="60" name="Text 57"/>
          <p:cNvSpPr txBox="1"/>
          <p:nvPr/>
        </p:nvSpPr>
        <p:spPr>
          <a:xfrm>
            <a:off x="737921" y="6510528"/>
            <a:ext cx="13258800" cy="65836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결론: 이름보다 설명이 추출 품질을 좌우함. 지표가 기준에 닿을 때까지 ③과 ④를 되풀이</a:t>
            </a:r>
            <a:endParaRPr lang="en-US" sz="1600" dirty="0"/>
          </a:p>
        </p:txBody>
      </p:sp>
      <p:sp>
        <p:nvSpPr>
          <p:cNvPr id="61" name="Shape 58"/>
          <p:cNvSpPr/>
          <p:nvPr/>
        </p:nvSpPr>
        <p:spPr>
          <a:xfrm>
            <a:off x="509321" y="7388352"/>
            <a:ext cx="13624560" cy="0"/>
          </a:xfrm>
          <a:prstGeom prst="line">
            <a:avLst/>
          </a:prstGeom>
          <a:noFill/>
          <a:ln w="12700">
            <a:solidFill>
              <a:srgbClr val="E9ECF3"/>
            </a:solidFill>
            <a:prstDash val="solid"/>
          </a:ln>
        </p:spPr>
        <p:txBody>
          <a:bodyPr/>
          <a:lstStyle/>
          <a:p>
            <a:endParaRPr/>
          </a:p>
        </p:txBody>
      </p:sp>
      <p:sp>
        <p:nvSpPr>
          <p:cNvPr id="62" name="Text 59"/>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실측: 2026-10-18, Groq openai/gpt-oss-120b, neo4j-graphrag 1.22.0, 합성 상담 이력 v3, LLMEntityRelationExtractor와 GraphPruning, 정답: 강사용 상담근거 대조표(v3)</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단계 ⑤ 고정과 그 뒤</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시험을 통과한 스키마 초안을 GraphSchema.save()로 파일에 고정하고, 인덱싱은 그 파일만 읽음</a:t>
            </a:r>
            <a:endParaRPr lang="en-US" sz="1800" dirty="0"/>
          </a:p>
        </p:txBody>
      </p:sp>
      <p:sp>
        <p:nvSpPr>
          <p:cNvPr id="5" name="Shape 2"/>
          <p:cNvSpPr/>
          <p:nvPr/>
        </p:nvSpPr>
        <p:spPr>
          <a:xfrm>
            <a:off x="509321" y="1737360"/>
            <a:ext cx="5120640" cy="365760"/>
          </a:xfrm>
          <a:prstGeom prst="roundRect">
            <a:avLst>
              <a:gd name="adj" fmla="val 12500"/>
            </a:avLst>
          </a:prstGeom>
          <a:solidFill>
            <a:srgbClr val="404155"/>
          </a:solidFill>
          <a:ln/>
        </p:spPr>
        <p:txBody>
          <a:bodyPr/>
          <a:lstStyle/>
          <a:p>
            <a:endParaRPr/>
          </a:p>
        </p:txBody>
      </p:sp>
      <p:sp>
        <p:nvSpPr>
          <p:cNvPr id="6" name="Text 3"/>
          <p:cNvSpPr txBox="1"/>
          <p:nvPr/>
        </p:nvSpPr>
        <p:spPr>
          <a:xfrm>
            <a:off x="509321" y="1737360"/>
            <a:ext cx="512064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저장과 다시 읽기(실측)</a:t>
            </a:r>
            <a:endParaRPr lang="en-US" sz="1600" dirty="0"/>
          </a:p>
        </p:txBody>
      </p:sp>
      <p:sp>
        <p:nvSpPr>
          <p:cNvPr id="7" name="Shape 4"/>
          <p:cNvSpPr/>
          <p:nvPr/>
        </p:nvSpPr>
        <p:spPr>
          <a:xfrm>
            <a:off x="509321" y="2212848"/>
            <a:ext cx="5120640" cy="1700784"/>
          </a:xfrm>
          <a:prstGeom prst="roundRect">
            <a:avLst>
              <a:gd name="adj" fmla="val 3226"/>
            </a:avLst>
          </a:prstGeom>
          <a:solidFill>
            <a:srgbClr val="F5F8FC"/>
          </a:solidFill>
          <a:ln w="12700">
            <a:solidFill>
              <a:srgbClr val="D9E0EC"/>
            </a:solidFill>
            <a:prstDash val="solid"/>
          </a:ln>
        </p:spPr>
        <p:txBody>
          <a:bodyPr/>
          <a:lstStyle/>
          <a:p>
            <a:endParaRPr/>
          </a:p>
        </p:txBody>
      </p:sp>
      <p:sp>
        <p:nvSpPr>
          <p:cNvPr id="8" name="Text 5"/>
          <p:cNvSpPr txBox="1"/>
          <p:nvPr/>
        </p:nvSpPr>
        <p:spPr>
          <a:xfrm>
            <a:off x="619049" y="2286000"/>
            <a:ext cx="4901184" cy="1572768"/>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schema = GraphSchema.model_validate(초안)</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schema.save("graph_schema_consult.json")</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again = GraphSchema.from_file(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"graph_schema_consult.json")</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again == schema        # True</a:t>
            </a:r>
            <a:endParaRPr lang="en-US" sz="1400" dirty="0"/>
          </a:p>
        </p:txBody>
      </p:sp>
      <p:sp>
        <p:nvSpPr>
          <p:cNvPr id="9" name="Shape 6"/>
          <p:cNvSpPr/>
          <p:nvPr/>
        </p:nvSpPr>
        <p:spPr>
          <a:xfrm>
            <a:off x="509321" y="4041648"/>
            <a:ext cx="1106424" cy="329184"/>
          </a:xfrm>
          <a:prstGeom prst="roundRect">
            <a:avLst>
              <a:gd name="adj" fmla="val 22222"/>
            </a:avLst>
          </a:prstGeom>
          <a:solidFill>
            <a:srgbClr val="EEF3FA"/>
          </a:solidFill>
          <a:ln/>
        </p:spPr>
        <p:txBody>
          <a:bodyPr/>
          <a:lstStyle/>
          <a:p>
            <a:endParaRPr/>
          </a:p>
        </p:txBody>
      </p:sp>
      <p:sp>
        <p:nvSpPr>
          <p:cNvPr id="10" name="Text 7"/>
          <p:cNvSpPr txBox="1"/>
          <p:nvPr/>
        </p:nvSpPr>
        <p:spPr>
          <a:xfrm>
            <a:off x="509321" y="4041648"/>
            <a:ext cx="1106424" cy="32918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노드 타입 4</a:t>
            </a:r>
            <a:endParaRPr lang="en-US" sz="1400" dirty="0"/>
          </a:p>
        </p:txBody>
      </p:sp>
      <p:sp>
        <p:nvSpPr>
          <p:cNvPr id="11" name="Shape 8"/>
          <p:cNvSpPr/>
          <p:nvPr/>
        </p:nvSpPr>
        <p:spPr>
          <a:xfrm>
            <a:off x="1707185" y="4041648"/>
            <a:ext cx="749808" cy="329184"/>
          </a:xfrm>
          <a:prstGeom prst="roundRect">
            <a:avLst>
              <a:gd name="adj" fmla="val 22222"/>
            </a:avLst>
          </a:prstGeom>
          <a:solidFill>
            <a:srgbClr val="EEF3FA"/>
          </a:solidFill>
          <a:ln/>
        </p:spPr>
        <p:txBody>
          <a:bodyPr/>
          <a:lstStyle/>
          <a:p>
            <a:endParaRPr/>
          </a:p>
        </p:txBody>
      </p:sp>
      <p:sp>
        <p:nvSpPr>
          <p:cNvPr id="12" name="Text 9"/>
          <p:cNvSpPr txBox="1"/>
          <p:nvPr/>
        </p:nvSpPr>
        <p:spPr>
          <a:xfrm>
            <a:off x="1707185" y="4041648"/>
            <a:ext cx="749808" cy="32918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관계 5</a:t>
            </a:r>
            <a:endParaRPr lang="en-US" sz="1400" dirty="0"/>
          </a:p>
        </p:txBody>
      </p:sp>
      <p:sp>
        <p:nvSpPr>
          <p:cNvPr id="13" name="Shape 10"/>
          <p:cNvSpPr/>
          <p:nvPr/>
        </p:nvSpPr>
        <p:spPr>
          <a:xfrm>
            <a:off x="2548433" y="4041648"/>
            <a:ext cx="749808" cy="329184"/>
          </a:xfrm>
          <a:prstGeom prst="roundRect">
            <a:avLst>
              <a:gd name="adj" fmla="val 22222"/>
            </a:avLst>
          </a:prstGeom>
          <a:solidFill>
            <a:srgbClr val="EEF3FA"/>
          </a:solidFill>
          <a:ln/>
        </p:spPr>
        <p:txBody>
          <a:bodyPr/>
          <a:lstStyle/>
          <a:p>
            <a:endParaRPr/>
          </a:p>
        </p:txBody>
      </p:sp>
      <p:sp>
        <p:nvSpPr>
          <p:cNvPr id="14" name="Text 11"/>
          <p:cNvSpPr txBox="1"/>
          <p:nvPr/>
        </p:nvSpPr>
        <p:spPr>
          <a:xfrm>
            <a:off x="2548433" y="4041648"/>
            <a:ext cx="749808" cy="32918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패턴 5</a:t>
            </a:r>
            <a:endParaRPr lang="en-US" sz="1400" dirty="0"/>
          </a:p>
        </p:txBody>
      </p:sp>
      <p:sp>
        <p:nvSpPr>
          <p:cNvPr id="15" name="Shape 12"/>
          <p:cNvSpPr/>
          <p:nvPr/>
        </p:nvSpPr>
        <p:spPr>
          <a:xfrm>
            <a:off x="3389681" y="4041648"/>
            <a:ext cx="749808" cy="329184"/>
          </a:xfrm>
          <a:prstGeom prst="roundRect">
            <a:avLst>
              <a:gd name="adj" fmla="val 22222"/>
            </a:avLst>
          </a:prstGeom>
          <a:solidFill>
            <a:srgbClr val="EEF3FA"/>
          </a:solidFill>
          <a:ln/>
        </p:spPr>
        <p:txBody>
          <a:bodyPr/>
          <a:lstStyle/>
          <a:p>
            <a:endParaRPr/>
          </a:p>
        </p:txBody>
      </p:sp>
      <p:sp>
        <p:nvSpPr>
          <p:cNvPr id="16" name="Text 13"/>
          <p:cNvSpPr txBox="1"/>
          <p:nvPr/>
        </p:nvSpPr>
        <p:spPr>
          <a:xfrm>
            <a:off x="3389681" y="4041648"/>
            <a:ext cx="749808" cy="32918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제약 1</a:t>
            </a:r>
            <a:endParaRPr lang="en-US" sz="1400" dirty="0"/>
          </a:p>
        </p:txBody>
      </p:sp>
      <p:sp>
        <p:nvSpPr>
          <p:cNvPr id="17" name="Shape 14"/>
          <p:cNvSpPr/>
          <p:nvPr/>
        </p:nvSpPr>
        <p:spPr>
          <a:xfrm>
            <a:off x="509321" y="4443984"/>
            <a:ext cx="3127248" cy="329184"/>
          </a:xfrm>
          <a:prstGeom prst="roundRect">
            <a:avLst>
              <a:gd name="adj" fmla="val 22222"/>
            </a:avLst>
          </a:prstGeom>
          <a:solidFill>
            <a:srgbClr val="EEF3FA"/>
          </a:solidFill>
          <a:ln/>
        </p:spPr>
        <p:txBody>
          <a:bodyPr/>
          <a:lstStyle/>
          <a:p>
            <a:endParaRPr/>
          </a:p>
        </p:txBody>
      </p:sp>
      <p:sp>
        <p:nvSpPr>
          <p:cNvPr id="18" name="Text 15"/>
          <p:cNvSpPr txBox="1"/>
          <p:nvPr/>
        </p:nvSpPr>
        <p:spPr>
          <a:xfrm>
            <a:off x="509321" y="4443984"/>
            <a:ext cx="3127248" cy="32918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additional_* 3개 모두 False</a:t>
            </a:r>
            <a:endParaRPr lang="en-US" sz="1400" dirty="0"/>
          </a:p>
        </p:txBody>
      </p:sp>
      <p:sp>
        <p:nvSpPr>
          <p:cNvPr id="19" name="Text 16"/>
          <p:cNvSpPr txBox="1"/>
          <p:nvPr/>
        </p:nvSpPr>
        <p:spPr>
          <a:xfrm>
            <a:off x="509321" y="4919472"/>
            <a:ext cx="5120640" cy="566928"/>
          </a:xfrm>
          <a:prstGeom prst="rect">
            <a:avLst/>
          </a:prstGeom>
          <a:noFill/>
          <a:ln/>
        </p:spPr>
        <p:txBody>
          <a:bodyPr wrap="square" lIns="0" tIns="0" rIns="0" bIns="0" rtlCol="0" anchor="t"/>
          <a:lstStyle/>
          <a:p>
            <a:pPr marL="0" indent="0" algn="l">
              <a:buNone/>
            </a:pPr>
            <a:r>
              <a:rPr lang="en-US" sz="1400" dirty="0">
                <a:solidFill>
                  <a:srgbClr val="4A5364"/>
                </a:solidFill>
                <a:latin typeface="Pretendard" pitchFamily="34" charset="0"/>
                <a:ea typeface="Pretendard" pitchFamily="34" charset="-122"/>
                <a:cs typeface="Pretendard" pitchFamily="34" charset="-120"/>
              </a:rPr>
              <a:t>Neo4j 서버 없이 됨. 상담 초안은 사람의 최종 승인 전이라 작업 폴더에서 시연함</a:t>
            </a:r>
            <a:endParaRPr lang="en-US" sz="1400" dirty="0"/>
          </a:p>
        </p:txBody>
      </p:sp>
      <p:sp>
        <p:nvSpPr>
          <p:cNvPr id="20" name="Shape 17"/>
          <p:cNvSpPr/>
          <p:nvPr/>
        </p:nvSpPr>
        <p:spPr>
          <a:xfrm>
            <a:off x="5904281" y="1737360"/>
            <a:ext cx="4343400" cy="365760"/>
          </a:xfrm>
          <a:prstGeom prst="roundRect">
            <a:avLst>
              <a:gd name="adj" fmla="val 12500"/>
            </a:avLst>
          </a:prstGeom>
          <a:solidFill>
            <a:srgbClr val="1E2A5C"/>
          </a:solidFill>
          <a:ln/>
        </p:spPr>
        <p:txBody>
          <a:bodyPr/>
          <a:lstStyle/>
          <a:p>
            <a:endParaRPr/>
          </a:p>
        </p:txBody>
      </p:sp>
      <p:sp>
        <p:nvSpPr>
          <p:cNvPr id="21" name="Text 18"/>
          <p:cNvSpPr txBox="1"/>
          <p:nvPr/>
        </p:nvSpPr>
        <p:spPr>
          <a:xfrm>
            <a:off x="5904281" y="1737360"/>
            <a:ext cx="43434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고정의 뜻</a:t>
            </a:r>
            <a:endParaRPr lang="en-US" sz="1600" dirty="0"/>
          </a:p>
        </p:txBody>
      </p:sp>
      <p:sp>
        <p:nvSpPr>
          <p:cNvPr id="22" name="Shape 19"/>
          <p:cNvSpPr/>
          <p:nvPr/>
        </p:nvSpPr>
        <p:spPr>
          <a:xfrm>
            <a:off x="5904281" y="2212848"/>
            <a:ext cx="4343400" cy="2697480"/>
          </a:xfrm>
          <a:prstGeom prst="roundRect">
            <a:avLst>
              <a:gd name="adj" fmla="val 2034"/>
            </a:avLst>
          </a:prstGeom>
          <a:solidFill>
            <a:srgbClr val="FFFFFF"/>
          </a:solidFill>
          <a:ln w="12700">
            <a:solidFill>
              <a:srgbClr val="D9E0EC"/>
            </a:solidFill>
            <a:prstDash val="solid"/>
          </a:ln>
        </p:spPr>
        <p:txBody>
          <a:bodyPr/>
          <a:lstStyle/>
          <a:p>
            <a:endParaRPr/>
          </a:p>
        </p:txBody>
      </p:sp>
      <p:sp>
        <p:nvSpPr>
          <p:cNvPr id="23" name="Text 20"/>
          <p:cNvSpPr txBox="1"/>
          <p:nvPr/>
        </p:nvSpPr>
        <p:spPr>
          <a:xfrm>
            <a:off x="6041441" y="2340864"/>
            <a:ext cx="4069080" cy="2468880"/>
          </a:xfrm>
          <a:prstGeom prst="rect">
            <a:avLst/>
          </a:prstGeom>
          <a:noFill/>
          <a:ln/>
        </p:spPr>
        <p:txBody>
          <a:bodyPr wrap="square" lIns="0" tIns="0" rIns="0" bIns="0" rtlCol="0" anchor="t"/>
          <a:lstStyle/>
          <a:p>
            <a:pPr marL="152400" indent="-152400">
              <a:spcAft>
                <a:spcPts val="1200"/>
              </a:spcAft>
              <a:buSzPct val="100000"/>
              <a:buChar char="•"/>
            </a:pPr>
            <a:r>
              <a:rPr lang="en-US" sz="1400" dirty="0">
                <a:solidFill>
                  <a:srgbClr val="2B3242"/>
                </a:solidFill>
                <a:latin typeface="Pretendard" pitchFamily="34" charset="0"/>
                <a:ea typeface="Pretendard" pitchFamily="34" charset="-122"/>
                <a:cs typeface="Pretendard" pitchFamily="34" charset="-120"/>
              </a:rPr>
              <a:t>목록 밖 노드 타입과 관계는 가지치기가 지움(additional_* False)</a:t>
            </a:r>
            <a:endParaRPr lang="en-US" sz="1400" dirty="0"/>
          </a:p>
          <a:p>
            <a:pPr marL="152400" indent="-152400">
              <a:spcAft>
                <a:spcPts val="1200"/>
              </a:spcAft>
              <a:buSzPct val="100000"/>
              <a:buChar char="•"/>
            </a:pPr>
            <a:r>
              <a:rPr lang="en-US" sz="1400" dirty="0">
                <a:solidFill>
                  <a:srgbClr val="2B3242"/>
                </a:solidFill>
                <a:latin typeface="Pretendard" pitchFamily="34" charset="0"/>
                <a:ea typeface="Pretendard" pitchFamily="34" charset="-122"/>
                <a:cs typeface="Pretendard" pitchFamily="34" charset="-120"/>
              </a:rPr>
              <a:t>스키마나 원천이 바뀌면 새 세대로 다시 인덱싱</a:t>
            </a:r>
            <a:endParaRPr lang="en-US" sz="1400" dirty="0"/>
          </a:p>
          <a:p>
            <a:pPr marL="152400" indent="-152400">
              <a:spcAft>
                <a:spcPts val="1200"/>
              </a:spcAft>
              <a:buSzPct val="100000"/>
              <a:buChar char="•"/>
            </a:pPr>
            <a:r>
              <a:rPr lang="en-US" sz="1400" dirty="0">
                <a:solidFill>
                  <a:srgbClr val="2B3242"/>
                </a:solidFill>
                <a:latin typeface="Pretendard" pitchFamily="34" charset="0"/>
                <a:ea typeface="Pretendard" pitchFamily="34" charset="-122"/>
                <a:cs typeface="Pretendard" pitchFamily="34" charset="-120"/>
              </a:rPr>
              <a:t>실제 예: 상담 원문 v3를 반영할 때 새 세대 gen-d3v3-20261018을 만들고 상담 48청크만 새로 임베딩, 170청크는 재사용</a:t>
            </a:r>
            <a:endParaRPr lang="en-US" sz="1400" dirty="0"/>
          </a:p>
        </p:txBody>
      </p:sp>
      <p:sp>
        <p:nvSpPr>
          <p:cNvPr id="24" name="Text 21"/>
          <p:cNvSpPr txBox="1"/>
          <p:nvPr/>
        </p:nvSpPr>
        <p:spPr>
          <a:xfrm>
            <a:off x="5904281" y="5029200"/>
            <a:ext cx="434340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인덱싱이 이 파일을 읽는 곳</a:t>
            </a:r>
            <a:endParaRPr lang="en-US" sz="1400" dirty="0"/>
          </a:p>
        </p:txBody>
      </p:sp>
      <p:sp>
        <p:nvSpPr>
          <p:cNvPr id="25" name="Shape 22"/>
          <p:cNvSpPr/>
          <p:nvPr/>
        </p:nvSpPr>
        <p:spPr>
          <a:xfrm>
            <a:off x="5904281" y="5358384"/>
            <a:ext cx="1264920" cy="658368"/>
          </a:xfrm>
          <a:prstGeom prst="roundRect">
            <a:avLst>
              <a:gd name="adj" fmla="val 11111"/>
            </a:avLst>
          </a:prstGeom>
          <a:solidFill>
            <a:srgbClr val="EEF3FA"/>
          </a:solidFill>
          <a:ln w="15875">
            <a:solidFill>
              <a:srgbClr val="2E74C6"/>
            </a:solidFill>
            <a:prstDash val="solid"/>
          </a:ln>
        </p:spPr>
        <p:txBody>
          <a:bodyPr/>
          <a:lstStyle/>
          <a:p>
            <a:endParaRPr/>
          </a:p>
        </p:txBody>
      </p:sp>
      <p:sp>
        <p:nvSpPr>
          <p:cNvPr id="26" name="Text 23"/>
          <p:cNvSpPr txBox="1"/>
          <p:nvPr/>
        </p:nvSpPr>
        <p:spPr>
          <a:xfrm>
            <a:off x="5904281" y="5358384"/>
            <a:ext cx="1264920" cy="65836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GraphSchema</a:t>
            </a:r>
            <a:endParaRPr lang="en-US" sz="1400" dirty="0"/>
          </a:p>
          <a:p>
            <a:pPr marL="0" indent="0" algn="ctr">
              <a:buNone/>
            </a:pPr>
            <a:r>
              <a:rPr lang="en-US" sz="1400" b="1" dirty="0">
                <a:solidFill>
                  <a:srgbClr val="1E2A5C"/>
                </a:solidFill>
                <a:latin typeface="Pretendard" pitchFamily="34" charset="0"/>
                <a:ea typeface="Pretendard" pitchFamily="34" charset="-122"/>
                <a:cs typeface="Pretendard" pitchFamily="34" charset="-120"/>
              </a:rPr>
              <a:t>파일</a:t>
            </a:r>
            <a:endParaRPr lang="en-US" sz="1400" dirty="0"/>
          </a:p>
        </p:txBody>
      </p:sp>
      <p:sp>
        <p:nvSpPr>
          <p:cNvPr id="27" name="Shape 24"/>
          <p:cNvSpPr/>
          <p:nvPr/>
        </p:nvSpPr>
        <p:spPr>
          <a:xfrm>
            <a:off x="7196633" y="5687568"/>
            <a:ext cx="219456" cy="0"/>
          </a:xfrm>
          <a:prstGeom prst="line">
            <a:avLst/>
          </a:prstGeom>
          <a:noFill/>
          <a:ln w="22225">
            <a:solidFill>
              <a:srgbClr val="4A5364"/>
            </a:solidFill>
            <a:prstDash val="solid"/>
            <a:tailEnd type="triangle"/>
          </a:ln>
        </p:spPr>
        <p:txBody>
          <a:bodyPr/>
          <a:lstStyle/>
          <a:p>
            <a:endParaRPr/>
          </a:p>
        </p:txBody>
      </p:sp>
      <p:sp>
        <p:nvSpPr>
          <p:cNvPr id="28" name="Shape 25"/>
          <p:cNvSpPr/>
          <p:nvPr/>
        </p:nvSpPr>
        <p:spPr>
          <a:xfrm>
            <a:off x="7443521" y="5358384"/>
            <a:ext cx="1264920" cy="658368"/>
          </a:xfrm>
          <a:prstGeom prst="roundRect">
            <a:avLst>
              <a:gd name="adj" fmla="val 11111"/>
            </a:avLst>
          </a:prstGeom>
          <a:solidFill>
            <a:srgbClr val="1E2A5C"/>
          </a:solidFill>
          <a:ln/>
        </p:spPr>
        <p:txBody>
          <a:bodyPr/>
          <a:lstStyle/>
          <a:p>
            <a:endParaRPr/>
          </a:p>
        </p:txBody>
      </p:sp>
      <p:sp>
        <p:nvSpPr>
          <p:cNvPr id="29" name="Text 26"/>
          <p:cNvSpPr txBox="1"/>
          <p:nvPr/>
        </p:nvSpPr>
        <p:spPr>
          <a:xfrm>
            <a:off x="7443521" y="5358384"/>
            <a:ext cx="1264920" cy="65836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④ 추출</a:t>
            </a:r>
            <a:endParaRPr lang="en-US" sz="1400" dirty="0"/>
          </a:p>
        </p:txBody>
      </p:sp>
      <p:sp>
        <p:nvSpPr>
          <p:cNvPr id="30" name="Shape 27"/>
          <p:cNvSpPr/>
          <p:nvPr/>
        </p:nvSpPr>
        <p:spPr>
          <a:xfrm>
            <a:off x="8735873" y="5687568"/>
            <a:ext cx="219456" cy="0"/>
          </a:xfrm>
          <a:prstGeom prst="line">
            <a:avLst/>
          </a:prstGeom>
          <a:noFill/>
          <a:ln w="22225">
            <a:solidFill>
              <a:srgbClr val="4A5364"/>
            </a:solidFill>
            <a:prstDash val="solid"/>
            <a:tailEnd type="triangle"/>
          </a:ln>
        </p:spPr>
        <p:txBody>
          <a:bodyPr/>
          <a:lstStyle/>
          <a:p>
            <a:endParaRPr/>
          </a:p>
        </p:txBody>
      </p:sp>
      <p:sp>
        <p:nvSpPr>
          <p:cNvPr id="31" name="Shape 28"/>
          <p:cNvSpPr/>
          <p:nvPr/>
        </p:nvSpPr>
        <p:spPr>
          <a:xfrm>
            <a:off x="8982761" y="5358384"/>
            <a:ext cx="1264920" cy="658368"/>
          </a:xfrm>
          <a:prstGeom prst="roundRect">
            <a:avLst>
              <a:gd name="adj" fmla="val 11111"/>
            </a:avLst>
          </a:prstGeom>
          <a:solidFill>
            <a:srgbClr val="1E2A5C"/>
          </a:solidFill>
          <a:ln/>
        </p:spPr>
        <p:txBody>
          <a:bodyPr/>
          <a:lstStyle/>
          <a:p>
            <a:endParaRPr/>
          </a:p>
        </p:txBody>
      </p:sp>
      <p:sp>
        <p:nvSpPr>
          <p:cNvPr id="32" name="Text 29"/>
          <p:cNvSpPr txBox="1"/>
          <p:nvPr/>
        </p:nvSpPr>
        <p:spPr>
          <a:xfrm>
            <a:off x="8982761" y="5358384"/>
            <a:ext cx="1264920" cy="65836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가지치기</a:t>
            </a:r>
            <a:endParaRPr lang="en-US" sz="1400" dirty="0"/>
          </a:p>
        </p:txBody>
      </p:sp>
      <p:sp>
        <p:nvSpPr>
          <p:cNvPr id="33" name="Text 30"/>
          <p:cNvSpPr txBox="1"/>
          <p:nvPr/>
        </p:nvSpPr>
        <p:spPr>
          <a:xfrm>
            <a:off x="5904281" y="6053328"/>
            <a:ext cx="4343400" cy="329184"/>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추출 프롬프트의 허용 목록과 가지치기 기준으로 함께 씀</a:t>
            </a:r>
            <a:endParaRPr lang="en-US" sz="1400" dirty="0"/>
          </a:p>
        </p:txBody>
      </p:sp>
      <p:sp>
        <p:nvSpPr>
          <p:cNvPr id="34" name="Shape 31"/>
          <p:cNvSpPr/>
          <p:nvPr/>
        </p:nvSpPr>
        <p:spPr>
          <a:xfrm>
            <a:off x="10522001" y="1737360"/>
            <a:ext cx="3611880" cy="365760"/>
          </a:xfrm>
          <a:prstGeom prst="roundRect">
            <a:avLst>
              <a:gd name="adj" fmla="val 12500"/>
            </a:avLst>
          </a:prstGeom>
          <a:solidFill>
            <a:srgbClr val="1E2A5C"/>
          </a:solidFill>
          <a:ln/>
        </p:spPr>
        <p:txBody>
          <a:bodyPr/>
          <a:lstStyle/>
          <a:p>
            <a:endParaRPr/>
          </a:p>
        </p:txBody>
      </p:sp>
      <p:sp>
        <p:nvSpPr>
          <p:cNvPr id="35" name="Text 32"/>
          <p:cNvSpPr txBox="1"/>
          <p:nvPr/>
        </p:nvSpPr>
        <p:spPr>
          <a:xfrm>
            <a:off x="10522001" y="1737360"/>
            <a:ext cx="361188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문서 종류별 진행</a:t>
            </a:r>
            <a:endParaRPr lang="en-US" sz="1600" dirty="0"/>
          </a:p>
        </p:txBody>
      </p:sp>
      <p:sp>
        <p:nvSpPr>
          <p:cNvPr id="36" name="Shape 33"/>
          <p:cNvSpPr/>
          <p:nvPr/>
        </p:nvSpPr>
        <p:spPr>
          <a:xfrm>
            <a:off x="10522001" y="2212848"/>
            <a:ext cx="3611880" cy="1316736"/>
          </a:xfrm>
          <a:prstGeom prst="roundRect">
            <a:avLst>
              <a:gd name="adj" fmla="val 4167"/>
            </a:avLst>
          </a:prstGeom>
          <a:solidFill>
            <a:srgbClr val="EEF3FA"/>
          </a:solidFill>
          <a:ln w="12700">
            <a:solidFill>
              <a:srgbClr val="2E74C6"/>
            </a:solidFill>
            <a:prstDash val="solid"/>
          </a:ln>
        </p:spPr>
        <p:txBody>
          <a:bodyPr/>
          <a:lstStyle/>
          <a:p>
            <a:endParaRPr/>
          </a:p>
        </p:txBody>
      </p:sp>
      <p:sp>
        <p:nvSpPr>
          <p:cNvPr id="37" name="Shape 34"/>
          <p:cNvSpPr/>
          <p:nvPr/>
        </p:nvSpPr>
        <p:spPr>
          <a:xfrm>
            <a:off x="10613441" y="2304288"/>
            <a:ext cx="731520" cy="292608"/>
          </a:xfrm>
          <a:prstGeom prst="roundRect">
            <a:avLst>
              <a:gd name="adj" fmla="val 25000"/>
            </a:avLst>
          </a:prstGeom>
          <a:solidFill>
            <a:srgbClr val="1E2A5C"/>
          </a:solidFill>
          <a:ln/>
        </p:spPr>
        <p:txBody>
          <a:bodyPr/>
          <a:lstStyle/>
          <a:p>
            <a:endParaRPr/>
          </a:p>
        </p:txBody>
      </p:sp>
      <p:sp>
        <p:nvSpPr>
          <p:cNvPr id="38" name="Text 35"/>
          <p:cNvSpPr txBox="1"/>
          <p:nvPr/>
        </p:nvSpPr>
        <p:spPr>
          <a:xfrm>
            <a:off x="10613441" y="2304288"/>
            <a:ext cx="731520"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상담</a:t>
            </a:r>
            <a:endParaRPr lang="en-US" sz="1400" dirty="0"/>
          </a:p>
        </p:txBody>
      </p:sp>
      <p:sp>
        <p:nvSpPr>
          <p:cNvPr id="39" name="Text 36"/>
          <p:cNvSpPr txBox="1"/>
          <p:nvPr/>
        </p:nvSpPr>
        <p:spPr>
          <a:xfrm>
            <a:off x="10631729" y="2651760"/>
            <a:ext cx="3392424" cy="822960"/>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① ~ ④ 완료, ⑤는 사람의 최종 승인 남음</a:t>
            </a:r>
            <a:endParaRPr lang="en-US" sz="1400" dirty="0"/>
          </a:p>
        </p:txBody>
      </p:sp>
      <p:sp>
        <p:nvSpPr>
          <p:cNvPr id="40" name="Shape 37"/>
          <p:cNvSpPr/>
          <p:nvPr/>
        </p:nvSpPr>
        <p:spPr>
          <a:xfrm>
            <a:off x="10522001" y="3639312"/>
            <a:ext cx="3611880" cy="1316736"/>
          </a:xfrm>
          <a:prstGeom prst="roundRect">
            <a:avLst>
              <a:gd name="adj" fmla="val 4167"/>
            </a:avLst>
          </a:prstGeom>
          <a:solidFill>
            <a:srgbClr val="FFFFFF"/>
          </a:solidFill>
          <a:ln w="12700">
            <a:solidFill>
              <a:srgbClr val="D9E0EC"/>
            </a:solidFill>
            <a:prstDash val="solid"/>
          </a:ln>
        </p:spPr>
        <p:txBody>
          <a:bodyPr/>
          <a:lstStyle/>
          <a:p>
            <a:endParaRPr/>
          </a:p>
        </p:txBody>
      </p:sp>
      <p:sp>
        <p:nvSpPr>
          <p:cNvPr id="41" name="Shape 38"/>
          <p:cNvSpPr/>
          <p:nvPr/>
        </p:nvSpPr>
        <p:spPr>
          <a:xfrm>
            <a:off x="10613441" y="3730752"/>
            <a:ext cx="731520" cy="292608"/>
          </a:xfrm>
          <a:prstGeom prst="roundRect">
            <a:avLst>
              <a:gd name="adj" fmla="val 25000"/>
            </a:avLst>
          </a:prstGeom>
          <a:solidFill>
            <a:srgbClr val="1E2A5C"/>
          </a:solidFill>
          <a:ln/>
        </p:spPr>
        <p:txBody>
          <a:bodyPr/>
          <a:lstStyle/>
          <a:p>
            <a:endParaRPr/>
          </a:p>
        </p:txBody>
      </p:sp>
      <p:sp>
        <p:nvSpPr>
          <p:cNvPr id="42" name="Text 39"/>
          <p:cNvSpPr txBox="1"/>
          <p:nvPr/>
        </p:nvSpPr>
        <p:spPr>
          <a:xfrm>
            <a:off x="10613441" y="3730752"/>
            <a:ext cx="731520"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혜택</a:t>
            </a:r>
            <a:endParaRPr lang="en-US" sz="1400" dirty="0"/>
          </a:p>
        </p:txBody>
      </p:sp>
      <p:sp>
        <p:nvSpPr>
          <p:cNvPr id="43" name="Text 40"/>
          <p:cNvSpPr txBox="1"/>
          <p:nvPr/>
        </p:nvSpPr>
        <p:spPr>
          <a:xfrm>
            <a:off x="10631729" y="4078224"/>
            <a:ext cx="3392424" cy="822960"/>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②까지. 질문을 넣자 Exclusion 3 → 25건, 후보가 거의 그대로 초안</a:t>
            </a:r>
            <a:endParaRPr lang="en-US" sz="1400" dirty="0"/>
          </a:p>
        </p:txBody>
      </p:sp>
      <p:sp>
        <p:nvSpPr>
          <p:cNvPr id="44" name="Shape 41"/>
          <p:cNvSpPr/>
          <p:nvPr/>
        </p:nvSpPr>
        <p:spPr>
          <a:xfrm>
            <a:off x="10522001" y="5065776"/>
            <a:ext cx="3611880" cy="1316736"/>
          </a:xfrm>
          <a:prstGeom prst="roundRect">
            <a:avLst>
              <a:gd name="adj" fmla="val 4167"/>
            </a:avLst>
          </a:prstGeom>
          <a:solidFill>
            <a:srgbClr val="FFFFFF"/>
          </a:solidFill>
          <a:ln w="12700">
            <a:solidFill>
              <a:srgbClr val="D9E0EC"/>
            </a:solidFill>
            <a:prstDash val="solid"/>
          </a:ln>
        </p:spPr>
        <p:txBody>
          <a:bodyPr/>
          <a:lstStyle/>
          <a:p>
            <a:endParaRPr/>
          </a:p>
        </p:txBody>
      </p:sp>
      <p:sp>
        <p:nvSpPr>
          <p:cNvPr id="45" name="Shape 42"/>
          <p:cNvSpPr/>
          <p:nvPr/>
        </p:nvSpPr>
        <p:spPr>
          <a:xfrm>
            <a:off x="10613441" y="5157216"/>
            <a:ext cx="731520" cy="292608"/>
          </a:xfrm>
          <a:prstGeom prst="roundRect">
            <a:avLst>
              <a:gd name="adj" fmla="val 25000"/>
            </a:avLst>
          </a:prstGeom>
          <a:solidFill>
            <a:srgbClr val="1E2A5C"/>
          </a:solidFill>
          <a:ln/>
        </p:spPr>
        <p:txBody>
          <a:bodyPr/>
          <a:lstStyle/>
          <a:p>
            <a:endParaRPr/>
          </a:p>
        </p:txBody>
      </p:sp>
      <p:sp>
        <p:nvSpPr>
          <p:cNvPr id="46" name="Text 43"/>
          <p:cNvSpPr txBox="1"/>
          <p:nvPr/>
        </p:nvSpPr>
        <p:spPr>
          <a:xfrm>
            <a:off x="10613441" y="5157216"/>
            <a:ext cx="731520"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약관</a:t>
            </a:r>
            <a:endParaRPr lang="en-US" sz="1400" dirty="0"/>
          </a:p>
        </p:txBody>
      </p:sp>
      <p:sp>
        <p:nvSpPr>
          <p:cNvPr id="47" name="Text 44"/>
          <p:cNvSpPr txBox="1"/>
          <p:nvPr/>
        </p:nvSpPr>
        <p:spPr>
          <a:xfrm>
            <a:off x="10631729" y="5504688"/>
            <a:ext cx="3392424" cy="822960"/>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②까지. 이름 76%가 1건에서만 나옴 → 조항 구조 초안을 사람이 먼저</a:t>
            </a:r>
            <a:endParaRPr lang="en-US" sz="1400" dirty="0"/>
          </a:p>
        </p:txBody>
      </p:sp>
      <p:sp>
        <p:nvSpPr>
          <p:cNvPr id="48" name="Shape 45"/>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txBody>
          <a:bodyPr/>
          <a:lstStyle/>
          <a:p>
            <a:endParaRPr/>
          </a:p>
        </p:txBody>
      </p:sp>
      <p:sp>
        <p:nvSpPr>
          <p:cNvPr id="49" name="Shape 46"/>
          <p:cNvSpPr/>
          <p:nvPr/>
        </p:nvSpPr>
        <p:spPr>
          <a:xfrm>
            <a:off x="509321" y="6510528"/>
            <a:ext cx="82296" cy="658368"/>
          </a:xfrm>
          <a:prstGeom prst="rect">
            <a:avLst/>
          </a:prstGeom>
          <a:solidFill>
            <a:srgbClr val="2E74C6"/>
          </a:solidFill>
          <a:ln/>
        </p:spPr>
        <p:txBody>
          <a:bodyPr/>
          <a:lstStyle/>
          <a:p>
            <a:endParaRPr/>
          </a:p>
        </p:txBody>
      </p:sp>
      <p:sp>
        <p:nvSpPr>
          <p:cNvPr id="50" name="Text 47"/>
          <p:cNvSpPr txBox="1"/>
          <p:nvPr/>
        </p:nvSpPr>
        <p:spPr>
          <a:xfrm>
            <a:off x="737921" y="6510528"/>
            <a:ext cx="13258800" cy="65836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결론: 다섯 단계는 문서와 상관없이 같고, 문서 성격에 따라 LLM 후보를 그대로 쓰는 비중과 사람 판단의 비중이 달라짐</a:t>
            </a:r>
            <a:endParaRPr lang="en-US" sz="1600" dirty="0"/>
          </a:p>
        </p:txBody>
      </p:sp>
      <p:sp>
        <p:nvSpPr>
          <p:cNvPr id="51" name="Shape 48"/>
          <p:cNvSpPr/>
          <p:nvPr/>
        </p:nvSpPr>
        <p:spPr>
          <a:xfrm>
            <a:off x="509321" y="7388352"/>
            <a:ext cx="13624560" cy="0"/>
          </a:xfrm>
          <a:prstGeom prst="line">
            <a:avLst/>
          </a:prstGeom>
          <a:noFill/>
          <a:ln w="12700">
            <a:solidFill>
              <a:srgbClr val="E9ECF3"/>
            </a:solidFill>
            <a:prstDash val="solid"/>
          </a:ln>
        </p:spPr>
        <p:txBody>
          <a:bodyPr/>
          <a:lstStyle/>
          <a:p>
            <a:endParaRPr/>
          </a:p>
        </p:txBody>
      </p:sp>
      <p:sp>
        <p:nvSpPr>
          <p:cNvPr id="52" name="Text 49"/>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실측: 2026-10-18, Groq openai/gpt-oss-120b, neo4j-graphrag 1.22.0, 합성 상담 이력 v3, 인덱서 세대 gen-d3v3-20261018(청크 218개 중 48개 새 임베딩)</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TotalTime>
  <Words>5102</Words>
  <Application>Microsoft Office PowerPoint</Application>
  <PresentationFormat>사용자 지정</PresentationFormat>
  <Paragraphs>551</Paragraphs>
  <Slides>11</Slides>
  <Notes>11</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11</vt:i4>
      </vt:variant>
    </vt:vector>
  </HeadingPairs>
  <TitlesOfParts>
    <vt:vector size="15" baseType="lpstr">
      <vt:lpstr>Arial</vt:lpstr>
      <vt:lpstr>Pretendard</vt:lpstr>
      <vt:lpstr>Pretendard SemiBold</vt:lpstr>
      <vt:lpstr>Office Theme</vt:lpstr>
      <vt:lpstr>1. 스키마 도출: 노드 타입과 관계는 추출 전에 먼저 정함</vt:lpstr>
      <vt:lpstr>1. 스키마 도출: 스키마에 정의하는 7가지</vt:lpstr>
      <vt:lpstr>1. 스키마 도출: 정형 테이블 → 노드 타입과 관계 추출 규칙</vt:lpstr>
      <vt:lpstr>1. 스키마 도출: 프롬프트로 정형 테이블의 스키마 후보 도출</vt:lpstr>
      <vt:lpstr>1. 스키마 도출: 소스 문서 → 노드 타입과 관계 추출 방안</vt:lpstr>
      <vt:lpstr>1. 스키마 도출: 단계 ① 역량 질문 정하기(예시: 상담 이력)</vt:lpstr>
      <vt:lpstr>1. 스키마 도출: 단계 ② 스키마 후보 넓게 뽑기(예시: 상담 이력)</vt:lpstr>
      <vt:lpstr>1. 스키마 도출: 단계 ③ 스키마 후보 확정(LLM 추천 + 사람 확정)</vt:lpstr>
      <vt:lpstr>1. 스키마 도출: 단계 ④ 채우기 시험(1) 실제 1건씩 대조</vt:lpstr>
      <vt:lpstr>1. 스키마 도출: 단계 ④ 채우기 시험(2) 전체 지표와 설명 고치기</vt:lpstr>
      <vt:lpstr>1. 스키마 도출: 단계 ⑤ 고정과 그 뒤</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해경 이</cp:lastModifiedBy>
  <cp:revision>23</cp:revision>
  <dcterms:created xsi:type="dcterms:W3CDTF">2026-10-18T10:51:52Z</dcterms:created>
  <dcterms:modified xsi:type="dcterms:W3CDTF">2026-10-18T13:15:23Z</dcterms:modified>
</cp:coreProperties>
</file>