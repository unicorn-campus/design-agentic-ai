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역량 질문은 문서만 보고 지어내지 않고 사용자가 실제로 묻는 질문에서 출발함. 상담 이력의 출처는 D3 안내문의 검색 평가 질문과 RAGAS 평가셋 문항임. 회원 번호 같은 값을 빈칸으로 바꾸면 같은 틀의 질문이 하나로 묶이고, 묶음마다 역량 질문을 1개 이상 씀. 제안과 응답처럼 한 유형에 두 질문이 필요하면 나눠 씀. 질문에는 Complaint 같은 답이 될 이름을 쓰지 않음. 이 예의 초안은 LLM(클로니)이 사용자 질문을 보고 작성했고 사람이 검토함. 약관과 혜택도 같은 방법으로 5개씩 정했음.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문서를 성격이 비슷한 묶음으로 나눠 묶음마다 표본을 뽑음. 상담은 고객 세그먼트 6개, 혜택은 청크 성격 4개로 나눴음. 1건씩 넣는 이유는 새 이름이 몇 개 늘었는지 세어 멈출 때를 정하려는 것임. 가운데는 실제 1건(C-20260701-016)에 대한 추출기 출력임. Proposal과 Condition은 업무 개념이고, Customer의 email과 birthdate 속성은 가명처리 대상이라 ③에서 버릴 후보임. 30건을 모으면 이름이 53개로 흩어지고 업무 개념 이름은 2 ~ 5건씩만 나옴. 같은 30건에 앞 결과 이름을 넘기면 10개로 모이지만 업무 개념은 불만 하나만 나왔음.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② 결과(이름 53개와 나온 건수)와 역량 질문 5개를 LLM에 주고 초안을 추천받았음(이 예에서는 클로니가 추천). 추천에는 항목마다 근거가 된 질문 번호를 붙임. 병합은 같은 뜻의 이름을 하나로 합치는 것, 제거는 질문에 안 쓰이거나 다른 원천(RDB)에 있거나 가명처리 대상인 것을 빼는 것, 추가는 후보에 없거나 거의 없던 개념을 넣는 것임. 고객 응답(수용, 거절)은 후보에 1건뿐이었지만 질문 3에 필요해 추가함. 사람은 데이터 사정으로 판단함: 응답을 노드로 둘지 속성으로 둘지, 제약은 Community 판에서 되는 UNIQUENESS만. 오른쪽 아래 설명은 ④ 시험을 거쳐 좁힌 최종 판이며, 처음부터 해당과 비해당을 함께 쓰는 것이 좋음.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LLMEntityRelationExtractor에 스키마 초안을 schema로 주고 GraphPruning으로 초안 밖 노드를 지운 뒤 정답표와 비교함. 왼쪽은 불만이 있는 상담 1건으로, 불만 원인, 재검토 조건, 이전 상담 연결은 맞았지만 제안은 상담사가 한 다른 안내(자동납부 재등록 절차 비교)를 골라 응답도 수용으로 적었음. 정답은 할인을 늘리는 제안과 보류임. 오른쪽은 불만이 없는 주소 변경 문의로, 답이 없어야 하는 문서임. v1 설명에서는 '이사'를 불만으로, 절차 안내를 제안으로 뽑았고, 설명을 좁힌 v2에서는 둘 다 사라지고 제안 1개와 이유가 정답과 같아졌음.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v1은 처음 쓴 설명, v2는 시험 결과를 보고 좁힌 설명임. 불만 오탐은 불만이 없는 상담 24건 중 Complaint를 만든 수, 제안 노드 수는 48건에서 만든 Proposal 합계, 응답 일치는 뽑은 응답이 정답 하나뿐인 기록 수임. 설명 몇 줄을 바꾸자 오탐과 작은 안내를 제안으로 뽑는 일이 크게 줄었음. 남은 문제는 응답 엄격 일치 37 / 48과 불만 오탐 4건이며, 오탐 4건은 '종이 영수증이 없어 불편'처럼 고객이 실제로 불편을 말한 경우라 정답 기준을 다시 볼 대상임.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상담 스키마 초안 v2로 저장과 다시 읽기를 해 보았음(사람의 최종 승인 전이라 프로젝트에는 저장하지 않고 작업 폴더에서 시연). 다시 읽은 스키마는 저장 전과 같았고, Neo4j 서버 없이 됨. additional_* 세 값이 False라 인덱싱 때 목록 밖 노드 타입과 관계는 가지치기가 지움. 스키마나 원천이 바뀌면 새 세대로 다시 인덱싱하며, 상담 원문을 v3로 고쳤을 때 새 세대를 만들어 상담 48청크만 새로 임베딩하고 나머지 170청크는 재사용했음. 혜택과 약관은 ②까지 했음. 혜택은 질문을 넣자 제외 대상(Exclusion)이 핵심이 되어 후보가 거의 초안이 되고, 약관은 이름이 흩어져 조항 구조 초안을 사람이 먼저 그리는 쪽이 맞아 보임.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1. 스키마 도출: 단계 ① 역량 질문 정하기(예시: 상담 이력)</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실제 사용자 질문을 모아 값을 빈칸으로 바꾸고 유형으로 묶은 뒤, 유형마다 역량 질문을 씀</a:t>
            </a:r>
            <a:endParaRPr lang="en-US" sz="1800" dirty="0"/>
          </a:p>
        </p:txBody>
      </p:sp>
      <p:sp>
        <p:nvSpPr>
          <p:cNvPr id="5" name="Shape 2"/>
          <p:cNvSpPr/>
          <p:nvPr/>
        </p:nvSpPr>
        <p:spPr>
          <a:xfrm>
            <a:off x="509321" y="1737360"/>
            <a:ext cx="4572000" cy="365760"/>
          </a:xfrm>
          <a:prstGeom prst="roundRect">
            <a:avLst>
              <a:gd name="adj" fmla="val 12500"/>
            </a:avLst>
          </a:prstGeom>
          <a:solidFill>
            <a:srgbClr val="404155"/>
          </a:solidFill>
          <a:ln/>
        </p:spPr>
      </p:sp>
      <p:sp>
        <p:nvSpPr>
          <p:cNvPr id="6" name="Text 3"/>
          <p:cNvSpPr txBox="1"/>
          <p:nvPr/>
        </p:nvSpPr>
        <p:spPr>
          <a:xfrm>
            <a:off x="509321" y="1737360"/>
            <a:ext cx="457200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실제 사용자 질문(출처)</a:t>
            </a:r>
            <a:endParaRPr lang="en-US" sz="1600" dirty="0"/>
          </a:p>
        </p:txBody>
      </p:sp>
      <p:sp>
        <p:nvSpPr>
          <p:cNvPr id="7" name="Shape 4"/>
          <p:cNvSpPr/>
          <p:nvPr/>
        </p:nvSpPr>
        <p:spPr>
          <a:xfrm>
            <a:off x="5401361" y="1737360"/>
            <a:ext cx="3520440" cy="365760"/>
          </a:xfrm>
          <a:prstGeom prst="roundRect">
            <a:avLst>
              <a:gd name="adj" fmla="val 12500"/>
            </a:avLst>
          </a:prstGeom>
          <a:solidFill>
            <a:srgbClr val="404155"/>
          </a:solidFill>
          <a:ln/>
        </p:spPr>
      </p:sp>
      <p:sp>
        <p:nvSpPr>
          <p:cNvPr id="8" name="Text 5"/>
          <p:cNvSpPr txBox="1"/>
          <p:nvPr/>
        </p:nvSpPr>
        <p:spPr>
          <a:xfrm>
            <a:off x="5401361" y="1737360"/>
            <a:ext cx="352044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값을 빈칸으로 → 질문 유형</a:t>
            </a:r>
            <a:endParaRPr lang="en-US" sz="1600" dirty="0"/>
          </a:p>
        </p:txBody>
      </p:sp>
      <p:sp>
        <p:nvSpPr>
          <p:cNvPr id="9" name="Shape 6"/>
          <p:cNvSpPr/>
          <p:nvPr/>
        </p:nvSpPr>
        <p:spPr>
          <a:xfrm>
            <a:off x="9241841" y="1737360"/>
            <a:ext cx="4892040" cy="365760"/>
          </a:xfrm>
          <a:prstGeom prst="roundRect">
            <a:avLst>
              <a:gd name="adj" fmla="val 12500"/>
            </a:avLst>
          </a:prstGeom>
          <a:solidFill>
            <a:srgbClr val="1E2A5C"/>
          </a:solidFill>
          <a:ln/>
        </p:spPr>
      </p:sp>
      <p:sp>
        <p:nvSpPr>
          <p:cNvPr id="10" name="Text 7"/>
          <p:cNvSpPr txBox="1"/>
          <p:nvPr/>
        </p:nvSpPr>
        <p:spPr>
          <a:xfrm>
            <a:off x="9241841" y="1737360"/>
            <a:ext cx="489204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역량 질문(상담 이력 5개)</a:t>
            </a:r>
            <a:endParaRPr lang="en-US" sz="1600" dirty="0"/>
          </a:p>
        </p:txBody>
      </p:sp>
      <p:sp>
        <p:nvSpPr>
          <p:cNvPr id="11" name="Shape 8"/>
          <p:cNvSpPr/>
          <p:nvPr/>
        </p:nvSpPr>
        <p:spPr>
          <a:xfrm>
            <a:off x="5117897" y="1920240"/>
            <a:ext cx="246888" cy="0"/>
          </a:xfrm>
          <a:prstGeom prst="line">
            <a:avLst/>
          </a:prstGeom>
          <a:noFill/>
          <a:ln w="25400">
            <a:solidFill>
              <a:srgbClr val="4A5364"/>
            </a:solidFill>
            <a:prstDash val="solid"/>
            <a:tailEnd type="triangle"/>
          </a:ln>
        </p:spPr>
      </p:sp>
      <p:sp>
        <p:nvSpPr>
          <p:cNvPr id="12" name="Shape 9"/>
          <p:cNvSpPr/>
          <p:nvPr/>
        </p:nvSpPr>
        <p:spPr>
          <a:xfrm>
            <a:off x="8958377" y="1920240"/>
            <a:ext cx="246888" cy="0"/>
          </a:xfrm>
          <a:prstGeom prst="line">
            <a:avLst/>
          </a:prstGeom>
          <a:noFill/>
          <a:ln w="25400">
            <a:solidFill>
              <a:srgbClr val="4A5364"/>
            </a:solidFill>
            <a:prstDash val="solid"/>
            <a:tailEnd type="triangle"/>
          </a:ln>
        </p:spPr>
      </p:sp>
      <p:sp>
        <p:nvSpPr>
          <p:cNvPr id="13" name="Shape 10"/>
          <p:cNvSpPr/>
          <p:nvPr/>
        </p:nvSpPr>
        <p:spPr>
          <a:xfrm>
            <a:off x="509321" y="2212848"/>
            <a:ext cx="4572000" cy="768096"/>
          </a:xfrm>
          <a:prstGeom prst="roundRect">
            <a:avLst>
              <a:gd name="adj" fmla="val 7143"/>
            </a:avLst>
          </a:prstGeom>
          <a:solidFill>
            <a:srgbClr val="FFFFFF"/>
          </a:solidFill>
          <a:ln w="12700">
            <a:solidFill>
              <a:srgbClr val="D9E0EC"/>
            </a:solidFill>
            <a:prstDash val="solid"/>
          </a:ln>
        </p:spPr>
      </p:sp>
      <p:sp>
        <p:nvSpPr>
          <p:cNvPr id="14" name="Text 11"/>
          <p:cNvSpPr txBox="1"/>
          <p:nvPr/>
        </p:nvSpPr>
        <p:spPr>
          <a:xfrm>
            <a:off x="619049" y="2212848"/>
            <a:ext cx="3566160" cy="7680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D3 안내문 검색 평가</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이 고객의 최근 불편은 무엇이고 이전 상담과 무엇이 달라졌는가?</a:t>
            </a:r>
            <a:endParaRPr lang="en-US" sz="1400" dirty="0"/>
          </a:p>
        </p:txBody>
      </p:sp>
      <p:sp>
        <p:nvSpPr>
          <p:cNvPr id="15" name="Shape 12"/>
          <p:cNvSpPr/>
          <p:nvPr/>
        </p:nvSpPr>
        <p:spPr>
          <a:xfrm>
            <a:off x="4258361" y="2450592"/>
            <a:ext cx="329184" cy="292608"/>
          </a:xfrm>
          <a:prstGeom prst="roundRect">
            <a:avLst>
              <a:gd name="adj" fmla="val 25000"/>
            </a:avLst>
          </a:prstGeom>
          <a:solidFill>
            <a:srgbClr val="2E74C6"/>
          </a:solidFill>
          <a:ln/>
        </p:spPr>
      </p:sp>
      <p:sp>
        <p:nvSpPr>
          <p:cNvPr id="16" name="Text 13"/>
          <p:cNvSpPr txBox="1"/>
          <p:nvPr/>
        </p:nvSpPr>
        <p:spPr>
          <a:xfrm>
            <a:off x="4258361" y="2450592"/>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17" name="Shape 14"/>
          <p:cNvSpPr/>
          <p:nvPr/>
        </p:nvSpPr>
        <p:spPr>
          <a:xfrm>
            <a:off x="4624121" y="2450592"/>
            <a:ext cx="329184" cy="292608"/>
          </a:xfrm>
          <a:prstGeom prst="roundRect">
            <a:avLst>
              <a:gd name="adj" fmla="val 25000"/>
            </a:avLst>
          </a:prstGeom>
          <a:solidFill>
            <a:srgbClr val="2E74C6"/>
          </a:solidFill>
          <a:ln/>
        </p:spPr>
      </p:sp>
      <p:sp>
        <p:nvSpPr>
          <p:cNvPr id="18" name="Text 15"/>
          <p:cNvSpPr txBox="1"/>
          <p:nvPr/>
        </p:nvSpPr>
        <p:spPr>
          <a:xfrm>
            <a:off x="4624121" y="2450592"/>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19" name="Shape 16"/>
          <p:cNvSpPr/>
          <p:nvPr/>
        </p:nvSpPr>
        <p:spPr>
          <a:xfrm>
            <a:off x="509321" y="3054096"/>
            <a:ext cx="4572000" cy="768096"/>
          </a:xfrm>
          <a:prstGeom prst="roundRect">
            <a:avLst>
              <a:gd name="adj" fmla="val 7143"/>
            </a:avLst>
          </a:prstGeom>
          <a:solidFill>
            <a:srgbClr val="FFFFFF"/>
          </a:solidFill>
          <a:ln w="12700">
            <a:solidFill>
              <a:srgbClr val="D9E0EC"/>
            </a:solidFill>
            <a:prstDash val="solid"/>
          </a:ln>
        </p:spPr>
      </p:sp>
      <p:sp>
        <p:nvSpPr>
          <p:cNvPr id="20" name="Text 17"/>
          <p:cNvSpPr txBox="1"/>
          <p:nvPr/>
        </p:nvSpPr>
        <p:spPr>
          <a:xfrm>
            <a:off x="619049" y="3054096"/>
            <a:ext cx="3566160" cy="7680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D3 안내문 검색 평가</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어떤 제안을 받아들이거나 거절했으며 고객이 밝힌 이유는 무엇인가?</a:t>
            </a:r>
            <a:endParaRPr lang="en-US" sz="1400" dirty="0"/>
          </a:p>
        </p:txBody>
      </p:sp>
      <p:sp>
        <p:nvSpPr>
          <p:cNvPr id="21" name="Shape 18"/>
          <p:cNvSpPr/>
          <p:nvPr/>
        </p:nvSpPr>
        <p:spPr>
          <a:xfrm>
            <a:off x="4624121" y="3291840"/>
            <a:ext cx="329184" cy="292608"/>
          </a:xfrm>
          <a:prstGeom prst="roundRect">
            <a:avLst>
              <a:gd name="adj" fmla="val 25000"/>
            </a:avLst>
          </a:prstGeom>
          <a:solidFill>
            <a:srgbClr val="2E74C6"/>
          </a:solidFill>
          <a:ln/>
        </p:spPr>
      </p:sp>
      <p:sp>
        <p:nvSpPr>
          <p:cNvPr id="22" name="Text 19"/>
          <p:cNvSpPr txBox="1"/>
          <p:nvPr/>
        </p:nvSpPr>
        <p:spPr>
          <a:xfrm>
            <a:off x="4624121" y="3291840"/>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23" name="Shape 20"/>
          <p:cNvSpPr/>
          <p:nvPr/>
        </p:nvSpPr>
        <p:spPr>
          <a:xfrm>
            <a:off x="509321" y="3895344"/>
            <a:ext cx="4572000" cy="768096"/>
          </a:xfrm>
          <a:prstGeom prst="roundRect">
            <a:avLst>
              <a:gd name="adj" fmla="val 7143"/>
            </a:avLst>
          </a:prstGeom>
          <a:solidFill>
            <a:srgbClr val="FFFFFF"/>
          </a:solidFill>
          <a:ln w="12700">
            <a:solidFill>
              <a:srgbClr val="D9E0EC"/>
            </a:solidFill>
            <a:prstDash val="solid"/>
          </a:ln>
        </p:spPr>
      </p:sp>
      <p:sp>
        <p:nvSpPr>
          <p:cNvPr id="24" name="Text 21"/>
          <p:cNvSpPr txBox="1"/>
          <p:nvPr/>
        </p:nvSpPr>
        <p:spPr>
          <a:xfrm>
            <a:off x="619049" y="3895344"/>
            <a:ext cx="3566160" cy="7680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평가셋 Q15</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M-1042 회원은 생활비를 이 카드로 옮기는 것을 왜 원하지 않았나요?</a:t>
            </a:r>
            <a:endParaRPr lang="en-US" sz="1400" dirty="0"/>
          </a:p>
        </p:txBody>
      </p:sp>
      <p:sp>
        <p:nvSpPr>
          <p:cNvPr id="25" name="Shape 22"/>
          <p:cNvSpPr/>
          <p:nvPr/>
        </p:nvSpPr>
        <p:spPr>
          <a:xfrm>
            <a:off x="4624121" y="4133088"/>
            <a:ext cx="329184" cy="292608"/>
          </a:xfrm>
          <a:prstGeom prst="roundRect">
            <a:avLst>
              <a:gd name="adj" fmla="val 25000"/>
            </a:avLst>
          </a:prstGeom>
          <a:solidFill>
            <a:srgbClr val="2E74C6"/>
          </a:solidFill>
          <a:ln/>
        </p:spPr>
      </p:sp>
      <p:sp>
        <p:nvSpPr>
          <p:cNvPr id="26" name="Text 23"/>
          <p:cNvSpPr txBox="1"/>
          <p:nvPr/>
        </p:nvSpPr>
        <p:spPr>
          <a:xfrm>
            <a:off x="4624121" y="4133088"/>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27" name="Shape 24"/>
          <p:cNvSpPr/>
          <p:nvPr/>
        </p:nvSpPr>
        <p:spPr>
          <a:xfrm>
            <a:off x="509321" y="4736592"/>
            <a:ext cx="4572000" cy="768096"/>
          </a:xfrm>
          <a:prstGeom prst="roundRect">
            <a:avLst>
              <a:gd name="adj" fmla="val 7143"/>
            </a:avLst>
          </a:prstGeom>
          <a:solidFill>
            <a:srgbClr val="FFFFFF"/>
          </a:solidFill>
          <a:ln w="12700">
            <a:solidFill>
              <a:srgbClr val="D9E0EC"/>
            </a:solidFill>
            <a:prstDash val="solid"/>
          </a:ln>
        </p:spPr>
      </p:sp>
      <p:sp>
        <p:nvSpPr>
          <p:cNvPr id="28" name="Text 25"/>
          <p:cNvSpPr txBox="1"/>
          <p:nvPr/>
        </p:nvSpPr>
        <p:spPr>
          <a:xfrm>
            <a:off x="619049" y="4736592"/>
            <a:ext cx="3566160" cy="768096"/>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평가셋 Q16</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M-3001 회원은 … 어떤 조건이면 옮기겠다고 했나요?</a:t>
            </a:r>
            <a:endParaRPr lang="en-US" sz="1400" dirty="0"/>
          </a:p>
        </p:txBody>
      </p:sp>
      <p:sp>
        <p:nvSpPr>
          <p:cNvPr id="29" name="Shape 26"/>
          <p:cNvSpPr/>
          <p:nvPr/>
        </p:nvSpPr>
        <p:spPr>
          <a:xfrm>
            <a:off x="4624121" y="4974336"/>
            <a:ext cx="329184" cy="292608"/>
          </a:xfrm>
          <a:prstGeom prst="roundRect">
            <a:avLst>
              <a:gd name="adj" fmla="val 25000"/>
            </a:avLst>
          </a:prstGeom>
          <a:solidFill>
            <a:srgbClr val="2E74C6"/>
          </a:solidFill>
          <a:ln/>
        </p:spPr>
      </p:sp>
      <p:sp>
        <p:nvSpPr>
          <p:cNvPr id="30" name="Text 27"/>
          <p:cNvSpPr txBox="1"/>
          <p:nvPr/>
        </p:nvSpPr>
        <p:spPr>
          <a:xfrm>
            <a:off x="4624121" y="4974336"/>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31" name="Shape 28"/>
          <p:cNvSpPr/>
          <p:nvPr/>
        </p:nvSpPr>
        <p:spPr>
          <a:xfrm>
            <a:off x="5401361" y="2212848"/>
            <a:ext cx="3520440" cy="768096"/>
          </a:xfrm>
          <a:prstGeom prst="roundRect">
            <a:avLst>
              <a:gd name="adj" fmla="val 7143"/>
            </a:avLst>
          </a:prstGeom>
          <a:solidFill>
            <a:srgbClr val="EEF3FA"/>
          </a:solidFill>
          <a:ln w="12700">
            <a:solidFill>
              <a:srgbClr val="2E74C6"/>
            </a:solidFill>
            <a:prstDash val="solid"/>
          </a:ln>
        </p:spPr>
      </p:sp>
      <p:sp>
        <p:nvSpPr>
          <p:cNvPr id="32" name="Shape 29"/>
          <p:cNvSpPr/>
          <p:nvPr/>
        </p:nvSpPr>
        <p:spPr>
          <a:xfrm>
            <a:off x="5492801" y="2450592"/>
            <a:ext cx="329184" cy="292608"/>
          </a:xfrm>
          <a:prstGeom prst="roundRect">
            <a:avLst>
              <a:gd name="adj" fmla="val 25000"/>
            </a:avLst>
          </a:prstGeom>
          <a:solidFill>
            <a:srgbClr val="2E74C6"/>
          </a:solidFill>
          <a:ln/>
        </p:spPr>
      </p:sp>
      <p:sp>
        <p:nvSpPr>
          <p:cNvPr id="33" name="Text 30"/>
          <p:cNvSpPr txBox="1"/>
          <p:nvPr/>
        </p:nvSpPr>
        <p:spPr>
          <a:xfrm>
            <a:off x="5492801" y="2450592"/>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34" name="Text 31"/>
          <p:cNvSpPr txBox="1"/>
          <p:nvPr/>
        </p:nvSpPr>
        <p:spPr>
          <a:xfrm>
            <a:off x="5904281" y="2212848"/>
            <a:ext cx="2926080" cy="768096"/>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{회원}의 최근 불편과 그 원인은?</a:t>
            </a:r>
            <a:endParaRPr lang="en-US" sz="1400" dirty="0"/>
          </a:p>
        </p:txBody>
      </p:sp>
      <p:sp>
        <p:nvSpPr>
          <p:cNvPr id="35" name="Shape 32"/>
          <p:cNvSpPr/>
          <p:nvPr/>
        </p:nvSpPr>
        <p:spPr>
          <a:xfrm>
            <a:off x="5401361" y="3054096"/>
            <a:ext cx="3520440" cy="768096"/>
          </a:xfrm>
          <a:prstGeom prst="roundRect">
            <a:avLst>
              <a:gd name="adj" fmla="val 7143"/>
            </a:avLst>
          </a:prstGeom>
          <a:solidFill>
            <a:srgbClr val="EEF3FA"/>
          </a:solidFill>
          <a:ln w="12700">
            <a:solidFill>
              <a:srgbClr val="2E74C6"/>
            </a:solidFill>
            <a:prstDash val="solid"/>
          </a:ln>
        </p:spPr>
      </p:sp>
      <p:sp>
        <p:nvSpPr>
          <p:cNvPr id="36" name="Shape 33"/>
          <p:cNvSpPr/>
          <p:nvPr/>
        </p:nvSpPr>
        <p:spPr>
          <a:xfrm>
            <a:off x="5492801" y="3291840"/>
            <a:ext cx="329184" cy="292608"/>
          </a:xfrm>
          <a:prstGeom prst="roundRect">
            <a:avLst>
              <a:gd name="adj" fmla="val 25000"/>
            </a:avLst>
          </a:prstGeom>
          <a:solidFill>
            <a:srgbClr val="2E74C6"/>
          </a:solidFill>
          <a:ln/>
        </p:spPr>
      </p:sp>
      <p:sp>
        <p:nvSpPr>
          <p:cNvPr id="37" name="Text 34"/>
          <p:cNvSpPr txBox="1"/>
          <p:nvPr/>
        </p:nvSpPr>
        <p:spPr>
          <a:xfrm>
            <a:off x="5492801" y="3291840"/>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38" name="Text 35"/>
          <p:cNvSpPr txBox="1"/>
          <p:nvPr/>
        </p:nvSpPr>
        <p:spPr>
          <a:xfrm>
            <a:off x="5904281" y="3054096"/>
            <a:ext cx="2926080" cy="768096"/>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{회원}이 받은 제안과 수용 또는 거절, 이유는?</a:t>
            </a:r>
            <a:endParaRPr lang="en-US" sz="1400" dirty="0"/>
          </a:p>
        </p:txBody>
      </p:sp>
      <p:sp>
        <p:nvSpPr>
          <p:cNvPr id="39" name="Shape 36"/>
          <p:cNvSpPr/>
          <p:nvPr/>
        </p:nvSpPr>
        <p:spPr>
          <a:xfrm>
            <a:off x="5401361" y="3895344"/>
            <a:ext cx="3520440" cy="768096"/>
          </a:xfrm>
          <a:prstGeom prst="roundRect">
            <a:avLst>
              <a:gd name="adj" fmla="val 7143"/>
            </a:avLst>
          </a:prstGeom>
          <a:solidFill>
            <a:srgbClr val="EEF3FA"/>
          </a:solidFill>
          <a:ln w="12700">
            <a:solidFill>
              <a:srgbClr val="2E74C6"/>
            </a:solidFill>
            <a:prstDash val="solid"/>
          </a:ln>
        </p:spPr>
      </p:sp>
      <p:sp>
        <p:nvSpPr>
          <p:cNvPr id="40" name="Shape 37"/>
          <p:cNvSpPr/>
          <p:nvPr/>
        </p:nvSpPr>
        <p:spPr>
          <a:xfrm>
            <a:off x="5492801" y="4133088"/>
            <a:ext cx="329184" cy="292608"/>
          </a:xfrm>
          <a:prstGeom prst="roundRect">
            <a:avLst>
              <a:gd name="adj" fmla="val 25000"/>
            </a:avLst>
          </a:prstGeom>
          <a:solidFill>
            <a:srgbClr val="2E74C6"/>
          </a:solidFill>
          <a:ln/>
        </p:spPr>
      </p:sp>
      <p:sp>
        <p:nvSpPr>
          <p:cNvPr id="41" name="Text 38"/>
          <p:cNvSpPr txBox="1"/>
          <p:nvPr/>
        </p:nvSpPr>
        <p:spPr>
          <a:xfrm>
            <a:off x="5492801" y="4133088"/>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42" name="Text 39"/>
          <p:cNvSpPr txBox="1"/>
          <p:nvPr/>
        </p:nvSpPr>
        <p:spPr>
          <a:xfrm>
            <a:off x="5904281" y="3895344"/>
            <a:ext cx="2926080" cy="768096"/>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{회원}은 어떤 조건이면 다시 보나?</a:t>
            </a:r>
            <a:endParaRPr lang="en-US" sz="1400" dirty="0"/>
          </a:p>
        </p:txBody>
      </p:sp>
      <p:sp>
        <p:nvSpPr>
          <p:cNvPr id="43" name="Shape 40"/>
          <p:cNvSpPr/>
          <p:nvPr/>
        </p:nvSpPr>
        <p:spPr>
          <a:xfrm>
            <a:off x="5401361" y="4736592"/>
            <a:ext cx="3520440" cy="768096"/>
          </a:xfrm>
          <a:prstGeom prst="roundRect">
            <a:avLst>
              <a:gd name="adj" fmla="val 7143"/>
            </a:avLst>
          </a:prstGeom>
          <a:solidFill>
            <a:srgbClr val="EEF3FA"/>
          </a:solidFill>
          <a:ln w="12700">
            <a:solidFill>
              <a:srgbClr val="2E74C6"/>
            </a:solidFill>
            <a:prstDash val="solid"/>
          </a:ln>
        </p:spPr>
      </p:sp>
      <p:sp>
        <p:nvSpPr>
          <p:cNvPr id="44" name="Shape 41"/>
          <p:cNvSpPr/>
          <p:nvPr/>
        </p:nvSpPr>
        <p:spPr>
          <a:xfrm>
            <a:off x="5492801" y="4974336"/>
            <a:ext cx="329184" cy="292608"/>
          </a:xfrm>
          <a:prstGeom prst="roundRect">
            <a:avLst>
              <a:gd name="adj" fmla="val 25000"/>
            </a:avLst>
          </a:prstGeom>
          <a:solidFill>
            <a:srgbClr val="2E74C6"/>
          </a:solidFill>
          <a:ln/>
        </p:spPr>
      </p:sp>
      <p:sp>
        <p:nvSpPr>
          <p:cNvPr id="45" name="Text 42"/>
          <p:cNvSpPr txBox="1"/>
          <p:nvPr/>
        </p:nvSpPr>
        <p:spPr>
          <a:xfrm>
            <a:off x="5492801" y="4974336"/>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46" name="Text 43"/>
          <p:cNvSpPr txBox="1"/>
          <p:nvPr/>
        </p:nvSpPr>
        <p:spPr>
          <a:xfrm>
            <a:off x="5904281" y="4736592"/>
            <a:ext cx="2926080" cy="768096"/>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{회원}의 이 상담은 어느 상담과 이어지나?</a:t>
            </a:r>
            <a:endParaRPr lang="en-US" sz="1400" dirty="0"/>
          </a:p>
        </p:txBody>
      </p:sp>
      <p:sp>
        <p:nvSpPr>
          <p:cNvPr id="47" name="Shape 44"/>
          <p:cNvSpPr/>
          <p:nvPr/>
        </p:nvSpPr>
        <p:spPr>
          <a:xfrm>
            <a:off x="9241841" y="2212848"/>
            <a:ext cx="4892040" cy="566928"/>
          </a:xfrm>
          <a:prstGeom prst="roundRect">
            <a:avLst>
              <a:gd name="adj" fmla="val 9677"/>
            </a:avLst>
          </a:prstGeom>
          <a:solidFill>
            <a:srgbClr val="FFFFFF"/>
          </a:solidFill>
          <a:ln w="12700">
            <a:solidFill>
              <a:srgbClr val="2E74C6"/>
            </a:solidFill>
            <a:prstDash val="solid"/>
          </a:ln>
        </p:spPr>
      </p:sp>
      <p:sp>
        <p:nvSpPr>
          <p:cNvPr id="48" name="Shape 45"/>
          <p:cNvSpPr/>
          <p:nvPr/>
        </p:nvSpPr>
        <p:spPr>
          <a:xfrm>
            <a:off x="9333281" y="2350008"/>
            <a:ext cx="329184" cy="292608"/>
          </a:xfrm>
          <a:prstGeom prst="roundRect">
            <a:avLst>
              <a:gd name="adj" fmla="val 25000"/>
            </a:avLst>
          </a:prstGeom>
          <a:solidFill>
            <a:srgbClr val="2E74C6"/>
          </a:solidFill>
          <a:ln/>
        </p:spPr>
      </p:sp>
      <p:sp>
        <p:nvSpPr>
          <p:cNvPr id="49" name="Text 46"/>
          <p:cNvSpPr txBox="1"/>
          <p:nvPr/>
        </p:nvSpPr>
        <p:spPr>
          <a:xfrm>
            <a:off x="9333281" y="2350008"/>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A</a:t>
            </a:r>
            <a:endParaRPr lang="en-US" sz="1400" dirty="0"/>
          </a:p>
        </p:txBody>
      </p:sp>
      <p:sp>
        <p:nvSpPr>
          <p:cNvPr id="50" name="Text 47"/>
          <p:cNvSpPr txBox="1"/>
          <p:nvPr/>
        </p:nvSpPr>
        <p:spPr>
          <a:xfrm>
            <a:off x="9744761" y="2212848"/>
            <a:ext cx="4297680" cy="566928"/>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1. 고객이 말한 불만 원인은 무엇인가?</a:t>
            </a:r>
            <a:endParaRPr lang="en-US" sz="1400" dirty="0"/>
          </a:p>
        </p:txBody>
      </p:sp>
      <p:sp>
        <p:nvSpPr>
          <p:cNvPr id="51" name="Shape 48"/>
          <p:cNvSpPr/>
          <p:nvPr/>
        </p:nvSpPr>
        <p:spPr>
          <a:xfrm>
            <a:off x="9241841" y="2843784"/>
            <a:ext cx="4892040" cy="566928"/>
          </a:xfrm>
          <a:prstGeom prst="roundRect">
            <a:avLst>
              <a:gd name="adj" fmla="val 9677"/>
            </a:avLst>
          </a:prstGeom>
          <a:solidFill>
            <a:srgbClr val="FFFFFF"/>
          </a:solidFill>
          <a:ln w="12700">
            <a:solidFill>
              <a:srgbClr val="2E74C6"/>
            </a:solidFill>
            <a:prstDash val="solid"/>
          </a:ln>
        </p:spPr>
      </p:sp>
      <p:sp>
        <p:nvSpPr>
          <p:cNvPr id="52" name="Shape 49"/>
          <p:cNvSpPr/>
          <p:nvPr/>
        </p:nvSpPr>
        <p:spPr>
          <a:xfrm>
            <a:off x="9333281" y="2980944"/>
            <a:ext cx="329184" cy="292608"/>
          </a:xfrm>
          <a:prstGeom prst="roundRect">
            <a:avLst>
              <a:gd name="adj" fmla="val 25000"/>
            </a:avLst>
          </a:prstGeom>
          <a:solidFill>
            <a:srgbClr val="2E74C6"/>
          </a:solidFill>
          <a:ln/>
        </p:spPr>
      </p:sp>
      <p:sp>
        <p:nvSpPr>
          <p:cNvPr id="53" name="Text 50"/>
          <p:cNvSpPr txBox="1"/>
          <p:nvPr/>
        </p:nvSpPr>
        <p:spPr>
          <a:xfrm>
            <a:off x="9333281" y="2980944"/>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54" name="Text 51"/>
          <p:cNvSpPr txBox="1"/>
          <p:nvPr/>
        </p:nvSpPr>
        <p:spPr>
          <a:xfrm>
            <a:off x="9744761" y="2843784"/>
            <a:ext cx="4297680" cy="566928"/>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2. 상담사가 어떤 제안을 했는가?</a:t>
            </a:r>
            <a:endParaRPr lang="en-US" sz="1400" dirty="0"/>
          </a:p>
        </p:txBody>
      </p:sp>
      <p:sp>
        <p:nvSpPr>
          <p:cNvPr id="55" name="Shape 52"/>
          <p:cNvSpPr/>
          <p:nvPr/>
        </p:nvSpPr>
        <p:spPr>
          <a:xfrm>
            <a:off x="9241841" y="3474720"/>
            <a:ext cx="4892040" cy="566928"/>
          </a:xfrm>
          <a:prstGeom prst="roundRect">
            <a:avLst>
              <a:gd name="adj" fmla="val 9677"/>
            </a:avLst>
          </a:prstGeom>
          <a:solidFill>
            <a:srgbClr val="FFFFFF"/>
          </a:solidFill>
          <a:ln w="12700">
            <a:solidFill>
              <a:srgbClr val="2E74C6"/>
            </a:solidFill>
            <a:prstDash val="solid"/>
          </a:ln>
        </p:spPr>
      </p:sp>
      <p:sp>
        <p:nvSpPr>
          <p:cNvPr id="56" name="Shape 53"/>
          <p:cNvSpPr/>
          <p:nvPr/>
        </p:nvSpPr>
        <p:spPr>
          <a:xfrm>
            <a:off x="9333281" y="3611880"/>
            <a:ext cx="329184" cy="292608"/>
          </a:xfrm>
          <a:prstGeom prst="roundRect">
            <a:avLst>
              <a:gd name="adj" fmla="val 25000"/>
            </a:avLst>
          </a:prstGeom>
          <a:solidFill>
            <a:srgbClr val="2E74C6"/>
          </a:solidFill>
          <a:ln/>
        </p:spPr>
      </p:sp>
      <p:sp>
        <p:nvSpPr>
          <p:cNvPr id="57" name="Text 54"/>
          <p:cNvSpPr txBox="1"/>
          <p:nvPr/>
        </p:nvSpPr>
        <p:spPr>
          <a:xfrm>
            <a:off x="9333281" y="3611880"/>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B</a:t>
            </a:r>
            <a:endParaRPr lang="en-US" sz="1400" dirty="0"/>
          </a:p>
        </p:txBody>
      </p:sp>
      <p:sp>
        <p:nvSpPr>
          <p:cNvPr id="58" name="Text 55"/>
          <p:cNvSpPr txBox="1"/>
          <p:nvPr/>
        </p:nvSpPr>
        <p:spPr>
          <a:xfrm>
            <a:off x="9744761" y="3474720"/>
            <a:ext cx="4297680" cy="566928"/>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3. 고객은 그 제안을 수용했는가, 거절했는가, 보류했는가? 그 이유는?</a:t>
            </a:r>
            <a:endParaRPr lang="en-US" sz="1400" dirty="0"/>
          </a:p>
        </p:txBody>
      </p:sp>
      <p:sp>
        <p:nvSpPr>
          <p:cNvPr id="59" name="Shape 56"/>
          <p:cNvSpPr/>
          <p:nvPr/>
        </p:nvSpPr>
        <p:spPr>
          <a:xfrm>
            <a:off x="9241841" y="4105656"/>
            <a:ext cx="4892040" cy="566928"/>
          </a:xfrm>
          <a:prstGeom prst="roundRect">
            <a:avLst>
              <a:gd name="adj" fmla="val 9677"/>
            </a:avLst>
          </a:prstGeom>
          <a:solidFill>
            <a:srgbClr val="FFFFFF"/>
          </a:solidFill>
          <a:ln w="12700">
            <a:solidFill>
              <a:srgbClr val="2E74C6"/>
            </a:solidFill>
            <a:prstDash val="solid"/>
          </a:ln>
        </p:spPr>
      </p:sp>
      <p:sp>
        <p:nvSpPr>
          <p:cNvPr id="60" name="Shape 57"/>
          <p:cNvSpPr/>
          <p:nvPr/>
        </p:nvSpPr>
        <p:spPr>
          <a:xfrm>
            <a:off x="9333281" y="4242816"/>
            <a:ext cx="329184" cy="292608"/>
          </a:xfrm>
          <a:prstGeom prst="roundRect">
            <a:avLst>
              <a:gd name="adj" fmla="val 25000"/>
            </a:avLst>
          </a:prstGeom>
          <a:solidFill>
            <a:srgbClr val="2E74C6"/>
          </a:solidFill>
          <a:ln/>
        </p:spPr>
      </p:sp>
      <p:sp>
        <p:nvSpPr>
          <p:cNvPr id="61" name="Text 58"/>
          <p:cNvSpPr txBox="1"/>
          <p:nvPr/>
        </p:nvSpPr>
        <p:spPr>
          <a:xfrm>
            <a:off x="9333281" y="4242816"/>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C</a:t>
            </a:r>
            <a:endParaRPr lang="en-US" sz="1400" dirty="0"/>
          </a:p>
        </p:txBody>
      </p:sp>
      <p:sp>
        <p:nvSpPr>
          <p:cNvPr id="62" name="Text 59"/>
          <p:cNvSpPr txBox="1"/>
          <p:nvPr/>
        </p:nvSpPr>
        <p:spPr>
          <a:xfrm>
            <a:off x="9744761" y="4105656"/>
            <a:ext cx="4297680" cy="566928"/>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4. 고객은 어떤 조건이 되면 다시 검토하겠다고 했는가?</a:t>
            </a:r>
            <a:endParaRPr lang="en-US" sz="1400" dirty="0"/>
          </a:p>
        </p:txBody>
      </p:sp>
      <p:sp>
        <p:nvSpPr>
          <p:cNvPr id="63" name="Shape 60"/>
          <p:cNvSpPr/>
          <p:nvPr/>
        </p:nvSpPr>
        <p:spPr>
          <a:xfrm>
            <a:off x="9241841" y="4736592"/>
            <a:ext cx="4892040" cy="566928"/>
          </a:xfrm>
          <a:prstGeom prst="roundRect">
            <a:avLst>
              <a:gd name="adj" fmla="val 9677"/>
            </a:avLst>
          </a:prstGeom>
          <a:solidFill>
            <a:srgbClr val="FFFFFF"/>
          </a:solidFill>
          <a:ln w="12700">
            <a:solidFill>
              <a:srgbClr val="2E74C6"/>
            </a:solidFill>
            <a:prstDash val="solid"/>
          </a:ln>
        </p:spPr>
      </p:sp>
      <p:sp>
        <p:nvSpPr>
          <p:cNvPr id="64" name="Shape 61"/>
          <p:cNvSpPr/>
          <p:nvPr/>
        </p:nvSpPr>
        <p:spPr>
          <a:xfrm>
            <a:off x="9333281" y="4873752"/>
            <a:ext cx="329184" cy="292608"/>
          </a:xfrm>
          <a:prstGeom prst="roundRect">
            <a:avLst>
              <a:gd name="adj" fmla="val 25000"/>
            </a:avLst>
          </a:prstGeom>
          <a:solidFill>
            <a:srgbClr val="2E74C6"/>
          </a:solidFill>
          <a:ln/>
        </p:spPr>
      </p:sp>
      <p:sp>
        <p:nvSpPr>
          <p:cNvPr id="65" name="Text 62"/>
          <p:cNvSpPr txBox="1"/>
          <p:nvPr/>
        </p:nvSpPr>
        <p:spPr>
          <a:xfrm>
            <a:off x="9333281" y="4873752"/>
            <a:ext cx="329184"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D</a:t>
            </a:r>
            <a:endParaRPr lang="en-US" sz="1400" dirty="0"/>
          </a:p>
        </p:txBody>
      </p:sp>
      <p:sp>
        <p:nvSpPr>
          <p:cNvPr id="66" name="Text 63"/>
          <p:cNvSpPr txBox="1"/>
          <p:nvPr/>
        </p:nvSpPr>
        <p:spPr>
          <a:xfrm>
            <a:off x="9744761" y="4736592"/>
            <a:ext cx="4297680" cy="566928"/>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5. 이 상담은 같은 고객의 어떤 이전 상담과 이어지는가?</a:t>
            </a:r>
            <a:endParaRPr lang="en-US" sz="1400" dirty="0"/>
          </a:p>
        </p:txBody>
      </p:sp>
      <p:sp>
        <p:nvSpPr>
          <p:cNvPr id="67" name="Shape 64"/>
          <p:cNvSpPr/>
          <p:nvPr/>
        </p:nvSpPr>
        <p:spPr>
          <a:xfrm>
            <a:off x="509321" y="5559552"/>
            <a:ext cx="6675120" cy="841248"/>
          </a:xfrm>
          <a:prstGeom prst="roundRect">
            <a:avLst>
              <a:gd name="adj" fmla="val 8696"/>
            </a:avLst>
          </a:prstGeom>
          <a:solidFill>
            <a:srgbClr val="F5F8FC"/>
          </a:solidFill>
          <a:ln w="12700">
            <a:solidFill>
              <a:srgbClr val="D9E0EC"/>
            </a:solidFill>
            <a:prstDash val="solid"/>
          </a:ln>
        </p:spPr>
      </p:sp>
      <p:sp>
        <p:nvSpPr>
          <p:cNvPr id="68" name="Text 65"/>
          <p:cNvSpPr txBox="1"/>
          <p:nvPr/>
        </p:nvSpPr>
        <p:spPr>
          <a:xfrm>
            <a:off x="646481" y="5559552"/>
            <a:ext cx="6400800" cy="841248"/>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답이 될 이름은 쓰지 않음</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피함: "Complaint 노드의 cause는?"   권함: "고객이 말한 불만 원인은?"</a:t>
            </a:r>
            <a:endParaRPr lang="en-US" sz="1400" dirty="0"/>
          </a:p>
        </p:txBody>
      </p:sp>
      <p:sp>
        <p:nvSpPr>
          <p:cNvPr id="69" name="Shape 66"/>
          <p:cNvSpPr/>
          <p:nvPr/>
        </p:nvSpPr>
        <p:spPr>
          <a:xfrm>
            <a:off x="7458761" y="5559552"/>
            <a:ext cx="6675120" cy="841248"/>
          </a:xfrm>
          <a:prstGeom prst="roundRect">
            <a:avLst>
              <a:gd name="adj" fmla="val 8696"/>
            </a:avLst>
          </a:prstGeom>
          <a:solidFill>
            <a:srgbClr val="F5F8FC"/>
          </a:solidFill>
          <a:ln w="12700">
            <a:solidFill>
              <a:srgbClr val="D9E0EC"/>
            </a:solidFill>
            <a:prstDash val="solid"/>
          </a:ln>
        </p:spPr>
      </p:sp>
      <p:sp>
        <p:nvSpPr>
          <p:cNvPr id="70" name="Text 67"/>
          <p:cNvSpPr txBox="1"/>
          <p:nvPr/>
        </p:nvSpPr>
        <p:spPr>
          <a:xfrm>
            <a:off x="7595921" y="5559552"/>
            <a:ext cx="6400800" cy="841248"/>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다른 문서도 같은 방법(각 5개)</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약관: 어떤 조건을 채우면 어떤 면제나 혜택을 받는가?</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혜택: 혜택의 한도와 제외 대상은 무엇인가?</a:t>
            </a:r>
            <a:endParaRPr lang="en-US" sz="1400" dirty="0"/>
          </a:p>
        </p:txBody>
      </p:sp>
      <p:sp>
        <p:nvSpPr>
          <p:cNvPr id="71" name="Shape 68"/>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sp>
      <p:sp>
        <p:nvSpPr>
          <p:cNvPr id="72" name="Shape 69"/>
          <p:cNvSpPr/>
          <p:nvPr/>
        </p:nvSpPr>
        <p:spPr>
          <a:xfrm>
            <a:off x="509321" y="6510528"/>
            <a:ext cx="82296" cy="658368"/>
          </a:xfrm>
          <a:prstGeom prst="rect">
            <a:avLst/>
          </a:prstGeom>
          <a:solidFill>
            <a:srgbClr val="2E74C6"/>
          </a:solidFill>
          <a:ln/>
        </p:spPr>
      </p:sp>
      <p:sp>
        <p:nvSpPr>
          <p:cNvPr id="73" name="Text 70"/>
          <p:cNvSpPr txBox="1"/>
          <p:nvPr/>
        </p:nvSpPr>
        <p:spPr>
          <a:xfrm>
            <a:off x="737921" y="6510528"/>
            <a:ext cx="13258800" cy="658368"/>
          </a:xfrm>
          <a:prstGeom prst="rect">
            <a:avLst/>
          </a:prstGeom>
          <a:noFill/>
          <a:ln/>
        </p:spPr>
        <p:txBody>
          <a:bodyPr wrap="square" lIns="0" tIns="0" rIns="0" bIns="0" rtlCol="0" anchor="ctr"/>
          <a:lstStyle/>
          <a:p>
            <a:pPr algn="l" indent="0" marL="0">
              <a:buNone/>
            </a:pPr>
            <a:r>
              <a:rPr lang="en-US" sz="1600" b="1" dirty="0">
                <a:solidFill>
                  <a:srgbClr val="1E2A5C"/>
                </a:solidFill>
                <a:latin typeface="Pretendard" pitchFamily="34" charset="0"/>
                <a:ea typeface="Pretendard" pitchFamily="34" charset="-122"/>
                <a:cs typeface="Pretendard" pitchFamily="34" charset="-120"/>
              </a:rPr>
              <a:t>초안은 LLM이 사용자 질문을 보고 작성하고 사람이 검토해 확정함. 개수는 정해 두지 않고 질문 유형마다 1개 이상</a:t>
            </a:r>
            <a:endParaRPr lang="en-US" sz="1600" dirty="0"/>
          </a:p>
        </p:txBody>
      </p:sp>
      <p:sp>
        <p:nvSpPr>
          <p:cNvPr id="74" name="Shape 71"/>
          <p:cNvSpPr/>
          <p:nvPr/>
        </p:nvSpPr>
        <p:spPr>
          <a:xfrm>
            <a:off x="509321" y="7388352"/>
            <a:ext cx="13624560" cy="0"/>
          </a:xfrm>
          <a:prstGeom prst="line">
            <a:avLst/>
          </a:prstGeom>
          <a:noFill/>
          <a:ln w="12700">
            <a:solidFill>
              <a:srgbClr val="E9ECF3"/>
            </a:solidFill>
            <a:prstDash val="solid"/>
          </a:ln>
        </p:spPr>
      </p:sp>
      <p:sp>
        <p:nvSpPr>
          <p:cNvPr id="75" name="Text 72"/>
          <p:cNvSpPr txBox="1"/>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근거: D3 상담 이력 안내문(검색 평가 질문), RAGAS 평가셋 Q15와 Q16, 역량 질문은 스키마 후보 실험에 쓴 문장 그대로</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1. 스키마 도출: 단계 ② 스키마 후보 넓게 뽑기(예시: 상담 이력)</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묶음별 표본을 1건씩 SchemaFromTextExtractor에 넣고(역량 질문만 examples로), 나온 이름을 모두 모음</a:t>
            </a:r>
            <a:endParaRPr lang="en-US" sz="1800" dirty="0"/>
          </a:p>
        </p:txBody>
      </p:sp>
      <p:sp>
        <p:nvSpPr>
          <p:cNvPr id="5" name="Shape 2"/>
          <p:cNvSpPr/>
          <p:nvPr/>
        </p:nvSpPr>
        <p:spPr>
          <a:xfrm>
            <a:off x="509321" y="1737360"/>
            <a:ext cx="4206240" cy="365760"/>
          </a:xfrm>
          <a:prstGeom prst="roundRect">
            <a:avLst>
              <a:gd name="adj" fmla="val 12500"/>
            </a:avLst>
          </a:prstGeom>
          <a:solidFill>
            <a:srgbClr val="404155"/>
          </a:solidFill>
          <a:ln/>
        </p:spPr>
      </p:sp>
      <p:sp>
        <p:nvSpPr>
          <p:cNvPr id="6" name="Text 3"/>
          <p:cNvSpPr txBox="1"/>
          <p:nvPr/>
        </p:nvSpPr>
        <p:spPr>
          <a:xfrm>
            <a:off x="509321" y="1737360"/>
            <a:ext cx="420624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묶음과 표본 수</a:t>
            </a:r>
            <a:endParaRPr lang="en-US" sz="1600" dirty="0"/>
          </a:p>
        </p:txBody>
      </p:sp>
      <p:sp>
        <p:nvSpPr>
          <p:cNvPr id="7" name="Shape 4"/>
          <p:cNvSpPr/>
          <p:nvPr/>
        </p:nvSpPr>
        <p:spPr>
          <a:xfrm>
            <a:off x="509321" y="2212848"/>
            <a:ext cx="4206240" cy="1097280"/>
          </a:xfrm>
          <a:prstGeom prst="roundRect">
            <a:avLst>
              <a:gd name="adj" fmla="val 5000"/>
            </a:avLst>
          </a:prstGeom>
          <a:solidFill>
            <a:srgbClr val="FFFFFF"/>
          </a:solidFill>
          <a:ln w="12700">
            <a:solidFill>
              <a:srgbClr val="D9E0EC"/>
            </a:solidFill>
            <a:prstDash val="solid"/>
          </a:ln>
        </p:spPr>
      </p:sp>
      <p:sp>
        <p:nvSpPr>
          <p:cNvPr id="8" name="Shape 5"/>
          <p:cNvSpPr/>
          <p:nvPr/>
        </p:nvSpPr>
        <p:spPr>
          <a:xfrm>
            <a:off x="600761" y="2304288"/>
            <a:ext cx="731520" cy="914400"/>
          </a:xfrm>
          <a:prstGeom prst="roundRect">
            <a:avLst>
              <a:gd name="adj" fmla="val 7500"/>
            </a:avLst>
          </a:prstGeom>
          <a:solidFill>
            <a:srgbClr val="1E2A5C"/>
          </a:solidFill>
          <a:ln/>
        </p:spPr>
      </p:sp>
      <p:sp>
        <p:nvSpPr>
          <p:cNvPr id="9" name="Text 6"/>
          <p:cNvSpPr txBox="1"/>
          <p:nvPr/>
        </p:nvSpPr>
        <p:spPr>
          <a:xfrm>
            <a:off x="600761" y="2304288"/>
            <a:ext cx="731520" cy="91440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약관</a:t>
            </a:r>
            <a:endParaRPr lang="en-US" sz="1500" dirty="0"/>
          </a:p>
        </p:txBody>
      </p:sp>
      <p:sp>
        <p:nvSpPr>
          <p:cNvPr id="10" name="Text 7"/>
          <p:cNvSpPr txBox="1"/>
          <p:nvPr/>
        </p:nvSpPr>
        <p:spPr>
          <a:xfrm>
            <a:off x="1442009" y="2212848"/>
            <a:ext cx="3182112" cy="1097280"/>
          </a:xfrm>
          <a:prstGeom prst="rect">
            <a:avLst/>
          </a:prstGeom>
          <a:noFill/>
          <a:ln/>
        </p:spPr>
        <p:txBody>
          <a:bodyPr wrap="square" lIns="0" tIns="0" rIns="0" bIns="0" rtlCol="0" anchor="ctr"/>
          <a:lstStyle/>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10청크 → 묶음 1개</a:t>
            </a:r>
            <a:endParaRPr lang="en-US" sz="1400" dirty="0"/>
          </a:p>
          <a:p>
            <a:pPr indent="0" marL="0">
              <a:spcAft>
                <a:spcPts val="300"/>
              </a:spcAft>
              <a:buNone/>
            </a:pPr>
            <a:r>
              <a:rPr lang="en-US" sz="1400" b="1" dirty="0">
                <a:solidFill>
                  <a:srgbClr val="2E74C6"/>
                </a:solidFill>
                <a:latin typeface="Pretendard" pitchFamily="34" charset="0"/>
                <a:ea typeface="Pretendard" pitchFamily="34" charset="-122"/>
                <a:cs typeface="Pretendard" pitchFamily="34" charset="-120"/>
              </a:rPr>
              <a:t>10건 전부 봄</a:t>
            </a:r>
            <a:endParaRPr lang="en-US" sz="1400" dirty="0"/>
          </a:p>
        </p:txBody>
      </p:sp>
      <p:sp>
        <p:nvSpPr>
          <p:cNvPr id="11" name="Shape 8"/>
          <p:cNvSpPr/>
          <p:nvPr/>
        </p:nvSpPr>
        <p:spPr>
          <a:xfrm>
            <a:off x="509321" y="3401568"/>
            <a:ext cx="4206240" cy="1097280"/>
          </a:xfrm>
          <a:prstGeom prst="roundRect">
            <a:avLst>
              <a:gd name="adj" fmla="val 5000"/>
            </a:avLst>
          </a:prstGeom>
          <a:solidFill>
            <a:srgbClr val="FFFFFF"/>
          </a:solidFill>
          <a:ln w="12700">
            <a:solidFill>
              <a:srgbClr val="D9E0EC"/>
            </a:solidFill>
            <a:prstDash val="solid"/>
          </a:ln>
        </p:spPr>
      </p:sp>
      <p:sp>
        <p:nvSpPr>
          <p:cNvPr id="12" name="Shape 9"/>
          <p:cNvSpPr/>
          <p:nvPr/>
        </p:nvSpPr>
        <p:spPr>
          <a:xfrm>
            <a:off x="600761" y="3493008"/>
            <a:ext cx="731520" cy="914400"/>
          </a:xfrm>
          <a:prstGeom prst="roundRect">
            <a:avLst>
              <a:gd name="adj" fmla="val 7500"/>
            </a:avLst>
          </a:prstGeom>
          <a:solidFill>
            <a:srgbClr val="1E2A5C"/>
          </a:solidFill>
          <a:ln/>
        </p:spPr>
      </p:sp>
      <p:sp>
        <p:nvSpPr>
          <p:cNvPr id="13" name="Text 10"/>
          <p:cNvSpPr txBox="1"/>
          <p:nvPr/>
        </p:nvSpPr>
        <p:spPr>
          <a:xfrm>
            <a:off x="600761" y="3493008"/>
            <a:ext cx="731520" cy="91440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상담</a:t>
            </a:r>
            <a:endParaRPr lang="en-US" sz="1500" dirty="0"/>
          </a:p>
        </p:txBody>
      </p:sp>
      <p:sp>
        <p:nvSpPr>
          <p:cNvPr id="14" name="Text 11"/>
          <p:cNvSpPr txBox="1"/>
          <p:nvPr/>
        </p:nvSpPr>
        <p:spPr>
          <a:xfrm>
            <a:off x="1442009" y="3401568"/>
            <a:ext cx="3182112" cy="1097280"/>
          </a:xfrm>
          <a:prstGeom prst="rect">
            <a:avLst/>
          </a:prstGeom>
          <a:noFill/>
          <a:ln/>
        </p:spPr>
        <p:txBody>
          <a:bodyPr wrap="square" lIns="0" tIns="0" rIns="0" bIns="0" rtlCol="0" anchor="ctr"/>
          <a:lstStyle/>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48건 → 고객 세그먼트 묶음 6개</a:t>
            </a:r>
            <a:endParaRPr lang="en-US" sz="1400" dirty="0"/>
          </a:p>
          <a:p>
            <a:pPr indent="0" marL="0">
              <a:spcAft>
                <a:spcPts val="300"/>
              </a:spcAft>
              <a:buNone/>
            </a:pPr>
            <a:r>
              <a:rPr lang="en-US" sz="1400" b="1" dirty="0">
                <a:solidFill>
                  <a:srgbClr val="2E74C6"/>
                </a:solidFill>
                <a:latin typeface="Pretendard" pitchFamily="34" charset="0"/>
                <a:ea typeface="Pretendard" pitchFamily="34" charset="-122"/>
                <a:cs typeface="Pretendard" pitchFamily="34" charset="-120"/>
              </a:rPr>
              <a:t>시작 12건(묶음마다 2건), 상한 30건</a:t>
            </a:r>
            <a:endParaRPr lang="en-US" sz="1400" dirty="0"/>
          </a:p>
        </p:txBody>
      </p:sp>
      <p:sp>
        <p:nvSpPr>
          <p:cNvPr id="15" name="Shape 12"/>
          <p:cNvSpPr/>
          <p:nvPr/>
        </p:nvSpPr>
        <p:spPr>
          <a:xfrm>
            <a:off x="509321" y="4590288"/>
            <a:ext cx="4206240" cy="1097280"/>
          </a:xfrm>
          <a:prstGeom prst="roundRect">
            <a:avLst>
              <a:gd name="adj" fmla="val 5000"/>
            </a:avLst>
          </a:prstGeom>
          <a:solidFill>
            <a:srgbClr val="FFFFFF"/>
          </a:solidFill>
          <a:ln w="12700">
            <a:solidFill>
              <a:srgbClr val="D9E0EC"/>
            </a:solidFill>
            <a:prstDash val="solid"/>
          </a:ln>
        </p:spPr>
      </p:sp>
      <p:sp>
        <p:nvSpPr>
          <p:cNvPr id="16" name="Shape 13"/>
          <p:cNvSpPr/>
          <p:nvPr/>
        </p:nvSpPr>
        <p:spPr>
          <a:xfrm>
            <a:off x="600761" y="4681728"/>
            <a:ext cx="731520" cy="914400"/>
          </a:xfrm>
          <a:prstGeom prst="roundRect">
            <a:avLst>
              <a:gd name="adj" fmla="val 7500"/>
            </a:avLst>
          </a:prstGeom>
          <a:solidFill>
            <a:srgbClr val="1E2A5C"/>
          </a:solidFill>
          <a:ln/>
        </p:spPr>
      </p:sp>
      <p:sp>
        <p:nvSpPr>
          <p:cNvPr id="17" name="Text 14"/>
          <p:cNvSpPr txBox="1"/>
          <p:nvPr/>
        </p:nvSpPr>
        <p:spPr>
          <a:xfrm>
            <a:off x="600761" y="4681728"/>
            <a:ext cx="731520" cy="91440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혜택</a:t>
            </a:r>
            <a:endParaRPr lang="en-US" sz="1500" dirty="0"/>
          </a:p>
        </p:txBody>
      </p:sp>
      <p:sp>
        <p:nvSpPr>
          <p:cNvPr id="18" name="Text 15"/>
          <p:cNvSpPr txBox="1"/>
          <p:nvPr/>
        </p:nvSpPr>
        <p:spPr>
          <a:xfrm>
            <a:off x="1442009" y="4590288"/>
            <a:ext cx="3182112" cy="1097280"/>
          </a:xfrm>
          <a:prstGeom prst="rect">
            <a:avLst/>
          </a:prstGeom>
          <a:noFill/>
          <a:ln/>
        </p:spPr>
        <p:txBody>
          <a:bodyPr wrap="square" lIns="0" tIns="0" rIns="0" bIns="0" rtlCol="0" anchor="ctr"/>
          <a:lstStyle/>
          <a:p>
            <a:pPr indent="0" marL="0">
              <a:spcAft>
                <a:spcPts val="300"/>
              </a:spcAft>
              <a:buNone/>
            </a:pPr>
            <a:r>
              <a:rPr lang="en-US" sz="1400" dirty="0">
                <a:solidFill>
                  <a:srgbClr val="2B3242"/>
                </a:solidFill>
                <a:latin typeface="Pretendard" pitchFamily="34" charset="0"/>
                <a:ea typeface="Pretendard" pitchFamily="34" charset="-122"/>
                <a:cs typeface="Pretendard" pitchFamily="34" charset="-120"/>
              </a:rPr>
              <a:t>160청크 → 묶음 4개(공통 안내 4, 참고 카드 7, 카드 개요 64, 혜택 상세 85)</a:t>
            </a:r>
            <a:endParaRPr lang="en-US" sz="1400" dirty="0"/>
          </a:p>
          <a:p>
            <a:pPr indent="0" marL="0">
              <a:spcAft>
                <a:spcPts val="300"/>
              </a:spcAft>
              <a:buNone/>
            </a:pPr>
            <a:r>
              <a:rPr lang="en-US" sz="1400" b="1" dirty="0">
                <a:solidFill>
                  <a:srgbClr val="2E74C6"/>
                </a:solidFill>
                <a:latin typeface="Pretendard" pitchFamily="34" charset="0"/>
                <a:ea typeface="Pretendard" pitchFamily="34" charset="-122"/>
                <a:cs typeface="Pretendard" pitchFamily="34" charset="-120"/>
              </a:rPr>
              <a:t>시작 4, 7, 10, 10건, 묶음마다 상한 30건</a:t>
            </a:r>
            <a:endParaRPr lang="en-US" sz="1400" dirty="0"/>
          </a:p>
        </p:txBody>
      </p:sp>
      <p:sp>
        <p:nvSpPr>
          <p:cNvPr id="19" name="Text 16"/>
          <p:cNvSpPr txBox="1"/>
          <p:nvPr/>
        </p:nvSpPr>
        <p:spPr>
          <a:xfrm>
            <a:off x="509321" y="5806440"/>
            <a:ext cx="4206240" cy="548640"/>
          </a:xfrm>
          <a:prstGeom prst="rect">
            <a:avLst/>
          </a:prstGeom>
          <a:noFill/>
          <a:ln/>
        </p:spPr>
        <p:txBody>
          <a:bodyPr wrap="square" lIns="0" tIns="0" rIns="0" bIns="0" rtlCol="0" anchor="t"/>
          <a:lstStyle/>
          <a:p>
            <a:pPr algn="l" indent="0" marL="0">
              <a:buNone/>
            </a:pPr>
            <a:r>
              <a:rPr lang="en-US" sz="1400" dirty="0">
                <a:solidFill>
                  <a:srgbClr val="4A5364"/>
                </a:solidFill>
                <a:latin typeface="Pretendard" pitchFamily="34" charset="0"/>
                <a:ea typeface="Pretendard" pitchFamily="34" charset="-122"/>
                <a:cs typeface="Pretendard" pitchFamily="34" charset="-120"/>
              </a:rPr>
              <a:t>1건씩 넣는 이유: 새 이름이 몇 개 늘었는지 세어 멈출 때를 정함</a:t>
            </a:r>
            <a:endParaRPr lang="en-US" sz="1400" dirty="0"/>
          </a:p>
        </p:txBody>
      </p:sp>
      <p:sp>
        <p:nvSpPr>
          <p:cNvPr id="20" name="Shape 17"/>
          <p:cNvSpPr/>
          <p:nvPr/>
        </p:nvSpPr>
        <p:spPr>
          <a:xfrm>
            <a:off x="4989881" y="1737360"/>
            <a:ext cx="4846320" cy="365760"/>
          </a:xfrm>
          <a:prstGeom prst="roundRect">
            <a:avLst>
              <a:gd name="adj" fmla="val 12500"/>
            </a:avLst>
          </a:prstGeom>
          <a:solidFill>
            <a:srgbClr val="1E2A5C"/>
          </a:solidFill>
          <a:ln/>
        </p:spPr>
      </p:sp>
      <p:sp>
        <p:nvSpPr>
          <p:cNvPr id="21" name="Text 18"/>
          <p:cNvSpPr txBox="1"/>
          <p:nvPr/>
        </p:nvSpPr>
        <p:spPr>
          <a:xfrm>
            <a:off x="4989881" y="1737360"/>
            <a:ext cx="484632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실제 1건: C-20260701-016(타사 관리 절차 비교)</a:t>
            </a:r>
            <a:endParaRPr lang="en-US" sz="1600" dirty="0"/>
          </a:p>
        </p:txBody>
      </p:sp>
      <p:sp>
        <p:nvSpPr>
          <p:cNvPr id="22" name="Shape 19"/>
          <p:cNvSpPr/>
          <p:nvPr/>
        </p:nvSpPr>
        <p:spPr>
          <a:xfrm>
            <a:off x="4989881" y="2212848"/>
            <a:ext cx="4846320" cy="1627632"/>
          </a:xfrm>
          <a:prstGeom prst="roundRect">
            <a:avLst>
              <a:gd name="adj" fmla="val 3371"/>
            </a:avLst>
          </a:prstGeom>
          <a:solidFill>
            <a:srgbClr val="F5F8FC"/>
          </a:solidFill>
          <a:ln w="12700">
            <a:solidFill>
              <a:srgbClr val="D9E0EC"/>
            </a:solidFill>
            <a:prstDash val="solid"/>
          </a:ln>
        </p:spPr>
      </p:sp>
      <p:sp>
        <p:nvSpPr>
          <p:cNvPr id="23" name="Text 20"/>
          <p:cNvSpPr txBox="1"/>
          <p:nvPr/>
        </p:nvSpPr>
        <p:spPr>
          <a:xfrm>
            <a:off x="5099609" y="2249424"/>
            <a:ext cx="4626864" cy="155448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고객: 전환 신청은 아직 안 했어요. 매달 신청을 반복해야 하는 게 불만의 원인이에요.</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상담사: 지금 카드를 유지하시면 자주 쓰시는 곳 할인을 늘릴 수 있는지 확인해 볼까요?</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고객: 그건 다음 결제일이 지나고 다시 볼게요. …</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고객: 2026-06-26 상담 C-20260626-011과 이어지는 기록으로 남겨 주세요.</a:t>
            </a:r>
            <a:endParaRPr lang="en-US" sz="1400" dirty="0"/>
          </a:p>
        </p:txBody>
      </p:sp>
      <p:sp>
        <p:nvSpPr>
          <p:cNvPr id="24" name="Shape 21"/>
          <p:cNvSpPr/>
          <p:nvPr/>
        </p:nvSpPr>
        <p:spPr>
          <a:xfrm>
            <a:off x="5218481" y="3858768"/>
            <a:ext cx="0" cy="274320"/>
          </a:xfrm>
          <a:prstGeom prst="line">
            <a:avLst/>
          </a:prstGeom>
          <a:noFill/>
          <a:ln w="25400">
            <a:solidFill>
              <a:srgbClr val="1E2A5C"/>
            </a:solidFill>
            <a:prstDash val="solid"/>
            <a:tailEnd type="triangle"/>
          </a:ln>
        </p:spPr>
      </p:sp>
      <p:sp>
        <p:nvSpPr>
          <p:cNvPr id="25" name="Text 22"/>
          <p:cNvSpPr txBox="1"/>
          <p:nvPr/>
        </p:nvSpPr>
        <p:spPr>
          <a:xfrm>
            <a:off x="5373929" y="3858768"/>
            <a:ext cx="4462272"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SchemaFromTextExtractor(examples = 역량 질문)</a:t>
            </a:r>
            <a:endParaRPr lang="en-US" sz="1400" dirty="0"/>
          </a:p>
        </p:txBody>
      </p:sp>
      <p:sp>
        <p:nvSpPr>
          <p:cNvPr id="26" name="Shape 23"/>
          <p:cNvSpPr/>
          <p:nvPr/>
        </p:nvSpPr>
        <p:spPr>
          <a:xfrm>
            <a:off x="4989881" y="4169664"/>
            <a:ext cx="4846320" cy="2212848"/>
          </a:xfrm>
          <a:prstGeom prst="roundRect">
            <a:avLst>
              <a:gd name="adj" fmla="val 2479"/>
            </a:avLst>
          </a:prstGeom>
          <a:solidFill>
            <a:srgbClr val="FFFFFF"/>
          </a:solidFill>
          <a:ln w="12700">
            <a:solidFill>
              <a:srgbClr val="2E74C6"/>
            </a:solidFill>
            <a:prstDash val="solid"/>
          </a:ln>
        </p:spPr>
      </p:sp>
      <p:sp>
        <p:nvSpPr>
          <p:cNvPr id="27" name="Text 24"/>
          <p:cNvSpPr txBox="1"/>
          <p:nvPr/>
        </p:nvSpPr>
        <p:spPr>
          <a:xfrm>
            <a:off x="5099609" y="4224528"/>
            <a:ext cx="274320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나온 노드 타입 6개</a:t>
            </a:r>
            <a:endParaRPr lang="en-US" sz="1400" dirty="0"/>
          </a:p>
        </p:txBody>
      </p:sp>
      <p:sp>
        <p:nvSpPr>
          <p:cNvPr id="28" name="Shape 25"/>
          <p:cNvSpPr/>
          <p:nvPr/>
        </p:nvSpPr>
        <p:spPr>
          <a:xfrm>
            <a:off x="5099609" y="4553712"/>
            <a:ext cx="969264" cy="310896"/>
          </a:xfrm>
          <a:prstGeom prst="roundRect">
            <a:avLst>
              <a:gd name="adj" fmla="val 23529"/>
            </a:avLst>
          </a:prstGeom>
          <a:solidFill>
            <a:srgbClr val="F5F8FC"/>
          </a:solidFill>
          <a:ln/>
        </p:spPr>
      </p:sp>
      <p:sp>
        <p:nvSpPr>
          <p:cNvPr id="29" name="Text 26"/>
          <p:cNvSpPr txBox="1"/>
          <p:nvPr/>
        </p:nvSpPr>
        <p:spPr>
          <a:xfrm>
            <a:off x="5099609" y="4553712"/>
            <a:ext cx="969264" cy="310896"/>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Customer</a:t>
            </a:r>
            <a:endParaRPr lang="en-US" sz="1400" dirty="0"/>
          </a:p>
        </p:txBody>
      </p:sp>
      <p:sp>
        <p:nvSpPr>
          <p:cNvPr id="30" name="Shape 27"/>
          <p:cNvSpPr/>
          <p:nvPr/>
        </p:nvSpPr>
        <p:spPr>
          <a:xfrm>
            <a:off x="6160313" y="4553712"/>
            <a:ext cx="1257300" cy="310896"/>
          </a:xfrm>
          <a:prstGeom prst="roundRect">
            <a:avLst>
              <a:gd name="adj" fmla="val 23529"/>
            </a:avLst>
          </a:prstGeom>
          <a:solidFill>
            <a:srgbClr val="F5F8FC"/>
          </a:solidFill>
          <a:ln/>
        </p:spPr>
      </p:sp>
      <p:sp>
        <p:nvSpPr>
          <p:cNvPr id="31" name="Text 28"/>
          <p:cNvSpPr txBox="1"/>
          <p:nvPr/>
        </p:nvSpPr>
        <p:spPr>
          <a:xfrm>
            <a:off x="6160313" y="4553712"/>
            <a:ext cx="1257300" cy="310896"/>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Transaction</a:t>
            </a:r>
            <a:endParaRPr lang="en-US" sz="1400" dirty="0"/>
          </a:p>
        </p:txBody>
      </p:sp>
      <p:sp>
        <p:nvSpPr>
          <p:cNvPr id="32" name="Shape 29"/>
          <p:cNvSpPr/>
          <p:nvPr/>
        </p:nvSpPr>
        <p:spPr>
          <a:xfrm>
            <a:off x="7509053" y="4553712"/>
            <a:ext cx="873252" cy="310896"/>
          </a:xfrm>
          <a:prstGeom prst="roundRect">
            <a:avLst>
              <a:gd name="adj" fmla="val 23529"/>
            </a:avLst>
          </a:prstGeom>
          <a:solidFill>
            <a:srgbClr val="F5F8FC"/>
          </a:solidFill>
          <a:ln/>
        </p:spPr>
      </p:sp>
      <p:sp>
        <p:nvSpPr>
          <p:cNvPr id="33" name="Text 30"/>
          <p:cNvSpPr txBox="1"/>
          <p:nvPr/>
        </p:nvSpPr>
        <p:spPr>
          <a:xfrm>
            <a:off x="7509053" y="4553712"/>
            <a:ext cx="873252" cy="310896"/>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Request</a:t>
            </a:r>
            <a:endParaRPr lang="en-US" sz="1400" dirty="0"/>
          </a:p>
        </p:txBody>
      </p:sp>
      <p:sp>
        <p:nvSpPr>
          <p:cNvPr id="34" name="Shape 31"/>
          <p:cNvSpPr/>
          <p:nvPr/>
        </p:nvSpPr>
        <p:spPr>
          <a:xfrm>
            <a:off x="8473745" y="4553712"/>
            <a:ext cx="777240" cy="310896"/>
          </a:xfrm>
          <a:prstGeom prst="roundRect">
            <a:avLst>
              <a:gd name="adj" fmla="val 23529"/>
            </a:avLst>
          </a:prstGeom>
          <a:solidFill>
            <a:srgbClr val="F5F8FC"/>
          </a:solidFill>
          <a:ln/>
        </p:spPr>
      </p:sp>
      <p:sp>
        <p:nvSpPr>
          <p:cNvPr id="35" name="Text 32"/>
          <p:cNvSpPr txBox="1"/>
          <p:nvPr/>
        </p:nvSpPr>
        <p:spPr>
          <a:xfrm>
            <a:off x="8473745" y="4553712"/>
            <a:ext cx="777240" cy="310896"/>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Record</a:t>
            </a:r>
            <a:endParaRPr lang="en-US" sz="1400" dirty="0"/>
          </a:p>
        </p:txBody>
      </p:sp>
      <p:sp>
        <p:nvSpPr>
          <p:cNvPr id="36" name="Shape 33"/>
          <p:cNvSpPr/>
          <p:nvPr/>
        </p:nvSpPr>
        <p:spPr>
          <a:xfrm>
            <a:off x="5099609" y="4937760"/>
            <a:ext cx="969264" cy="310896"/>
          </a:xfrm>
          <a:prstGeom prst="roundRect">
            <a:avLst>
              <a:gd name="adj" fmla="val 23529"/>
            </a:avLst>
          </a:prstGeom>
          <a:solidFill>
            <a:srgbClr val="2E74C6"/>
          </a:solidFill>
          <a:ln/>
        </p:spPr>
      </p:sp>
      <p:sp>
        <p:nvSpPr>
          <p:cNvPr id="37" name="Text 34"/>
          <p:cNvSpPr txBox="1"/>
          <p:nvPr/>
        </p:nvSpPr>
        <p:spPr>
          <a:xfrm>
            <a:off x="5099609" y="4937760"/>
            <a:ext cx="969264"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38" name="Shape 35"/>
          <p:cNvSpPr/>
          <p:nvPr/>
        </p:nvSpPr>
        <p:spPr>
          <a:xfrm>
            <a:off x="6160313" y="4937760"/>
            <a:ext cx="1065276" cy="310896"/>
          </a:xfrm>
          <a:prstGeom prst="roundRect">
            <a:avLst>
              <a:gd name="adj" fmla="val 23529"/>
            </a:avLst>
          </a:prstGeom>
          <a:solidFill>
            <a:srgbClr val="2E74C6"/>
          </a:solidFill>
          <a:ln/>
        </p:spPr>
      </p:sp>
      <p:sp>
        <p:nvSpPr>
          <p:cNvPr id="39" name="Text 36"/>
          <p:cNvSpPr txBox="1"/>
          <p:nvPr/>
        </p:nvSpPr>
        <p:spPr>
          <a:xfrm>
            <a:off x="6160313" y="4937760"/>
            <a:ext cx="1065276"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Condition</a:t>
            </a:r>
            <a:endParaRPr lang="en-US" sz="1400" dirty="0"/>
          </a:p>
        </p:txBody>
      </p:sp>
      <p:sp>
        <p:nvSpPr>
          <p:cNvPr id="40" name="Text 37"/>
          <p:cNvSpPr txBox="1"/>
          <p:nvPr/>
        </p:nvSpPr>
        <p:spPr>
          <a:xfrm>
            <a:off x="5099609" y="5349240"/>
            <a:ext cx="4626864" cy="987552"/>
          </a:xfrm>
          <a:prstGeom prst="rect">
            <a:avLst/>
          </a:prstGeom>
          <a:noFill/>
          <a:ln/>
        </p:spPr>
        <p:txBody>
          <a:bodyPr wrap="square" lIns="0" tIns="0" rIns="0" bIns="0" rtlCol="0" anchor="t"/>
          <a:lstStyle/>
          <a:p>
            <a:pPr algn="l" indent="0" marL="0">
              <a:buNone/>
            </a:pPr>
            <a:r>
              <a:rPr lang="en-US" sz="1400" dirty="0">
                <a:solidFill>
                  <a:srgbClr val="2B3242"/>
                </a:solidFill>
                <a:latin typeface="Pretendard" pitchFamily="34" charset="0"/>
                <a:ea typeface="Pretendard" pitchFamily="34" charset="-122"/>
                <a:cs typeface="Pretendard" pitchFamily="34" charset="-120"/>
              </a:rPr>
              <a:t>관계 7개: MAKES_REQUEST, PROVIDES_PROPOSAL, HAS_CONDITION, CONTINUES_WITH 등</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파랑 = 업무 개념. Customer 속성으로 email, birthdate까지 제안 → 가명처리 대상이라 ③에서 버림</a:t>
            </a:r>
            <a:endParaRPr lang="en-US" sz="1400" dirty="0"/>
          </a:p>
        </p:txBody>
      </p:sp>
      <p:sp>
        <p:nvSpPr>
          <p:cNvPr id="41" name="Shape 38"/>
          <p:cNvSpPr/>
          <p:nvPr/>
        </p:nvSpPr>
        <p:spPr>
          <a:xfrm>
            <a:off x="10110521" y="1737360"/>
            <a:ext cx="4023360" cy="365760"/>
          </a:xfrm>
          <a:prstGeom prst="roundRect">
            <a:avLst>
              <a:gd name="adj" fmla="val 12500"/>
            </a:avLst>
          </a:prstGeom>
          <a:solidFill>
            <a:srgbClr val="1E2A5C"/>
          </a:solidFill>
          <a:ln/>
        </p:spPr>
      </p:sp>
      <p:sp>
        <p:nvSpPr>
          <p:cNvPr id="42" name="Text 39"/>
          <p:cNvSpPr txBox="1"/>
          <p:nvPr/>
        </p:nvSpPr>
        <p:spPr>
          <a:xfrm>
            <a:off x="10110521" y="1737360"/>
            <a:ext cx="402336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30건을 모은 결과</a:t>
            </a:r>
            <a:endParaRPr lang="en-US" sz="1600" dirty="0"/>
          </a:p>
        </p:txBody>
      </p:sp>
      <p:sp>
        <p:nvSpPr>
          <p:cNvPr id="43" name="Shape 40"/>
          <p:cNvSpPr/>
          <p:nvPr/>
        </p:nvSpPr>
        <p:spPr>
          <a:xfrm>
            <a:off x="10110521" y="2212848"/>
            <a:ext cx="4023360" cy="822960"/>
          </a:xfrm>
          <a:prstGeom prst="roundRect">
            <a:avLst>
              <a:gd name="adj" fmla="val 6667"/>
            </a:avLst>
          </a:prstGeom>
          <a:solidFill>
            <a:srgbClr val="EEF3FA"/>
          </a:solidFill>
          <a:ln w="12700">
            <a:solidFill>
              <a:srgbClr val="2E74C6"/>
            </a:solidFill>
            <a:prstDash val="solid"/>
          </a:ln>
        </p:spPr>
      </p:sp>
      <p:sp>
        <p:nvSpPr>
          <p:cNvPr id="44" name="Text 41"/>
          <p:cNvSpPr txBox="1"/>
          <p:nvPr/>
        </p:nvSpPr>
        <p:spPr>
          <a:xfrm>
            <a:off x="10110521" y="2212848"/>
            <a:ext cx="4023360" cy="822960"/>
          </a:xfrm>
          <a:prstGeom prst="rect">
            <a:avLst/>
          </a:prstGeom>
          <a:noFill/>
          <a:ln/>
        </p:spPr>
        <p:txBody>
          <a:bodyPr wrap="square" lIns="0" tIns="0" rIns="0" bIns="0" rtlCol="0" anchor="ctr"/>
          <a:lstStyle/>
          <a:p>
            <a:pPr algn="ctr" indent="0" marL="0">
              <a:buNone/>
            </a:pPr>
            <a:r>
              <a:rPr lang="en-US" sz="1800" b="1" dirty="0">
                <a:solidFill>
                  <a:srgbClr val="1E2A5C"/>
                </a:solidFill>
                <a:latin typeface="Pretendard" pitchFamily="34" charset="0"/>
                <a:ea typeface="Pretendard" pitchFamily="34" charset="-122"/>
                <a:cs typeface="Pretendard" pitchFamily="34" charset="-120"/>
              </a:rPr>
              <a:t>노드 타입 53개, 관계 106개</a:t>
            </a:r>
            <a:endParaRPr lang="en-US" sz="1800" dirty="0"/>
          </a:p>
        </p:txBody>
      </p:sp>
      <p:sp>
        <p:nvSpPr>
          <p:cNvPr id="45" name="Text 42"/>
          <p:cNvSpPr txBox="1"/>
          <p:nvPr/>
        </p:nvSpPr>
        <p:spPr>
          <a:xfrm>
            <a:off x="10156241" y="3127248"/>
            <a:ext cx="3931920" cy="1737360"/>
          </a:xfrm>
          <a:prstGeom prst="rect">
            <a:avLst/>
          </a:prstGeom>
          <a:noFill/>
          <a:ln/>
        </p:spPr>
        <p:txBody>
          <a:bodyPr wrap="square" lIns="0" tIns="0" rIns="0" bIns="0" rtlCol="0" anchor="t"/>
          <a:lstStyle/>
          <a:p>
            <a:pPr indent="0" marL="0">
              <a:spcAft>
                <a:spcPts val="400"/>
              </a:spcAft>
              <a:buNone/>
            </a:pPr>
            <a:r>
              <a:rPr lang="en-US" sz="1400" b="1" dirty="0">
                <a:solidFill>
                  <a:srgbClr val="1E2A5C"/>
                </a:solidFill>
                <a:latin typeface="Pretendard" pitchFamily="34" charset="0"/>
                <a:ea typeface="Pretendard" pitchFamily="34" charset="-122"/>
                <a:cs typeface="Pretendard" pitchFamily="34" charset="-120"/>
              </a:rPr>
              <a:t>많이 나온 이름</a:t>
            </a:r>
            <a:endParaRPr lang="en-US" sz="1400" dirty="0"/>
          </a:p>
          <a:p>
            <a:pPr indent="0" marL="0">
              <a:spcAft>
                <a:spcPts val="400"/>
              </a:spcAft>
              <a:buNone/>
            </a:pPr>
            <a:r>
              <a:rPr lang="en-US" sz="1400" dirty="0">
                <a:solidFill>
                  <a:srgbClr val="2B3242"/>
                </a:solidFill>
                <a:latin typeface="Pretendard" pitchFamily="34" charset="0"/>
                <a:ea typeface="Pretendard" pitchFamily="34" charset="-122"/>
                <a:cs typeface="Pretendard" pitchFamily="34" charset="-120"/>
              </a:rPr>
              <a:t>Customer 29, Request 20, Transaction 18, Consultation 12, TransactionSummary 10</a:t>
            </a:r>
            <a:endParaRPr lang="en-US" sz="1400" dirty="0"/>
          </a:p>
          <a:p>
            <a:pPr indent="0" marL="0">
              <a:spcAft>
                <a:spcPts val="400"/>
              </a:spcAft>
              <a:buNone/>
            </a:pPr>
            <a:r>
              <a:rPr lang="en-US" sz="1400" b="1" dirty="0">
                <a:solidFill>
                  <a:srgbClr val="2E74C6"/>
                </a:solidFill>
                <a:latin typeface="Pretendard" pitchFamily="34" charset="0"/>
                <a:ea typeface="Pretendard" pitchFamily="34" charset="-122"/>
                <a:cs typeface="Pretendard" pitchFamily="34" charset="-120"/>
              </a:rPr>
              <a:t>드물게 나온 업무 개념</a:t>
            </a:r>
            <a:endParaRPr lang="en-US" sz="1400" dirty="0"/>
          </a:p>
          <a:p>
            <a:pPr indent="0" marL="0">
              <a:spcAft>
                <a:spcPts val="400"/>
              </a:spcAft>
              <a:buNone/>
            </a:pPr>
            <a:r>
              <a:rPr lang="en-US" sz="1400" dirty="0">
                <a:solidFill>
                  <a:srgbClr val="2B3242"/>
                </a:solidFill>
                <a:latin typeface="Pretendard" pitchFamily="34" charset="0"/>
                <a:ea typeface="Pretendard" pitchFamily="34" charset="-122"/>
                <a:cs typeface="Pretendard" pitchFamily="34" charset="-120"/>
              </a:rPr>
              <a:t>Issue 5, Complaint 2, Proposal 2, Condition 2, REJECTS_CHANGE 1</a:t>
            </a:r>
            <a:endParaRPr lang="en-US" sz="1400" dirty="0"/>
          </a:p>
        </p:txBody>
      </p:sp>
      <p:sp>
        <p:nvSpPr>
          <p:cNvPr id="46" name="Shape 43"/>
          <p:cNvSpPr/>
          <p:nvPr/>
        </p:nvSpPr>
        <p:spPr>
          <a:xfrm>
            <a:off x="10110521" y="4937760"/>
            <a:ext cx="4023360" cy="1444752"/>
          </a:xfrm>
          <a:prstGeom prst="roundRect">
            <a:avLst>
              <a:gd name="adj" fmla="val 3797"/>
            </a:avLst>
          </a:prstGeom>
          <a:solidFill>
            <a:srgbClr val="F5F8FC"/>
          </a:solidFill>
          <a:ln w="12700">
            <a:solidFill>
              <a:srgbClr val="D9E0EC"/>
            </a:solidFill>
            <a:prstDash val="solid"/>
          </a:ln>
        </p:spPr>
      </p:sp>
      <p:sp>
        <p:nvSpPr>
          <p:cNvPr id="47" name="Text 44"/>
          <p:cNvSpPr txBox="1"/>
          <p:nvPr/>
        </p:nvSpPr>
        <p:spPr>
          <a:xfrm>
            <a:off x="10220249" y="4937760"/>
            <a:ext cx="3803904" cy="1444752"/>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같은 30건, 앞 결과 이름을 넘기면</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10개로 모이지만 업무 개념 1 / 4</a:t>
            </a:r>
            <a:endParaRPr lang="en-US" sz="1400" dirty="0"/>
          </a:p>
          <a:p>
            <a:pPr indent="0" marL="0">
              <a:buNone/>
            </a:pPr>
            <a:r>
              <a:rPr lang="en-US" sz="1400" b="1" dirty="0">
                <a:solidFill>
                  <a:srgbClr val="2E74C6"/>
                </a:solidFill>
                <a:latin typeface="Pretendard" pitchFamily="34" charset="0"/>
                <a:ea typeface="Pretendard" pitchFamily="34" charset="-122"/>
                <a:cs typeface="Pretendard" pitchFamily="34" charset="-120"/>
              </a:rPr>
              <a:t>넘기지 않으면(권고)</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53개로 흩어지지만 업무 개념 4 / 4</a:t>
            </a:r>
            <a:endParaRPr lang="en-US" sz="1400" dirty="0"/>
          </a:p>
        </p:txBody>
      </p:sp>
      <p:sp>
        <p:nvSpPr>
          <p:cNvPr id="48" name="Shape 4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sp>
      <p:sp>
        <p:nvSpPr>
          <p:cNvPr id="49" name="Shape 46"/>
          <p:cNvSpPr/>
          <p:nvPr/>
        </p:nvSpPr>
        <p:spPr>
          <a:xfrm>
            <a:off x="509321" y="6510528"/>
            <a:ext cx="82296" cy="658368"/>
          </a:xfrm>
          <a:prstGeom prst="rect">
            <a:avLst/>
          </a:prstGeom>
          <a:solidFill>
            <a:srgbClr val="2E74C6"/>
          </a:solidFill>
          <a:ln/>
        </p:spPr>
      </p:sp>
      <p:sp>
        <p:nvSpPr>
          <p:cNvPr id="50" name="Text 47"/>
          <p:cNvSpPr txBox="1"/>
          <p:nvPr/>
        </p:nvSpPr>
        <p:spPr>
          <a:xfrm>
            <a:off x="737921" y="6510528"/>
            <a:ext cx="13258800" cy="658368"/>
          </a:xfrm>
          <a:prstGeom prst="rect">
            <a:avLst/>
          </a:prstGeom>
          <a:noFill/>
          <a:ln/>
        </p:spPr>
        <p:txBody>
          <a:bodyPr wrap="square" lIns="0" tIns="0" rIns="0" bIns="0" rtlCol="0" anchor="ctr"/>
          <a:lstStyle/>
          <a:p>
            <a:pPr algn="l" indent="0" marL="0">
              <a:buNone/>
            </a:pPr>
            <a:r>
              <a:rPr lang="en-US" sz="1600" b="1" dirty="0">
                <a:solidFill>
                  <a:srgbClr val="1E2A5C"/>
                </a:solidFill>
                <a:latin typeface="Pretendard" pitchFamily="34" charset="0"/>
                <a:ea typeface="Pretendard" pitchFamily="34" charset="-122"/>
                <a:cs typeface="Pretendard" pitchFamily="34" charset="-120"/>
              </a:rPr>
              <a:t>드물게 나온 이름이 핵심일 수 있음 — 빈도로 거르지 말고 ③에서 역량 질문을 기준으로 판단</a:t>
            </a:r>
            <a:endParaRPr lang="en-US" sz="1600" dirty="0"/>
          </a:p>
        </p:txBody>
      </p:sp>
      <p:sp>
        <p:nvSpPr>
          <p:cNvPr id="51" name="Shape 48"/>
          <p:cNvSpPr/>
          <p:nvPr/>
        </p:nvSpPr>
        <p:spPr>
          <a:xfrm>
            <a:off x="509321" y="7388352"/>
            <a:ext cx="13624560" cy="0"/>
          </a:xfrm>
          <a:prstGeom prst="line">
            <a:avLst/>
          </a:prstGeom>
          <a:noFill/>
          <a:ln w="12700">
            <a:solidFill>
              <a:srgbClr val="E9ECF3"/>
            </a:solidFill>
            <a:prstDash val="solid"/>
          </a:ln>
        </p:spPr>
      </p:sp>
      <p:sp>
        <p:nvSpPr>
          <p:cNvPr id="52" name="Text 49"/>
          <p:cNvSpPr txBox="1"/>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상담 30건(세그먼트 균형 순서), 업무 개념 = 불만, 제안, 응답, 재검토 조건</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1. 스키마 도출: 단계 ③ 스키마 후보 확정(LLM 추천 + 사람 확정)</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후보 목록과 역량 질문을 LLM에 주면 병합, 제거, 추가 초안과 근거를 추천하고, 사람이 검토해 스키마 초안을 확정함</a:t>
            </a:r>
            <a:endParaRPr lang="en-US" sz="1800" dirty="0"/>
          </a:p>
        </p:txBody>
      </p:sp>
      <p:sp>
        <p:nvSpPr>
          <p:cNvPr id="5" name="Shape 2"/>
          <p:cNvSpPr/>
          <p:nvPr/>
        </p:nvSpPr>
        <p:spPr>
          <a:xfrm>
            <a:off x="509321" y="1737360"/>
            <a:ext cx="6858000" cy="365760"/>
          </a:xfrm>
          <a:prstGeom prst="roundRect">
            <a:avLst>
              <a:gd name="adj" fmla="val 12500"/>
            </a:avLst>
          </a:prstGeom>
          <a:solidFill>
            <a:srgbClr val="404155"/>
          </a:solidFill>
          <a:ln/>
        </p:spPr>
      </p:sp>
      <p:sp>
        <p:nvSpPr>
          <p:cNvPr id="6" name="Text 3"/>
          <p:cNvSpPr txBox="1"/>
          <p:nvPr/>
        </p:nvSpPr>
        <p:spPr>
          <a:xfrm>
            <a:off x="509321" y="1737360"/>
            <a:ext cx="685800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LLM 추천(괄호 = 근거가 된 역량 질문 번호)</a:t>
            </a:r>
            <a:endParaRPr lang="en-US" sz="1600" dirty="0"/>
          </a:p>
        </p:txBody>
      </p:sp>
      <p:sp>
        <p:nvSpPr>
          <p:cNvPr id="7" name="Shape 4"/>
          <p:cNvSpPr/>
          <p:nvPr/>
        </p:nvSpPr>
        <p:spPr>
          <a:xfrm>
            <a:off x="509321" y="2212848"/>
            <a:ext cx="6858000" cy="1499616"/>
          </a:xfrm>
          <a:prstGeom prst="roundRect">
            <a:avLst>
              <a:gd name="adj" fmla="val 3659"/>
            </a:avLst>
          </a:prstGeom>
          <a:solidFill>
            <a:srgbClr val="FFFFFF"/>
          </a:solidFill>
          <a:ln w="12700">
            <a:solidFill>
              <a:srgbClr val="D9E0EC"/>
            </a:solidFill>
            <a:prstDash val="solid"/>
          </a:ln>
        </p:spPr>
      </p:sp>
      <p:sp>
        <p:nvSpPr>
          <p:cNvPr id="8" name="Shape 5"/>
          <p:cNvSpPr/>
          <p:nvPr/>
        </p:nvSpPr>
        <p:spPr>
          <a:xfrm>
            <a:off x="600761" y="2286000"/>
            <a:ext cx="731520" cy="1353312"/>
          </a:xfrm>
          <a:prstGeom prst="roundRect">
            <a:avLst>
              <a:gd name="adj" fmla="val 7500"/>
            </a:avLst>
          </a:prstGeom>
          <a:solidFill>
            <a:srgbClr val="1E2A5C"/>
          </a:solidFill>
          <a:ln/>
        </p:spPr>
      </p:sp>
      <p:sp>
        <p:nvSpPr>
          <p:cNvPr id="9" name="Text 6"/>
          <p:cNvSpPr txBox="1"/>
          <p:nvPr/>
        </p:nvSpPr>
        <p:spPr>
          <a:xfrm>
            <a:off x="600761" y="2286000"/>
            <a:ext cx="731520" cy="1353312"/>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병합</a:t>
            </a:r>
            <a:endParaRPr lang="en-US" sz="1500" dirty="0"/>
          </a:p>
        </p:txBody>
      </p:sp>
      <p:sp>
        <p:nvSpPr>
          <p:cNvPr id="10" name="Text 7"/>
          <p:cNvSpPr txBox="1"/>
          <p:nvPr/>
        </p:nvSpPr>
        <p:spPr>
          <a:xfrm>
            <a:off x="1442009" y="2212848"/>
            <a:ext cx="5852160" cy="1499616"/>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Issue, Complaint → Complaint (1)</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Proposal, SUGGESTS, MAKES_PROPOSAL → Proposal (2)</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Condition → ReconsiderCondition (4)</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Consultation, Conversation, Session, Record → Consultation (5)</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FOLLOWS, CONTINUES_FROM, PREVIOUS_SESSION → FOLLOWS (5)</a:t>
            </a:r>
            <a:endParaRPr lang="en-US" sz="1400" dirty="0"/>
          </a:p>
        </p:txBody>
      </p:sp>
      <p:sp>
        <p:nvSpPr>
          <p:cNvPr id="11" name="Shape 8"/>
          <p:cNvSpPr/>
          <p:nvPr/>
        </p:nvSpPr>
        <p:spPr>
          <a:xfrm>
            <a:off x="509321" y="3803904"/>
            <a:ext cx="6858000" cy="1225296"/>
          </a:xfrm>
          <a:prstGeom prst="roundRect">
            <a:avLst>
              <a:gd name="adj" fmla="val 4478"/>
            </a:avLst>
          </a:prstGeom>
          <a:solidFill>
            <a:srgbClr val="FFFFFF"/>
          </a:solidFill>
          <a:ln w="12700">
            <a:solidFill>
              <a:srgbClr val="D9E0EC"/>
            </a:solidFill>
            <a:prstDash val="solid"/>
          </a:ln>
        </p:spPr>
      </p:sp>
      <p:sp>
        <p:nvSpPr>
          <p:cNvPr id="12" name="Shape 9"/>
          <p:cNvSpPr/>
          <p:nvPr/>
        </p:nvSpPr>
        <p:spPr>
          <a:xfrm>
            <a:off x="600761" y="3877056"/>
            <a:ext cx="731520" cy="1078992"/>
          </a:xfrm>
          <a:prstGeom prst="roundRect">
            <a:avLst>
              <a:gd name="adj" fmla="val 7500"/>
            </a:avLst>
          </a:prstGeom>
          <a:solidFill>
            <a:srgbClr val="404155"/>
          </a:solidFill>
          <a:ln/>
        </p:spPr>
      </p:sp>
      <p:sp>
        <p:nvSpPr>
          <p:cNvPr id="13" name="Text 10"/>
          <p:cNvSpPr txBox="1"/>
          <p:nvPr/>
        </p:nvSpPr>
        <p:spPr>
          <a:xfrm>
            <a:off x="600761" y="3877056"/>
            <a:ext cx="731520" cy="1078992"/>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제거</a:t>
            </a:r>
            <a:endParaRPr lang="en-US" sz="1500" dirty="0"/>
          </a:p>
        </p:txBody>
      </p:sp>
      <p:sp>
        <p:nvSpPr>
          <p:cNvPr id="14" name="Text 11"/>
          <p:cNvSpPr txBox="1"/>
          <p:nvPr/>
        </p:nvSpPr>
        <p:spPr>
          <a:xfrm>
            <a:off x="1442009" y="3803904"/>
            <a:ext cx="5852160" cy="1225296"/>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Request, Menu, Address, Order: 어느 질문에도 안 쓰임</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Transaction, TransactionSummary: RDB에 이미 있는 집계</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Customer의 name, email, birthdate: 가명처리 대상</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Agent, Counselor: 메타데이터(상담사 가명ID)로 충분</a:t>
            </a:r>
            <a:endParaRPr lang="en-US" sz="1400" dirty="0"/>
          </a:p>
        </p:txBody>
      </p:sp>
      <p:sp>
        <p:nvSpPr>
          <p:cNvPr id="15" name="Shape 12"/>
          <p:cNvSpPr/>
          <p:nvPr/>
        </p:nvSpPr>
        <p:spPr>
          <a:xfrm>
            <a:off x="509321" y="5120640"/>
            <a:ext cx="6858000" cy="950976"/>
          </a:xfrm>
          <a:prstGeom prst="roundRect">
            <a:avLst>
              <a:gd name="adj" fmla="val 5769"/>
            </a:avLst>
          </a:prstGeom>
          <a:solidFill>
            <a:srgbClr val="FFFFFF"/>
          </a:solidFill>
          <a:ln w="12700">
            <a:solidFill>
              <a:srgbClr val="D9E0EC"/>
            </a:solidFill>
            <a:prstDash val="solid"/>
          </a:ln>
        </p:spPr>
      </p:sp>
      <p:sp>
        <p:nvSpPr>
          <p:cNvPr id="16" name="Shape 13"/>
          <p:cNvSpPr/>
          <p:nvPr/>
        </p:nvSpPr>
        <p:spPr>
          <a:xfrm>
            <a:off x="600761" y="5193792"/>
            <a:ext cx="731520" cy="804672"/>
          </a:xfrm>
          <a:prstGeom prst="roundRect">
            <a:avLst>
              <a:gd name="adj" fmla="val 7500"/>
            </a:avLst>
          </a:prstGeom>
          <a:solidFill>
            <a:srgbClr val="2E74C6"/>
          </a:solidFill>
          <a:ln/>
        </p:spPr>
      </p:sp>
      <p:sp>
        <p:nvSpPr>
          <p:cNvPr id="17" name="Text 14"/>
          <p:cNvSpPr txBox="1"/>
          <p:nvPr/>
        </p:nvSpPr>
        <p:spPr>
          <a:xfrm>
            <a:off x="600761" y="5193792"/>
            <a:ext cx="731520" cy="804672"/>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추가</a:t>
            </a:r>
            <a:endParaRPr lang="en-US" sz="1500" dirty="0"/>
          </a:p>
        </p:txBody>
      </p:sp>
      <p:sp>
        <p:nvSpPr>
          <p:cNvPr id="18" name="Text 15"/>
          <p:cNvSpPr txBox="1"/>
          <p:nvPr/>
        </p:nvSpPr>
        <p:spPr>
          <a:xfrm>
            <a:off x="1442009" y="5120640"/>
            <a:ext cx="5852160" cy="950976"/>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Proposal.decision, decision_reason (3): 후보는 REJECTS_CHANGE 1건뿐</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ADDRESSES: 제안이 어느 불만을 겨냥했나 (1, 2)</a:t>
            </a:r>
            <a:endParaRPr lang="en-US" sz="1400" dirty="0"/>
          </a:p>
          <a:p>
            <a:pPr algn="l" indent="0" marL="0">
              <a:buNone/>
            </a:pPr>
            <a:r>
              <a:rPr lang="en-US" sz="1400" dirty="0">
                <a:solidFill>
                  <a:srgbClr val="2B3242"/>
                </a:solidFill>
                <a:latin typeface="Pretendard" pitchFamily="34" charset="0"/>
                <a:ea typeface="Pretendard" pitchFamily="34" charset="-122"/>
                <a:cs typeface="Pretendard" pitchFamily="34" charset="-120"/>
              </a:rPr>
              <a:t>RECONSIDER_WHEN: 보류한 제안의 재검토 조건 (4)</a:t>
            </a:r>
            <a:endParaRPr lang="en-US" sz="1400" dirty="0"/>
          </a:p>
        </p:txBody>
      </p:sp>
      <p:sp>
        <p:nvSpPr>
          <p:cNvPr id="19" name="Shape 16"/>
          <p:cNvSpPr/>
          <p:nvPr/>
        </p:nvSpPr>
        <p:spPr>
          <a:xfrm>
            <a:off x="7641641" y="1737360"/>
            <a:ext cx="6492240" cy="365760"/>
          </a:xfrm>
          <a:prstGeom prst="roundRect">
            <a:avLst>
              <a:gd name="adj" fmla="val 12500"/>
            </a:avLst>
          </a:prstGeom>
          <a:solidFill>
            <a:srgbClr val="1E2A5C"/>
          </a:solidFill>
          <a:ln/>
        </p:spPr>
      </p:sp>
      <p:sp>
        <p:nvSpPr>
          <p:cNvPr id="20" name="Text 17"/>
          <p:cNvSpPr txBox="1"/>
          <p:nvPr/>
        </p:nvSpPr>
        <p:spPr>
          <a:xfrm>
            <a:off x="7641641" y="1737360"/>
            <a:ext cx="649224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사람이 검토해 정한 것</a:t>
            </a:r>
            <a:endParaRPr lang="en-US" sz="1600" dirty="0"/>
          </a:p>
        </p:txBody>
      </p:sp>
      <p:sp>
        <p:nvSpPr>
          <p:cNvPr id="21" name="Shape 18"/>
          <p:cNvSpPr/>
          <p:nvPr/>
        </p:nvSpPr>
        <p:spPr>
          <a:xfrm>
            <a:off x="7641641" y="2212848"/>
            <a:ext cx="6492240" cy="969264"/>
          </a:xfrm>
          <a:prstGeom prst="roundRect">
            <a:avLst>
              <a:gd name="adj" fmla="val 5660"/>
            </a:avLst>
          </a:prstGeom>
          <a:solidFill>
            <a:srgbClr val="EEF3FA"/>
          </a:solidFill>
          <a:ln w="12700">
            <a:solidFill>
              <a:srgbClr val="2E74C6"/>
            </a:solidFill>
            <a:prstDash val="solid"/>
          </a:ln>
        </p:spPr>
      </p:sp>
      <p:sp>
        <p:nvSpPr>
          <p:cNvPr id="22" name="Text 19"/>
          <p:cNvSpPr txBox="1"/>
          <p:nvPr/>
        </p:nvSpPr>
        <p:spPr>
          <a:xfrm>
            <a:off x="7751369" y="2212848"/>
            <a:ext cx="6309360" cy="969264"/>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 고객 응답은 노드 대신 Proposal 속성(decision, decision_reason)으로</a:t>
            </a:r>
            <a:endParaRPr lang="en-US" sz="1400" dirty="0"/>
          </a:p>
          <a:p>
            <a:pPr algn="l" indent="0" marL="0">
              <a:buNone/>
            </a:pPr>
            <a:r>
              <a:rPr lang="en-US" sz="1400" b="1" dirty="0">
                <a:solidFill>
                  <a:srgbClr val="1E2A5C"/>
                </a:solidFill>
                <a:latin typeface="Pretendard" pitchFamily="34" charset="0"/>
                <a:ea typeface="Pretendard" pitchFamily="34" charset="-122"/>
                <a:cs typeface="Pretendard" pitchFamily="34" charset="-120"/>
              </a:rPr>
              <a:t>• 상담 주제(Request)는 노드 대신 Consultation.topic 속성으로</a:t>
            </a:r>
            <a:endParaRPr lang="en-US" sz="1400" dirty="0"/>
          </a:p>
          <a:p>
            <a:pPr algn="l" indent="0" marL="0">
              <a:buNone/>
            </a:pPr>
            <a:r>
              <a:rPr lang="en-US" sz="1400" b="1" dirty="0">
                <a:solidFill>
                  <a:srgbClr val="1E2A5C"/>
                </a:solidFill>
                <a:latin typeface="Pretendard" pitchFamily="34" charset="0"/>
                <a:ea typeface="Pretendard" pitchFamily="34" charset="-122"/>
                <a:cs typeface="Pretendard" pitchFamily="34" charset="-120"/>
              </a:rPr>
              <a:t>• 제약은 Consultation.record_id UNIQUENESS 하나(Community 판)</a:t>
            </a:r>
            <a:endParaRPr lang="en-US" sz="1400" dirty="0"/>
          </a:p>
        </p:txBody>
      </p:sp>
      <p:sp>
        <p:nvSpPr>
          <p:cNvPr id="23" name="Shape 20"/>
          <p:cNvSpPr/>
          <p:nvPr/>
        </p:nvSpPr>
        <p:spPr>
          <a:xfrm>
            <a:off x="7733081" y="4178808"/>
            <a:ext cx="1828800" cy="658368"/>
          </a:xfrm>
          <a:prstGeom prst="roundRect">
            <a:avLst>
              <a:gd name="adj" fmla="val 11111"/>
            </a:avLst>
          </a:prstGeom>
          <a:solidFill>
            <a:srgbClr val="1E2A5C"/>
          </a:solidFill>
          <a:ln w="19050">
            <a:solidFill>
              <a:srgbClr val="1E2A5C"/>
            </a:solidFill>
            <a:prstDash val="solid"/>
          </a:ln>
        </p:spPr>
      </p:sp>
      <p:sp>
        <p:nvSpPr>
          <p:cNvPr id="24" name="Text 21"/>
          <p:cNvSpPr txBox="1"/>
          <p:nvPr/>
        </p:nvSpPr>
        <p:spPr>
          <a:xfrm>
            <a:off x="7806233" y="4206240"/>
            <a:ext cx="1682496"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:Consultation</a:t>
            </a:r>
            <a:endParaRPr lang="en-US" sz="1400" dirty="0"/>
          </a:p>
        </p:txBody>
      </p:sp>
      <p:sp>
        <p:nvSpPr>
          <p:cNvPr id="25" name="Text 22"/>
          <p:cNvSpPr txBox="1"/>
          <p:nvPr/>
        </p:nvSpPr>
        <p:spPr>
          <a:xfrm>
            <a:off x="7806233" y="4471416"/>
            <a:ext cx="1682496" cy="347472"/>
          </a:xfrm>
          <a:prstGeom prst="rect">
            <a:avLst/>
          </a:prstGeom>
          <a:noFill/>
          <a:ln/>
        </p:spPr>
        <p:txBody>
          <a:bodyPr wrap="square" lIns="0" tIns="0" rIns="0" bIns="0" rtlCol="0" anchor="t"/>
          <a:lstStyle/>
          <a:p>
            <a:pPr algn="ctr" indent="0" marL="0">
              <a:buNone/>
            </a:pPr>
            <a:r>
              <a:rPr lang="en-US" sz="1400" dirty="0">
                <a:solidFill>
                  <a:srgbClr val="D9E3F5"/>
                </a:solidFill>
                <a:latin typeface="Pretendard" pitchFamily="34" charset="0"/>
                <a:ea typeface="Pretendard" pitchFamily="34" charset="-122"/>
                <a:cs typeface="Pretendard" pitchFamily="34" charset="-120"/>
              </a:rPr>
              <a:t>record_id (키)</a:t>
            </a:r>
            <a:endParaRPr lang="en-US" sz="1400" dirty="0"/>
          </a:p>
        </p:txBody>
      </p:sp>
      <p:sp>
        <p:nvSpPr>
          <p:cNvPr id="26" name="Shape 23"/>
          <p:cNvSpPr/>
          <p:nvPr/>
        </p:nvSpPr>
        <p:spPr>
          <a:xfrm>
            <a:off x="7733081" y="5184648"/>
            <a:ext cx="1828800" cy="566928"/>
          </a:xfrm>
          <a:prstGeom prst="roundRect">
            <a:avLst>
              <a:gd name="adj" fmla="val 12903"/>
            </a:avLst>
          </a:prstGeom>
          <a:solidFill>
            <a:srgbClr val="EEF3FA"/>
          </a:solidFill>
          <a:ln w="19050">
            <a:solidFill>
              <a:srgbClr val="7C8598"/>
            </a:solidFill>
            <a:prstDash val="dash"/>
          </a:ln>
        </p:spPr>
      </p:sp>
      <p:sp>
        <p:nvSpPr>
          <p:cNvPr id="27" name="Text 24"/>
          <p:cNvSpPr txBox="1"/>
          <p:nvPr/>
        </p:nvSpPr>
        <p:spPr>
          <a:xfrm>
            <a:off x="7806233" y="5212080"/>
            <a:ext cx="1682496" cy="274320"/>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:Consultation</a:t>
            </a:r>
            <a:endParaRPr lang="en-US" sz="1400" dirty="0"/>
          </a:p>
        </p:txBody>
      </p:sp>
      <p:sp>
        <p:nvSpPr>
          <p:cNvPr id="28" name="Text 25"/>
          <p:cNvSpPr txBox="1"/>
          <p:nvPr/>
        </p:nvSpPr>
        <p:spPr>
          <a:xfrm>
            <a:off x="7806233" y="5477256"/>
            <a:ext cx="1682496" cy="256032"/>
          </a:xfrm>
          <a:prstGeom prst="rect">
            <a:avLst/>
          </a:prstGeom>
          <a:noFill/>
          <a:ln/>
        </p:spPr>
        <p:txBody>
          <a:bodyPr wrap="square" lIns="0" tIns="0" rIns="0" bIns="0" rtlCol="0" anchor="t"/>
          <a:lstStyle/>
          <a:p>
            <a:pPr algn="ctr" indent="0" marL="0">
              <a:buNone/>
            </a:pPr>
            <a:r>
              <a:rPr lang="en-US" sz="1400" dirty="0">
                <a:solidFill>
                  <a:srgbClr val="2B3242"/>
                </a:solidFill>
                <a:latin typeface="Pretendard" pitchFamily="34" charset="0"/>
                <a:ea typeface="Pretendard" pitchFamily="34" charset="-122"/>
                <a:cs typeface="Pretendard" pitchFamily="34" charset="-120"/>
              </a:rPr>
              <a:t>앞선 상담</a:t>
            </a:r>
            <a:endParaRPr lang="en-US" sz="1400" dirty="0"/>
          </a:p>
        </p:txBody>
      </p:sp>
      <p:sp>
        <p:nvSpPr>
          <p:cNvPr id="29" name="Shape 26"/>
          <p:cNvSpPr/>
          <p:nvPr/>
        </p:nvSpPr>
        <p:spPr>
          <a:xfrm>
            <a:off x="11756441" y="3310128"/>
            <a:ext cx="2286000" cy="621792"/>
          </a:xfrm>
          <a:prstGeom prst="roundRect">
            <a:avLst>
              <a:gd name="adj" fmla="val 11765"/>
            </a:avLst>
          </a:prstGeom>
          <a:solidFill>
            <a:srgbClr val="EEF3FA"/>
          </a:solidFill>
          <a:ln w="19050">
            <a:solidFill>
              <a:srgbClr val="1E2A5C"/>
            </a:solidFill>
            <a:prstDash val="solid"/>
          </a:ln>
        </p:spPr>
      </p:sp>
      <p:sp>
        <p:nvSpPr>
          <p:cNvPr id="30" name="Text 27"/>
          <p:cNvSpPr txBox="1"/>
          <p:nvPr/>
        </p:nvSpPr>
        <p:spPr>
          <a:xfrm>
            <a:off x="11829593" y="3337560"/>
            <a:ext cx="2139696" cy="274320"/>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:Complaint</a:t>
            </a:r>
            <a:endParaRPr lang="en-US" sz="1400" dirty="0"/>
          </a:p>
        </p:txBody>
      </p:sp>
      <p:sp>
        <p:nvSpPr>
          <p:cNvPr id="31" name="Text 28"/>
          <p:cNvSpPr txBox="1"/>
          <p:nvPr/>
        </p:nvSpPr>
        <p:spPr>
          <a:xfrm>
            <a:off x="11829593" y="3602736"/>
            <a:ext cx="2139696" cy="310896"/>
          </a:xfrm>
          <a:prstGeom prst="rect">
            <a:avLst/>
          </a:prstGeom>
          <a:noFill/>
          <a:ln/>
        </p:spPr>
        <p:txBody>
          <a:bodyPr wrap="square" lIns="0" tIns="0" rIns="0" bIns="0" rtlCol="0" anchor="t"/>
          <a:lstStyle/>
          <a:p>
            <a:pPr algn="ctr" indent="0" marL="0">
              <a:buNone/>
            </a:pPr>
            <a:r>
              <a:rPr lang="en-US" sz="1400" dirty="0">
                <a:solidFill>
                  <a:srgbClr val="2B3242"/>
                </a:solidFill>
                <a:latin typeface="Pretendard" pitchFamily="34" charset="0"/>
                <a:ea typeface="Pretendard" pitchFamily="34" charset="-122"/>
                <a:cs typeface="Pretendard" pitchFamily="34" charset="-120"/>
              </a:rPr>
              <a:t>cause, category</a:t>
            </a:r>
            <a:endParaRPr lang="en-US" sz="1400" dirty="0"/>
          </a:p>
        </p:txBody>
      </p:sp>
      <p:sp>
        <p:nvSpPr>
          <p:cNvPr id="32" name="Shape 29"/>
          <p:cNvSpPr/>
          <p:nvPr/>
        </p:nvSpPr>
        <p:spPr>
          <a:xfrm>
            <a:off x="11756441" y="4178808"/>
            <a:ext cx="2286000" cy="822960"/>
          </a:xfrm>
          <a:prstGeom prst="roundRect">
            <a:avLst>
              <a:gd name="adj" fmla="val 8889"/>
            </a:avLst>
          </a:prstGeom>
          <a:solidFill>
            <a:srgbClr val="EEF3FA"/>
          </a:solidFill>
          <a:ln w="19050">
            <a:solidFill>
              <a:srgbClr val="1E2A5C"/>
            </a:solidFill>
            <a:prstDash val="solid"/>
          </a:ln>
        </p:spPr>
      </p:sp>
      <p:sp>
        <p:nvSpPr>
          <p:cNvPr id="33" name="Text 30"/>
          <p:cNvSpPr txBox="1"/>
          <p:nvPr/>
        </p:nvSpPr>
        <p:spPr>
          <a:xfrm>
            <a:off x="11829593" y="4206240"/>
            <a:ext cx="2139696" cy="274320"/>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:Proposal</a:t>
            </a:r>
            <a:endParaRPr lang="en-US" sz="1400" dirty="0"/>
          </a:p>
        </p:txBody>
      </p:sp>
      <p:sp>
        <p:nvSpPr>
          <p:cNvPr id="34" name="Text 31"/>
          <p:cNvSpPr txBox="1"/>
          <p:nvPr/>
        </p:nvSpPr>
        <p:spPr>
          <a:xfrm>
            <a:off x="11829593" y="4471416"/>
            <a:ext cx="2139696" cy="512064"/>
          </a:xfrm>
          <a:prstGeom prst="rect">
            <a:avLst/>
          </a:prstGeom>
          <a:noFill/>
          <a:ln/>
        </p:spPr>
        <p:txBody>
          <a:bodyPr wrap="square" lIns="0" tIns="0" rIns="0" bIns="0" rtlCol="0" anchor="t"/>
          <a:lstStyle/>
          <a:p>
            <a:pPr algn="ctr" indent="0" marL="0">
              <a:buNone/>
            </a:pPr>
            <a:r>
              <a:rPr lang="en-US" sz="1400" dirty="0">
                <a:solidFill>
                  <a:srgbClr val="2B3242"/>
                </a:solidFill>
                <a:latin typeface="Pretendard" pitchFamily="34" charset="0"/>
                <a:ea typeface="Pretendard" pitchFamily="34" charset="-122"/>
                <a:cs typeface="Pretendard" pitchFamily="34" charset="-120"/>
              </a:rPr>
              <a:t>content, decision,</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decision_reason</a:t>
            </a:r>
            <a:endParaRPr lang="en-US" sz="1400" dirty="0"/>
          </a:p>
        </p:txBody>
      </p:sp>
      <p:sp>
        <p:nvSpPr>
          <p:cNvPr id="35" name="Shape 32"/>
          <p:cNvSpPr/>
          <p:nvPr/>
        </p:nvSpPr>
        <p:spPr>
          <a:xfrm>
            <a:off x="11756441" y="5248656"/>
            <a:ext cx="2286000" cy="566928"/>
          </a:xfrm>
          <a:prstGeom prst="roundRect">
            <a:avLst>
              <a:gd name="adj" fmla="val 12903"/>
            </a:avLst>
          </a:prstGeom>
          <a:solidFill>
            <a:srgbClr val="EEF3FA"/>
          </a:solidFill>
          <a:ln w="19050">
            <a:solidFill>
              <a:srgbClr val="1E2A5C"/>
            </a:solidFill>
            <a:prstDash val="solid"/>
          </a:ln>
        </p:spPr>
      </p:sp>
      <p:sp>
        <p:nvSpPr>
          <p:cNvPr id="36" name="Text 33"/>
          <p:cNvSpPr txBox="1"/>
          <p:nvPr/>
        </p:nvSpPr>
        <p:spPr>
          <a:xfrm>
            <a:off x="11829593" y="5276088"/>
            <a:ext cx="2139696" cy="274320"/>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:ReconsiderCondition</a:t>
            </a:r>
            <a:endParaRPr lang="en-US" sz="1400" dirty="0"/>
          </a:p>
        </p:txBody>
      </p:sp>
      <p:sp>
        <p:nvSpPr>
          <p:cNvPr id="37" name="Text 34"/>
          <p:cNvSpPr txBox="1"/>
          <p:nvPr/>
        </p:nvSpPr>
        <p:spPr>
          <a:xfrm>
            <a:off x="11829593" y="5541264"/>
            <a:ext cx="2139696" cy="256032"/>
          </a:xfrm>
          <a:prstGeom prst="rect">
            <a:avLst/>
          </a:prstGeom>
          <a:noFill/>
          <a:ln/>
        </p:spPr>
        <p:txBody>
          <a:bodyPr wrap="square" lIns="0" tIns="0" rIns="0" bIns="0" rtlCol="0" anchor="t"/>
          <a:lstStyle/>
          <a:p>
            <a:pPr algn="ctr" indent="0" marL="0">
              <a:buNone/>
            </a:pPr>
            <a:r>
              <a:rPr lang="en-US" sz="1400" dirty="0">
                <a:solidFill>
                  <a:srgbClr val="2B3242"/>
                </a:solidFill>
                <a:latin typeface="Pretendard" pitchFamily="34" charset="0"/>
                <a:ea typeface="Pretendard" pitchFamily="34" charset="-122"/>
                <a:cs typeface="Pretendard" pitchFamily="34" charset="-120"/>
              </a:rPr>
              <a:t>description</a:t>
            </a:r>
            <a:endParaRPr lang="en-US" sz="1400" dirty="0"/>
          </a:p>
        </p:txBody>
      </p:sp>
      <p:sp>
        <p:nvSpPr>
          <p:cNvPr id="38" name="Shape 35"/>
          <p:cNvSpPr/>
          <p:nvPr/>
        </p:nvSpPr>
        <p:spPr>
          <a:xfrm flipV="1">
            <a:off x="9589313" y="3675888"/>
            <a:ext cx="2139696" cy="594360"/>
          </a:xfrm>
          <a:prstGeom prst="line">
            <a:avLst/>
          </a:prstGeom>
          <a:noFill/>
          <a:ln w="19050">
            <a:solidFill>
              <a:srgbClr val="1E2A5C"/>
            </a:solidFill>
            <a:prstDash val="solid"/>
            <a:tailEnd type="triangle"/>
          </a:ln>
        </p:spPr>
      </p:sp>
      <p:sp>
        <p:nvSpPr>
          <p:cNvPr id="39" name="Text 36"/>
          <p:cNvSpPr txBox="1"/>
          <p:nvPr/>
        </p:nvSpPr>
        <p:spPr>
          <a:xfrm>
            <a:off x="9607601" y="3602736"/>
            <a:ext cx="1554480" cy="237744"/>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HAS_COMPLAINT</a:t>
            </a:r>
            <a:endParaRPr lang="en-US" sz="1400" dirty="0"/>
          </a:p>
        </p:txBody>
      </p:sp>
      <p:sp>
        <p:nvSpPr>
          <p:cNvPr id="40" name="Shape 37"/>
          <p:cNvSpPr/>
          <p:nvPr/>
        </p:nvSpPr>
        <p:spPr>
          <a:xfrm>
            <a:off x="9589313" y="4590288"/>
            <a:ext cx="2139696" cy="0"/>
          </a:xfrm>
          <a:prstGeom prst="line">
            <a:avLst/>
          </a:prstGeom>
          <a:noFill/>
          <a:ln w="19050">
            <a:solidFill>
              <a:srgbClr val="1E2A5C"/>
            </a:solidFill>
            <a:prstDash val="solid"/>
            <a:tailEnd type="triangle"/>
          </a:ln>
        </p:spPr>
      </p:sp>
      <p:sp>
        <p:nvSpPr>
          <p:cNvPr id="41" name="Text 38"/>
          <p:cNvSpPr txBox="1"/>
          <p:nvPr/>
        </p:nvSpPr>
        <p:spPr>
          <a:xfrm>
            <a:off x="9607601" y="4315968"/>
            <a:ext cx="2103120" cy="237744"/>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HAS_PROPOSAL</a:t>
            </a:r>
            <a:endParaRPr lang="en-US" sz="1400" dirty="0"/>
          </a:p>
        </p:txBody>
      </p:sp>
      <p:sp>
        <p:nvSpPr>
          <p:cNvPr id="42" name="Shape 39"/>
          <p:cNvSpPr/>
          <p:nvPr/>
        </p:nvSpPr>
        <p:spPr>
          <a:xfrm flipV="1">
            <a:off x="12899441" y="3950208"/>
            <a:ext cx="0" cy="210312"/>
          </a:xfrm>
          <a:prstGeom prst="line">
            <a:avLst/>
          </a:prstGeom>
          <a:noFill/>
          <a:ln w="19050">
            <a:solidFill>
              <a:srgbClr val="2E74C6"/>
            </a:solidFill>
            <a:prstDash val="solid"/>
            <a:tailEnd type="triangle"/>
          </a:ln>
        </p:spPr>
      </p:sp>
      <p:sp>
        <p:nvSpPr>
          <p:cNvPr id="43" name="Text 40"/>
          <p:cNvSpPr txBox="1"/>
          <p:nvPr/>
        </p:nvSpPr>
        <p:spPr>
          <a:xfrm>
            <a:off x="12954305" y="3931920"/>
            <a:ext cx="1097280" cy="219456"/>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ADDRESSES</a:t>
            </a:r>
            <a:endParaRPr lang="en-US" sz="1400" dirty="0"/>
          </a:p>
        </p:txBody>
      </p:sp>
      <p:sp>
        <p:nvSpPr>
          <p:cNvPr id="44" name="Shape 41"/>
          <p:cNvSpPr/>
          <p:nvPr/>
        </p:nvSpPr>
        <p:spPr>
          <a:xfrm>
            <a:off x="12899441" y="5020056"/>
            <a:ext cx="0" cy="210312"/>
          </a:xfrm>
          <a:prstGeom prst="line">
            <a:avLst/>
          </a:prstGeom>
          <a:noFill/>
          <a:ln w="19050">
            <a:solidFill>
              <a:srgbClr val="2E74C6"/>
            </a:solidFill>
            <a:prstDash val="solid"/>
            <a:tailEnd type="triangle"/>
          </a:ln>
        </p:spPr>
      </p:sp>
      <p:sp>
        <p:nvSpPr>
          <p:cNvPr id="45" name="Text 42"/>
          <p:cNvSpPr txBox="1"/>
          <p:nvPr/>
        </p:nvSpPr>
        <p:spPr>
          <a:xfrm>
            <a:off x="10933481" y="5010912"/>
            <a:ext cx="1901952" cy="237744"/>
          </a:xfrm>
          <a:prstGeom prst="rect">
            <a:avLst/>
          </a:prstGeom>
          <a:noFill/>
          <a:ln/>
        </p:spPr>
        <p:txBody>
          <a:bodyPr wrap="square" lIns="0" tIns="0" rIns="0" bIns="0" rtlCol="0" anchor="ctr"/>
          <a:lstStyle/>
          <a:p>
            <a:pPr algn="r" indent="0" marL="0">
              <a:buNone/>
            </a:pPr>
            <a:r>
              <a:rPr lang="en-US" sz="1400" b="1" dirty="0">
                <a:solidFill>
                  <a:srgbClr val="2E74C6"/>
                </a:solidFill>
                <a:latin typeface="Pretendard" pitchFamily="34" charset="0"/>
                <a:ea typeface="Pretendard" pitchFamily="34" charset="-122"/>
                <a:cs typeface="Pretendard" pitchFamily="34" charset="-120"/>
              </a:rPr>
              <a:t>RECONSIDER_WHEN</a:t>
            </a:r>
            <a:endParaRPr lang="en-US" sz="1400" dirty="0"/>
          </a:p>
        </p:txBody>
      </p:sp>
      <p:sp>
        <p:nvSpPr>
          <p:cNvPr id="46" name="Shape 43"/>
          <p:cNvSpPr/>
          <p:nvPr/>
        </p:nvSpPr>
        <p:spPr>
          <a:xfrm>
            <a:off x="8647481" y="4855464"/>
            <a:ext cx="0" cy="310896"/>
          </a:xfrm>
          <a:prstGeom prst="line">
            <a:avLst/>
          </a:prstGeom>
          <a:noFill/>
          <a:ln w="19050">
            <a:solidFill>
              <a:srgbClr val="1E2A5C"/>
            </a:solidFill>
            <a:prstDash val="solid"/>
            <a:tailEnd type="triangle"/>
          </a:ln>
        </p:spPr>
      </p:sp>
      <p:sp>
        <p:nvSpPr>
          <p:cNvPr id="47" name="Text 44"/>
          <p:cNvSpPr txBox="1"/>
          <p:nvPr/>
        </p:nvSpPr>
        <p:spPr>
          <a:xfrm>
            <a:off x="8702345" y="4882896"/>
            <a:ext cx="1005840" cy="237744"/>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FOLLOWS</a:t>
            </a:r>
            <a:endParaRPr lang="en-US" sz="1400" dirty="0"/>
          </a:p>
        </p:txBody>
      </p:sp>
      <p:sp>
        <p:nvSpPr>
          <p:cNvPr id="48" name="Shape 45"/>
          <p:cNvSpPr/>
          <p:nvPr/>
        </p:nvSpPr>
        <p:spPr>
          <a:xfrm>
            <a:off x="7641641" y="5870448"/>
            <a:ext cx="6492240" cy="548640"/>
          </a:xfrm>
          <a:prstGeom prst="roundRect">
            <a:avLst>
              <a:gd name="adj" fmla="val 10000"/>
            </a:avLst>
          </a:prstGeom>
          <a:solidFill>
            <a:srgbClr val="F5F8FC"/>
          </a:solidFill>
          <a:ln w="12700">
            <a:solidFill>
              <a:srgbClr val="D9E0EC"/>
            </a:solidFill>
            <a:prstDash val="solid"/>
          </a:ln>
        </p:spPr>
      </p:sp>
      <p:sp>
        <p:nvSpPr>
          <p:cNvPr id="49" name="Text 46"/>
          <p:cNvSpPr txBox="1"/>
          <p:nvPr/>
        </p:nvSpPr>
        <p:spPr>
          <a:xfrm>
            <a:off x="7751369" y="5870448"/>
            <a:ext cx="6309360" cy="54864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Complaint 설명: 불만이나 불편을 분명히 말한 경우만. 문의 목적, 개인 사정은 아님</a:t>
            </a:r>
            <a:endParaRPr lang="en-US" sz="1400" dirty="0"/>
          </a:p>
        </p:txBody>
      </p:sp>
      <p:sp>
        <p:nvSpPr>
          <p:cNvPr id="50" name="Shape 47"/>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sp>
      <p:sp>
        <p:nvSpPr>
          <p:cNvPr id="51" name="Shape 48"/>
          <p:cNvSpPr/>
          <p:nvPr/>
        </p:nvSpPr>
        <p:spPr>
          <a:xfrm>
            <a:off x="509321" y="6510528"/>
            <a:ext cx="82296" cy="658368"/>
          </a:xfrm>
          <a:prstGeom prst="rect">
            <a:avLst/>
          </a:prstGeom>
          <a:solidFill>
            <a:srgbClr val="2E74C6"/>
          </a:solidFill>
          <a:ln/>
        </p:spPr>
      </p:sp>
      <p:sp>
        <p:nvSpPr>
          <p:cNvPr id="52" name="Text 49"/>
          <p:cNvSpPr txBox="1"/>
          <p:nvPr/>
        </p:nvSpPr>
        <p:spPr>
          <a:xfrm>
            <a:off x="737921" y="6510528"/>
            <a:ext cx="13258800" cy="658368"/>
          </a:xfrm>
          <a:prstGeom prst="rect">
            <a:avLst/>
          </a:prstGeom>
          <a:noFill/>
          <a:ln/>
        </p:spPr>
        <p:txBody>
          <a:bodyPr wrap="square" lIns="0" tIns="0" rIns="0" bIns="0" rtlCol="0" anchor="ctr"/>
          <a:lstStyle/>
          <a:p>
            <a:pPr algn="l" indent="0" marL="0">
              <a:buNone/>
            </a:pPr>
            <a:r>
              <a:rPr lang="en-US" sz="1600" b="1" dirty="0">
                <a:solidFill>
                  <a:srgbClr val="1E2A5C"/>
                </a:solidFill>
                <a:latin typeface="Pretendard" pitchFamily="34" charset="0"/>
                <a:ea typeface="Pretendard" pitchFamily="34" charset="-122"/>
                <a:cs typeface="Pretendard" pitchFamily="34" charset="-120"/>
              </a:rPr>
              <a:t>결과: 스키마 초안 = 노드 타입 4, 관계 5, 패턴 5, 제약 1. 사람은 질문과 데이터 사정(RDB, 가명처리, Neo4j 판)으로 판단</a:t>
            </a:r>
            <a:endParaRPr lang="en-US" sz="1600" dirty="0"/>
          </a:p>
        </p:txBody>
      </p:sp>
      <p:sp>
        <p:nvSpPr>
          <p:cNvPr id="53" name="Shape 50"/>
          <p:cNvSpPr/>
          <p:nvPr/>
        </p:nvSpPr>
        <p:spPr>
          <a:xfrm>
            <a:off x="509321" y="7388352"/>
            <a:ext cx="13624560" cy="0"/>
          </a:xfrm>
          <a:prstGeom prst="line">
            <a:avLst/>
          </a:prstGeom>
          <a:noFill/>
          <a:ln w="12700">
            <a:solidFill>
              <a:srgbClr val="E9ECF3"/>
            </a:solidFill>
            <a:prstDash val="solid"/>
          </a:ln>
        </p:spPr>
      </p:sp>
      <p:sp>
        <p:nvSpPr>
          <p:cNvPr id="54" name="Text 51"/>
          <p:cNvSpPr txBox="1"/>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근거: 단계 ② 결과(이름 53개와 건수)와 역량 질문 5개, 초안 파일 skeleton_consult_v2.json(GraphSchema 검증 통과)</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1. 스키마 도출: 단계 ④ 채우기 시험(1) 실제 1건씩 대조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스키마 초안을 schema로 주고 상담 48건 전체를 실제 추출해, 강사용 정답표와 한 건씩 맞춰 봄</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C-20260701-016, 불만이 있는 상담(v2 설명)</a:t>
            </a:r>
            <a:endParaRPr lang="en-US" sz="1600" dirty="0"/>
          </a:p>
        </p:txBody>
      </p:sp>
      <p:sp>
        <p:nvSpPr>
          <p:cNvPr id="7" name="Text 4"/>
          <p:cNvSpPr txBox="1"/>
          <p:nvPr/>
        </p:nvSpPr>
        <p:spPr>
          <a:xfrm>
            <a:off x="600761" y="2157984"/>
            <a:ext cx="1280160" cy="256032"/>
          </a:xfrm>
          <a:prstGeom prst="rect">
            <a:avLst/>
          </a:prstGeom>
          <a:noFill/>
          <a:ln/>
        </p:spPr>
        <p:txBody>
          <a:bodyPr wrap="square" lIns="0" tIns="0" rIns="0" bIns="0" rtlCol="0" anchor="ctr"/>
          <a:lstStyle/>
          <a:p>
            <a:pPr algn="l" indent="0" marL="0">
              <a:buNone/>
            </a:pPr>
            <a:r>
              <a:rPr lang="en-US" sz="1400" b="1" dirty="0">
                <a:solidFill>
                  <a:srgbClr val="4A5364"/>
                </a:solidFill>
                <a:latin typeface="Pretendard" pitchFamily="34" charset="0"/>
                <a:ea typeface="Pretendard" pitchFamily="34" charset="-122"/>
                <a:cs typeface="Pretendard" pitchFamily="34" charset="-120"/>
              </a:rPr>
              <a:t>항목</a:t>
            </a:r>
            <a:endParaRPr lang="en-US" sz="1400" dirty="0"/>
          </a:p>
        </p:txBody>
      </p:sp>
      <p:sp>
        <p:nvSpPr>
          <p:cNvPr id="8" name="Text 5"/>
          <p:cNvSpPr txBox="1"/>
          <p:nvPr/>
        </p:nvSpPr>
        <p:spPr>
          <a:xfrm>
            <a:off x="1926641" y="2157984"/>
            <a:ext cx="2194560" cy="256032"/>
          </a:xfrm>
          <a:prstGeom prst="rect">
            <a:avLst/>
          </a:prstGeom>
          <a:noFill/>
          <a:ln/>
        </p:spPr>
        <p:txBody>
          <a:bodyPr wrap="square" lIns="0" tIns="0" rIns="0" bIns="0" rtlCol="0" anchor="ctr"/>
          <a:lstStyle/>
          <a:p>
            <a:pPr algn="l" indent="0" marL="0">
              <a:buNone/>
            </a:pPr>
            <a:r>
              <a:rPr lang="en-US" sz="1400" b="1" dirty="0">
                <a:solidFill>
                  <a:srgbClr val="4A5364"/>
                </a:solidFill>
                <a:latin typeface="Pretendard" pitchFamily="34" charset="0"/>
                <a:ea typeface="Pretendard" pitchFamily="34" charset="-122"/>
                <a:cs typeface="Pretendard" pitchFamily="34" charset="-120"/>
              </a:rPr>
              <a:t>정답(대조표)</a:t>
            </a:r>
            <a:endParaRPr lang="en-US" sz="1400" dirty="0"/>
          </a:p>
        </p:txBody>
      </p:sp>
      <p:sp>
        <p:nvSpPr>
          <p:cNvPr id="9" name="Text 6"/>
          <p:cNvSpPr txBox="1"/>
          <p:nvPr/>
        </p:nvSpPr>
        <p:spPr>
          <a:xfrm>
            <a:off x="4166921" y="2157984"/>
            <a:ext cx="2194560" cy="256032"/>
          </a:xfrm>
          <a:prstGeom prst="rect">
            <a:avLst/>
          </a:prstGeom>
          <a:noFill/>
          <a:ln/>
        </p:spPr>
        <p:txBody>
          <a:bodyPr wrap="square" lIns="0" tIns="0" rIns="0" bIns="0" rtlCol="0" anchor="ctr"/>
          <a:lstStyle/>
          <a:p>
            <a:pPr algn="l" indent="0" marL="0">
              <a:buNone/>
            </a:pPr>
            <a:r>
              <a:rPr lang="en-US" sz="1400" b="1" dirty="0">
                <a:solidFill>
                  <a:srgbClr val="4A5364"/>
                </a:solidFill>
                <a:latin typeface="Pretendard" pitchFamily="34" charset="0"/>
                <a:ea typeface="Pretendard" pitchFamily="34" charset="-122"/>
                <a:cs typeface="Pretendard" pitchFamily="34" charset="-120"/>
              </a:rPr>
              <a:t>추출 결과</a:t>
            </a:r>
            <a:endParaRPr lang="en-US" sz="1400" dirty="0"/>
          </a:p>
        </p:txBody>
      </p:sp>
      <p:sp>
        <p:nvSpPr>
          <p:cNvPr id="10" name="Shape 7"/>
          <p:cNvSpPr/>
          <p:nvPr/>
        </p:nvSpPr>
        <p:spPr>
          <a:xfrm>
            <a:off x="509321" y="2468880"/>
            <a:ext cx="6675120" cy="731520"/>
          </a:xfrm>
          <a:prstGeom prst="roundRect">
            <a:avLst>
              <a:gd name="adj" fmla="val 7500"/>
            </a:avLst>
          </a:prstGeom>
          <a:solidFill>
            <a:srgbClr val="FFFFFF"/>
          </a:solidFill>
          <a:ln w="12700">
            <a:solidFill>
              <a:srgbClr val="D9E0EC"/>
            </a:solidFill>
            <a:prstDash val="solid"/>
          </a:ln>
        </p:spPr>
      </p:sp>
      <p:sp>
        <p:nvSpPr>
          <p:cNvPr id="11" name="Text 8"/>
          <p:cNvSpPr txBox="1"/>
          <p:nvPr/>
        </p:nvSpPr>
        <p:spPr>
          <a:xfrm>
            <a:off x="600761" y="2468880"/>
            <a:ext cx="1280160" cy="7315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불만 원인</a:t>
            </a:r>
            <a:endParaRPr lang="en-US" sz="1400" dirty="0"/>
          </a:p>
        </p:txBody>
      </p:sp>
      <p:sp>
        <p:nvSpPr>
          <p:cNvPr id="12" name="Text 9"/>
          <p:cNvSpPr txBox="1"/>
          <p:nvPr/>
        </p:nvSpPr>
        <p:spPr>
          <a:xfrm>
            <a:off x="1926641" y="2468880"/>
            <a:ext cx="2194560" cy="7315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매달 신청을 반복해야 하는 게 불만의 원인</a:t>
            </a:r>
            <a:endParaRPr lang="en-US" sz="1400" dirty="0"/>
          </a:p>
        </p:txBody>
      </p:sp>
      <p:sp>
        <p:nvSpPr>
          <p:cNvPr id="13" name="Text 10"/>
          <p:cNvSpPr txBox="1"/>
          <p:nvPr/>
        </p:nvSpPr>
        <p:spPr>
          <a:xfrm>
            <a:off x="4166921" y="2468880"/>
            <a:ext cx="2194560" cy="7315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같음</a:t>
            </a:r>
            <a:endParaRPr lang="en-US" sz="1400" dirty="0"/>
          </a:p>
        </p:txBody>
      </p:sp>
      <p:sp>
        <p:nvSpPr>
          <p:cNvPr id="14" name="Shape 11"/>
          <p:cNvSpPr/>
          <p:nvPr/>
        </p:nvSpPr>
        <p:spPr>
          <a:xfrm>
            <a:off x="6416345" y="2679192"/>
            <a:ext cx="658368" cy="310896"/>
          </a:xfrm>
          <a:prstGeom prst="roundRect">
            <a:avLst>
              <a:gd name="adj" fmla="val 23529"/>
            </a:avLst>
          </a:prstGeom>
          <a:solidFill>
            <a:srgbClr val="2E74C6"/>
          </a:solidFill>
          <a:ln/>
        </p:spPr>
      </p:sp>
      <p:sp>
        <p:nvSpPr>
          <p:cNvPr id="15" name="Text 12"/>
          <p:cNvSpPr txBox="1"/>
          <p:nvPr/>
        </p:nvSpPr>
        <p:spPr>
          <a:xfrm>
            <a:off x="6416345" y="2679192"/>
            <a:ext cx="65836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16" name="Shape 13"/>
          <p:cNvSpPr/>
          <p:nvPr/>
        </p:nvSpPr>
        <p:spPr>
          <a:xfrm>
            <a:off x="509321" y="3273552"/>
            <a:ext cx="6675120" cy="731520"/>
          </a:xfrm>
          <a:prstGeom prst="roundRect">
            <a:avLst>
              <a:gd name="adj" fmla="val 7500"/>
            </a:avLst>
          </a:prstGeom>
          <a:solidFill>
            <a:srgbClr val="FFFFFF"/>
          </a:solidFill>
          <a:ln w="12700">
            <a:solidFill>
              <a:srgbClr val="D9E0EC"/>
            </a:solidFill>
            <a:prstDash val="solid"/>
          </a:ln>
        </p:spPr>
      </p:sp>
      <p:sp>
        <p:nvSpPr>
          <p:cNvPr id="17" name="Text 14"/>
          <p:cNvSpPr txBox="1"/>
          <p:nvPr/>
        </p:nvSpPr>
        <p:spPr>
          <a:xfrm>
            <a:off x="600761" y="3273552"/>
            <a:ext cx="1280160" cy="7315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재검토 조건</a:t>
            </a:r>
            <a:endParaRPr lang="en-US" sz="1400" dirty="0"/>
          </a:p>
        </p:txBody>
      </p:sp>
      <p:sp>
        <p:nvSpPr>
          <p:cNvPr id="18" name="Text 15"/>
          <p:cNvSpPr txBox="1"/>
          <p:nvPr/>
        </p:nvSpPr>
        <p:spPr>
          <a:xfrm>
            <a:off x="1926641" y="3273552"/>
            <a:ext cx="2194560" cy="7315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다음 결제일이 지나고 다시 볼게요</a:t>
            </a:r>
            <a:endParaRPr lang="en-US" sz="1400" dirty="0"/>
          </a:p>
        </p:txBody>
      </p:sp>
      <p:sp>
        <p:nvSpPr>
          <p:cNvPr id="19" name="Text 16"/>
          <p:cNvSpPr txBox="1"/>
          <p:nvPr/>
        </p:nvSpPr>
        <p:spPr>
          <a:xfrm>
            <a:off x="4166921" y="3273552"/>
            <a:ext cx="2194560" cy="7315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같음</a:t>
            </a:r>
            <a:endParaRPr lang="en-US" sz="1400" dirty="0"/>
          </a:p>
        </p:txBody>
      </p:sp>
      <p:sp>
        <p:nvSpPr>
          <p:cNvPr id="20" name="Shape 17"/>
          <p:cNvSpPr/>
          <p:nvPr/>
        </p:nvSpPr>
        <p:spPr>
          <a:xfrm>
            <a:off x="6416345" y="3483864"/>
            <a:ext cx="658368" cy="310896"/>
          </a:xfrm>
          <a:prstGeom prst="roundRect">
            <a:avLst>
              <a:gd name="adj" fmla="val 23529"/>
            </a:avLst>
          </a:prstGeom>
          <a:solidFill>
            <a:srgbClr val="2E74C6"/>
          </a:solidFill>
          <a:ln/>
        </p:spPr>
      </p:sp>
      <p:sp>
        <p:nvSpPr>
          <p:cNvPr id="21" name="Text 18"/>
          <p:cNvSpPr txBox="1"/>
          <p:nvPr/>
        </p:nvSpPr>
        <p:spPr>
          <a:xfrm>
            <a:off x="6416345" y="3483864"/>
            <a:ext cx="65836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22" name="Shape 19"/>
          <p:cNvSpPr/>
          <p:nvPr/>
        </p:nvSpPr>
        <p:spPr>
          <a:xfrm>
            <a:off x="509321" y="4078224"/>
            <a:ext cx="6675120" cy="731520"/>
          </a:xfrm>
          <a:prstGeom prst="roundRect">
            <a:avLst>
              <a:gd name="adj" fmla="val 7500"/>
            </a:avLst>
          </a:prstGeom>
          <a:solidFill>
            <a:srgbClr val="FFFFFF"/>
          </a:solidFill>
          <a:ln w="12700">
            <a:solidFill>
              <a:srgbClr val="D9E0EC"/>
            </a:solidFill>
            <a:prstDash val="solid"/>
          </a:ln>
        </p:spPr>
      </p:sp>
      <p:sp>
        <p:nvSpPr>
          <p:cNvPr id="23" name="Text 20"/>
          <p:cNvSpPr txBox="1"/>
          <p:nvPr/>
        </p:nvSpPr>
        <p:spPr>
          <a:xfrm>
            <a:off x="600761" y="4078224"/>
            <a:ext cx="1280160" cy="7315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이전 상담</a:t>
            </a:r>
            <a:endParaRPr lang="en-US" sz="1400" dirty="0"/>
          </a:p>
        </p:txBody>
      </p:sp>
      <p:sp>
        <p:nvSpPr>
          <p:cNvPr id="24" name="Text 21"/>
          <p:cNvSpPr txBox="1"/>
          <p:nvPr/>
        </p:nvSpPr>
        <p:spPr>
          <a:xfrm>
            <a:off x="1926641" y="4078224"/>
            <a:ext cx="2194560" cy="7315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C-20260626-011</a:t>
            </a:r>
            <a:endParaRPr lang="en-US" sz="1400" dirty="0"/>
          </a:p>
        </p:txBody>
      </p:sp>
      <p:sp>
        <p:nvSpPr>
          <p:cNvPr id="25" name="Text 22"/>
          <p:cNvSpPr txBox="1"/>
          <p:nvPr/>
        </p:nvSpPr>
        <p:spPr>
          <a:xfrm>
            <a:off x="4166921" y="4078224"/>
            <a:ext cx="2194560" cy="7315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같음(FOLLOWS 관계)</a:t>
            </a:r>
            <a:endParaRPr lang="en-US" sz="1400" dirty="0"/>
          </a:p>
        </p:txBody>
      </p:sp>
      <p:sp>
        <p:nvSpPr>
          <p:cNvPr id="26" name="Shape 23"/>
          <p:cNvSpPr/>
          <p:nvPr/>
        </p:nvSpPr>
        <p:spPr>
          <a:xfrm>
            <a:off x="6416345" y="4288536"/>
            <a:ext cx="658368" cy="310896"/>
          </a:xfrm>
          <a:prstGeom prst="roundRect">
            <a:avLst>
              <a:gd name="adj" fmla="val 23529"/>
            </a:avLst>
          </a:prstGeom>
          <a:solidFill>
            <a:srgbClr val="2E74C6"/>
          </a:solidFill>
          <a:ln/>
        </p:spPr>
      </p:sp>
      <p:sp>
        <p:nvSpPr>
          <p:cNvPr id="27" name="Text 24"/>
          <p:cNvSpPr txBox="1"/>
          <p:nvPr/>
        </p:nvSpPr>
        <p:spPr>
          <a:xfrm>
            <a:off x="6416345" y="4288536"/>
            <a:ext cx="65836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28" name="Shape 25"/>
          <p:cNvSpPr/>
          <p:nvPr/>
        </p:nvSpPr>
        <p:spPr>
          <a:xfrm>
            <a:off x="509321" y="4882896"/>
            <a:ext cx="6675120" cy="731520"/>
          </a:xfrm>
          <a:prstGeom prst="roundRect">
            <a:avLst>
              <a:gd name="adj" fmla="val 7500"/>
            </a:avLst>
          </a:prstGeom>
          <a:solidFill>
            <a:srgbClr val="F5F8FC"/>
          </a:solidFill>
          <a:ln w="12700">
            <a:solidFill>
              <a:srgbClr val="404155"/>
            </a:solidFill>
            <a:prstDash val="solid"/>
          </a:ln>
        </p:spPr>
      </p:sp>
      <p:sp>
        <p:nvSpPr>
          <p:cNvPr id="29" name="Text 26"/>
          <p:cNvSpPr txBox="1"/>
          <p:nvPr/>
        </p:nvSpPr>
        <p:spPr>
          <a:xfrm>
            <a:off x="600761" y="4882896"/>
            <a:ext cx="1280160" cy="7315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제안과 응답</a:t>
            </a:r>
            <a:endParaRPr lang="en-US" sz="1400" dirty="0"/>
          </a:p>
        </p:txBody>
      </p:sp>
      <p:sp>
        <p:nvSpPr>
          <p:cNvPr id="30" name="Text 27"/>
          <p:cNvSpPr txBox="1"/>
          <p:nvPr/>
        </p:nvSpPr>
        <p:spPr>
          <a:xfrm>
            <a:off x="1926641" y="4882896"/>
            <a:ext cx="2194560" cy="7315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할인을 늘릴 수 있는지 확인, 보류</a:t>
            </a:r>
            <a:endParaRPr lang="en-US" sz="1400" dirty="0"/>
          </a:p>
        </p:txBody>
      </p:sp>
      <p:sp>
        <p:nvSpPr>
          <p:cNvPr id="31" name="Text 28"/>
          <p:cNvSpPr txBox="1"/>
          <p:nvPr/>
        </p:nvSpPr>
        <p:spPr>
          <a:xfrm>
            <a:off x="4166921" y="4882896"/>
            <a:ext cx="2194560" cy="7315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자동납부 재등록 절차 비교, 수용</a:t>
            </a:r>
            <a:endParaRPr lang="en-US" sz="1400" dirty="0"/>
          </a:p>
        </p:txBody>
      </p:sp>
      <p:sp>
        <p:nvSpPr>
          <p:cNvPr id="32" name="Shape 29"/>
          <p:cNvSpPr/>
          <p:nvPr/>
        </p:nvSpPr>
        <p:spPr>
          <a:xfrm>
            <a:off x="6416345" y="5093208"/>
            <a:ext cx="658368" cy="310896"/>
          </a:xfrm>
          <a:prstGeom prst="roundRect">
            <a:avLst>
              <a:gd name="adj" fmla="val 23529"/>
            </a:avLst>
          </a:prstGeom>
          <a:solidFill>
            <a:srgbClr val="404155"/>
          </a:solidFill>
          <a:ln/>
        </p:spPr>
      </p:sp>
      <p:sp>
        <p:nvSpPr>
          <p:cNvPr id="33" name="Text 30"/>
          <p:cNvSpPr txBox="1"/>
          <p:nvPr/>
        </p:nvSpPr>
        <p:spPr>
          <a:xfrm>
            <a:off x="6416345" y="5093208"/>
            <a:ext cx="65836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34" name="Text 31"/>
          <p:cNvSpPr txBox="1"/>
          <p:nvPr/>
        </p:nvSpPr>
        <p:spPr>
          <a:xfrm>
            <a:off x="509321" y="5742432"/>
            <a:ext cx="6675120" cy="640080"/>
          </a:xfrm>
          <a:prstGeom prst="rect">
            <a:avLst/>
          </a:prstGeom>
          <a:noFill/>
          <a:ln/>
        </p:spPr>
        <p:txBody>
          <a:bodyPr wrap="square" lIns="0" tIns="0" rIns="0" bIns="0" rtlCol="0" anchor="t"/>
          <a:lstStyle/>
          <a:p>
            <a:pPr algn="l" indent="0" marL="0">
              <a:buNone/>
            </a:pPr>
            <a:r>
              <a:rPr lang="en-US" sz="1400" dirty="0">
                <a:solidFill>
                  <a:srgbClr val="4A5364"/>
                </a:solidFill>
                <a:latin typeface="Pretendard" pitchFamily="34" charset="0"/>
                <a:ea typeface="Pretendard" pitchFamily="34" charset="-122"/>
                <a:cs typeface="Pretendard" pitchFamily="34" charset="-120"/>
              </a:rPr>
              <a:t>제안이 둘 이상인 상담에서 다른 안내를 고르는 실수가 남음(응답 엄격 일치 37 / 48의 이유)</a:t>
            </a:r>
            <a:endParaRPr lang="en-US" sz="1400" dirty="0"/>
          </a:p>
        </p:txBody>
      </p:sp>
      <p:sp>
        <p:nvSpPr>
          <p:cNvPr id="35" name="Shape 32"/>
          <p:cNvSpPr/>
          <p:nvPr/>
        </p:nvSpPr>
        <p:spPr>
          <a:xfrm>
            <a:off x="7458761" y="1737360"/>
            <a:ext cx="6675120" cy="365760"/>
          </a:xfrm>
          <a:prstGeom prst="roundRect">
            <a:avLst>
              <a:gd name="adj" fmla="val 12500"/>
            </a:avLst>
          </a:prstGeom>
          <a:solidFill>
            <a:srgbClr val="1E2A5C"/>
          </a:solidFill>
          <a:ln/>
        </p:spPr>
      </p:sp>
      <p:sp>
        <p:nvSpPr>
          <p:cNvPr id="36" name="Text 33"/>
          <p:cNvSpPr txBox="1"/>
          <p:nvPr/>
        </p:nvSpPr>
        <p:spPr>
          <a:xfrm>
            <a:off x="7458761" y="1737360"/>
            <a:ext cx="667512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C-20260310-018, 불만이 없는 주소 변경 문의</a:t>
            </a:r>
            <a:endParaRPr lang="en-US" sz="1600" dirty="0"/>
          </a:p>
        </p:txBody>
      </p:sp>
      <p:sp>
        <p:nvSpPr>
          <p:cNvPr id="37" name="Text 34"/>
          <p:cNvSpPr txBox="1"/>
          <p:nvPr/>
        </p:nvSpPr>
        <p:spPr>
          <a:xfrm>
            <a:off x="7458761" y="2157984"/>
            <a:ext cx="6675120" cy="256032"/>
          </a:xfrm>
          <a:prstGeom prst="rect">
            <a:avLst/>
          </a:prstGeom>
          <a:noFill/>
          <a:ln/>
        </p:spPr>
        <p:txBody>
          <a:bodyPr wrap="square" lIns="0" tIns="0" rIns="0" bIns="0" rtlCol="0" anchor="ctr"/>
          <a:lstStyle/>
          <a:p>
            <a:pPr algn="l" indent="0" marL="0">
              <a:buNone/>
            </a:pPr>
            <a:r>
              <a:rPr lang="en-US" sz="1400" b="1" dirty="0">
                <a:solidFill>
                  <a:srgbClr val="4A5364"/>
                </a:solidFill>
                <a:latin typeface="Pretendard" pitchFamily="34" charset="0"/>
                <a:ea typeface="Pretendard" pitchFamily="34" charset="-122"/>
                <a:cs typeface="Pretendard" pitchFamily="34" charset="-120"/>
              </a:rPr>
              <a:t>답이 없어야 하는 문서: 불만이 나오면 잘못 뽑은 것</a:t>
            </a:r>
            <a:endParaRPr lang="en-US" sz="1400" dirty="0"/>
          </a:p>
        </p:txBody>
      </p:sp>
      <p:sp>
        <p:nvSpPr>
          <p:cNvPr id="38" name="Shape 35"/>
          <p:cNvSpPr/>
          <p:nvPr/>
        </p:nvSpPr>
        <p:spPr>
          <a:xfrm>
            <a:off x="7458761" y="2468880"/>
            <a:ext cx="6675120" cy="1481328"/>
          </a:xfrm>
          <a:prstGeom prst="roundRect">
            <a:avLst>
              <a:gd name="adj" fmla="val 3704"/>
            </a:avLst>
          </a:prstGeom>
          <a:solidFill>
            <a:srgbClr val="FFFFFF"/>
          </a:solidFill>
          <a:ln w="12700">
            <a:solidFill>
              <a:srgbClr val="D9E0EC"/>
            </a:solidFill>
            <a:prstDash val="solid"/>
          </a:ln>
        </p:spPr>
      </p:sp>
      <p:sp>
        <p:nvSpPr>
          <p:cNvPr id="39" name="Shape 36"/>
          <p:cNvSpPr/>
          <p:nvPr/>
        </p:nvSpPr>
        <p:spPr>
          <a:xfrm>
            <a:off x="7550201" y="2560320"/>
            <a:ext cx="1463040" cy="292608"/>
          </a:xfrm>
          <a:prstGeom prst="roundRect">
            <a:avLst>
              <a:gd name="adj" fmla="val 25000"/>
            </a:avLst>
          </a:prstGeom>
          <a:solidFill>
            <a:srgbClr val="4A5364"/>
          </a:solidFill>
          <a:ln/>
        </p:spPr>
      </p:sp>
      <p:sp>
        <p:nvSpPr>
          <p:cNvPr id="40" name="Text 37"/>
          <p:cNvSpPr txBox="1"/>
          <p:nvPr/>
        </p:nvSpPr>
        <p:spPr>
          <a:xfrm>
            <a:off x="7550201" y="2560320"/>
            <a:ext cx="1463040"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v1 설명</a:t>
            </a:r>
            <a:endParaRPr lang="en-US" sz="1400" dirty="0"/>
          </a:p>
        </p:txBody>
      </p:sp>
      <p:sp>
        <p:nvSpPr>
          <p:cNvPr id="41" name="Text 38"/>
          <p:cNvSpPr txBox="1"/>
          <p:nvPr/>
        </p:nvSpPr>
        <p:spPr>
          <a:xfrm>
            <a:off x="7595921" y="2926080"/>
            <a:ext cx="5623560" cy="475488"/>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Complaint {cause: "이사"}</a:t>
            </a:r>
            <a:endParaRPr lang="en-US" sz="1400" dirty="0"/>
          </a:p>
        </p:txBody>
      </p:sp>
      <p:sp>
        <p:nvSpPr>
          <p:cNvPr id="42" name="Shape 39"/>
          <p:cNvSpPr/>
          <p:nvPr/>
        </p:nvSpPr>
        <p:spPr>
          <a:xfrm>
            <a:off x="13347497" y="2999232"/>
            <a:ext cx="658368" cy="310896"/>
          </a:xfrm>
          <a:prstGeom prst="roundRect">
            <a:avLst>
              <a:gd name="adj" fmla="val 23529"/>
            </a:avLst>
          </a:prstGeom>
          <a:solidFill>
            <a:srgbClr val="404155"/>
          </a:solidFill>
          <a:ln/>
        </p:spPr>
      </p:sp>
      <p:sp>
        <p:nvSpPr>
          <p:cNvPr id="43" name="Text 40"/>
          <p:cNvSpPr txBox="1"/>
          <p:nvPr/>
        </p:nvSpPr>
        <p:spPr>
          <a:xfrm>
            <a:off x="13347497" y="2999232"/>
            <a:ext cx="65836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44" name="Text 41"/>
          <p:cNvSpPr txBox="1"/>
          <p:nvPr/>
        </p:nvSpPr>
        <p:spPr>
          <a:xfrm>
            <a:off x="7595921" y="3419856"/>
            <a:ext cx="5623560" cy="475488"/>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Proposal 2개: 수령지 직접 변경 방법(수용), 후속 안내를 영업점 방식으로(수용)</a:t>
            </a:r>
            <a:endParaRPr lang="en-US" sz="1400" dirty="0"/>
          </a:p>
        </p:txBody>
      </p:sp>
      <p:sp>
        <p:nvSpPr>
          <p:cNvPr id="45" name="Shape 42"/>
          <p:cNvSpPr/>
          <p:nvPr/>
        </p:nvSpPr>
        <p:spPr>
          <a:xfrm>
            <a:off x="13347497" y="3493008"/>
            <a:ext cx="658368" cy="310896"/>
          </a:xfrm>
          <a:prstGeom prst="roundRect">
            <a:avLst>
              <a:gd name="adj" fmla="val 23529"/>
            </a:avLst>
          </a:prstGeom>
          <a:solidFill>
            <a:srgbClr val="404155"/>
          </a:solidFill>
          <a:ln/>
        </p:spPr>
      </p:sp>
      <p:sp>
        <p:nvSpPr>
          <p:cNvPr id="46" name="Text 43"/>
          <p:cNvSpPr txBox="1"/>
          <p:nvPr/>
        </p:nvSpPr>
        <p:spPr>
          <a:xfrm>
            <a:off x="13347497" y="3493008"/>
            <a:ext cx="65836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틀림</a:t>
            </a:r>
            <a:endParaRPr lang="en-US" sz="1400" dirty="0"/>
          </a:p>
        </p:txBody>
      </p:sp>
      <p:sp>
        <p:nvSpPr>
          <p:cNvPr id="47" name="Shape 44"/>
          <p:cNvSpPr/>
          <p:nvPr/>
        </p:nvSpPr>
        <p:spPr>
          <a:xfrm>
            <a:off x="7458761" y="4059936"/>
            <a:ext cx="6675120" cy="1481328"/>
          </a:xfrm>
          <a:prstGeom prst="roundRect">
            <a:avLst>
              <a:gd name="adj" fmla="val 3704"/>
            </a:avLst>
          </a:prstGeom>
          <a:solidFill>
            <a:srgbClr val="EEF3FA"/>
          </a:solidFill>
          <a:ln w="12700">
            <a:solidFill>
              <a:srgbClr val="2E74C6"/>
            </a:solidFill>
            <a:prstDash val="solid"/>
          </a:ln>
        </p:spPr>
      </p:sp>
      <p:sp>
        <p:nvSpPr>
          <p:cNvPr id="48" name="Shape 45"/>
          <p:cNvSpPr/>
          <p:nvPr/>
        </p:nvSpPr>
        <p:spPr>
          <a:xfrm>
            <a:off x="7550201" y="4151376"/>
            <a:ext cx="1463040" cy="292608"/>
          </a:xfrm>
          <a:prstGeom prst="roundRect">
            <a:avLst>
              <a:gd name="adj" fmla="val 25000"/>
            </a:avLst>
          </a:prstGeom>
          <a:solidFill>
            <a:srgbClr val="2E74C6"/>
          </a:solidFill>
          <a:ln/>
        </p:spPr>
      </p:sp>
      <p:sp>
        <p:nvSpPr>
          <p:cNvPr id="49" name="Text 46"/>
          <p:cNvSpPr txBox="1"/>
          <p:nvPr/>
        </p:nvSpPr>
        <p:spPr>
          <a:xfrm>
            <a:off x="7550201" y="4151376"/>
            <a:ext cx="1463040"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v2 설명(좁힘)</a:t>
            </a:r>
            <a:endParaRPr lang="en-US" sz="1400" dirty="0"/>
          </a:p>
        </p:txBody>
      </p:sp>
      <p:sp>
        <p:nvSpPr>
          <p:cNvPr id="50" name="Text 47"/>
          <p:cNvSpPr txBox="1"/>
          <p:nvPr/>
        </p:nvSpPr>
        <p:spPr>
          <a:xfrm>
            <a:off x="7595921" y="4517136"/>
            <a:ext cx="5623560" cy="475488"/>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Complaint 없음</a:t>
            </a:r>
            <a:endParaRPr lang="en-US" sz="1400" dirty="0"/>
          </a:p>
        </p:txBody>
      </p:sp>
      <p:sp>
        <p:nvSpPr>
          <p:cNvPr id="51" name="Shape 48"/>
          <p:cNvSpPr/>
          <p:nvPr/>
        </p:nvSpPr>
        <p:spPr>
          <a:xfrm>
            <a:off x="13347497" y="4590288"/>
            <a:ext cx="658368" cy="310896"/>
          </a:xfrm>
          <a:prstGeom prst="roundRect">
            <a:avLst>
              <a:gd name="adj" fmla="val 23529"/>
            </a:avLst>
          </a:prstGeom>
          <a:solidFill>
            <a:srgbClr val="2E74C6"/>
          </a:solidFill>
          <a:ln/>
        </p:spPr>
      </p:sp>
      <p:sp>
        <p:nvSpPr>
          <p:cNvPr id="52" name="Text 49"/>
          <p:cNvSpPr txBox="1"/>
          <p:nvPr/>
        </p:nvSpPr>
        <p:spPr>
          <a:xfrm>
            <a:off x="13347497" y="4590288"/>
            <a:ext cx="65836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53" name="Text 50"/>
          <p:cNvSpPr txBox="1"/>
          <p:nvPr/>
        </p:nvSpPr>
        <p:spPr>
          <a:xfrm>
            <a:off x="7595921" y="5010912"/>
            <a:ext cx="5623560" cy="475488"/>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Proposal 1개: 앱에서 본인 인증하고 수령지를 직접 바꾸는 방법, 수용, 이유 "집에서 바로 할 수 있는 쪽이 편해서요"</a:t>
            </a:r>
            <a:endParaRPr lang="en-US" sz="1400" dirty="0"/>
          </a:p>
        </p:txBody>
      </p:sp>
      <p:sp>
        <p:nvSpPr>
          <p:cNvPr id="54" name="Shape 51"/>
          <p:cNvSpPr/>
          <p:nvPr/>
        </p:nvSpPr>
        <p:spPr>
          <a:xfrm>
            <a:off x="13347497" y="5084064"/>
            <a:ext cx="658368" cy="310896"/>
          </a:xfrm>
          <a:prstGeom prst="roundRect">
            <a:avLst>
              <a:gd name="adj" fmla="val 23529"/>
            </a:avLst>
          </a:prstGeom>
          <a:solidFill>
            <a:srgbClr val="2E74C6"/>
          </a:solidFill>
          <a:ln/>
        </p:spPr>
      </p:sp>
      <p:sp>
        <p:nvSpPr>
          <p:cNvPr id="55" name="Text 52"/>
          <p:cNvSpPr txBox="1"/>
          <p:nvPr/>
        </p:nvSpPr>
        <p:spPr>
          <a:xfrm>
            <a:off x="13347497" y="5084064"/>
            <a:ext cx="658368" cy="310896"/>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맞음</a:t>
            </a:r>
            <a:endParaRPr lang="en-US" sz="1400" dirty="0"/>
          </a:p>
        </p:txBody>
      </p:sp>
      <p:sp>
        <p:nvSpPr>
          <p:cNvPr id="56" name="Text 53"/>
          <p:cNvSpPr txBox="1"/>
          <p:nvPr/>
        </p:nvSpPr>
        <p:spPr>
          <a:xfrm>
            <a:off x="7458761" y="5650992"/>
            <a:ext cx="6675120" cy="731520"/>
          </a:xfrm>
          <a:prstGeom prst="rect">
            <a:avLst/>
          </a:prstGeom>
          <a:noFill/>
          <a:ln/>
        </p:spPr>
        <p:txBody>
          <a:bodyPr wrap="square" lIns="0" tIns="0" rIns="0" bIns="0" rtlCol="0" anchor="t"/>
          <a:lstStyle/>
          <a:p>
            <a:pPr algn="l" indent="0" marL="0">
              <a:buNone/>
            </a:pPr>
            <a:r>
              <a:rPr lang="en-US" sz="1400" dirty="0">
                <a:solidFill>
                  <a:srgbClr val="4A5364"/>
                </a:solidFill>
                <a:latin typeface="Pretendard" pitchFamily="34" charset="0"/>
                <a:ea typeface="Pretendard" pitchFamily="34" charset="-122"/>
                <a:cs typeface="Pretendard" pitchFamily="34" charset="-120"/>
              </a:rPr>
              <a:t>v1의 두 번째 제안은 절차 안내라 틀림. 정답표 제안은 1개</a:t>
            </a:r>
            <a:endParaRPr lang="en-US" sz="1400" dirty="0"/>
          </a:p>
        </p:txBody>
      </p:sp>
      <p:sp>
        <p:nvSpPr>
          <p:cNvPr id="57" name="Shape 54"/>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sp>
      <p:sp>
        <p:nvSpPr>
          <p:cNvPr id="58" name="Shape 55"/>
          <p:cNvSpPr/>
          <p:nvPr/>
        </p:nvSpPr>
        <p:spPr>
          <a:xfrm>
            <a:off x="509321" y="6510528"/>
            <a:ext cx="82296" cy="658368"/>
          </a:xfrm>
          <a:prstGeom prst="rect">
            <a:avLst/>
          </a:prstGeom>
          <a:solidFill>
            <a:srgbClr val="2E74C6"/>
          </a:solidFill>
          <a:ln/>
        </p:spPr>
      </p:sp>
      <p:sp>
        <p:nvSpPr>
          <p:cNvPr id="59" name="Text 56"/>
          <p:cNvSpPr txBox="1"/>
          <p:nvPr/>
        </p:nvSpPr>
        <p:spPr>
          <a:xfrm>
            <a:off x="737921" y="6510528"/>
            <a:ext cx="13258800" cy="658368"/>
          </a:xfrm>
          <a:prstGeom prst="rect">
            <a:avLst/>
          </a:prstGeom>
          <a:noFill/>
          <a:ln/>
        </p:spPr>
        <p:txBody>
          <a:bodyPr wrap="square" lIns="0" tIns="0" rIns="0" bIns="0" rtlCol="0" anchor="ctr"/>
          <a:lstStyle/>
          <a:p>
            <a:pPr algn="l" indent="0" marL="0">
              <a:buNone/>
            </a:pPr>
            <a:r>
              <a:rPr lang="en-US" sz="1600" b="1" dirty="0">
                <a:solidFill>
                  <a:srgbClr val="1E2A5C"/>
                </a:solidFill>
                <a:latin typeface="Pretendard" pitchFamily="34" charset="0"/>
                <a:ea typeface="Pretendard" pitchFamily="34" charset="-122"/>
                <a:cs typeface="Pretendard" pitchFamily="34" charset="-120"/>
              </a:rPr>
              <a:t>한 건씩 맞춰 보면 어떤 설명이 넓은지 보임. 답이 없어야 하는 문서가 있어야 잘못 뽑기를 찾음</a:t>
            </a:r>
            <a:endParaRPr lang="en-US" sz="1600" dirty="0"/>
          </a:p>
        </p:txBody>
      </p:sp>
      <p:sp>
        <p:nvSpPr>
          <p:cNvPr id="60" name="Shape 57"/>
          <p:cNvSpPr/>
          <p:nvPr/>
        </p:nvSpPr>
        <p:spPr>
          <a:xfrm>
            <a:off x="509321" y="7388352"/>
            <a:ext cx="13624560" cy="0"/>
          </a:xfrm>
          <a:prstGeom prst="line">
            <a:avLst/>
          </a:prstGeom>
          <a:noFill/>
          <a:ln w="12700">
            <a:solidFill>
              <a:srgbClr val="E9ECF3"/>
            </a:solidFill>
            <a:prstDash val="solid"/>
          </a:ln>
        </p:spPr>
      </p:sp>
      <p:sp>
        <p:nvSpPr>
          <p:cNvPr id="61" name="Text 58"/>
          <p:cNvSpPr txBox="1"/>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LLMEntityRelationExtractor와 GraphPruning, 정답: 강사용 상담근거 대조표(v3)</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1. 스키마 도출: 단계 ④ 채우기 시험(2) 전체 지표와 설명 고치기</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48건 지표로 보고 잘못 뽑기가 많은 타입의 설명을 고쳐 ③으로 돌아감 — 한 번 고치자 불만 오탐이 22건에서 4건으로</a:t>
            </a:r>
            <a:endParaRPr lang="en-US" sz="1800" dirty="0"/>
          </a:p>
        </p:txBody>
      </p:sp>
      <p:sp>
        <p:nvSpPr>
          <p:cNvPr id="5" name="Shape 2"/>
          <p:cNvSpPr/>
          <p:nvPr/>
        </p:nvSpPr>
        <p:spPr>
          <a:xfrm>
            <a:off x="509321" y="1737360"/>
            <a:ext cx="6675120" cy="365760"/>
          </a:xfrm>
          <a:prstGeom prst="roundRect">
            <a:avLst>
              <a:gd name="adj" fmla="val 12500"/>
            </a:avLst>
          </a:prstGeom>
          <a:solidFill>
            <a:srgbClr val="404155"/>
          </a:solidFill>
          <a:ln/>
        </p:spPr>
      </p:sp>
      <p:sp>
        <p:nvSpPr>
          <p:cNvPr id="6" name="Text 3"/>
          <p:cNvSpPr txBox="1"/>
          <p:nvPr/>
        </p:nvSpPr>
        <p:spPr>
          <a:xfrm>
            <a:off x="509321" y="1737360"/>
            <a:ext cx="667512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상담 48건, 정답표와 비교</a:t>
            </a:r>
            <a:endParaRPr lang="en-US" sz="1600" dirty="0"/>
          </a:p>
        </p:txBody>
      </p:sp>
      <p:sp>
        <p:nvSpPr>
          <p:cNvPr id="7" name="Shape 4"/>
          <p:cNvSpPr/>
          <p:nvPr/>
        </p:nvSpPr>
        <p:spPr>
          <a:xfrm>
            <a:off x="3252521" y="2231136"/>
            <a:ext cx="274320" cy="164592"/>
          </a:xfrm>
          <a:prstGeom prst="rect">
            <a:avLst/>
          </a:prstGeom>
          <a:solidFill>
            <a:srgbClr val="C3CEE0"/>
          </a:solidFill>
          <a:ln/>
        </p:spPr>
      </p:sp>
      <p:sp>
        <p:nvSpPr>
          <p:cNvPr id="8" name="Text 5"/>
          <p:cNvSpPr txBox="1"/>
          <p:nvPr/>
        </p:nvSpPr>
        <p:spPr>
          <a:xfrm>
            <a:off x="3599993" y="2157984"/>
            <a:ext cx="914400" cy="292608"/>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v1 설명</a:t>
            </a:r>
            <a:endParaRPr lang="en-US" sz="1400" dirty="0"/>
          </a:p>
        </p:txBody>
      </p:sp>
      <p:sp>
        <p:nvSpPr>
          <p:cNvPr id="9" name="Shape 6"/>
          <p:cNvSpPr/>
          <p:nvPr/>
        </p:nvSpPr>
        <p:spPr>
          <a:xfrm>
            <a:off x="4532681" y="2231136"/>
            <a:ext cx="274320" cy="164592"/>
          </a:xfrm>
          <a:prstGeom prst="rect">
            <a:avLst/>
          </a:prstGeom>
          <a:solidFill>
            <a:srgbClr val="2E74C6"/>
          </a:solidFill>
          <a:ln/>
        </p:spPr>
      </p:sp>
      <p:sp>
        <p:nvSpPr>
          <p:cNvPr id="10" name="Text 7"/>
          <p:cNvSpPr txBox="1"/>
          <p:nvPr/>
        </p:nvSpPr>
        <p:spPr>
          <a:xfrm>
            <a:off x="4880153" y="2157984"/>
            <a:ext cx="1463040" cy="292608"/>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v2 설명(좁힘)</a:t>
            </a:r>
            <a:endParaRPr lang="en-US" sz="1400" dirty="0"/>
          </a:p>
        </p:txBody>
      </p:sp>
      <p:sp>
        <p:nvSpPr>
          <p:cNvPr id="11" name="Shape 8"/>
          <p:cNvSpPr/>
          <p:nvPr/>
        </p:nvSpPr>
        <p:spPr>
          <a:xfrm>
            <a:off x="509321" y="2542032"/>
            <a:ext cx="6675120" cy="676656"/>
          </a:xfrm>
          <a:prstGeom prst="roundRect">
            <a:avLst>
              <a:gd name="adj" fmla="val 8108"/>
            </a:avLst>
          </a:prstGeom>
          <a:solidFill>
            <a:srgbClr val="FFFFFF"/>
          </a:solidFill>
          <a:ln w="12700">
            <a:solidFill>
              <a:srgbClr val="D9E0EC"/>
            </a:solidFill>
            <a:prstDash val="solid"/>
          </a:ln>
        </p:spPr>
      </p:sp>
      <p:sp>
        <p:nvSpPr>
          <p:cNvPr id="12" name="Text 9"/>
          <p:cNvSpPr txBox="1"/>
          <p:nvPr/>
        </p:nvSpPr>
        <p:spPr>
          <a:xfrm>
            <a:off x="619049" y="2596896"/>
            <a:ext cx="260604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불만을 잘못 뽑음</a:t>
            </a:r>
            <a:endParaRPr lang="en-US" sz="1400" dirty="0"/>
          </a:p>
        </p:txBody>
      </p:sp>
      <p:sp>
        <p:nvSpPr>
          <p:cNvPr id="13" name="Text 10"/>
          <p:cNvSpPr txBox="1"/>
          <p:nvPr/>
        </p:nvSpPr>
        <p:spPr>
          <a:xfrm>
            <a:off x="619049" y="2889504"/>
            <a:ext cx="260604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불만 없는 24건 중, 낮을수록 좋음</a:t>
            </a:r>
            <a:endParaRPr lang="en-US" sz="1400" dirty="0"/>
          </a:p>
        </p:txBody>
      </p:sp>
      <p:sp>
        <p:nvSpPr>
          <p:cNvPr id="14" name="Shape 11"/>
          <p:cNvSpPr/>
          <p:nvPr/>
        </p:nvSpPr>
        <p:spPr>
          <a:xfrm>
            <a:off x="3252521" y="2670048"/>
            <a:ext cx="2849880" cy="182880"/>
          </a:xfrm>
          <a:prstGeom prst="rect">
            <a:avLst/>
          </a:prstGeom>
          <a:solidFill>
            <a:srgbClr val="C3CEE0"/>
          </a:solidFill>
          <a:ln/>
        </p:spPr>
      </p:sp>
      <p:sp>
        <p:nvSpPr>
          <p:cNvPr id="15" name="Text 12"/>
          <p:cNvSpPr txBox="1"/>
          <p:nvPr/>
        </p:nvSpPr>
        <p:spPr>
          <a:xfrm>
            <a:off x="6157265" y="2615184"/>
            <a:ext cx="548640" cy="2743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22</a:t>
            </a:r>
            <a:endParaRPr lang="en-US" sz="1400" dirty="0"/>
          </a:p>
        </p:txBody>
      </p:sp>
      <p:sp>
        <p:nvSpPr>
          <p:cNvPr id="16" name="Shape 13"/>
          <p:cNvSpPr/>
          <p:nvPr/>
        </p:nvSpPr>
        <p:spPr>
          <a:xfrm>
            <a:off x="3252521" y="2926080"/>
            <a:ext cx="518160" cy="182880"/>
          </a:xfrm>
          <a:prstGeom prst="rect">
            <a:avLst/>
          </a:prstGeom>
          <a:solidFill>
            <a:srgbClr val="2E74C6"/>
          </a:solidFill>
          <a:ln/>
        </p:spPr>
      </p:sp>
      <p:sp>
        <p:nvSpPr>
          <p:cNvPr id="17" name="Text 14"/>
          <p:cNvSpPr txBox="1"/>
          <p:nvPr/>
        </p:nvSpPr>
        <p:spPr>
          <a:xfrm>
            <a:off x="3825545" y="2871216"/>
            <a:ext cx="548640" cy="274320"/>
          </a:xfrm>
          <a:prstGeom prst="rect">
            <a:avLst/>
          </a:prstGeom>
          <a:noFill/>
          <a:ln/>
        </p:spPr>
        <p:txBody>
          <a:bodyPr wrap="square" lIns="0" tIns="0" rIns="0" bIns="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4</a:t>
            </a:r>
            <a:endParaRPr lang="en-US" sz="1400" dirty="0"/>
          </a:p>
        </p:txBody>
      </p:sp>
      <p:sp>
        <p:nvSpPr>
          <p:cNvPr id="18" name="Shape 15"/>
          <p:cNvSpPr/>
          <p:nvPr/>
        </p:nvSpPr>
        <p:spPr>
          <a:xfrm>
            <a:off x="509321" y="3291840"/>
            <a:ext cx="6675120" cy="676656"/>
          </a:xfrm>
          <a:prstGeom prst="roundRect">
            <a:avLst>
              <a:gd name="adj" fmla="val 8108"/>
            </a:avLst>
          </a:prstGeom>
          <a:solidFill>
            <a:srgbClr val="FFFFFF"/>
          </a:solidFill>
          <a:ln w="12700">
            <a:solidFill>
              <a:srgbClr val="D9E0EC"/>
            </a:solidFill>
            <a:prstDash val="solid"/>
          </a:ln>
        </p:spPr>
      </p:sp>
      <p:sp>
        <p:nvSpPr>
          <p:cNvPr id="19" name="Text 16"/>
          <p:cNvSpPr txBox="1"/>
          <p:nvPr/>
        </p:nvSpPr>
        <p:spPr>
          <a:xfrm>
            <a:off x="619049" y="3346704"/>
            <a:ext cx="260604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제안 노드 수</a:t>
            </a:r>
            <a:endParaRPr lang="en-US" sz="1400" dirty="0"/>
          </a:p>
        </p:txBody>
      </p:sp>
      <p:sp>
        <p:nvSpPr>
          <p:cNvPr id="20" name="Text 17"/>
          <p:cNvSpPr txBox="1"/>
          <p:nvPr/>
        </p:nvSpPr>
        <p:spPr>
          <a:xfrm>
            <a:off x="619049" y="3639312"/>
            <a:ext cx="260604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48건 합계, 낮을수록 좋음</a:t>
            </a:r>
            <a:endParaRPr lang="en-US" sz="1400" dirty="0"/>
          </a:p>
        </p:txBody>
      </p:sp>
      <p:sp>
        <p:nvSpPr>
          <p:cNvPr id="21" name="Shape 18"/>
          <p:cNvSpPr/>
          <p:nvPr/>
        </p:nvSpPr>
        <p:spPr>
          <a:xfrm>
            <a:off x="3252521" y="3419856"/>
            <a:ext cx="3108960" cy="182880"/>
          </a:xfrm>
          <a:prstGeom prst="rect">
            <a:avLst/>
          </a:prstGeom>
          <a:solidFill>
            <a:srgbClr val="C3CEE0"/>
          </a:solidFill>
          <a:ln/>
        </p:spPr>
      </p:sp>
      <p:sp>
        <p:nvSpPr>
          <p:cNvPr id="22" name="Text 19"/>
          <p:cNvSpPr txBox="1"/>
          <p:nvPr/>
        </p:nvSpPr>
        <p:spPr>
          <a:xfrm>
            <a:off x="6416345" y="3364992"/>
            <a:ext cx="548640" cy="2743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87</a:t>
            </a:r>
            <a:endParaRPr lang="en-US" sz="1400" dirty="0"/>
          </a:p>
        </p:txBody>
      </p:sp>
      <p:sp>
        <p:nvSpPr>
          <p:cNvPr id="23" name="Shape 20"/>
          <p:cNvSpPr/>
          <p:nvPr/>
        </p:nvSpPr>
        <p:spPr>
          <a:xfrm>
            <a:off x="3252521" y="3675888"/>
            <a:ext cx="2001170" cy="182880"/>
          </a:xfrm>
          <a:prstGeom prst="rect">
            <a:avLst/>
          </a:prstGeom>
          <a:solidFill>
            <a:srgbClr val="2E74C6"/>
          </a:solidFill>
          <a:ln/>
        </p:spPr>
      </p:sp>
      <p:sp>
        <p:nvSpPr>
          <p:cNvPr id="24" name="Text 21"/>
          <p:cNvSpPr txBox="1"/>
          <p:nvPr/>
        </p:nvSpPr>
        <p:spPr>
          <a:xfrm>
            <a:off x="5308554" y="3621024"/>
            <a:ext cx="548640" cy="274320"/>
          </a:xfrm>
          <a:prstGeom prst="rect">
            <a:avLst/>
          </a:prstGeom>
          <a:noFill/>
          <a:ln/>
        </p:spPr>
        <p:txBody>
          <a:bodyPr wrap="square" lIns="0" tIns="0" rIns="0" bIns="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56</a:t>
            </a:r>
            <a:endParaRPr lang="en-US" sz="1400" dirty="0"/>
          </a:p>
        </p:txBody>
      </p:sp>
      <p:sp>
        <p:nvSpPr>
          <p:cNvPr id="25" name="Shape 22"/>
          <p:cNvSpPr/>
          <p:nvPr/>
        </p:nvSpPr>
        <p:spPr>
          <a:xfrm>
            <a:off x="509321" y="4041648"/>
            <a:ext cx="6675120" cy="676656"/>
          </a:xfrm>
          <a:prstGeom prst="roundRect">
            <a:avLst>
              <a:gd name="adj" fmla="val 8108"/>
            </a:avLst>
          </a:prstGeom>
          <a:solidFill>
            <a:srgbClr val="FFFFFF"/>
          </a:solidFill>
          <a:ln w="12700">
            <a:solidFill>
              <a:srgbClr val="D9E0EC"/>
            </a:solidFill>
            <a:prstDash val="solid"/>
          </a:ln>
        </p:spPr>
      </p:sp>
      <p:sp>
        <p:nvSpPr>
          <p:cNvPr id="26" name="Text 23"/>
          <p:cNvSpPr txBox="1"/>
          <p:nvPr/>
        </p:nvSpPr>
        <p:spPr>
          <a:xfrm>
            <a:off x="619049" y="4096512"/>
            <a:ext cx="260604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응답이 정답과 같음</a:t>
            </a:r>
            <a:endParaRPr lang="en-US" sz="1400" dirty="0"/>
          </a:p>
        </p:txBody>
      </p:sp>
      <p:sp>
        <p:nvSpPr>
          <p:cNvPr id="27" name="Text 24"/>
          <p:cNvSpPr txBox="1"/>
          <p:nvPr/>
        </p:nvSpPr>
        <p:spPr>
          <a:xfrm>
            <a:off x="619049" y="4389120"/>
            <a:ext cx="260604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48건 중, 높을수록 좋음</a:t>
            </a:r>
            <a:endParaRPr lang="en-US" sz="1400" dirty="0"/>
          </a:p>
        </p:txBody>
      </p:sp>
      <p:sp>
        <p:nvSpPr>
          <p:cNvPr id="28" name="Shape 25"/>
          <p:cNvSpPr/>
          <p:nvPr/>
        </p:nvSpPr>
        <p:spPr>
          <a:xfrm>
            <a:off x="3252521" y="4169664"/>
            <a:ext cx="2007870" cy="182880"/>
          </a:xfrm>
          <a:prstGeom prst="rect">
            <a:avLst/>
          </a:prstGeom>
          <a:solidFill>
            <a:srgbClr val="C3CEE0"/>
          </a:solidFill>
          <a:ln/>
        </p:spPr>
      </p:sp>
      <p:sp>
        <p:nvSpPr>
          <p:cNvPr id="29" name="Text 26"/>
          <p:cNvSpPr txBox="1"/>
          <p:nvPr/>
        </p:nvSpPr>
        <p:spPr>
          <a:xfrm>
            <a:off x="5315255" y="4114800"/>
            <a:ext cx="548640" cy="2743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31</a:t>
            </a:r>
            <a:endParaRPr lang="en-US" sz="1400" dirty="0"/>
          </a:p>
        </p:txBody>
      </p:sp>
      <p:sp>
        <p:nvSpPr>
          <p:cNvPr id="30" name="Shape 27"/>
          <p:cNvSpPr/>
          <p:nvPr/>
        </p:nvSpPr>
        <p:spPr>
          <a:xfrm>
            <a:off x="3252521" y="4425696"/>
            <a:ext cx="2396490" cy="182880"/>
          </a:xfrm>
          <a:prstGeom prst="rect">
            <a:avLst/>
          </a:prstGeom>
          <a:solidFill>
            <a:srgbClr val="2E74C6"/>
          </a:solidFill>
          <a:ln/>
        </p:spPr>
      </p:sp>
      <p:sp>
        <p:nvSpPr>
          <p:cNvPr id="31" name="Text 28"/>
          <p:cNvSpPr txBox="1"/>
          <p:nvPr/>
        </p:nvSpPr>
        <p:spPr>
          <a:xfrm>
            <a:off x="5703875" y="4370832"/>
            <a:ext cx="548640" cy="274320"/>
          </a:xfrm>
          <a:prstGeom prst="rect">
            <a:avLst/>
          </a:prstGeom>
          <a:noFill/>
          <a:ln/>
        </p:spPr>
        <p:txBody>
          <a:bodyPr wrap="square" lIns="0" tIns="0" rIns="0" bIns="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37</a:t>
            </a:r>
            <a:endParaRPr lang="en-US" sz="1400" dirty="0"/>
          </a:p>
        </p:txBody>
      </p:sp>
      <p:sp>
        <p:nvSpPr>
          <p:cNvPr id="32" name="Shape 29"/>
          <p:cNvSpPr/>
          <p:nvPr/>
        </p:nvSpPr>
        <p:spPr>
          <a:xfrm>
            <a:off x="509321" y="4791456"/>
            <a:ext cx="6675120" cy="676656"/>
          </a:xfrm>
          <a:prstGeom prst="roundRect">
            <a:avLst>
              <a:gd name="adj" fmla="val 8108"/>
            </a:avLst>
          </a:prstGeom>
          <a:solidFill>
            <a:srgbClr val="FFFFFF"/>
          </a:solidFill>
          <a:ln w="12700">
            <a:solidFill>
              <a:srgbClr val="D9E0EC"/>
            </a:solidFill>
            <a:prstDash val="solid"/>
          </a:ln>
        </p:spPr>
      </p:sp>
      <p:sp>
        <p:nvSpPr>
          <p:cNvPr id="33" name="Text 30"/>
          <p:cNvSpPr txBox="1"/>
          <p:nvPr/>
        </p:nvSpPr>
        <p:spPr>
          <a:xfrm>
            <a:off x="619049" y="4846320"/>
            <a:ext cx="260604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재검토 조건을 잘못 뽑음</a:t>
            </a:r>
            <a:endParaRPr lang="en-US" sz="1400" dirty="0"/>
          </a:p>
        </p:txBody>
      </p:sp>
      <p:sp>
        <p:nvSpPr>
          <p:cNvPr id="34" name="Text 31"/>
          <p:cNvSpPr txBox="1"/>
          <p:nvPr/>
        </p:nvSpPr>
        <p:spPr>
          <a:xfrm>
            <a:off x="619049" y="5138928"/>
            <a:ext cx="260604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조건 없는 29건 중, 낮을수록 좋음</a:t>
            </a:r>
            <a:endParaRPr lang="en-US" sz="1400" dirty="0"/>
          </a:p>
        </p:txBody>
      </p:sp>
      <p:sp>
        <p:nvSpPr>
          <p:cNvPr id="35" name="Shape 32"/>
          <p:cNvSpPr/>
          <p:nvPr/>
        </p:nvSpPr>
        <p:spPr>
          <a:xfrm>
            <a:off x="3252521" y="4919472"/>
            <a:ext cx="643233" cy="182880"/>
          </a:xfrm>
          <a:prstGeom prst="rect">
            <a:avLst/>
          </a:prstGeom>
          <a:solidFill>
            <a:srgbClr val="C3CEE0"/>
          </a:solidFill>
          <a:ln/>
        </p:spPr>
      </p:sp>
      <p:sp>
        <p:nvSpPr>
          <p:cNvPr id="36" name="Text 33"/>
          <p:cNvSpPr txBox="1"/>
          <p:nvPr/>
        </p:nvSpPr>
        <p:spPr>
          <a:xfrm>
            <a:off x="3950618" y="4864608"/>
            <a:ext cx="548640" cy="2743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6</a:t>
            </a:r>
            <a:endParaRPr lang="en-US" sz="1400" dirty="0"/>
          </a:p>
        </p:txBody>
      </p:sp>
      <p:sp>
        <p:nvSpPr>
          <p:cNvPr id="37" name="Shape 34"/>
          <p:cNvSpPr/>
          <p:nvPr/>
        </p:nvSpPr>
        <p:spPr>
          <a:xfrm>
            <a:off x="3252521" y="5175504"/>
            <a:ext cx="45720" cy="182880"/>
          </a:xfrm>
          <a:prstGeom prst="rect">
            <a:avLst/>
          </a:prstGeom>
          <a:solidFill>
            <a:srgbClr val="2E74C6"/>
          </a:solidFill>
          <a:ln/>
        </p:spPr>
      </p:sp>
      <p:sp>
        <p:nvSpPr>
          <p:cNvPr id="38" name="Text 35"/>
          <p:cNvSpPr txBox="1"/>
          <p:nvPr/>
        </p:nvSpPr>
        <p:spPr>
          <a:xfrm>
            <a:off x="3353105" y="5120640"/>
            <a:ext cx="548640" cy="274320"/>
          </a:xfrm>
          <a:prstGeom prst="rect">
            <a:avLst/>
          </a:prstGeom>
          <a:noFill/>
          <a:ln/>
        </p:spPr>
        <p:txBody>
          <a:bodyPr wrap="square" lIns="0" tIns="0" rIns="0" bIns="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0</a:t>
            </a:r>
            <a:endParaRPr lang="en-US" sz="1400" dirty="0"/>
          </a:p>
        </p:txBody>
      </p:sp>
      <p:sp>
        <p:nvSpPr>
          <p:cNvPr id="39" name="Shape 36"/>
          <p:cNvSpPr/>
          <p:nvPr/>
        </p:nvSpPr>
        <p:spPr>
          <a:xfrm>
            <a:off x="509321" y="5541264"/>
            <a:ext cx="6675120" cy="676656"/>
          </a:xfrm>
          <a:prstGeom prst="roundRect">
            <a:avLst>
              <a:gd name="adj" fmla="val 8108"/>
            </a:avLst>
          </a:prstGeom>
          <a:solidFill>
            <a:srgbClr val="FFFFFF"/>
          </a:solidFill>
          <a:ln w="12700">
            <a:solidFill>
              <a:srgbClr val="D9E0EC"/>
            </a:solidFill>
            <a:prstDash val="solid"/>
          </a:ln>
        </p:spPr>
      </p:sp>
      <p:sp>
        <p:nvSpPr>
          <p:cNvPr id="40" name="Text 37"/>
          <p:cNvSpPr txBox="1"/>
          <p:nvPr/>
        </p:nvSpPr>
        <p:spPr>
          <a:xfrm>
            <a:off x="619049" y="5596128"/>
            <a:ext cx="260604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이전 상담 연결을 뽑음</a:t>
            </a:r>
            <a:endParaRPr lang="en-US" sz="1400" dirty="0"/>
          </a:p>
        </p:txBody>
      </p:sp>
      <p:sp>
        <p:nvSpPr>
          <p:cNvPr id="41" name="Text 38"/>
          <p:cNvSpPr txBox="1"/>
          <p:nvPr/>
        </p:nvSpPr>
        <p:spPr>
          <a:xfrm>
            <a:off x="619049" y="5888736"/>
            <a:ext cx="2606040" cy="274320"/>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연결 있는 36건 중, 높을수록 좋음</a:t>
            </a:r>
            <a:endParaRPr lang="en-US" sz="1400" dirty="0"/>
          </a:p>
        </p:txBody>
      </p:sp>
      <p:sp>
        <p:nvSpPr>
          <p:cNvPr id="42" name="Shape 39"/>
          <p:cNvSpPr/>
          <p:nvPr/>
        </p:nvSpPr>
        <p:spPr>
          <a:xfrm>
            <a:off x="3252521" y="5669280"/>
            <a:ext cx="2936240" cy="182880"/>
          </a:xfrm>
          <a:prstGeom prst="rect">
            <a:avLst/>
          </a:prstGeom>
          <a:solidFill>
            <a:srgbClr val="C3CEE0"/>
          </a:solidFill>
          <a:ln/>
        </p:spPr>
      </p:sp>
      <p:sp>
        <p:nvSpPr>
          <p:cNvPr id="43" name="Text 40"/>
          <p:cNvSpPr txBox="1"/>
          <p:nvPr/>
        </p:nvSpPr>
        <p:spPr>
          <a:xfrm>
            <a:off x="6243625" y="5614416"/>
            <a:ext cx="548640" cy="274320"/>
          </a:xfrm>
          <a:prstGeom prst="rect">
            <a:avLst/>
          </a:prstGeom>
          <a:noFill/>
          <a:ln/>
        </p:spPr>
        <p:txBody>
          <a:bodyPr wrap="square" lIns="0" tIns="0" rIns="0" bIns="0" rtlCol="0" anchor="ctr"/>
          <a:lstStyle/>
          <a:p>
            <a:pPr algn="l" indent="0" marL="0">
              <a:buNone/>
            </a:pPr>
            <a:r>
              <a:rPr lang="en-US" sz="1400" dirty="0">
                <a:solidFill>
                  <a:srgbClr val="2B3242"/>
                </a:solidFill>
                <a:latin typeface="Pretendard" pitchFamily="34" charset="0"/>
                <a:ea typeface="Pretendard" pitchFamily="34" charset="-122"/>
                <a:cs typeface="Pretendard" pitchFamily="34" charset="-120"/>
              </a:rPr>
              <a:t>34</a:t>
            </a:r>
            <a:endParaRPr lang="en-US" sz="1400" dirty="0"/>
          </a:p>
        </p:txBody>
      </p:sp>
      <p:sp>
        <p:nvSpPr>
          <p:cNvPr id="44" name="Shape 41"/>
          <p:cNvSpPr/>
          <p:nvPr/>
        </p:nvSpPr>
        <p:spPr>
          <a:xfrm>
            <a:off x="3252521" y="5925312"/>
            <a:ext cx="3108960" cy="182880"/>
          </a:xfrm>
          <a:prstGeom prst="rect">
            <a:avLst/>
          </a:prstGeom>
          <a:solidFill>
            <a:srgbClr val="2E74C6"/>
          </a:solidFill>
          <a:ln/>
        </p:spPr>
      </p:sp>
      <p:sp>
        <p:nvSpPr>
          <p:cNvPr id="45" name="Text 42"/>
          <p:cNvSpPr txBox="1"/>
          <p:nvPr/>
        </p:nvSpPr>
        <p:spPr>
          <a:xfrm>
            <a:off x="6416345" y="5870448"/>
            <a:ext cx="548640" cy="274320"/>
          </a:xfrm>
          <a:prstGeom prst="rect">
            <a:avLst/>
          </a:prstGeom>
          <a:noFill/>
          <a:ln/>
        </p:spPr>
        <p:txBody>
          <a:bodyPr wrap="square" lIns="0" tIns="0" rIns="0" bIns="0" rtlCol="0" anchor="ctr"/>
          <a:lstStyle/>
          <a:p>
            <a:pPr algn="l" indent="0" marL="0">
              <a:buNone/>
            </a:pPr>
            <a:r>
              <a:rPr lang="en-US" sz="1400" b="1" dirty="0">
                <a:solidFill>
                  <a:srgbClr val="2B3242"/>
                </a:solidFill>
                <a:latin typeface="Pretendard" pitchFamily="34" charset="0"/>
                <a:ea typeface="Pretendard" pitchFamily="34" charset="-122"/>
                <a:cs typeface="Pretendard" pitchFamily="34" charset="-120"/>
              </a:rPr>
              <a:t>36</a:t>
            </a:r>
            <a:endParaRPr lang="en-US" sz="1400" dirty="0"/>
          </a:p>
        </p:txBody>
      </p:sp>
      <p:sp>
        <p:nvSpPr>
          <p:cNvPr id="46" name="Shape 43"/>
          <p:cNvSpPr/>
          <p:nvPr/>
        </p:nvSpPr>
        <p:spPr>
          <a:xfrm>
            <a:off x="7458761" y="1737360"/>
            <a:ext cx="6675120" cy="365760"/>
          </a:xfrm>
          <a:prstGeom prst="roundRect">
            <a:avLst>
              <a:gd name="adj" fmla="val 12500"/>
            </a:avLst>
          </a:prstGeom>
          <a:solidFill>
            <a:srgbClr val="1E2A5C"/>
          </a:solidFill>
          <a:ln/>
        </p:spPr>
      </p:sp>
      <p:sp>
        <p:nvSpPr>
          <p:cNvPr id="47" name="Text 44"/>
          <p:cNvSpPr txBox="1"/>
          <p:nvPr/>
        </p:nvSpPr>
        <p:spPr>
          <a:xfrm>
            <a:off x="7458761" y="1737360"/>
            <a:ext cx="667512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고친 설명(description)</a:t>
            </a:r>
            <a:endParaRPr lang="en-US" sz="1600" dirty="0"/>
          </a:p>
        </p:txBody>
      </p:sp>
      <p:sp>
        <p:nvSpPr>
          <p:cNvPr id="48" name="Shape 45"/>
          <p:cNvSpPr/>
          <p:nvPr/>
        </p:nvSpPr>
        <p:spPr>
          <a:xfrm>
            <a:off x="7458761" y="2212848"/>
            <a:ext cx="6675120" cy="1371600"/>
          </a:xfrm>
          <a:prstGeom prst="roundRect">
            <a:avLst>
              <a:gd name="adj" fmla="val 4000"/>
            </a:avLst>
          </a:prstGeom>
          <a:solidFill>
            <a:srgbClr val="FFFFFF"/>
          </a:solidFill>
          <a:ln w="12700">
            <a:solidFill>
              <a:srgbClr val="D9E0EC"/>
            </a:solidFill>
            <a:prstDash val="solid"/>
          </a:ln>
        </p:spPr>
      </p:sp>
      <p:sp>
        <p:nvSpPr>
          <p:cNvPr id="49" name="Shape 46"/>
          <p:cNvSpPr/>
          <p:nvPr/>
        </p:nvSpPr>
        <p:spPr>
          <a:xfrm>
            <a:off x="7550201" y="2304288"/>
            <a:ext cx="1280160" cy="292608"/>
          </a:xfrm>
          <a:prstGeom prst="roundRect">
            <a:avLst>
              <a:gd name="adj" fmla="val 25000"/>
            </a:avLst>
          </a:prstGeom>
          <a:solidFill>
            <a:srgbClr val="1E2A5C"/>
          </a:solidFill>
          <a:ln/>
        </p:spPr>
      </p:sp>
      <p:sp>
        <p:nvSpPr>
          <p:cNvPr id="50" name="Text 47"/>
          <p:cNvSpPr txBox="1"/>
          <p:nvPr/>
        </p:nvSpPr>
        <p:spPr>
          <a:xfrm>
            <a:off x="7550201" y="2304288"/>
            <a:ext cx="1280160"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Complaint</a:t>
            </a:r>
            <a:endParaRPr lang="en-US" sz="1400" dirty="0"/>
          </a:p>
        </p:txBody>
      </p:sp>
      <p:sp>
        <p:nvSpPr>
          <p:cNvPr id="51" name="Text 48"/>
          <p:cNvSpPr txBox="1"/>
          <p:nvPr/>
        </p:nvSpPr>
        <p:spPr>
          <a:xfrm>
            <a:off x="7595921" y="2651760"/>
            <a:ext cx="6400800" cy="877824"/>
          </a:xfrm>
          <a:prstGeom prst="rect">
            <a:avLst/>
          </a:prstGeom>
          <a:noFill/>
          <a:ln/>
        </p:spPr>
        <p:txBody>
          <a:bodyPr wrap="square" lIns="0" tIns="0" rIns="0" bIns="0" rtlCol="0" anchor="t"/>
          <a:lstStyle/>
          <a:p>
            <a:pPr indent="0" marL="0">
              <a:spcAft>
                <a:spcPts val="400"/>
              </a:spcAft>
              <a:buNone/>
            </a:pPr>
            <a:r>
              <a:rPr lang="en-US" sz="1400" dirty="0">
                <a:solidFill>
                  <a:srgbClr val="4A5364"/>
                </a:solidFill>
                <a:latin typeface="Pretendard" pitchFamily="34" charset="0"/>
                <a:ea typeface="Pretendard" pitchFamily="34" charset="-122"/>
                <a:cs typeface="Pretendard" pitchFamily="34" charset="-120"/>
              </a:rPr>
              <a:t>v1: 고객이 말한 불만과 그 원인</a:t>
            </a:r>
            <a:endParaRPr lang="en-US" sz="1400" dirty="0"/>
          </a:p>
          <a:p>
            <a:pPr indent="0" marL="0">
              <a:spcAft>
                <a:spcPts val="400"/>
              </a:spcAft>
              <a:buNone/>
            </a:pPr>
            <a:r>
              <a:rPr lang="en-US" sz="1400" b="1" dirty="0">
                <a:solidFill>
                  <a:srgbClr val="1E2A5C"/>
                </a:solidFill>
                <a:latin typeface="Pretendard" pitchFamily="34" charset="0"/>
                <a:ea typeface="Pretendard" pitchFamily="34" charset="-122"/>
                <a:cs typeface="Pretendard" pitchFamily="34" charset="-120"/>
              </a:rPr>
              <a:t>v2: 불만이나 불편을 분명히 말한 경우만. 단순 문의 목적, 개인 사정(이사, 지출 감소), 궁금증은 아님</a:t>
            </a:r>
            <a:endParaRPr lang="en-US" sz="1400" dirty="0"/>
          </a:p>
        </p:txBody>
      </p:sp>
      <p:sp>
        <p:nvSpPr>
          <p:cNvPr id="52" name="Shape 49"/>
          <p:cNvSpPr/>
          <p:nvPr/>
        </p:nvSpPr>
        <p:spPr>
          <a:xfrm>
            <a:off x="7458761" y="3694176"/>
            <a:ext cx="6675120" cy="1371600"/>
          </a:xfrm>
          <a:prstGeom prst="roundRect">
            <a:avLst>
              <a:gd name="adj" fmla="val 4000"/>
            </a:avLst>
          </a:prstGeom>
          <a:solidFill>
            <a:srgbClr val="FFFFFF"/>
          </a:solidFill>
          <a:ln w="12700">
            <a:solidFill>
              <a:srgbClr val="D9E0EC"/>
            </a:solidFill>
            <a:prstDash val="solid"/>
          </a:ln>
        </p:spPr>
      </p:sp>
      <p:sp>
        <p:nvSpPr>
          <p:cNvPr id="53" name="Shape 50"/>
          <p:cNvSpPr/>
          <p:nvPr/>
        </p:nvSpPr>
        <p:spPr>
          <a:xfrm>
            <a:off x="7550201" y="3785616"/>
            <a:ext cx="1280160" cy="292608"/>
          </a:xfrm>
          <a:prstGeom prst="roundRect">
            <a:avLst>
              <a:gd name="adj" fmla="val 25000"/>
            </a:avLst>
          </a:prstGeom>
          <a:solidFill>
            <a:srgbClr val="1E2A5C"/>
          </a:solidFill>
          <a:ln/>
        </p:spPr>
      </p:sp>
      <p:sp>
        <p:nvSpPr>
          <p:cNvPr id="54" name="Text 51"/>
          <p:cNvSpPr txBox="1"/>
          <p:nvPr/>
        </p:nvSpPr>
        <p:spPr>
          <a:xfrm>
            <a:off x="7550201" y="3785616"/>
            <a:ext cx="1280160"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Proposal</a:t>
            </a:r>
            <a:endParaRPr lang="en-US" sz="1400" dirty="0"/>
          </a:p>
        </p:txBody>
      </p:sp>
      <p:sp>
        <p:nvSpPr>
          <p:cNvPr id="55" name="Text 52"/>
          <p:cNvSpPr txBox="1"/>
          <p:nvPr/>
        </p:nvSpPr>
        <p:spPr>
          <a:xfrm>
            <a:off x="7595921" y="4133088"/>
            <a:ext cx="6400800" cy="877824"/>
          </a:xfrm>
          <a:prstGeom prst="rect">
            <a:avLst/>
          </a:prstGeom>
          <a:noFill/>
          <a:ln/>
        </p:spPr>
        <p:txBody>
          <a:bodyPr wrap="square" lIns="0" tIns="0" rIns="0" bIns="0" rtlCol="0" anchor="t"/>
          <a:lstStyle/>
          <a:p>
            <a:pPr indent="0" marL="0">
              <a:spcAft>
                <a:spcPts val="400"/>
              </a:spcAft>
              <a:buNone/>
            </a:pPr>
            <a:r>
              <a:rPr lang="en-US" sz="1400" dirty="0">
                <a:solidFill>
                  <a:srgbClr val="4A5364"/>
                </a:solidFill>
                <a:latin typeface="Pretendard" pitchFamily="34" charset="0"/>
                <a:ea typeface="Pretendard" pitchFamily="34" charset="-122"/>
                <a:cs typeface="Pretendard" pitchFamily="34" charset="-120"/>
              </a:rPr>
              <a:t>v1: 상담사가 한 제안과 고객의 응답</a:t>
            </a:r>
            <a:endParaRPr lang="en-US" sz="1400" dirty="0"/>
          </a:p>
          <a:p>
            <a:pPr indent="0" marL="0">
              <a:spcAft>
                <a:spcPts val="400"/>
              </a:spcAft>
              <a:buNone/>
            </a:pPr>
            <a:r>
              <a:rPr lang="en-US" sz="1400" b="1" dirty="0">
                <a:solidFill>
                  <a:srgbClr val="1E2A5C"/>
                </a:solidFill>
                <a:latin typeface="Pretendard" pitchFamily="34" charset="0"/>
                <a:ea typeface="Pretendard" pitchFamily="34" charset="-122"/>
                <a:cs typeface="Pretendard" pitchFamily="34" charset="-120"/>
              </a:rPr>
              <a:t>v2: 고객이 받아들이거나 거절할 수 있는 구체적 대안만. '확인해 드릴게요' 같은 절차 안내는 아님, 보통 1개</a:t>
            </a:r>
            <a:endParaRPr lang="en-US" sz="1400" dirty="0"/>
          </a:p>
        </p:txBody>
      </p:sp>
      <p:sp>
        <p:nvSpPr>
          <p:cNvPr id="56" name="Shape 53"/>
          <p:cNvSpPr/>
          <p:nvPr/>
        </p:nvSpPr>
        <p:spPr>
          <a:xfrm>
            <a:off x="7458761" y="5175504"/>
            <a:ext cx="6675120" cy="1207008"/>
          </a:xfrm>
          <a:prstGeom prst="roundRect">
            <a:avLst>
              <a:gd name="adj" fmla="val 4545"/>
            </a:avLst>
          </a:prstGeom>
          <a:solidFill>
            <a:srgbClr val="F5F8FC"/>
          </a:solidFill>
          <a:ln w="12700">
            <a:solidFill>
              <a:srgbClr val="D9E0EC"/>
            </a:solidFill>
            <a:prstDash val="solid"/>
          </a:ln>
        </p:spPr>
      </p:sp>
      <p:sp>
        <p:nvSpPr>
          <p:cNvPr id="57" name="Text 54"/>
          <p:cNvSpPr txBox="1"/>
          <p:nvPr/>
        </p:nvSpPr>
        <p:spPr>
          <a:xfrm>
            <a:off x="7595921" y="5175504"/>
            <a:ext cx="6400800" cy="1207008"/>
          </a:xfrm>
          <a:prstGeom prst="rect">
            <a:avLst/>
          </a:prstGeom>
          <a:noFill/>
          <a:ln/>
        </p:spPr>
        <p:txBody>
          <a:bodyPr wrap="square" lIns="0" tIns="0" rIns="0" bIns="0" rtlCol="0" anchor="ctr"/>
          <a:lstStyle/>
          <a:p>
            <a:pPr indent="0" marL="0">
              <a:buNone/>
            </a:pPr>
            <a:r>
              <a:rPr lang="en-US" sz="1400" b="1" dirty="0">
                <a:solidFill>
                  <a:srgbClr val="1E2A5C"/>
                </a:solidFill>
                <a:latin typeface="Pretendard" pitchFamily="34" charset="0"/>
                <a:ea typeface="Pretendard" pitchFamily="34" charset="-122"/>
                <a:cs typeface="Pretendard" pitchFamily="34" charset="-120"/>
              </a:rPr>
              <a:t>남은 문제</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응답 엄격 일치 37 / 48: 제안이 여럿이면 다른 안내를 고름</a:t>
            </a:r>
            <a:endParaRPr lang="en-US" sz="1400" dirty="0"/>
          </a:p>
          <a:p>
            <a:pPr indent="0" marL="0">
              <a:buNone/>
            </a:pPr>
            <a:r>
              <a:rPr lang="en-US" sz="1400" dirty="0">
                <a:solidFill>
                  <a:srgbClr val="2B3242"/>
                </a:solidFill>
                <a:latin typeface="Pretendard" pitchFamily="34" charset="0"/>
                <a:ea typeface="Pretendard" pitchFamily="34" charset="-122"/>
                <a:cs typeface="Pretendard" pitchFamily="34" charset="-120"/>
              </a:rPr>
              <a:t>불만 오탐 4건: '종이 영수증이 없어 불편'처럼 실제 불편 발화 → 정답 기준을 다시 볼 대상</a:t>
            </a:r>
            <a:endParaRPr lang="en-US" sz="1400" dirty="0"/>
          </a:p>
        </p:txBody>
      </p:sp>
      <p:sp>
        <p:nvSpPr>
          <p:cNvPr id="58" name="Shape 5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sp>
      <p:sp>
        <p:nvSpPr>
          <p:cNvPr id="59" name="Shape 56"/>
          <p:cNvSpPr/>
          <p:nvPr/>
        </p:nvSpPr>
        <p:spPr>
          <a:xfrm>
            <a:off x="509321" y="6510528"/>
            <a:ext cx="82296" cy="658368"/>
          </a:xfrm>
          <a:prstGeom prst="rect">
            <a:avLst/>
          </a:prstGeom>
          <a:solidFill>
            <a:srgbClr val="2E74C6"/>
          </a:solidFill>
          <a:ln/>
        </p:spPr>
      </p:sp>
      <p:sp>
        <p:nvSpPr>
          <p:cNvPr id="60" name="Text 57"/>
          <p:cNvSpPr txBox="1"/>
          <p:nvPr/>
        </p:nvSpPr>
        <p:spPr>
          <a:xfrm>
            <a:off x="737921" y="6510528"/>
            <a:ext cx="13258800" cy="658368"/>
          </a:xfrm>
          <a:prstGeom prst="rect">
            <a:avLst/>
          </a:prstGeom>
          <a:noFill/>
          <a:ln/>
        </p:spPr>
        <p:txBody>
          <a:bodyPr wrap="square" lIns="0" tIns="0" rIns="0" bIns="0" rtlCol="0" anchor="ctr"/>
          <a:lstStyle/>
          <a:p>
            <a:pPr algn="l" indent="0" marL="0">
              <a:buNone/>
            </a:pPr>
            <a:r>
              <a:rPr lang="en-US" sz="1600" b="1" dirty="0">
                <a:solidFill>
                  <a:srgbClr val="1E2A5C"/>
                </a:solidFill>
                <a:latin typeface="Pretendard" pitchFamily="34" charset="0"/>
                <a:ea typeface="Pretendard" pitchFamily="34" charset="-122"/>
                <a:cs typeface="Pretendard" pitchFamily="34" charset="-120"/>
              </a:rPr>
              <a:t>결론: 이름보다 설명이 추출 품질을 좌우함. 지표가 기준에 닿을 때까지 ③과 ④를 되풀이</a:t>
            </a:r>
            <a:endParaRPr lang="en-US" sz="1600" dirty="0"/>
          </a:p>
        </p:txBody>
      </p:sp>
      <p:sp>
        <p:nvSpPr>
          <p:cNvPr id="61" name="Shape 58"/>
          <p:cNvSpPr/>
          <p:nvPr/>
        </p:nvSpPr>
        <p:spPr>
          <a:xfrm>
            <a:off x="509321" y="7388352"/>
            <a:ext cx="13624560" cy="0"/>
          </a:xfrm>
          <a:prstGeom prst="line">
            <a:avLst/>
          </a:prstGeom>
          <a:noFill/>
          <a:ln w="12700">
            <a:solidFill>
              <a:srgbClr val="E9ECF3"/>
            </a:solidFill>
            <a:prstDash val="solid"/>
          </a:ln>
        </p:spPr>
      </p:sp>
      <p:sp>
        <p:nvSpPr>
          <p:cNvPr id="62" name="Text 59"/>
          <p:cNvSpPr txBox="1"/>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LLMEntityRelationExtractor와 GraphPruning, 정답: 강사용 상담근거 대조표(v3)</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1. 스키마 도출: 단계 ⑤ 고정과 그 뒤</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시험을 통과한 스키마 초안을 GraphSchema.save()로 파일에 고정하고, 인덱싱은 그 파일만 읽음</a:t>
            </a:r>
            <a:endParaRPr lang="en-US" sz="1800" dirty="0"/>
          </a:p>
        </p:txBody>
      </p:sp>
      <p:sp>
        <p:nvSpPr>
          <p:cNvPr id="5" name="Shape 2"/>
          <p:cNvSpPr/>
          <p:nvPr/>
        </p:nvSpPr>
        <p:spPr>
          <a:xfrm>
            <a:off x="509321" y="1737360"/>
            <a:ext cx="5120640" cy="365760"/>
          </a:xfrm>
          <a:prstGeom prst="roundRect">
            <a:avLst>
              <a:gd name="adj" fmla="val 12500"/>
            </a:avLst>
          </a:prstGeom>
          <a:solidFill>
            <a:srgbClr val="404155"/>
          </a:solidFill>
          <a:ln/>
        </p:spPr>
      </p:sp>
      <p:sp>
        <p:nvSpPr>
          <p:cNvPr id="6" name="Text 3"/>
          <p:cNvSpPr txBox="1"/>
          <p:nvPr/>
        </p:nvSpPr>
        <p:spPr>
          <a:xfrm>
            <a:off x="509321" y="1737360"/>
            <a:ext cx="512064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저장과 다시 읽기(실측)</a:t>
            </a:r>
            <a:endParaRPr lang="en-US" sz="1600" dirty="0"/>
          </a:p>
        </p:txBody>
      </p:sp>
      <p:sp>
        <p:nvSpPr>
          <p:cNvPr id="7" name="Shape 4"/>
          <p:cNvSpPr/>
          <p:nvPr/>
        </p:nvSpPr>
        <p:spPr>
          <a:xfrm>
            <a:off x="509321" y="2212848"/>
            <a:ext cx="5120640" cy="1700784"/>
          </a:xfrm>
          <a:prstGeom prst="roundRect">
            <a:avLst>
              <a:gd name="adj" fmla="val 3226"/>
            </a:avLst>
          </a:prstGeom>
          <a:solidFill>
            <a:srgbClr val="F5F8FC"/>
          </a:solidFill>
          <a:ln w="12700">
            <a:solidFill>
              <a:srgbClr val="D9E0EC"/>
            </a:solidFill>
            <a:prstDash val="solid"/>
          </a:ln>
        </p:spPr>
      </p:sp>
      <p:sp>
        <p:nvSpPr>
          <p:cNvPr id="8" name="Text 5"/>
          <p:cNvSpPr txBox="1"/>
          <p:nvPr/>
        </p:nvSpPr>
        <p:spPr>
          <a:xfrm>
            <a:off x="619049" y="2286000"/>
            <a:ext cx="4901184" cy="1572768"/>
          </a:xfrm>
          <a:prstGeom prst="rect">
            <a:avLst/>
          </a:prstGeom>
          <a:noFill/>
          <a:ln/>
        </p:spPr>
        <p:txBody>
          <a:bodyPr wrap="square" lIns="254" tIns="254" rIns="254" bIns="254" rtlCol="0" anchor="t"/>
          <a:lstStyle/>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schema = GraphSchema.model_validate(초안)</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schema.save("graph_schema_consult.json")</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again = GraphSchema.from_file(</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    "graph_schema_consult.json")</a:t>
            </a:r>
            <a:endParaRPr lang="en-US" sz="1400" dirty="0"/>
          </a:p>
          <a:p>
            <a:pPr indent="0" marL="0">
              <a:lnSpc>
                <a:spcPct val="105000"/>
              </a:lnSpc>
              <a:buNone/>
            </a:pPr>
            <a:r>
              <a:rPr lang="en-US" sz="1400" dirty="0">
                <a:solidFill>
                  <a:srgbClr val="2B3242"/>
                </a:solidFill>
                <a:latin typeface="Pretendard" pitchFamily="34" charset="0"/>
                <a:ea typeface="Pretendard" pitchFamily="34" charset="-122"/>
                <a:cs typeface="Pretendard" pitchFamily="34" charset="-120"/>
              </a:rPr>
              <a:t>again == schema        # True</a:t>
            </a:r>
            <a:endParaRPr lang="en-US" sz="1400" dirty="0"/>
          </a:p>
        </p:txBody>
      </p:sp>
      <p:sp>
        <p:nvSpPr>
          <p:cNvPr id="9" name="Shape 6"/>
          <p:cNvSpPr/>
          <p:nvPr/>
        </p:nvSpPr>
        <p:spPr>
          <a:xfrm>
            <a:off x="509321" y="4041648"/>
            <a:ext cx="1106424" cy="329184"/>
          </a:xfrm>
          <a:prstGeom prst="roundRect">
            <a:avLst>
              <a:gd name="adj" fmla="val 22222"/>
            </a:avLst>
          </a:prstGeom>
          <a:solidFill>
            <a:srgbClr val="EEF3FA"/>
          </a:solidFill>
          <a:ln/>
        </p:spPr>
      </p:sp>
      <p:sp>
        <p:nvSpPr>
          <p:cNvPr id="10" name="Text 7"/>
          <p:cNvSpPr txBox="1"/>
          <p:nvPr/>
        </p:nvSpPr>
        <p:spPr>
          <a:xfrm>
            <a:off x="509321" y="4041648"/>
            <a:ext cx="1106424" cy="32918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노드 타입 4</a:t>
            </a:r>
            <a:endParaRPr lang="en-US" sz="1400" dirty="0"/>
          </a:p>
        </p:txBody>
      </p:sp>
      <p:sp>
        <p:nvSpPr>
          <p:cNvPr id="11" name="Shape 8"/>
          <p:cNvSpPr/>
          <p:nvPr/>
        </p:nvSpPr>
        <p:spPr>
          <a:xfrm>
            <a:off x="1707185" y="4041648"/>
            <a:ext cx="749808" cy="329184"/>
          </a:xfrm>
          <a:prstGeom prst="roundRect">
            <a:avLst>
              <a:gd name="adj" fmla="val 22222"/>
            </a:avLst>
          </a:prstGeom>
          <a:solidFill>
            <a:srgbClr val="EEF3FA"/>
          </a:solidFill>
          <a:ln/>
        </p:spPr>
      </p:sp>
      <p:sp>
        <p:nvSpPr>
          <p:cNvPr id="12" name="Text 9"/>
          <p:cNvSpPr txBox="1"/>
          <p:nvPr/>
        </p:nvSpPr>
        <p:spPr>
          <a:xfrm>
            <a:off x="1707185" y="4041648"/>
            <a:ext cx="749808" cy="32918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관계 5</a:t>
            </a:r>
            <a:endParaRPr lang="en-US" sz="1400" dirty="0"/>
          </a:p>
        </p:txBody>
      </p:sp>
      <p:sp>
        <p:nvSpPr>
          <p:cNvPr id="13" name="Shape 10"/>
          <p:cNvSpPr/>
          <p:nvPr/>
        </p:nvSpPr>
        <p:spPr>
          <a:xfrm>
            <a:off x="2548433" y="4041648"/>
            <a:ext cx="749808" cy="329184"/>
          </a:xfrm>
          <a:prstGeom prst="roundRect">
            <a:avLst>
              <a:gd name="adj" fmla="val 22222"/>
            </a:avLst>
          </a:prstGeom>
          <a:solidFill>
            <a:srgbClr val="EEF3FA"/>
          </a:solidFill>
          <a:ln/>
        </p:spPr>
      </p:sp>
      <p:sp>
        <p:nvSpPr>
          <p:cNvPr id="14" name="Text 11"/>
          <p:cNvSpPr txBox="1"/>
          <p:nvPr/>
        </p:nvSpPr>
        <p:spPr>
          <a:xfrm>
            <a:off x="2548433" y="4041648"/>
            <a:ext cx="749808" cy="32918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패턴 5</a:t>
            </a:r>
            <a:endParaRPr lang="en-US" sz="1400" dirty="0"/>
          </a:p>
        </p:txBody>
      </p:sp>
      <p:sp>
        <p:nvSpPr>
          <p:cNvPr id="15" name="Shape 12"/>
          <p:cNvSpPr/>
          <p:nvPr/>
        </p:nvSpPr>
        <p:spPr>
          <a:xfrm>
            <a:off x="3389681" y="4041648"/>
            <a:ext cx="749808" cy="329184"/>
          </a:xfrm>
          <a:prstGeom prst="roundRect">
            <a:avLst>
              <a:gd name="adj" fmla="val 22222"/>
            </a:avLst>
          </a:prstGeom>
          <a:solidFill>
            <a:srgbClr val="EEF3FA"/>
          </a:solidFill>
          <a:ln/>
        </p:spPr>
      </p:sp>
      <p:sp>
        <p:nvSpPr>
          <p:cNvPr id="16" name="Text 13"/>
          <p:cNvSpPr txBox="1"/>
          <p:nvPr/>
        </p:nvSpPr>
        <p:spPr>
          <a:xfrm>
            <a:off x="3389681" y="4041648"/>
            <a:ext cx="749808" cy="32918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제약 1</a:t>
            </a:r>
            <a:endParaRPr lang="en-US" sz="1400" dirty="0"/>
          </a:p>
        </p:txBody>
      </p:sp>
      <p:sp>
        <p:nvSpPr>
          <p:cNvPr id="17" name="Shape 14"/>
          <p:cNvSpPr/>
          <p:nvPr/>
        </p:nvSpPr>
        <p:spPr>
          <a:xfrm>
            <a:off x="509321" y="4443984"/>
            <a:ext cx="3127248" cy="329184"/>
          </a:xfrm>
          <a:prstGeom prst="roundRect">
            <a:avLst>
              <a:gd name="adj" fmla="val 22222"/>
            </a:avLst>
          </a:prstGeom>
          <a:solidFill>
            <a:srgbClr val="EEF3FA"/>
          </a:solidFill>
          <a:ln/>
        </p:spPr>
      </p:sp>
      <p:sp>
        <p:nvSpPr>
          <p:cNvPr id="18" name="Text 15"/>
          <p:cNvSpPr txBox="1"/>
          <p:nvPr/>
        </p:nvSpPr>
        <p:spPr>
          <a:xfrm>
            <a:off x="509321" y="4443984"/>
            <a:ext cx="3127248" cy="32918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additional_* 3개 모두 False</a:t>
            </a:r>
            <a:endParaRPr lang="en-US" sz="1400" dirty="0"/>
          </a:p>
        </p:txBody>
      </p:sp>
      <p:sp>
        <p:nvSpPr>
          <p:cNvPr id="19" name="Text 16"/>
          <p:cNvSpPr txBox="1"/>
          <p:nvPr/>
        </p:nvSpPr>
        <p:spPr>
          <a:xfrm>
            <a:off x="509321" y="4919472"/>
            <a:ext cx="5120640" cy="566928"/>
          </a:xfrm>
          <a:prstGeom prst="rect">
            <a:avLst/>
          </a:prstGeom>
          <a:noFill/>
          <a:ln/>
        </p:spPr>
        <p:txBody>
          <a:bodyPr wrap="square" lIns="0" tIns="0" rIns="0" bIns="0" rtlCol="0" anchor="t"/>
          <a:lstStyle/>
          <a:p>
            <a:pPr algn="l" indent="0" marL="0">
              <a:buNone/>
            </a:pPr>
            <a:r>
              <a:rPr lang="en-US" sz="1400" dirty="0">
                <a:solidFill>
                  <a:srgbClr val="4A5364"/>
                </a:solidFill>
                <a:latin typeface="Pretendard" pitchFamily="34" charset="0"/>
                <a:ea typeface="Pretendard" pitchFamily="34" charset="-122"/>
                <a:cs typeface="Pretendard" pitchFamily="34" charset="-120"/>
              </a:rPr>
              <a:t>Neo4j 서버 없이 됨. 상담 초안은 사람의 최종 승인 전이라 작업 폴더에서 시연함</a:t>
            </a:r>
            <a:endParaRPr lang="en-US" sz="1400" dirty="0"/>
          </a:p>
        </p:txBody>
      </p:sp>
      <p:sp>
        <p:nvSpPr>
          <p:cNvPr id="20" name="Shape 17"/>
          <p:cNvSpPr/>
          <p:nvPr/>
        </p:nvSpPr>
        <p:spPr>
          <a:xfrm>
            <a:off x="5904281" y="1737360"/>
            <a:ext cx="4343400" cy="365760"/>
          </a:xfrm>
          <a:prstGeom prst="roundRect">
            <a:avLst>
              <a:gd name="adj" fmla="val 12500"/>
            </a:avLst>
          </a:prstGeom>
          <a:solidFill>
            <a:srgbClr val="1E2A5C"/>
          </a:solidFill>
          <a:ln/>
        </p:spPr>
      </p:sp>
      <p:sp>
        <p:nvSpPr>
          <p:cNvPr id="21" name="Text 18"/>
          <p:cNvSpPr txBox="1"/>
          <p:nvPr/>
        </p:nvSpPr>
        <p:spPr>
          <a:xfrm>
            <a:off x="5904281" y="1737360"/>
            <a:ext cx="434340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고정의 뜻</a:t>
            </a:r>
            <a:endParaRPr lang="en-US" sz="1600" dirty="0"/>
          </a:p>
        </p:txBody>
      </p:sp>
      <p:sp>
        <p:nvSpPr>
          <p:cNvPr id="22" name="Shape 19"/>
          <p:cNvSpPr/>
          <p:nvPr/>
        </p:nvSpPr>
        <p:spPr>
          <a:xfrm>
            <a:off x="5904281" y="2212848"/>
            <a:ext cx="4343400" cy="2697480"/>
          </a:xfrm>
          <a:prstGeom prst="roundRect">
            <a:avLst>
              <a:gd name="adj" fmla="val 2034"/>
            </a:avLst>
          </a:prstGeom>
          <a:solidFill>
            <a:srgbClr val="FFFFFF"/>
          </a:solidFill>
          <a:ln w="12700">
            <a:solidFill>
              <a:srgbClr val="D9E0EC"/>
            </a:solidFill>
            <a:prstDash val="solid"/>
          </a:ln>
        </p:spPr>
      </p:sp>
      <p:sp>
        <p:nvSpPr>
          <p:cNvPr id="23" name="Text 20"/>
          <p:cNvSpPr txBox="1"/>
          <p:nvPr/>
        </p:nvSpPr>
        <p:spPr>
          <a:xfrm>
            <a:off x="6041441" y="2340864"/>
            <a:ext cx="4069080" cy="2468880"/>
          </a:xfrm>
          <a:prstGeom prst="rect">
            <a:avLst/>
          </a:prstGeom>
          <a:noFill/>
          <a:ln/>
        </p:spPr>
        <p:txBody>
          <a:bodyPr wrap="square" lIns="0" tIns="0" rIns="0" bIns="0" rtlCol="0" anchor="t"/>
          <a:lstStyle/>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목록 밖 노드 타입과 관계는 가지치기가 지움(additional_* False)</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스키마나 원천이 바뀌면 새 세대로 다시 인덱싱</a:t>
            </a:r>
            <a:endParaRPr lang="en-US" sz="1400" dirty="0"/>
          </a:p>
          <a:p>
            <a:pPr marL="152400" indent="-152400">
              <a:spcAft>
                <a:spcPts val="1200"/>
              </a:spcAft>
              <a:buSzPct val="100000"/>
              <a:buChar char="•"/>
            </a:pPr>
            <a:r>
              <a:rPr lang="en-US" sz="1400" dirty="0">
                <a:solidFill>
                  <a:srgbClr val="2B3242"/>
                </a:solidFill>
                <a:latin typeface="Pretendard" pitchFamily="34" charset="0"/>
                <a:ea typeface="Pretendard" pitchFamily="34" charset="-122"/>
                <a:cs typeface="Pretendard" pitchFamily="34" charset="-120"/>
              </a:rPr>
              <a:t>실제 예: 상담 원문 v3를 반영할 때 새 세대 gen-d3v3-20261018을 만들고 상담 48청크만 새로 임베딩, 170청크는 재사용</a:t>
            </a:r>
            <a:endParaRPr lang="en-US" sz="1400" dirty="0"/>
          </a:p>
        </p:txBody>
      </p:sp>
      <p:sp>
        <p:nvSpPr>
          <p:cNvPr id="24" name="Text 21"/>
          <p:cNvSpPr txBox="1"/>
          <p:nvPr/>
        </p:nvSpPr>
        <p:spPr>
          <a:xfrm>
            <a:off x="5904281" y="5029200"/>
            <a:ext cx="4343400" cy="274320"/>
          </a:xfrm>
          <a:prstGeom prst="rect">
            <a:avLst/>
          </a:prstGeom>
          <a:noFill/>
          <a:ln/>
        </p:spPr>
        <p:txBody>
          <a:bodyPr wrap="square" lIns="0" tIns="0" rIns="0" bIns="0" rtlCol="0" anchor="ctr"/>
          <a:lstStyle/>
          <a:p>
            <a:pPr algn="l" indent="0" marL="0">
              <a:buNone/>
            </a:pPr>
            <a:r>
              <a:rPr lang="en-US" sz="1400" b="1" dirty="0">
                <a:solidFill>
                  <a:srgbClr val="1E2A5C"/>
                </a:solidFill>
                <a:latin typeface="Pretendard" pitchFamily="34" charset="0"/>
                <a:ea typeface="Pretendard" pitchFamily="34" charset="-122"/>
                <a:cs typeface="Pretendard" pitchFamily="34" charset="-120"/>
              </a:rPr>
              <a:t>인덱싱이 이 파일을 읽는 곳</a:t>
            </a:r>
            <a:endParaRPr lang="en-US" sz="1400" dirty="0"/>
          </a:p>
        </p:txBody>
      </p:sp>
      <p:sp>
        <p:nvSpPr>
          <p:cNvPr id="25" name="Shape 22"/>
          <p:cNvSpPr/>
          <p:nvPr/>
        </p:nvSpPr>
        <p:spPr>
          <a:xfrm>
            <a:off x="5904281" y="5358384"/>
            <a:ext cx="1264920" cy="658368"/>
          </a:xfrm>
          <a:prstGeom prst="roundRect">
            <a:avLst>
              <a:gd name="adj" fmla="val 11111"/>
            </a:avLst>
          </a:prstGeom>
          <a:solidFill>
            <a:srgbClr val="EEF3FA"/>
          </a:solidFill>
          <a:ln w="15875">
            <a:solidFill>
              <a:srgbClr val="2E74C6"/>
            </a:solidFill>
            <a:prstDash val="solid"/>
          </a:ln>
        </p:spPr>
      </p:sp>
      <p:sp>
        <p:nvSpPr>
          <p:cNvPr id="26" name="Text 23"/>
          <p:cNvSpPr txBox="1"/>
          <p:nvPr/>
        </p:nvSpPr>
        <p:spPr>
          <a:xfrm>
            <a:off x="5904281" y="5358384"/>
            <a:ext cx="1264920" cy="658368"/>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GraphSchema</a:t>
            </a:r>
            <a:endParaRPr lang="en-US" sz="1400" dirty="0"/>
          </a:p>
          <a:p>
            <a:pPr algn="ctr" indent="0" marL="0">
              <a:buNone/>
            </a:pPr>
            <a:r>
              <a:rPr lang="en-US" sz="1400" b="1" dirty="0">
                <a:solidFill>
                  <a:srgbClr val="1E2A5C"/>
                </a:solidFill>
                <a:latin typeface="Pretendard" pitchFamily="34" charset="0"/>
                <a:ea typeface="Pretendard" pitchFamily="34" charset="-122"/>
                <a:cs typeface="Pretendard" pitchFamily="34" charset="-120"/>
              </a:rPr>
              <a:t>파일</a:t>
            </a:r>
            <a:endParaRPr lang="en-US" sz="1400" dirty="0"/>
          </a:p>
        </p:txBody>
      </p:sp>
      <p:sp>
        <p:nvSpPr>
          <p:cNvPr id="27" name="Shape 24"/>
          <p:cNvSpPr/>
          <p:nvPr/>
        </p:nvSpPr>
        <p:spPr>
          <a:xfrm>
            <a:off x="7196633" y="5687568"/>
            <a:ext cx="219456" cy="0"/>
          </a:xfrm>
          <a:prstGeom prst="line">
            <a:avLst/>
          </a:prstGeom>
          <a:noFill/>
          <a:ln w="22225">
            <a:solidFill>
              <a:srgbClr val="4A5364"/>
            </a:solidFill>
            <a:prstDash val="solid"/>
            <a:tailEnd type="triangle"/>
          </a:ln>
        </p:spPr>
      </p:sp>
      <p:sp>
        <p:nvSpPr>
          <p:cNvPr id="28" name="Shape 25"/>
          <p:cNvSpPr/>
          <p:nvPr/>
        </p:nvSpPr>
        <p:spPr>
          <a:xfrm>
            <a:off x="7443521" y="5358384"/>
            <a:ext cx="1264920" cy="658368"/>
          </a:xfrm>
          <a:prstGeom prst="roundRect">
            <a:avLst>
              <a:gd name="adj" fmla="val 11111"/>
            </a:avLst>
          </a:prstGeom>
          <a:solidFill>
            <a:srgbClr val="1E2A5C"/>
          </a:solidFill>
          <a:ln/>
        </p:spPr>
      </p:sp>
      <p:sp>
        <p:nvSpPr>
          <p:cNvPr id="29" name="Text 26"/>
          <p:cNvSpPr txBox="1"/>
          <p:nvPr/>
        </p:nvSpPr>
        <p:spPr>
          <a:xfrm>
            <a:off x="7443521" y="5358384"/>
            <a:ext cx="1264920" cy="65836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④ 추출</a:t>
            </a:r>
            <a:endParaRPr lang="en-US" sz="1400" dirty="0"/>
          </a:p>
        </p:txBody>
      </p:sp>
      <p:sp>
        <p:nvSpPr>
          <p:cNvPr id="30" name="Shape 27"/>
          <p:cNvSpPr/>
          <p:nvPr/>
        </p:nvSpPr>
        <p:spPr>
          <a:xfrm>
            <a:off x="8735873" y="5687568"/>
            <a:ext cx="219456" cy="0"/>
          </a:xfrm>
          <a:prstGeom prst="line">
            <a:avLst/>
          </a:prstGeom>
          <a:noFill/>
          <a:ln w="22225">
            <a:solidFill>
              <a:srgbClr val="4A5364"/>
            </a:solidFill>
            <a:prstDash val="solid"/>
            <a:tailEnd type="triangle"/>
          </a:ln>
        </p:spPr>
      </p:sp>
      <p:sp>
        <p:nvSpPr>
          <p:cNvPr id="31" name="Shape 28"/>
          <p:cNvSpPr/>
          <p:nvPr/>
        </p:nvSpPr>
        <p:spPr>
          <a:xfrm>
            <a:off x="8982761" y="5358384"/>
            <a:ext cx="1264920" cy="658368"/>
          </a:xfrm>
          <a:prstGeom prst="roundRect">
            <a:avLst>
              <a:gd name="adj" fmla="val 11111"/>
            </a:avLst>
          </a:prstGeom>
          <a:solidFill>
            <a:srgbClr val="1E2A5C"/>
          </a:solidFill>
          <a:ln/>
        </p:spPr>
      </p:sp>
      <p:sp>
        <p:nvSpPr>
          <p:cNvPr id="32" name="Text 29"/>
          <p:cNvSpPr txBox="1"/>
          <p:nvPr/>
        </p:nvSpPr>
        <p:spPr>
          <a:xfrm>
            <a:off x="8982761" y="5358384"/>
            <a:ext cx="1264920" cy="65836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가지치기</a:t>
            </a:r>
            <a:endParaRPr lang="en-US" sz="1400" dirty="0"/>
          </a:p>
        </p:txBody>
      </p:sp>
      <p:sp>
        <p:nvSpPr>
          <p:cNvPr id="33" name="Text 30"/>
          <p:cNvSpPr txBox="1"/>
          <p:nvPr/>
        </p:nvSpPr>
        <p:spPr>
          <a:xfrm>
            <a:off x="5904281" y="6053328"/>
            <a:ext cx="4343400" cy="329184"/>
          </a:xfrm>
          <a:prstGeom prst="rect">
            <a:avLst/>
          </a:prstGeom>
          <a:noFill/>
          <a:ln/>
        </p:spPr>
        <p:txBody>
          <a:bodyPr wrap="square" lIns="0" tIns="0" rIns="0" bIns="0" rtlCol="0" anchor="ctr"/>
          <a:lstStyle/>
          <a:p>
            <a:pPr algn="l" indent="0" marL="0">
              <a:buNone/>
            </a:pPr>
            <a:r>
              <a:rPr lang="en-US" sz="1400" dirty="0">
                <a:solidFill>
                  <a:srgbClr val="4A5364"/>
                </a:solidFill>
                <a:latin typeface="Pretendard" pitchFamily="34" charset="0"/>
                <a:ea typeface="Pretendard" pitchFamily="34" charset="-122"/>
                <a:cs typeface="Pretendard" pitchFamily="34" charset="-120"/>
              </a:rPr>
              <a:t>추출 프롬프트의 허용 목록과 가지치기 기준으로 함께 씀</a:t>
            </a:r>
            <a:endParaRPr lang="en-US" sz="1400" dirty="0"/>
          </a:p>
        </p:txBody>
      </p:sp>
      <p:sp>
        <p:nvSpPr>
          <p:cNvPr id="34" name="Shape 31"/>
          <p:cNvSpPr/>
          <p:nvPr/>
        </p:nvSpPr>
        <p:spPr>
          <a:xfrm>
            <a:off x="10522001" y="1737360"/>
            <a:ext cx="3611880" cy="365760"/>
          </a:xfrm>
          <a:prstGeom prst="roundRect">
            <a:avLst>
              <a:gd name="adj" fmla="val 12500"/>
            </a:avLst>
          </a:prstGeom>
          <a:solidFill>
            <a:srgbClr val="1E2A5C"/>
          </a:solidFill>
          <a:ln/>
        </p:spPr>
      </p:sp>
      <p:sp>
        <p:nvSpPr>
          <p:cNvPr id="35" name="Text 32"/>
          <p:cNvSpPr txBox="1"/>
          <p:nvPr/>
        </p:nvSpPr>
        <p:spPr>
          <a:xfrm>
            <a:off x="10522001" y="1737360"/>
            <a:ext cx="3611880" cy="3657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문서 종류별 진행</a:t>
            </a:r>
            <a:endParaRPr lang="en-US" sz="1600" dirty="0"/>
          </a:p>
        </p:txBody>
      </p:sp>
      <p:sp>
        <p:nvSpPr>
          <p:cNvPr id="36" name="Shape 33"/>
          <p:cNvSpPr/>
          <p:nvPr/>
        </p:nvSpPr>
        <p:spPr>
          <a:xfrm>
            <a:off x="10522001" y="2212848"/>
            <a:ext cx="3611880" cy="1316736"/>
          </a:xfrm>
          <a:prstGeom prst="roundRect">
            <a:avLst>
              <a:gd name="adj" fmla="val 4167"/>
            </a:avLst>
          </a:prstGeom>
          <a:solidFill>
            <a:srgbClr val="EEF3FA"/>
          </a:solidFill>
          <a:ln w="12700">
            <a:solidFill>
              <a:srgbClr val="2E74C6"/>
            </a:solidFill>
            <a:prstDash val="solid"/>
          </a:ln>
        </p:spPr>
      </p:sp>
      <p:sp>
        <p:nvSpPr>
          <p:cNvPr id="37" name="Shape 34"/>
          <p:cNvSpPr/>
          <p:nvPr/>
        </p:nvSpPr>
        <p:spPr>
          <a:xfrm>
            <a:off x="10613441" y="2304288"/>
            <a:ext cx="731520" cy="292608"/>
          </a:xfrm>
          <a:prstGeom prst="roundRect">
            <a:avLst>
              <a:gd name="adj" fmla="val 25000"/>
            </a:avLst>
          </a:prstGeom>
          <a:solidFill>
            <a:srgbClr val="1E2A5C"/>
          </a:solidFill>
          <a:ln/>
        </p:spPr>
      </p:sp>
      <p:sp>
        <p:nvSpPr>
          <p:cNvPr id="38" name="Text 35"/>
          <p:cNvSpPr txBox="1"/>
          <p:nvPr/>
        </p:nvSpPr>
        <p:spPr>
          <a:xfrm>
            <a:off x="10613441" y="2304288"/>
            <a:ext cx="731520"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상담</a:t>
            </a:r>
            <a:endParaRPr lang="en-US" sz="1400" dirty="0"/>
          </a:p>
        </p:txBody>
      </p:sp>
      <p:sp>
        <p:nvSpPr>
          <p:cNvPr id="39" name="Text 36"/>
          <p:cNvSpPr txBox="1"/>
          <p:nvPr/>
        </p:nvSpPr>
        <p:spPr>
          <a:xfrm>
            <a:off x="10631729" y="2651760"/>
            <a:ext cx="3392424" cy="822960"/>
          </a:xfrm>
          <a:prstGeom prst="rect">
            <a:avLst/>
          </a:prstGeom>
          <a:noFill/>
          <a:ln/>
        </p:spPr>
        <p:txBody>
          <a:bodyPr wrap="square" lIns="0" tIns="0" rIns="0" bIns="0" rtlCol="0" anchor="t"/>
          <a:lstStyle/>
          <a:p>
            <a:pPr algn="l" indent="0" marL="0">
              <a:buNone/>
            </a:pPr>
            <a:r>
              <a:rPr lang="en-US" sz="1400" dirty="0">
                <a:solidFill>
                  <a:srgbClr val="2B3242"/>
                </a:solidFill>
                <a:latin typeface="Pretendard" pitchFamily="34" charset="0"/>
                <a:ea typeface="Pretendard" pitchFamily="34" charset="-122"/>
                <a:cs typeface="Pretendard" pitchFamily="34" charset="-120"/>
              </a:rPr>
              <a:t>① ~ ④ 완료, ⑤는 사람의 최종 승인 남음</a:t>
            </a:r>
            <a:endParaRPr lang="en-US" sz="1400" dirty="0"/>
          </a:p>
        </p:txBody>
      </p:sp>
      <p:sp>
        <p:nvSpPr>
          <p:cNvPr id="40" name="Shape 37"/>
          <p:cNvSpPr/>
          <p:nvPr/>
        </p:nvSpPr>
        <p:spPr>
          <a:xfrm>
            <a:off x="10522001" y="3639312"/>
            <a:ext cx="3611880" cy="1316736"/>
          </a:xfrm>
          <a:prstGeom prst="roundRect">
            <a:avLst>
              <a:gd name="adj" fmla="val 4167"/>
            </a:avLst>
          </a:prstGeom>
          <a:solidFill>
            <a:srgbClr val="FFFFFF"/>
          </a:solidFill>
          <a:ln w="12700">
            <a:solidFill>
              <a:srgbClr val="D9E0EC"/>
            </a:solidFill>
            <a:prstDash val="solid"/>
          </a:ln>
        </p:spPr>
      </p:sp>
      <p:sp>
        <p:nvSpPr>
          <p:cNvPr id="41" name="Shape 38"/>
          <p:cNvSpPr/>
          <p:nvPr/>
        </p:nvSpPr>
        <p:spPr>
          <a:xfrm>
            <a:off x="10613441" y="3730752"/>
            <a:ext cx="731520" cy="292608"/>
          </a:xfrm>
          <a:prstGeom prst="roundRect">
            <a:avLst>
              <a:gd name="adj" fmla="val 25000"/>
            </a:avLst>
          </a:prstGeom>
          <a:solidFill>
            <a:srgbClr val="1E2A5C"/>
          </a:solidFill>
          <a:ln/>
        </p:spPr>
      </p:sp>
      <p:sp>
        <p:nvSpPr>
          <p:cNvPr id="42" name="Text 39"/>
          <p:cNvSpPr txBox="1"/>
          <p:nvPr/>
        </p:nvSpPr>
        <p:spPr>
          <a:xfrm>
            <a:off x="10613441" y="3730752"/>
            <a:ext cx="731520"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혜택</a:t>
            </a:r>
            <a:endParaRPr lang="en-US" sz="1400" dirty="0"/>
          </a:p>
        </p:txBody>
      </p:sp>
      <p:sp>
        <p:nvSpPr>
          <p:cNvPr id="43" name="Text 40"/>
          <p:cNvSpPr txBox="1"/>
          <p:nvPr/>
        </p:nvSpPr>
        <p:spPr>
          <a:xfrm>
            <a:off x="10631729" y="4078224"/>
            <a:ext cx="3392424" cy="822960"/>
          </a:xfrm>
          <a:prstGeom prst="rect">
            <a:avLst/>
          </a:prstGeom>
          <a:noFill/>
          <a:ln/>
        </p:spPr>
        <p:txBody>
          <a:bodyPr wrap="square" lIns="0" tIns="0" rIns="0" bIns="0" rtlCol="0" anchor="t"/>
          <a:lstStyle/>
          <a:p>
            <a:pPr algn="l" indent="0" marL="0">
              <a:buNone/>
            </a:pPr>
            <a:r>
              <a:rPr lang="en-US" sz="1400" dirty="0">
                <a:solidFill>
                  <a:srgbClr val="2B3242"/>
                </a:solidFill>
                <a:latin typeface="Pretendard" pitchFamily="34" charset="0"/>
                <a:ea typeface="Pretendard" pitchFamily="34" charset="-122"/>
                <a:cs typeface="Pretendard" pitchFamily="34" charset="-120"/>
              </a:rPr>
              <a:t>②까지. 질문을 넣자 Exclusion 3 → 25건, 후보가 거의 그대로 초안</a:t>
            </a:r>
            <a:endParaRPr lang="en-US" sz="1400" dirty="0"/>
          </a:p>
        </p:txBody>
      </p:sp>
      <p:sp>
        <p:nvSpPr>
          <p:cNvPr id="44" name="Shape 41"/>
          <p:cNvSpPr/>
          <p:nvPr/>
        </p:nvSpPr>
        <p:spPr>
          <a:xfrm>
            <a:off x="10522001" y="5065776"/>
            <a:ext cx="3611880" cy="1316736"/>
          </a:xfrm>
          <a:prstGeom prst="roundRect">
            <a:avLst>
              <a:gd name="adj" fmla="val 4167"/>
            </a:avLst>
          </a:prstGeom>
          <a:solidFill>
            <a:srgbClr val="FFFFFF"/>
          </a:solidFill>
          <a:ln w="12700">
            <a:solidFill>
              <a:srgbClr val="D9E0EC"/>
            </a:solidFill>
            <a:prstDash val="solid"/>
          </a:ln>
        </p:spPr>
      </p:sp>
      <p:sp>
        <p:nvSpPr>
          <p:cNvPr id="45" name="Shape 42"/>
          <p:cNvSpPr/>
          <p:nvPr/>
        </p:nvSpPr>
        <p:spPr>
          <a:xfrm>
            <a:off x="10613441" y="5157216"/>
            <a:ext cx="731520" cy="292608"/>
          </a:xfrm>
          <a:prstGeom prst="roundRect">
            <a:avLst>
              <a:gd name="adj" fmla="val 25000"/>
            </a:avLst>
          </a:prstGeom>
          <a:solidFill>
            <a:srgbClr val="1E2A5C"/>
          </a:solidFill>
          <a:ln/>
        </p:spPr>
      </p:sp>
      <p:sp>
        <p:nvSpPr>
          <p:cNvPr id="46" name="Text 43"/>
          <p:cNvSpPr txBox="1"/>
          <p:nvPr/>
        </p:nvSpPr>
        <p:spPr>
          <a:xfrm>
            <a:off x="10613441" y="5157216"/>
            <a:ext cx="731520" cy="292608"/>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약관</a:t>
            </a:r>
            <a:endParaRPr lang="en-US" sz="1400" dirty="0"/>
          </a:p>
        </p:txBody>
      </p:sp>
      <p:sp>
        <p:nvSpPr>
          <p:cNvPr id="47" name="Text 44"/>
          <p:cNvSpPr txBox="1"/>
          <p:nvPr/>
        </p:nvSpPr>
        <p:spPr>
          <a:xfrm>
            <a:off x="10631729" y="5504688"/>
            <a:ext cx="3392424" cy="822960"/>
          </a:xfrm>
          <a:prstGeom prst="rect">
            <a:avLst/>
          </a:prstGeom>
          <a:noFill/>
          <a:ln/>
        </p:spPr>
        <p:txBody>
          <a:bodyPr wrap="square" lIns="0" tIns="0" rIns="0" bIns="0" rtlCol="0" anchor="t"/>
          <a:lstStyle/>
          <a:p>
            <a:pPr algn="l" indent="0" marL="0">
              <a:buNone/>
            </a:pPr>
            <a:r>
              <a:rPr lang="en-US" sz="1400" dirty="0">
                <a:solidFill>
                  <a:srgbClr val="2B3242"/>
                </a:solidFill>
                <a:latin typeface="Pretendard" pitchFamily="34" charset="0"/>
                <a:ea typeface="Pretendard" pitchFamily="34" charset="-122"/>
                <a:cs typeface="Pretendard" pitchFamily="34" charset="-120"/>
              </a:rPr>
              <a:t>②까지. 이름 76%가 1건에서만 나옴 → 조항 구조 초안을 사람이 먼저</a:t>
            </a:r>
            <a:endParaRPr lang="en-US" sz="1400" dirty="0"/>
          </a:p>
        </p:txBody>
      </p:sp>
      <p:sp>
        <p:nvSpPr>
          <p:cNvPr id="48" name="Shape 45"/>
          <p:cNvSpPr/>
          <p:nvPr/>
        </p:nvSpPr>
        <p:spPr>
          <a:xfrm>
            <a:off x="509321" y="6510528"/>
            <a:ext cx="13624560" cy="658368"/>
          </a:xfrm>
          <a:prstGeom prst="roundRect">
            <a:avLst>
              <a:gd name="adj" fmla="val 11111"/>
            </a:avLst>
          </a:prstGeom>
          <a:solidFill>
            <a:srgbClr val="EEF3FA"/>
          </a:solidFill>
          <a:ln w="19050">
            <a:solidFill>
              <a:srgbClr val="2E74C6"/>
            </a:solidFill>
            <a:prstDash val="solid"/>
          </a:ln>
        </p:spPr>
      </p:sp>
      <p:sp>
        <p:nvSpPr>
          <p:cNvPr id="49" name="Shape 46"/>
          <p:cNvSpPr/>
          <p:nvPr/>
        </p:nvSpPr>
        <p:spPr>
          <a:xfrm>
            <a:off x="509321" y="6510528"/>
            <a:ext cx="82296" cy="658368"/>
          </a:xfrm>
          <a:prstGeom prst="rect">
            <a:avLst/>
          </a:prstGeom>
          <a:solidFill>
            <a:srgbClr val="2E74C6"/>
          </a:solidFill>
          <a:ln/>
        </p:spPr>
      </p:sp>
      <p:sp>
        <p:nvSpPr>
          <p:cNvPr id="50" name="Text 47"/>
          <p:cNvSpPr txBox="1"/>
          <p:nvPr/>
        </p:nvSpPr>
        <p:spPr>
          <a:xfrm>
            <a:off x="737921" y="6510528"/>
            <a:ext cx="13258800" cy="658368"/>
          </a:xfrm>
          <a:prstGeom prst="rect">
            <a:avLst/>
          </a:prstGeom>
          <a:noFill/>
          <a:ln/>
        </p:spPr>
        <p:txBody>
          <a:bodyPr wrap="square" lIns="0" tIns="0" rIns="0" bIns="0" rtlCol="0" anchor="ctr"/>
          <a:lstStyle/>
          <a:p>
            <a:pPr algn="l" indent="0" marL="0">
              <a:buNone/>
            </a:pPr>
            <a:r>
              <a:rPr lang="en-US" sz="1600" b="1" dirty="0">
                <a:solidFill>
                  <a:srgbClr val="1E2A5C"/>
                </a:solidFill>
                <a:latin typeface="Pretendard" pitchFamily="34" charset="0"/>
                <a:ea typeface="Pretendard" pitchFamily="34" charset="-122"/>
                <a:cs typeface="Pretendard" pitchFamily="34" charset="-120"/>
              </a:rPr>
              <a:t>결론: 다섯 단계는 문서와 상관없이 같고, 문서 성격에 따라 LLM 후보를 그대로 쓰는 비중과 사람 판단의 비중이 달라짐</a:t>
            </a:r>
            <a:endParaRPr lang="en-US" sz="1600" dirty="0"/>
          </a:p>
        </p:txBody>
      </p:sp>
      <p:sp>
        <p:nvSpPr>
          <p:cNvPr id="51" name="Shape 48"/>
          <p:cNvSpPr/>
          <p:nvPr/>
        </p:nvSpPr>
        <p:spPr>
          <a:xfrm>
            <a:off x="509321" y="7388352"/>
            <a:ext cx="13624560" cy="0"/>
          </a:xfrm>
          <a:prstGeom prst="line">
            <a:avLst/>
          </a:prstGeom>
          <a:noFill/>
          <a:ln w="12700">
            <a:solidFill>
              <a:srgbClr val="E9ECF3"/>
            </a:solidFill>
            <a:prstDash val="solid"/>
          </a:ln>
        </p:spPr>
      </p:sp>
      <p:sp>
        <p:nvSpPr>
          <p:cNvPr id="52" name="Text 49"/>
          <p:cNvSpPr txBox="1"/>
          <p:nvPr/>
        </p:nvSpPr>
        <p:spPr>
          <a:xfrm>
            <a:off x="509321" y="7443216"/>
            <a:ext cx="13624560" cy="292608"/>
          </a:xfrm>
          <a:prstGeom prst="rect">
            <a:avLst/>
          </a:prstGeom>
          <a:noFill/>
          <a:ln/>
        </p:spPr>
        <p:txBody>
          <a:bodyPr wrap="square" lIns="0" tIns="0" rIns="0" bIns="0" rtlCol="0" anchor="ctr"/>
          <a:lstStyle/>
          <a:p>
            <a:pPr indent="0" marL="0">
              <a:buNone/>
            </a:pPr>
            <a:r>
              <a:rPr lang="en-US" sz="1400" dirty="0">
                <a:solidFill>
                  <a:srgbClr val="7C8598"/>
                </a:solidFill>
                <a:latin typeface="Pretendard" pitchFamily="34" charset="0"/>
                <a:ea typeface="Pretendard" pitchFamily="34" charset="-122"/>
                <a:cs typeface="Pretendard" pitchFamily="34" charset="-120"/>
              </a:rPr>
              <a:t>실측: 2026-10-18, Groq openai/gpt-oss-120b, neo4j-graphrag 1.22.0, 합성 상담 이력 v3, 인덱서 세대 gen-d3v3-20261018(청크 218개 중 48개 새 임베딩)</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2026-10-18T12:54:25Z</dcterms:created>
  <dcterms:modified xsi:type="dcterms:W3CDTF">2026-10-18T12:54:25Z</dcterms:modified>
</cp:coreProperties>
</file>