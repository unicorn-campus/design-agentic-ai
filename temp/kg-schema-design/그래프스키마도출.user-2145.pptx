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662165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스키마 도출은 인덱싱 파이프라인의 단계가 아니라 설계 단계의 일임. 사람이 후보를 줄이고 이름을 정해 확정하므로 매 실행 자동으로 돌리지 않음. 확정한 GraphSchema를 파일로 두고 버전을 관리하며, 인덱싱은 그 파일을 읽어 ④ 추출의 프롬프트 안내와 가지치기에 씀. 스키마가 바뀌면 새 세대로 다시 인덱싱함. 인덱싱 줄의 KG 저장과 병합은 다른 단계임: Native는 저장기(Neo4jWriter)가 먼저 쓰고 병합기(resolver)가 DB 안에서 같은 이름 노드를 합침(SimpleKGPipeline 연결 순서 writer → resolver). 임베딩은 합쳐진 노드 설명을 벡터로 바꾸는 단계라 병합 다음에 둠. 청크 벡터는 기존 벡터DB 인덱싱의 벡터를 KG 저장 때 함께 넣어 다시 만들지 않음. 같은 카드가 어떤 청크에선 Brand, 어떤 청크에선 CardProduct로 뽑히면 병합 단계에서도 못 합침(라벨이 달라서). 실측: 로컬 gemma-4 12B로 스키마 없이 청크 2개를 추출했더니 라벨이 11종 나왔고, 카드는 Brand와 CardProduct, 요금은 Fee와 AnnualFee로 갈렸음. Native neo4j-graphrag는 스키마를 안 주면 SimpleKGPipeline이 매번 입력 글에서 스키마를 자동으로 뽑아 쓰므로(사람 검토 없음) 실행마다 달라질 수 있음 — 그래서 설계 단계에서 고정함.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①~⑤가 뼈대임: 노드 타입, 노드 속성, 관계, 관계 속성, 그리고 어느 노드에서 어느 노드로 그 관계가 갈 수 있는지를 정하는 연결 패턴. ⑥ 제약은 고유키와 필수 속성이며 UNIQUENESS, EXISTENCE, KEY 세 종류가 있음. KEY는 필수이면서 고유함. ⑦ 허용 범위는 목록 밖의 타입, 패턴, 속성을 지울지 통과시킬지이며, 목록을 주면 기본은 지움. 실행 확인(neo4j-graphrag 1.22.0): 이 코드로 만든 스키마로 가지치기를 돌리니 name이 없는 Card 노드가 MISSING_REQUIRED_PROPERTY로 지워졌음. 타입과 속성마다 description을 적으면 추출 프롬프트에 들어가 LLM이 고르는 기준이 됨. 속성의 type(STRING, INTEGER 등)은 적을 수 있지만 지금 버전의 가지치기는 값 형식을 검사하지 않으므로 금액과 날짜는 저장 전에 따로 변환함. 최대 홉 수, 결과 상한, 상충 관계 쌍은 검색과 검수에 쓰는 규칙이라 추출용 스키마에는 넣지 않음.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Neo4j 공식 관계형 → 그래프 변환 규칙과 같음: 테이블은 라벨, 행은 노드, 열은 속성, FK는 관계로 바꾸고 FK 열은 지움, 조인 테이블은 관계로 바꾸고 그 열은 관계 속성. 관계는 양 끝이 둘뿐이라 셋 이상을 묶으면 중간 노드로 풂. 판정 결과는 4가지이고 오른쪽 예시가 같은 번호임. ① 조회 대상이면 노드 타입: 이체는 FK가 2개지만 이체 자체를 찾으므로 노드. ② FK가 2개이고 업무 열이 없으면 관계로 흡수: 사용자역할 테이블은 사용자와 역할을 잇기만 하므로 노드를 만들지 않음. ③ FK 2개 + 업무 속성이면 관계 속성: 주문상품의 수량과 단가는 '포함' 관계의 속성. 상품별 판매 집계처럼 그 속성을 조회하거나 집계하면 노드로 둠. ④ FK 3개 이상이면 중간 노드: 수강신청은 학생, 과목, 학기를 함께 묶어 관계 하나로 못 담음. 조회 대상 질문을 먼저 하는 이유는 ① 이체 예: FK 개수만 보면 관계로 흡수되어 이체 자체를 찾을 수 없게 됨. 정형에서 나온 타입은 LLM 추출이 필요 없어 비용이 들지 않으므로 정형을 먼저 훑는 것이 이득임.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장의 변환 규칙은 대부분 기계적으로 적용할 수 있어서, 규칙을 프롬프트에 적어 바이브 코딩 도구에 맡김. 규칙 ②③④와 검증, 그림, 저장은 AI가 하고, 업무 판단이 필요한 규칙 ①과 이름, 최종 승인은 사람이 함. DB 카탈로그는 DB가 원래 갖고 있는 구조 설명 테이블이라 따로 만들 필요가 없음(PostgreSQL은 pg_catalog). FK 개수는 열이 아니라 제약 수로 셈: card의 product_id와 brand는 열 2개지만 FK 제약 1개임. 라벨은 Neo4j 이름 규칙에 따라 영문(Card, HAS_CARD)으로 두고, 한글 이름은 description에 넣어 그림과 LLM 안내에 씀. 한글 라벨도 동작은 하지만(실행 확인), 영문 속성 이름과 섞이지 않게 하려고 영문으로 정함. 8단계에서 수정을 요청하면 5단계부터 다시 하며, 5회가 넘으면 남은 쟁점을 정리해 멈춤. 최종 파일은 GraphSchema.save()로 저장한 뒤 from_file()로 다시 읽어 개수가 같은지 확인하고, 승인 기록을 함께 남김.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 종류와 상관없이 쓰는 절차임. ① 역량 질문은 이 스키마로 만든 그래프가 답해야 할 질문 목록이며, Ontology 101에서 범위를 정하고 나중에 충분한지 시험하는 기준으로 씀. 답이 될 타입 이름은 적지 않고 질문으로만 씀. ② neo4j-graphrag의 SchemaFromTextExtractor는 글을 받아 스키마 후보를 내고, examples 자리에 역량 질문을 넣음. 표본은 비율이 아니라 건수로 정함(드문 타입을 95% 확률로 보려면 등장률 10%면 29건). 앞서 나온 이름을 다시 쓰라는 안내를 넣으면 이름은 모이지만 새 개념이 막혀서 이 단계에서는 넣지 않음. ③ 사람이 합치기, 빼기, 보태기로 뼈대를 정함. 드문 이름을 빈도로 거르면 핵심 개념이 버려지므로 질문 기준으로 살림. 타입 설명(description)이 추출 품질을 크게 좌우하므로 무엇이 아닌지까지 좁게 씀. LLM이 제안하는 제약은 자주 충돌하므로 사람이 정함. ④ LLMEntityRelationExtractor에 뼈대를 schema로 주고 GraphPruning으로 정리한 뒤, 정답표나 역량 질문의 답이 채워지는지 셈. 잘못 뽑기가 많으면 설명을 고쳐 다시 함. ⑤ GraphSchema.save()로 파일을 고정하고 인덱싱은 그 파일만 읽음. 화면으로 하려면 Neo4j LLM Graph Builder의 Get Schema From Text가 ②에 해당함.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시스템의 상담 이력(합성 48건) 사례임. 같은 표본 30건, 같은 순서로 방법만 바꿨음. 1건씩 따로 뽑으면 같은 뜻을 다른 이름으로 계속 만들어 노드 타입 이름이 45개까지 흩어졌고, 앞서 나온 이름을 다시 쓰라고 하면 14개로 모였지만 업무 핵심 개념은 하나도 나오지 않았음. 상담 원문에 불만 원인, 제안, 수용과 거절, 재검토 조건 문장을 넣는 것(원문 보강)만으로도 나오지 않았음. 역량 질문과 이름 다시 쓰기를 함께 쓰면 불만(Issue)만 26건 나왔고, 역량 질문만 넣으면 네 개념이 모두 나왔지만 각각 30건 중 1 ~ 5건뿐이었음. 그래서 빈도로 거르면 모두 버려짐. 사람이 질문 기준으로 이름을 합치고(Issue와 Complaint), 원천이 따로 있는 것을 빼고(거래 집계는 RDB, 고객 이름과 이메일은 가명처리 대상), 근거가 약한 응답 속성과 관계는 보태서 오른쪽 뼈대를 만들었음.</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확정한 상담 뼈대로 48건 전체를 LLMEntityRelationExtractor와 GraphPruning으로 실제 추출하고 강사용 정답표와 비교한 결과임. v1은 Complaint 설명이 '고객이 말한 불만과 그 원인'이라 일반 문의 고객의 문의 목적이나 사정(이사, 영수증 필요)까지 불만으로 뽑아 24건 중 22건이 잘못 뽑혔음. v2에서 '분명히 말한 불만이나 불편만, 문의 목적과 개인 사정은 아님'으로 좁히자 4건으로 줄었음. Proposal도 '확인해 드릴게요' 같은 절차 안내를 빼라고 하자 제안 노드가 87개에서 56개로 줄고 응답 일치가 올랐음. 오른쪽은 같은 절차를 문서 종류별로 해 본 결과임. 혜택 안내는 이름이 빨리 모이고 역량 질문(제외 대상)으로 Exclusion이 핵심 타입이 되어 넓게 뽑은 후보가 거의 뼈대가 됨. 상담은 사람이 보태야 하고, 약관은 청크마다 조항이 달라 이름이 흩어져 조항 구조를 사람이 먼저 그리는 쪽이 맞음. 절차는 같고 문서 성격에 따라 LLM 후보와 사람 설계의 비중이 다름.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txBody>
          <a:bodyPr/>
          <a:lstStyle/>
          <a:p>
            <a:endParaRPr lang="ko-KR" altLang="en-US"/>
          </a:p>
        </p:txBody>
      </p:sp>
      <p:sp>
        <p:nvSpPr>
          <p:cNvPr id="3" name="Text 1"/>
          <p:cNvSpPr/>
          <p:nvPr/>
        </p:nvSpPr>
        <p:spPr>
          <a:xfrm>
            <a:off x="445770" y="7787945"/>
            <a:ext cx="1531620" cy="246888"/>
          </a:xfrm>
          <a:prstGeom prst="rect">
            <a:avLst/>
          </a:prstGeom>
          <a:noFill/>
          <a:ln/>
        </p:spPr>
        <p:txBody>
          <a:bodyPr wrap="square" lIns="0" tIns="0" rIns="0" bIns="0" rtlCol="0" anchor="ctr"/>
          <a:lstStyle/>
          <a:p>
            <a:pPr marL="0" indent="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a:spLocks noGrp="1"/>
          </p:cNvSpPr>
          <p:nvPr>
            <p:ph type="title"/>
          </p:nvPr>
        </p:nvSpPr>
        <p:spPr>
          <a:xfrm>
            <a:off x="509321" y="99670"/>
            <a:ext cx="13738860" cy="828446"/>
          </a:xfrm>
          <a:prstGeom prst="rect">
            <a:avLst/>
          </a:prstGeom>
          <a:noFill/>
          <a:ln/>
        </p:spPr>
        <p:txBody>
          <a:bodyPr wrap="square" rtlCol="0"/>
          <a:lstStyle>
            <a:lvl1pPr marL="0" indent="0" algn="l">
              <a:buNone/>
              <a:defRPr lang="en-US" sz="3200" b="1" dirty="0">
                <a:solidFill>
                  <a:srgbClr val="2C2926"/>
                </a:solidFill>
                <a:latin typeface="Pretendard" pitchFamily="34" charset="0"/>
                <a:ea typeface="Pretendard" pitchFamily="34" charset="-122"/>
                <a:cs typeface="Pretendard" pitchFamily="34" charset="-120"/>
              </a:defRPr>
            </a:lvl1pPr>
          </a:lstStyle>
          <a:p>
            <a:pPr marL="0" indent="0" algn="l">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neo4j.com/docs/neo4j-graphrag-python/current/user_guide_kg_builder.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journals.plos.org/plosone/article?id=10.1371/journal.pone.0232076" TargetMode="External"/><Relationship Id="rId5" Type="http://schemas.openxmlformats.org/officeDocument/2006/relationships/hyperlink" Target="https://protege.stanford.edu/publications/ontology_development/ontology101-noy-mcguinness.html" TargetMode="External"/><Relationship Id="rId4" Type="http://schemas.openxmlformats.org/officeDocument/2006/relationships/hyperlink" Target="https://neo4j.com/labs/genai-ecosystem/llm-graph-builder-features/"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노드 타입과 관계는 추출 전에 먼저 정함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스키마는 추출 결과가 아니라 추출기에 주는 허용 목록 — 먼저 정하지 않으면 같은 개념이 여러 라벨로 쪼개짐</a:t>
            </a:r>
            <a:endParaRPr lang="en-US" sz="1800" dirty="0"/>
          </a:p>
        </p:txBody>
      </p:sp>
      <p:sp>
        <p:nvSpPr>
          <p:cNvPr id="5" name="Shape 2"/>
          <p:cNvSpPr/>
          <p:nvPr/>
        </p:nvSpPr>
        <p:spPr>
          <a:xfrm>
            <a:off x="509321" y="1700784"/>
            <a:ext cx="1783080" cy="457200"/>
          </a:xfrm>
          <a:prstGeom prst="roundRect">
            <a:avLst>
              <a:gd name="adj" fmla="val 12000"/>
            </a:avLst>
          </a:prstGeom>
          <a:solidFill>
            <a:srgbClr val="2E74C6"/>
          </a:solidFill>
          <a:ln/>
        </p:spPr>
        <p:txBody>
          <a:bodyPr/>
          <a:lstStyle/>
          <a:p>
            <a:endParaRPr lang="ko-KR" altLang="en-US"/>
          </a:p>
        </p:txBody>
      </p:sp>
      <p:sp>
        <p:nvSpPr>
          <p:cNvPr id="6" name="Text 3"/>
          <p:cNvSpPr txBox="1"/>
          <p:nvPr/>
        </p:nvSpPr>
        <p:spPr>
          <a:xfrm>
            <a:off x="509321" y="170078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설계 시(사전 1회)</a:t>
            </a:r>
            <a:endParaRPr lang="en-US" sz="1400" dirty="0"/>
          </a:p>
        </p:txBody>
      </p:sp>
      <p:sp>
        <p:nvSpPr>
          <p:cNvPr id="7" name="Shape 4"/>
          <p:cNvSpPr/>
          <p:nvPr/>
        </p:nvSpPr>
        <p:spPr>
          <a:xfrm>
            <a:off x="509321" y="2432304"/>
            <a:ext cx="1783080" cy="457200"/>
          </a:xfrm>
          <a:prstGeom prst="roundRect">
            <a:avLst>
              <a:gd name="adj" fmla="val 12000"/>
            </a:avLst>
          </a:prstGeom>
          <a:solidFill>
            <a:srgbClr val="1E2A5C"/>
          </a:solidFill>
          <a:ln/>
        </p:spPr>
        <p:txBody>
          <a:bodyPr/>
          <a:lstStyle/>
          <a:p>
            <a:endParaRPr lang="ko-KR" altLang="en-US"/>
          </a:p>
        </p:txBody>
      </p:sp>
      <p:sp>
        <p:nvSpPr>
          <p:cNvPr id="8" name="Text 5"/>
          <p:cNvSpPr txBox="1"/>
          <p:nvPr/>
        </p:nvSpPr>
        <p:spPr>
          <a:xfrm>
            <a:off x="509321" y="243230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인덱싱 시(매 실행)</a:t>
            </a:r>
            <a:endParaRPr lang="en-US" sz="1400" dirty="0"/>
          </a:p>
        </p:txBody>
      </p:sp>
      <p:sp>
        <p:nvSpPr>
          <p:cNvPr id="9" name="Shape 6"/>
          <p:cNvSpPr/>
          <p:nvPr/>
        </p:nvSpPr>
        <p:spPr>
          <a:xfrm>
            <a:off x="2402129"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0" name="Text 7"/>
          <p:cNvSpPr txBox="1"/>
          <p:nvPr/>
        </p:nvSpPr>
        <p:spPr>
          <a:xfrm>
            <a:off x="240212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원천 분석</a:t>
            </a:r>
            <a:endParaRPr lang="en-US" sz="1400" dirty="0"/>
          </a:p>
        </p:txBody>
      </p:sp>
      <p:sp>
        <p:nvSpPr>
          <p:cNvPr id="11" name="Shape 8"/>
          <p:cNvSpPr/>
          <p:nvPr/>
        </p:nvSpPr>
        <p:spPr>
          <a:xfrm>
            <a:off x="372000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2" name="Shape 9"/>
          <p:cNvSpPr/>
          <p:nvPr/>
        </p:nvSpPr>
        <p:spPr>
          <a:xfrm>
            <a:off x="3893744"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3" name="Text 10"/>
          <p:cNvSpPr txBox="1"/>
          <p:nvPr/>
        </p:nvSpPr>
        <p:spPr>
          <a:xfrm>
            <a:off x="3893744"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후보 도출</a:t>
            </a:r>
            <a:endParaRPr lang="en-US" sz="1400" dirty="0"/>
          </a:p>
        </p:txBody>
      </p:sp>
      <p:sp>
        <p:nvSpPr>
          <p:cNvPr id="14" name="Shape 11"/>
          <p:cNvSpPr/>
          <p:nvPr/>
        </p:nvSpPr>
        <p:spPr>
          <a:xfrm>
            <a:off x="5211623"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5" name="Shape 12"/>
          <p:cNvSpPr/>
          <p:nvPr/>
        </p:nvSpPr>
        <p:spPr>
          <a:xfrm>
            <a:off x="5385359" y="1700784"/>
            <a:ext cx="1290447" cy="457200"/>
          </a:xfrm>
          <a:prstGeom prst="roundRect">
            <a:avLst>
              <a:gd name="adj" fmla="val 16000"/>
            </a:avLst>
          </a:prstGeom>
          <a:solidFill>
            <a:srgbClr val="2E74C6"/>
          </a:solidFill>
          <a:ln/>
        </p:spPr>
        <p:txBody>
          <a:bodyPr/>
          <a:lstStyle/>
          <a:p>
            <a:endParaRPr lang="ko-KR" altLang="en-US"/>
          </a:p>
        </p:txBody>
      </p:sp>
      <p:sp>
        <p:nvSpPr>
          <p:cNvPr id="16" name="Text 13"/>
          <p:cNvSpPr txBox="1"/>
          <p:nvPr/>
        </p:nvSpPr>
        <p:spPr>
          <a:xfrm>
            <a:off x="538535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3단계 확정</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17" name="Shape 14"/>
          <p:cNvSpPr/>
          <p:nvPr/>
        </p:nvSpPr>
        <p:spPr>
          <a:xfrm>
            <a:off x="670323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8" name="Shape 15"/>
          <p:cNvSpPr/>
          <p:nvPr/>
        </p:nvSpPr>
        <p:spPr>
          <a:xfrm>
            <a:off x="6876974" y="1700784"/>
            <a:ext cx="2782062" cy="457200"/>
          </a:xfrm>
          <a:prstGeom prst="roundRect">
            <a:avLst>
              <a:gd name="adj" fmla="val 16000"/>
            </a:avLst>
          </a:prstGeom>
          <a:solidFill>
            <a:srgbClr val="EEF3FA"/>
          </a:solidFill>
          <a:ln w="25400">
            <a:solidFill>
              <a:srgbClr val="2E74C6"/>
            </a:solidFill>
            <a:prstDash val="solid"/>
          </a:ln>
        </p:spPr>
        <p:txBody>
          <a:bodyPr/>
          <a:lstStyle/>
          <a:p>
            <a:endParaRPr lang="ko-KR" altLang="en-US"/>
          </a:p>
        </p:txBody>
      </p:sp>
      <p:sp>
        <p:nvSpPr>
          <p:cNvPr id="19" name="Text 16"/>
          <p:cNvSpPr txBox="1"/>
          <p:nvPr/>
        </p:nvSpPr>
        <p:spPr>
          <a:xfrm>
            <a:off x="6876974" y="1700784"/>
            <a:ext cx="2782062" cy="457200"/>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 파일</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(버전 관리)</a:t>
            </a:r>
            <a:endParaRPr lang="en-US" sz="1400" dirty="0"/>
          </a:p>
        </p:txBody>
      </p:sp>
      <p:sp>
        <p:nvSpPr>
          <p:cNvPr id="20" name="Text 17"/>
          <p:cNvSpPr txBox="1"/>
          <p:nvPr/>
        </p:nvSpPr>
        <p:spPr>
          <a:xfrm>
            <a:off x="9951644" y="1664208"/>
            <a:ext cx="4182237" cy="53035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인덱싱은 읽기만 함</a:t>
            </a:r>
            <a:endParaRPr lang="en-US" sz="1400" dirty="0"/>
          </a:p>
          <a:p>
            <a:pPr marL="0" indent="0" algn="l">
              <a:buNone/>
            </a:pPr>
            <a:r>
              <a:rPr lang="en-US" sz="1400" b="1" dirty="0">
                <a:solidFill>
                  <a:srgbClr val="2E74C6"/>
                </a:solidFill>
                <a:latin typeface="Pretendard" pitchFamily="34" charset="0"/>
                <a:ea typeface="Pretendard" pitchFamily="34" charset="-122"/>
                <a:cs typeface="Pretendard" pitchFamily="34" charset="-120"/>
              </a:rPr>
              <a:t>바뀌면 새 세대로 재인덱싱</a:t>
            </a:r>
            <a:endParaRPr lang="en-US" sz="1400" dirty="0"/>
          </a:p>
        </p:txBody>
      </p:sp>
      <p:sp>
        <p:nvSpPr>
          <p:cNvPr id="21" name="Shape 18"/>
          <p:cNvSpPr/>
          <p:nvPr/>
        </p:nvSpPr>
        <p:spPr>
          <a:xfrm>
            <a:off x="240212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2" name="Text 19"/>
          <p:cNvSpPr txBox="1"/>
          <p:nvPr/>
        </p:nvSpPr>
        <p:spPr>
          <a:xfrm>
            <a:off x="240212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로드</a:t>
            </a:r>
            <a:endParaRPr lang="en-US" sz="1400" dirty="0"/>
          </a:p>
        </p:txBody>
      </p:sp>
      <p:sp>
        <p:nvSpPr>
          <p:cNvPr id="23" name="Shape 20"/>
          <p:cNvSpPr/>
          <p:nvPr/>
        </p:nvSpPr>
        <p:spPr>
          <a:xfrm>
            <a:off x="372000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4" name="Shape 21"/>
          <p:cNvSpPr/>
          <p:nvPr/>
        </p:nvSpPr>
        <p:spPr>
          <a:xfrm>
            <a:off x="389374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5" name="Text 22"/>
          <p:cNvSpPr txBox="1"/>
          <p:nvPr/>
        </p:nvSpPr>
        <p:spPr>
          <a:xfrm>
            <a:off x="389374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정제와</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가명처리</a:t>
            </a:r>
            <a:endParaRPr lang="en-US" sz="1400" dirty="0"/>
          </a:p>
        </p:txBody>
      </p:sp>
      <p:sp>
        <p:nvSpPr>
          <p:cNvPr id="26" name="Shape 23"/>
          <p:cNvSpPr/>
          <p:nvPr/>
        </p:nvSpPr>
        <p:spPr>
          <a:xfrm>
            <a:off x="521162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7" name="Shape 24"/>
          <p:cNvSpPr/>
          <p:nvPr/>
        </p:nvSpPr>
        <p:spPr>
          <a:xfrm>
            <a:off x="538535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8" name="Text 25"/>
          <p:cNvSpPr txBox="1"/>
          <p:nvPr/>
        </p:nvSpPr>
        <p:spPr>
          <a:xfrm>
            <a:off x="538535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③ 청킹</a:t>
            </a:r>
            <a:endParaRPr lang="en-US" sz="1400" dirty="0"/>
          </a:p>
        </p:txBody>
      </p:sp>
      <p:sp>
        <p:nvSpPr>
          <p:cNvPr id="29" name="Shape 26"/>
          <p:cNvSpPr/>
          <p:nvPr/>
        </p:nvSpPr>
        <p:spPr>
          <a:xfrm>
            <a:off x="670323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0" name="Shape 27"/>
          <p:cNvSpPr/>
          <p:nvPr/>
        </p:nvSpPr>
        <p:spPr>
          <a:xfrm>
            <a:off x="6876974" y="2432304"/>
            <a:ext cx="1290447" cy="457200"/>
          </a:xfrm>
          <a:prstGeom prst="roundRect">
            <a:avLst>
              <a:gd name="adj" fmla="val 16000"/>
            </a:avLst>
          </a:prstGeom>
          <a:solidFill>
            <a:srgbClr val="1E2A5C"/>
          </a:solidFill>
          <a:ln/>
        </p:spPr>
        <p:txBody>
          <a:bodyPr/>
          <a:lstStyle/>
          <a:p>
            <a:endParaRPr lang="ko-KR" altLang="en-US"/>
          </a:p>
        </p:txBody>
      </p:sp>
      <p:sp>
        <p:nvSpPr>
          <p:cNvPr id="31" name="Text 28"/>
          <p:cNvSpPr txBox="1"/>
          <p:nvPr/>
        </p:nvSpPr>
        <p:spPr>
          <a:xfrm>
            <a:off x="687697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2" name="Shape 29"/>
          <p:cNvSpPr/>
          <p:nvPr/>
        </p:nvSpPr>
        <p:spPr>
          <a:xfrm>
            <a:off x="819485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3" name="Shape 30"/>
          <p:cNvSpPr/>
          <p:nvPr/>
        </p:nvSpPr>
        <p:spPr>
          <a:xfrm>
            <a:off x="8368589" y="2432304"/>
            <a:ext cx="1290447" cy="457200"/>
          </a:xfrm>
          <a:prstGeom prst="roundRect">
            <a:avLst>
              <a:gd name="adj" fmla="val 16000"/>
            </a:avLst>
          </a:prstGeom>
          <a:solidFill>
            <a:srgbClr val="1E2A5C"/>
          </a:solidFill>
          <a:ln/>
        </p:spPr>
        <p:txBody>
          <a:bodyPr/>
          <a:lstStyle/>
          <a:p>
            <a:endParaRPr lang="ko-KR" altLang="en-US"/>
          </a:p>
        </p:txBody>
      </p:sp>
      <p:sp>
        <p:nvSpPr>
          <p:cNvPr id="34" name="Text 31"/>
          <p:cNvSpPr txBox="1"/>
          <p:nvPr/>
        </p:nvSpPr>
        <p:spPr>
          <a:xfrm>
            <a:off x="836858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(Pruning)</a:t>
            </a:r>
            <a:endParaRPr lang="en-US" sz="1400" dirty="0"/>
          </a:p>
        </p:txBody>
      </p:sp>
      <p:sp>
        <p:nvSpPr>
          <p:cNvPr id="35" name="Shape 32"/>
          <p:cNvSpPr/>
          <p:nvPr/>
        </p:nvSpPr>
        <p:spPr>
          <a:xfrm>
            <a:off x="968646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6" name="Shape 33"/>
          <p:cNvSpPr/>
          <p:nvPr/>
        </p:nvSpPr>
        <p:spPr>
          <a:xfrm>
            <a:off x="986020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37" name="Text 34"/>
          <p:cNvSpPr txBox="1"/>
          <p:nvPr/>
        </p:nvSpPr>
        <p:spPr>
          <a:xfrm>
            <a:off x="986020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KG 저장</a:t>
            </a:r>
            <a:endParaRPr lang="en-US" sz="1400" dirty="0"/>
          </a:p>
        </p:txBody>
      </p:sp>
      <p:sp>
        <p:nvSpPr>
          <p:cNvPr id="38" name="Shape 35"/>
          <p:cNvSpPr/>
          <p:nvPr/>
        </p:nvSpPr>
        <p:spPr>
          <a:xfrm>
            <a:off x="1117808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9" name="Shape 36"/>
          <p:cNvSpPr/>
          <p:nvPr/>
        </p:nvSpPr>
        <p:spPr>
          <a:xfrm>
            <a:off x="1135181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0" name="Text 37"/>
          <p:cNvSpPr txBox="1"/>
          <p:nvPr/>
        </p:nvSpPr>
        <p:spPr>
          <a:xfrm>
            <a:off x="1135181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병합</a:t>
            </a:r>
            <a:endParaRPr lang="en-US" sz="1400" dirty="0"/>
          </a:p>
        </p:txBody>
      </p:sp>
      <p:sp>
        <p:nvSpPr>
          <p:cNvPr id="41" name="Shape 38"/>
          <p:cNvSpPr/>
          <p:nvPr/>
        </p:nvSpPr>
        <p:spPr>
          <a:xfrm>
            <a:off x="1266969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42" name="Shape 39"/>
          <p:cNvSpPr/>
          <p:nvPr/>
        </p:nvSpPr>
        <p:spPr>
          <a:xfrm>
            <a:off x="1284343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3" name="Text 40"/>
          <p:cNvSpPr txBox="1"/>
          <p:nvPr/>
        </p:nvSpPr>
        <p:spPr>
          <a:xfrm>
            <a:off x="1284343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임베딩</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(노드 설명)</a:t>
            </a:r>
            <a:endParaRPr lang="en-US" sz="1400" dirty="0"/>
          </a:p>
        </p:txBody>
      </p:sp>
      <p:sp>
        <p:nvSpPr>
          <p:cNvPr id="44" name="Shape 41"/>
          <p:cNvSpPr/>
          <p:nvPr/>
        </p:nvSpPr>
        <p:spPr>
          <a:xfrm>
            <a:off x="7522197" y="2176272"/>
            <a:ext cx="0" cy="237744"/>
          </a:xfrm>
          <a:prstGeom prst="line">
            <a:avLst/>
          </a:prstGeom>
          <a:noFill/>
          <a:ln w="22225">
            <a:solidFill>
              <a:srgbClr val="2E74C6"/>
            </a:solidFill>
            <a:prstDash val="dash"/>
            <a:tailEnd type="triangle"/>
          </a:ln>
        </p:spPr>
        <p:txBody>
          <a:bodyPr/>
          <a:lstStyle/>
          <a:p>
            <a:endParaRPr lang="ko-KR" altLang="en-US"/>
          </a:p>
        </p:txBody>
      </p:sp>
      <p:sp>
        <p:nvSpPr>
          <p:cNvPr id="45" name="Shape 42"/>
          <p:cNvSpPr/>
          <p:nvPr/>
        </p:nvSpPr>
        <p:spPr>
          <a:xfrm>
            <a:off x="9013812" y="2176272"/>
            <a:ext cx="0" cy="237744"/>
          </a:xfrm>
          <a:prstGeom prst="line">
            <a:avLst/>
          </a:prstGeom>
          <a:noFill/>
          <a:ln w="22225">
            <a:solidFill>
              <a:srgbClr val="2E74C6"/>
            </a:solidFill>
            <a:prstDash val="dash"/>
            <a:tailEnd type="triangle"/>
          </a:ln>
        </p:spPr>
        <p:txBody>
          <a:bodyPr/>
          <a:lstStyle/>
          <a:p>
            <a:endParaRPr lang="ko-KR" altLang="en-US"/>
          </a:p>
        </p:txBody>
      </p:sp>
      <p:sp>
        <p:nvSpPr>
          <p:cNvPr id="46" name="Text 43"/>
          <p:cNvSpPr txBox="1"/>
          <p:nvPr/>
        </p:nvSpPr>
        <p:spPr>
          <a:xfrm>
            <a:off x="7595349" y="2167128"/>
            <a:ext cx="9144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읽어 씀</a:t>
            </a:r>
            <a:endParaRPr lang="en-US" sz="1400" dirty="0"/>
          </a:p>
        </p:txBody>
      </p:sp>
      <p:sp>
        <p:nvSpPr>
          <p:cNvPr id="47" name="Shape 44"/>
          <p:cNvSpPr/>
          <p:nvPr/>
        </p:nvSpPr>
        <p:spPr>
          <a:xfrm>
            <a:off x="509321" y="3017520"/>
            <a:ext cx="658368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509321" y="3017520"/>
            <a:ext cx="65836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 없이 추출하면 (실측)</a:t>
            </a:r>
            <a:endParaRPr lang="en-US" sz="1600" dirty="0"/>
          </a:p>
        </p:txBody>
      </p:sp>
      <p:sp>
        <p:nvSpPr>
          <p:cNvPr id="49" name="Shape 46"/>
          <p:cNvSpPr/>
          <p:nvPr/>
        </p:nvSpPr>
        <p:spPr>
          <a:xfrm>
            <a:off x="509321" y="3438144"/>
            <a:ext cx="6583680" cy="3072384"/>
          </a:xfrm>
          <a:prstGeom prst="roundRect">
            <a:avLst>
              <a:gd name="adj" fmla="val 2381"/>
            </a:avLst>
          </a:prstGeom>
          <a:solidFill>
            <a:srgbClr val="FFFFFF"/>
          </a:solidFill>
          <a:ln w="12700">
            <a:solidFill>
              <a:srgbClr val="D9E0EC"/>
            </a:solidFill>
            <a:prstDash val="solid"/>
          </a:ln>
        </p:spPr>
        <p:txBody>
          <a:bodyPr/>
          <a:lstStyle/>
          <a:p>
            <a:endParaRPr lang="ko-KR" altLang="en-US"/>
          </a:p>
        </p:txBody>
      </p:sp>
      <p:sp>
        <p:nvSpPr>
          <p:cNvPr id="50" name="Text 47"/>
          <p:cNvSpPr txBox="1"/>
          <p:nvPr/>
        </p:nvSpPr>
        <p:spPr>
          <a:xfrm>
            <a:off x="692201" y="3511296"/>
            <a:ext cx="6217920" cy="310896"/>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로컬 gemma-4 12B로 청크 2개를 스키마 없이 추출 → 라벨 11종</a:t>
            </a:r>
            <a:endParaRPr lang="en-US" sz="1500" dirty="0"/>
          </a:p>
        </p:txBody>
      </p:sp>
      <p:sp>
        <p:nvSpPr>
          <p:cNvPr id="51" name="Shape 48"/>
          <p:cNvSpPr/>
          <p:nvPr/>
        </p:nvSpPr>
        <p:spPr>
          <a:xfrm>
            <a:off x="692201" y="3895344"/>
            <a:ext cx="1143000" cy="329184"/>
          </a:xfrm>
          <a:prstGeom prst="roundRect">
            <a:avLst>
              <a:gd name="adj" fmla="val 45000"/>
            </a:avLst>
          </a:prstGeom>
          <a:solidFill>
            <a:srgbClr val="2E74C6"/>
          </a:solidFill>
          <a:ln/>
        </p:spPr>
        <p:txBody>
          <a:bodyPr/>
          <a:lstStyle/>
          <a:p>
            <a:endParaRPr lang="ko-KR" altLang="en-US"/>
          </a:p>
        </p:txBody>
      </p:sp>
      <p:sp>
        <p:nvSpPr>
          <p:cNvPr id="52" name="Text 49"/>
          <p:cNvSpPr txBox="1"/>
          <p:nvPr/>
        </p:nvSpPr>
        <p:spPr>
          <a:xfrm>
            <a:off x="692201" y="3895344"/>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Brand</a:t>
            </a:r>
            <a:endParaRPr lang="en-US" sz="1400" dirty="0"/>
          </a:p>
        </p:txBody>
      </p:sp>
      <p:sp>
        <p:nvSpPr>
          <p:cNvPr id="53" name="Shape 50"/>
          <p:cNvSpPr/>
          <p:nvPr/>
        </p:nvSpPr>
        <p:spPr>
          <a:xfrm>
            <a:off x="1926641" y="3895344"/>
            <a:ext cx="1508760"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1926641" y="3895344"/>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CardProduct</a:t>
            </a:r>
            <a:endParaRPr lang="en-US" sz="1400" dirty="0"/>
          </a:p>
        </p:txBody>
      </p:sp>
      <p:sp>
        <p:nvSpPr>
          <p:cNvPr id="55" name="Text 52"/>
          <p:cNvSpPr txBox="1"/>
          <p:nvPr/>
        </p:nvSpPr>
        <p:spPr>
          <a:xfrm>
            <a:off x="3572561" y="3895344"/>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카드 하나가 라벨 2개로</a:t>
            </a:r>
            <a:endParaRPr lang="en-US" sz="1500" dirty="0"/>
          </a:p>
        </p:txBody>
      </p:sp>
      <p:sp>
        <p:nvSpPr>
          <p:cNvPr id="56" name="Shape 53"/>
          <p:cNvSpPr/>
          <p:nvPr/>
        </p:nvSpPr>
        <p:spPr>
          <a:xfrm>
            <a:off x="692201" y="4297680"/>
            <a:ext cx="1143000" cy="329184"/>
          </a:xfrm>
          <a:prstGeom prst="roundRect">
            <a:avLst>
              <a:gd name="adj" fmla="val 45000"/>
            </a:avLst>
          </a:prstGeom>
          <a:solidFill>
            <a:srgbClr val="2E74C6"/>
          </a:solidFill>
          <a:ln/>
        </p:spPr>
        <p:txBody>
          <a:bodyPr/>
          <a:lstStyle/>
          <a:p>
            <a:endParaRPr lang="ko-KR" altLang="en-US"/>
          </a:p>
        </p:txBody>
      </p:sp>
      <p:sp>
        <p:nvSpPr>
          <p:cNvPr id="57" name="Text 54"/>
          <p:cNvSpPr txBox="1"/>
          <p:nvPr/>
        </p:nvSpPr>
        <p:spPr>
          <a:xfrm>
            <a:off x="692201" y="4297680"/>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Fee</a:t>
            </a:r>
            <a:endParaRPr lang="en-US" sz="1400" dirty="0"/>
          </a:p>
        </p:txBody>
      </p:sp>
      <p:sp>
        <p:nvSpPr>
          <p:cNvPr id="58" name="Shape 55"/>
          <p:cNvSpPr/>
          <p:nvPr/>
        </p:nvSpPr>
        <p:spPr>
          <a:xfrm>
            <a:off x="1926641" y="4297680"/>
            <a:ext cx="1508760" cy="329184"/>
          </a:xfrm>
          <a:prstGeom prst="roundRect">
            <a:avLst>
              <a:gd name="adj" fmla="val 45000"/>
            </a:avLst>
          </a:prstGeom>
          <a:solidFill>
            <a:srgbClr val="2E74C6"/>
          </a:solidFill>
          <a:ln/>
        </p:spPr>
        <p:txBody>
          <a:bodyPr/>
          <a:lstStyle/>
          <a:p>
            <a:endParaRPr lang="ko-KR" altLang="en-US"/>
          </a:p>
        </p:txBody>
      </p:sp>
      <p:sp>
        <p:nvSpPr>
          <p:cNvPr id="59" name="Text 56"/>
          <p:cNvSpPr txBox="1"/>
          <p:nvPr/>
        </p:nvSpPr>
        <p:spPr>
          <a:xfrm>
            <a:off x="1926641" y="4297680"/>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AnnualFee</a:t>
            </a:r>
            <a:endParaRPr lang="en-US" sz="1400" dirty="0"/>
          </a:p>
        </p:txBody>
      </p:sp>
      <p:sp>
        <p:nvSpPr>
          <p:cNvPr id="60" name="Text 57"/>
          <p:cNvSpPr txBox="1"/>
          <p:nvPr/>
        </p:nvSpPr>
        <p:spPr>
          <a:xfrm>
            <a:off x="3572561" y="4297680"/>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요금도 라벨 2개로</a:t>
            </a:r>
            <a:endParaRPr lang="en-US" sz="1500" dirty="0"/>
          </a:p>
        </p:txBody>
      </p:sp>
      <p:sp>
        <p:nvSpPr>
          <p:cNvPr id="61" name="Shape 58"/>
          <p:cNvSpPr/>
          <p:nvPr/>
        </p:nvSpPr>
        <p:spPr>
          <a:xfrm>
            <a:off x="69220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2" name="Text 59"/>
          <p:cNvSpPr txBox="1"/>
          <p:nvPr/>
        </p:nvSpPr>
        <p:spPr>
          <a:xfrm>
            <a:off x="69220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Channel</a:t>
            </a:r>
            <a:endParaRPr lang="en-US" sz="1400" dirty="0"/>
          </a:p>
        </p:txBody>
      </p:sp>
      <p:sp>
        <p:nvSpPr>
          <p:cNvPr id="63" name="Shape 60"/>
          <p:cNvSpPr/>
          <p:nvPr/>
        </p:nvSpPr>
        <p:spPr>
          <a:xfrm>
            <a:off x="1926641" y="4718304"/>
            <a:ext cx="1097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4" name="Text 61"/>
          <p:cNvSpPr txBox="1"/>
          <p:nvPr/>
        </p:nvSpPr>
        <p:spPr>
          <a:xfrm>
            <a:off x="1926641" y="4718304"/>
            <a:ext cx="1097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65" name="Shape 62"/>
          <p:cNvSpPr/>
          <p:nvPr/>
        </p:nvSpPr>
        <p:spPr>
          <a:xfrm>
            <a:off x="311536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6" name="Text 63"/>
          <p:cNvSpPr txBox="1"/>
          <p:nvPr/>
        </p:nvSpPr>
        <p:spPr>
          <a:xfrm>
            <a:off x="311536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Guardian</a:t>
            </a:r>
            <a:endParaRPr lang="en-US" sz="1400" dirty="0"/>
          </a:p>
        </p:txBody>
      </p:sp>
      <p:sp>
        <p:nvSpPr>
          <p:cNvPr id="67" name="Shape 64"/>
          <p:cNvSpPr/>
          <p:nvPr/>
        </p:nvSpPr>
        <p:spPr>
          <a:xfrm>
            <a:off x="4349801" y="4718304"/>
            <a:ext cx="9144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8" name="Text 65"/>
          <p:cNvSpPr txBox="1"/>
          <p:nvPr/>
        </p:nvSpPr>
        <p:spPr>
          <a:xfrm>
            <a:off x="4349801" y="4718304"/>
            <a:ext cx="9144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Grade</a:t>
            </a:r>
            <a:endParaRPr lang="en-US" sz="1400" dirty="0"/>
          </a:p>
        </p:txBody>
      </p:sp>
      <p:sp>
        <p:nvSpPr>
          <p:cNvPr id="69" name="Shape 66"/>
          <p:cNvSpPr/>
          <p:nvPr/>
        </p:nvSpPr>
        <p:spPr>
          <a:xfrm>
            <a:off x="5355641" y="4718304"/>
            <a:ext cx="82296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0" name="Text 67"/>
          <p:cNvSpPr txBox="1"/>
          <p:nvPr/>
        </p:nvSpPr>
        <p:spPr>
          <a:xfrm>
            <a:off x="5355641" y="4718304"/>
            <a:ext cx="82296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Date</a:t>
            </a:r>
            <a:endParaRPr lang="en-US" sz="1400" dirty="0"/>
          </a:p>
        </p:txBody>
      </p:sp>
      <p:sp>
        <p:nvSpPr>
          <p:cNvPr id="71" name="Shape 68"/>
          <p:cNvSpPr/>
          <p:nvPr/>
        </p:nvSpPr>
        <p:spPr>
          <a:xfrm>
            <a:off x="692201" y="5102352"/>
            <a:ext cx="8686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2" name="Text 69"/>
          <p:cNvSpPr txBox="1"/>
          <p:nvPr/>
        </p:nvSpPr>
        <p:spPr>
          <a:xfrm>
            <a:off x="692201" y="5102352"/>
            <a:ext cx="8686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Store</a:t>
            </a:r>
            <a:endParaRPr lang="en-US" sz="1400" dirty="0"/>
          </a:p>
        </p:txBody>
      </p:sp>
      <p:sp>
        <p:nvSpPr>
          <p:cNvPr id="73" name="Shape 70"/>
          <p:cNvSpPr/>
          <p:nvPr/>
        </p:nvSpPr>
        <p:spPr>
          <a:xfrm>
            <a:off x="1652321" y="5102352"/>
            <a:ext cx="2240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4" name="Text 71"/>
          <p:cNvSpPr txBox="1"/>
          <p:nvPr/>
        </p:nvSpPr>
        <p:spPr>
          <a:xfrm>
            <a:off x="1652321" y="5102352"/>
            <a:ext cx="2240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PerformanceCondition</a:t>
            </a:r>
            <a:endParaRPr lang="en-US" sz="1400" dirty="0"/>
          </a:p>
        </p:txBody>
      </p:sp>
      <p:sp>
        <p:nvSpPr>
          <p:cNvPr id="75" name="Shape 72"/>
          <p:cNvSpPr/>
          <p:nvPr/>
        </p:nvSpPr>
        <p:spPr>
          <a:xfrm>
            <a:off x="692201" y="5522976"/>
            <a:ext cx="6217920" cy="0"/>
          </a:xfrm>
          <a:prstGeom prst="line">
            <a:avLst/>
          </a:prstGeom>
          <a:noFill/>
          <a:ln w="12700">
            <a:solidFill>
              <a:srgbClr val="D9E0EC"/>
            </a:solidFill>
            <a:prstDash val="solid"/>
          </a:ln>
        </p:spPr>
        <p:txBody>
          <a:bodyPr/>
          <a:lstStyle/>
          <a:p>
            <a:endParaRPr lang="ko-KR" altLang="en-US"/>
          </a:p>
        </p:txBody>
      </p:sp>
      <p:sp>
        <p:nvSpPr>
          <p:cNvPr id="76" name="Text 73"/>
          <p:cNvSpPr txBox="1"/>
          <p:nvPr/>
        </p:nvSpPr>
        <p:spPr>
          <a:xfrm>
            <a:off x="692201" y="5568696"/>
            <a:ext cx="6217920" cy="292608"/>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GraphRAG 도구 기본 노드 타입/관계가 없거나 너무 일반적임</a:t>
            </a:r>
            <a:endParaRPr lang="en-US" sz="1500" dirty="0"/>
          </a:p>
        </p:txBody>
      </p:sp>
      <p:sp>
        <p:nvSpPr>
          <p:cNvPr id="77" name="Text 74"/>
          <p:cNvSpPr txBox="1"/>
          <p:nvPr/>
        </p:nvSpPr>
        <p:spPr>
          <a:xfrm>
            <a:off x="692201" y="5852160"/>
            <a:ext cx="6217920" cy="64008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 Neo4j: 스키마를 안 주면 매번 입력 글에서 자동 추출(사람 검토 없음)</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MS GraphRAG 기본 타입: organization, person, geo, event</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LangChain+Neo4j: 허용 목록이 비면 아무 타입이나 만듦</a:t>
            </a:r>
            <a:endParaRPr lang="en-US" sz="1400" dirty="0"/>
          </a:p>
        </p:txBody>
      </p:sp>
      <p:sp>
        <p:nvSpPr>
          <p:cNvPr id="78" name="Shape 75"/>
          <p:cNvSpPr/>
          <p:nvPr/>
        </p:nvSpPr>
        <p:spPr>
          <a:xfrm>
            <a:off x="7321601" y="3017520"/>
            <a:ext cx="6812280" cy="365760"/>
          </a:xfrm>
          <a:prstGeom prst="roundRect">
            <a:avLst>
              <a:gd name="adj" fmla="val 12500"/>
            </a:avLst>
          </a:prstGeom>
          <a:solidFill>
            <a:srgbClr val="1E2A5C"/>
          </a:solidFill>
          <a:ln/>
        </p:spPr>
        <p:txBody>
          <a:bodyPr/>
          <a:lstStyle/>
          <a:p>
            <a:endParaRPr lang="ko-KR" altLang="en-US"/>
          </a:p>
        </p:txBody>
      </p:sp>
      <p:sp>
        <p:nvSpPr>
          <p:cNvPr id="79" name="Text 76"/>
          <p:cNvSpPr txBox="1"/>
          <p:nvPr/>
        </p:nvSpPr>
        <p:spPr>
          <a:xfrm>
            <a:off x="7321601" y="3017520"/>
            <a:ext cx="68122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스키마를 주면 (Native GraphSchema)</a:t>
            </a:r>
            <a:endParaRPr lang="en-US" sz="1600" dirty="0"/>
          </a:p>
        </p:txBody>
      </p:sp>
      <p:sp>
        <p:nvSpPr>
          <p:cNvPr id="80" name="Shape 77"/>
          <p:cNvSpPr/>
          <p:nvPr/>
        </p:nvSpPr>
        <p:spPr>
          <a:xfrm>
            <a:off x="7321601" y="3438144"/>
            <a:ext cx="6812280" cy="1700784"/>
          </a:xfrm>
          <a:prstGeom prst="roundRect">
            <a:avLst>
              <a:gd name="adj" fmla="val 3226"/>
            </a:avLst>
          </a:prstGeom>
          <a:solidFill>
            <a:srgbClr val="F5F8FC"/>
          </a:solidFill>
          <a:ln w="12700">
            <a:solidFill>
              <a:srgbClr val="D9E0EC"/>
            </a:solidFill>
            <a:prstDash val="solid"/>
          </a:ln>
        </p:spPr>
        <p:txBody>
          <a:bodyPr/>
          <a:lstStyle/>
          <a:p>
            <a:endParaRPr lang="ko-KR" altLang="en-US"/>
          </a:p>
        </p:txBody>
      </p:sp>
      <p:sp>
        <p:nvSpPr>
          <p:cNvPr id="81" name="Text 78"/>
          <p:cNvSpPr txBox="1"/>
          <p:nvPr/>
        </p:nvSpPr>
        <p:spPr>
          <a:xfrm>
            <a:off x="7431329" y="3511296"/>
            <a:ext cx="659282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["Card", "Benefit",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["HAS_BENEFIT", "HAS_FEE"],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("Card", "HAS_FEE",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graph = await extractor.run(chunks=chunks, schema=schema)</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result = await GraphPruning().run(graph, schema)</a:t>
            </a:r>
            <a:endParaRPr lang="en-US" sz="1400" dirty="0"/>
          </a:p>
        </p:txBody>
      </p:sp>
      <p:sp>
        <p:nvSpPr>
          <p:cNvPr id="82" name="Shape 79"/>
          <p:cNvSpPr/>
          <p:nvPr/>
        </p:nvSpPr>
        <p:spPr>
          <a:xfrm>
            <a:off x="732160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3" name="Text 80"/>
          <p:cNvSpPr txBox="1"/>
          <p:nvPr/>
        </p:nvSpPr>
        <p:spPr>
          <a:xfrm>
            <a:off x="745876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① 추출 안내</a:t>
            </a:r>
            <a:endParaRPr lang="en-US" sz="1600" dirty="0"/>
          </a:p>
        </p:txBody>
      </p:sp>
      <p:sp>
        <p:nvSpPr>
          <p:cNvPr id="84" name="Text 81"/>
          <p:cNvSpPr txBox="1"/>
          <p:nvPr/>
        </p:nvSpPr>
        <p:spPr>
          <a:xfrm>
            <a:off x="745876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허용 목록이 추출 프롬프트에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들어가 LLM이 그 안에서 고름</a:t>
            </a:r>
            <a:endParaRPr lang="en-US" sz="1400" dirty="0"/>
          </a:p>
        </p:txBody>
      </p:sp>
      <p:sp>
        <p:nvSpPr>
          <p:cNvPr id="85" name="Shape 82"/>
          <p:cNvSpPr/>
          <p:nvPr/>
        </p:nvSpPr>
        <p:spPr>
          <a:xfrm>
            <a:off x="1081918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6" name="Text 83"/>
          <p:cNvSpPr txBox="1"/>
          <p:nvPr/>
        </p:nvSpPr>
        <p:spPr>
          <a:xfrm>
            <a:off x="1095634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② 가지치기</a:t>
            </a:r>
            <a:endParaRPr lang="en-US" sz="1600" dirty="0"/>
          </a:p>
        </p:txBody>
      </p:sp>
      <p:sp>
        <p:nvSpPr>
          <p:cNvPr id="87" name="Text 84"/>
          <p:cNvSpPr txBox="1"/>
          <p:nvPr/>
        </p:nvSpPr>
        <p:spPr>
          <a:xfrm>
            <a:off x="1095634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목록 밖 노드와 관계를 지우고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지운 개수를 통계로 남김</a:t>
            </a:r>
            <a:endParaRPr lang="en-US" sz="1400" dirty="0"/>
          </a:p>
        </p:txBody>
      </p:sp>
      <p:sp>
        <p:nvSpPr>
          <p:cNvPr id="88" name="Text 85"/>
          <p:cNvSpPr txBox="1"/>
          <p:nvPr/>
        </p:nvSpPr>
        <p:spPr>
          <a:xfrm>
            <a:off x="7321601" y="6217920"/>
            <a:ext cx="681228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실행 확인: 노드 타입을 주면 목록 밖 타입은 기본 불허</a:t>
            </a:r>
            <a:endParaRPr lang="en-US" sz="1400" dirty="0"/>
          </a:p>
        </p:txBody>
      </p:sp>
      <p:sp>
        <p:nvSpPr>
          <p:cNvPr id="89" name="Shape 86"/>
          <p:cNvSpPr/>
          <p:nvPr/>
        </p:nvSpPr>
        <p:spPr>
          <a:xfrm>
            <a:off x="509321" y="6601968"/>
            <a:ext cx="13624560" cy="621792"/>
          </a:xfrm>
          <a:prstGeom prst="roundRect">
            <a:avLst>
              <a:gd name="adj" fmla="val 11765"/>
            </a:avLst>
          </a:prstGeom>
          <a:solidFill>
            <a:srgbClr val="EEF3FA"/>
          </a:solidFill>
          <a:ln w="19050">
            <a:solidFill>
              <a:srgbClr val="2E74C6"/>
            </a:solidFill>
            <a:prstDash val="solid"/>
          </a:ln>
        </p:spPr>
        <p:txBody>
          <a:bodyPr/>
          <a:lstStyle/>
          <a:p>
            <a:endParaRPr lang="ko-KR" altLang="en-US"/>
          </a:p>
        </p:txBody>
      </p:sp>
      <p:sp>
        <p:nvSpPr>
          <p:cNvPr id="90" name="Shape 87"/>
          <p:cNvSpPr/>
          <p:nvPr/>
        </p:nvSpPr>
        <p:spPr>
          <a:xfrm>
            <a:off x="509321" y="6601968"/>
            <a:ext cx="82296" cy="621792"/>
          </a:xfrm>
          <a:prstGeom prst="rect">
            <a:avLst/>
          </a:prstGeom>
          <a:solidFill>
            <a:srgbClr val="2E74C6"/>
          </a:solidFill>
          <a:ln/>
        </p:spPr>
        <p:txBody>
          <a:bodyPr/>
          <a:lstStyle/>
          <a:p>
            <a:endParaRPr lang="ko-KR" altLang="en-US"/>
          </a:p>
        </p:txBody>
      </p:sp>
      <p:sp>
        <p:nvSpPr>
          <p:cNvPr id="91" name="Text 88"/>
          <p:cNvSpPr txBox="1"/>
          <p:nvPr/>
        </p:nvSpPr>
        <p:spPr>
          <a:xfrm>
            <a:off x="737921" y="6601968"/>
            <a:ext cx="13258800" cy="62179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스키마는 인덱싱 전 설계 단계에서 확정해 파일로 고정, 인덱싱은 읽어 쓰기만 함.</a:t>
            </a:r>
            <a:endParaRPr lang="en-US" sz="1600" dirty="0"/>
          </a:p>
          <a:p>
            <a:pPr marL="0" indent="0" algn="l">
              <a:buNone/>
            </a:pPr>
            <a:r>
              <a:rPr lang="en-US" sz="1600" b="1" dirty="0">
                <a:solidFill>
                  <a:srgbClr val="1E2A5C"/>
                </a:solidFill>
                <a:latin typeface="Pretendard" pitchFamily="34" charset="0"/>
                <a:ea typeface="Pretendard" pitchFamily="34" charset="-122"/>
                <a:cs typeface="Pretendard" pitchFamily="34" charset="-120"/>
              </a:rPr>
              <a:t>정형 테이블은 변환 규칙으로, 문서는 표본 → 후보 → 사람 확정으로 스키마 설계</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스키마에 정의하는 7가지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노드 타입과 관계, 각각의 속성, 연결 패턴이 뼈대 — 제약과 허용 범위로 무엇을 지킬지 정함</a:t>
            </a:r>
            <a:endParaRPr lang="en-US" sz="1800" dirty="0"/>
          </a:p>
        </p:txBody>
      </p:sp>
      <p:sp>
        <p:nvSpPr>
          <p:cNvPr id="5" name="Text 2"/>
          <p:cNvSpPr txBox="1"/>
          <p:nvPr/>
        </p:nvSpPr>
        <p:spPr>
          <a:xfrm>
            <a:off x="509321" y="1700784"/>
            <a:ext cx="18288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뼈대 ① ~ ⑤</a:t>
            </a:r>
            <a:endParaRPr lang="en-US" sz="1400" dirty="0"/>
          </a:p>
        </p:txBody>
      </p:sp>
      <p:sp>
        <p:nvSpPr>
          <p:cNvPr id="6" name="Text 3"/>
          <p:cNvSpPr txBox="1"/>
          <p:nvPr/>
        </p:nvSpPr>
        <p:spPr>
          <a:xfrm>
            <a:off x="2338121" y="1700784"/>
            <a:ext cx="4846320" cy="274320"/>
          </a:xfrm>
          <a:prstGeom prst="rect">
            <a:avLst/>
          </a:prstGeom>
          <a:noFill/>
          <a:ln/>
        </p:spPr>
        <p:txBody>
          <a:bodyPr wrap="square" lIns="0" tIns="0" rIns="0" bIns="0" rtlCol="0" anchor="ctr"/>
          <a:lstStyle/>
          <a:p>
            <a:pPr marL="0" indent="0" algn="r">
              <a:buNone/>
            </a:pPr>
            <a:r>
              <a:rPr lang="en-US" sz="1400" dirty="0">
                <a:solidFill>
                  <a:srgbClr val="4A5364"/>
                </a:solidFill>
                <a:latin typeface="Pretendard" pitchFamily="34" charset="0"/>
                <a:ea typeface="Pretendard" pitchFamily="34" charset="-122"/>
                <a:cs typeface="Pretendard" pitchFamily="34" charset="-120"/>
              </a:rPr>
              <a:t>왼쪽부터 정의할 것, GraphSchema 칸, 카드 예</a:t>
            </a:r>
            <a:endParaRPr lang="en-US" sz="1400" dirty="0"/>
          </a:p>
        </p:txBody>
      </p:sp>
      <p:sp>
        <p:nvSpPr>
          <p:cNvPr id="7" name="Shape 4"/>
          <p:cNvSpPr/>
          <p:nvPr/>
        </p:nvSpPr>
        <p:spPr>
          <a:xfrm>
            <a:off x="509321" y="2011680"/>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8" name="Shape 5"/>
          <p:cNvSpPr/>
          <p:nvPr/>
        </p:nvSpPr>
        <p:spPr>
          <a:xfrm>
            <a:off x="600761" y="2103120"/>
            <a:ext cx="347472" cy="347472"/>
          </a:xfrm>
          <a:prstGeom prst="roundRect">
            <a:avLst>
              <a:gd name="adj" fmla="val 13158"/>
            </a:avLst>
          </a:prstGeom>
          <a:solidFill>
            <a:srgbClr val="1E2A5C"/>
          </a:solidFill>
          <a:ln/>
        </p:spPr>
        <p:txBody>
          <a:bodyPr/>
          <a:lstStyle/>
          <a:p>
            <a:endParaRPr lang="ko-KR" altLang="en-US"/>
          </a:p>
        </p:txBody>
      </p:sp>
      <p:sp>
        <p:nvSpPr>
          <p:cNvPr id="9" name="Text 6"/>
          <p:cNvSpPr txBox="1"/>
          <p:nvPr/>
        </p:nvSpPr>
        <p:spPr>
          <a:xfrm>
            <a:off x="600761" y="210312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①</a:t>
            </a:r>
            <a:endParaRPr lang="en-US" sz="1600" dirty="0"/>
          </a:p>
        </p:txBody>
      </p:sp>
      <p:sp>
        <p:nvSpPr>
          <p:cNvPr id="10" name="Text 7"/>
          <p:cNvSpPr txBox="1"/>
          <p:nvPr/>
        </p:nvSpPr>
        <p:spPr>
          <a:xfrm>
            <a:off x="1039673" y="201168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타입</a:t>
            </a:r>
            <a:endParaRPr lang="en-US" sz="1600" dirty="0"/>
          </a:p>
        </p:txBody>
      </p:sp>
      <p:sp>
        <p:nvSpPr>
          <p:cNvPr id="11" name="Text 8"/>
          <p:cNvSpPr txBox="1"/>
          <p:nvPr/>
        </p:nvSpPr>
        <p:spPr>
          <a:xfrm>
            <a:off x="2200961" y="201168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node_types[].label</a:t>
            </a:r>
            <a:endParaRPr lang="en-US" sz="1400" dirty="0"/>
          </a:p>
        </p:txBody>
      </p:sp>
      <p:sp>
        <p:nvSpPr>
          <p:cNvPr id="12" name="Text 9"/>
          <p:cNvSpPr txBox="1"/>
          <p:nvPr/>
        </p:nvSpPr>
        <p:spPr>
          <a:xfrm>
            <a:off x="5035601" y="201168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Benefit</a:t>
            </a:r>
            <a:endParaRPr lang="en-US" sz="1400" dirty="0"/>
          </a:p>
        </p:txBody>
      </p:sp>
      <p:sp>
        <p:nvSpPr>
          <p:cNvPr id="13" name="Shape 10"/>
          <p:cNvSpPr/>
          <p:nvPr/>
        </p:nvSpPr>
        <p:spPr>
          <a:xfrm>
            <a:off x="509321" y="2587752"/>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14" name="Shape 11"/>
          <p:cNvSpPr/>
          <p:nvPr/>
        </p:nvSpPr>
        <p:spPr>
          <a:xfrm>
            <a:off x="600761" y="2679192"/>
            <a:ext cx="347472" cy="347472"/>
          </a:xfrm>
          <a:prstGeom prst="roundRect">
            <a:avLst>
              <a:gd name="adj" fmla="val 13158"/>
            </a:avLst>
          </a:prstGeom>
          <a:solidFill>
            <a:srgbClr val="1E2A5C"/>
          </a:solidFill>
          <a:ln/>
        </p:spPr>
        <p:txBody>
          <a:bodyPr/>
          <a:lstStyle/>
          <a:p>
            <a:endParaRPr lang="ko-KR" altLang="en-US"/>
          </a:p>
        </p:txBody>
      </p:sp>
      <p:sp>
        <p:nvSpPr>
          <p:cNvPr id="15" name="Text 12"/>
          <p:cNvSpPr txBox="1"/>
          <p:nvPr/>
        </p:nvSpPr>
        <p:spPr>
          <a:xfrm>
            <a:off x="600761" y="267919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②</a:t>
            </a:r>
            <a:endParaRPr lang="en-US" sz="1600" dirty="0"/>
          </a:p>
        </p:txBody>
      </p:sp>
      <p:sp>
        <p:nvSpPr>
          <p:cNvPr id="16" name="Text 13"/>
          <p:cNvSpPr txBox="1"/>
          <p:nvPr/>
        </p:nvSpPr>
        <p:spPr>
          <a:xfrm>
            <a:off x="1039673" y="2587752"/>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속성</a:t>
            </a:r>
            <a:endParaRPr lang="en-US" sz="1600" dirty="0"/>
          </a:p>
        </p:txBody>
      </p:sp>
      <p:sp>
        <p:nvSpPr>
          <p:cNvPr id="17" name="Text 14"/>
          <p:cNvSpPr txBox="1"/>
          <p:nvPr/>
        </p:nvSpPr>
        <p:spPr>
          <a:xfrm>
            <a:off x="2200961" y="2587752"/>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18" name="Text 15"/>
          <p:cNvSpPr txBox="1"/>
          <p:nvPr/>
        </p:nvSpPr>
        <p:spPr>
          <a:xfrm>
            <a:off x="5035601" y="2587752"/>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{name, annual_fee}</a:t>
            </a:r>
            <a:endParaRPr lang="en-US" sz="1400" dirty="0"/>
          </a:p>
        </p:txBody>
      </p:sp>
      <p:sp>
        <p:nvSpPr>
          <p:cNvPr id="19" name="Shape 16"/>
          <p:cNvSpPr/>
          <p:nvPr/>
        </p:nvSpPr>
        <p:spPr>
          <a:xfrm>
            <a:off x="509321" y="3163824"/>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0" name="Shape 17"/>
          <p:cNvSpPr/>
          <p:nvPr/>
        </p:nvSpPr>
        <p:spPr>
          <a:xfrm>
            <a:off x="600761" y="3255264"/>
            <a:ext cx="347472" cy="347472"/>
          </a:xfrm>
          <a:prstGeom prst="roundRect">
            <a:avLst>
              <a:gd name="adj" fmla="val 13158"/>
            </a:avLst>
          </a:prstGeom>
          <a:solidFill>
            <a:srgbClr val="1E2A5C"/>
          </a:solidFill>
          <a:ln/>
        </p:spPr>
        <p:txBody>
          <a:bodyPr/>
          <a:lstStyle/>
          <a:p>
            <a:endParaRPr lang="ko-KR" altLang="en-US"/>
          </a:p>
        </p:txBody>
      </p:sp>
      <p:sp>
        <p:nvSpPr>
          <p:cNvPr id="21" name="Text 18"/>
          <p:cNvSpPr txBox="1"/>
          <p:nvPr/>
        </p:nvSpPr>
        <p:spPr>
          <a:xfrm>
            <a:off x="600761" y="325526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③</a:t>
            </a:r>
            <a:endParaRPr lang="en-US" sz="1600" dirty="0"/>
          </a:p>
        </p:txBody>
      </p:sp>
      <p:sp>
        <p:nvSpPr>
          <p:cNvPr id="22" name="Text 19"/>
          <p:cNvSpPr txBox="1"/>
          <p:nvPr/>
        </p:nvSpPr>
        <p:spPr>
          <a:xfrm>
            <a:off x="1039673" y="3163824"/>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a:t>
            </a:r>
            <a:endParaRPr lang="en-US" sz="1600" dirty="0"/>
          </a:p>
        </p:txBody>
      </p:sp>
      <p:sp>
        <p:nvSpPr>
          <p:cNvPr id="23" name="Text 20"/>
          <p:cNvSpPr txBox="1"/>
          <p:nvPr/>
        </p:nvSpPr>
        <p:spPr>
          <a:xfrm>
            <a:off x="2200961" y="3163824"/>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.label</a:t>
            </a:r>
            <a:endParaRPr lang="en-US" sz="1400" dirty="0"/>
          </a:p>
        </p:txBody>
      </p:sp>
      <p:sp>
        <p:nvSpPr>
          <p:cNvPr id="24" name="Text 21"/>
          <p:cNvSpPr txBox="1"/>
          <p:nvPr/>
        </p:nvSpPr>
        <p:spPr>
          <a:xfrm>
            <a:off x="5035601" y="3163824"/>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a:t>
            </a:r>
            <a:endParaRPr lang="en-US" sz="1400" dirty="0"/>
          </a:p>
        </p:txBody>
      </p:sp>
      <p:sp>
        <p:nvSpPr>
          <p:cNvPr id="25" name="Shape 22"/>
          <p:cNvSpPr/>
          <p:nvPr/>
        </p:nvSpPr>
        <p:spPr>
          <a:xfrm>
            <a:off x="509321" y="3739896"/>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600761" y="3831336"/>
            <a:ext cx="347472" cy="347472"/>
          </a:xfrm>
          <a:prstGeom prst="roundRect">
            <a:avLst>
              <a:gd name="adj" fmla="val 13158"/>
            </a:avLst>
          </a:prstGeom>
          <a:solidFill>
            <a:srgbClr val="1E2A5C"/>
          </a:solidFill>
          <a:ln/>
        </p:spPr>
        <p:txBody>
          <a:bodyPr/>
          <a:lstStyle/>
          <a:p>
            <a:endParaRPr lang="ko-KR" altLang="en-US"/>
          </a:p>
        </p:txBody>
      </p:sp>
      <p:sp>
        <p:nvSpPr>
          <p:cNvPr id="27" name="Text 24"/>
          <p:cNvSpPr txBox="1"/>
          <p:nvPr/>
        </p:nvSpPr>
        <p:spPr>
          <a:xfrm>
            <a:off x="600761" y="383133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④</a:t>
            </a:r>
            <a:endParaRPr lang="en-US" sz="1600" dirty="0"/>
          </a:p>
        </p:txBody>
      </p:sp>
      <p:sp>
        <p:nvSpPr>
          <p:cNvPr id="28" name="Text 25"/>
          <p:cNvSpPr txBox="1"/>
          <p:nvPr/>
        </p:nvSpPr>
        <p:spPr>
          <a:xfrm>
            <a:off x="1039673" y="3739896"/>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 속성</a:t>
            </a:r>
            <a:endParaRPr lang="en-US" sz="1600" dirty="0"/>
          </a:p>
        </p:txBody>
      </p:sp>
      <p:sp>
        <p:nvSpPr>
          <p:cNvPr id="29" name="Text 26"/>
          <p:cNvSpPr txBox="1"/>
          <p:nvPr/>
        </p:nvSpPr>
        <p:spPr>
          <a:xfrm>
            <a:off x="2200961" y="3739896"/>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30" name="Text 27"/>
          <p:cNvSpPr txBox="1"/>
          <p:nvPr/>
        </p:nvSpPr>
        <p:spPr>
          <a:xfrm>
            <a:off x="5035601" y="3739896"/>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 {valid_until}</a:t>
            </a:r>
            <a:endParaRPr lang="en-US" sz="1400" dirty="0"/>
          </a:p>
        </p:txBody>
      </p:sp>
      <p:sp>
        <p:nvSpPr>
          <p:cNvPr id="31" name="Shape 28"/>
          <p:cNvSpPr/>
          <p:nvPr/>
        </p:nvSpPr>
        <p:spPr>
          <a:xfrm>
            <a:off x="509321" y="4315968"/>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32" name="Shape 29"/>
          <p:cNvSpPr/>
          <p:nvPr/>
        </p:nvSpPr>
        <p:spPr>
          <a:xfrm>
            <a:off x="600761" y="4407408"/>
            <a:ext cx="347472" cy="347472"/>
          </a:xfrm>
          <a:prstGeom prst="roundRect">
            <a:avLst>
              <a:gd name="adj" fmla="val 13158"/>
            </a:avLst>
          </a:prstGeom>
          <a:solidFill>
            <a:srgbClr val="1E2A5C"/>
          </a:solidFill>
          <a:ln/>
        </p:spPr>
        <p:txBody>
          <a:bodyPr/>
          <a:lstStyle/>
          <a:p>
            <a:endParaRPr lang="ko-KR" altLang="en-US"/>
          </a:p>
        </p:txBody>
      </p:sp>
      <p:sp>
        <p:nvSpPr>
          <p:cNvPr id="33" name="Text 30"/>
          <p:cNvSpPr txBox="1"/>
          <p:nvPr/>
        </p:nvSpPr>
        <p:spPr>
          <a:xfrm>
            <a:off x="600761" y="440740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⑤</a:t>
            </a:r>
            <a:endParaRPr lang="en-US" sz="1600" dirty="0"/>
          </a:p>
        </p:txBody>
      </p:sp>
      <p:sp>
        <p:nvSpPr>
          <p:cNvPr id="34" name="Text 31"/>
          <p:cNvSpPr txBox="1"/>
          <p:nvPr/>
        </p:nvSpPr>
        <p:spPr>
          <a:xfrm>
            <a:off x="1039673" y="4315968"/>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연결 패턴</a:t>
            </a:r>
            <a:endParaRPr lang="en-US" sz="1600" dirty="0"/>
          </a:p>
        </p:txBody>
      </p:sp>
      <p:sp>
        <p:nvSpPr>
          <p:cNvPr id="35" name="Text 32"/>
          <p:cNvSpPr txBox="1"/>
          <p:nvPr/>
        </p:nvSpPr>
        <p:spPr>
          <a:xfrm>
            <a:off x="2200961" y="4315968"/>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patterns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(출발, 관계, 도착)</a:t>
            </a:r>
            <a:endParaRPr lang="en-US" sz="1400" dirty="0"/>
          </a:p>
        </p:txBody>
      </p:sp>
      <p:sp>
        <p:nvSpPr>
          <p:cNvPr id="36" name="Text 33"/>
          <p:cNvSpPr txBox="1"/>
          <p:nvPr/>
        </p:nvSpPr>
        <p:spPr>
          <a:xfrm>
            <a:off x="5035601" y="4315968"/>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HAS_BENEFIT,</a:t>
            </a:r>
            <a:endParaRPr lang="en-US" sz="1400" dirty="0"/>
          </a:p>
          <a:p>
            <a:pPr marL="0" indent="0" algn="l">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37" name="Shape 34"/>
          <p:cNvSpPr/>
          <p:nvPr/>
        </p:nvSpPr>
        <p:spPr>
          <a:xfrm>
            <a:off x="509321" y="5166360"/>
            <a:ext cx="6675120" cy="530352"/>
          </a:xfrm>
          <a:prstGeom prst="roundRect">
            <a:avLst>
              <a:gd name="adj" fmla="val 10345"/>
            </a:avLst>
          </a:prstGeom>
          <a:solidFill>
            <a:srgbClr val="EEF3FA"/>
          </a:solidFill>
          <a:ln w="12700">
            <a:solidFill>
              <a:srgbClr val="2E74C6"/>
            </a:solidFill>
            <a:prstDash val="solid"/>
          </a:ln>
        </p:spPr>
        <p:txBody>
          <a:bodyPr/>
          <a:lstStyle/>
          <a:p>
            <a:endParaRPr lang="ko-KR" altLang="en-US"/>
          </a:p>
        </p:txBody>
      </p:sp>
      <p:sp>
        <p:nvSpPr>
          <p:cNvPr id="38" name="Shape 35"/>
          <p:cNvSpPr/>
          <p:nvPr/>
        </p:nvSpPr>
        <p:spPr>
          <a:xfrm>
            <a:off x="600761" y="5257800"/>
            <a:ext cx="347472" cy="347472"/>
          </a:xfrm>
          <a:prstGeom prst="roundRect">
            <a:avLst>
              <a:gd name="adj" fmla="val 13158"/>
            </a:avLst>
          </a:prstGeom>
          <a:solidFill>
            <a:srgbClr val="2E74C6"/>
          </a:solidFill>
          <a:ln/>
        </p:spPr>
        <p:txBody>
          <a:bodyPr/>
          <a:lstStyle/>
          <a:p>
            <a:endParaRPr lang="ko-KR" altLang="en-US"/>
          </a:p>
        </p:txBody>
      </p:sp>
      <p:sp>
        <p:nvSpPr>
          <p:cNvPr id="39" name="Text 36"/>
          <p:cNvSpPr txBox="1"/>
          <p:nvPr/>
        </p:nvSpPr>
        <p:spPr>
          <a:xfrm>
            <a:off x="600761" y="525780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⑥</a:t>
            </a:r>
            <a:endParaRPr lang="en-US" sz="1600" dirty="0"/>
          </a:p>
        </p:txBody>
      </p:sp>
      <p:sp>
        <p:nvSpPr>
          <p:cNvPr id="40" name="Text 37"/>
          <p:cNvSpPr txBox="1"/>
          <p:nvPr/>
        </p:nvSpPr>
        <p:spPr>
          <a:xfrm>
            <a:off x="1039673" y="516636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제약</a:t>
            </a:r>
            <a:endParaRPr lang="en-US" sz="1600" dirty="0"/>
          </a:p>
        </p:txBody>
      </p:sp>
      <p:sp>
        <p:nvSpPr>
          <p:cNvPr id="41" name="Text 38"/>
          <p:cNvSpPr txBox="1"/>
          <p:nvPr/>
        </p:nvSpPr>
        <p:spPr>
          <a:xfrm>
            <a:off x="2200961" y="516636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constraints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UNIQUENESS, EXISTENCE, KEY</a:t>
            </a:r>
            <a:endParaRPr lang="en-US" sz="1400" dirty="0"/>
          </a:p>
        </p:txBody>
      </p:sp>
      <p:sp>
        <p:nvSpPr>
          <p:cNvPr id="42" name="Text 39"/>
          <p:cNvSpPr txBox="1"/>
          <p:nvPr/>
        </p:nvSpPr>
        <p:spPr>
          <a:xfrm>
            <a:off x="5035601" y="516636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Card.name = KEY</a:t>
            </a:r>
            <a:endParaRPr lang="en-US" sz="1400" dirty="0"/>
          </a:p>
        </p:txBody>
      </p:sp>
      <p:sp>
        <p:nvSpPr>
          <p:cNvPr id="43" name="Shape 40"/>
          <p:cNvSpPr/>
          <p:nvPr/>
        </p:nvSpPr>
        <p:spPr>
          <a:xfrm>
            <a:off x="509321" y="5742432"/>
            <a:ext cx="6675120" cy="676656"/>
          </a:xfrm>
          <a:prstGeom prst="roundRect">
            <a:avLst>
              <a:gd name="adj" fmla="val 8108"/>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5907024"/>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590702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⑦</a:t>
            </a:r>
            <a:endParaRPr lang="en-US" sz="1600" dirty="0"/>
          </a:p>
        </p:txBody>
      </p:sp>
      <p:sp>
        <p:nvSpPr>
          <p:cNvPr id="46" name="Text 43"/>
          <p:cNvSpPr txBox="1"/>
          <p:nvPr/>
        </p:nvSpPr>
        <p:spPr>
          <a:xfrm>
            <a:off x="1039673" y="5742432"/>
            <a:ext cx="1143000" cy="67665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허용 범위</a:t>
            </a:r>
            <a:endParaRPr lang="en-US" sz="1600" dirty="0"/>
          </a:p>
        </p:txBody>
      </p:sp>
      <p:sp>
        <p:nvSpPr>
          <p:cNvPr id="47" name="Text 44"/>
          <p:cNvSpPr txBox="1"/>
          <p:nvPr/>
        </p:nvSpPr>
        <p:spPr>
          <a:xfrm>
            <a:off x="2200961" y="5742432"/>
            <a:ext cx="2788920" cy="676656"/>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additional_node_types,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additional_patterns</a:t>
            </a:r>
            <a:endParaRPr lang="en-US" sz="1400" dirty="0"/>
          </a:p>
        </p:txBody>
      </p:sp>
      <p:sp>
        <p:nvSpPr>
          <p:cNvPr id="48" name="Text 45"/>
          <p:cNvSpPr txBox="1"/>
          <p:nvPr/>
        </p:nvSpPr>
        <p:spPr>
          <a:xfrm>
            <a:off x="5035601" y="5742432"/>
            <a:ext cx="2057400" cy="676656"/>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①~⑤에 지정된 목록 밖을 허용할지 여부</a:t>
            </a:r>
            <a:endParaRPr lang="en-US" sz="1400" dirty="0"/>
          </a:p>
        </p:txBody>
      </p:sp>
      <p:sp>
        <p:nvSpPr>
          <p:cNvPr id="49" name="Text 46"/>
          <p:cNvSpPr txBox="1"/>
          <p:nvPr/>
        </p:nvSpPr>
        <p:spPr>
          <a:xfrm>
            <a:off x="509321" y="4892040"/>
            <a:ext cx="22860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지킬 규칙 ⑥ ⑦</a:t>
            </a:r>
            <a:endParaRPr lang="en-US" sz="1400" dirty="0"/>
          </a:p>
        </p:txBody>
      </p:sp>
      <p:sp>
        <p:nvSpPr>
          <p:cNvPr id="50" name="Shape 47"/>
          <p:cNvSpPr/>
          <p:nvPr/>
        </p:nvSpPr>
        <p:spPr>
          <a:xfrm>
            <a:off x="7413041" y="1737360"/>
            <a:ext cx="6720840" cy="1371600"/>
          </a:xfrm>
          <a:prstGeom prst="roundRect">
            <a:avLst>
              <a:gd name="adj" fmla="val 5333"/>
            </a:avLst>
          </a:prstGeom>
          <a:solidFill>
            <a:srgbClr val="FFFFFF"/>
          </a:solidFill>
          <a:ln w="12700">
            <a:solidFill>
              <a:srgbClr val="D9E0EC"/>
            </a:solidFill>
            <a:prstDash val="solid"/>
          </a:ln>
        </p:spPr>
        <p:txBody>
          <a:bodyPr/>
          <a:lstStyle/>
          <a:p>
            <a:endParaRPr lang="ko-KR" altLang="en-US"/>
          </a:p>
        </p:txBody>
      </p:sp>
      <p:sp>
        <p:nvSpPr>
          <p:cNvPr id="51" name="Shape 48"/>
          <p:cNvSpPr/>
          <p:nvPr/>
        </p:nvSpPr>
        <p:spPr>
          <a:xfrm>
            <a:off x="759592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2" name="Shape 49"/>
          <p:cNvSpPr/>
          <p:nvPr/>
        </p:nvSpPr>
        <p:spPr>
          <a:xfrm>
            <a:off x="7687361" y="1956816"/>
            <a:ext cx="1965960" cy="329184"/>
          </a:xfrm>
          <a:prstGeom prst="roundRect">
            <a:avLst>
              <a:gd name="adj" fmla="val 13889"/>
            </a:avLst>
          </a:prstGeom>
          <a:solidFill>
            <a:srgbClr val="1E2A5C"/>
          </a:solidFill>
          <a:ln/>
        </p:spPr>
        <p:txBody>
          <a:bodyPr/>
          <a:lstStyle/>
          <a:p>
            <a:endParaRPr lang="ko-KR" altLang="en-US"/>
          </a:p>
        </p:txBody>
      </p:sp>
      <p:sp>
        <p:nvSpPr>
          <p:cNvPr id="53" name="Text 50"/>
          <p:cNvSpPr txBox="1"/>
          <p:nvPr/>
        </p:nvSpPr>
        <p:spPr>
          <a:xfrm>
            <a:off x="768736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:Card</a:t>
            </a:r>
            <a:endParaRPr lang="en-US" sz="1500" dirty="0"/>
          </a:p>
        </p:txBody>
      </p:sp>
      <p:sp>
        <p:nvSpPr>
          <p:cNvPr id="54" name="Text 51"/>
          <p:cNvSpPr txBox="1"/>
          <p:nvPr/>
        </p:nvSpPr>
        <p:spPr>
          <a:xfrm>
            <a:off x="773308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 (키)</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annual_fee</a:t>
            </a:r>
            <a:endParaRPr lang="en-US" sz="1400" dirty="0"/>
          </a:p>
        </p:txBody>
      </p:sp>
      <p:sp>
        <p:nvSpPr>
          <p:cNvPr id="55" name="Shape 52"/>
          <p:cNvSpPr/>
          <p:nvPr/>
        </p:nvSpPr>
        <p:spPr>
          <a:xfrm>
            <a:off x="1180216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6" name="Shape 53"/>
          <p:cNvSpPr/>
          <p:nvPr/>
        </p:nvSpPr>
        <p:spPr>
          <a:xfrm>
            <a:off x="11893601" y="1956816"/>
            <a:ext cx="1965960" cy="329184"/>
          </a:xfrm>
          <a:prstGeom prst="roundRect">
            <a:avLst>
              <a:gd name="adj" fmla="val 13889"/>
            </a:avLst>
          </a:prstGeom>
          <a:solidFill>
            <a:srgbClr val="1E2A5C"/>
          </a:solidFill>
          <a:ln/>
        </p:spPr>
        <p:txBody>
          <a:bodyPr/>
          <a:lstStyle/>
          <a:p>
            <a:endParaRPr lang="ko-KR" altLang="en-US"/>
          </a:p>
        </p:txBody>
      </p:sp>
      <p:sp>
        <p:nvSpPr>
          <p:cNvPr id="57" name="Text 54"/>
          <p:cNvSpPr txBox="1"/>
          <p:nvPr/>
        </p:nvSpPr>
        <p:spPr>
          <a:xfrm>
            <a:off x="1189360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:Benefit</a:t>
            </a:r>
            <a:endParaRPr lang="en-US" sz="1500" dirty="0"/>
          </a:p>
        </p:txBody>
      </p:sp>
      <p:sp>
        <p:nvSpPr>
          <p:cNvPr id="58" name="Text 55"/>
          <p:cNvSpPr txBox="1"/>
          <p:nvPr/>
        </p:nvSpPr>
        <p:spPr>
          <a:xfrm>
            <a:off x="1193932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rate</a:t>
            </a:r>
            <a:endParaRPr lang="en-US" sz="1400" dirty="0"/>
          </a:p>
        </p:txBody>
      </p:sp>
      <p:sp>
        <p:nvSpPr>
          <p:cNvPr id="59" name="Shape 56"/>
          <p:cNvSpPr/>
          <p:nvPr/>
        </p:nvSpPr>
        <p:spPr>
          <a:xfrm>
            <a:off x="9781337" y="2423160"/>
            <a:ext cx="1984248" cy="0"/>
          </a:xfrm>
          <a:prstGeom prst="line">
            <a:avLst/>
          </a:prstGeom>
          <a:noFill/>
          <a:ln w="25400">
            <a:solidFill>
              <a:srgbClr val="1E2A5C"/>
            </a:solidFill>
            <a:prstDash val="solid"/>
            <a:tailEnd type="triangle"/>
          </a:ln>
        </p:spPr>
        <p:txBody>
          <a:bodyPr/>
          <a:lstStyle/>
          <a:p>
            <a:endParaRPr lang="ko-KR" altLang="en-US"/>
          </a:p>
        </p:txBody>
      </p:sp>
      <p:sp>
        <p:nvSpPr>
          <p:cNvPr id="60" name="Text 57"/>
          <p:cNvSpPr txBox="1"/>
          <p:nvPr/>
        </p:nvSpPr>
        <p:spPr>
          <a:xfrm>
            <a:off x="9744761" y="2075688"/>
            <a:ext cx="2057400" cy="292608"/>
          </a:xfrm>
          <a:prstGeom prst="rect">
            <a:avLst/>
          </a:prstGeom>
          <a:noFill/>
          <a:ln/>
        </p:spPr>
        <p:txBody>
          <a:bodyPr wrap="square" lIns="0" tIns="0" rIns="0" bIns="0" rtlCol="0" anchor="ctr"/>
          <a:lstStyle/>
          <a:p>
            <a:pPr marL="0" indent="0" algn="ctr">
              <a:buNone/>
            </a:pPr>
            <a:r>
              <a:rPr lang="en-US" sz="1500" b="1" dirty="0">
                <a:solidFill>
                  <a:srgbClr val="2E74C6"/>
                </a:solidFill>
                <a:latin typeface="Pretendard" pitchFamily="34" charset="0"/>
                <a:ea typeface="Pretendard" pitchFamily="34" charset="-122"/>
                <a:cs typeface="Pretendard" pitchFamily="34" charset="-120"/>
              </a:rPr>
              <a:t>:HAS_BENEFIT</a:t>
            </a:r>
            <a:endParaRPr lang="en-US" sz="1500" dirty="0"/>
          </a:p>
        </p:txBody>
      </p:sp>
      <p:sp>
        <p:nvSpPr>
          <p:cNvPr id="61" name="Text 58"/>
          <p:cNvSpPr txBox="1"/>
          <p:nvPr/>
        </p:nvSpPr>
        <p:spPr>
          <a:xfrm>
            <a:off x="9744761" y="2478024"/>
            <a:ext cx="20574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{valid_until}</a:t>
            </a:r>
            <a:endParaRPr lang="en-US" sz="1400" dirty="0"/>
          </a:p>
        </p:txBody>
      </p:sp>
      <p:sp>
        <p:nvSpPr>
          <p:cNvPr id="62" name="Shape 59"/>
          <p:cNvSpPr/>
          <p:nvPr/>
        </p:nvSpPr>
        <p:spPr>
          <a:xfrm>
            <a:off x="9470441" y="1792224"/>
            <a:ext cx="310896" cy="310896"/>
          </a:xfrm>
          <a:prstGeom prst="roundRect">
            <a:avLst>
              <a:gd name="adj" fmla="val 45000"/>
            </a:avLst>
          </a:prstGeom>
          <a:solidFill>
            <a:srgbClr val="1E2A5C"/>
          </a:solidFill>
          <a:ln/>
        </p:spPr>
        <p:txBody>
          <a:bodyPr/>
          <a:lstStyle/>
          <a:p>
            <a:endParaRPr lang="ko-KR" altLang="en-US"/>
          </a:p>
        </p:txBody>
      </p:sp>
      <p:sp>
        <p:nvSpPr>
          <p:cNvPr id="63" name="Text 60"/>
          <p:cNvSpPr txBox="1"/>
          <p:nvPr/>
        </p:nvSpPr>
        <p:spPr>
          <a:xfrm>
            <a:off x="9470441" y="179222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①</a:t>
            </a:r>
            <a:endParaRPr lang="en-US" sz="1400" dirty="0"/>
          </a:p>
        </p:txBody>
      </p:sp>
      <p:sp>
        <p:nvSpPr>
          <p:cNvPr id="64" name="Shape 61"/>
          <p:cNvSpPr/>
          <p:nvPr/>
        </p:nvSpPr>
        <p:spPr>
          <a:xfrm>
            <a:off x="9333281" y="2596896"/>
            <a:ext cx="310896" cy="310896"/>
          </a:xfrm>
          <a:prstGeom prst="roundRect">
            <a:avLst>
              <a:gd name="adj" fmla="val 45000"/>
            </a:avLst>
          </a:prstGeom>
          <a:solidFill>
            <a:srgbClr val="1E2A5C"/>
          </a:solidFill>
          <a:ln/>
        </p:spPr>
        <p:txBody>
          <a:bodyPr/>
          <a:lstStyle/>
          <a:p>
            <a:endParaRPr lang="ko-KR" altLang="en-US"/>
          </a:p>
        </p:txBody>
      </p:sp>
      <p:sp>
        <p:nvSpPr>
          <p:cNvPr id="65" name="Text 62"/>
          <p:cNvSpPr txBox="1"/>
          <p:nvPr/>
        </p:nvSpPr>
        <p:spPr>
          <a:xfrm>
            <a:off x="9333281" y="259689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②</a:t>
            </a:r>
            <a:endParaRPr lang="en-US" sz="1400" dirty="0"/>
          </a:p>
        </p:txBody>
      </p:sp>
      <p:sp>
        <p:nvSpPr>
          <p:cNvPr id="66" name="Shape 63"/>
          <p:cNvSpPr/>
          <p:nvPr/>
        </p:nvSpPr>
        <p:spPr>
          <a:xfrm>
            <a:off x="8784641" y="2313432"/>
            <a:ext cx="310896" cy="310896"/>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8784641" y="231343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⑥</a:t>
            </a:r>
            <a:endParaRPr lang="en-US" sz="1400" dirty="0"/>
          </a:p>
        </p:txBody>
      </p:sp>
      <p:sp>
        <p:nvSpPr>
          <p:cNvPr id="68" name="Shape 65"/>
          <p:cNvSpPr/>
          <p:nvPr/>
        </p:nvSpPr>
        <p:spPr>
          <a:xfrm>
            <a:off x="10618013" y="1764792"/>
            <a:ext cx="310896" cy="310896"/>
          </a:xfrm>
          <a:prstGeom prst="roundRect">
            <a:avLst>
              <a:gd name="adj" fmla="val 45000"/>
            </a:avLst>
          </a:prstGeom>
          <a:solidFill>
            <a:srgbClr val="1E2A5C"/>
          </a:solidFill>
          <a:ln/>
        </p:spPr>
        <p:txBody>
          <a:bodyPr/>
          <a:lstStyle/>
          <a:p>
            <a:endParaRPr lang="ko-KR" altLang="en-US"/>
          </a:p>
        </p:txBody>
      </p:sp>
      <p:sp>
        <p:nvSpPr>
          <p:cNvPr id="69" name="Text 66"/>
          <p:cNvSpPr txBox="1"/>
          <p:nvPr/>
        </p:nvSpPr>
        <p:spPr>
          <a:xfrm>
            <a:off x="10618013" y="176479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③</a:t>
            </a:r>
            <a:endParaRPr lang="en-US" sz="1400" dirty="0"/>
          </a:p>
        </p:txBody>
      </p:sp>
      <p:sp>
        <p:nvSpPr>
          <p:cNvPr id="70" name="Shape 67"/>
          <p:cNvSpPr/>
          <p:nvPr/>
        </p:nvSpPr>
        <p:spPr>
          <a:xfrm>
            <a:off x="11459261" y="2459736"/>
            <a:ext cx="310896" cy="310896"/>
          </a:xfrm>
          <a:prstGeom prst="roundRect">
            <a:avLst>
              <a:gd name="adj" fmla="val 45000"/>
            </a:avLst>
          </a:prstGeom>
          <a:solidFill>
            <a:srgbClr val="1E2A5C"/>
          </a:solidFill>
          <a:ln/>
        </p:spPr>
        <p:txBody>
          <a:bodyPr/>
          <a:lstStyle/>
          <a:p>
            <a:endParaRPr lang="ko-KR" altLang="en-US"/>
          </a:p>
        </p:txBody>
      </p:sp>
      <p:sp>
        <p:nvSpPr>
          <p:cNvPr id="71" name="Text 68"/>
          <p:cNvSpPr txBox="1"/>
          <p:nvPr/>
        </p:nvSpPr>
        <p:spPr>
          <a:xfrm>
            <a:off x="11459261" y="245973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a:t>
            </a:r>
            <a:endParaRPr lang="en-US" sz="1400" dirty="0"/>
          </a:p>
        </p:txBody>
      </p:sp>
      <p:sp>
        <p:nvSpPr>
          <p:cNvPr id="72" name="Shape 69"/>
          <p:cNvSpPr/>
          <p:nvPr/>
        </p:nvSpPr>
        <p:spPr>
          <a:xfrm>
            <a:off x="10618013" y="2752344"/>
            <a:ext cx="310896" cy="310896"/>
          </a:xfrm>
          <a:prstGeom prst="roundRect">
            <a:avLst>
              <a:gd name="adj" fmla="val 45000"/>
            </a:avLst>
          </a:prstGeom>
          <a:solidFill>
            <a:srgbClr val="1E2A5C"/>
          </a:solidFill>
          <a:ln/>
        </p:spPr>
        <p:txBody>
          <a:bodyPr/>
          <a:lstStyle/>
          <a:p>
            <a:endParaRPr lang="ko-KR" altLang="en-US"/>
          </a:p>
        </p:txBody>
      </p:sp>
      <p:sp>
        <p:nvSpPr>
          <p:cNvPr id="73" name="Text 70"/>
          <p:cNvSpPr txBox="1"/>
          <p:nvPr/>
        </p:nvSpPr>
        <p:spPr>
          <a:xfrm>
            <a:off x="10618013" y="275234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⑤</a:t>
            </a:r>
            <a:endParaRPr lang="en-US" sz="1400" dirty="0"/>
          </a:p>
        </p:txBody>
      </p:sp>
      <p:sp>
        <p:nvSpPr>
          <p:cNvPr id="74" name="Shape 71"/>
          <p:cNvSpPr/>
          <p:nvPr/>
        </p:nvSpPr>
        <p:spPr>
          <a:xfrm>
            <a:off x="7413041" y="3493008"/>
            <a:ext cx="6720840" cy="2907792"/>
          </a:xfrm>
          <a:prstGeom prst="roundRect">
            <a:avLst>
              <a:gd name="adj" fmla="val 1887"/>
            </a:avLst>
          </a:prstGeom>
          <a:solidFill>
            <a:srgbClr val="F5F8FC"/>
          </a:solidFill>
          <a:ln w="12700">
            <a:solidFill>
              <a:srgbClr val="D9E0EC"/>
            </a:solidFill>
            <a:prstDash val="solid"/>
          </a:ln>
        </p:spPr>
        <p:txBody>
          <a:bodyPr/>
          <a:lstStyle/>
          <a:p>
            <a:endParaRPr lang="ko-KR" altLang="en-US"/>
          </a:p>
        </p:txBody>
      </p:sp>
      <p:sp>
        <p:nvSpPr>
          <p:cNvPr id="75" name="Text 72"/>
          <p:cNvSpPr txBox="1"/>
          <p:nvPr/>
        </p:nvSpPr>
        <p:spPr>
          <a:xfrm>
            <a:off x="7522769" y="3566160"/>
            <a:ext cx="6501384" cy="277977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                              # ① ②</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"Card",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"name", "type": "STRING"},</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"annual_fee", "type": "INTEGER"}]},</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"Benefit",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[{"label": "HAS_BENEFIT",   # ③ ④</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 [{"name": "valid_until", "type": "DATE"}]}],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   # ⑤</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"constraints": [{"type": "KEY", "node_type": "Card",  # ⑥</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"property_names": ["name"]}],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"additional_node_types": False})                # ⑦</a:t>
            </a:r>
            <a:endParaRPr lang="en-US" sz="1400" dirty="0"/>
          </a:p>
        </p:txBody>
      </p:sp>
      <p:sp>
        <p:nvSpPr>
          <p:cNvPr id="76" name="Text 73"/>
          <p:cNvSpPr txBox="1"/>
          <p:nvPr/>
        </p:nvSpPr>
        <p:spPr>
          <a:xfrm>
            <a:off x="7413041" y="3182112"/>
            <a:ext cx="6720840" cy="274320"/>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7칸을 채운 Native GraphSchema — 실행 확인: name 없는 Card는 가지치기가 지움</a:t>
            </a:r>
            <a:endParaRPr lang="en-US" sz="1400" dirty="0"/>
          </a:p>
        </p:txBody>
      </p:sp>
      <p:sp>
        <p:nvSpPr>
          <p:cNvPr id="77" name="Shape 74"/>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78" name="Shape 75"/>
          <p:cNvSpPr/>
          <p:nvPr/>
        </p:nvSpPr>
        <p:spPr>
          <a:xfrm>
            <a:off x="509321" y="6492240"/>
            <a:ext cx="82296" cy="731520"/>
          </a:xfrm>
          <a:prstGeom prst="rect">
            <a:avLst/>
          </a:prstGeom>
          <a:solidFill>
            <a:srgbClr val="2E74C6"/>
          </a:solidFill>
          <a:ln/>
        </p:spPr>
        <p:txBody>
          <a:bodyPr/>
          <a:lstStyle/>
          <a:p>
            <a:endParaRPr lang="ko-KR" altLang="en-US"/>
          </a:p>
        </p:txBody>
      </p:sp>
      <p:sp>
        <p:nvSpPr>
          <p:cNvPr id="79" name="Text 76"/>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최소한 = ①, ③, ⑤ + ⑥ 고유키. 속성은 질문에 쓰는 것만 정의하고, 타입마다 description을 적으면 LLM이 고르는 기준이 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 지정한 속성에 대해 UNIQUENESS는 고유 강제, EXISTENCE는 존재 강제, KEY는 고유 + 존재를 강제함. UNIQUENESS는 지정한 속성이 비어 있어도 허용하나 KEY는 불허함</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정형 테이블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규칙</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모델 없이 규칙으로 바꿈 — 단, FK를 세기 전에 '그 표 자체가 조회 대상인가'부터 물음</a:t>
            </a:r>
            <a:endParaRPr lang="en-US" sz="1800" dirty="0"/>
          </a:p>
        </p:txBody>
      </p:sp>
      <p:sp>
        <p:nvSpPr>
          <p:cNvPr id="5" name="Shape 2"/>
          <p:cNvSpPr/>
          <p:nvPr/>
        </p:nvSpPr>
        <p:spPr>
          <a:xfrm>
            <a:off x="2521001" y="1755648"/>
            <a:ext cx="2011680" cy="384048"/>
          </a:xfrm>
          <a:prstGeom prst="roundRect">
            <a:avLst>
              <a:gd name="adj" fmla="val 19048"/>
            </a:avLst>
          </a:prstGeom>
          <a:solidFill>
            <a:srgbClr val="1E2A5C"/>
          </a:solidFill>
          <a:ln/>
        </p:spPr>
        <p:txBody>
          <a:bodyPr/>
          <a:lstStyle/>
          <a:p>
            <a:endParaRPr lang="ko-KR" altLang="en-US"/>
          </a:p>
        </p:txBody>
      </p:sp>
      <p:sp>
        <p:nvSpPr>
          <p:cNvPr id="6" name="Text 3"/>
          <p:cNvSpPr txBox="1"/>
          <p:nvPr/>
        </p:nvSpPr>
        <p:spPr>
          <a:xfrm>
            <a:off x="2521001" y="1755648"/>
            <a:ext cx="201168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테이블 1개</a:t>
            </a:r>
            <a:endParaRPr lang="en-US" sz="1500" dirty="0"/>
          </a:p>
        </p:txBody>
      </p:sp>
      <p:sp>
        <p:nvSpPr>
          <p:cNvPr id="7" name="Shape 4"/>
          <p:cNvSpPr/>
          <p:nvPr/>
        </p:nvSpPr>
        <p:spPr>
          <a:xfrm>
            <a:off x="3526841" y="2157984"/>
            <a:ext cx="0" cy="18288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509321" y="2359152"/>
            <a:ext cx="6035040" cy="502920"/>
          </a:xfrm>
          <a:prstGeom prst="roundRect">
            <a:avLst>
              <a:gd name="adj" fmla="val 14545"/>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509321" y="2359152"/>
            <a:ext cx="6035040" cy="502920"/>
          </a:xfrm>
          <a:prstGeom prst="rect">
            <a:avLst/>
          </a:prstGeom>
          <a:noFill/>
          <a:ln/>
        </p:spPr>
        <p:txBody>
          <a:bodyPr wrap="square" lIns="1016" tIns="1016" rIns="1016" bIns="1016" rtlCol="0" anchor="ctr"/>
          <a:lstStyle/>
          <a:p>
            <a:pPr marL="0" indent="0" algn="ctr">
              <a:buNone/>
            </a:pPr>
            <a:r>
              <a:rPr lang="en-US" sz="1600" b="1" dirty="0">
                <a:solidFill>
                  <a:srgbClr val="1E2A5C"/>
                </a:solidFill>
                <a:latin typeface="Pretendard" pitchFamily="34" charset="0"/>
                <a:ea typeface="Pretendard" pitchFamily="34" charset="-122"/>
                <a:cs typeface="Pretendard" pitchFamily="34" charset="-120"/>
              </a:rPr>
              <a:t>Q1. 그 표 자체가 조회 대상인 엔티티인가?</a:t>
            </a:r>
            <a:endParaRPr lang="en-US" sz="1600" dirty="0"/>
          </a:p>
        </p:txBody>
      </p:sp>
      <p:sp>
        <p:nvSpPr>
          <p:cNvPr id="10" name="Shape 7"/>
          <p:cNvSpPr/>
          <p:nvPr/>
        </p:nvSpPr>
        <p:spPr>
          <a:xfrm>
            <a:off x="1835201" y="2880360"/>
            <a:ext cx="0" cy="320040"/>
          </a:xfrm>
          <a:prstGeom prst="line">
            <a:avLst/>
          </a:prstGeom>
          <a:noFill/>
          <a:ln w="22225">
            <a:solidFill>
              <a:srgbClr val="1E2A5C"/>
            </a:solidFill>
            <a:prstDash val="solid"/>
            <a:tailEnd type="triangle"/>
          </a:ln>
        </p:spPr>
        <p:txBody>
          <a:bodyPr/>
          <a:lstStyle/>
          <a:p>
            <a:endParaRPr lang="ko-KR" altLang="en-US"/>
          </a:p>
        </p:txBody>
      </p:sp>
      <p:sp>
        <p:nvSpPr>
          <p:cNvPr id="11" name="Text 8"/>
          <p:cNvSpPr txBox="1"/>
          <p:nvPr/>
        </p:nvSpPr>
        <p:spPr>
          <a:xfrm>
            <a:off x="1908353" y="2889504"/>
            <a:ext cx="457200" cy="274320"/>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예</a:t>
            </a:r>
            <a:endParaRPr lang="en-US" sz="1500" dirty="0"/>
          </a:p>
        </p:txBody>
      </p:sp>
      <p:sp>
        <p:nvSpPr>
          <p:cNvPr id="12" name="Shape 9"/>
          <p:cNvSpPr/>
          <p:nvPr/>
        </p:nvSpPr>
        <p:spPr>
          <a:xfrm>
            <a:off x="4989881" y="2880360"/>
            <a:ext cx="0" cy="320040"/>
          </a:xfrm>
          <a:prstGeom prst="line">
            <a:avLst/>
          </a:prstGeom>
          <a:noFill/>
          <a:ln w="22225">
            <a:solidFill>
              <a:srgbClr val="4A5364"/>
            </a:solidFill>
            <a:prstDash val="solid"/>
            <a:tailEnd type="triangle"/>
          </a:ln>
        </p:spPr>
        <p:txBody>
          <a:bodyPr/>
          <a:lstStyle/>
          <a:p>
            <a:endParaRPr lang="ko-KR" altLang="en-US"/>
          </a:p>
        </p:txBody>
      </p:sp>
      <p:sp>
        <p:nvSpPr>
          <p:cNvPr id="13" name="Text 10"/>
          <p:cNvSpPr txBox="1"/>
          <p:nvPr/>
        </p:nvSpPr>
        <p:spPr>
          <a:xfrm>
            <a:off x="5063033" y="2889504"/>
            <a:ext cx="731520" cy="274320"/>
          </a:xfrm>
          <a:prstGeom prst="rect">
            <a:avLst/>
          </a:prstGeom>
          <a:noFill/>
          <a:ln/>
        </p:spPr>
        <p:txBody>
          <a:bodyPr wrap="square" lIns="0" tIns="0" rIns="0" bIns="0"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아니오</a:t>
            </a:r>
            <a:endParaRPr lang="en-US" sz="1500" dirty="0"/>
          </a:p>
        </p:txBody>
      </p:sp>
      <p:sp>
        <p:nvSpPr>
          <p:cNvPr id="14" name="Shape 11"/>
          <p:cNvSpPr/>
          <p:nvPr/>
        </p:nvSpPr>
        <p:spPr>
          <a:xfrm>
            <a:off x="509321" y="3218688"/>
            <a:ext cx="2651760" cy="1417320"/>
          </a:xfrm>
          <a:prstGeom prst="roundRect">
            <a:avLst>
              <a:gd name="adj" fmla="val 5161"/>
            </a:avLst>
          </a:prstGeom>
          <a:solidFill>
            <a:srgbClr val="1E2A5C"/>
          </a:solidFill>
          <a:ln/>
        </p:spPr>
        <p:txBody>
          <a:bodyPr/>
          <a:lstStyle/>
          <a:p>
            <a:endParaRPr lang="ko-KR" altLang="en-US"/>
          </a:p>
        </p:txBody>
      </p:sp>
      <p:sp>
        <p:nvSpPr>
          <p:cNvPr id="15" name="Shape 12"/>
          <p:cNvSpPr/>
          <p:nvPr/>
        </p:nvSpPr>
        <p:spPr>
          <a:xfrm>
            <a:off x="619049" y="3310128"/>
            <a:ext cx="329184" cy="329184"/>
          </a:xfrm>
          <a:prstGeom prst="roundRect">
            <a:avLst>
              <a:gd name="adj" fmla="val 45000"/>
            </a:avLst>
          </a:prstGeom>
          <a:solidFill>
            <a:srgbClr val="FFFFFF"/>
          </a:solidFill>
          <a:ln/>
        </p:spPr>
        <p:txBody>
          <a:bodyPr/>
          <a:lstStyle/>
          <a:p>
            <a:endParaRPr lang="ko-KR" altLang="en-US"/>
          </a:p>
        </p:txBody>
      </p:sp>
      <p:sp>
        <p:nvSpPr>
          <p:cNvPr id="16" name="Text 13"/>
          <p:cNvSpPr txBox="1"/>
          <p:nvPr/>
        </p:nvSpPr>
        <p:spPr>
          <a:xfrm>
            <a:off x="619049" y="3310128"/>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①</a:t>
            </a:r>
            <a:endParaRPr lang="en-US" sz="1500" dirty="0"/>
          </a:p>
        </p:txBody>
      </p:sp>
      <p:sp>
        <p:nvSpPr>
          <p:cNvPr id="17" name="Text 14"/>
          <p:cNvSpPr txBox="1"/>
          <p:nvPr/>
        </p:nvSpPr>
        <p:spPr>
          <a:xfrm>
            <a:off x="1057961" y="3218688"/>
            <a:ext cx="2011680" cy="141732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Pretendard" pitchFamily="34" charset="0"/>
                <a:ea typeface="Pretendard" pitchFamily="34" charset="-122"/>
                <a:cs typeface="Pretendard" pitchFamily="34" charset="-120"/>
              </a:rPr>
              <a:t>노드 타입</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열 = 노드 속성</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 관계</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열은 바꾼 뒤 지움</a:t>
            </a:r>
            <a:endParaRPr lang="en-US" sz="1800" dirty="0"/>
          </a:p>
        </p:txBody>
      </p:sp>
      <p:sp>
        <p:nvSpPr>
          <p:cNvPr id="18" name="Text 15"/>
          <p:cNvSpPr txBox="1"/>
          <p:nvPr/>
        </p:nvSpPr>
        <p:spPr>
          <a:xfrm>
            <a:off x="509321" y="4709160"/>
            <a:ext cx="2651760" cy="548640"/>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FK가 0개 또는 1개인</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보통 테이블은 대부분 여기로 옴</a:t>
            </a:r>
            <a:endParaRPr lang="en-US" sz="1400" dirty="0"/>
          </a:p>
        </p:txBody>
      </p:sp>
      <p:sp>
        <p:nvSpPr>
          <p:cNvPr id="19" name="Shape 16"/>
          <p:cNvSpPr/>
          <p:nvPr/>
        </p:nvSpPr>
        <p:spPr>
          <a:xfrm>
            <a:off x="3435401" y="3218688"/>
            <a:ext cx="3108960" cy="420624"/>
          </a:xfrm>
          <a:prstGeom prst="roundRect">
            <a:avLst>
              <a:gd name="adj" fmla="val 17391"/>
            </a:avLst>
          </a:prstGeom>
          <a:solidFill>
            <a:srgbClr val="EEF3FA"/>
          </a:solidFill>
          <a:ln w="12700">
            <a:solidFill>
              <a:srgbClr val="2E74C6"/>
            </a:solidFill>
            <a:prstDash val="solid"/>
          </a:ln>
        </p:spPr>
        <p:txBody>
          <a:bodyPr/>
          <a:lstStyle/>
          <a:p>
            <a:endParaRPr lang="ko-KR" altLang="en-US"/>
          </a:p>
        </p:txBody>
      </p:sp>
      <p:sp>
        <p:nvSpPr>
          <p:cNvPr id="20" name="Text 17"/>
          <p:cNvSpPr txBox="1"/>
          <p:nvPr/>
        </p:nvSpPr>
        <p:spPr>
          <a:xfrm>
            <a:off x="3435401" y="3218688"/>
            <a:ext cx="3108960" cy="42062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Q2. FK 몇 개?</a:t>
            </a:r>
            <a:endParaRPr lang="en-US" sz="1500" dirty="0"/>
          </a:p>
        </p:txBody>
      </p:sp>
      <p:sp>
        <p:nvSpPr>
          <p:cNvPr id="21" name="Shape 18"/>
          <p:cNvSpPr/>
          <p:nvPr/>
        </p:nvSpPr>
        <p:spPr>
          <a:xfrm>
            <a:off x="3435401" y="3730752"/>
            <a:ext cx="310896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2" name="Shape 19"/>
          <p:cNvSpPr/>
          <p:nvPr/>
        </p:nvSpPr>
        <p:spPr>
          <a:xfrm>
            <a:off x="3508553" y="3831336"/>
            <a:ext cx="329184" cy="329184"/>
          </a:xfrm>
          <a:prstGeom prst="roundRect">
            <a:avLst>
              <a:gd name="adj" fmla="val 45000"/>
            </a:avLst>
          </a:prstGeom>
          <a:solidFill>
            <a:srgbClr val="2E74C6"/>
          </a:solidFill>
          <a:ln/>
        </p:spPr>
        <p:txBody>
          <a:bodyPr/>
          <a:lstStyle/>
          <a:p>
            <a:endParaRPr lang="ko-KR" altLang="en-US"/>
          </a:p>
        </p:txBody>
      </p:sp>
      <p:sp>
        <p:nvSpPr>
          <p:cNvPr id="23" name="Text 20"/>
          <p:cNvSpPr txBox="1"/>
          <p:nvPr/>
        </p:nvSpPr>
        <p:spPr>
          <a:xfrm>
            <a:off x="3508553" y="383133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24" name="Text 21"/>
          <p:cNvSpPr txBox="1"/>
          <p:nvPr/>
        </p:nvSpPr>
        <p:spPr>
          <a:xfrm>
            <a:off x="3910889" y="3730752"/>
            <a:ext cx="2578608" cy="53035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2개이고 업무 열 없음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1개로 흡수</a:t>
            </a:r>
            <a:endParaRPr lang="en-US" sz="1400" dirty="0"/>
          </a:p>
        </p:txBody>
      </p:sp>
      <p:sp>
        <p:nvSpPr>
          <p:cNvPr id="25" name="Shape 22"/>
          <p:cNvSpPr/>
          <p:nvPr/>
        </p:nvSpPr>
        <p:spPr>
          <a:xfrm>
            <a:off x="3435401" y="4334256"/>
            <a:ext cx="3108960"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3508553" y="4544568"/>
            <a:ext cx="329184" cy="329184"/>
          </a:xfrm>
          <a:prstGeom prst="roundRect">
            <a:avLst>
              <a:gd name="adj" fmla="val 45000"/>
            </a:avLst>
          </a:prstGeom>
          <a:solidFill>
            <a:srgbClr val="2E74C6"/>
          </a:solidFill>
          <a:ln/>
        </p:spPr>
        <p:txBody>
          <a:bodyPr/>
          <a:lstStyle/>
          <a:p>
            <a:endParaRPr lang="ko-KR" altLang="en-US"/>
          </a:p>
        </p:txBody>
      </p:sp>
      <p:sp>
        <p:nvSpPr>
          <p:cNvPr id="27" name="Text 24"/>
          <p:cNvSpPr txBox="1"/>
          <p:nvPr/>
        </p:nvSpPr>
        <p:spPr>
          <a:xfrm>
            <a:off x="3508553" y="454456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28" name="Text 25"/>
          <p:cNvSpPr txBox="1"/>
          <p:nvPr/>
        </p:nvSpPr>
        <p:spPr>
          <a:xfrm>
            <a:off x="3910889" y="4334256"/>
            <a:ext cx="2578608" cy="7498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 + 업무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 관계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(조회하거나 집계하면 노드)</a:t>
            </a:r>
            <a:endParaRPr lang="en-US" sz="1400" dirty="0"/>
          </a:p>
        </p:txBody>
      </p:sp>
      <p:sp>
        <p:nvSpPr>
          <p:cNvPr id="29" name="Shape 26"/>
          <p:cNvSpPr/>
          <p:nvPr/>
        </p:nvSpPr>
        <p:spPr>
          <a:xfrm>
            <a:off x="3435401" y="5157216"/>
            <a:ext cx="3108960" cy="530352"/>
          </a:xfrm>
          <a:prstGeom prst="roundRect">
            <a:avLst>
              <a:gd name="adj" fmla="val 10345"/>
            </a:avLst>
          </a:prstGeom>
          <a:solidFill>
            <a:srgbClr val="1E2A5C"/>
          </a:solidFill>
          <a:ln/>
        </p:spPr>
        <p:txBody>
          <a:bodyPr/>
          <a:lstStyle/>
          <a:p>
            <a:endParaRPr lang="ko-KR" altLang="en-US"/>
          </a:p>
        </p:txBody>
      </p:sp>
      <p:sp>
        <p:nvSpPr>
          <p:cNvPr id="30" name="Shape 27"/>
          <p:cNvSpPr/>
          <p:nvPr/>
        </p:nvSpPr>
        <p:spPr>
          <a:xfrm>
            <a:off x="3508553" y="5257800"/>
            <a:ext cx="329184" cy="329184"/>
          </a:xfrm>
          <a:prstGeom prst="roundRect">
            <a:avLst>
              <a:gd name="adj" fmla="val 45000"/>
            </a:avLst>
          </a:prstGeom>
          <a:solidFill>
            <a:srgbClr val="FFFFFF"/>
          </a:solidFill>
          <a:ln/>
        </p:spPr>
        <p:txBody>
          <a:bodyPr/>
          <a:lstStyle/>
          <a:p>
            <a:endParaRPr lang="ko-KR" altLang="en-US"/>
          </a:p>
        </p:txBody>
      </p:sp>
      <p:sp>
        <p:nvSpPr>
          <p:cNvPr id="31" name="Text 28"/>
          <p:cNvSpPr txBox="1"/>
          <p:nvPr/>
        </p:nvSpPr>
        <p:spPr>
          <a:xfrm>
            <a:off x="3508553" y="5257800"/>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a:t>
            </a:r>
            <a:endParaRPr lang="en-US" sz="1500" dirty="0"/>
          </a:p>
        </p:txBody>
      </p:sp>
      <p:sp>
        <p:nvSpPr>
          <p:cNvPr id="32" name="Text 29"/>
          <p:cNvSpPr txBox="1"/>
          <p:nvPr/>
        </p:nvSpPr>
        <p:spPr>
          <a:xfrm>
            <a:off x="3910889" y="5157216"/>
            <a:ext cx="2578608" cy="530352"/>
          </a:xfrm>
          <a:prstGeom prst="rect">
            <a:avLst/>
          </a:prstGeom>
          <a:noFill/>
          <a:ln/>
        </p:spPr>
        <p:txBody>
          <a:bodyPr wrap="square" lIns="0" tIns="0" rIns="0" bIns="0" rtlCol="0" anchor="ctr"/>
          <a:lstStyle/>
          <a:p>
            <a:pPr marL="0" indent="0">
              <a:buNone/>
            </a:pPr>
            <a:r>
              <a:rPr lang="en-US" sz="1400" b="1" dirty="0">
                <a:solidFill>
                  <a:srgbClr val="FFFFFF"/>
                </a:solidFill>
                <a:latin typeface="Pretendard" pitchFamily="34" charset="0"/>
                <a:ea typeface="Pretendard" pitchFamily="34" charset="-122"/>
                <a:cs typeface="Pretendard" pitchFamily="34" charset="-120"/>
              </a:rPr>
              <a:t>3개 이상</a:t>
            </a:r>
            <a:endParaRPr lang="en-US" sz="1400" dirty="0"/>
          </a:p>
          <a:p>
            <a:pPr marL="0" indent="0">
              <a:buNone/>
            </a:pPr>
            <a:r>
              <a:rPr lang="en-US" sz="1400" dirty="0">
                <a:solidFill>
                  <a:srgbClr val="D9E3F5"/>
                </a:solidFill>
                <a:latin typeface="Pretendard" pitchFamily="34" charset="0"/>
                <a:ea typeface="Pretendard" pitchFamily="34" charset="-122"/>
                <a:cs typeface="Pretendard" pitchFamily="34" charset="-120"/>
              </a:rPr>
              <a:t>노드 타입(중간 노드)</a:t>
            </a:r>
            <a:endParaRPr lang="en-US" sz="1400" dirty="0"/>
          </a:p>
        </p:txBody>
      </p:sp>
      <p:sp>
        <p:nvSpPr>
          <p:cNvPr id="33" name="Shape 30"/>
          <p:cNvSpPr/>
          <p:nvPr/>
        </p:nvSpPr>
        <p:spPr>
          <a:xfrm>
            <a:off x="509321" y="5797296"/>
            <a:ext cx="6035040" cy="585216"/>
          </a:xfrm>
          <a:prstGeom prst="roundRect">
            <a:avLst>
              <a:gd name="adj" fmla="val 12500"/>
            </a:avLst>
          </a:prstGeom>
          <a:solidFill>
            <a:srgbClr val="EEF3FA"/>
          </a:solidFill>
          <a:ln w="12700">
            <a:solidFill>
              <a:srgbClr val="2E74C6"/>
            </a:solidFill>
            <a:prstDash val="solid"/>
          </a:ln>
        </p:spPr>
        <p:txBody>
          <a:bodyPr/>
          <a:lstStyle/>
          <a:p>
            <a:endParaRPr lang="ko-KR" altLang="en-US"/>
          </a:p>
        </p:txBody>
      </p:sp>
      <p:sp>
        <p:nvSpPr>
          <p:cNvPr id="34" name="Text 31"/>
          <p:cNvSpPr txBox="1"/>
          <p:nvPr/>
        </p:nvSpPr>
        <p:spPr>
          <a:xfrm>
            <a:off x="646481" y="5797296"/>
            <a:ext cx="57607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왜 Q1이 먼저? FK 수만 보면 이체 기록(FK 2개)이 관계로 흡수돼 이체 자체를 찾을 수 없음 (예 ①)</a:t>
            </a:r>
            <a:endParaRPr lang="en-US" sz="1400" dirty="0"/>
          </a:p>
        </p:txBody>
      </p:sp>
      <p:sp>
        <p:nvSpPr>
          <p:cNvPr id="35" name="Shape 32"/>
          <p:cNvSpPr/>
          <p:nvPr/>
        </p:nvSpPr>
        <p:spPr>
          <a:xfrm>
            <a:off x="6818681" y="1755648"/>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36" name="Shape 33"/>
          <p:cNvSpPr/>
          <p:nvPr/>
        </p:nvSpPr>
        <p:spPr>
          <a:xfrm>
            <a:off x="6910121" y="1847088"/>
            <a:ext cx="329184" cy="329184"/>
          </a:xfrm>
          <a:prstGeom prst="roundRect">
            <a:avLst>
              <a:gd name="adj" fmla="val 45000"/>
            </a:avLst>
          </a:prstGeom>
          <a:solidFill>
            <a:srgbClr val="2E74C6"/>
          </a:solidFill>
          <a:ln/>
        </p:spPr>
        <p:txBody>
          <a:bodyPr/>
          <a:lstStyle/>
          <a:p>
            <a:endParaRPr lang="ko-KR" altLang="en-US"/>
          </a:p>
        </p:txBody>
      </p:sp>
      <p:sp>
        <p:nvSpPr>
          <p:cNvPr id="37" name="Text 34"/>
          <p:cNvSpPr txBox="1"/>
          <p:nvPr/>
        </p:nvSpPr>
        <p:spPr>
          <a:xfrm>
            <a:off x="6910121" y="184708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a:t>
            </a:r>
            <a:endParaRPr lang="en-US" sz="1500" dirty="0"/>
          </a:p>
        </p:txBody>
      </p:sp>
      <p:sp>
        <p:nvSpPr>
          <p:cNvPr id="38" name="Shape 35"/>
          <p:cNvSpPr/>
          <p:nvPr/>
        </p:nvSpPr>
        <p:spPr>
          <a:xfrm>
            <a:off x="7321601" y="1865376"/>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39" name="Text 36"/>
          <p:cNvSpPr txBox="1"/>
          <p:nvPr/>
        </p:nvSpPr>
        <p:spPr>
          <a:xfrm>
            <a:off x="7367321" y="1865376"/>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이체(출금계좌FK, 입금계좌FK,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금액, 일시)</a:t>
            </a:r>
            <a:endParaRPr lang="en-US" sz="1400" dirty="0"/>
          </a:p>
        </p:txBody>
      </p:sp>
      <p:sp>
        <p:nvSpPr>
          <p:cNvPr id="40" name="Shape 37"/>
          <p:cNvSpPr/>
          <p:nvPr/>
        </p:nvSpPr>
        <p:spPr>
          <a:xfrm>
            <a:off x="9699041" y="2295144"/>
            <a:ext cx="228600" cy="0"/>
          </a:xfrm>
          <a:prstGeom prst="line">
            <a:avLst/>
          </a:prstGeom>
          <a:noFill/>
          <a:ln w="22225">
            <a:solidFill>
              <a:srgbClr val="4A5364"/>
            </a:solidFill>
            <a:prstDash val="solid"/>
            <a:tailEnd type="triangle"/>
          </a:ln>
        </p:spPr>
        <p:txBody>
          <a:bodyPr/>
          <a:lstStyle/>
          <a:p>
            <a:endParaRPr lang="ko-KR" altLang="en-US"/>
          </a:p>
        </p:txBody>
      </p:sp>
      <p:sp>
        <p:nvSpPr>
          <p:cNvPr id="41" name="Shape 38"/>
          <p:cNvSpPr/>
          <p:nvPr/>
        </p:nvSpPr>
        <p:spPr>
          <a:xfrm>
            <a:off x="1001908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2" name="Text 39"/>
          <p:cNvSpPr txBox="1"/>
          <p:nvPr/>
        </p:nvSpPr>
        <p:spPr>
          <a:xfrm>
            <a:off x="1001908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3" name="Shape 40"/>
          <p:cNvSpPr/>
          <p:nvPr/>
        </p:nvSpPr>
        <p:spPr>
          <a:xfrm>
            <a:off x="11550701" y="2084832"/>
            <a:ext cx="960120" cy="384048"/>
          </a:xfrm>
          <a:prstGeom prst="roundRect">
            <a:avLst>
              <a:gd name="adj" fmla="val 28571"/>
            </a:avLst>
          </a:prstGeom>
          <a:solidFill>
            <a:srgbClr val="1E2A5C"/>
          </a:solidFill>
          <a:ln/>
        </p:spPr>
        <p:txBody>
          <a:bodyPr/>
          <a:lstStyle/>
          <a:p>
            <a:endParaRPr lang="ko-KR" altLang="en-US"/>
          </a:p>
        </p:txBody>
      </p:sp>
      <p:sp>
        <p:nvSpPr>
          <p:cNvPr id="44" name="Text 41"/>
          <p:cNvSpPr txBox="1"/>
          <p:nvPr/>
        </p:nvSpPr>
        <p:spPr>
          <a:xfrm>
            <a:off x="1155070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:이체</a:t>
            </a:r>
            <a:endParaRPr lang="en-US" sz="1400" dirty="0"/>
          </a:p>
        </p:txBody>
      </p:sp>
      <p:sp>
        <p:nvSpPr>
          <p:cNvPr id="45" name="Shape 42"/>
          <p:cNvSpPr/>
          <p:nvPr/>
        </p:nvSpPr>
        <p:spPr>
          <a:xfrm>
            <a:off x="1308232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6" name="Text 43"/>
          <p:cNvSpPr txBox="1"/>
          <p:nvPr/>
        </p:nvSpPr>
        <p:spPr>
          <a:xfrm>
            <a:off x="1308232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7" name="Shape 44"/>
          <p:cNvSpPr/>
          <p:nvPr/>
        </p:nvSpPr>
        <p:spPr>
          <a:xfrm>
            <a:off x="1100663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48" name="Text 45"/>
          <p:cNvSpPr txBox="1"/>
          <p:nvPr/>
        </p:nvSpPr>
        <p:spPr>
          <a:xfrm>
            <a:off x="1088776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:출금</a:t>
            </a:r>
            <a:endParaRPr lang="en-US" sz="1400" dirty="0"/>
          </a:p>
        </p:txBody>
      </p:sp>
      <p:sp>
        <p:nvSpPr>
          <p:cNvPr id="49" name="Shape 46"/>
          <p:cNvSpPr/>
          <p:nvPr/>
        </p:nvSpPr>
        <p:spPr>
          <a:xfrm>
            <a:off x="1253825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50" name="Text 47"/>
          <p:cNvSpPr txBox="1"/>
          <p:nvPr/>
        </p:nvSpPr>
        <p:spPr>
          <a:xfrm>
            <a:off x="1241938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:입금</a:t>
            </a:r>
            <a:endParaRPr lang="en-US" sz="1400" dirty="0"/>
          </a:p>
        </p:txBody>
      </p:sp>
      <p:sp>
        <p:nvSpPr>
          <p:cNvPr id="51" name="Text 48"/>
          <p:cNvSpPr txBox="1"/>
          <p:nvPr/>
        </p:nvSpPr>
        <p:spPr>
          <a:xfrm>
            <a:off x="9973361" y="2487168"/>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조회 대상 → 노드 타입(FK가 2개여도)</a:t>
            </a:r>
            <a:endParaRPr lang="en-US" sz="1400" dirty="0"/>
          </a:p>
        </p:txBody>
      </p:sp>
      <p:sp>
        <p:nvSpPr>
          <p:cNvPr id="52" name="Shape 49"/>
          <p:cNvSpPr/>
          <p:nvPr/>
        </p:nvSpPr>
        <p:spPr>
          <a:xfrm>
            <a:off x="6818681" y="2907792"/>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3" name="Shape 50"/>
          <p:cNvSpPr/>
          <p:nvPr/>
        </p:nvSpPr>
        <p:spPr>
          <a:xfrm>
            <a:off x="6910121" y="2999232"/>
            <a:ext cx="329184"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6910121" y="299923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55" name="Shape 52"/>
          <p:cNvSpPr/>
          <p:nvPr/>
        </p:nvSpPr>
        <p:spPr>
          <a:xfrm>
            <a:off x="7321601" y="3017520"/>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56" name="Text 53"/>
          <p:cNvSpPr txBox="1"/>
          <p:nvPr/>
        </p:nvSpPr>
        <p:spPr>
          <a:xfrm>
            <a:off x="7367321" y="3017520"/>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사용자, 역할,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사용자역할(사용자FK, 역할FK)</a:t>
            </a:r>
            <a:endParaRPr lang="en-US" sz="1400" dirty="0"/>
          </a:p>
        </p:txBody>
      </p:sp>
      <p:sp>
        <p:nvSpPr>
          <p:cNvPr id="57" name="Shape 54"/>
          <p:cNvSpPr/>
          <p:nvPr/>
        </p:nvSpPr>
        <p:spPr>
          <a:xfrm>
            <a:off x="9699041" y="3447288"/>
            <a:ext cx="228600" cy="0"/>
          </a:xfrm>
          <a:prstGeom prst="line">
            <a:avLst/>
          </a:prstGeom>
          <a:noFill/>
          <a:ln w="22225">
            <a:solidFill>
              <a:srgbClr val="4A5364"/>
            </a:solidFill>
            <a:prstDash val="solid"/>
            <a:tailEnd type="triangle"/>
          </a:ln>
        </p:spPr>
        <p:txBody>
          <a:bodyPr/>
          <a:lstStyle/>
          <a:p>
            <a:endParaRPr lang="ko-KR" altLang="en-US"/>
          </a:p>
        </p:txBody>
      </p:sp>
      <p:sp>
        <p:nvSpPr>
          <p:cNvPr id="58" name="Shape 55"/>
          <p:cNvSpPr/>
          <p:nvPr/>
        </p:nvSpPr>
        <p:spPr>
          <a:xfrm>
            <a:off x="1001908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59" name="Text 56"/>
          <p:cNvSpPr txBox="1"/>
          <p:nvPr/>
        </p:nvSpPr>
        <p:spPr>
          <a:xfrm>
            <a:off x="1001908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:사용자</a:t>
            </a:r>
            <a:endParaRPr lang="en-US" sz="1400" dirty="0"/>
          </a:p>
        </p:txBody>
      </p:sp>
      <p:sp>
        <p:nvSpPr>
          <p:cNvPr id="60" name="Shape 57"/>
          <p:cNvSpPr/>
          <p:nvPr/>
        </p:nvSpPr>
        <p:spPr>
          <a:xfrm>
            <a:off x="1312804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61" name="Text 58"/>
          <p:cNvSpPr txBox="1"/>
          <p:nvPr/>
        </p:nvSpPr>
        <p:spPr>
          <a:xfrm>
            <a:off x="1312804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:역할</a:t>
            </a:r>
            <a:endParaRPr lang="en-US" sz="1400" dirty="0"/>
          </a:p>
        </p:txBody>
      </p:sp>
      <p:sp>
        <p:nvSpPr>
          <p:cNvPr id="62" name="Shape 59"/>
          <p:cNvSpPr/>
          <p:nvPr/>
        </p:nvSpPr>
        <p:spPr>
          <a:xfrm>
            <a:off x="10960913" y="3429000"/>
            <a:ext cx="2139696" cy="0"/>
          </a:xfrm>
          <a:prstGeom prst="line">
            <a:avLst/>
          </a:prstGeom>
          <a:noFill/>
          <a:ln w="22225">
            <a:solidFill>
              <a:srgbClr val="1E2A5C"/>
            </a:solidFill>
            <a:prstDash val="solid"/>
            <a:tailEnd type="triangle"/>
          </a:ln>
        </p:spPr>
        <p:txBody>
          <a:bodyPr/>
          <a:lstStyle/>
          <a:p>
            <a:endParaRPr lang="ko-KR" altLang="en-US"/>
          </a:p>
        </p:txBody>
      </p:sp>
      <p:sp>
        <p:nvSpPr>
          <p:cNvPr id="63" name="Text 60"/>
          <p:cNvSpPr txBox="1"/>
          <p:nvPr/>
        </p:nvSpPr>
        <p:spPr>
          <a:xfrm>
            <a:off x="10842041" y="3127248"/>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:맡음</a:t>
            </a:r>
            <a:endParaRPr lang="en-US" sz="1400" dirty="0"/>
          </a:p>
        </p:txBody>
      </p:sp>
      <p:sp>
        <p:nvSpPr>
          <p:cNvPr id="64" name="Text 61"/>
          <p:cNvSpPr txBox="1"/>
          <p:nvPr/>
        </p:nvSpPr>
        <p:spPr>
          <a:xfrm>
            <a:off x="9973361" y="3639312"/>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열 없음 → 관계로 흡수(사용자역할 노드 없음)</a:t>
            </a:r>
            <a:endParaRPr lang="en-US" sz="1400" dirty="0"/>
          </a:p>
        </p:txBody>
      </p:sp>
      <p:sp>
        <p:nvSpPr>
          <p:cNvPr id="65" name="Shape 62"/>
          <p:cNvSpPr/>
          <p:nvPr/>
        </p:nvSpPr>
        <p:spPr>
          <a:xfrm>
            <a:off x="6818681" y="4059936"/>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66" name="Shape 63"/>
          <p:cNvSpPr/>
          <p:nvPr/>
        </p:nvSpPr>
        <p:spPr>
          <a:xfrm>
            <a:off x="6910121" y="4151376"/>
            <a:ext cx="329184" cy="329184"/>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6910121" y="415137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68" name="Shape 65"/>
          <p:cNvSpPr/>
          <p:nvPr/>
        </p:nvSpPr>
        <p:spPr>
          <a:xfrm>
            <a:off x="7321601" y="4169664"/>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69" name="Text 66"/>
          <p:cNvSpPr txBox="1"/>
          <p:nvPr/>
        </p:nvSpPr>
        <p:spPr>
          <a:xfrm>
            <a:off x="7367321" y="4169664"/>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주문상품(주문FK, 상품FK,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수량, 단가)</a:t>
            </a:r>
            <a:endParaRPr lang="en-US" sz="1400" dirty="0"/>
          </a:p>
        </p:txBody>
      </p:sp>
      <p:sp>
        <p:nvSpPr>
          <p:cNvPr id="70" name="Shape 67"/>
          <p:cNvSpPr/>
          <p:nvPr/>
        </p:nvSpPr>
        <p:spPr>
          <a:xfrm>
            <a:off x="9699041" y="4599432"/>
            <a:ext cx="228600" cy="0"/>
          </a:xfrm>
          <a:prstGeom prst="line">
            <a:avLst/>
          </a:prstGeom>
          <a:noFill/>
          <a:ln w="22225">
            <a:solidFill>
              <a:srgbClr val="4A5364"/>
            </a:solidFill>
            <a:prstDash val="solid"/>
            <a:tailEnd type="triangle"/>
          </a:ln>
        </p:spPr>
        <p:txBody>
          <a:bodyPr/>
          <a:lstStyle/>
          <a:p>
            <a:endParaRPr lang="ko-KR" altLang="en-US"/>
          </a:p>
        </p:txBody>
      </p:sp>
      <p:sp>
        <p:nvSpPr>
          <p:cNvPr id="71" name="Shape 68"/>
          <p:cNvSpPr/>
          <p:nvPr/>
        </p:nvSpPr>
        <p:spPr>
          <a:xfrm>
            <a:off x="1001908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2" name="Text 69"/>
          <p:cNvSpPr txBox="1"/>
          <p:nvPr/>
        </p:nvSpPr>
        <p:spPr>
          <a:xfrm>
            <a:off x="1001908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:주문</a:t>
            </a:r>
            <a:endParaRPr lang="en-US" sz="1400" dirty="0"/>
          </a:p>
        </p:txBody>
      </p:sp>
      <p:sp>
        <p:nvSpPr>
          <p:cNvPr id="73" name="Shape 70"/>
          <p:cNvSpPr/>
          <p:nvPr/>
        </p:nvSpPr>
        <p:spPr>
          <a:xfrm>
            <a:off x="1312804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4" name="Text 71"/>
          <p:cNvSpPr txBox="1"/>
          <p:nvPr/>
        </p:nvSpPr>
        <p:spPr>
          <a:xfrm>
            <a:off x="1312804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:상품</a:t>
            </a:r>
            <a:endParaRPr lang="en-US" sz="1400" dirty="0"/>
          </a:p>
        </p:txBody>
      </p:sp>
      <p:sp>
        <p:nvSpPr>
          <p:cNvPr id="75" name="Shape 72"/>
          <p:cNvSpPr/>
          <p:nvPr/>
        </p:nvSpPr>
        <p:spPr>
          <a:xfrm>
            <a:off x="10960913" y="4581144"/>
            <a:ext cx="2139696" cy="0"/>
          </a:xfrm>
          <a:prstGeom prst="line">
            <a:avLst/>
          </a:prstGeom>
          <a:noFill/>
          <a:ln w="22225">
            <a:solidFill>
              <a:srgbClr val="1E2A5C"/>
            </a:solidFill>
            <a:prstDash val="solid"/>
            <a:tailEnd type="triangle"/>
          </a:ln>
        </p:spPr>
        <p:txBody>
          <a:bodyPr/>
          <a:lstStyle/>
          <a:p>
            <a:endParaRPr lang="ko-KR" altLang="en-US"/>
          </a:p>
        </p:txBody>
      </p:sp>
      <p:sp>
        <p:nvSpPr>
          <p:cNvPr id="76" name="Text 73"/>
          <p:cNvSpPr txBox="1"/>
          <p:nvPr/>
        </p:nvSpPr>
        <p:spPr>
          <a:xfrm>
            <a:off x="10842041" y="4279392"/>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:포함 {수량, 단가}</a:t>
            </a:r>
            <a:endParaRPr lang="en-US" sz="1400" dirty="0"/>
          </a:p>
        </p:txBody>
      </p:sp>
      <p:sp>
        <p:nvSpPr>
          <p:cNvPr id="77" name="Text 74"/>
          <p:cNvSpPr txBox="1"/>
          <p:nvPr/>
        </p:nvSpPr>
        <p:spPr>
          <a:xfrm>
            <a:off x="9973361" y="4791456"/>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속성 → 관계 속성(판매 집계가 잦으면 노드)</a:t>
            </a:r>
            <a:endParaRPr lang="en-US" sz="1400" dirty="0"/>
          </a:p>
        </p:txBody>
      </p:sp>
      <p:sp>
        <p:nvSpPr>
          <p:cNvPr id="78" name="Shape 75"/>
          <p:cNvSpPr/>
          <p:nvPr/>
        </p:nvSpPr>
        <p:spPr>
          <a:xfrm>
            <a:off x="6818681" y="5212080"/>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79" name="Shape 76"/>
          <p:cNvSpPr/>
          <p:nvPr/>
        </p:nvSpPr>
        <p:spPr>
          <a:xfrm>
            <a:off x="6910121" y="5303520"/>
            <a:ext cx="329184" cy="329184"/>
          </a:xfrm>
          <a:prstGeom prst="roundRect">
            <a:avLst>
              <a:gd name="adj" fmla="val 45000"/>
            </a:avLst>
          </a:prstGeom>
          <a:solidFill>
            <a:srgbClr val="2E74C6"/>
          </a:solidFill>
          <a:ln/>
        </p:spPr>
        <p:txBody>
          <a:bodyPr/>
          <a:lstStyle/>
          <a:p>
            <a:endParaRPr lang="ko-KR" altLang="en-US"/>
          </a:p>
        </p:txBody>
      </p:sp>
      <p:sp>
        <p:nvSpPr>
          <p:cNvPr id="80" name="Text 77"/>
          <p:cNvSpPr txBox="1"/>
          <p:nvPr/>
        </p:nvSpPr>
        <p:spPr>
          <a:xfrm>
            <a:off x="6910121" y="530352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④</a:t>
            </a:r>
            <a:endParaRPr lang="en-US" sz="1500" dirty="0"/>
          </a:p>
        </p:txBody>
      </p:sp>
      <p:sp>
        <p:nvSpPr>
          <p:cNvPr id="81" name="Shape 78"/>
          <p:cNvSpPr/>
          <p:nvPr/>
        </p:nvSpPr>
        <p:spPr>
          <a:xfrm>
            <a:off x="7321601" y="5321808"/>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82" name="Text 79"/>
          <p:cNvSpPr txBox="1"/>
          <p:nvPr/>
        </p:nvSpPr>
        <p:spPr>
          <a:xfrm>
            <a:off x="7367321" y="5321808"/>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수강신청(학생FK, 과목FK,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학기FK)</a:t>
            </a:r>
            <a:endParaRPr lang="en-US" sz="1400" dirty="0"/>
          </a:p>
        </p:txBody>
      </p:sp>
      <p:sp>
        <p:nvSpPr>
          <p:cNvPr id="83" name="Shape 80"/>
          <p:cNvSpPr/>
          <p:nvPr/>
        </p:nvSpPr>
        <p:spPr>
          <a:xfrm>
            <a:off x="9699041" y="5751576"/>
            <a:ext cx="228600" cy="0"/>
          </a:xfrm>
          <a:prstGeom prst="line">
            <a:avLst/>
          </a:prstGeom>
          <a:noFill/>
          <a:ln w="22225">
            <a:solidFill>
              <a:srgbClr val="4A5364"/>
            </a:solidFill>
            <a:prstDash val="solid"/>
            <a:tailEnd type="triangle"/>
          </a:ln>
        </p:spPr>
        <p:txBody>
          <a:bodyPr/>
          <a:lstStyle/>
          <a:p>
            <a:endParaRPr lang="ko-KR" altLang="en-US"/>
          </a:p>
        </p:txBody>
      </p:sp>
      <p:sp>
        <p:nvSpPr>
          <p:cNvPr id="84" name="Shape 81"/>
          <p:cNvSpPr/>
          <p:nvPr/>
        </p:nvSpPr>
        <p:spPr>
          <a:xfrm>
            <a:off x="1001908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5" name="Text 82"/>
          <p:cNvSpPr txBox="1"/>
          <p:nvPr/>
        </p:nvSpPr>
        <p:spPr>
          <a:xfrm>
            <a:off x="1001908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:학생</a:t>
            </a:r>
            <a:endParaRPr lang="en-US" sz="1400" dirty="0"/>
          </a:p>
        </p:txBody>
      </p:sp>
      <p:sp>
        <p:nvSpPr>
          <p:cNvPr id="86" name="Shape 83"/>
          <p:cNvSpPr/>
          <p:nvPr/>
        </p:nvSpPr>
        <p:spPr>
          <a:xfrm>
            <a:off x="11550701" y="5541264"/>
            <a:ext cx="960120" cy="384048"/>
          </a:xfrm>
          <a:prstGeom prst="roundRect">
            <a:avLst>
              <a:gd name="adj" fmla="val 28571"/>
            </a:avLst>
          </a:prstGeom>
          <a:solidFill>
            <a:srgbClr val="1E2A5C"/>
          </a:solidFill>
          <a:ln/>
        </p:spPr>
        <p:txBody>
          <a:bodyPr/>
          <a:lstStyle/>
          <a:p>
            <a:endParaRPr lang="ko-KR" altLang="en-US"/>
          </a:p>
        </p:txBody>
      </p:sp>
      <p:sp>
        <p:nvSpPr>
          <p:cNvPr id="87" name="Text 84"/>
          <p:cNvSpPr txBox="1"/>
          <p:nvPr/>
        </p:nvSpPr>
        <p:spPr>
          <a:xfrm>
            <a:off x="1155070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:수강신청</a:t>
            </a:r>
            <a:endParaRPr lang="en-US" sz="1400" dirty="0"/>
          </a:p>
        </p:txBody>
      </p:sp>
      <p:sp>
        <p:nvSpPr>
          <p:cNvPr id="88" name="Shape 85"/>
          <p:cNvSpPr/>
          <p:nvPr/>
        </p:nvSpPr>
        <p:spPr>
          <a:xfrm>
            <a:off x="1308232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9" name="Text 86"/>
          <p:cNvSpPr txBox="1"/>
          <p:nvPr/>
        </p:nvSpPr>
        <p:spPr>
          <a:xfrm>
            <a:off x="1308232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:과목</a:t>
            </a:r>
            <a:endParaRPr lang="en-US" sz="1400" dirty="0"/>
          </a:p>
        </p:txBody>
      </p:sp>
      <p:sp>
        <p:nvSpPr>
          <p:cNvPr id="90" name="Shape 87"/>
          <p:cNvSpPr/>
          <p:nvPr/>
        </p:nvSpPr>
        <p:spPr>
          <a:xfrm>
            <a:off x="1100663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1" name="Text 88"/>
          <p:cNvSpPr txBox="1"/>
          <p:nvPr/>
        </p:nvSpPr>
        <p:spPr>
          <a:xfrm>
            <a:off x="1088776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:신청</a:t>
            </a:r>
            <a:endParaRPr lang="en-US" sz="1400" dirty="0"/>
          </a:p>
        </p:txBody>
      </p:sp>
      <p:sp>
        <p:nvSpPr>
          <p:cNvPr id="92" name="Shape 89"/>
          <p:cNvSpPr/>
          <p:nvPr/>
        </p:nvSpPr>
        <p:spPr>
          <a:xfrm>
            <a:off x="1253825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3" name="Text 90"/>
          <p:cNvSpPr txBox="1"/>
          <p:nvPr/>
        </p:nvSpPr>
        <p:spPr>
          <a:xfrm>
            <a:off x="1241938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:대상</a:t>
            </a:r>
            <a:endParaRPr lang="en-US" sz="1400" dirty="0"/>
          </a:p>
        </p:txBody>
      </p:sp>
      <p:sp>
        <p:nvSpPr>
          <p:cNvPr id="94" name="Text 91"/>
          <p:cNvSpPr txBox="1"/>
          <p:nvPr/>
        </p:nvSpPr>
        <p:spPr>
          <a:xfrm>
            <a:off x="9973361" y="5943600"/>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FK 3개 → 중간 노드(학기도 같은 방식), 홉 +1</a:t>
            </a:r>
            <a:endParaRPr lang="en-US" sz="1400" dirty="0"/>
          </a:p>
        </p:txBody>
      </p:sp>
      <p:sp>
        <p:nvSpPr>
          <p:cNvPr id="95" name="Shape 92"/>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96" name="Shape 93"/>
          <p:cNvSpPr/>
          <p:nvPr/>
        </p:nvSpPr>
        <p:spPr>
          <a:xfrm>
            <a:off x="509321" y="6492240"/>
            <a:ext cx="82296" cy="731520"/>
          </a:xfrm>
          <a:prstGeom prst="rect">
            <a:avLst/>
          </a:prstGeom>
          <a:solidFill>
            <a:srgbClr val="2E74C6"/>
          </a:solidFill>
          <a:ln/>
        </p:spPr>
        <p:txBody>
          <a:bodyPr/>
          <a:lstStyle/>
          <a:p>
            <a:endParaRPr lang="ko-KR" altLang="en-US"/>
          </a:p>
        </p:txBody>
      </p:sp>
      <p:sp>
        <p:nvSpPr>
          <p:cNvPr id="97" name="Text 94"/>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Neo4j 공식 변환 규칙과 같음: 테이블 → 라벨 , FK → 관계 , 조인 테이블 → 관계 또는 관계 + 속성,  셋 이상 → 중간 노드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이름에 공백 없음(Neo4j 권고: 라벨은 PascalCase, 관계는 대문자_밑줄). 정형에서 나온 타입은 LLM 추출 비용이 들지 않음</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프롬프트로 정형 테이블의 </a:t>
            </a:r>
            <a:r>
              <a:rPr lang="en-US" sz="3200" b="1" dirty="0" err="1">
                <a:solidFill>
                  <a:srgbClr val="2C2926"/>
                </a:solidFill>
                <a:latin typeface="Pretendard" pitchFamily="34" charset="0"/>
                <a:ea typeface="Pretendard" pitchFamily="34" charset="-122"/>
                <a:cs typeface="Pretendard" pitchFamily="34" charset="-120"/>
              </a:rPr>
              <a:t>스키마</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후보 </a:t>
            </a:r>
            <a:r>
              <a:rPr lang="en-US" sz="3200" b="1" dirty="0" err="1">
                <a:solidFill>
                  <a:srgbClr val="2C2926"/>
                </a:solidFill>
                <a:latin typeface="Pretendard" pitchFamily="34" charset="0"/>
                <a:ea typeface="Pretendard" pitchFamily="34" charset="-122"/>
                <a:cs typeface="Pretendard" pitchFamily="34" charset="-120"/>
              </a:rPr>
              <a:t>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변환 규칙을 프롬프트에 담아 바이브 코딩 도구에 맡김 — AI는 읽고 판정하고 그리며, 사람은 세 번 답하고 승인함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lang="ko-KR" altLang="en-US"/>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lang="ko-KR" altLang="en-US"/>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lang="ko-KR" altLang="en-US"/>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lang="ko-KR" altLang="en-US"/>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1755648"/>
            <a:ext cx="1163320" cy="640080"/>
          </a:xfrm>
          <a:prstGeom prst="roundRect">
            <a:avLst>
              <a:gd name="adj" fmla="val 11429"/>
            </a:avLst>
          </a:prstGeom>
          <a:solidFill>
            <a:srgbClr val="2E74C6"/>
          </a:solidFill>
          <a:ln/>
        </p:spPr>
        <p:txBody>
          <a:bodyPr/>
          <a:lstStyle/>
          <a:p>
            <a:endParaRPr lang="ko-KR" altLang="en-US"/>
          </a:p>
        </p:txBody>
      </p:sp>
      <p:sp>
        <p:nvSpPr>
          <p:cNvPr id="12" name="Text 9"/>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33917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5" name="Text 12"/>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DB</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카탈로그 읽기</a:t>
            </a:r>
            <a:endParaRPr lang="en-US" sz="1400" dirty="0"/>
          </a:p>
        </p:txBody>
      </p:sp>
      <p:sp>
        <p:nvSpPr>
          <p:cNvPr id="16" name="Shape 13"/>
          <p:cNvSpPr/>
          <p:nvPr/>
        </p:nvSpPr>
        <p:spPr>
          <a:xfrm>
            <a:off x="47379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8" name="Text 15"/>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규칙 판정</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(②③④)</a:t>
            </a:r>
            <a:endParaRPr lang="en-US" sz="1400" dirty="0"/>
          </a:p>
        </p:txBody>
      </p:sp>
      <p:sp>
        <p:nvSpPr>
          <p:cNvPr id="19" name="Shape 16"/>
          <p:cNvSpPr/>
          <p:nvPr/>
        </p:nvSpPr>
        <p:spPr>
          <a:xfrm flipV="1">
            <a:off x="6084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0" name="Shape 17"/>
          <p:cNvSpPr/>
          <p:nvPr/>
        </p:nvSpPr>
        <p:spPr>
          <a:xfrm>
            <a:off x="6239561" y="1755648"/>
            <a:ext cx="1163320" cy="640080"/>
          </a:xfrm>
          <a:prstGeom prst="roundRect">
            <a:avLst>
              <a:gd name="adj" fmla="val 11429"/>
            </a:avLst>
          </a:prstGeom>
          <a:solidFill>
            <a:srgbClr val="2E74C6"/>
          </a:solidFill>
          <a:ln/>
        </p:spPr>
        <p:txBody>
          <a:bodyPr/>
          <a:lstStyle/>
          <a:p>
            <a:endParaRPr lang="ko-KR" altLang="en-US"/>
          </a:p>
        </p:txBody>
      </p:sp>
      <p:sp>
        <p:nvSpPr>
          <p:cNvPr id="21" name="Text 18"/>
          <p:cNvSpPr txBox="1"/>
          <p:nvPr/>
        </p:nvSpPr>
        <p:spPr>
          <a:xfrm>
            <a:off x="62395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 규칙 ①과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이름 답</a:t>
            </a:r>
            <a:endParaRPr lang="en-US" sz="1400" dirty="0"/>
          </a:p>
        </p:txBody>
      </p:sp>
      <p:sp>
        <p:nvSpPr>
          <p:cNvPr id="22" name="Shape 19"/>
          <p:cNvSpPr/>
          <p:nvPr/>
        </p:nvSpPr>
        <p:spPr>
          <a:xfrm>
            <a:off x="74303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3" name="Shape 20"/>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4" name="Text 21"/>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25" name="Shape 22"/>
          <p:cNvSpPr/>
          <p:nvPr/>
        </p:nvSpPr>
        <p:spPr>
          <a:xfrm>
            <a:off x="87765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6" name="Shape 23"/>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7" name="Text 24"/>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28" name="Shape 25"/>
          <p:cNvSpPr/>
          <p:nvPr/>
        </p:nvSpPr>
        <p:spPr>
          <a:xfrm>
            <a:off x="101227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9" name="Shape 26"/>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0" name="Text 27"/>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Mermaid</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그림</a:t>
            </a:r>
            <a:endParaRPr lang="en-US" sz="1400" dirty="0"/>
          </a:p>
        </p:txBody>
      </p:sp>
      <p:sp>
        <p:nvSpPr>
          <p:cNvPr id="31" name="Shape 28"/>
          <p:cNvSpPr/>
          <p:nvPr/>
        </p:nvSpPr>
        <p:spPr>
          <a:xfrm flipV="1">
            <a:off x="114689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2" name="Shape 29"/>
          <p:cNvSpPr/>
          <p:nvPr/>
        </p:nvSpPr>
        <p:spPr>
          <a:xfrm>
            <a:off x="11624361" y="1755648"/>
            <a:ext cx="1163320" cy="640080"/>
          </a:xfrm>
          <a:prstGeom prst="roundRect">
            <a:avLst>
              <a:gd name="adj" fmla="val 11429"/>
            </a:avLst>
          </a:prstGeom>
          <a:solidFill>
            <a:srgbClr val="2E74C6"/>
          </a:solidFill>
          <a:ln/>
        </p:spPr>
        <p:txBody>
          <a:bodyPr/>
          <a:lstStyle/>
          <a:p>
            <a:endParaRPr lang="ko-KR" altLang="en-US"/>
          </a:p>
        </p:txBody>
      </p:sp>
      <p:sp>
        <p:nvSpPr>
          <p:cNvPr id="33" name="Text 30"/>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8. 검증과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34" name="Shape 31"/>
          <p:cNvSpPr/>
          <p:nvPr/>
        </p:nvSpPr>
        <p:spPr>
          <a:xfrm>
            <a:off x="12815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5" name="Shape 32"/>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6" name="Text 33"/>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37" name="Shape 34"/>
          <p:cNvSpPr/>
          <p:nvPr/>
        </p:nvSpPr>
        <p:spPr>
          <a:xfrm>
            <a:off x="12206021" y="2414016"/>
            <a:ext cx="0" cy="1078992"/>
          </a:xfrm>
          <a:prstGeom prst="line">
            <a:avLst/>
          </a:prstGeom>
          <a:noFill/>
          <a:ln w="19050">
            <a:solidFill>
              <a:srgbClr val="2E74C6"/>
            </a:solidFill>
            <a:prstDash val="dash"/>
            <a:tailEnd type="none"/>
          </a:ln>
        </p:spPr>
        <p:txBody>
          <a:bodyPr/>
          <a:lstStyle/>
          <a:p>
            <a:endParaRPr lang="ko-KR" altLang="en-US"/>
          </a:p>
        </p:txBody>
      </p:sp>
      <p:sp>
        <p:nvSpPr>
          <p:cNvPr id="38" name="Shape 35"/>
          <p:cNvSpPr/>
          <p:nvPr/>
        </p:nvSpPr>
        <p:spPr>
          <a:xfrm>
            <a:off x="8167421" y="3493008"/>
            <a:ext cx="4038600" cy="0"/>
          </a:xfrm>
          <a:prstGeom prst="line">
            <a:avLst/>
          </a:prstGeom>
          <a:noFill/>
          <a:ln w="19050">
            <a:solidFill>
              <a:srgbClr val="2E74C6"/>
            </a:solidFill>
            <a:prstDash val="dash"/>
          </a:ln>
        </p:spPr>
        <p:txBody>
          <a:bodyPr/>
          <a:lstStyle/>
          <a:p>
            <a:endParaRPr lang="ko-KR" altLang="en-US"/>
          </a:p>
        </p:txBody>
      </p:sp>
      <p:sp>
        <p:nvSpPr>
          <p:cNvPr id="39" name="Shape 36"/>
          <p:cNvSpPr/>
          <p:nvPr/>
        </p:nvSpPr>
        <p:spPr>
          <a:xfrm flipV="1">
            <a:off x="8167421" y="3328416"/>
            <a:ext cx="0" cy="164592"/>
          </a:xfrm>
          <a:prstGeom prst="line">
            <a:avLst/>
          </a:prstGeom>
          <a:noFill/>
          <a:ln w="19050">
            <a:solidFill>
              <a:srgbClr val="2E74C6"/>
            </a:solidFill>
            <a:prstDash val="dash"/>
            <a:tailEnd type="triangle"/>
          </a:ln>
        </p:spPr>
        <p:txBody>
          <a:bodyPr/>
          <a:lstStyle/>
          <a:p>
            <a:endParaRPr lang="ko-KR" altLang="en-US"/>
          </a:p>
        </p:txBody>
      </p:sp>
      <p:sp>
        <p:nvSpPr>
          <p:cNvPr id="40" name="Text 37"/>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수정 요청 시 5단계부터 다시(최대 5회)</a:t>
            </a:r>
            <a:endParaRPr lang="en-US" sz="1400" dirty="0"/>
          </a:p>
        </p:txBody>
      </p:sp>
      <p:sp>
        <p:nvSpPr>
          <p:cNvPr id="41" name="Shape 38"/>
          <p:cNvSpPr/>
          <p:nvPr/>
        </p:nvSpPr>
        <p:spPr>
          <a:xfrm>
            <a:off x="509321" y="3858768"/>
            <a:ext cx="4343400" cy="365760"/>
          </a:xfrm>
          <a:prstGeom prst="roundRect">
            <a:avLst>
              <a:gd name="adj" fmla="val 12500"/>
            </a:avLst>
          </a:prstGeom>
          <a:solidFill>
            <a:srgbClr val="2E74C6"/>
          </a:solidFill>
          <a:ln/>
        </p:spPr>
        <p:txBody>
          <a:bodyPr/>
          <a:lstStyle/>
          <a:p>
            <a:endParaRPr lang="ko-KR" altLang="en-US"/>
          </a:p>
        </p:txBody>
      </p:sp>
      <p:sp>
        <p:nvSpPr>
          <p:cNvPr id="42" name="Text 39"/>
          <p:cNvSpPr txBox="1"/>
          <p:nvPr/>
        </p:nvSpPr>
        <p:spPr>
          <a:xfrm>
            <a:off x="509321" y="3858768"/>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답하는 곳 3번</a:t>
            </a:r>
            <a:endParaRPr lang="en-US" sz="1600" dirty="0"/>
          </a:p>
        </p:txBody>
      </p:sp>
      <p:sp>
        <p:nvSpPr>
          <p:cNvPr id="43" name="Shape 40"/>
          <p:cNvSpPr/>
          <p:nvPr/>
        </p:nvSpPr>
        <p:spPr>
          <a:xfrm>
            <a:off x="509321" y="4297680"/>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4416552"/>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441655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46" name="Text 43"/>
          <p:cNvSpPr txBox="1"/>
          <p:nvPr/>
        </p:nvSpPr>
        <p:spPr>
          <a:xfrm>
            <a:off x="1057961" y="4297680"/>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출력 폴더와 DB 접속 정보</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비밀번호는 .env에 직접 등록</a:t>
            </a:r>
            <a:endParaRPr lang="en-US" sz="1400" dirty="0"/>
          </a:p>
        </p:txBody>
      </p:sp>
      <p:sp>
        <p:nvSpPr>
          <p:cNvPr id="47" name="Shape 44"/>
          <p:cNvSpPr/>
          <p:nvPr/>
        </p:nvSpPr>
        <p:spPr>
          <a:xfrm>
            <a:off x="509321" y="4946904"/>
            <a:ext cx="4343400" cy="804672"/>
          </a:xfrm>
          <a:prstGeom prst="roundRect">
            <a:avLst>
              <a:gd name="adj" fmla="val 6818"/>
            </a:avLst>
          </a:prstGeom>
          <a:solidFill>
            <a:srgbClr val="EEF3FA"/>
          </a:solidFill>
          <a:ln w="12700">
            <a:solidFill>
              <a:srgbClr val="2E74C6"/>
            </a:solidFill>
            <a:prstDash val="solid"/>
          </a:ln>
        </p:spPr>
        <p:txBody>
          <a:bodyPr/>
          <a:lstStyle/>
          <a:p>
            <a:endParaRPr lang="ko-KR" altLang="en-US"/>
          </a:p>
        </p:txBody>
      </p:sp>
      <p:sp>
        <p:nvSpPr>
          <p:cNvPr id="48" name="Shape 45"/>
          <p:cNvSpPr/>
          <p:nvPr/>
        </p:nvSpPr>
        <p:spPr>
          <a:xfrm>
            <a:off x="600761" y="5175504"/>
            <a:ext cx="347472" cy="347472"/>
          </a:xfrm>
          <a:prstGeom prst="roundRect">
            <a:avLst>
              <a:gd name="adj" fmla="val 13158"/>
            </a:avLst>
          </a:prstGeom>
          <a:solidFill>
            <a:srgbClr val="2E74C6"/>
          </a:solidFill>
          <a:ln/>
        </p:spPr>
        <p:txBody>
          <a:bodyPr/>
          <a:lstStyle/>
          <a:p>
            <a:endParaRPr lang="ko-KR" altLang="en-US"/>
          </a:p>
        </p:txBody>
      </p:sp>
      <p:sp>
        <p:nvSpPr>
          <p:cNvPr id="49" name="Text 46"/>
          <p:cNvSpPr txBox="1"/>
          <p:nvPr/>
        </p:nvSpPr>
        <p:spPr>
          <a:xfrm>
            <a:off x="600761" y="517550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50" name="Text 47"/>
          <p:cNvSpPr txBox="1"/>
          <p:nvPr/>
        </p:nvSpPr>
        <p:spPr>
          <a:xfrm>
            <a:off x="1057961" y="4946904"/>
            <a:ext cx="3703320" cy="80467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규칙 ① 후보(FK 2개 + 업무 열)를 노드 타입</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또는 관계 + 관계 속성으로 정함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뺄 테이블, 이름 후보 승인</a:t>
            </a:r>
            <a:endParaRPr lang="en-US" sz="1400" dirty="0"/>
          </a:p>
        </p:txBody>
      </p:sp>
      <p:sp>
        <p:nvSpPr>
          <p:cNvPr id="51" name="Shape 48"/>
          <p:cNvSpPr/>
          <p:nvPr/>
        </p:nvSpPr>
        <p:spPr>
          <a:xfrm>
            <a:off x="509321" y="5815584"/>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52" name="Shape 49"/>
          <p:cNvSpPr/>
          <p:nvPr/>
        </p:nvSpPr>
        <p:spPr>
          <a:xfrm>
            <a:off x="600761" y="5934456"/>
            <a:ext cx="347472" cy="347472"/>
          </a:xfrm>
          <a:prstGeom prst="roundRect">
            <a:avLst>
              <a:gd name="adj" fmla="val 13158"/>
            </a:avLst>
          </a:prstGeom>
          <a:solidFill>
            <a:srgbClr val="2E74C6"/>
          </a:solidFill>
          <a:ln/>
        </p:spPr>
        <p:txBody>
          <a:bodyPr/>
          <a:lstStyle/>
          <a:p>
            <a:endParaRPr lang="ko-KR" altLang="en-US"/>
          </a:p>
        </p:txBody>
      </p:sp>
      <p:sp>
        <p:nvSpPr>
          <p:cNvPr id="53" name="Text 50"/>
          <p:cNvSpPr txBox="1"/>
          <p:nvPr/>
        </p:nvSpPr>
        <p:spPr>
          <a:xfrm>
            <a:off x="600761" y="593445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8</a:t>
            </a:r>
            <a:endParaRPr lang="en-US" sz="1600" dirty="0"/>
          </a:p>
        </p:txBody>
      </p:sp>
      <p:sp>
        <p:nvSpPr>
          <p:cNvPr id="54" name="Text 51"/>
          <p:cNvSpPr txBox="1"/>
          <p:nvPr/>
        </p:nvSpPr>
        <p:spPr>
          <a:xfrm>
            <a:off x="1057961" y="5815584"/>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Mermaid 그림과 판정표를 보고 승인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(승인자와 일시를 기록)</a:t>
            </a:r>
            <a:endParaRPr lang="en-US" sz="1400" dirty="0"/>
          </a:p>
        </p:txBody>
      </p:sp>
      <p:sp>
        <p:nvSpPr>
          <p:cNvPr id="55" name="Shape 52"/>
          <p:cNvSpPr/>
          <p:nvPr/>
        </p:nvSpPr>
        <p:spPr>
          <a:xfrm>
            <a:off x="5081321" y="3858768"/>
            <a:ext cx="4572000" cy="365760"/>
          </a:xfrm>
          <a:prstGeom prst="roundRect">
            <a:avLst>
              <a:gd name="adj" fmla="val 12500"/>
            </a:avLst>
          </a:prstGeom>
          <a:solidFill>
            <a:srgbClr val="1E2A5C"/>
          </a:solidFill>
          <a:ln/>
        </p:spPr>
        <p:txBody>
          <a:bodyPr/>
          <a:lstStyle/>
          <a:p>
            <a:endParaRPr lang="ko-KR" altLang="en-US"/>
          </a:p>
        </p:txBody>
      </p:sp>
      <p:sp>
        <p:nvSpPr>
          <p:cNvPr id="56" name="Text 53"/>
          <p:cNvSpPr txBox="1"/>
          <p:nvPr/>
        </p:nvSpPr>
        <p:spPr>
          <a:xfrm>
            <a:off x="5081321" y="3858768"/>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57" name="Shape 54"/>
          <p:cNvSpPr/>
          <p:nvPr/>
        </p:nvSpPr>
        <p:spPr>
          <a:xfrm>
            <a:off x="5081321" y="4297680"/>
            <a:ext cx="457200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58" name="Text 55"/>
          <p:cNvSpPr txBox="1"/>
          <p:nvPr/>
        </p:nvSpPr>
        <p:spPr>
          <a:xfrm>
            <a:off x="5264201" y="4352544"/>
            <a:ext cx="4297680" cy="1993392"/>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FK 개수는 열 수가 아니라 제약 수로 셈</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DB는 읽기 전용, 비밀번호는 .env에만 둠</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라벨은 영문, 한글 이름은 description에 넣음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그림은 Mermaid만 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규칙 ① 판정과 이름은 추측해 확정하지 않음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표시가 남으면 스키마 파일을 만들지 않음</a:t>
            </a:r>
            <a:endParaRPr lang="en-US" sz="1400" dirty="0"/>
          </a:p>
        </p:txBody>
      </p:sp>
      <p:sp>
        <p:nvSpPr>
          <p:cNvPr id="59" name="Shape 56"/>
          <p:cNvSpPr/>
          <p:nvPr/>
        </p:nvSpPr>
        <p:spPr>
          <a:xfrm>
            <a:off x="9881921" y="3858768"/>
            <a:ext cx="4251960" cy="365760"/>
          </a:xfrm>
          <a:prstGeom prst="roundRect">
            <a:avLst>
              <a:gd name="adj" fmla="val 12500"/>
            </a:avLst>
          </a:prstGeom>
          <a:solidFill>
            <a:srgbClr val="404155"/>
          </a:solidFill>
          <a:ln/>
        </p:spPr>
        <p:txBody>
          <a:bodyPr/>
          <a:lstStyle/>
          <a:p>
            <a:endParaRPr lang="ko-KR" altLang="en-US"/>
          </a:p>
        </p:txBody>
      </p:sp>
      <p:sp>
        <p:nvSpPr>
          <p:cNvPr id="60" name="Text 57"/>
          <p:cNvSpPr txBox="1"/>
          <p:nvPr/>
        </p:nvSpPr>
        <p:spPr>
          <a:xfrm>
            <a:off x="9881921"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승인 화면 예 (Mermaid 그림)</a:t>
            </a:r>
            <a:endParaRPr lang="en-US" sz="1600" dirty="0"/>
          </a:p>
        </p:txBody>
      </p:sp>
      <p:sp>
        <p:nvSpPr>
          <p:cNvPr id="61" name="Shape 58"/>
          <p:cNvSpPr/>
          <p:nvPr/>
        </p:nvSpPr>
        <p:spPr>
          <a:xfrm>
            <a:off x="9881921" y="4297680"/>
            <a:ext cx="425196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62" name="Shape 59"/>
          <p:cNvSpPr/>
          <p:nvPr/>
        </p:nvSpPr>
        <p:spPr>
          <a:xfrm>
            <a:off x="1001908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3" name="Shape 60"/>
          <p:cNvSpPr/>
          <p:nvPr/>
        </p:nvSpPr>
        <p:spPr>
          <a:xfrm>
            <a:off x="10092233" y="4553712"/>
            <a:ext cx="1271016" cy="329184"/>
          </a:xfrm>
          <a:prstGeom prst="roundRect">
            <a:avLst>
              <a:gd name="adj" fmla="val 13889"/>
            </a:avLst>
          </a:prstGeom>
          <a:solidFill>
            <a:srgbClr val="1E2A5C"/>
          </a:solidFill>
          <a:ln/>
        </p:spPr>
        <p:txBody>
          <a:bodyPr/>
          <a:lstStyle/>
          <a:p>
            <a:endParaRPr lang="ko-KR" altLang="en-US"/>
          </a:p>
        </p:txBody>
      </p:sp>
      <p:sp>
        <p:nvSpPr>
          <p:cNvPr id="64" name="Text 61"/>
          <p:cNvSpPr txBox="1"/>
          <p:nvPr/>
        </p:nvSpPr>
        <p:spPr>
          <a:xfrm>
            <a:off x="1009223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:Member</a:t>
            </a:r>
            <a:endParaRPr lang="en-US" sz="1400" dirty="0"/>
          </a:p>
        </p:txBody>
      </p:sp>
      <p:sp>
        <p:nvSpPr>
          <p:cNvPr id="65" name="Text 62"/>
          <p:cNvSpPr txBox="1"/>
          <p:nvPr/>
        </p:nvSpPr>
        <p:spPr>
          <a:xfrm>
            <a:off x="1009223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(회원)</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member_id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age_band</a:t>
            </a:r>
            <a:endParaRPr lang="en-US" sz="1400" dirty="0"/>
          </a:p>
        </p:txBody>
      </p:sp>
      <p:sp>
        <p:nvSpPr>
          <p:cNvPr id="66" name="Shape 63"/>
          <p:cNvSpPr/>
          <p:nvPr/>
        </p:nvSpPr>
        <p:spPr>
          <a:xfrm>
            <a:off x="1257940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7" name="Shape 64"/>
          <p:cNvSpPr/>
          <p:nvPr/>
        </p:nvSpPr>
        <p:spPr>
          <a:xfrm>
            <a:off x="12652553" y="4553712"/>
            <a:ext cx="1271016" cy="329184"/>
          </a:xfrm>
          <a:prstGeom prst="roundRect">
            <a:avLst>
              <a:gd name="adj" fmla="val 13889"/>
            </a:avLst>
          </a:prstGeom>
          <a:solidFill>
            <a:srgbClr val="1E2A5C"/>
          </a:solidFill>
          <a:ln/>
        </p:spPr>
        <p:txBody>
          <a:bodyPr/>
          <a:lstStyle/>
          <a:p>
            <a:endParaRPr lang="ko-KR" altLang="en-US"/>
          </a:p>
        </p:txBody>
      </p:sp>
      <p:sp>
        <p:nvSpPr>
          <p:cNvPr id="68" name="Text 65"/>
          <p:cNvSpPr txBox="1"/>
          <p:nvPr/>
        </p:nvSpPr>
        <p:spPr>
          <a:xfrm>
            <a:off x="1265255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a:t>
            </a:r>
            <a:endParaRPr lang="en-US" sz="1400" dirty="0"/>
          </a:p>
        </p:txBody>
      </p:sp>
      <p:sp>
        <p:nvSpPr>
          <p:cNvPr id="69" name="Text 66"/>
          <p:cNvSpPr txBox="1"/>
          <p:nvPr/>
        </p:nvSpPr>
        <p:spPr>
          <a:xfrm>
            <a:off x="1265255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(카드)</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card_id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status</a:t>
            </a:r>
            <a:endParaRPr lang="en-US" sz="1400" dirty="0"/>
          </a:p>
        </p:txBody>
      </p:sp>
      <p:sp>
        <p:nvSpPr>
          <p:cNvPr id="70" name="Shape 67"/>
          <p:cNvSpPr/>
          <p:nvPr/>
        </p:nvSpPr>
        <p:spPr>
          <a:xfrm>
            <a:off x="11472977" y="5143500"/>
            <a:ext cx="1069848" cy="0"/>
          </a:xfrm>
          <a:prstGeom prst="line">
            <a:avLst/>
          </a:prstGeom>
          <a:noFill/>
          <a:ln w="25400">
            <a:solidFill>
              <a:srgbClr val="1E2A5C"/>
            </a:solidFill>
            <a:prstDash val="solid"/>
            <a:tailEnd type="triangle"/>
          </a:ln>
        </p:spPr>
        <p:txBody>
          <a:bodyPr/>
          <a:lstStyle/>
          <a:p>
            <a:endParaRPr lang="ko-KR" altLang="en-US"/>
          </a:p>
        </p:txBody>
      </p:sp>
      <p:sp>
        <p:nvSpPr>
          <p:cNvPr id="71" name="Text 68"/>
          <p:cNvSpPr txBox="1"/>
          <p:nvPr/>
        </p:nvSpPr>
        <p:spPr>
          <a:xfrm>
            <a:off x="11436401" y="4814316"/>
            <a:ext cx="114300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HAS_CARD</a:t>
            </a:r>
            <a:endParaRPr lang="en-US" sz="1400" dirty="0"/>
          </a:p>
        </p:txBody>
      </p:sp>
      <p:sp>
        <p:nvSpPr>
          <p:cNvPr id="72" name="Text 69"/>
          <p:cNvSpPr txBox="1"/>
          <p:nvPr/>
        </p:nvSpPr>
        <p:spPr>
          <a:xfrm>
            <a:off x="11436401" y="5198364"/>
            <a:ext cx="11430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(보유함)</a:t>
            </a:r>
            <a:endParaRPr lang="en-US" sz="1400" dirty="0"/>
          </a:p>
        </p:txBody>
      </p:sp>
      <p:sp>
        <p:nvSpPr>
          <p:cNvPr id="73" name="Text 70"/>
          <p:cNvSpPr txBox="1"/>
          <p:nvPr/>
        </p:nvSpPr>
        <p:spPr>
          <a:xfrm>
            <a:off x="10019081" y="5897880"/>
            <a:ext cx="3977640" cy="448056"/>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영문 라벨 아래에 한글 이름을 함께 적어</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검토하는 사람이 바로 읽게 함</a:t>
            </a:r>
            <a:endParaRPr lang="en-US" sz="1400" dirty="0"/>
          </a:p>
        </p:txBody>
      </p:sp>
      <p:sp>
        <p:nvSpPr>
          <p:cNvPr id="74" name="Shape 71"/>
          <p:cNvSpPr/>
          <p:nvPr/>
        </p:nvSpPr>
        <p:spPr>
          <a:xfrm>
            <a:off x="509321" y="6510528"/>
            <a:ext cx="13624560" cy="694944"/>
          </a:xfrm>
          <a:prstGeom prst="roundRect">
            <a:avLst>
              <a:gd name="adj" fmla="val 10526"/>
            </a:avLst>
          </a:prstGeom>
          <a:solidFill>
            <a:srgbClr val="EEF3FA"/>
          </a:solidFill>
          <a:ln w="19050">
            <a:solidFill>
              <a:srgbClr val="2E74C6"/>
            </a:solidFill>
            <a:prstDash val="solid"/>
          </a:ln>
        </p:spPr>
        <p:txBody>
          <a:bodyPr/>
          <a:lstStyle/>
          <a:p>
            <a:endParaRPr lang="ko-KR" altLang="en-US"/>
          </a:p>
        </p:txBody>
      </p:sp>
      <p:sp>
        <p:nvSpPr>
          <p:cNvPr id="75" name="Shape 72"/>
          <p:cNvSpPr/>
          <p:nvPr/>
        </p:nvSpPr>
        <p:spPr>
          <a:xfrm>
            <a:off x="509321" y="6510528"/>
            <a:ext cx="82296" cy="694944"/>
          </a:xfrm>
          <a:prstGeom prst="rect">
            <a:avLst/>
          </a:prstGeom>
          <a:solidFill>
            <a:srgbClr val="2E74C6"/>
          </a:solidFill>
          <a:ln/>
        </p:spPr>
        <p:txBody>
          <a:bodyPr/>
          <a:lstStyle/>
          <a:p>
            <a:endParaRPr lang="ko-KR" altLang="en-US"/>
          </a:p>
        </p:txBody>
      </p:sp>
      <p:sp>
        <p:nvSpPr>
          <p:cNvPr id="76" name="Text 73"/>
          <p:cNvSpPr txBox="1"/>
          <p:nvPr/>
        </p:nvSpPr>
        <p:spPr>
          <a:xfrm>
            <a:off x="737921" y="651052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graph_schema.json(승인본)과 approval.json(승인자, 승인 일시, 입력 파일 SHA-256). 인덱싱은 이 파일을 읽기만 함</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GraphSchema 검증, 저장, 다시 읽기는 Neo4j 서버 없이 됨(실행 확인)</a:t>
            </a:r>
            <a:endParaRPr lang="en-US" sz="1500" dirty="0"/>
          </a:p>
        </p:txBody>
      </p:sp>
      <p:sp>
        <p:nvSpPr>
          <p:cNvPr id="77" name="Text 74"/>
          <p:cNvSpPr txBox="1"/>
          <p:nvPr/>
        </p:nvSpPr>
        <p:spPr>
          <a:xfrm>
            <a:off x="470916" y="734171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DB 카탈로그를 읽을 스키마는 원본 테이블이 있는 스키마로 지정하고, 서비스용 뷰(View)가 정의된 스키마(예: app)는 쓰지 않음</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소스 문서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방안</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ko-KR" altLang="en-US" sz="1800" dirty="0">
                <a:solidFill>
                  <a:srgbClr val="000000"/>
                </a:solidFill>
                <a:latin typeface="Pretendard SemiBold" pitchFamily="34" charset="0"/>
                <a:ea typeface="Pretendard SemiBold" pitchFamily="34" charset="-122"/>
                <a:cs typeface="Pretendard SemiBold" pitchFamily="34" charset="-120"/>
              </a:rPr>
              <a:t>역량 질문</a:t>
            </a:r>
            <a:r>
              <a:rPr lang="en-US" altLang="ko-KR" sz="1800" dirty="0">
                <a:solidFill>
                  <a:srgbClr val="000000"/>
                </a:solidFill>
                <a:latin typeface="Pretendard SemiBold" pitchFamily="34" charset="0"/>
                <a:ea typeface="Pretendard SemiBold" pitchFamily="34" charset="-122"/>
                <a:cs typeface="Pretendard SemiBold" pitchFamily="34" charset="-120"/>
              </a:rPr>
              <a:t>(KG</a:t>
            </a:r>
            <a:r>
              <a:rPr lang="ko-KR" altLang="en-US" sz="1800" dirty="0">
                <a:solidFill>
                  <a:srgbClr val="000000"/>
                </a:solidFill>
                <a:latin typeface="Pretendard SemiBold" pitchFamily="34" charset="0"/>
                <a:ea typeface="Pretendard SemiBold" pitchFamily="34" charset="-122"/>
                <a:cs typeface="Pretendard SemiBold" pitchFamily="34" charset="-120"/>
              </a:rPr>
              <a:t>가 답해야 할 질문</a:t>
            </a:r>
            <a:r>
              <a:rPr lang="en-US" altLang="ko-KR" sz="1800" dirty="0">
                <a:solidFill>
                  <a:srgbClr val="000000"/>
                </a:solidFill>
                <a:latin typeface="Pretendard SemiBold" pitchFamily="34" charset="0"/>
                <a:ea typeface="Pretendard SemiBold" pitchFamily="34" charset="-122"/>
                <a:cs typeface="Pretendard SemiBold" pitchFamily="34" charset="-120"/>
              </a:rPr>
              <a:t>)</a:t>
            </a:r>
            <a:r>
              <a:rPr lang="ko-KR" altLang="en-US" dirty="0">
                <a:solidFill>
                  <a:srgbClr val="000000"/>
                </a:solidFill>
                <a:latin typeface="Pretendard SemiBold" pitchFamily="34" charset="0"/>
                <a:ea typeface="Pretendard SemiBold" pitchFamily="34" charset="-122"/>
                <a:cs typeface="Pretendard SemiBold" pitchFamily="34" charset="-120"/>
              </a:rPr>
              <a:t>을 주고</a:t>
            </a:r>
            <a:r>
              <a:rPr lang="ko-KR" alt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a:solidFill>
                  <a:srgbClr val="000000"/>
                </a:solidFill>
                <a:latin typeface="Pretendard SemiBold" pitchFamily="34" charset="0"/>
                <a:ea typeface="Pretendard SemiBold" pitchFamily="34" charset="-122"/>
                <a:cs typeface="Pretendard SemiBold" pitchFamily="34" charset="-120"/>
              </a:rPr>
              <a:t>LLM</a:t>
            </a:r>
            <a:r>
              <a:rPr lang="ko-KR" altLang="en-US" sz="1800" dirty="0">
                <a:solidFill>
                  <a:srgbClr val="000000"/>
                </a:solidFill>
                <a:latin typeface="Pretendard SemiBold" pitchFamily="34" charset="0"/>
                <a:ea typeface="Pretendard SemiBold" pitchFamily="34" charset="-122"/>
                <a:cs typeface="Pretendard SemiBold" pitchFamily="34" charset="-120"/>
              </a:rPr>
              <a:t>으로</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스키마 </a:t>
            </a:r>
            <a:r>
              <a:rPr lang="en-US" sz="1800" dirty="0" err="1">
                <a:solidFill>
                  <a:srgbClr val="000000"/>
                </a:solidFill>
                <a:latin typeface="Pretendard SemiBold" pitchFamily="34" charset="0"/>
                <a:ea typeface="Pretendard SemiBold" pitchFamily="34" charset="-122"/>
                <a:cs typeface="Pretendard SemiBold" pitchFamily="34" charset="-120"/>
              </a:rPr>
              <a:t>후보</a:t>
            </a:r>
            <a:r>
              <a:rPr lang="ko-KR" altLang="en-US" sz="1800" dirty="0">
                <a:solidFill>
                  <a:srgbClr val="000000"/>
                </a:solidFill>
                <a:latin typeface="Pretendard SemiBold" pitchFamily="34" charset="0"/>
                <a:ea typeface="Pretendard SemiBold" pitchFamily="34" charset="-122"/>
                <a:cs typeface="Pretendard SemiBold" pitchFamily="34" charset="-120"/>
              </a:rPr>
              <a:t>를</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넓게 </a:t>
            </a:r>
            <a:r>
              <a:rPr lang="en-US" sz="1800" dirty="0">
                <a:solidFill>
                  <a:srgbClr val="000000"/>
                </a:solidFill>
                <a:latin typeface="Pretendard SemiBold" pitchFamily="34" charset="0"/>
                <a:ea typeface="Pretendard SemiBold" pitchFamily="34" charset="-122"/>
                <a:cs typeface="Pretendard SemiBold" pitchFamily="34" charset="-120"/>
              </a:rPr>
              <a:t>뽑</a:t>
            </a:r>
            <a:r>
              <a:rPr lang="ko-KR" altLang="en-US" sz="1800" dirty="0">
                <a:solidFill>
                  <a:srgbClr val="000000"/>
                </a:solidFill>
                <a:latin typeface="Pretendard SemiBold" pitchFamily="34" charset="0"/>
                <a:ea typeface="Pretendard SemiBold" pitchFamily="34" charset="-122"/>
                <a:cs typeface="Pretendard SemiBold" pitchFamily="34" charset="-120"/>
              </a:rPr>
              <a:t>은 뒤</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사람이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확정</a:t>
            </a:r>
            <a:r>
              <a:rPr lang="ko-KR" altLang="en-US" sz="1800" dirty="0">
                <a:solidFill>
                  <a:srgbClr val="000000"/>
                </a:solidFill>
                <a:latin typeface="Pretendard SemiBold" pitchFamily="34" charset="0"/>
                <a:ea typeface="Pretendard SemiBold" pitchFamily="34" charset="-122"/>
                <a:cs typeface="Pretendard SemiBold" pitchFamily="34" charset="-120"/>
              </a:rPr>
              <a:t>하고</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표본 문서로 </a:t>
            </a:r>
            <a:r>
              <a:rPr lang="en-US" sz="1800" dirty="0" err="1">
                <a:solidFill>
                  <a:srgbClr val="000000"/>
                </a:solidFill>
                <a:latin typeface="Pretendard SemiBold" pitchFamily="34" charset="0"/>
                <a:ea typeface="Pretendard SemiBold" pitchFamily="34" charset="-122"/>
                <a:cs typeface="Pretendard SemiBold" pitchFamily="34" charset="-120"/>
              </a:rPr>
              <a:t>추출해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검증</a:t>
            </a:r>
            <a:r>
              <a:rPr lang="ko-KR" altLang="en-US" sz="1800" dirty="0">
                <a:solidFill>
                  <a:srgbClr val="000000"/>
                </a:solidFill>
                <a:latin typeface="Pretendard SemiBold" pitchFamily="34" charset="0"/>
                <a:ea typeface="Pretendard SemiBold" pitchFamily="34" charset="-122"/>
                <a:cs typeface="Pretendard SemiBold" pitchFamily="34" charset="-120"/>
              </a:rPr>
              <a:t>하여</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GraphSchema로</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고정</a:t>
            </a:r>
            <a:r>
              <a:rPr lang="ko-KR" altLang="en-US" sz="1800" dirty="0">
                <a:solidFill>
                  <a:srgbClr val="000000"/>
                </a:solidFill>
                <a:latin typeface="Pretendard SemiBold" pitchFamily="34" charset="0"/>
                <a:ea typeface="Pretendard SemiBold" pitchFamily="34" charset="-122"/>
                <a:cs typeface="Pretendard SemiBold" pitchFamily="34" charset="-120"/>
              </a:rPr>
              <a:t>함</a:t>
            </a:r>
            <a:endParaRPr lang="en-US" sz="1800" dirty="0"/>
          </a:p>
        </p:txBody>
      </p:sp>
      <p:sp>
        <p:nvSpPr>
          <p:cNvPr id="5" name="Shape 2"/>
          <p:cNvSpPr/>
          <p:nvPr/>
        </p:nvSpPr>
        <p:spPr>
          <a:xfrm>
            <a:off x="509321" y="1737360"/>
            <a:ext cx="2505456" cy="566928"/>
          </a:xfrm>
          <a:prstGeom prst="roundRect">
            <a:avLst>
              <a:gd name="adj" fmla="val 12903"/>
            </a:avLst>
          </a:prstGeom>
          <a:solidFill>
            <a:srgbClr val="2E74C6"/>
          </a:solidFill>
          <a:ln/>
        </p:spPr>
        <p:txBody>
          <a:bodyPr/>
          <a:lstStyle/>
          <a:p>
            <a:endParaRPr lang="ko-KR" altLang="en-US"/>
          </a:p>
        </p:txBody>
      </p:sp>
      <p:sp>
        <p:nvSpPr>
          <p:cNvPr id="6" name="Text 3"/>
          <p:cNvSpPr txBox="1"/>
          <p:nvPr/>
        </p:nvSpPr>
        <p:spPr>
          <a:xfrm>
            <a:off x="509321"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 역량 질문 정하기</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a:t>
            </a:r>
            <a:r>
              <a:rPr lang="en-US" altLang="ko-KR" sz="1500" b="1" dirty="0">
                <a:solidFill>
                  <a:srgbClr val="FFFFFF"/>
                </a:solidFill>
                <a:latin typeface="Pretendard" pitchFamily="34" charset="0"/>
                <a:ea typeface="Pretendard" pitchFamily="34" charset="-122"/>
                <a:cs typeface="Pretendard" pitchFamily="34" charset="-120"/>
              </a:rPr>
              <a:t>+</a:t>
            </a:r>
            <a:r>
              <a:rPr lang="ko-KR" altLang="en-US" sz="1500" b="1" dirty="0">
                <a:solidFill>
                  <a:srgbClr val="FFFFFF"/>
                </a:solidFill>
                <a:latin typeface="Pretendard" pitchFamily="34" charset="0"/>
                <a:ea typeface="Pretendard" pitchFamily="34" charset="-122"/>
                <a:cs typeface="Pretendard" pitchFamily="34" charset="-120"/>
              </a:rPr>
              <a:t>사람확정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7" name="Shape 4"/>
          <p:cNvSpPr/>
          <p:nvPr/>
        </p:nvSpPr>
        <p:spPr>
          <a:xfrm>
            <a:off x="3042209" y="2020824"/>
            <a:ext cx="219456" cy="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3289097"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3289097"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② </a:t>
            </a:r>
            <a:r>
              <a:rPr lang="ko-KR" altLang="en-US" sz="1500" b="1" dirty="0">
                <a:solidFill>
                  <a:srgbClr val="1E2A5C"/>
                </a:solidFill>
                <a:latin typeface="Pretendard" pitchFamily="34" charset="0"/>
                <a:ea typeface="Pretendard" pitchFamily="34" charset="-122"/>
                <a:cs typeface="Pretendard" pitchFamily="34" charset="-120"/>
              </a:rPr>
              <a:t>스키마 후보 넓게 </a:t>
            </a:r>
            <a:r>
              <a:rPr lang="en-US" sz="1500" b="1" dirty="0" err="1">
                <a:solidFill>
                  <a:srgbClr val="1E2A5C"/>
                </a:solidFill>
                <a:latin typeface="Pretendard" pitchFamily="34" charset="0"/>
                <a:ea typeface="Pretendard" pitchFamily="34" charset="-122"/>
                <a:cs typeface="Pretendard" pitchFamily="34" charset="-120"/>
              </a:rPr>
              <a:t>뽑기</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a:t>
            </a:r>
            <a:endParaRPr lang="en-US" sz="1500" dirty="0"/>
          </a:p>
        </p:txBody>
      </p:sp>
      <p:sp>
        <p:nvSpPr>
          <p:cNvPr id="10" name="Shape 7"/>
          <p:cNvSpPr/>
          <p:nvPr/>
        </p:nvSpPr>
        <p:spPr>
          <a:xfrm>
            <a:off x="5821985"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1" name="Shape 8"/>
          <p:cNvSpPr/>
          <p:nvPr/>
        </p:nvSpPr>
        <p:spPr>
          <a:xfrm>
            <a:off x="6068873" y="1737360"/>
            <a:ext cx="2505456" cy="566928"/>
          </a:xfrm>
          <a:prstGeom prst="roundRect">
            <a:avLst>
              <a:gd name="adj" fmla="val 12903"/>
            </a:avLst>
          </a:prstGeom>
          <a:solidFill>
            <a:srgbClr val="2E74C6"/>
          </a:solidFill>
          <a:ln/>
        </p:spPr>
        <p:txBody>
          <a:bodyPr/>
          <a:lstStyle/>
          <a:p>
            <a:endParaRPr lang="ko-KR" altLang="en-US"/>
          </a:p>
        </p:txBody>
      </p:sp>
      <p:sp>
        <p:nvSpPr>
          <p:cNvPr id="12" name="Text 9"/>
          <p:cNvSpPr txBox="1"/>
          <p:nvPr/>
        </p:nvSpPr>
        <p:spPr>
          <a:xfrm>
            <a:off x="6068873"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 </a:t>
            </a:r>
            <a:r>
              <a:rPr lang="ko-KR" altLang="en-US" sz="1500" b="1" dirty="0">
                <a:solidFill>
                  <a:srgbClr val="FFFFFF"/>
                </a:solidFill>
                <a:latin typeface="Pretendard" pitchFamily="34" charset="0"/>
                <a:ea typeface="Pretendard" pitchFamily="34" charset="-122"/>
                <a:cs typeface="Pretendard" pitchFamily="34" charset="-120"/>
              </a:rPr>
              <a:t>스키마 후보</a:t>
            </a:r>
            <a:r>
              <a:rPr lang="en-US" sz="1500" b="1" dirty="0">
                <a:solidFill>
                  <a:srgbClr val="FFFFFF"/>
                </a:solidFill>
                <a:latin typeface="Pretendard" pitchFamily="34" charset="0"/>
                <a:ea typeface="Pretendard" pitchFamily="34" charset="-122"/>
                <a:cs typeface="Pretendard" pitchFamily="34" charset="-120"/>
              </a:rPr>
              <a:t>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 </a:t>
            </a:r>
            <a:r>
              <a:rPr lang="en-US" altLang="ko-KR" sz="1500" b="1" dirty="0">
                <a:solidFill>
                  <a:srgbClr val="FFFFFF"/>
                </a:solidFill>
                <a:latin typeface="Pretendard" pitchFamily="34" charset="0"/>
                <a:ea typeface="Pretendard" pitchFamily="34" charset="-122"/>
                <a:cs typeface="Pretendard" pitchFamily="34" charset="-120"/>
              </a:rPr>
              <a:t>+ </a:t>
            </a:r>
            <a:r>
              <a:rPr lang="en-US" sz="1500" b="1" dirty="0" err="1">
                <a:solidFill>
                  <a:srgbClr val="FFFFFF"/>
                </a:solidFill>
                <a:latin typeface="Pretendard" pitchFamily="34" charset="0"/>
                <a:ea typeface="Pretendard" pitchFamily="34" charset="-122"/>
                <a:cs typeface="Pretendard" pitchFamily="34" charset="-120"/>
              </a:rPr>
              <a:t>사람</a:t>
            </a:r>
            <a:r>
              <a:rPr lang="ko-KR" altLang="en-US" sz="1500" b="1" dirty="0">
                <a:solidFill>
                  <a:srgbClr val="FFFFFF"/>
                </a:solidFill>
                <a:latin typeface="Pretendard" pitchFamily="34" charset="0"/>
                <a:ea typeface="Pretendard" pitchFamily="34" charset="-122"/>
                <a:cs typeface="Pretendard" pitchFamily="34" charset="-120"/>
              </a:rPr>
              <a:t>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3" name="Shape 10"/>
          <p:cNvSpPr/>
          <p:nvPr/>
        </p:nvSpPr>
        <p:spPr>
          <a:xfrm>
            <a:off x="8601761"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8848649"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15" name="Text 12"/>
          <p:cNvSpPr txBox="1"/>
          <p:nvPr/>
        </p:nvSpPr>
        <p:spPr>
          <a:xfrm>
            <a:off x="8848649"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 채우기 시험</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 + </a:t>
            </a:r>
            <a:r>
              <a:rPr lang="en-US" sz="1500" b="1" dirty="0" err="1">
                <a:solidFill>
                  <a:srgbClr val="1E2A5C"/>
                </a:solidFill>
                <a:latin typeface="Pretendard" pitchFamily="34" charset="0"/>
                <a:ea typeface="Pretendard" pitchFamily="34" charset="-122"/>
                <a:cs typeface="Pretendard" pitchFamily="34" charset="-120"/>
              </a:rPr>
              <a:t>사람</a:t>
            </a:r>
            <a:r>
              <a:rPr lang="en-US" sz="1500" b="1" dirty="0">
                <a:solidFill>
                  <a:srgbClr val="1E2A5C"/>
                </a:solidFill>
                <a:latin typeface="Pretendard" pitchFamily="34" charset="0"/>
                <a:ea typeface="Pretendard" pitchFamily="34" charset="-122"/>
                <a:cs typeface="Pretendard" pitchFamily="34" charset="-120"/>
              </a:rPr>
              <a:t>)</a:t>
            </a:r>
            <a:endParaRPr lang="en-US" sz="1500" dirty="0"/>
          </a:p>
        </p:txBody>
      </p:sp>
      <p:sp>
        <p:nvSpPr>
          <p:cNvPr id="16" name="Shape 13"/>
          <p:cNvSpPr/>
          <p:nvPr/>
        </p:nvSpPr>
        <p:spPr>
          <a:xfrm>
            <a:off x="11381537"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11628425" y="1737360"/>
            <a:ext cx="2505456" cy="566928"/>
          </a:xfrm>
          <a:prstGeom prst="roundRect">
            <a:avLst>
              <a:gd name="adj" fmla="val 12903"/>
            </a:avLst>
          </a:prstGeom>
          <a:solidFill>
            <a:srgbClr val="1E2A5C"/>
          </a:solidFill>
          <a:ln/>
        </p:spPr>
        <p:txBody>
          <a:bodyPr/>
          <a:lstStyle/>
          <a:p>
            <a:endParaRPr lang="ko-KR" altLang="en-US"/>
          </a:p>
        </p:txBody>
      </p:sp>
      <p:sp>
        <p:nvSpPr>
          <p:cNvPr id="18" name="Text 15"/>
          <p:cNvSpPr txBox="1"/>
          <p:nvPr/>
        </p:nvSpPr>
        <p:spPr>
          <a:xfrm>
            <a:off x="11628425"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⑤ </a:t>
            </a:r>
            <a:r>
              <a:rPr lang="ko-KR" altLang="en-US" sz="1500" b="1" dirty="0">
                <a:solidFill>
                  <a:srgbClr val="FFFFFF"/>
                </a:solidFill>
                <a:latin typeface="Pretendard" pitchFamily="34" charset="0"/>
                <a:ea typeface="Pretendard" pitchFamily="34" charset="-122"/>
                <a:cs typeface="Pretendard" pitchFamily="34" charset="-120"/>
              </a:rPr>
              <a:t>스키마 설계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a:t>
            </a:r>
            <a:r>
              <a:rPr lang="en-US" sz="1500" b="1" dirty="0" err="1">
                <a:solidFill>
                  <a:srgbClr val="FFFFFF"/>
                </a:solidFill>
                <a:latin typeface="Pretendard" pitchFamily="34" charset="0"/>
                <a:ea typeface="Pretendard" pitchFamily="34" charset="-122"/>
                <a:cs typeface="Pretendard" pitchFamily="34" charset="-120"/>
              </a:rPr>
              <a:t>코드</a:t>
            </a:r>
            <a:r>
              <a:rPr lang="en-US"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9" name="Shape 16"/>
          <p:cNvSpPr/>
          <p:nvPr/>
        </p:nvSpPr>
        <p:spPr>
          <a:xfrm>
            <a:off x="10101377" y="2322576"/>
            <a:ext cx="0" cy="237744"/>
          </a:xfrm>
          <a:prstGeom prst="line">
            <a:avLst/>
          </a:prstGeom>
          <a:noFill/>
          <a:ln w="19050">
            <a:solidFill>
              <a:srgbClr val="2E74C6"/>
            </a:solidFill>
            <a:prstDash val="dash"/>
            <a:tailEnd type="none"/>
          </a:ln>
        </p:spPr>
        <p:txBody>
          <a:bodyPr/>
          <a:lstStyle/>
          <a:p>
            <a:endParaRPr lang="ko-KR" altLang="en-US"/>
          </a:p>
        </p:txBody>
      </p:sp>
      <p:sp>
        <p:nvSpPr>
          <p:cNvPr id="20" name="Shape 17"/>
          <p:cNvSpPr/>
          <p:nvPr/>
        </p:nvSpPr>
        <p:spPr>
          <a:xfrm>
            <a:off x="7321601" y="2560320"/>
            <a:ext cx="2779776" cy="0"/>
          </a:xfrm>
          <a:prstGeom prst="line">
            <a:avLst/>
          </a:prstGeom>
          <a:noFill/>
          <a:ln w="19050">
            <a:solidFill>
              <a:srgbClr val="2E74C6"/>
            </a:solidFill>
            <a:prstDash val="dash"/>
          </a:ln>
        </p:spPr>
        <p:txBody>
          <a:bodyPr/>
          <a:lstStyle/>
          <a:p>
            <a:endParaRPr lang="ko-KR" altLang="en-US"/>
          </a:p>
        </p:txBody>
      </p:sp>
      <p:sp>
        <p:nvSpPr>
          <p:cNvPr id="21" name="Shape 18"/>
          <p:cNvSpPr/>
          <p:nvPr/>
        </p:nvSpPr>
        <p:spPr>
          <a:xfrm flipV="1">
            <a:off x="7321601" y="2322576"/>
            <a:ext cx="0" cy="237744"/>
          </a:xfrm>
          <a:prstGeom prst="line">
            <a:avLst/>
          </a:prstGeom>
          <a:noFill/>
          <a:ln w="19050">
            <a:solidFill>
              <a:srgbClr val="2E74C6"/>
            </a:solidFill>
            <a:prstDash val="dash"/>
            <a:tailEnd type="triangle"/>
          </a:ln>
        </p:spPr>
        <p:txBody>
          <a:bodyPr/>
          <a:lstStyle/>
          <a:p>
            <a:endParaRPr lang="ko-KR" altLang="en-US"/>
          </a:p>
        </p:txBody>
      </p:sp>
      <p:sp>
        <p:nvSpPr>
          <p:cNvPr id="22" name="Text 19"/>
          <p:cNvSpPr txBox="1"/>
          <p:nvPr/>
        </p:nvSpPr>
        <p:spPr>
          <a:xfrm>
            <a:off x="7413041" y="2322576"/>
            <a:ext cx="2596896" cy="219456"/>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고쳐 다시</a:t>
            </a:r>
            <a:endParaRPr lang="en-US" sz="1400" dirty="0"/>
          </a:p>
        </p:txBody>
      </p:sp>
      <p:sp>
        <p:nvSpPr>
          <p:cNvPr id="23" name="Shape 20"/>
          <p:cNvSpPr/>
          <p:nvPr/>
        </p:nvSpPr>
        <p:spPr>
          <a:xfrm>
            <a:off x="509321"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4" name="Text 21"/>
          <p:cNvSpPr txBox="1"/>
          <p:nvPr/>
        </p:nvSpPr>
        <p:spPr>
          <a:xfrm>
            <a:off x="637337"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문서 종류마다 답해야 할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정의</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질문에는 답이 될 </a:t>
            </a:r>
            <a:r>
              <a:rPr lang="ko-KR" altLang="en-US" sz="1400" dirty="0" err="1">
                <a:solidFill>
                  <a:srgbClr val="2B3242"/>
                </a:solidFill>
                <a:latin typeface="Pretendard" pitchFamily="34" charset="0"/>
                <a:ea typeface="Pretendard" pitchFamily="34" charset="-122"/>
                <a:cs typeface="Pretendard" pitchFamily="34" charset="-120"/>
              </a:rPr>
              <a:t>노드타입이나</a:t>
            </a:r>
            <a:r>
              <a:rPr lang="ko-KR" altLang="en-US" sz="1400" dirty="0">
                <a:solidFill>
                  <a:srgbClr val="2B3242"/>
                </a:solidFill>
                <a:latin typeface="Pretendard" pitchFamily="34" charset="0"/>
                <a:ea typeface="Pretendard" pitchFamily="34" charset="-122"/>
                <a:cs typeface="Pretendard" pitchFamily="34" charset="-120"/>
              </a:rPr>
              <a:t> 관계를 미리 쓰지 않음</a:t>
            </a:r>
            <a:endParaRPr lang="en-US" sz="1400" dirty="0"/>
          </a:p>
          <a:p>
            <a:pPr marL="152400" indent="-152400">
              <a:spcAft>
                <a:spcPts val="1000"/>
              </a:spcAft>
              <a:buSzPct val="100000"/>
              <a:buChar char="•"/>
            </a:pPr>
            <a:r>
              <a:rPr lang="en-US" altLang="ko-KR" sz="1400" dirty="0">
                <a:solidFill>
                  <a:srgbClr val="2B3242"/>
                </a:solidFill>
                <a:latin typeface="Pretendard" pitchFamily="34" charset="0"/>
                <a:ea typeface="Pretendard" pitchFamily="34" charset="-122"/>
                <a:cs typeface="Pretendard" pitchFamily="34" charset="-120"/>
              </a:rPr>
              <a:t>Ontology 101</a:t>
            </a:r>
            <a:r>
              <a:rPr lang="ko-KR" altLang="en-US" sz="1400" dirty="0">
                <a:solidFill>
                  <a:srgbClr val="2B3242"/>
                </a:solidFill>
                <a:latin typeface="Pretendard" pitchFamily="34" charset="0"/>
                <a:ea typeface="Pretendard" pitchFamily="34" charset="-122"/>
                <a:cs typeface="Pretendard" pitchFamily="34" charset="-120"/>
              </a:rPr>
              <a:t>의 역량질문 가이드에 기반하여 </a:t>
            </a:r>
            <a:r>
              <a:rPr lang="en-US" altLang="ko-KR"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초안 작성 요청하고 사람 검토</a:t>
            </a:r>
            <a:endParaRPr lang="en-US" sz="1400" dirty="0"/>
          </a:p>
        </p:txBody>
      </p:sp>
      <p:sp>
        <p:nvSpPr>
          <p:cNvPr id="25" name="Shape 22"/>
          <p:cNvSpPr/>
          <p:nvPr/>
        </p:nvSpPr>
        <p:spPr>
          <a:xfrm>
            <a:off x="3289097"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26" name="Text 23"/>
          <p:cNvSpPr txBox="1"/>
          <p:nvPr/>
        </p:nvSpPr>
        <p:spPr>
          <a:xfrm>
            <a:off x="3417113"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문서 종류별로 </a:t>
            </a:r>
            <a:r>
              <a:rPr lang="en-US" altLang="ko-KR" sz="1400" dirty="0">
                <a:solidFill>
                  <a:srgbClr val="2B3242"/>
                </a:solidFill>
                <a:latin typeface="Pretendard" pitchFamily="34" charset="0"/>
                <a:ea typeface="Pretendard" pitchFamily="34" charset="-122"/>
                <a:cs typeface="Pretendard" pitchFamily="34" charset="-120"/>
              </a:rPr>
              <a:t>1</a:t>
            </a:r>
            <a:r>
              <a:rPr lang="ko-KR" altLang="en-US" sz="1400" dirty="0">
                <a:solidFill>
                  <a:srgbClr val="2B3242"/>
                </a:solidFill>
                <a:latin typeface="Pretendard" pitchFamily="34" charset="0"/>
                <a:ea typeface="Pretendard" pitchFamily="34" charset="-122"/>
                <a:cs typeface="Pretendard" pitchFamily="34" charset="-120"/>
              </a:rPr>
              <a:t>차로 묶고 필요 시 하위 그룹별로 묶은 후 각 묶음마다</a:t>
            </a:r>
            <a:r>
              <a:rPr lang="en-US" sz="1400" dirty="0">
                <a:solidFill>
                  <a:srgbClr val="2B3242"/>
                </a:solidFill>
                <a:latin typeface="Pretendard" pitchFamily="34" charset="0"/>
                <a:ea typeface="Pretendard" pitchFamily="34" charset="-122"/>
                <a:cs typeface="Pretendard" pitchFamily="34" charset="-120"/>
              </a:rPr>
              <a:t> </a:t>
            </a:r>
            <a:r>
              <a:rPr lang="en-US" sz="1400" dirty="0" err="1">
                <a:solidFill>
                  <a:srgbClr val="2B3242"/>
                </a:solidFill>
                <a:latin typeface="Pretendard" pitchFamily="34" charset="0"/>
                <a:ea typeface="Pretendard" pitchFamily="34" charset="-122"/>
                <a:cs typeface="Pretendard" pitchFamily="34" charset="-120"/>
              </a:rPr>
              <a:t>표본</a:t>
            </a:r>
            <a:r>
              <a:rPr lang="ko-KR" altLang="en-US" sz="1400" dirty="0">
                <a:solidFill>
                  <a:srgbClr val="2B3242"/>
                </a:solidFill>
                <a:latin typeface="Pretendard" pitchFamily="34" charset="0"/>
                <a:ea typeface="Pretendard" pitchFamily="34" charset="-122"/>
                <a:cs typeface="Pretendard" pitchFamily="34" charset="-120"/>
              </a:rPr>
              <a:t>문서 추출</a:t>
            </a:r>
            <a:r>
              <a:rPr lang="en-US" sz="1400" dirty="0">
                <a:solidFill>
                  <a:srgbClr val="2B3242"/>
                </a:solidFill>
                <a:latin typeface="Pretendard" pitchFamily="34" charset="0"/>
                <a:ea typeface="Pretendard" pitchFamily="34" charset="-122"/>
                <a:cs typeface="Pretendard" pitchFamily="34" charset="-120"/>
              </a:rPr>
              <a:t>: 시작 10건, 상한 30건(비율이 아니라 건수)</a:t>
            </a:r>
            <a:endParaRPr lang="en-US" sz="1400" dirty="0"/>
          </a:p>
          <a:p>
            <a:pPr marL="152400" indent="-152400">
              <a:spcAft>
                <a:spcPts val="1000"/>
              </a:spcAft>
              <a:buSzPct val="100000"/>
              <a:buChar char="•"/>
            </a:pPr>
            <a:r>
              <a:rPr lang="en-US" sz="1300" dirty="0">
                <a:solidFill>
                  <a:srgbClr val="2B3242"/>
                </a:solidFill>
                <a:latin typeface="Pretendard" pitchFamily="34" charset="0"/>
                <a:ea typeface="Pretendard" pitchFamily="34" charset="-122"/>
                <a:cs typeface="Pretendard" pitchFamily="34" charset="-120"/>
              </a:rPr>
              <a:t>SchemaFromTextExtractor</a:t>
            </a:r>
            <a:r>
              <a:rPr lang="en-US" sz="1400" dirty="0">
                <a:solidFill>
                  <a:srgbClr val="2B3242"/>
                </a:solidFill>
                <a:latin typeface="Pretendard" pitchFamily="34" charset="0"/>
                <a:ea typeface="Pretendard" pitchFamily="34" charset="-122"/>
                <a:cs typeface="Pretendard" pitchFamily="34" charset="-120"/>
              </a:rPr>
              <a:t>에 질문을 examples로 넣음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앞서 나온 이름을 다시 쓰라는 안내는 넣지 않음</a:t>
            </a:r>
            <a:endParaRPr lang="en-US" sz="1400" dirty="0"/>
          </a:p>
        </p:txBody>
      </p:sp>
      <p:sp>
        <p:nvSpPr>
          <p:cNvPr id="27" name="Shape 24"/>
          <p:cNvSpPr/>
          <p:nvPr/>
        </p:nvSpPr>
        <p:spPr>
          <a:xfrm>
            <a:off x="6068873"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8" name="Text 25"/>
          <p:cNvSpPr txBox="1"/>
          <p:nvPr/>
        </p:nvSpPr>
        <p:spPr>
          <a:xfrm>
            <a:off x="6196889"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②의 후보목록과 역량질문을 주고 </a:t>
            </a:r>
            <a:r>
              <a:rPr lang="en-US"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스키마 초안 요청</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초안</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 추가</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병합할 것과 각각의 근거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그리고 구체적 설명</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해당과 비해당</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검토해 스키마 초안 확정</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빈도로 거르지 않고 드문 이름도 살림</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값 규칙</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중복제거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필수존재</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정함</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endParaRPr lang="en-US" altLang="ko-KR" sz="1400" dirty="0">
              <a:solidFill>
                <a:srgbClr val="2B3242"/>
              </a:solidFill>
              <a:latin typeface="Pretendard" pitchFamily="34" charset="0"/>
              <a:ea typeface="Pretendard" pitchFamily="34" charset="-122"/>
              <a:cs typeface="Pretendard" pitchFamily="34" charset="-120"/>
            </a:endParaRPr>
          </a:p>
        </p:txBody>
      </p:sp>
      <p:sp>
        <p:nvSpPr>
          <p:cNvPr id="29" name="Shape 26"/>
          <p:cNvSpPr/>
          <p:nvPr/>
        </p:nvSpPr>
        <p:spPr>
          <a:xfrm>
            <a:off x="8848649"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0" name="Text 27"/>
          <p:cNvSpPr txBox="1"/>
          <p:nvPr/>
        </p:nvSpPr>
        <p:spPr>
          <a:xfrm>
            <a:off x="8976665"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초안을</a:t>
            </a:r>
            <a:r>
              <a:rPr lang="en-US" sz="1400" dirty="0">
                <a:solidFill>
                  <a:srgbClr val="2B3242"/>
                </a:solidFill>
                <a:latin typeface="Pretendard" pitchFamily="34" charset="0"/>
                <a:ea typeface="Pretendard" pitchFamily="34" charset="-122"/>
                <a:cs typeface="Pretendard" pitchFamily="34" charset="-120"/>
              </a:rPr>
              <a:t> schema로 주고 추출한 뒤 GraphPruning으로 정리</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표본 문서의 기대 답과 비교</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답이 없어야 하는 문서 포함</a:t>
            </a:r>
            <a:r>
              <a:rPr lang="en-US" altLang="ko-KR" sz="1400" dirty="0">
                <a:solidFill>
                  <a:srgbClr val="2B3242"/>
                </a:solidFill>
                <a:latin typeface="Pretendard" pitchFamily="34" charset="0"/>
                <a:ea typeface="Pretendard" pitchFamily="34" charset="-122"/>
                <a:cs typeface="Pretendard" pitchFamily="34" charset="-120"/>
              </a:rPr>
              <a:t>)</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잘못 뽑기가 많으면 설명을 고쳐 ③</a:t>
            </a:r>
            <a:r>
              <a:rPr lang="en-US" sz="1400" dirty="0" err="1">
                <a:solidFill>
                  <a:srgbClr val="2B3242"/>
                </a:solidFill>
                <a:latin typeface="Pretendard" pitchFamily="34" charset="0"/>
                <a:ea typeface="Pretendard" pitchFamily="34" charset="-122"/>
                <a:cs typeface="Pretendard" pitchFamily="34" charset="-120"/>
              </a:rPr>
              <a:t>으로</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돌아가 반복 수행</a:t>
            </a:r>
            <a:endParaRPr lang="en-US" sz="1400" dirty="0"/>
          </a:p>
        </p:txBody>
      </p:sp>
      <p:sp>
        <p:nvSpPr>
          <p:cNvPr id="31" name="Shape 28"/>
          <p:cNvSpPr/>
          <p:nvPr/>
        </p:nvSpPr>
        <p:spPr>
          <a:xfrm>
            <a:off x="11628425"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2" name="Text 29"/>
          <p:cNvSpPr txBox="1"/>
          <p:nvPr/>
        </p:nvSpPr>
        <p:spPr>
          <a:xfrm>
            <a:off x="11756441"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err="1">
                <a:solidFill>
                  <a:srgbClr val="2B3242"/>
                </a:solidFill>
                <a:latin typeface="Pretendard" pitchFamily="34" charset="0"/>
                <a:ea typeface="Pretendard" pitchFamily="34" charset="-122"/>
                <a:cs typeface="Pretendard" pitchFamily="34" charset="-120"/>
              </a:rPr>
              <a:t>GraphSchema.save</a:t>
            </a:r>
            <a:r>
              <a:rPr lang="en-US"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설계 밖 </a:t>
            </a:r>
            <a:r>
              <a:rPr lang="ko-KR" altLang="en-US" sz="1400" dirty="0" err="1">
                <a:solidFill>
                  <a:srgbClr val="2B3242"/>
                </a:solidFill>
                <a:latin typeface="Pretendard" pitchFamily="34" charset="0"/>
                <a:ea typeface="Pretendard" pitchFamily="34" charset="-122"/>
                <a:cs typeface="Pretendard" pitchFamily="34" charset="-120"/>
              </a:rPr>
              <a:t>노드타입</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관계</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속성은 만들지 않음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인덱싱은 이 파일을 읽기만 함</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바뀌면 새 세대로 다시 인덱싱</a:t>
            </a:r>
            <a:endParaRPr lang="en-US" sz="1400" dirty="0"/>
          </a:p>
        </p:txBody>
      </p:sp>
      <p:sp>
        <p:nvSpPr>
          <p:cNvPr id="33" name="Text 30"/>
          <p:cNvSpPr txBox="1"/>
          <p:nvPr/>
        </p:nvSpPr>
        <p:spPr>
          <a:xfrm>
            <a:off x="509321" y="5592133"/>
            <a:ext cx="1828800" cy="29260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주의</a:t>
            </a:r>
            <a:endParaRPr lang="en-US" sz="1600" dirty="0"/>
          </a:p>
        </p:txBody>
      </p:sp>
      <p:sp>
        <p:nvSpPr>
          <p:cNvPr id="34" name="Shape 31"/>
          <p:cNvSpPr/>
          <p:nvPr/>
        </p:nvSpPr>
        <p:spPr>
          <a:xfrm>
            <a:off x="50932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5" name="Shape 32"/>
          <p:cNvSpPr/>
          <p:nvPr/>
        </p:nvSpPr>
        <p:spPr>
          <a:xfrm>
            <a:off x="600761" y="6328225"/>
            <a:ext cx="365760" cy="365760"/>
          </a:xfrm>
          <a:prstGeom prst="roundRect">
            <a:avLst>
              <a:gd name="adj" fmla="val 12500"/>
            </a:avLst>
          </a:prstGeom>
          <a:solidFill>
            <a:srgbClr val="404155"/>
          </a:solidFill>
          <a:ln/>
        </p:spPr>
        <p:txBody>
          <a:bodyPr/>
          <a:lstStyle/>
          <a:p>
            <a:endParaRPr lang="ko-KR" altLang="en-US"/>
          </a:p>
        </p:txBody>
      </p:sp>
      <p:sp>
        <p:nvSpPr>
          <p:cNvPr id="36" name="Text 33"/>
          <p:cNvSpPr txBox="1"/>
          <p:nvPr/>
        </p:nvSpPr>
        <p:spPr>
          <a:xfrm>
            <a:off x="60076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37" name="Text 34"/>
          <p:cNvSpPr txBox="1"/>
          <p:nvPr/>
        </p:nvSpPr>
        <p:spPr>
          <a:xfrm>
            <a:off x="1057961" y="5939605"/>
            <a:ext cx="2681478" cy="1143000"/>
          </a:xfrm>
          <a:prstGeom prst="rect">
            <a:avLst/>
          </a:prstGeom>
          <a:noFill/>
          <a:ln/>
        </p:spPr>
        <p:txBody>
          <a:bodyPr wrap="square" lIns="0" tIns="0" rIns="0" bIns="0" rtlCol="0" anchor="ctr"/>
          <a:lstStyle/>
          <a:p>
            <a:pPr marL="0" indent="0" algn="l">
              <a:buNone/>
            </a:pPr>
            <a:r>
              <a:rPr lang="ko-KR" altLang="en-US" sz="1500" dirty="0">
                <a:solidFill>
                  <a:srgbClr val="2B3242"/>
                </a:solidFill>
                <a:latin typeface="Pretendard" pitchFamily="34" charset="0"/>
                <a:ea typeface="Pretendard" pitchFamily="34" charset="-122"/>
                <a:cs typeface="Pretendard" pitchFamily="34" charset="-120"/>
              </a:rPr>
              <a:t>②에서는 앞 결과의 이름을 넘기지 않음</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넘기면 이름은 모이지만 새 개념이 안 나옴</a:t>
            </a:r>
            <a:r>
              <a:rPr lang="en-US" sz="1500" dirty="0">
                <a:solidFill>
                  <a:srgbClr val="2B3242"/>
                </a:solidFill>
                <a:latin typeface="Pretendard" pitchFamily="34" charset="0"/>
                <a:ea typeface="Pretendard" pitchFamily="34" charset="-122"/>
                <a:cs typeface="Pretendard" pitchFamily="34" charset="-120"/>
              </a:rPr>
              <a:t>→ ④</a:t>
            </a:r>
            <a:r>
              <a:rPr lang="en-US" sz="1500" dirty="0" err="1">
                <a:solidFill>
                  <a:srgbClr val="2B3242"/>
                </a:solidFill>
                <a:latin typeface="Pretendard" pitchFamily="34" charset="0"/>
                <a:ea typeface="Pretendard" pitchFamily="34" charset="-122"/>
                <a:cs typeface="Pretendard" pitchFamily="34" charset="-120"/>
              </a:rPr>
              <a:t>에서만</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사용</a:t>
            </a:r>
            <a:endParaRPr lang="en-US" sz="1500" dirty="0"/>
          </a:p>
        </p:txBody>
      </p:sp>
      <p:sp>
        <p:nvSpPr>
          <p:cNvPr id="38" name="Shape 35"/>
          <p:cNvSpPr/>
          <p:nvPr/>
        </p:nvSpPr>
        <p:spPr>
          <a:xfrm>
            <a:off x="394975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9" name="Shape 36"/>
          <p:cNvSpPr/>
          <p:nvPr/>
        </p:nvSpPr>
        <p:spPr>
          <a:xfrm>
            <a:off x="4041191" y="6328225"/>
            <a:ext cx="365760" cy="365760"/>
          </a:xfrm>
          <a:prstGeom prst="roundRect">
            <a:avLst>
              <a:gd name="adj" fmla="val 12500"/>
            </a:avLst>
          </a:prstGeom>
          <a:solidFill>
            <a:srgbClr val="404155"/>
          </a:solidFill>
          <a:ln/>
        </p:spPr>
        <p:txBody>
          <a:bodyPr/>
          <a:lstStyle/>
          <a:p>
            <a:endParaRPr lang="ko-KR" altLang="en-US"/>
          </a:p>
        </p:txBody>
      </p:sp>
      <p:sp>
        <p:nvSpPr>
          <p:cNvPr id="40" name="Text 37"/>
          <p:cNvSpPr txBox="1"/>
          <p:nvPr/>
        </p:nvSpPr>
        <p:spPr>
          <a:xfrm>
            <a:off x="404119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1" name="Text 38"/>
          <p:cNvSpPr txBox="1"/>
          <p:nvPr/>
        </p:nvSpPr>
        <p:spPr>
          <a:xfrm>
            <a:off x="449839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대화 속 </a:t>
            </a:r>
            <a:r>
              <a:rPr lang="en-US" sz="1500" dirty="0" err="1">
                <a:solidFill>
                  <a:srgbClr val="2B3242"/>
                </a:solidFill>
                <a:latin typeface="Pretendard" pitchFamily="34" charset="0"/>
                <a:ea typeface="Pretendard" pitchFamily="34" charset="-122"/>
                <a:cs typeface="Pretendard" pitchFamily="34" charset="-120"/>
              </a:rPr>
              <a:t>행위나</a:t>
            </a:r>
            <a:r>
              <a:rPr lang="en-US" sz="1500" dirty="0">
                <a:solidFill>
                  <a:srgbClr val="2B3242"/>
                </a:solidFill>
                <a:latin typeface="Pretendard" pitchFamily="34" charset="0"/>
                <a:ea typeface="Pretendard" pitchFamily="34" charset="-122"/>
                <a:cs typeface="Pretendard" pitchFamily="34" charset="-120"/>
              </a:rPr>
              <a:t> 조항 규칙 같은 구조는 LLM이 잘 못 뽑음 → </a:t>
            </a:r>
            <a:r>
              <a:rPr lang="en-US" sz="1500" dirty="0" err="1">
                <a:solidFill>
                  <a:srgbClr val="2B3242"/>
                </a:solidFill>
                <a:latin typeface="Pretendard" pitchFamily="34" charset="0"/>
                <a:ea typeface="Pretendard" pitchFamily="34" charset="-122"/>
                <a:cs typeface="Pretendard" pitchFamily="34" charset="-120"/>
              </a:rPr>
              <a:t>사람이</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직접 </a:t>
            </a:r>
            <a:r>
              <a:rPr lang="ko-KR" altLang="en-US" sz="1500" dirty="0" err="1">
                <a:solidFill>
                  <a:srgbClr val="2B3242"/>
                </a:solidFill>
                <a:latin typeface="Pretendard" pitchFamily="34" charset="0"/>
                <a:ea typeface="Pretendard" pitchFamily="34" charset="-122"/>
                <a:cs typeface="Pretendard" pitchFamily="34" charset="-120"/>
              </a:rPr>
              <a:t>노드타입</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관계</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속성 넣기</a:t>
            </a:r>
            <a:endParaRPr lang="en-US" sz="1500" dirty="0"/>
          </a:p>
        </p:txBody>
      </p:sp>
      <p:sp>
        <p:nvSpPr>
          <p:cNvPr id="42" name="Shape 39"/>
          <p:cNvSpPr/>
          <p:nvPr/>
        </p:nvSpPr>
        <p:spPr>
          <a:xfrm>
            <a:off x="739018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3" name="Shape 40"/>
          <p:cNvSpPr/>
          <p:nvPr/>
        </p:nvSpPr>
        <p:spPr>
          <a:xfrm>
            <a:off x="7481621" y="6328225"/>
            <a:ext cx="365760" cy="365760"/>
          </a:xfrm>
          <a:prstGeom prst="roundRect">
            <a:avLst>
              <a:gd name="adj" fmla="val 12500"/>
            </a:avLst>
          </a:prstGeom>
          <a:solidFill>
            <a:srgbClr val="404155"/>
          </a:solidFill>
          <a:ln/>
        </p:spPr>
        <p:txBody>
          <a:bodyPr/>
          <a:lstStyle/>
          <a:p>
            <a:endParaRPr lang="ko-KR" altLang="en-US"/>
          </a:p>
        </p:txBody>
      </p:sp>
      <p:sp>
        <p:nvSpPr>
          <p:cNvPr id="44" name="Text 41"/>
          <p:cNvSpPr txBox="1"/>
          <p:nvPr/>
        </p:nvSpPr>
        <p:spPr>
          <a:xfrm>
            <a:off x="748162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5" name="Text 42"/>
          <p:cNvSpPr txBox="1"/>
          <p:nvPr/>
        </p:nvSpPr>
        <p:spPr>
          <a:xfrm>
            <a:off x="793882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여러 문서에 걸친 관계(카드 비교 등)는 청크 단위 추출로 </a:t>
            </a:r>
            <a:r>
              <a:rPr lang="en-US" sz="1500" dirty="0" err="1">
                <a:solidFill>
                  <a:srgbClr val="2B3242"/>
                </a:solidFill>
                <a:latin typeface="Pretendard" pitchFamily="34" charset="0"/>
                <a:ea typeface="Pretendard" pitchFamily="34" charset="-122"/>
                <a:cs typeface="Pretendard" pitchFamily="34" charset="-120"/>
              </a:rPr>
              <a:t>나오지</a:t>
            </a:r>
            <a:r>
              <a:rPr lang="en-US" sz="1500" dirty="0">
                <a:solidFill>
                  <a:srgbClr val="2B3242"/>
                </a:solidFill>
                <a:latin typeface="Pretendard" pitchFamily="34" charset="0"/>
                <a:ea typeface="Pretendard" pitchFamily="34" charset="-122"/>
                <a:cs typeface="Pretendard" pitchFamily="34" charset="-120"/>
              </a:rPr>
              <a:t> </a:t>
            </a:r>
            <a:r>
              <a:rPr lang="en-US" sz="1500" dirty="0" err="1">
                <a:solidFill>
                  <a:srgbClr val="2B3242"/>
                </a:solidFill>
                <a:latin typeface="Pretendard" pitchFamily="34" charset="0"/>
                <a:ea typeface="Pretendard" pitchFamily="34" charset="-122"/>
                <a:cs typeface="Pretendard" pitchFamily="34" charset="-120"/>
              </a:rPr>
              <a:t>않음</a:t>
            </a:r>
            <a:r>
              <a:rPr lang="en-US" sz="1500" dirty="0">
                <a:solidFill>
                  <a:srgbClr val="2B3242"/>
                </a:solidFill>
                <a:latin typeface="Pretendard" pitchFamily="34" charset="0"/>
                <a:ea typeface="Pretendard" pitchFamily="34" charset="-122"/>
                <a:cs typeface="Pretendard" pitchFamily="34" charset="-120"/>
              </a:rPr>
              <a:t> </a:t>
            </a:r>
          </a:p>
          <a:p>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검색에서 처리</a:t>
            </a:r>
            <a:endParaRPr lang="en-US" sz="1500" dirty="0"/>
          </a:p>
        </p:txBody>
      </p:sp>
      <p:sp>
        <p:nvSpPr>
          <p:cNvPr id="46" name="Shape 43"/>
          <p:cNvSpPr/>
          <p:nvPr/>
        </p:nvSpPr>
        <p:spPr>
          <a:xfrm>
            <a:off x="1083061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7" name="Shape 44"/>
          <p:cNvSpPr/>
          <p:nvPr/>
        </p:nvSpPr>
        <p:spPr>
          <a:xfrm>
            <a:off x="10922051" y="6328225"/>
            <a:ext cx="36576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1092205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9" name="Text 46"/>
          <p:cNvSpPr txBox="1"/>
          <p:nvPr/>
        </p:nvSpPr>
        <p:spPr>
          <a:xfrm>
            <a:off x="1137925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멈춤: 2건 이상 나온 새 이름이 연속 3건 없으면 그 층은 멈춤</a:t>
            </a:r>
            <a:endParaRPr lang="en-US" sz="1500" dirty="0"/>
          </a:p>
        </p:txBody>
      </p:sp>
      <p:sp>
        <p:nvSpPr>
          <p:cNvPr id="50" name="Shape 47"/>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51" name="Text 4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출처: </a:t>
            </a:r>
            <a:r>
              <a:rPr lang="en-US" sz="1400" u="sng" dirty="0">
                <a:solidFill>
                  <a:srgbClr val="2E74C6"/>
                </a:solidFill>
                <a:latin typeface="Pretendard" pitchFamily="34" charset="0"/>
                <a:ea typeface="Pretendard" pitchFamily="34" charset="-122"/>
                <a:cs typeface="Pretendard" pitchFamily="34" charset="-120"/>
                <a:hlinkClick r:id="rId3" tooltip="https://neo4j.com/docs/neo4j-graphrag-python/current/user_guide_kg_builder.html">
                  <a:extLst>
                    <a:ext uri="{A12FA001-AC4F-418D-AE19-62706E023703}">
                      <ahyp:hlinkClr xmlns:ahyp="http://schemas.microsoft.com/office/drawing/2018/hyperlinkcolor" val="tx"/>
                    </a:ext>
                  </a:extLst>
                </a:hlinkClick>
              </a:rPr>
              <a:t>Neo4j GraphRAG Python 사용자 안내</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4" tooltip="https://neo4j.com/labs/genai-ecosystem/llm-graph-builder-features/">
                  <a:extLst>
                    <a:ext uri="{A12FA001-AC4F-418D-AE19-62706E023703}">
                      <ahyp:hlinkClr xmlns:ahyp="http://schemas.microsoft.com/office/drawing/2018/hyperlinkcolor" val="tx"/>
                    </a:ext>
                  </a:extLst>
                </a:hlinkClick>
              </a:rPr>
              <a:t>Neo4j LLM Graph Builder 기능</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5" tooltip="https://protege.stanford.edu/publications/ontology_development/ontology101-noy-mcguinness.html">
                  <a:extLst>
                    <a:ext uri="{A12FA001-AC4F-418D-AE19-62706E023703}">
                      <ahyp:hlinkClr xmlns:ahyp="http://schemas.microsoft.com/office/drawing/2018/hyperlinkcolor" val="tx"/>
                    </a:ext>
                  </a:extLst>
                </a:hlinkClick>
              </a:rPr>
              <a:t>Noy와 McGuinness, Ontology 101(역량 질문)</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6" tooltip="https://journals.plos.org/plosone/article?id=10.1371/journal.pone.0232076">
                  <a:extLst>
                    <a:ext uri="{A12FA001-AC4F-418D-AE19-62706E023703}">
                      <ahyp:hlinkClr xmlns:ahyp="http://schemas.microsoft.com/office/drawing/2018/hyperlinkcolor" val="tx"/>
                    </a:ext>
                  </a:extLst>
                </a:hlinkClick>
              </a:rPr>
              <a:t>Guest 외(2020) 포화 기준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사례 ① 상담 이력: 넓게 뽑기에서 뼈대 확정까지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같은 상담 30건에 방법만 바꿔 보니, 역량 질문만 넣었을 때 비로소 불만, 제안, 응답, 재검토 조건이 후보로 나옴</a:t>
            </a:r>
            <a:endParaRPr lang="en-US" sz="1800" dirty="0"/>
          </a:p>
        </p:txBody>
      </p:sp>
      <p:sp>
        <p:nvSpPr>
          <p:cNvPr id="5" name="Shape 2"/>
          <p:cNvSpPr/>
          <p:nvPr/>
        </p:nvSpPr>
        <p:spPr>
          <a:xfrm>
            <a:off x="509321" y="1737360"/>
            <a:ext cx="6400800" cy="365760"/>
          </a:xfrm>
          <a:prstGeom prst="roundRect">
            <a:avLst>
              <a:gd name="adj" fmla="val 12500"/>
            </a:avLst>
          </a:prstGeom>
          <a:solidFill>
            <a:srgbClr val="404155"/>
          </a:solidFill>
          <a:ln/>
        </p:spPr>
        <p:txBody>
          <a:bodyPr/>
          <a:lstStyle/>
          <a:p>
            <a:endParaRPr lang="ko-KR" altLang="en-US"/>
          </a:p>
        </p:txBody>
      </p:sp>
      <p:sp>
        <p:nvSpPr>
          <p:cNvPr id="6" name="Text 3"/>
          <p:cNvSpPr txBox="1"/>
          <p:nvPr/>
        </p:nvSpPr>
        <p:spPr>
          <a:xfrm>
            <a:off x="509321" y="1737360"/>
            <a:ext cx="64008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같은 상담 30건, 방법만 바꿔 봄</a:t>
            </a:r>
            <a:endParaRPr lang="en-US" sz="1600" dirty="0"/>
          </a:p>
        </p:txBody>
      </p:sp>
      <p:sp>
        <p:nvSpPr>
          <p:cNvPr id="7" name="Text 4"/>
          <p:cNvSpPr txBox="1"/>
          <p:nvPr/>
        </p:nvSpPr>
        <p:spPr>
          <a:xfrm>
            <a:off x="509321" y="2157984"/>
            <a:ext cx="26517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방법</a:t>
            </a:r>
            <a:endParaRPr lang="en-US" sz="1400" dirty="0"/>
          </a:p>
        </p:txBody>
      </p:sp>
      <p:sp>
        <p:nvSpPr>
          <p:cNvPr id="8" name="Text 5"/>
          <p:cNvSpPr txBox="1"/>
          <p:nvPr/>
        </p:nvSpPr>
        <p:spPr>
          <a:xfrm>
            <a:off x="3252521" y="2157984"/>
            <a:ext cx="237744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노드 타입 이름 수</a:t>
            </a:r>
            <a:endParaRPr lang="en-US" sz="1400" dirty="0"/>
          </a:p>
        </p:txBody>
      </p:sp>
      <p:sp>
        <p:nvSpPr>
          <p:cNvPr id="9" name="Text 6"/>
          <p:cNvSpPr txBox="1"/>
          <p:nvPr/>
        </p:nvSpPr>
        <p:spPr>
          <a:xfrm>
            <a:off x="5629961" y="2157984"/>
            <a:ext cx="1280160" cy="256032"/>
          </a:xfrm>
          <a:prstGeom prst="rect">
            <a:avLst/>
          </a:prstGeom>
          <a:noFill/>
          <a:ln/>
        </p:spPr>
        <p:txBody>
          <a:bodyPr wrap="square" lIns="0" tIns="0" rIns="0" bIns="0" rtlCol="0" anchor="ctr"/>
          <a:lstStyle/>
          <a:p>
            <a:pPr marL="0" indent="0" algn="ctr">
              <a:buNone/>
            </a:pPr>
            <a:r>
              <a:rPr lang="en-US" sz="1400" b="1" dirty="0">
                <a:solidFill>
                  <a:srgbClr val="4A5364"/>
                </a:solidFill>
                <a:latin typeface="Pretendard" pitchFamily="34" charset="0"/>
                <a:ea typeface="Pretendard" pitchFamily="34" charset="-122"/>
                <a:cs typeface="Pretendard" pitchFamily="34" charset="-120"/>
              </a:rPr>
              <a:t>업무 개념 4개 중</a:t>
            </a:r>
            <a:endParaRPr lang="en-US" sz="1400" dirty="0"/>
          </a:p>
        </p:txBody>
      </p:sp>
      <p:sp>
        <p:nvSpPr>
          <p:cNvPr id="10" name="Shape 7"/>
          <p:cNvSpPr/>
          <p:nvPr/>
        </p:nvSpPr>
        <p:spPr>
          <a:xfrm>
            <a:off x="509321" y="2450592"/>
            <a:ext cx="6400800" cy="54864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11" name="Text 8"/>
          <p:cNvSpPr txBox="1"/>
          <p:nvPr/>
        </p:nvSpPr>
        <p:spPr>
          <a:xfrm>
            <a:off x="619049" y="245059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1건씩 따로 뽑기</a:t>
            </a:r>
            <a:endParaRPr lang="en-US" sz="1400" dirty="0"/>
          </a:p>
        </p:txBody>
      </p:sp>
      <p:sp>
        <p:nvSpPr>
          <p:cNvPr id="12" name="Shape 9"/>
          <p:cNvSpPr/>
          <p:nvPr/>
        </p:nvSpPr>
        <p:spPr>
          <a:xfrm>
            <a:off x="3252521" y="2606040"/>
            <a:ext cx="1630392" cy="237744"/>
          </a:xfrm>
          <a:prstGeom prst="rect">
            <a:avLst/>
          </a:prstGeom>
          <a:solidFill>
            <a:srgbClr val="4A5364"/>
          </a:solidFill>
          <a:ln/>
        </p:spPr>
        <p:txBody>
          <a:bodyPr/>
          <a:lstStyle/>
          <a:p>
            <a:endParaRPr lang="ko-KR" altLang="en-US"/>
          </a:p>
        </p:txBody>
      </p:sp>
      <p:sp>
        <p:nvSpPr>
          <p:cNvPr id="13" name="Text 10"/>
          <p:cNvSpPr txBox="1"/>
          <p:nvPr/>
        </p:nvSpPr>
        <p:spPr>
          <a:xfrm>
            <a:off x="4956065" y="245059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45</a:t>
            </a:r>
            <a:endParaRPr lang="en-US" sz="1500" dirty="0"/>
          </a:p>
        </p:txBody>
      </p:sp>
      <p:sp>
        <p:nvSpPr>
          <p:cNvPr id="14" name="Shape 11"/>
          <p:cNvSpPr/>
          <p:nvPr/>
        </p:nvSpPr>
        <p:spPr>
          <a:xfrm>
            <a:off x="5767121" y="2560320"/>
            <a:ext cx="1005840" cy="329184"/>
          </a:xfrm>
          <a:prstGeom prst="roundRect">
            <a:avLst>
              <a:gd name="adj" fmla="val 22222"/>
            </a:avLst>
          </a:prstGeom>
          <a:solidFill>
            <a:srgbClr val="F5F8FC"/>
          </a:solidFill>
          <a:ln w="12700">
            <a:solidFill>
              <a:srgbClr val="D9E0EC"/>
            </a:solidFill>
            <a:prstDash val="solid"/>
          </a:ln>
        </p:spPr>
        <p:txBody>
          <a:bodyPr/>
          <a:lstStyle/>
          <a:p>
            <a:endParaRPr lang="ko-KR" altLang="en-US"/>
          </a:p>
        </p:txBody>
      </p:sp>
      <p:sp>
        <p:nvSpPr>
          <p:cNvPr id="15" name="Text 12"/>
          <p:cNvSpPr txBox="1"/>
          <p:nvPr/>
        </p:nvSpPr>
        <p:spPr>
          <a:xfrm>
            <a:off x="5767121" y="2560320"/>
            <a:ext cx="1005840"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0 / 4</a:t>
            </a:r>
            <a:endParaRPr lang="en-US" sz="1500" dirty="0"/>
          </a:p>
        </p:txBody>
      </p:sp>
      <p:sp>
        <p:nvSpPr>
          <p:cNvPr id="16" name="Shape 13"/>
          <p:cNvSpPr/>
          <p:nvPr/>
        </p:nvSpPr>
        <p:spPr>
          <a:xfrm>
            <a:off x="509321" y="3044952"/>
            <a:ext cx="6400800" cy="54864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17" name="Text 14"/>
          <p:cNvSpPr txBox="1"/>
          <p:nvPr/>
        </p:nvSpPr>
        <p:spPr>
          <a:xfrm>
            <a:off x="619049" y="304495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이름 다시 쓰기</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(앞서 나온 이름을 examples로)</a:t>
            </a:r>
            <a:endParaRPr lang="en-US" sz="1400" dirty="0"/>
          </a:p>
        </p:txBody>
      </p:sp>
      <p:sp>
        <p:nvSpPr>
          <p:cNvPr id="18" name="Shape 15"/>
          <p:cNvSpPr/>
          <p:nvPr/>
        </p:nvSpPr>
        <p:spPr>
          <a:xfrm>
            <a:off x="3252521" y="3200400"/>
            <a:ext cx="507233" cy="237744"/>
          </a:xfrm>
          <a:prstGeom prst="rect">
            <a:avLst/>
          </a:prstGeom>
          <a:solidFill>
            <a:srgbClr val="4A5364"/>
          </a:solidFill>
          <a:ln/>
        </p:spPr>
        <p:txBody>
          <a:bodyPr/>
          <a:lstStyle/>
          <a:p>
            <a:endParaRPr lang="ko-KR" altLang="en-US"/>
          </a:p>
        </p:txBody>
      </p:sp>
      <p:sp>
        <p:nvSpPr>
          <p:cNvPr id="19" name="Text 16"/>
          <p:cNvSpPr txBox="1"/>
          <p:nvPr/>
        </p:nvSpPr>
        <p:spPr>
          <a:xfrm>
            <a:off x="3832906" y="304495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14</a:t>
            </a:r>
            <a:endParaRPr lang="en-US" sz="1500" dirty="0"/>
          </a:p>
        </p:txBody>
      </p:sp>
      <p:sp>
        <p:nvSpPr>
          <p:cNvPr id="20" name="Shape 17"/>
          <p:cNvSpPr/>
          <p:nvPr/>
        </p:nvSpPr>
        <p:spPr>
          <a:xfrm>
            <a:off x="5767121" y="3154680"/>
            <a:ext cx="1005840" cy="329184"/>
          </a:xfrm>
          <a:prstGeom prst="roundRect">
            <a:avLst>
              <a:gd name="adj" fmla="val 22222"/>
            </a:avLst>
          </a:prstGeom>
          <a:solidFill>
            <a:srgbClr val="F5F8FC"/>
          </a:solidFill>
          <a:ln w="12700">
            <a:solidFill>
              <a:srgbClr val="D9E0EC"/>
            </a:solidFill>
            <a:prstDash val="solid"/>
          </a:ln>
        </p:spPr>
        <p:txBody>
          <a:bodyPr/>
          <a:lstStyle/>
          <a:p>
            <a:endParaRPr lang="ko-KR" altLang="en-US"/>
          </a:p>
        </p:txBody>
      </p:sp>
      <p:sp>
        <p:nvSpPr>
          <p:cNvPr id="21" name="Text 18"/>
          <p:cNvSpPr txBox="1"/>
          <p:nvPr/>
        </p:nvSpPr>
        <p:spPr>
          <a:xfrm>
            <a:off x="5767121" y="3154680"/>
            <a:ext cx="1005840"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0 / 4</a:t>
            </a:r>
            <a:endParaRPr lang="en-US" sz="1500" dirty="0"/>
          </a:p>
        </p:txBody>
      </p:sp>
      <p:sp>
        <p:nvSpPr>
          <p:cNvPr id="22" name="Shape 19"/>
          <p:cNvSpPr/>
          <p:nvPr/>
        </p:nvSpPr>
        <p:spPr>
          <a:xfrm>
            <a:off x="509321" y="3639312"/>
            <a:ext cx="6400800" cy="54864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23" name="Text 20"/>
          <p:cNvSpPr txBox="1"/>
          <p:nvPr/>
        </p:nvSpPr>
        <p:spPr>
          <a:xfrm>
            <a:off x="619049" y="363931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원문 보강</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이름 다시 쓰기</a:t>
            </a:r>
            <a:endParaRPr lang="en-US" sz="1400" dirty="0"/>
          </a:p>
        </p:txBody>
      </p:sp>
      <p:sp>
        <p:nvSpPr>
          <p:cNvPr id="24" name="Shape 21"/>
          <p:cNvSpPr/>
          <p:nvPr/>
        </p:nvSpPr>
        <p:spPr>
          <a:xfrm>
            <a:off x="3252521" y="3794760"/>
            <a:ext cx="1376776" cy="237744"/>
          </a:xfrm>
          <a:prstGeom prst="rect">
            <a:avLst/>
          </a:prstGeom>
          <a:solidFill>
            <a:srgbClr val="4A5364"/>
          </a:solidFill>
          <a:ln/>
        </p:spPr>
        <p:txBody>
          <a:bodyPr/>
          <a:lstStyle/>
          <a:p>
            <a:endParaRPr lang="ko-KR" altLang="en-US"/>
          </a:p>
        </p:txBody>
      </p:sp>
      <p:sp>
        <p:nvSpPr>
          <p:cNvPr id="25" name="Text 22"/>
          <p:cNvSpPr txBox="1"/>
          <p:nvPr/>
        </p:nvSpPr>
        <p:spPr>
          <a:xfrm>
            <a:off x="4702449" y="363931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38</a:t>
            </a:r>
            <a:endParaRPr lang="en-US" sz="1500" dirty="0"/>
          </a:p>
        </p:txBody>
      </p:sp>
      <p:sp>
        <p:nvSpPr>
          <p:cNvPr id="26" name="Shape 23"/>
          <p:cNvSpPr/>
          <p:nvPr/>
        </p:nvSpPr>
        <p:spPr>
          <a:xfrm>
            <a:off x="5767121" y="3749040"/>
            <a:ext cx="1005840" cy="329184"/>
          </a:xfrm>
          <a:prstGeom prst="roundRect">
            <a:avLst>
              <a:gd name="adj" fmla="val 22222"/>
            </a:avLst>
          </a:prstGeom>
          <a:solidFill>
            <a:srgbClr val="F5F8FC"/>
          </a:solidFill>
          <a:ln w="12700">
            <a:solidFill>
              <a:srgbClr val="D9E0EC"/>
            </a:solidFill>
            <a:prstDash val="solid"/>
          </a:ln>
        </p:spPr>
        <p:txBody>
          <a:bodyPr/>
          <a:lstStyle/>
          <a:p>
            <a:endParaRPr lang="ko-KR" altLang="en-US"/>
          </a:p>
        </p:txBody>
      </p:sp>
      <p:sp>
        <p:nvSpPr>
          <p:cNvPr id="27" name="Text 24"/>
          <p:cNvSpPr txBox="1"/>
          <p:nvPr/>
        </p:nvSpPr>
        <p:spPr>
          <a:xfrm>
            <a:off x="5767121" y="3749040"/>
            <a:ext cx="1005840"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0 / 4</a:t>
            </a:r>
            <a:endParaRPr lang="en-US" sz="1500" dirty="0"/>
          </a:p>
        </p:txBody>
      </p:sp>
      <p:sp>
        <p:nvSpPr>
          <p:cNvPr id="28" name="Shape 25"/>
          <p:cNvSpPr/>
          <p:nvPr/>
        </p:nvSpPr>
        <p:spPr>
          <a:xfrm>
            <a:off x="509321" y="4233672"/>
            <a:ext cx="6400800" cy="548640"/>
          </a:xfrm>
          <a:prstGeom prst="roundRect">
            <a:avLst>
              <a:gd name="adj" fmla="val 10000"/>
            </a:avLst>
          </a:prstGeom>
          <a:solidFill>
            <a:srgbClr val="FFFFFF"/>
          </a:solidFill>
          <a:ln w="12700">
            <a:solidFill>
              <a:srgbClr val="D9E0EC"/>
            </a:solidFill>
            <a:prstDash val="solid"/>
          </a:ln>
        </p:spPr>
        <p:txBody>
          <a:bodyPr/>
          <a:lstStyle/>
          <a:p>
            <a:endParaRPr lang="ko-KR" altLang="en-US"/>
          </a:p>
        </p:txBody>
      </p:sp>
      <p:sp>
        <p:nvSpPr>
          <p:cNvPr id="29" name="Text 26"/>
          <p:cNvSpPr txBox="1"/>
          <p:nvPr/>
        </p:nvSpPr>
        <p:spPr>
          <a:xfrm>
            <a:off x="619049" y="423367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원문 보강 + 역량 질문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이름 다시 쓰기</a:t>
            </a:r>
            <a:endParaRPr lang="en-US" sz="1400" dirty="0"/>
          </a:p>
        </p:txBody>
      </p:sp>
      <p:sp>
        <p:nvSpPr>
          <p:cNvPr id="30" name="Shape 27"/>
          <p:cNvSpPr/>
          <p:nvPr/>
        </p:nvSpPr>
        <p:spPr>
          <a:xfrm>
            <a:off x="3252521" y="4389120"/>
            <a:ext cx="362309" cy="237744"/>
          </a:xfrm>
          <a:prstGeom prst="rect">
            <a:avLst/>
          </a:prstGeom>
          <a:solidFill>
            <a:srgbClr val="4A5364"/>
          </a:solidFill>
          <a:ln/>
        </p:spPr>
        <p:txBody>
          <a:bodyPr/>
          <a:lstStyle/>
          <a:p>
            <a:endParaRPr lang="ko-KR" altLang="en-US"/>
          </a:p>
        </p:txBody>
      </p:sp>
      <p:sp>
        <p:nvSpPr>
          <p:cNvPr id="31" name="Text 28"/>
          <p:cNvSpPr txBox="1"/>
          <p:nvPr/>
        </p:nvSpPr>
        <p:spPr>
          <a:xfrm>
            <a:off x="3687982" y="423367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10</a:t>
            </a:r>
            <a:endParaRPr lang="en-US" sz="1500" dirty="0"/>
          </a:p>
        </p:txBody>
      </p:sp>
      <p:sp>
        <p:nvSpPr>
          <p:cNvPr id="32" name="Shape 29"/>
          <p:cNvSpPr/>
          <p:nvPr/>
        </p:nvSpPr>
        <p:spPr>
          <a:xfrm>
            <a:off x="5767121" y="4343400"/>
            <a:ext cx="1005840" cy="329184"/>
          </a:xfrm>
          <a:prstGeom prst="roundRect">
            <a:avLst>
              <a:gd name="adj" fmla="val 22222"/>
            </a:avLst>
          </a:prstGeom>
          <a:solidFill>
            <a:srgbClr val="EEF3FA"/>
          </a:solidFill>
          <a:ln/>
        </p:spPr>
        <p:txBody>
          <a:bodyPr/>
          <a:lstStyle/>
          <a:p>
            <a:endParaRPr lang="ko-KR" altLang="en-US"/>
          </a:p>
        </p:txBody>
      </p:sp>
      <p:sp>
        <p:nvSpPr>
          <p:cNvPr id="33" name="Text 30"/>
          <p:cNvSpPr txBox="1"/>
          <p:nvPr/>
        </p:nvSpPr>
        <p:spPr>
          <a:xfrm>
            <a:off x="5767121" y="4343400"/>
            <a:ext cx="1005840"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1 / 4</a:t>
            </a:r>
            <a:endParaRPr lang="en-US" sz="1500" dirty="0"/>
          </a:p>
        </p:txBody>
      </p:sp>
      <p:sp>
        <p:nvSpPr>
          <p:cNvPr id="34" name="Shape 31"/>
          <p:cNvSpPr/>
          <p:nvPr/>
        </p:nvSpPr>
        <p:spPr>
          <a:xfrm>
            <a:off x="509321" y="4828032"/>
            <a:ext cx="6400800" cy="548640"/>
          </a:xfrm>
          <a:prstGeom prst="roundRect">
            <a:avLst>
              <a:gd name="adj" fmla="val 10000"/>
            </a:avLst>
          </a:prstGeom>
          <a:solidFill>
            <a:srgbClr val="EEF3FA"/>
          </a:solidFill>
          <a:ln w="12700">
            <a:solidFill>
              <a:srgbClr val="2E74C6"/>
            </a:solidFill>
            <a:prstDash val="solid"/>
          </a:ln>
        </p:spPr>
        <p:txBody>
          <a:bodyPr/>
          <a:lstStyle/>
          <a:p>
            <a:endParaRPr lang="ko-KR" altLang="en-US"/>
          </a:p>
        </p:txBody>
      </p:sp>
      <p:sp>
        <p:nvSpPr>
          <p:cNvPr id="35" name="Text 32"/>
          <p:cNvSpPr txBox="1"/>
          <p:nvPr/>
        </p:nvSpPr>
        <p:spPr>
          <a:xfrm>
            <a:off x="619049" y="4828032"/>
            <a:ext cx="2560320" cy="54864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원문 보강 + 역량 질문만</a:t>
            </a:r>
            <a:endParaRPr lang="en-US" sz="1400" dirty="0"/>
          </a:p>
        </p:txBody>
      </p:sp>
      <p:sp>
        <p:nvSpPr>
          <p:cNvPr id="36" name="Shape 33"/>
          <p:cNvSpPr/>
          <p:nvPr/>
        </p:nvSpPr>
        <p:spPr>
          <a:xfrm>
            <a:off x="3252521" y="4983480"/>
            <a:ext cx="1920240" cy="237744"/>
          </a:xfrm>
          <a:prstGeom prst="rect">
            <a:avLst/>
          </a:prstGeom>
          <a:solidFill>
            <a:srgbClr val="2E74C6"/>
          </a:solidFill>
          <a:ln/>
        </p:spPr>
        <p:txBody>
          <a:bodyPr/>
          <a:lstStyle/>
          <a:p>
            <a:endParaRPr lang="ko-KR" altLang="en-US"/>
          </a:p>
        </p:txBody>
      </p:sp>
      <p:sp>
        <p:nvSpPr>
          <p:cNvPr id="37" name="Text 34"/>
          <p:cNvSpPr txBox="1"/>
          <p:nvPr/>
        </p:nvSpPr>
        <p:spPr>
          <a:xfrm>
            <a:off x="5245913" y="4828032"/>
            <a:ext cx="548640" cy="548640"/>
          </a:xfrm>
          <a:prstGeom prst="rect">
            <a:avLst/>
          </a:prstGeom>
          <a:noFill/>
          <a:ln/>
        </p:spPr>
        <p:txBody>
          <a:bodyPr wrap="square" lIns="0" tIns="0" rIns="0" bIns="0" rtlCol="0" anchor="ctr"/>
          <a:lstStyle/>
          <a:p>
            <a:pPr marL="0" indent="0" algn="l">
              <a:buNone/>
            </a:pPr>
            <a:r>
              <a:rPr lang="en-US" sz="1500" b="1" dirty="0">
                <a:solidFill>
                  <a:srgbClr val="2B3242"/>
                </a:solidFill>
                <a:latin typeface="Pretendard" pitchFamily="34" charset="0"/>
                <a:ea typeface="Pretendard" pitchFamily="34" charset="-122"/>
                <a:cs typeface="Pretendard" pitchFamily="34" charset="-120"/>
              </a:rPr>
              <a:t>53</a:t>
            </a:r>
            <a:endParaRPr lang="en-US" sz="1500" dirty="0"/>
          </a:p>
        </p:txBody>
      </p:sp>
      <p:sp>
        <p:nvSpPr>
          <p:cNvPr id="38" name="Shape 35"/>
          <p:cNvSpPr/>
          <p:nvPr/>
        </p:nvSpPr>
        <p:spPr>
          <a:xfrm>
            <a:off x="5767121" y="4937760"/>
            <a:ext cx="1005840" cy="329184"/>
          </a:xfrm>
          <a:prstGeom prst="roundRect">
            <a:avLst>
              <a:gd name="adj" fmla="val 22222"/>
            </a:avLst>
          </a:prstGeom>
          <a:solidFill>
            <a:srgbClr val="2E74C6"/>
          </a:solidFill>
          <a:ln/>
        </p:spPr>
        <p:txBody>
          <a:bodyPr/>
          <a:lstStyle/>
          <a:p>
            <a:endParaRPr lang="ko-KR" altLang="en-US"/>
          </a:p>
        </p:txBody>
      </p:sp>
      <p:sp>
        <p:nvSpPr>
          <p:cNvPr id="39" name="Text 36"/>
          <p:cNvSpPr txBox="1"/>
          <p:nvPr/>
        </p:nvSpPr>
        <p:spPr>
          <a:xfrm>
            <a:off x="5767121" y="4937760"/>
            <a:ext cx="100584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4 / 4</a:t>
            </a:r>
            <a:endParaRPr lang="en-US" sz="1500" dirty="0"/>
          </a:p>
        </p:txBody>
      </p:sp>
      <p:sp>
        <p:nvSpPr>
          <p:cNvPr id="40" name="Text 37"/>
          <p:cNvSpPr txBox="1"/>
          <p:nvPr/>
        </p:nvSpPr>
        <p:spPr>
          <a:xfrm>
            <a:off x="509321" y="5504688"/>
            <a:ext cx="6400800" cy="896112"/>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개념: 불만 원인, 제안, 수용과 거절, 재검토 조건</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원문 보강: 상담 원문에 그 문장을 넣은 판(v3)</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역량 질문만 넣으면 네 개념이 각각 30건 중 1 ~ 5건뿐이라 빈도로 거르면 버려짐</a:t>
            </a:r>
            <a:endParaRPr lang="en-US" sz="1400" dirty="0"/>
          </a:p>
        </p:txBody>
      </p:sp>
      <p:sp>
        <p:nvSpPr>
          <p:cNvPr id="41" name="Shape 38"/>
          <p:cNvSpPr/>
          <p:nvPr/>
        </p:nvSpPr>
        <p:spPr>
          <a:xfrm>
            <a:off x="7184441" y="1737360"/>
            <a:ext cx="6949440" cy="365760"/>
          </a:xfrm>
          <a:prstGeom prst="roundRect">
            <a:avLst>
              <a:gd name="adj" fmla="val 12500"/>
            </a:avLst>
          </a:prstGeom>
          <a:solidFill>
            <a:srgbClr val="1E2A5C"/>
          </a:solidFill>
          <a:ln/>
        </p:spPr>
        <p:txBody>
          <a:bodyPr/>
          <a:lstStyle/>
          <a:p>
            <a:endParaRPr lang="ko-KR" altLang="en-US"/>
          </a:p>
        </p:txBody>
      </p:sp>
      <p:sp>
        <p:nvSpPr>
          <p:cNvPr id="42" name="Text 39"/>
          <p:cNvSpPr txBox="1"/>
          <p:nvPr/>
        </p:nvSpPr>
        <p:spPr>
          <a:xfrm>
            <a:off x="7184441" y="1737360"/>
            <a:ext cx="69494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확정한 뼈대(역량 질문 기준으로 사람이 정함)</a:t>
            </a:r>
            <a:endParaRPr lang="en-US" sz="1600" dirty="0"/>
          </a:p>
        </p:txBody>
      </p:sp>
      <p:sp>
        <p:nvSpPr>
          <p:cNvPr id="43" name="Shape 40"/>
          <p:cNvSpPr/>
          <p:nvPr/>
        </p:nvSpPr>
        <p:spPr>
          <a:xfrm>
            <a:off x="7321601" y="3108960"/>
            <a:ext cx="2057400" cy="960120"/>
          </a:xfrm>
          <a:prstGeom prst="roundRect">
            <a:avLst>
              <a:gd name="adj" fmla="val 7619"/>
            </a:avLst>
          </a:prstGeom>
          <a:solidFill>
            <a:srgbClr val="1E2A5C"/>
          </a:solidFill>
          <a:ln w="19050">
            <a:solidFill>
              <a:srgbClr val="1E2A5C"/>
            </a:solidFill>
            <a:prstDash val="solid"/>
          </a:ln>
        </p:spPr>
        <p:txBody>
          <a:bodyPr/>
          <a:lstStyle/>
          <a:p>
            <a:endParaRPr lang="ko-KR" altLang="en-US"/>
          </a:p>
        </p:txBody>
      </p:sp>
      <p:sp>
        <p:nvSpPr>
          <p:cNvPr id="44" name="Text 41"/>
          <p:cNvSpPr txBox="1"/>
          <p:nvPr/>
        </p:nvSpPr>
        <p:spPr>
          <a:xfrm>
            <a:off x="7413041" y="3145536"/>
            <a:ext cx="1874520"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:Consultation</a:t>
            </a:r>
            <a:endParaRPr lang="en-US" sz="1500" dirty="0"/>
          </a:p>
        </p:txBody>
      </p:sp>
      <p:sp>
        <p:nvSpPr>
          <p:cNvPr id="45" name="Text 42"/>
          <p:cNvSpPr txBox="1"/>
          <p:nvPr/>
        </p:nvSpPr>
        <p:spPr>
          <a:xfrm>
            <a:off x="7413041" y="3438144"/>
            <a:ext cx="1874520" cy="594360"/>
          </a:xfrm>
          <a:prstGeom prst="rect">
            <a:avLst/>
          </a:prstGeom>
          <a:noFill/>
          <a:ln/>
        </p:spPr>
        <p:txBody>
          <a:bodyPr wrap="square" lIns="0" tIns="0" rIns="0" bIns="0" rtlCol="0" anchor="t"/>
          <a:lstStyle/>
          <a:p>
            <a:pPr marL="0" indent="0" algn="ctr">
              <a:buNone/>
            </a:pPr>
            <a:r>
              <a:rPr lang="en-US" sz="1400" dirty="0">
                <a:solidFill>
                  <a:srgbClr val="D9E3F5"/>
                </a:solidFill>
                <a:latin typeface="Pretendard" pitchFamily="34" charset="0"/>
                <a:ea typeface="Pretendard" pitchFamily="34" charset="-122"/>
                <a:cs typeface="Pretendard" pitchFamily="34" charset="-120"/>
              </a:rPr>
              <a:t>record_id (키)</a:t>
            </a:r>
            <a:endParaRPr lang="en-US" sz="1400" dirty="0"/>
          </a:p>
          <a:p>
            <a:pPr marL="0" indent="0" algn="ctr">
              <a:buNone/>
            </a:pPr>
            <a:r>
              <a:rPr lang="en-US" sz="1400" dirty="0">
                <a:solidFill>
                  <a:srgbClr val="D9E3F5"/>
                </a:solidFill>
                <a:latin typeface="Pretendard" pitchFamily="34" charset="0"/>
                <a:ea typeface="Pretendard" pitchFamily="34" charset="-122"/>
                <a:cs typeface="Pretendard" pitchFamily="34" charset="-120"/>
              </a:rPr>
              <a:t>consult_date, topic</a:t>
            </a:r>
            <a:endParaRPr lang="en-US" sz="1400" dirty="0"/>
          </a:p>
        </p:txBody>
      </p:sp>
      <p:sp>
        <p:nvSpPr>
          <p:cNvPr id="46" name="Shape 43"/>
          <p:cNvSpPr/>
          <p:nvPr/>
        </p:nvSpPr>
        <p:spPr>
          <a:xfrm>
            <a:off x="7321601" y="4343400"/>
            <a:ext cx="2057400" cy="640080"/>
          </a:xfrm>
          <a:prstGeom prst="roundRect">
            <a:avLst>
              <a:gd name="adj" fmla="val 11429"/>
            </a:avLst>
          </a:prstGeom>
          <a:solidFill>
            <a:srgbClr val="EEF3FA"/>
          </a:solidFill>
          <a:ln w="19050">
            <a:solidFill>
              <a:srgbClr val="7C8598"/>
            </a:solidFill>
            <a:prstDash val="dash"/>
          </a:ln>
        </p:spPr>
        <p:txBody>
          <a:bodyPr/>
          <a:lstStyle/>
          <a:p>
            <a:endParaRPr lang="ko-KR" altLang="en-US"/>
          </a:p>
        </p:txBody>
      </p:sp>
      <p:sp>
        <p:nvSpPr>
          <p:cNvPr id="47" name="Text 44"/>
          <p:cNvSpPr txBox="1"/>
          <p:nvPr/>
        </p:nvSpPr>
        <p:spPr>
          <a:xfrm>
            <a:off x="7413041" y="4379976"/>
            <a:ext cx="1874520" cy="292608"/>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:Consultation</a:t>
            </a:r>
            <a:endParaRPr lang="en-US" sz="1500" dirty="0"/>
          </a:p>
        </p:txBody>
      </p:sp>
      <p:sp>
        <p:nvSpPr>
          <p:cNvPr id="48" name="Text 45"/>
          <p:cNvSpPr txBox="1"/>
          <p:nvPr/>
        </p:nvSpPr>
        <p:spPr>
          <a:xfrm>
            <a:off x="7413041" y="4672584"/>
            <a:ext cx="1874520" cy="274320"/>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앞선 상담</a:t>
            </a:r>
            <a:endParaRPr lang="en-US" sz="1400" dirty="0"/>
          </a:p>
        </p:txBody>
      </p:sp>
      <p:sp>
        <p:nvSpPr>
          <p:cNvPr id="49" name="Shape 46"/>
          <p:cNvSpPr/>
          <p:nvPr/>
        </p:nvSpPr>
        <p:spPr>
          <a:xfrm>
            <a:off x="11619281" y="2194560"/>
            <a:ext cx="2377440" cy="713232"/>
          </a:xfrm>
          <a:prstGeom prst="roundRect">
            <a:avLst>
              <a:gd name="adj" fmla="val 10256"/>
            </a:avLst>
          </a:prstGeom>
          <a:solidFill>
            <a:srgbClr val="EEF3FA"/>
          </a:solidFill>
          <a:ln w="19050">
            <a:solidFill>
              <a:srgbClr val="1E2A5C"/>
            </a:solidFill>
            <a:prstDash val="solid"/>
          </a:ln>
        </p:spPr>
        <p:txBody>
          <a:bodyPr/>
          <a:lstStyle/>
          <a:p>
            <a:endParaRPr lang="ko-KR" altLang="en-US"/>
          </a:p>
        </p:txBody>
      </p:sp>
      <p:sp>
        <p:nvSpPr>
          <p:cNvPr id="50" name="Text 47"/>
          <p:cNvSpPr txBox="1"/>
          <p:nvPr/>
        </p:nvSpPr>
        <p:spPr>
          <a:xfrm>
            <a:off x="11710721" y="2231136"/>
            <a:ext cx="2194560" cy="292608"/>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:Complaint</a:t>
            </a:r>
            <a:endParaRPr lang="en-US" sz="1500" dirty="0"/>
          </a:p>
        </p:txBody>
      </p:sp>
      <p:sp>
        <p:nvSpPr>
          <p:cNvPr id="51" name="Text 48"/>
          <p:cNvSpPr txBox="1"/>
          <p:nvPr/>
        </p:nvSpPr>
        <p:spPr>
          <a:xfrm>
            <a:off x="11710721" y="2523744"/>
            <a:ext cx="2194560" cy="34747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cause, category</a:t>
            </a:r>
            <a:endParaRPr lang="en-US" sz="1400" dirty="0"/>
          </a:p>
        </p:txBody>
      </p:sp>
      <p:sp>
        <p:nvSpPr>
          <p:cNvPr id="52" name="Shape 49"/>
          <p:cNvSpPr/>
          <p:nvPr/>
        </p:nvSpPr>
        <p:spPr>
          <a:xfrm>
            <a:off x="11619281" y="3108960"/>
            <a:ext cx="2377440" cy="960120"/>
          </a:xfrm>
          <a:prstGeom prst="roundRect">
            <a:avLst>
              <a:gd name="adj" fmla="val 7619"/>
            </a:avLst>
          </a:prstGeom>
          <a:solidFill>
            <a:srgbClr val="EEF3FA"/>
          </a:solidFill>
          <a:ln w="19050">
            <a:solidFill>
              <a:srgbClr val="1E2A5C"/>
            </a:solidFill>
            <a:prstDash val="solid"/>
          </a:ln>
        </p:spPr>
        <p:txBody>
          <a:bodyPr/>
          <a:lstStyle/>
          <a:p>
            <a:endParaRPr lang="ko-KR" altLang="en-US"/>
          </a:p>
        </p:txBody>
      </p:sp>
      <p:sp>
        <p:nvSpPr>
          <p:cNvPr id="53" name="Text 50"/>
          <p:cNvSpPr txBox="1"/>
          <p:nvPr/>
        </p:nvSpPr>
        <p:spPr>
          <a:xfrm>
            <a:off x="11710721" y="3145536"/>
            <a:ext cx="2194560" cy="292608"/>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:Proposal</a:t>
            </a:r>
            <a:endParaRPr lang="en-US" sz="1500" dirty="0"/>
          </a:p>
        </p:txBody>
      </p:sp>
      <p:sp>
        <p:nvSpPr>
          <p:cNvPr id="54" name="Text 51"/>
          <p:cNvSpPr txBox="1"/>
          <p:nvPr/>
        </p:nvSpPr>
        <p:spPr>
          <a:xfrm>
            <a:off x="11710721" y="3438144"/>
            <a:ext cx="2194560" cy="594360"/>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content</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decision, decision_reason</a:t>
            </a:r>
            <a:endParaRPr lang="en-US" sz="1400" dirty="0"/>
          </a:p>
        </p:txBody>
      </p:sp>
      <p:sp>
        <p:nvSpPr>
          <p:cNvPr id="55" name="Shape 52"/>
          <p:cNvSpPr/>
          <p:nvPr/>
        </p:nvSpPr>
        <p:spPr>
          <a:xfrm>
            <a:off x="11619281" y="4343400"/>
            <a:ext cx="2377440" cy="640080"/>
          </a:xfrm>
          <a:prstGeom prst="roundRect">
            <a:avLst>
              <a:gd name="adj" fmla="val 11429"/>
            </a:avLst>
          </a:prstGeom>
          <a:solidFill>
            <a:srgbClr val="EEF3FA"/>
          </a:solidFill>
          <a:ln w="19050">
            <a:solidFill>
              <a:srgbClr val="1E2A5C"/>
            </a:solidFill>
            <a:prstDash val="solid"/>
          </a:ln>
        </p:spPr>
        <p:txBody>
          <a:bodyPr/>
          <a:lstStyle/>
          <a:p>
            <a:endParaRPr lang="ko-KR" altLang="en-US"/>
          </a:p>
        </p:txBody>
      </p:sp>
      <p:sp>
        <p:nvSpPr>
          <p:cNvPr id="56" name="Text 53"/>
          <p:cNvSpPr txBox="1"/>
          <p:nvPr/>
        </p:nvSpPr>
        <p:spPr>
          <a:xfrm>
            <a:off x="11710721" y="4379976"/>
            <a:ext cx="2194560" cy="292608"/>
          </a:xfrm>
          <a:prstGeom prst="rect">
            <a:avLst/>
          </a:prstGeom>
          <a:noFill/>
          <a:ln/>
        </p:spPr>
        <p:txBody>
          <a:bodyPr wrap="square" lIns="0" tIns="0" rIns="0" bIns="0"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:ReconsiderCondition</a:t>
            </a:r>
            <a:endParaRPr lang="en-US" sz="1500" dirty="0"/>
          </a:p>
        </p:txBody>
      </p:sp>
      <p:sp>
        <p:nvSpPr>
          <p:cNvPr id="57" name="Text 54"/>
          <p:cNvSpPr txBox="1"/>
          <p:nvPr/>
        </p:nvSpPr>
        <p:spPr>
          <a:xfrm>
            <a:off x="11710721" y="4672584"/>
            <a:ext cx="2194560" cy="274320"/>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description</a:t>
            </a:r>
            <a:endParaRPr lang="en-US" sz="1400" dirty="0"/>
          </a:p>
        </p:txBody>
      </p:sp>
      <p:sp>
        <p:nvSpPr>
          <p:cNvPr id="58" name="Shape 55"/>
          <p:cNvSpPr/>
          <p:nvPr/>
        </p:nvSpPr>
        <p:spPr>
          <a:xfrm flipV="1">
            <a:off x="9406433" y="2606040"/>
            <a:ext cx="2185416" cy="594360"/>
          </a:xfrm>
          <a:prstGeom prst="line">
            <a:avLst/>
          </a:prstGeom>
          <a:noFill/>
          <a:ln w="22225">
            <a:solidFill>
              <a:srgbClr val="1E2A5C"/>
            </a:solidFill>
            <a:prstDash val="solid"/>
            <a:tailEnd type="triangle"/>
          </a:ln>
        </p:spPr>
        <p:txBody>
          <a:bodyPr/>
          <a:lstStyle/>
          <a:p>
            <a:endParaRPr lang="ko-KR" altLang="en-US"/>
          </a:p>
        </p:txBody>
      </p:sp>
      <p:sp>
        <p:nvSpPr>
          <p:cNvPr id="59" name="Text 56"/>
          <p:cNvSpPr txBox="1"/>
          <p:nvPr/>
        </p:nvSpPr>
        <p:spPr>
          <a:xfrm>
            <a:off x="9452153" y="2542032"/>
            <a:ext cx="1554480" cy="25603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HAS_COMPLAINT</a:t>
            </a:r>
            <a:endParaRPr lang="en-US" sz="1400" dirty="0"/>
          </a:p>
        </p:txBody>
      </p:sp>
      <p:sp>
        <p:nvSpPr>
          <p:cNvPr id="60" name="Shape 57"/>
          <p:cNvSpPr/>
          <p:nvPr/>
        </p:nvSpPr>
        <p:spPr>
          <a:xfrm>
            <a:off x="9406433" y="3584448"/>
            <a:ext cx="2185416" cy="0"/>
          </a:xfrm>
          <a:prstGeom prst="line">
            <a:avLst/>
          </a:prstGeom>
          <a:noFill/>
          <a:ln w="22225">
            <a:solidFill>
              <a:srgbClr val="1E2A5C"/>
            </a:solidFill>
            <a:prstDash val="solid"/>
            <a:tailEnd type="triangle"/>
          </a:ln>
        </p:spPr>
        <p:txBody>
          <a:bodyPr/>
          <a:lstStyle/>
          <a:p>
            <a:endParaRPr lang="ko-KR" altLang="en-US"/>
          </a:p>
        </p:txBody>
      </p:sp>
      <p:sp>
        <p:nvSpPr>
          <p:cNvPr id="61" name="Text 58"/>
          <p:cNvSpPr txBox="1"/>
          <p:nvPr/>
        </p:nvSpPr>
        <p:spPr>
          <a:xfrm>
            <a:off x="9470441" y="3291840"/>
            <a:ext cx="2057400" cy="256032"/>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HAS_PROPOSAL</a:t>
            </a:r>
            <a:endParaRPr lang="en-US" sz="1400" dirty="0"/>
          </a:p>
        </p:txBody>
      </p:sp>
      <p:sp>
        <p:nvSpPr>
          <p:cNvPr id="62" name="Shape 59"/>
          <p:cNvSpPr/>
          <p:nvPr/>
        </p:nvSpPr>
        <p:spPr>
          <a:xfrm flipV="1">
            <a:off x="12808001" y="2926080"/>
            <a:ext cx="0" cy="164592"/>
          </a:xfrm>
          <a:prstGeom prst="line">
            <a:avLst/>
          </a:prstGeom>
          <a:noFill/>
          <a:ln w="22225">
            <a:solidFill>
              <a:srgbClr val="2E74C6"/>
            </a:solidFill>
            <a:prstDash val="solid"/>
            <a:tailEnd type="triangle"/>
          </a:ln>
        </p:spPr>
        <p:txBody>
          <a:bodyPr/>
          <a:lstStyle/>
          <a:p>
            <a:endParaRPr lang="ko-KR" altLang="en-US"/>
          </a:p>
        </p:txBody>
      </p:sp>
      <p:sp>
        <p:nvSpPr>
          <p:cNvPr id="63" name="Text 60"/>
          <p:cNvSpPr txBox="1"/>
          <p:nvPr/>
        </p:nvSpPr>
        <p:spPr>
          <a:xfrm>
            <a:off x="12881153" y="2880360"/>
            <a:ext cx="118872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ADDRESSES</a:t>
            </a:r>
            <a:endParaRPr lang="en-US" sz="1400" dirty="0"/>
          </a:p>
        </p:txBody>
      </p:sp>
      <p:sp>
        <p:nvSpPr>
          <p:cNvPr id="64" name="Shape 61"/>
          <p:cNvSpPr/>
          <p:nvPr/>
        </p:nvSpPr>
        <p:spPr>
          <a:xfrm>
            <a:off x="12808001" y="4087368"/>
            <a:ext cx="0" cy="237744"/>
          </a:xfrm>
          <a:prstGeom prst="line">
            <a:avLst/>
          </a:prstGeom>
          <a:noFill/>
          <a:ln w="22225">
            <a:solidFill>
              <a:srgbClr val="2E74C6"/>
            </a:solidFill>
            <a:prstDash val="solid"/>
            <a:tailEnd type="triangle"/>
          </a:ln>
        </p:spPr>
        <p:txBody>
          <a:bodyPr/>
          <a:lstStyle/>
          <a:p>
            <a:endParaRPr lang="ko-KR" altLang="en-US"/>
          </a:p>
        </p:txBody>
      </p:sp>
      <p:sp>
        <p:nvSpPr>
          <p:cNvPr id="65" name="Text 62"/>
          <p:cNvSpPr txBox="1"/>
          <p:nvPr/>
        </p:nvSpPr>
        <p:spPr>
          <a:xfrm>
            <a:off x="10796321" y="4078224"/>
            <a:ext cx="1938528" cy="256032"/>
          </a:xfrm>
          <a:prstGeom prst="rect">
            <a:avLst/>
          </a:prstGeom>
          <a:noFill/>
          <a:ln/>
        </p:spPr>
        <p:txBody>
          <a:bodyPr wrap="square" lIns="0" tIns="0" rIns="0" bIns="0" rtlCol="0" anchor="ctr"/>
          <a:lstStyle/>
          <a:p>
            <a:pPr marL="0" indent="0" algn="r">
              <a:buNone/>
            </a:pPr>
            <a:r>
              <a:rPr lang="en-US" sz="1400" b="1" dirty="0">
                <a:solidFill>
                  <a:srgbClr val="2E74C6"/>
                </a:solidFill>
                <a:latin typeface="Pretendard" pitchFamily="34" charset="0"/>
                <a:ea typeface="Pretendard" pitchFamily="34" charset="-122"/>
                <a:cs typeface="Pretendard" pitchFamily="34" charset="-120"/>
              </a:rPr>
              <a:t>RECONSIDER_WHEN</a:t>
            </a:r>
            <a:endParaRPr lang="en-US" sz="1400" dirty="0"/>
          </a:p>
        </p:txBody>
      </p:sp>
      <p:sp>
        <p:nvSpPr>
          <p:cNvPr id="66" name="Shape 63"/>
          <p:cNvSpPr/>
          <p:nvPr/>
        </p:nvSpPr>
        <p:spPr>
          <a:xfrm>
            <a:off x="8350301" y="4087368"/>
            <a:ext cx="0" cy="237744"/>
          </a:xfrm>
          <a:prstGeom prst="line">
            <a:avLst/>
          </a:prstGeom>
          <a:noFill/>
          <a:ln w="22225">
            <a:solidFill>
              <a:srgbClr val="1E2A5C"/>
            </a:solidFill>
            <a:prstDash val="solid"/>
            <a:tailEnd type="triangle"/>
          </a:ln>
        </p:spPr>
        <p:txBody>
          <a:bodyPr/>
          <a:lstStyle/>
          <a:p>
            <a:endParaRPr lang="ko-KR" altLang="en-US"/>
          </a:p>
        </p:txBody>
      </p:sp>
      <p:sp>
        <p:nvSpPr>
          <p:cNvPr id="67" name="Text 64"/>
          <p:cNvSpPr txBox="1"/>
          <p:nvPr/>
        </p:nvSpPr>
        <p:spPr>
          <a:xfrm>
            <a:off x="8423453" y="4078224"/>
            <a:ext cx="1097280" cy="25603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FOLLOWS</a:t>
            </a:r>
            <a:endParaRPr lang="en-US" sz="1400" dirty="0"/>
          </a:p>
        </p:txBody>
      </p:sp>
      <p:sp>
        <p:nvSpPr>
          <p:cNvPr id="68" name="Text 65"/>
          <p:cNvSpPr txBox="1"/>
          <p:nvPr/>
        </p:nvSpPr>
        <p:spPr>
          <a:xfrm>
            <a:off x="7184441" y="5102352"/>
            <a:ext cx="6949440" cy="27432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네이비: LLM 후보를 합침, 파랑: 사람이 보탬(관계 2개와 decision 속성)</a:t>
            </a:r>
            <a:endParaRPr lang="en-US" sz="1400" dirty="0"/>
          </a:p>
        </p:txBody>
      </p:sp>
      <p:sp>
        <p:nvSpPr>
          <p:cNvPr id="69" name="Text 66"/>
          <p:cNvSpPr txBox="1"/>
          <p:nvPr/>
        </p:nvSpPr>
        <p:spPr>
          <a:xfrm>
            <a:off x="7184441" y="5449824"/>
            <a:ext cx="6949440" cy="9692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합침: Issue와 Complaint → Complaint, Proposal과 SUGGESTS → Proposal, Conversation과 Session → Consultation</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뺌: Transaction(RDB 집계), Customer의 이름과 이메일(가명처리 대상), Request와 Menu(질문에 안 쓰임)</a:t>
            </a:r>
            <a:endParaRPr lang="en-US" sz="1400" dirty="0"/>
          </a:p>
        </p:txBody>
      </p:sp>
      <p:sp>
        <p:nvSpPr>
          <p:cNvPr id="70" name="Shape 67"/>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lang="ko-KR" altLang="en-US"/>
          </a:p>
        </p:txBody>
      </p:sp>
      <p:sp>
        <p:nvSpPr>
          <p:cNvPr id="71" name="Shape 68"/>
          <p:cNvSpPr/>
          <p:nvPr/>
        </p:nvSpPr>
        <p:spPr>
          <a:xfrm>
            <a:off x="509321" y="6510528"/>
            <a:ext cx="82296" cy="658368"/>
          </a:xfrm>
          <a:prstGeom prst="rect">
            <a:avLst/>
          </a:prstGeom>
          <a:solidFill>
            <a:srgbClr val="2E74C6"/>
          </a:solidFill>
          <a:ln/>
        </p:spPr>
        <p:txBody>
          <a:bodyPr/>
          <a:lstStyle/>
          <a:p>
            <a:endParaRPr lang="ko-KR" altLang="en-US"/>
          </a:p>
        </p:txBody>
      </p:sp>
      <p:sp>
        <p:nvSpPr>
          <p:cNvPr id="72" name="Text 69"/>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드문 핵심 개념은 역량 질문만으로 넓게 뽑아야 보이고, 무엇을 살릴지는 빈도가 아니라 질문을 기준으로 사람이 정함</a:t>
            </a:r>
            <a:endParaRPr lang="en-US" sz="1600" dirty="0"/>
          </a:p>
        </p:txBody>
      </p:sp>
      <p:sp>
        <p:nvSpPr>
          <p:cNvPr id="73" name="Shape 70"/>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74" name="Text 71"/>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LLM Groq openai/gpt-oss-120b, neo4j-graphrag 1.22.0 SchemaFromTextExtractor, 합성 상담 이력 30건(같은 순서)</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사례 ② 뼈대 채우기 시험과 문서 종류별 차이</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뼈대의 이름보다 설명(description)이 추출 품질을 좌우함 — 채우기 시험으로 설명을 고쳐 가며 확정</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lang="ko-KR" altLang="en-US"/>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뼈대 채우기 시험(상담 48건, 정답표와 비교)</a:t>
            </a:r>
            <a:endParaRPr lang="en-US" sz="1600" dirty="0"/>
          </a:p>
        </p:txBody>
      </p:sp>
      <p:sp>
        <p:nvSpPr>
          <p:cNvPr id="7" name="Shape 4"/>
          <p:cNvSpPr/>
          <p:nvPr/>
        </p:nvSpPr>
        <p:spPr>
          <a:xfrm>
            <a:off x="3252521" y="2231136"/>
            <a:ext cx="274320" cy="164592"/>
          </a:xfrm>
          <a:prstGeom prst="rect">
            <a:avLst/>
          </a:prstGeom>
          <a:solidFill>
            <a:srgbClr val="C3CEE0"/>
          </a:solidFill>
          <a:ln/>
        </p:spPr>
        <p:txBody>
          <a:bodyPr/>
          <a:lstStyle/>
          <a:p>
            <a:endParaRPr lang="ko-KR" altLang="en-US"/>
          </a:p>
        </p:txBody>
      </p:sp>
      <p:sp>
        <p:nvSpPr>
          <p:cNvPr id="8" name="Text 5"/>
          <p:cNvSpPr txBox="1"/>
          <p:nvPr/>
        </p:nvSpPr>
        <p:spPr>
          <a:xfrm>
            <a:off x="3599993" y="2157984"/>
            <a:ext cx="9144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v1 설명</a:t>
            </a:r>
            <a:endParaRPr lang="en-US" sz="1400" dirty="0"/>
          </a:p>
        </p:txBody>
      </p:sp>
      <p:sp>
        <p:nvSpPr>
          <p:cNvPr id="9" name="Shape 6"/>
          <p:cNvSpPr/>
          <p:nvPr/>
        </p:nvSpPr>
        <p:spPr>
          <a:xfrm>
            <a:off x="4532681" y="2231136"/>
            <a:ext cx="274320" cy="164592"/>
          </a:xfrm>
          <a:prstGeom prst="rect">
            <a:avLst/>
          </a:prstGeom>
          <a:solidFill>
            <a:srgbClr val="2E74C6"/>
          </a:solidFill>
          <a:ln/>
        </p:spPr>
        <p:txBody>
          <a:bodyPr/>
          <a:lstStyle/>
          <a:p>
            <a:endParaRPr lang="ko-KR" altLang="en-US"/>
          </a:p>
        </p:txBody>
      </p:sp>
      <p:sp>
        <p:nvSpPr>
          <p:cNvPr id="10" name="Text 7"/>
          <p:cNvSpPr txBox="1"/>
          <p:nvPr/>
        </p:nvSpPr>
        <p:spPr>
          <a:xfrm>
            <a:off x="4880153" y="2157984"/>
            <a:ext cx="146304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v2 설명(좁힘)</a:t>
            </a:r>
            <a:endParaRPr lang="en-US" sz="1400" dirty="0"/>
          </a:p>
        </p:txBody>
      </p:sp>
      <p:sp>
        <p:nvSpPr>
          <p:cNvPr id="11" name="Shape 8"/>
          <p:cNvSpPr/>
          <p:nvPr/>
        </p:nvSpPr>
        <p:spPr>
          <a:xfrm>
            <a:off x="509321" y="2542032"/>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12" name="Text 9"/>
          <p:cNvSpPr txBox="1"/>
          <p:nvPr/>
        </p:nvSpPr>
        <p:spPr>
          <a:xfrm>
            <a:off x="619049" y="2578608"/>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불만을 잘못 뽑음</a:t>
            </a:r>
            <a:endParaRPr lang="en-US" sz="1400" dirty="0"/>
          </a:p>
        </p:txBody>
      </p:sp>
      <p:sp>
        <p:nvSpPr>
          <p:cNvPr id="13" name="Text 10"/>
          <p:cNvSpPr txBox="1"/>
          <p:nvPr/>
        </p:nvSpPr>
        <p:spPr>
          <a:xfrm>
            <a:off x="619049" y="2834640"/>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24건 중, 낮을수록 좋음</a:t>
            </a:r>
            <a:endParaRPr lang="en-US" sz="1400" dirty="0"/>
          </a:p>
        </p:txBody>
      </p:sp>
      <p:sp>
        <p:nvSpPr>
          <p:cNvPr id="14" name="Shape 11"/>
          <p:cNvSpPr/>
          <p:nvPr/>
        </p:nvSpPr>
        <p:spPr>
          <a:xfrm>
            <a:off x="3115361" y="2633472"/>
            <a:ext cx="2975610" cy="164592"/>
          </a:xfrm>
          <a:prstGeom prst="rect">
            <a:avLst/>
          </a:prstGeom>
          <a:solidFill>
            <a:srgbClr val="C3CEE0"/>
          </a:solidFill>
          <a:ln/>
        </p:spPr>
        <p:txBody>
          <a:bodyPr/>
          <a:lstStyle/>
          <a:p>
            <a:endParaRPr lang="ko-KR" altLang="en-US"/>
          </a:p>
        </p:txBody>
      </p:sp>
      <p:sp>
        <p:nvSpPr>
          <p:cNvPr id="15" name="Text 12"/>
          <p:cNvSpPr txBox="1"/>
          <p:nvPr/>
        </p:nvSpPr>
        <p:spPr>
          <a:xfrm>
            <a:off x="6145835" y="2578608"/>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22</a:t>
            </a:r>
            <a:endParaRPr lang="en-US" sz="1400" dirty="0"/>
          </a:p>
        </p:txBody>
      </p:sp>
      <p:sp>
        <p:nvSpPr>
          <p:cNvPr id="16" name="Shape 13"/>
          <p:cNvSpPr/>
          <p:nvPr/>
        </p:nvSpPr>
        <p:spPr>
          <a:xfrm>
            <a:off x="3115361" y="2852928"/>
            <a:ext cx="541020" cy="164592"/>
          </a:xfrm>
          <a:prstGeom prst="rect">
            <a:avLst/>
          </a:prstGeom>
          <a:solidFill>
            <a:srgbClr val="2E74C6"/>
          </a:solidFill>
          <a:ln/>
        </p:spPr>
        <p:txBody>
          <a:bodyPr/>
          <a:lstStyle/>
          <a:p>
            <a:endParaRPr lang="ko-KR" altLang="en-US"/>
          </a:p>
        </p:txBody>
      </p:sp>
      <p:sp>
        <p:nvSpPr>
          <p:cNvPr id="17" name="Text 14"/>
          <p:cNvSpPr txBox="1"/>
          <p:nvPr/>
        </p:nvSpPr>
        <p:spPr>
          <a:xfrm>
            <a:off x="3711245" y="2798064"/>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4</a:t>
            </a:r>
            <a:endParaRPr lang="en-US" sz="1400" dirty="0"/>
          </a:p>
        </p:txBody>
      </p:sp>
      <p:sp>
        <p:nvSpPr>
          <p:cNvPr id="18" name="Shape 15"/>
          <p:cNvSpPr/>
          <p:nvPr/>
        </p:nvSpPr>
        <p:spPr>
          <a:xfrm>
            <a:off x="509321" y="3172968"/>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19" name="Text 16"/>
          <p:cNvSpPr txBox="1"/>
          <p:nvPr/>
        </p:nvSpPr>
        <p:spPr>
          <a:xfrm>
            <a:off x="619049" y="3209544"/>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 노드 수</a:t>
            </a:r>
            <a:endParaRPr lang="en-US" sz="1400" dirty="0"/>
          </a:p>
        </p:txBody>
      </p:sp>
      <p:sp>
        <p:nvSpPr>
          <p:cNvPr id="20" name="Text 17"/>
          <p:cNvSpPr txBox="1"/>
          <p:nvPr/>
        </p:nvSpPr>
        <p:spPr>
          <a:xfrm>
            <a:off x="619049" y="3465576"/>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합계, 낮을수록 좋음</a:t>
            </a:r>
            <a:endParaRPr lang="en-US" sz="1400" dirty="0"/>
          </a:p>
        </p:txBody>
      </p:sp>
      <p:sp>
        <p:nvSpPr>
          <p:cNvPr id="21" name="Shape 18"/>
          <p:cNvSpPr/>
          <p:nvPr/>
        </p:nvSpPr>
        <p:spPr>
          <a:xfrm>
            <a:off x="3115361" y="3264408"/>
            <a:ext cx="3246120" cy="164592"/>
          </a:xfrm>
          <a:prstGeom prst="rect">
            <a:avLst/>
          </a:prstGeom>
          <a:solidFill>
            <a:srgbClr val="C3CEE0"/>
          </a:solidFill>
          <a:ln/>
        </p:spPr>
        <p:txBody>
          <a:bodyPr/>
          <a:lstStyle/>
          <a:p>
            <a:endParaRPr lang="ko-KR" altLang="en-US"/>
          </a:p>
        </p:txBody>
      </p:sp>
      <p:sp>
        <p:nvSpPr>
          <p:cNvPr id="22" name="Text 19"/>
          <p:cNvSpPr txBox="1"/>
          <p:nvPr/>
        </p:nvSpPr>
        <p:spPr>
          <a:xfrm>
            <a:off x="6416345" y="3209544"/>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87</a:t>
            </a:r>
            <a:endParaRPr lang="en-US" sz="1400" dirty="0"/>
          </a:p>
        </p:txBody>
      </p:sp>
      <p:sp>
        <p:nvSpPr>
          <p:cNvPr id="23" name="Shape 20"/>
          <p:cNvSpPr/>
          <p:nvPr/>
        </p:nvSpPr>
        <p:spPr>
          <a:xfrm>
            <a:off x="3115361" y="3483864"/>
            <a:ext cx="2089457" cy="164592"/>
          </a:xfrm>
          <a:prstGeom prst="rect">
            <a:avLst/>
          </a:prstGeom>
          <a:solidFill>
            <a:srgbClr val="2E74C6"/>
          </a:solidFill>
          <a:ln/>
        </p:spPr>
        <p:txBody>
          <a:bodyPr/>
          <a:lstStyle/>
          <a:p>
            <a:endParaRPr lang="ko-KR" altLang="en-US"/>
          </a:p>
        </p:txBody>
      </p:sp>
      <p:sp>
        <p:nvSpPr>
          <p:cNvPr id="24" name="Text 21"/>
          <p:cNvSpPr txBox="1"/>
          <p:nvPr/>
        </p:nvSpPr>
        <p:spPr>
          <a:xfrm>
            <a:off x="5259681" y="3429000"/>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56</a:t>
            </a:r>
            <a:endParaRPr lang="en-US" sz="1400" dirty="0"/>
          </a:p>
        </p:txBody>
      </p:sp>
      <p:sp>
        <p:nvSpPr>
          <p:cNvPr id="25" name="Shape 22"/>
          <p:cNvSpPr/>
          <p:nvPr/>
        </p:nvSpPr>
        <p:spPr>
          <a:xfrm>
            <a:off x="509321" y="3803904"/>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26" name="Text 23"/>
          <p:cNvSpPr txBox="1"/>
          <p:nvPr/>
        </p:nvSpPr>
        <p:spPr>
          <a:xfrm>
            <a:off x="619049" y="3840480"/>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응답이 정답과 같음</a:t>
            </a:r>
            <a:endParaRPr lang="en-US" sz="1400" dirty="0"/>
          </a:p>
        </p:txBody>
      </p:sp>
      <p:sp>
        <p:nvSpPr>
          <p:cNvPr id="27" name="Text 24"/>
          <p:cNvSpPr txBox="1"/>
          <p:nvPr/>
        </p:nvSpPr>
        <p:spPr>
          <a:xfrm>
            <a:off x="619049" y="4096512"/>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중, 높을수록 좋음</a:t>
            </a:r>
            <a:endParaRPr lang="en-US" sz="1400" dirty="0"/>
          </a:p>
        </p:txBody>
      </p:sp>
      <p:sp>
        <p:nvSpPr>
          <p:cNvPr id="28" name="Shape 25"/>
          <p:cNvSpPr/>
          <p:nvPr/>
        </p:nvSpPr>
        <p:spPr>
          <a:xfrm>
            <a:off x="3115361" y="3895344"/>
            <a:ext cx="2096452" cy="164592"/>
          </a:xfrm>
          <a:prstGeom prst="rect">
            <a:avLst/>
          </a:prstGeom>
          <a:solidFill>
            <a:srgbClr val="C3CEE0"/>
          </a:solidFill>
          <a:ln/>
        </p:spPr>
        <p:txBody>
          <a:bodyPr/>
          <a:lstStyle/>
          <a:p>
            <a:endParaRPr lang="ko-KR" altLang="en-US"/>
          </a:p>
        </p:txBody>
      </p:sp>
      <p:sp>
        <p:nvSpPr>
          <p:cNvPr id="29" name="Text 26"/>
          <p:cNvSpPr txBox="1"/>
          <p:nvPr/>
        </p:nvSpPr>
        <p:spPr>
          <a:xfrm>
            <a:off x="5266677" y="3840480"/>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31</a:t>
            </a:r>
            <a:endParaRPr lang="en-US" sz="1400" dirty="0"/>
          </a:p>
        </p:txBody>
      </p:sp>
      <p:sp>
        <p:nvSpPr>
          <p:cNvPr id="30" name="Shape 27"/>
          <p:cNvSpPr/>
          <p:nvPr/>
        </p:nvSpPr>
        <p:spPr>
          <a:xfrm>
            <a:off x="3115361" y="4114800"/>
            <a:ext cx="2502218" cy="164592"/>
          </a:xfrm>
          <a:prstGeom prst="rect">
            <a:avLst/>
          </a:prstGeom>
          <a:solidFill>
            <a:srgbClr val="2E74C6"/>
          </a:solidFill>
          <a:ln/>
        </p:spPr>
        <p:txBody>
          <a:bodyPr/>
          <a:lstStyle/>
          <a:p>
            <a:endParaRPr lang="ko-KR" altLang="en-US"/>
          </a:p>
        </p:txBody>
      </p:sp>
      <p:sp>
        <p:nvSpPr>
          <p:cNvPr id="31" name="Text 28"/>
          <p:cNvSpPr txBox="1"/>
          <p:nvPr/>
        </p:nvSpPr>
        <p:spPr>
          <a:xfrm>
            <a:off x="5672442" y="4059936"/>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37</a:t>
            </a:r>
            <a:endParaRPr lang="en-US" sz="1400" dirty="0"/>
          </a:p>
        </p:txBody>
      </p:sp>
      <p:sp>
        <p:nvSpPr>
          <p:cNvPr id="32" name="Shape 29"/>
          <p:cNvSpPr/>
          <p:nvPr/>
        </p:nvSpPr>
        <p:spPr>
          <a:xfrm>
            <a:off x="509321" y="4434840"/>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33" name="Text 30"/>
          <p:cNvSpPr txBox="1"/>
          <p:nvPr/>
        </p:nvSpPr>
        <p:spPr>
          <a:xfrm>
            <a:off x="619049" y="4471416"/>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조건을 잘못 뽑음</a:t>
            </a:r>
            <a:endParaRPr lang="en-US" sz="1400" dirty="0"/>
          </a:p>
        </p:txBody>
      </p:sp>
      <p:sp>
        <p:nvSpPr>
          <p:cNvPr id="34" name="Text 31"/>
          <p:cNvSpPr txBox="1"/>
          <p:nvPr/>
        </p:nvSpPr>
        <p:spPr>
          <a:xfrm>
            <a:off x="619049" y="4727448"/>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29건 중, 낮을수록 좋음</a:t>
            </a:r>
            <a:endParaRPr lang="en-US" sz="1400" dirty="0"/>
          </a:p>
        </p:txBody>
      </p:sp>
      <p:sp>
        <p:nvSpPr>
          <p:cNvPr id="35" name="Shape 32"/>
          <p:cNvSpPr/>
          <p:nvPr/>
        </p:nvSpPr>
        <p:spPr>
          <a:xfrm>
            <a:off x="3115361" y="4526280"/>
            <a:ext cx="671611" cy="164592"/>
          </a:xfrm>
          <a:prstGeom prst="rect">
            <a:avLst/>
          </a:prstGeom>
          <a:solidFill>
            <a:srgbClr val="C3CEE0"/>
          </a:solidFill>
          <a:ln/>
        </p:spPr>
        <p:txBody>
          <a:bodyPr/>
          <a:lstStyle/>
          <a:p>
            <a:endParaRPr lang="ko-KR" altLang="en-US"/>
          </a:p>
        </p:txBody>
      </p:sp>
      <p:sp>
        <p:nvSpPr>
          <p:cNvPr id="36" name="Text 33"/>
          <p:cNvSpPr txBox="1"/>
          <p:nvPr/>
        </p:nvSpPr>
        <p:spPr>
          <a:xfrm>
            <a:off x="3841836" y="4471416"/>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37" name="Shape 34"/>
          <p:cNvSpPr/>
          <p:nvPr/>
        </p:nvSpPr>
        <p:spPr>
          <a:xfrm>
            <a:off x="3115361" y="4745736"/>
            <a:ext cx="45720" cy="164592"/>
          </a:xfrm>
          <a:prstGeom prst="rect">
            <a:avLst/>
          </a:prstGeom>
          <a:solidFill>
            <a:srgbClr val="2E74C6"/>
          </a:solidFill>
          <a:ln/>
        </p:spPr>
        <p:txBody>
          <a:bodyPr/>
          <a:lstStyle/>
          <a:p>
            <a:endParaRPr lang="ko-KR" altLang="en-US"/>
          </a:p>
        </p:txBody>
      </p:sp>
      <p:sp>
        <p:nvSpPr>
          <p:cNvPr id="38" name="Text 35"/>
          <p:cNvSpPr txBox="1"/>
          <p:nvPr/>
        </p:nvSpPr>
        <p:spPr>
          <a:xfrm>
            <a:off x="3215945" y="4690872"/>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0</a:t>
            </a:r>
            <a:endParaRPr lang="en-US" sz="1400" dirty="0"/>
          </a:p>
        </p:txBody>
      </p:sp>
      <p:sp>
        <p:nvSpPr>
          <p:cNvPr id="39" name="Shape 36"/>
          <p:cNvSpPr/>
          <p:nvPr/>
        </p:nvSpPr>
        <p:spPr>
          <a:xfrm>
            <a:off x="509321" y="5065776"/>
            <a:ext cx="6675120" cy="566928"/>
          </a:xfrm>
          <a:prstGeom prst="roundRect">
            <a:avLst>
              <a:gd name="adj" fmla="val 9677"/>
            </a:avLst>
          </a:prstGeom>
          <a:solidFill>
            <a:srgbClr val="FFFFFF"/>
          </a:solidFill>
          <a:ln w="12700">
            <a:solidFill>
              <a:srgbClr val="D9E0EC"/>
            </a:solidFill>
            <a:prstDash val="solid"/>
          </a:ln>
        </p:spPr>
        <p:txBody>
          <a:bodyPr/>
          <a:lstStyle/>
          <a:p>
            <a:endParaRPr lang="ko-KR" altLang="en-US"/>
          </a:p>
        </p:txBody>
      </p:sp>
      <p:sp>
        <p:nvSpPr>
          <p:cNvPr id="40" name="Text 37"/>
          <p:cNvSpPr txBox="1"/>
          <p:nvPr/>
        </p:nvSpPr>
        <p:spPr>
          <a:xfrm>
            <a:off x="619049" y="5102352"/>
            <a:ext cx="246888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 연결을 뽑음</a:t>
            </a:r>
            <a:endParaRPr lang="en-US" sz="1400" dirty="0"/>
          </a:p>
        </p:txBody>
      </p:sp>
      <p:sp>
        <p:nvSpPr>
          <p:cNvPr id="41" name="Text 38"/>
          <p:cNvSpPr txBox="1"/>
          <p:nvPr/>
        </p:nvSpPr>
        <p:spPr>
          <a:xfrm>
            <a:off x="619049" y="5358384"/>
            <a:ext cx="2468880" cy="23774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36건 중, 높을수록 좋음</a:t>
            </a:r>
            <a:endParaRPr lang="en-US" sz="1400" dirty="0"/>
          </a:p>
        </p:txBody>
      </p:sp>
      <p:sp>
        <p:nvSpPr>
          <p:cNvPr id="42" name="Shape 39"/>
          <p:cNvSpPr/>
          <p:nvPr/>
        </p:nvSpPr>
        <p:spPr>
          <a:xfrm>
            <a:off x="3115361" y="5157216"/>
            <a:ext cx="3065780" cy="164592"/>
          </a:xfrm>
          <a:prstGeom prst="rect">
            <a:avLst/>
          </a:prstGeom>
          <a:solidFill>
            <a:srgbClr val="C3CEE0"/>
          </a:solidFill>
          <a:ln/>
        </p:spPr>
        <p:txBody>
          <a:bodyPr/>
          <a:lstStyle/>
          <a:p>
            <a:endParaRPr lang="ko-KR" altLang="en-US"/>
          </a:p>
        </p:txBody>
      </p:sp>
      <p:sp>
        <p:nvSpPr>
          <p:cNvPr id="43" name="Text 40"/>
          <p:cNvSpPr txBox="1"/>
          <p:nvPr/>
        </p:nvSpPr>
        <p:spPr>
          <a:xfrm>
            <a:off x="6236005" y="5102352"/>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34</a:t>
            </a:r>
            <a:endParaRPr lang="en-US" sz="1400" dirty="0"/>
          </a:p>
        </p:txBody>
      </p:sp>
      <p:sp>
        <p:nvSpPr>
          <p:cNvPr id="44" name="Shape 41"/>
          <p:cNvSpPr/>
          <p:nvPr/>
        </p:nvSpPr>
        <p:spPr>
          <a:xfrm>
            <a:off x="3115361" y="5376672"/>
            <a:ext cx="3246120" cy="164592"/>
          </a:xfrm>
          <a:prstGeom prst="rect">
            <a:avLst/>
          </a:prstGeom>
          <a:solidFill>
            <a:srgbClr val="2E74C6"/>
          </a:solidFill>
          <a:ln/>
        </p:spPr>
        <p:txBody>
          <a:bodyPr/>
          <a:lstStyle/>
          <a:p>
            <a:endParaRPr lang="ko-KR" altLang="en-US"/>
          </a:p>
        </p:txBody>
      </p:sp>
      <p:sp>
        <p:nvSpPr>
          <p:cNvPr id="45" name="Text 42"/>
          <p:cNvSpPr txBox="1"/>
          <p:nvPr/>
        </p:nvSpPr>
        <p:spPr>
          <a:xfrm>
            <a:off x="6416345" y="5321808"/>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36</a:t>
            </a:r>
            <a:endParaRPr lang="en-US" sz="1400" dirty="0"/>
          </a:p>
        </p:txBody>
      </p:sp>
      <p:sp>
        <p:nvSpPr>
          <p:cNvPr id="46" name="Shape 43"/>
          <p:cNvSpPr/>
          <p:nvPr/>
        </p:nvSpPr>
        <p:spPr>
          <a:xfrm>
            <a:off x="509321" y="5742432"/>
            <a:ext cx="6675120" cy="676656"/>
          </a:xfrm>
          <a:prstGeom prst="roundRect">
            <a:avLst>
              <a:gd name="adj" fmla="val 10811"/>
            </a:avLst>
          </a:prstGeom>
          <a:solidFill>
            <a:srgbClr val="EEF3FA"/>
          </a:solidFill>
          <a:ln w="12700">
            <a:solidFill>
              <a:srgbClr val="2E74C6"/>
            </a:solidFill>
            <a:prstDash val="solid"/>
          </a:ln>
        </p:spPr>
        <p:txBody>
          <a:bodyPr/>
          <a:lstStyle/>
          <a:p>
            <a:endParaRPr lang="ko-KR" altLang="en-US"/>
          </a:p>
        </p:txBody>
      </p:sp>
      <p:sp>
        <p:nvSpPr>
          <p:cNvPr id="47" name="Text 44"/>
          <p:cNvSpPr txBox="1"/>
          <p:nvPr/>
        </p:nvSpPr>
        <p:spPr>
          <a:xfrm>
            <a:off x="646481" y="5742432"/>
            <a:ext cx="6400800" cy="67665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Complaint 설명 v1: 고객이 말한 불만과 그 원인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v2: 불만이나 불편을 분명히 말한 경우만. 문의 목적과 개인 사정(이사, 지출 감소)은 아님</a:t>
            </a:r>
            <a:endParaRPr lang="en-US" sz="1400" dirty="0"/>
          </a:p>
        </p:txBody>
      </p:sp>
      <p:sp>
        <p:nvSpPr>
          <p:cNvPr id="48" name="Shape 45"/>
          <p:cNvSpPr/>
          <p:nvPr/>
        </p:nvSpPr>
        <p:spPr>
          <a:xfrm>
            <a:off x="7458761" y="1737360"/>
            <a:ext cx="6675120" cy="365760"/>
          </a:xfrm>
          <a:prstGeom prst="roundRect">
            <a:avLst>
              <a:gd name="adj" fmla="val 12500"/>
            </a:avLst>
          </a:prstGeom>
          <a:solidFill>
            <a:srgbClr val="1E2A5C"/>
          </a:solidFill>
          <a:ln/>
        </p:spPr>
        <p:txBody>
          <a:bodyPr/>
          <a:lstStyle/>
          <a:p>
            <a:endParaRPr lang="ko-KR" altLang="en-US"/>
          </a:p>
        </p:txBody>
      </p:sp>
      <p:sp>
        <p:nvSpPr>
          <p:cNvPr id="49" name="Text 46"/>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문서 종류에 따라 비중이 다름</a:t>
            </a:r>
            <a:endParaRPr lang="en-US" sz="1600" dirty="0"/>
          </a:p>
        </p:txBody>
      </p:sp>
      <p:sp>
        <p:nvSpPr>
          <p:cNvPr id="50" name="Shape 47"/>
          <p:cNvSpPr/>
          <p:nvPr/>
        </p:nvSpPr>
        <p:spPr>
          <a:xfrm>
            <a:off x="7458761" y="2176272"/>
            <a:ext cx="667512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1" name="Shape 48"/>
          <p:cNvSpPr/>
          <p:nvPr/>
        </p:nvSpPr>
        <p:spPr>
          <a:xfrm>
            <a:off x="7550201" y="2267712"/>
            <a:ext cx="1234440" cy="896112"/>
          </a:xfrm>
          <a:prstGeom prst="roundRect">
            <a:avLst>
              <a:gd name="adj" fmla="val 6122"/>
            </a:avLst>
          </a:prstGeom>
          <a:solidFill>
            <a:srgbClr val="1E2A5C"/>
          </a:solidFill>
          <a:ln/>
        </p:spPr>
        <p:txBody>
          <a:bodyPr/>
          <a:lstStyle/>
          <a:p>
            <a:endParaRPr lang="ko-KR" altLang="en-US"/>
          </a:p>
        </p:txBody>
      </p:sp>
      <p:sp>
        <p:nvSpPr>
          <p:cNvPr id="52" name="Text 49"/>
          <p:cNvSpPr txBox="1"/>
          <p:nvPr/>
        </p:nvSpPr>
        <p:spPr>
          <a:xfrm>
            <a:off x="7550201" y="2267712"/>
            <a:ext cx="1234440" cy="8961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혜택 안내</a:t>
            </a:r>
            <a:endParaRPr lang="en-US" sz="1500" dirty="0"/>
          </a:p>
        </p:txBody>
      </p:sp>
      <p:sp>
        <p:nvSpPr>
          <p:cNvPr id="53" name="Text 50"/>
          <p:cNvSpPr txBox="1"/>
          <p:nvPr/>
        </p:nvSpPr>
        <p:spPr>
          <a:xfrm>
            <a:off x="8921801" y="2176272"/>
            <a:ext cx="5120640" cy="1078992"/>
          </a:xfrm>
          <a:prstGeom prst="rect">
            <a:avLst/>
          </a:prstGeom>
          <a:noFill/>
          <a:ln/>
        </p:spPr>
        <p:txBody>
          <a:bodyPr wrap="square" lIns="0" tIns="0" rIns="0" bIns="0" rtlCol="0" anchor="ctr"/>
          <a:lstStyle/>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이름이 빨리 모임(핵심 6개). 역량 질문을 넣자 제외 대상 Exclusion이 3건에서 25건으로</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 넓게 뽑은 후보가 거의 그대로 뼈대, 사람은 합치기 위주</a:t>
            </a:r>
            <a:endParaRPr lang="en-US" sz="1400" dirty="0"/>
          </a:p>
        </p:txBody>
      </p:sp>
      <p:sp>
        <p:nvSpPr>
          <p:cNvPr id="54" name="Shape 51"/>
          <p:cNvSpPr/>
          <p:nvPr/>
        </p:nvSpPr>
        <p:spPr>
          <a:xfrm>
            <a:off x="7458761" y="3346704"/>
            <a:ext cx="667512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5" name="Shape 52"/>
          <p:cNvSpPr/>
          <p:nvPr/>
        </p:nvSpPr>
        <p:spPr>
          <a:xfrm>
            <a:off x="7550201" y="3438144"/>
            <a:ext cx="1234440" cy="896112"/>
          </a:xfrm>
          <a:prstGeom prst="roundRect">
            <a:avLst>
              <a:gd name="adj" fmla="val 6122"/>
            </a:avLst>
          </a:prstGeom>
          <a:solidFill>
            <a:srgbClr val="1E2A5C"/>
          </a:solidFill>
          <a:ln/>
        </p:spPr>
        <p:txBody>
          <a:bodyPr/>
          <a:lstStyle/>
          <a:p>
            <a:endParaRPr lang="ko-KR" altLang="en-US"/>
          </a:p>
        </p:txBody>
      </p:sp>
      <p:sp>
        <p:nvSpPr>
          <p:cNvPr id="56" name="Text 53"/>
          <p:cNvSpPr txBox="1"/>
          <p:nvPr/>
        </p:nvSpPr>
        <p:spPr>
          <a:xfrm>
            <a:off x="7550201" y="3438144"/>
            <a:ext cx="1234440" cy="8961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상담 이력</a:t>
            </a:r>
            <a:endParaRPr lang="en-US" sz="1500" dirty="0"/>
          </a:p>
        </p:txBody>
      </p:sp>
      <p:sp>
        <p:nvSpPr>
          <p:cNvPr id="57" name="Text 54"/>
          <p:cNvSpPr txBox="1"/>
          <p:nvPr/>
        </p:nvSpPr>
        <p:spPr>
          <a:xfrm>
            <a:off x="8921801" y="3346704"/>
            <a:ext cx="5120640" cy="1078992"/>
          </a:xfrm>
          <a:prstGeom prst="rect">
            <a:avLst/>
          </a:prstGeom>
          <a:noFill/>
          <a:ln/>
        </p:spPr>
        <p:txBody>
          <a:bodyPr wrap="square" lIns="0" tIns="0" rIns="0" bIns="0" rtlCol="0" anchor="ctr"/>
          <a:lstStyle/>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대화 속 행위(불만, 제안, 응답)는 30건 중 1 ~ 5건만 나옴</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 사람이 보태고, 채우기 시험으로 설명을 다듬음</a:t>
            </a:r>
            <a:endParaRPr lang="en-US" sz="1400" dirty="0"/>
          </a:p>
        </p:txBody>
      </p:sp>
      <p:sp>
        <p:nvSpPr>
          <p:cNvPr id="58" name="Shape 55"/>
          <p:cNvSpPr/>
          <p:nvPr/>
        </p:nvSpPr>
        <p:spPr>
          <a:xfrm>
            <a:off x="7458761" y="4517136"/>
            <a:ext cx="667512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9" name="Shape 56"/>
          <p:cNvSpPr/>
          <p:nvPr/>
        </p:nvSpPr>
        <p:spPr>
          <a:xfrm>
            <a:off x="7550201" y="4608576"/>
            <a:ext cx="1234440" cy="896112"/>
          </a:xfrm>
          <a:prstGeom prst="roundRect">
            <a:avLst>
              <a:gd name="adj" fmla="val 6122"/>
            </a:avLst>
          </a:prstGeom>
          <a:solidFill>
            <a:srgbClr val="1E2A5C"/>
          </a:solidFill>
          <a:ln/>
        </p:spPr>
        <p:txBody>
          <a:bodyPr/>
          <a:lstStyle/>
          <a:p>
            <a:endParaRPr lang="ko-KR" altLang="en-US"/>
          </a:p>
        </p:txBody>
      </p:sp>
      <p:sp>
        <p:nvSpPr>
          <p:cNvPr id="60" name="Text 57"/>
          <p:cNvSpPr txBox="1"/>
          <p:nvPr/>
        </p:nvSpPr>
        <p:spPr>
          <a:xfrm>
            <a:off x="7550201" y="4608576"/>
            <a:ext cx="1234440" cy="8961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약관</a:t>
            </a:r>
            <a:endParaRPr lang="en-US" sz="1500" dirty="0"/>
          </a:p>
        </p:txBody>
      </p:sp>
      <p:sp>
        <p:nvSpPr>
          <p:cNvPr id="61" name="Text 58"/>
          <p:cNvSpPr txBox="1"/>
          <p:nvPr/>
        </p:nvSpPr>
        <p:spPr>
          <a:xfrm>
            <a:off x="8921801" y="4517136"/>
            <a:ext cx="5120640" cy="1078992"/>
          </a:xfrm>
          <a:prstGeom prst="rect">
            <a:avLst/>
          </a:prstGeom>
          <a:noFill/>
          <a:ln/>
        </p:spPr>
        <p:txBody>
          <a:bodyPr wrap="square" lIns="0" tIns="0" rIns="0" bIns="0" rtlCol="0" anchor="ctr"/>
          <a:lstStyle/>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청크마다 조항이 달라 1건에서만 나온 이름이 76%. 기한과 의무 같은 규칙 구조는 거의 안 나옴</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 조항 구조 뼈대를 사람이 먼저 그림</a:t>
            </a:r>
            <a:endParaRPr lang="en-US" sz="1400" dirty="0"/>
          </a:p>
        </p:txBody>
      </p:sp>
      <p:sp>
        <p:nvSpPr>
          <p:cNvPr id="62" name="Shape 59"/>
          <p:cNvSpPr/>
          <p:nvPr/>
        </p:nvSpPr>
        <p:spPr>
          <a:xfrm>
            <a:off x="7458761" y="5742432"/>
            <a:ext cx="6675120" cy="676656"/>
          </a:xfrm>
          <a:prstGeom prst="roundRect">
            <a:avLst>
              <a:gd name="adj" fmla="val 10811"/>
            </a:avLst>
          </a:prstGeom>
          <a:solidFill>
            <a:srgbClr val="F5F8FC"/>
          </a:solidFill>
          <a:ln w="12700">
            <a:solidFill>
              <a:srgbClr val="D9E0EC"/>
            </a:solidFill>
            <a:prstDash val="solid"/>
          </a:ln>
        </p:spPr>
        <p:txBody>
          <a:bodyPr/>
          <a:lstStyle/>
          <a:p>
            <a:endParaRPr lang="ko-KR" altLang="en-US"/>
          </a:p>
        </p:txBody>
      </p:sp>
      <p:sp>
        <p:nvSpPr>
          <p:cNvPr id="63" name="Text 60"/>
          <p:cNvSpPr txBox="1"/>
          <p:nvPr/>
        </p:nvSpPr>
        <p:spPr>
          <a:xfrm>
            <a:off x="7595921" y="5742432"/>
            <a:ext cx="6400800" cy="67665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표본 수: 이름 다시 쓰기 시험에서 혜택 층은 10 ~ 14건, 상담은 13 ~ 20건에서 멈춤(상한 30건 전)</a:t>
            </a:r>
            <a:endParaRPr lang="en-US" sz="1400" dirty="0"/>
          </a:p>
        </p:txBody>
      </p:sp>
      <p:sp>
        <p:nvSpPr>
          <p:cNvPr id="64" name="Shape 61"/>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lang="ko-KR" altLang="en-US"/>
          </a:p>
        </p:txBody>
      </p:sp>
      <p:sp>
        <p:nvSpPr>
          <p:cNvPr id="65" name="Shape 62"/>
          <p:cNvSpPr/>
          <p:nvPr/>
        </p:nvSpPr>
        <p:spPr>
          <a:xfrm>
            <a:off x="509321" y="6510528"/>
            <a:ext cx="82296" cy="658368"/>
          </a:xfrm>
          <a:prstGeom prst="rect">
            <a:avLst/>
          </a:prstGeom>
          <a:solidFill>
            <a:srgbClr val="2E74C6"/>
          </a:solidFill>
          <a:ln/>
        </p:spPr>
        <p:txBody>
          <a:bodyPr/>
          <a:lstStyle/>
          <a:p>
            <a:endParaRPr lang="ko-KR" altLang="en-US"/>
          </a:p>
        </p:txBody>
      </p:sp>
      <p:sp>
        <p:nvSpPr>
          <p:cNvPr id="66" name="Text 63"/>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절차 ①~⑤는 같음. 문서 성격에 따라 LLM 후보를 그대로 쓰는 비중과 사람이 설계하는 비중이 달라짐</a:t>
            </a:r>
            <a:endParaRPr lang="en-US" sz="1600" dirty="0"/>
          </a:p>
        </p:txBody>
      </p:sp>
      <p:sp>
        <p:nvSpPr>
          <p:cNvPr id="67" name="Shape 64"/>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68" name="Text 65"/>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3609</Words>
  <Application>Microsoft Office PowerPoint</Application>
  <PresentationFormat>사용자 지정</PresentationFormat>
  <Paragraphs>397</Paragraphs>
  <Slides>7</Slides>
  <Notes>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Arial</vt:lpstr>
      <vt:lpstr>Pretendard</vt:lpstr>
      <vt:lpstr>Pretendard SemiBold</vt:lpstr>
      <vt:lpstr>Office Theme</vt:lpstr>
      <vt:lpstr>1. 스키마 도출: 노드 타입과 관계는 추출 전에 먼저 정함</vt:lpstr>
      <vt:lpstr>1. 스키마 도출: 스키마에 정의하는 7가지</vt:lpstr>
      <vt:lpstr>1. 스키마 도출: 정형 테이블 → 노드 타입과 관계 추출 규칙</vt:lpstr>
      <vt:lpstr>1. 스키마 도출: 프롬프트로 정형 테이블의 스키마 후보 도출</vt:lpstr>
      <vt:lpstr>1. 스키마 도출: 소스 문서 → 노드 타입과 관계 추출 방안</vt:lpstr>
      <vt:lpstr>1. 스키마 도출: 사례 ① 상담 이력: 넓게 뽑기에서 뼈대 확정까지</vt:lpstr>
      <vt:lpstr>1. 스키마 도출: 사례 ② 뼈대 채우기 시험과 문서 종류별 차이</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해경 이</cp:lastModifiedBy>
  <cp:revision>20</cp:revision>
  <dcterms:created xsi:type="dcterms:W3CDTF">2026-10-18T10:51:52Z</dcterms:created>
  <dcterms:modified xsi:type="dcterms:W3CDTF">2026-10-18T12:45:53Z</dcterms:modified>
</cp:coreProperties>
</file>