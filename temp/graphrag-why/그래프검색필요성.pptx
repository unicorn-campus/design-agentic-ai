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04" y="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280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일반론의 비유(소크라테스 → 플라톤 → 아리스토텔레스 사제 관계를 따라 '할아버지 스승'을 찾음)가 우리 시스템에서는 '회원 → 가진 카드 → 그 카드의 혜택'을 따라가는 질문임. 문서 검색은 질문과 비슷한 문단을 찾을 뿐, 그 문단이 '이 회원'과 어떻게 연결되는지는 모름. 한 조항(약관·혜택 1건)이나 한 숫자(승인액)로 끝나는 질문은 지금의 문서·SQL 검색이 더 빠르고 싸므로 그래프 검색은 아래 3가지 질문 유형에만 붙임.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시스템에 그래프 검색이 필요한 이유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회원·카드·거래·혜택·상담이 얽힌 우리 데이터는 '이어서 답할 질문'에 그래프 검색이 필요함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37360"/>
            <a:ext cx="41605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검색으로 되는 질문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9321" y="2240280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600761" y="2240280"/>
            <a:ext cx="32461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검색</a:t>
            </a: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비슷한 문단 5개 찾기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"한빛 모아생활 카드 적립률은?"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20033" y="2423160"/>
            <a:ext cx="64008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3920033" y="2423160"/>
            <a:ext cx="640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됨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9321" y="3026664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00761" y="3026664"/>
            <a:ext cx="32461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검색</a:t>
            </a: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표에서 숫자 세기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"M-1042 회원의 8월 승인액은?"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20033" y="3209544"/>
            <a:ext cx="64008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3920033" y="3209544"/>
            <a:ext cx="640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됨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9321" y="3813048"/>
            <a:ext cx="4160520" cy="530352"/>
          </a:xfrm>
          <a:prstGeom prst="roundRect">
            <a:avLst>
              <a:gd name="adj" fmla="val 13793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00761" y="3813048"/>
            <a:ext cx="32461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빈틈</a:t>
            </a: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DB 사실과 문서를 잇는 질문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920033" y="3913632"/>
            <a:ext cx="6400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3920033" y="3913632"/>
            <a:ext cx="6400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됨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852721" y="1737360"/>
            <a:ext cx="928116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852721" y="1737360"/>
            <a:ext cx="9281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데이터를 이으면 하나의 관계망(지식 그래프)이 됨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852721" y="2240280"/>
            <a:ext cx="9281160" cy="2103120"/>
          </a:xfrm>
          <a:prstGeom prst="roundRect">
            <a:avLst>
              <a:gd name="adj" fmla="val 347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127041" y="2395728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5127041" y="2395728"/>
            <a:ext cx="1417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458761" y="2395728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7458761" y="2395728"/>
            <a:ext cx="1417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790481" y="2395728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790481" y="2395728"/>
            <a:ext cx="1417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2122201" y="2395728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12122201" y="2395728"/>
            <a:ext cx="1417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127041" y="347472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5127041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458761" y="347472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7458761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불만 주제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0933481" y="347472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10933481" y="3474720"/>
            <a:ext cx="14173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상품·혜택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544361" y="2624328"/>
            <a:ext cx="9144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8876081" y="2624328"/>
            <a:ext cx="9144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11207801" y="2624328"/>
            <a:ext cx="9144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5835701" y="2852928"/>
            <a:ext cx="0" cy="621792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6544361" y="3703320"/>
            <a:ext cx="9144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8876081" y="3703320"/>
            <a:ext cx="20574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8693201" y="2852928"/>
            <a:ext cx="2560320" cy="621792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 flipV="1">
            <a:off x="12030761" y="2852928"/>
            <a:ext cx="800100" cy="621792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6635801" y="2487168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6635801" y="2487168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8967521" y="2487168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8967521" y="2487168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11299241" y="2487168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11299241" y="2487168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5378501" y="302666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5378501" y="3026664"/>
            <a:ext cx="9144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기록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6635801" y="35661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6635801" y="3566160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언급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9447581" y="3566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9447581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혜택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9607601" y="3026664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9607601" y="3026664"/>
            <a:ext cx="731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11973611" y="302666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11973611" y="3026664"/>
            <a:ext cx="9144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 대상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8738921" y="404164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 txBox="1"/>
          <p:nvPr/>
        </p:nvSpPr>
        <p:spPr>
          <a:xfrm>
            <a:off x="9013241" y="4005072"/>
            <a:ext cx="14630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DB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10522001" y="404164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10796321" y="4005072"/>
            <a:ext cx="14630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혜택 문서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12305081" y="404164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12579401" y="4005072"/>
            <a:ext cx="14630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이력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509321" y="4462272"/>
            <a:ext cx="4419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4"/>
          <p:cNvSpPr/>
          <p:nvPr/>
        </p:nvSpPr>
        <p:spPr>
          <a:xfrm>
            <a:off x="646481" y="45994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 txBox="1"/>
          <p:nvPr/>
        </p:nvSpPr>
        <p:spPr>
          <a:xfrm>
            <a:off x="646481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69" name="Text 66"/>
          <p:cNvSpPr txBox="1"/>
          <p:nvPr/>
        </p:nvSpPr>
        <p:spPr>
          <a:xfrm>
            <a:off x="1103681" y="4572000"/>
            <a:ext cx="373380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단계 건너 찾기 (멀티홉)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646481" y="5102352"/>
            <a:ext cx="4145280" cy="768096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646481" y="5102352"/>
            <a:ext cx="414528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"M-5001 회원이 가진 카드 4장 중 혜택이 겹치는 카드는?"</a:t>
            </a:r>
            <a:endParaRPr lang="en-US" sz="1500" dirty="0"/>
          </a:p>
        </p:txBody>
      </p:sp>
      <p:sp>
        <p:nvSpPr>
          <p:cNvPr id="72" name="Shape 69"/>
          <p:cNvSpPr/>
          <p:nvPr/>
        </p:nvSpPr>
        <p:spPr>
          <a:xfrm>
            <a:off x="646481" y="5980176"/>
            <a:ext cx="56692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646481" y="5980176"/>
            <a:ext cx="56692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</a:t>
            </a:r>
            <a:endParaRPr lang="en-US" sz="1400" dirty="0"/>
          </a:p>
        </p:txBody>
      </p:sp>
      <p:sp>
        <p:nvSpPr>
          <p:cNvPr id="74" name="Text 71"/>
          <p:cNvSpPr txBox="1"/>
          <p:nvPr/>
        </p:nvSpPr>
        <p:spPr>
          <a:xfrm>
            <a:off x="1286561" y="5961888"/>
            <a:ext cx="35509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→ 카드 → 상품·혜택</a:t>
            </a:r>
            <a:endParaRPr lang="en-US" sz="1400" dirty="0"/>
          </a:p>
        </p:txBody>
      </p:sp>
      <p:sp>
        <p:nvSpPr>
          <p:cNvPr id="75" name="Text 72"/>
          <p:cNvSpPr txBox="1"/>
          <p:nvPr/>
        </p:nvSpPr>
        <p:spPr>
          <a:xfrm>
            <a:off x="646481" y="6345936"/>
            <a:ext cx="4145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가진 카드는 DB에, 혜택은 문서에 따로 있음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문서 검색은 이 회원의 카드를 모름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5111801" y="4462272"/>
            <a:ext cx="4419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4"/>
          <p:cNvSpPr/>
          <p:nvPr/>
        </p:nvSpPr>
        <p:spPr>
          <a:xfrm>
            <a:off x="5248961" y="45994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5"/>
          <p:cNvSpPr txBox="1"/>
          <p:nvPr/>
        </p:nvSpPr>
        <p:spPr>
          <a:xfrm>
            <a:off x="5248961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79" name="Text 76"/>
          <p:cNvSpPr txBox="1"/>
          <p:nvPr/>
        </p:nvSpPr>
        <p:spPr>
          <a:xfrm>
            <a:off x="5706161" y="4572000"/>
            <a:ext cx="373380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불만과 이용 습관을 이어 대안 찾기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5248961" y="5102352"/>
            <a:ext cx="4145280" cy="768096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8"/>
          <p:cNvSpPr txBox="1"/>
          <p:nvPr/>
        </p:nvSpPr>
        <p:spPr>
          <a:xfrm>
            <a:off x="5248961" y="5102352"/>
            <a:ext cx="414528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r>
              <a:rPr lang="en-US" sz="1500" b="1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</a:t>
            </a:r>
            <a:r>
              <a:rPr lang="ko-KR" alt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소비 패턴과 안 맞는다고</a:t>
            </a: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말한 M-6001 회원이 많이 쓰는 업종에 혜택을 주는 카드는?"</a:t>
            </a:r>
            <a:endParaRPr lang="en-US" sz="1500" dirty="0"/>
          </a:p>
        </p:txBody>
      </p:sp>
      <p:sp>
        <p:nvSpPr>
          <p:cNvPr id="82" name="Shape 79"/>
          <p:cNvSpPr/>
          <p:nvPr/>
        </p:nvSpPr>
        <p:spPr>
          <a:xfrm>
            <a:off x="5248961" y="5980176"/>
            <a:ext cx="56692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 txBox="1"/>
          <p:nvPr/>
        </p:nvSpPr>
        <p:spPr>
          <a:xfrm>
            <a:off x="5248961" y="5980176"/>
            <a:ext cx="56692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</a:t>
            </a:r>
            <a:endParaRPr lang="en-US" sz="1400" dirty="0"/>
          </a:p>
        </p:txBody>
      </p:sp>
      <p:sp>
        <p:nvSpPr>
          <p:cNvPr id="84" name="Text 81"/>
          <p:cNvSpPr txBox="1"/>
          <p:nvPr/>
        </p:nvSpPr>
        <p:spPr>
          <a:xfrm>
            <a:off x="5889041" y="5961888"/>
            <a:ext cx="35509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상담→회원→카드→거래→업종←혜택</a:t>
            </a:r>
            <a:endParaRPr lang="en-US" sz="1400" dirty="0"/>
          </a:p>
        </p:txBody>
      </p:sp>
      <p:sp>
        <p:nvSpPr>
          <p:cNvPr id="85" name="Text 82"/>
          <p:cNvSpPr txBox="1"/>
          <p:nvPr/>
        </p:nvSpPr>
        <p:spPr>
          <a:xfrm>
            <a:off x="5248961" y="6345936"/>
            <a:ext cx="4145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상담·거래·혜택 세 원천을 5단계로 이어야 함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한 번의 검색으로 못 찾음</a:t>
            </a:r>
            <a:endParaRPr lang="en-US" sz="1400" dirty="0"/>
          </a:p>
        </p:txBody>
      </p:sp>
      <p:sp>
        <p:nvSpPr>
          <p:cNvPr id="86" name="Shape 83"/>
          <p:cNvSpPr/>
          <p:nvPr/>
        </p:nvSpPr>
        <p:spPr>
          <a:xfrm>
            <a:off x="9714281" y="4462272"/>
            <a:ext cx="4419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4"/>
          <p:cNvSpPr/>
          <p:nvPr/>
        </p:nvSpPr>
        <p:spPr>
          <a:xfrm>
            <a:off x="9851441" y="459943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 txBox="1"/>
          <p:nvPr/>
        </p:nvSpPr>
        <p:spPr>
          <a:xfrm>
            <a:off x="9851441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89" name="Text 86"/>
          <p:cNvSpPr txBox="1"/>
          <p:nvPr/>
        </p:nvSpPr>
        <p:spPr>
          <a:xfrm>
            <a:off x="10308641" y="4572000"/>
            <a:ext cx="373380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경향 보기 (거시적 통찰)</a:t>
            </a:r>
            <a:endParaRPr lang="en-US" sz="1600" dirty="0"/>
          </a:p>
        </p:txBody>
      </p:sp>
      <p:sp>
        <p:nvSpPr>
          <p:cNvPr id="90" name="Shape 87"/>
          <p:cNvSpPr/>
          <p:nvPr/>
        </p:nvSpPr>
        <p:spPr>
          <a:xfrm>
            <a:off x="9851441" y="5102352"/>
            <a:ext cx="4145280" cy="768096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8"/>
          <p:cNvSpPr txBox="1"/>
          <p:nvPr/>
        </p:nvSpPr>
        <p:spPr>
          <a:xfrm>
            <a:off x="9851441" y="5102352"/>
            <a:ext cx="414528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"연회비·혜택 불만으로 해지를 문의한 회원들의 공통 원인과 거절한 제안은?"</a:t>
            </a:r>
            <a:endParaRPr lang="en-US" sz="1500" dirty="0"/>
          </a:p>
        </p:txBody>
      </p:sp>
      <p:sp>
        <p:nvSpPr>
          <p:cNvPr id="92" name="Shape 89"/>
          <p:cNvSpPr/>
          <p:nvPr/>
        </p:nvSpPr>
        <p:spPr>
          <a:xfrm>
            <a:off x="9851441" y="5980176"/>
            <a:ext cx="56692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0"/>
          <p:cNvSpPr txBox="1"/>
          <p:nvPr/>
        </p:nvSpPr>
        <p:spPr>
          <a:xfrm>
            <a:off x="9851441" y="5980176"/>
            <a:ext cx="56692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</a:t>
            </a:r>
            <a:endParaRPr lang="en-US" sz="1400" dirty="0"/>
          </a:p>
        </p:txBody>
      </p:sp>
      <p:sp>
        <p:nvSpPr>
          <p:cNvPr id="94" name="Text 91"/>
          <p:cNvSpPr txBox="1"/>
          <p:nvPr/>
        </p:nvSpPr>
        <p:spPr>
          <a:xfrm>
            <a:off x="10491521" y="5961888"/>
            <a:ext cx="355092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회원 → 상담 → 불만 주제별 요약</a:t>
            </a:r>
            <a:endParaRPr lang="en-US" sz="1400" dirty="0"/>
          </a:p>
        </p:txBody>
      </p:sp>
      <p:sp>
        <p:nvSpPr>
          <p:cNvPr id="95" name="Text 92"/>
          <p:cNvSpPr txBox="1"/>
          <p:nvPr/>
        </p:nvSpPr>
        <p:spPr>
          <a:xfrm>
            <a:off x="9851441" y="6345936"/>
            <a:ext cx="41452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검색은 비슷한 문단 5개만 봄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회원 전체의 경향은 못 봄</a:t>
            </a:r>
            <a:endParaRPr lang="en-US" sz="1400" dirty="0"/>
          </a:p>
        </p:txBody>
      </p:sp>
      <p:sp>
        <p:nvSpPr>
          <p:cNvPr id="96" name="Shape 93"/>
          <p:cNvSpPr/>
          <p:nvPr/>
        </p:nvSpPr>
        <p:spPr>
          <a:xfrm>
            <a:off x="509321" y="6931152"/>
            <a:ext cx="1280160" cy="338328"/>
          </a:xfrm>
          <a:prstGeom prst="roundRect">
            <a:avLst>
              <a:gd name="adj" fmla="val 1351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4"/>
          <p:cNvSpPr txBox="1"/>
          <p:nvPr/>
        </p:nvSpPr>
        <p:spPr>
          <a:xfrm>
            <a:off x="509321" y="6931152"/>
            <a:ext cx="1280160" cy="3383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기준</a:t>
            </a:r>
            <a:endParaRPr lang="en-US" sz="1500" dirty="0"/>
          </a:p>
        </p:txBody>
      </p:sp>
      <p:sp>
        <p:nvSpPr>
          <p:cNvPr id="98" name="Text 95"/>
          <p:cNvSpPr txBox="1"/>
          <p:nvPr/>
        </p:nvSpPr>
        <p:spPr>
          <a:xfrm>
            <a:off x="1926641" y="6931152"/>
            <a:ext cx="1220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 이상 연결 · </a:t>
            </a:r>
            <a:r>
              <a:rPr lang="ko-KR" alt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테이블과</a:t>
            </a: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문서 결합 · 회원 전체 경향이면 </a:t>
            </a: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검색</a:t>
            </a: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/   한 조항·한 숫자면 </a:t>
            </a: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검색으로 충분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F2D7FA-C30D-4B15-8FFF-7E7ACD7ED9D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6741bf8-b455-4b3c-bfe6-ad6322fb081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361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Pretendard</vt:lpstr>
      <vt:lpstr>Pretendard SemiBold</vt:lpstr>
      <vt:lpstr>Office Theme</vt:lpstr>
      <vt:lpstr>우리 시스템에 그래프 검색이 필요한 이유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3</cp:revision>
  <dcterms:created xsi:type="dcterms:W3CDTF">2026-10-12T05:20:48Z</dcterms:created>
  <dcterms:modified xsi:type="dcterms:W3CDTF">2026-10-12T05:28:18Z</dcterms:modified>
</cp:coreProperties>
</file>