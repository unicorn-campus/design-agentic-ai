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실무에서는 기법 선택을 LLM에 맡기는 방식이 일반적임. 교재도 라우터를 LLM Router와 Semantic Router로 나누며, LangGraph 예제도 채점·재작성을 LLM 노드로 둠.
규칙으로 후보를 좁히려면 시소러스·상품 메타데이터를 먼저 만들어야 함. LLM 선택 방식은 그 준비 없이 시작할 수 있음.
대신 LLM이 짐작하지 않도록, 코드가 계산한 사실(점수 구간·격차·핵심어 유무·검색기 일치)과 결과 조각을 함께 줌.
오른쪽 가이드는 강제가 아니라 참고임. LLM은 맞지 않으면 다른 기법이나 keep·clarify를 고르고 이유를 남김.
규칙은 금지만 함: 상품명 없이 상품이 섞이면 clarify, 같은 변환 반복 금지, 상한 도달 시 keep. 평가셋에서 LLM 선택이 자주 틀리는 유형이 보이면 그 유형에만 규칙을 추가함.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7754112"/>
            <a:ext cx="13624560" cy="18288"/>
          </a:xfrm>
          <a:prstGeom prst="rect">
            <a:avLst/>
          </a:prstGeom>
          <a:solidFill>
            <a:srgbClr val="E9ECF3"/>
          </a:solidFill>
          <a:ln/>
        </p:spPr>
      </p:sp>
      <p:sp>
        <p:nvSpPr>
          <p:cNvPr id="3" name="Text 1"/>
          <p:cNvSpPr/>
          <p:nvPr/>
        </p:nvSpPr>
        <p:spPr>
          <a:xfrm>
            <a:off x="502920" y="7818120"/>
            <a:ext cx="7315200" cy="292608"/>
          </a:xfrm>
          <a:prstGeom prst="rect">
            <a:avLst/>
          </a:prstGeom>
          <a:noFill/>
          <a:ln/>
        </p:spPr>
        <p:txBody>
          <a:bodyPr wrap="square"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design-agentic-ai  ·  불확실 판정 시 LLM이 기법 선택</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cna-bootcamp/aistudy/blob/main/agentic-ai/textbook/10.RAG.md" TargetMode="External"/><Relationship Id="rId2" Type="http://schemas.openxmlformats.org/officeDocument/2006/relationships/hyperlink" Target="https://docs.langchain.com/oss/python/langgraph/agentic-rag" TargetMode="External"/><Relationship Id="rId3" Type="http://schemas.openxmlformats.org/officeDocument/2006/relationships/hyperlink" Target="https://arxiv.org/abs/2401.15884" TargetMode="External"/><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indent="0" marL="0">
              <a:buNone/>
            </a:pPr>
            <a:r>
              <a:rPr lang="en-US" sz="1500" b="1" dirty="0">
                <a:solidFill>
                  <a:srgbClr val="7C8598"/>
                </a:solidFill>
                <a:latin typeface="Pretendard" pitchFamily="34" charset="0"/>
                <a:ea typeface="Pretendard" pitchFamily="34" charset="-122"/>
                <a:cs typeface="Pretendard" pitchFamily="34" charset="-120"/>
              </a:rPr>
              <a:t>Ⅲ. 문서 검색 아키텍처 › Pre-Retrieval › 6. 불확실 판정 후 변환</a:t>
            </a:r>
            <a:endParaRPr lang="en-US" sz="1500" dirty="0"/>
          </a:p>
        </p:txBody>
      </p:sp>
      <p:sp>
        <p:nvSpPr>
          <p:cNvPr id="3" name="Text 1"/>
          <p:cNvSpPr/>
          <p:nvPr/>
        </p:nvSpPr>
        <p:spPr>
          <a:xfrm>
            <a:off x="502920" y="640080"/>
            <a:ext cx="13258800" cy="685800"/>
          </a:xfrm>
          <a:prstGeom prst="rect">
            <a:avLst/>
          </a:prstGeom>
          <a:noFill/>
          <a:ln/>
        </p:spPr>
        <p:txBody>
          <a:bodyPr wrap="square"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불확실 판정 시 LLM이 기법 선택</a:t>
            </a:r>
            <a:endParaRPr lang="en-US" sz="4800" dirty="0"/>
          </a:p>
        </p:txBody>
      </p:sp>
      <p:sp>
        <p:nvSpPr>
          <p:cNvPr id="4" name="Shape 2"/>
          <p:cNvSpPr/>
          <p:nvPr/>
        </p:nvSpPr>
        <p:spPr>
          <a:xfrm>
            <a:off x="502920" y="1389888"/>
            <a:ext cx="13624560" cy="36576"/>
          </a:xfrm>
          <a:prstGeom prst="rect">
            <a:avLst/>
          </a:prstGeom>
          <a:solidFill>
            <a:srgbClr val="D9E0EC"/>
          </a:solidFill>
          <a:ln/>
        </p:spPr>
      </p:sp>
      <p:sp>
        <p:nvSpPr>
          <p:cNvPr id="5" name="Shape 3"/>
          <p:cNvSpPr/>
          <p:nvPr/>
        </p:nvSpPr>
        <p:spPr>
          <a:xfrm>
            <a:off x="502920" y="1389888"/>
            <a:ext cx="1920240" cy="36576"/>
          </a:xfrm>
          <a:prstGeom prst="rect">
            <a:avLst/>
          </a:prstGeom>
          <a:solidFill>
            <a:srgbClr val="2E74C6"/>
          </a:solidFill>
          <a:ln/>
        </p:spPr>
      </p:sp>
      <p:sp>
        <p:nvSpPr>
          <p:cNvPr id="6" name="Text 4"/>
          <p:cNvSpPr/>
          <p:nvPr/>
        </p:nvSpPr>
        <p:spPr>
          <a:xfrm>
            <a:off x="502920" y="1499616"/>
            <a:ext cx="13624560" cy="438912"/>
          </a:xfrm>
          <a:prstGeom prst="rect">
            <a:avLst/>
          </a:prstGeom>
          <a:noFill/>
          <a:ln/>
        </p:spPr>
        <p:txBody>
          <a:bodyPr wrap="square" rtlCol="0" anchor="ctr"/>
          <a:lstStyle/>
          <a:p>
            <a:pPr indent="0" marL="0">
              <a:buNone/>
            </a:pPr>
            <a:r>
              <a:rPr lang="en-US" sz="1800" dirty="0">
                <a:solidFill>
                  <a:srgbClr val="4A5364"/>
                </a:solidFill>
                <a:latin typeface="Pretendard" pitchFamily="34" charset="0"/>
                <a:ea typeface="Pretendard" pitchFamily="34" charset="-122"/>
                <a:cs typeface="Pretendard" pitchFamily="34" charset="-120"/>
              </a:rPr>
              <a:t>코드는 판정 근거를 사실로 계산하고, LLM이 정보를 보고 기법을 골라 질문을 변환함 — 규칙은 금지 조건만 검사</a:t>
            </a:r>
            <a:endParaRPr lang="en-US" sz="1800" dirty="0"/>
          </a:p>
        </p:txBody>
      </p:sp>
      <p:sp>
        <p:nvSpPr>
          <p:cNvPr id="7" name="Text 5"/>
          <p:cNvSpPr/>
          <p:nvPr/>
        </p:nvSpPr>
        <p:spPr>
          <a:xfrm>
            <a:off x="502920" y="2011680"/>
            <a:ext cx="8321040" cy="457200"/>
          </a:xfrm>
          <a:prstGeom prst="roundRect">
            <a:avLst>
              <a:gd name="adj" fmla="val 12000"/>
            </a:avLst>
          </a:prstGeom>
          <a:solidFill>
            <a:srgbClr val="1E2A5C"/>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LLM에 무엇을 함께 주나</a:t>
            </a:r>
            <a:endParaRPr lang="en-US" sz="2000" dirty="0"/>
          </a:p>
        </p:txBody>
      </p:sp>
      <p:sp>
        <p:nvSpPr>
          <p:cNvPr id="8" name="Shape 6"/>
          <p:cNvSpPr/>
          <p:nvPr/>
        </p:nvSpPr>
        <p:spPr>
          <a:xfrm>
            <a:off x="502920" y="2542032"/>
            <a:ext cx="8321040" cy="3310128"/>
          </a:xfrm>
          <a:prstGeom prst="roundRect">
            <a:avLst>
              <a:gd name="adj" fmla="val 2762"/>
            </a:avLst>
          </a:prstGeom>
          <a:solidFill>
            <a:srgbClr val="EEF3FA"/>
          </a:solidFill>
          <a:ln w="12700">
            <a:solidFill>
              <a:srgbClr val="D9E0EC"/>
            </a:solidFill>
            <a:prstDash val="solid"/>
          </a:ln>
        </p:spPr>
      </p:sp>
      <p:sp>
        <p:nvSpPr>
          <p:cNvPr id="9" name="Text 7"/>
          <p:cNvSpPr/>
          <p:nvPr/>
        </p:nvSpPr>
        <p:spPr>
          <a:xfrm>
            <a:off x="612648" y="2615184"/>
            <a:ext cx="2377440" cy="713232"/>
          </a:xfrm>
          <a:prstGeom prst="flowChartDecision">
            <a:avLst/>
          </a:prstGeom>
          <a:solidFill>
            <a:srgbClr val="FFFFFF"/>
          </a:solidFill>
          <a:ln w="25400">
            <a:solidFill>
              <a:srgbClr val="2E74C6"/>
            </a:solidFill>
            <a:prstDash val="solid"/>
          </a:ln>
        </p:spPr>
        <p:txBody>
          <a:bodyPr wrap="square" lIns="127000" tIns="127000" rIns="127000" bIns="1270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CRAG 채점: 불확실</a:t>
            </a:r>
            <a:endParaRPr lang="en-US" sz="1400" dirty="0"/>
          </a:p>
        </p:txBody>
      </p:sp>
      <p:sp>
        <p:nvSpPr>
          <p:cNvPr id="10" name="Shape 8"/>
          <p:cNvSpPr/>
          <p:nvPr/>
        </p:nvSpPr>
        <p:spPr>
          <a:xfrm>
            <a:off x="2990088" y="2971800"/>
            <a:ext cx="301752" cy="0"/>
          </a:xfrm>
          <a:prstGeom prst="line">
            <a:avLst/>
          </a:prstGeom>
          <a:noFill/>
          <a:ln w="19050">
            <a:solidFill>
              <a:srgbClr val="4A5364"/>
            </a:solidFill>
            <a:prstDash val="solid"/>
            <a:tailEnd type="triangle"/>
          </a:ln>
        </p:spPr>
      </p:sp>
      <p:sp>
        <p:nvSpPr>
          <p:cNvPr id="11" name="Text 9"/>
          <p:cNvSpPr/>
          <p:nvPr/>
        </p:nvSpPr>
        <p:spPr>
          <a:xfrm>
            <a:off x="3291840" y="2651760"/>
            <a:ext cx="3611880" cy="640080"/>
          </a:xfrm>
          <a:prstGeom prst="roundRect">
            <a:avLst>
              <a:gd name="adj" fmla="val 8571"/>
            </a:avLst>
          </a:prstGeom>
          <a:solidFill>
            <a:srgbClr val="1E2A5C"/>
          </a:solidFill>
          <a:ln/>
        </p:spPr>
        <p:txBody>
          <a:bodyPr wrap="square" lIns="50800" tIns="50800" rIns="508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코드: 판정 근거 계산</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점수 구간 · 1·2위 격차 · 핵심어 유무 · 검색기 일치</a:t>
            </a:r>
            <a:endParaRPr lang="en-US" sz="1400" dirty="0"/>
          </a:p>
        </p:txBody>
      </p:sp>
      <p:sp>
        <p:nvSpPr>
          <p:cNvPr id="12" name="Shape 10"/>
          <p:cNvSpPr/>
          <p:nvPr/>
        </p:nvSpPr>
        <p:spPr>
          <a:xfrm>
            <a:off x="5440680" y="3291840"/>
            <a:ext cx="0" cy="438912"/>
          </a:xfrm>
          <a:prstGeom prst="line">
            <a:avLst/>
          </a:prstGeom>
          <a:noFill/>
          <a:ln w="19050">
            <a:solidFill>
              <a:srgbClr val="1E2A5C"/>
            </a:solidFill>
            <a:prstDash val="solid"/>
            <a:tailEnd type="triangle"/>
          </a:ln>
        </p:spPr>
      </p:sp>
      <p:sp>
        <p:nvSpPr>
          <p:cNvPr id="13" name="Text 11"/>
          <p:cNvSpPr/>
          <p:nvPr/>
        </p:nvSpPr>
        <p:spPr>
          <a:xfrm>
            <a:off x="5513832" y="3364992"/>
            <a:ext cx="164592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판정 근거(사실)</a:t>
            </a:r>
            <a:endParaRPr lang="en-US" sz="1400" dirty="0"/>
          </a:p>
        </p:txBody>
      </p:sp>
      <p:sp>
        <p:nvSpPr>
          <p:cNvPr id="14" name="Text 12"/>
          <p:cNvSpPr/>
          <p:nvPr/>
        </p:nvSpPr>
        <p:spPr>
          <a:xfrm>
            <a:off x="4297680" y="3730752"/>
            <a:ext cx="2286000" cy="868680"/>
          </a:xfrm>
          <a:prstGeom prst="hexagon">
            <a:avLst/>
          </a:prstGeom>
          <a:solidFill>
            <a:srgbClr val="2E74C6"/>
          </a:solidFill>
          <a:ln/>
        </p:spPr>
        <p:txBody>
          <a:bodyPr wrap="square" lIns="76200" tIns="76200" rIns="76200" bIns="762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LLM</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기법 선택 · 질의 작성</a:t>
            </a:r>
            <a:endParaRPr lang="en-US" sz="1400" dirty="0"/>
          </a:p>
        </p:txBody>
      </p:sp>
      <p:sp>
        <p:nvSpPr>
          <p:cNvPr id="15" name="Text 13"/>
          <p:cNvSpPr/>
          <p:nvPr/>
        </p:nvSpPr>
        <p:spPr>
          <a:xfrm>
            <a:off x="640080" y="3429000"/>
            <a:ext cx="3291840" cy="438912"/>
          </a:xfrm>
          <a:prstGeom prst="roundRect">
            <a:avLst>
              <a:gd name="adj" fmla="val 12500"/>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원 질문</a:t>
            </a:r>
            <a:endParaRPr lang="en-US" sz="1400" dirty="0"/>
          </a:p>
        </p:txBody>
      </p:sp>
      <p:sp>
        <p:nvSpPr>
          <p:cNvPr id="16" name="Shape 14"/>
          <p:cNvSpPr/>
          <p:nvPr/>
        </p:nvSpPr>
        <p:spPr>
          <a:xfrm>
            <a:off x="3931920" y="3648456"/>
            <a:ext cx="475488" cy="516636"/>
          </a:xfrm>
          <a:prstGeom prst="line">
            <a:avLst/>
          </a:prstGeom>
          <a:noFill/>
          <a:ln w="19050">
            <a:solidFill>
              <a:srgbClr val="4A5364"/>
            </a:solidFill>
            <a:prstDash val="solid"/>
            <a:tailEnd type="triangle"/>
          </a:ln>
        </p:spPr>
      </p:sp>
      <p:sp>
        <p:nvSpPr>
          <p:cNvPr id="17" name="Text 15"/>
          <p:cNvSpPr/>
          <p:nvPr/>
        </p:nvSpPr>
        <p:spPr>
          <a:xfrm>
            <a:off x="640080" y="3959352"/>
            <a:ext cx="3291840" cy="438912"/>
          </a:xfrm>
          <a:prstGeom prst="roundRect">
            <a:avLst>
              <a:gd name="adj" fmla="val 12500"/>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검색 결과 조각 + 제목</a:t>
            </a:r>
            <a:endParaRPr lang="en-US" sz="1400" dirty="0"/>
          </a:p>
        </p:txBody>
      </p:sp>
      <p:sp>
        <p:nvSpPr>
          <p:cNvPr id="18" name="Shape 16"/>
          <p:cNvSpPr/>
          <p:nvPr/>
        </p:nvSpPr>
        <p:spPr>
          <a:xfrm flipV="1">
            <a:off x="3931920" y="4165092"/>
            <a:ext cx="475488" cy="13716"/>
          </a:xfrm>
          <a:prstGeom prst="line">
            <a:avLst/>
          </a:prstGeom>
          <a:noFill/>
          <a:ln w="19050">
            <a:solidFill>
              <a:srgbClr val="4A5364"/>
            </a:solidFill>
            <a:prstDash val="solid"/>
            <a:tailEnd type="triangle"/>
          </a:ln>
        </p:spPr>
      </p:sp>
      <p:sp>
        <p:nvSpPr>
          <p:cNvPr id="19" name="Text 17"/>
          <p:cNvSpPr/>
          <p:nvPr/>
        </p:nvSpPr>
        <p:spPr>
          <a:xfrm>
            <a:off x="640080" y="4489704"/>
            <a:ext cx="3291840" cy="438912"/>
          </a:xfrm>
          <a:prstGeom prst="roundRect">
            <a:avLst>
              <a:gd name="adj" fmla="val 12500"/>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이전 시도 기록: 같은 변환 반복 방지</a:t>
            </a:r>
            <a:endParaRPr lang="en-US" sz="1400" dirty="0"/>
          </a:p>
        </p:txBody>
      </p:sp>
      <p:sp>
        <p:nvSpPr>
          <p:cNvPr id="20" name="Shape 18"/>
          <p:cNvSpPr/>
          <p:nvPr/>
        </p:nvSpPr>
        <p:spPr>
          <a:xfrm flipV="1">
            <a:off x="3931920" y="4165092"/>
            <a:ext cx="475488" cy="544068"/>
          </a:xfrm>
          <a:prstGeom prst="line">
            <a:avLst/>
          </a:prstGeom>
          <a:noFill/>
          <a:ln w="19050">
            <a:solidFill>
              <a:srgbClr val="4A5364"/>
            </a:solidFill>
            <a:prstDash val="solid"/>
            <a:tailEnd type="triangle"/>
          </a:ln>
        </p:spPr>
      </p:sp>
      <p:sp>
        <p:nvSpPr>
          <p:cNvPr id="21" name="Text 19"/>
          <p:cNvSpPr/>
          <p:nvPr/>
        </p:nvSpPr>
        <p:spPr>
          <a:xfrm>
            <a:off x="640080" y="5020056"/>
            <a:ext cx="3291840" cy="438912"/>
          </a:xfrm>
          <a:prstGeom prst="roundRect">
            <a:avLst>
              <a:gd name="adj" fmla="val 12500"/>
            </a:avLst>
          </a:prstGeom>
          <a:solidFill>
            <a:srgbClr val="FFFFFF"/>
          </a:solidFill>
          <a:ln w="25400">
            <a:solidFill>
              <a:srgbClr val="2E74C6"/>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기법 가이드 · 허용 선택지</a:t>
            </a:r>
            <a:endParaRPr lang="en-US" sz="1400" dirty="0"/>
          </a:p>
        </p:txBody>
      </p:sp>
      <p:sp>
        <p:nvSpPr>
          <p:cNvPr id="22" name="Shape 20"/>
          <p:cNvSpPr/>
          <p:nvPr/>
        </p:nvSpPr>
        <p:spPr>
          <a:xfrm flipV="1">
            <a:off x="3931920" y="4165092"/>
            <a:ext cx="475488" cy="1074420"/>
          </a:xfrm>
          <a:prstGeom prst="line">
            <a:avLst/>
          </a:prstGeom>
          <a:noFill/>
          <a:ln w="19050">
            <a:solidFill>
              <a:srgbClr val="4A5364"/>
            </a:solidFill>
            <a:prstDash val="solid"/>
            <a:tailEnd type="triangle"/>
          </a:ln>
        </p:spPr>
      </p:sp>
      <p:sp>
        <p:nvSpPr>
          <p:cNvPr id="23" name="Text 21"/>
          <p:cNvSpPr/>
          <p:nvPr/>
        </p:nvSpPr>
        <p:spPr>
          <a:xfrm>
            <a:off x="640080" y="5495544"/>
            <a:ext cx="329184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허용 선택지 = 5기법 전체 + keep + clarify</a:t>
            </a:r>
            <a:endParaRPr lang="en-US" sz="1400" dirty="0"/>
          </a:p>
        </p:txBody>
      </p:sp>
      <p:sp>
        <p:nvSpPr>
          <p:cNvPr id="24" name="Shape 22"/>
          <p:cNvSpPr/>
          <p:nvPr/>
        </p:nvSpPr>
        <p:spPr>
          <a:xfrm flipV="1">
            <a:off x="6583680" y="4160520"/>
            <a:ext cx="274320" cy="4572"/>
          </a:xfrm>
          <a:prstGeom prst="line">
            <a:avLst/>
          </a:prstGeom>
          <a:noFill/>
          <a:ln w="19050">
            <a:solidFill>
              <a:srgbClr val="4A5364"/>
            </a:solidFill>
            <a:prstDash val="solid"/>
            <a:tailEnd type="triangle"/>
          </a:ln>
        </p:spPr>
      </p:sp>
      <p:sp>
        <p:nvSpPr>
          <p:cNvPr id="25" name="Text 23"/>
          <p:cNvSpPr/>
          <p:nvPr/>
        </p:nvSpPr>
        <p:spPr>
          <a:xfrm>
            <a:off x="6858000" y="3703320"/>
            <a:ext cx="1828800" cy="914400"/>
          </a:xfrm>
          <a:prstGeom prst="flowChartDecision">
            <a:avLst/>
          </a:prstGeom>
          <a:solidFill>
            <a:srgbClr val="FFFFFF"/>
          </a:solidFill>
          <a:ln w="25400">
            <a:solidFill>
              <a:srgbClr val="404155"/>
            </a:solidFill>
            <a:prstDash val="solid"/>
          </a:ln>
        </p:spPr>
        <p:txBody>
          <a:bodyPr wrap="square" lIns="101600" tIns="101600" rIns="101600" bIns="1016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금지 규칙</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검사</a:t>
            </a:r>
            <a:endParaRPr lang="en-US" sz="1400" dirty="0"/>
          </a:p>
        </p:txBody>
      </p:sp>
      <p:sp>
        <p:nvSpPr>
          <p:cNvPr id="26" name="Shape 24"/>
          <p:cNvSpPr/>
          <p:nvPr/>
        </p:nvSpPr>
        <p:spPr>
          <a:xfrm flipV="1">
            <a:off x="7772400" y="3310128"/>
            <a:ext cx="0" cy="393192"/>
          </a:xfrm>
          <a:prstGeom prst="line">
            <a:avLst/>
          </a:prstGeom>
          <a:noFill/>
          <a:ln w="19050">
            <a:solidFill>
              <a:srgbClr val="4A5364"/>
            </a:solidFill>
            <a:prstDash val="solid"/>
            <a:tailEnd type="triangle"/>
          </a:ln>
        </p:spPr>
      </p:sp>
      <p:sp>
        <p:nvSpPr>
          <p:cNvPr id="27" name="Text 25"/>
          <p:cNvSpPr/>
          <p:nvPr/>
        </p:nvSpPr>
        <p:spPr>
          <a:xfrm>
            <a:off x="7827264" y="3346704"/>
            <a:ext cx="548640" cy="274320"/>
          </a:xfrm>
          <a:prstGeom prst="rect">
            <a:avLst/>
          </a:prstGeom>
          <a:noFill/>
          <a:ln/>
        </p:spPr>
        <p:txBody>
          <a:bodyPr wrap="square" lIns="0" tIns="0" rIns="0" bIns="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위반</a:t>
            </a:r>
            <a:endParaRPr lang="en-US" sz="1400" dirty="0"/>
          </a:p>
        </p:txBody>
      </p:sp>
      <p:sp>
        <p:nvSpPr>
          <p:cNvPr id="28" name="Text 26"/>
          <p:cNvSpPr/>
          <p:nvPr/>
        </p:nvSpPr>
        <p:spPr>
          <a:xfrm>
            <a:off x="6949440" y="2834640"/>
            <a:ext cx="1645920" cy="457200"/>
          </a:xfrm>
          <a:prstGeom prst="roundRect">
            <a:avLst>
              <a:gd name="adj" fmla="val 12000"/>
            </a:avLst>
          </a:prstGeom>
          <a:solidFill>
            <a:srgbClr val="404155"/>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keep · clarify</a:t>
            </a:r>
            <a:endParaRPr lang="en-US" sz="1400" dirty="0"/>
          </a:p>
        </p:txBody>
      </p:sp>
      <p:sp>
        <p:nvSpPr>
          <p:cNvPr id="29" name="Shape 27"/>
          <p:cNvSpPr/>
          <p:nvPr/>
        </p:nvSpPr>
        <p:spPr>
          <a:xfrm>
            <a:off x="7772400" y="4617720"/>
            <a:ext cx="0" cy="320040"/>
          </a:xfrm>
          <a:prstGeom prst="line">
            <a:avLst/>
          </a:prstGeom>
          <a:noFill/>
          <a:ln w="19050">
            <a:solidFill>
              <a:srgbClr val="4A5364"/>
            </a:solidFill>
            <a:prstDash val="solid"/>
            <a:tailEnd type="triangle"/>
          </a:ln>
        </p:spPr>
      </p:sp>
      <p:sp>
        <p:nvSpPr>
          <p:cNvPr id="30" name="Text 28"/>
          <p:cNvSpPr/>
          <p:nvPr/>
        </p:nvSpPr>
        <p:spPr>
          <a:xfrm>
            <a:off x="7827264" y="4636008"/>
            <a:ext cx="54864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통과</a:t>
            </a:r>
            <a:endParaRPr lang="en-US" sz="1400" dirty="0"/>
          </a:p>
        </p:txBody>
      </p:sp>
      <p:sp>
        <p:nvSpPr>
          <p:cNvPr id="31" name="Text 29"/>
          <p:cNvSpPr/>
          <p:nvPr/>
        </p:nvSpPr>
        <p:spPr>
          <a:xfrm>
            <a:off x="6967728" y="4937760"/>
            <a:ext cx="1609344" cy="749808"/>
          </a:xfrm>
          <a:prstGeom prst="can">
            <a:avLst/>
          </a:prstGeom>
          <a:solidFill>
            <a:srgbClr val="EEF3FA"/>
          </a:solidFill>
          <a:ln w="15875">
            <a:solidFill>
              <a:srgbClr val="1E2A5C"/>
            </a:solidFill>
            <a:prstDash val="solid"/>
          </a:ln>
        </p:spPr>
        <p:txBody>
          <a:bodyPr wrap="square" lIns="50800" tIns="50800" rIns="50800" bIns="508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재검색</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(상한)</a:t>
            </a:r>
            <a:endParaRPr lang="en-US" sz="1400" dirty="0"/>
          </a:p>
        </p:txBody>
      </p:sp>
      <p:sp>
        <p:nvSpPr>
          <p:cNvPr id="32" name="Text 30"/>
          <p:cNvSpPr/>
          <p:nvPr/>
        </p:nvSpPr>
        <p:spPr>
          <a:xfrm>
            <a:off x="4251960" y="4754880"/>
            <a:ext cx="2514600" cy="1005840"/>
          </a:xfrm>
          <a:prstGeom prst="roundRect">
            <a:avLst>
              <a:gd name="adj" fmla="val 5455"/>
            </a:avLst>
          </a:prstGeom>
          <a:solidFill>
            <a:srgbClr val="FFFFFF"/>
          </a:solidFill>
          <a:ln w="15875">
            <a:solidFill>
              <a:srgbClr val="404155"/>
            </a:solidFill>
            <a:prstDash val="dash"/>
          </a:ln>
        </p:spPr>
        <p:txBody>
          <a:bodyPr wrap="square" lIns="76200" tIns="76200" rIns="76200" bIns="7620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금지 규칙</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상품명 없음+상품 섞임 → clarify</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같은 기법·질의 반복 금지</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상한 도달 → keep</a:t>
            </a:r>
            <a:endParaRPr lang="en-US" sz="1400" dirty="0"/>
          </a:p>
        </p:txBody>
      </p:sp>
      <p:sp>
        <p:nvSpPr>
          <p:cNvPr id="33" name="Shape 31"/>
          <p:cNvSpPr/>
          <p:nvPr/>
        </p:nvSpPr>
        <p:spPr>
          <a:xfrm flipV="1">
            <a:off x="6766560" y="4416552"/>
            <a:ext cx="502920" cy="841248"/>
          </a:xfrm>
          <a:prstGeom prst="line">
            <a:avLst/>
          </a:prstGeom>
          <a:noFill/>
          <a:ln w="19050">
            <a:solidFill>
              <a:srgbClr val="404155"/>
            </a:solidFill>
            <a:prstDash val="dash"/>
          </a:ln>
        </p:spPr>
      </p:sp>
      <p:sp>
        <p:nvSpPr>
          <p:cNvPr id="34" name="Text 32"/>
          <p:cNvSpPr/>
          <p:nvPr/>
        </p:nvSpPr>
        <p:spPr>
          <a:xfrm>
            <a:off x="9098280" y="2011680"/>
            <a:ext cx="5029200" cy="457200"/>
          </a:xfrm>
          <a:prstGeom prst="roundRect">
            <a:avLst>
              <a:gd name="adj" fmla="val 12000"/>
            </a:avLst>
          </a:prstGeom>
          <a:solidFill>
            <a:srgbClr val="2E74C6"/>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원인별 기법 가이드 (LLM 참고용)</a:t>
            </a:r>
            <a:endParaRPr lang="en-US" sz="2000" dirty="0"/>
          </a:p>
        </p:txBody>
      </p:sp>
      <p:sp>
        <p:nvSpPr>
          <p:cNvPr id="35" name="Text 33"/>
          <p:cNvSpPr/>
          <p:nvPr/>
        </p:nvSpPr>
        <p:spPr>
          <a:xfrm>
            <a:off x="9098280" y="2615184"/>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핵심어가 결과에 하나도 없음</a:t>
            </a:r>
            <a:endParaRPr lang="en-US" sz="1400" dirty="0"/>
          </a:p>
        </p:txBody>
      </p:sp>
      <p:sp>
        <p:nvSpPr>
          <p:cNvPr id="36" name="Shape 34"/>
          <p:cNvSpPr/>
          <p:nvPr/>
        </p:nvSpPr>
        <p:spPr>
          <a:xfrm>
            <a:off x="11878056" y="2926080"/>
            <a:ext cx="219456" cy="0"/>
          </a:xfrm>
          <a:prstGeom prst="line">
            <a:avLst/>
          </a:prstGeom>
          <a:noFill/>
          <a:ln w="19050">
            <a:solidFill>
              <a:srgbClr val="2E74C6"/>
            </a:solidFill>
            <a:prstDash val="solid"/>
            <a:tailEnd type="triangle"/>
          </a:ln>
        </p:spPr>
      </p:sp>
      <p:sp>
        <p:nvSpPr>
          <p:cNvPr id="37" name="Text 35"/>
          <p:cNvSpPr/>
          <p:nvPr/>
        </p:nvSpPr>
        <p:spPr>
          <a:xfrm>
            <a:off x="12115800" y="2651760"/>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Multi-Query · Rewriting</a:t>
            </a:r>
            <a:endParaRPr lang="en-US" sz="1400" dirty="0"/>
          </a:p>
        </p:txBody>
      </p:sp>
      <p:sp>
        <p:nvSpPr>
          <p:cNvPr id="38" name="Text 36"/>
          <p:cNvSpPr/>
          <p:nvPr/>
        </p:nvSpPr>
        <p:spPr>
          <a:xfrm>
            <a:off x="9098280" y="3346704"/>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핵심어가 결과에 있는데 점수가 상한 미달. 질문이 상대적으로 짧음</a:t>
            </a:r>
            <a:endParaRPr lang="en-US" sz="1400" dirty="0"/>
          </a:p>
        </p:txBody>
      </p:sp>
      <p:sp>
        <p:nvSpPr>
          <p:cNvPr id="39" name="Shape 37"/>
          <p:cNvSpPr/>
          <p:nvPr/>
        </p:nvSpPr>
        <p:spPr>
          <a:xfrm>
            <a:off x="11878056" y="3657600"/>
            <a:ext cx="219456" cy="0"/>
          </a:xfrm>
          <a:prstGeom prst="line">
            <a:avLst/>
          </a:prstGeom>
          <a:noFill/>
          <a:ln w="19050">
            <a:solidFill>
              <a:srgbClr val="2E74C6"/>
            </a:solidFill>
            <a:prstDash val="solid"/>
            <a:tailEnd type="triangle"/>
          </a:ln>
        </p:spPr>
      </p:sp>
      <p:sp>
        <p:nvSpPr>
          <p:cNvPr id="40" name="Text 38"/>
          <p:cNvSpPr/>
          <p:nvPr/>
        </p:nvSpPr>
        <p:spPr>
          <a:xfrm>
            <a:off x="12115800" y="3383280"/>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HyDE</a:t>
            </a:r>
            <a:endParaRPr lang="en-US" sz="1400" dirty="0"/>
          </a:p>
        </p:txBody>
      </p:sp>
      <p:sp>
        <p:nvSpPr>
          <p:cNvPr id="41" name="Text 39"/>
          <p:cNvSpPr/>
          <p:nvPr/>
        </p:nvSpPr>
        <p:spPr>
          <a:xfrm>
            <a:off x="9098280" y="4078224"/>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구체 사례를 묻는데 상위 주제 문서만 걸림</a:t>
            </a:r>
            <a:endParaRPr lang="en-US" sz="1400" dirty="0"/>
          </a:p>
        </p:txBody>
      </p:sp>
      <p:sp>
        <p:nvSpPr>
          <p:cNvPr id="42" name="Shape 40"/>
          <p:cNvSpPr/>
          <p:nvPr/>
        </p:nvSpPr>
        <p:spPr>
          <a:xfrm>
            <a:off x="11878056" y="4389120"/>
            <a:ext cx="219456" cy="0"/>
          </a:xfrm>
          <a:prstGeom prst="line">
            <a:avLst/>
          </a:prstGeom>
          <a:noFill/>
          <a:ln w="19050">
            <a:solidFill>
              <a:srgbClr val="2E74C6"/>
            </a:solidFill>
            <a:prstDash val="solid"/>
            <a:tailEnd type="triangle"/>
          </a:ln>
        </p:spPr>
      </p:sp>
      <p:sp>
        <p:nvSpPr>
          <p:cNvPr id="43" name="Text 41"/>
          <p:cNvSpPr/>
          <p:nvPr/>
        </p:nvSpPr>
        <p:spPr>
          <a:xfrm>
            <a:off x="12115800" y="4114800"/>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Step-Back</a:t>
            </a:r>
            <a:endParaRPr lang="en-US" sz="1400" dirty="0"/>
          </a:p>
        </p:txBody>
      </p:sp>
      <p:sp>
        <p:nvSpPr>
          <p:cNvPr id="44" name="Text 42"/>
          <p:cNvSpPr/>
          <p:nvPr/>
        </p:nvSpPr>
        <p:spPr>
          <a:xfrm>
            <a:off x="9098280" y="4809744"/>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1·2위 격차 작음(비슷한 상품 경쟁)</a:t>
            </a:r>
            <a:endParaRPr lang="en-US" sz="1400" dirty="0"/>
          </a:p>
        </p:txBody>
      </p:sp>
      <p:sp>
        <p:nvSpPr>
          <p:cNvPr id="45" name="Shape 43"/>
          <p:cNvSpPr/>
          <p:nvPr/>
        </p:nvSpPr>
        <p:spPr>
          <a:xfrm>
            <a:off x="11878056" y="5120640"/>
            <a:ext cx="219456" cy="0"/>
          </a:xfrm>
          <a:prstGeom prst="line">
            <a:avLst/>
          </a:prstGeom>
          <a:noFill/>
          <a:ln w="19050">
            <a:solidFill>
              <a:srgbClr val="2E74C6"/>
            </a:solidFill>
            <a:prstDash val="solid"/>
            <a:tailEnd type="triangle"/>
          </a:ln>
        </p:spPr>
      </p:sp>
      <p:sp>
        <p:nvSpPr>
          <p:cNvPr id="46" name="Text 44"/>
          <p:cNvSpPr/>
          <p:nvPr/>
        </p:nvSpPr>
        <p:spPr>
          <a:xfrm>
            <a:off x="12115800" y="4846320"/>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Rewriting</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(상품명 없으면 clarify)</a:t>
            </a:r>
            <a:endParaRPr lang="en-US" sz="1400" dirty="0"/>
          </a:p>
        </p:txBody>
      </p:sp>
      <p:sp>
        <p:nvSpPr>
          <p:cNvPr id="47" name="Text 45"/>
          <p:cNvSpPr/>
          <p:nvPr/>
        </p:nvSpPr>
        <p:spPr>
          <a:xfrm>
            <a:off x="9098280" y="5559552"/>
            <a:ext cx="5029200" cy="292608"/>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가이드는 참고용 — 맞지 않으면 다른 선택 + 이유 기록</a:t>
            </a:r>
            <a:endParaRPr lang="en-US" sz="1400" dirty="0"/>
          </a:p>
        </p:txBody>
      </p:sp>
      <p:sp>
        <p:nvSpPr>
          <p:cNvPr id="48" name="Shape 46"/>
          <p:cNvSpPr/>
          <p:nvPr/>
        </p:nvSpPr>
        <p:spPr>
          <a:xfrm>
            <a:off x="502920" y="5989320"/>
            <a:ext cx="3303270" cy="749808"/>
          </a:xfrm>
          <a:prstGeom prst="roundRect">
            <a:avLst>
              <a:gd name="adj" fmla="val 12195"/>
            </a:avLst>
          </a:prstGeom>
          <a:solidFill>
            <a:srgbClr val="F5F8FC"/>
          </a:solidFill>
          <a:ln w="12700">
            <a:solidFill>
              <a:srgbClr val="D9E0EC"/>
            </a:solidFill>
            <a:prstDash val="solid"/>
          </a:ln>
        </p:spPr>
      </p:sp>
      <p:sp>
        <p:nvSpPr>
          <p:cNvPr id="49" name="Text 47"/>
          <p:cNvSpPr/>
          <p:nvPr/>
        </p:nvSpPr>
        <p:spPr>
          <a:xfrm>
            <a:off x="612648" y="6208776"/>
            <a:ext cx="310896" cy="310896"/>
          </a:xfrm>
          <a:prstGeom prst="roundRect">
            <a:avLst>
              <a:gd name="adj" fmla="val 14706"/>
            </a:avLst>
          </a:prstGeom>
          <a:solidFill>
            <a:srgbClr val="404155"/>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50" name="Text 48"/>
          <p:cNvSpPr/>
          <p:nvPr/>
        </p:nvSpPr>
        <p:spPr>
          <a:xfrm>
            <a:off x="1005840" y="5989320"/>
            <a:ext cx="2736342" cy="749808"/>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권한 필터 후 결과만</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권한 밖 문서 조각 유출 방지</a:t>
            </a:r>
            <a:endParaRPr lang="en-US" sz="1400" dirty="0"/>
          </a:p>
        </p:txBody>
      </p:sp>
      <p:sp>
        <p:nvSpPr>
          <p:cNvPr id="51" name="Shape 49"/>
          <p:cNvSpPr/>
          <p:nvPr/>
        </p:nvSpPr>
        <p:spPr>
          <a:xfrm>
            <a:off x="3943350" y="5989320"/>
            <a:ext cx="3303270" cy="749808"/>
          </a:xfrm>
          <a:prstGeom prst="roundRect">
            <a:avLst>
              <a:gd name="adj" fmla="val 12195"/>
            </a:avLst>
          </a:prstGeom>
          <a:solidFill>
            <a:srgbClr val="F5F8FC"/>
          </a:solidFill>
          <a:ln w="12700">
            <a:solidFill>
              <a:srgbClr val="D9E0EC"/>
            </a:solidFill>
            <a:prstDash val="solid"/>
          </a:ln>
        </p:spPr>
      </p:sp>
      <p:sp>
        <p:nvSpPr>
          <p:cNvPr id="52" name="Text 50"/>
          <p:cNvSpPr/>
          <p:nvPr/>
        </p:nvSpPr>
        <p:spPr>
          <a:xfrm>
            <a:off x="4053078" y="6208776"/>
            <a:ext cx="310896" cy="310896"/>
          </a:xfrm>
          <a:prstGeom prst="roundRect">
            <a:avLst>
              <a:gd name="adj" fmla="val 14706"/>
            </a:avLst>
          </a:prstGeom>
          <a:solidFill>
            <a:srgbClr val="404155"/>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53" name="Text 51"/>
          <p:cNvSpPr/>
          <p:nvPr/>
        </p:nvSpPr>
        <p:spPr>
          <a:xfrm>
            <a:off x="4446270" y="5989320"/>
            <a:ext cx="2736342" cy="749808"/>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결과 조각은 데이터로</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XML 태그로 감싸 지시 차단</a:t>
            </a:r>
            <a:endParaRPr lang="en-US" sz="1400" dirty="0"/>
          </a:p>
        </p:txBody>
      </p:sp>
      <p:sp>
        <p:nvSpPr>
          <p:cNvPr id="54" name="Shape 52"/>
          <p:cNvSpPr/>
          <p:nvPr/>
        </p:nvSpPr>
        <p:spPr>
          <a:xfrm>
            <a:off x="7383780" y="5989320"/>
            <a:ext cx="3303270" cy="749808"/>
          </a:xfrm>
          <a:prstGeom prst="roundRect">
            <a:avLst>
              <a:gd name="adj" fmla="val 12195"/>
            </a:avLst>
          </a:prstGeom>
          <a:solidFill>
            <a:srgbClr val="F5F8FC"/>
          </a:solidFill>
          <a:ln w="12700">
            <a:solidFill>
              <a:srgbClr val="D9E0EC"/>
            </a:solidFill>
            <a:prstDash val="solid"/>
          </a:ln>
        </p:spPr>
      </p:sp>
      <p:sp>
        <p:nvSpPr>
          <p:cNvPr id="55" name="Text 53"/>
          <p:cNvSpPr/>
          <p:nvPr/>
        </p:nvSpPr>
        <p:spPr>
          <a:xfrm>
            <a:off x="7493508" y="6208776"/>
            <a:ext cx="310896" cy="310896"/>
          </a:xfrm>
          <a:prstGeom prst="roundRect">
            <a:avLst>
              <a:gd name="adj" fmla="val 14706"/>
            </a:avLst>
          </a:prstGeom>
          <a:solidFill>
            <a:srgbClr val="404155"/>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56" name="Text 54"/>
          <p:cNvSpPr/>
          <p:nvPr/>
        </p:nvSpPr>
        <p:spPr>
          <a:xfrm>
            <a:off x="7886700" y="5989320"/>
            <a:ext cx="2736342" cy="749808"/>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조각 수·길이 상한</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토큰·비용·지연 억제</a:t>
            </a:r>
            <a:endParaRPr lang="en-US" sz="1400" dirty="0"/>
          </a:p>
        </p:txBody>
      </p:sp>
      <p:sp>
        <p:nvSpPr>
          <p:cNvPr id="57" name="Shape 55"/>
          <p:cNvSpPr/>
          <p:nvPr/>
        </p:nvSpPr>
        <p:spPr>
          <a:xfrm>
            <a:off x="10824210" y="5989320"/>
            <a:ext cx="3303270" cy="749808"/>
          </a:xfrm>
          <a:prstGeom prst="roundRect">
            <a:avLst>
              <a:gd name="adj" fmla="val 12195"/>
            </a:avLst>
          </a:prstGeom>
          <a:solidFill>
            <a:srgbClr val="F5F8FC"/>
          </a:solidFill>
          <a:ln w="12700">
            <a:solidFill>
              <a:srgbClr val="D9E0EC"/>
            </a:solidFill>
            <a:prstDash val="solid"/>
          </a:ln>
        </p:spPr>
      </p:sp>
      <p:sp>
        <p:nvSpPr>
          <p:cNvPr id="58" name="Text 56"/>
          <p:cNvSpPr/>
          <p:nvPr/>
        </p:nvSpPr>
        <p:spPr>
          <a:xfrm>
            <a:off x="10933938" y="6208776"/>
            <a:ext cx="310896" cy="310896"/>
          </a:xfrm>
          <a:prstGeom prst="roundRect">
            <a:avLst>
              <a:gd name="adj" fmla="val 14706"/>
            </a:avLst>
          </a:prstGeom>
          <a:solidFill>
            <a:srgbClr val="404155"/>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59" name="Text 57"/>
          <p:cNvSpPr/>
          <p:nvPr/>
        </p:nvSpPr>
        <p:spPr>
          <a:xfrm>
            <a:off x="11327130" y="5989320"/>
            <a:ext cx="2736342" cy="749808"/>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원 질문 보존</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원 질문과 상관없는 변환 안되게 함</a:t>
            </a:r>
            <a:endParaRPr lang="en-US" sz="1400" dirty="0"/>
          </a:p>
        </p:txBody>
      </p:sp>
      <p:sp>
        <p:nvSpPr>
          <p:cNvPr id="60" name="Shape 58"/>
          <p:cNvSpPr/>
          <p:nvPr/>
        </p:nvSpPr>
        <p:spPr>
          <a:xfrm>
            <a:off x="502920" y="6821424"/>
            <a:ext cx="64008" cy="384048"/>
          </a:xfrm>
          <a:prstGeom prst="rect">
            <a:avLst/>
          </a:prstGeom>
          <a:solidFill>
            <a:srgbClr val="2E74C6"/>
          </a:solidFill>
          <a:ln/>
        </p:spPr>
      </p:sp>
      <p:sp>
        <p:nvSpPr>
          <p:cNvPr id="61" name="Text 59"/>
          <p:cNvSpPr/>
          <p:nvPr/>
        </p:nvSpPr>
        <p:spPr>
          <a:xfrm>
            <a:off x="685800" y="6821424"/>
            <a:ext cx="13441680" cy="384048"/>
          </a:xfrm>
          <a:prstGeom prst="rect">
            <a:avLst/>
          </a:prstGeom>
          <a:noFill/>
          <a:ln/>
        </p:spPr>
        <p:txBody>
          <a:bodyPr wrap="square" lIns="0" tIns="0" rIns="0" bIns="0" rtlCol="0" anchor="ctr"/>
          <a:lstStyle/>
          <a:p>
            <a:pPr indent="0" marL="0">
              <a:buNone/>
            </a:pPr>
            <a:r>
              <a:rPr lang="en-US" sz="1900" b="1" i="1" dirty="0">
                <a:solidFill>
                  <a:srgbClr val="1E2A5C"/>
                </a:solidFill>
                <a:latin typeface="Pretendard" pitchFamily="34" charset="0"/>
                <a:ea typeface="Pretendard" pitchFamily="34" charset="-122"/>
                <a:cs typeface="Pretendard" pitchFamily="34" charset="-120"/>
              </a:rPr>
              <a:t>코드는 사실을 계산하고, LLM이 고르고, 규칙은 금지만 함</a:t>
            </a:r>
            <a:endParaRPr lang="en-US" sz="1900" dirty="0"/>
          </a:p>
        </p:txBody>
      </p:sp>
      <p:sp>
        <p:nvSpPr>
          <p:cNvPr id="62" name="Text 60"/>
          <p:cNvSpPr/>
          <p:nvPr/>
        </p:nvSpPr>
        <p:spPr>
          <a:xfrm>
            <a:off x="502920" y="7296912"/>
            <a:ext cx="13624560" cy="365760"/>
          </a:xfrm>
          <a:prstGeom prst="rect">
            <a:avLst/>
          </a:prstGeom>
          <a:noFill/>
          <a:ln/>
        </p:spPr>
        <p:txBody>
          <a:bodyPr wrap="square" rtlCol="0" anchor="ctr"/>
          <a:lstStyle/>
          <a:p>
            <a:pPr indent="0" marL="0">
              <a:buNone/>
            </a:pPr>
            <a:r>
              <a:rPr lang="en-US" sz="1400" b="1" dirty="0">
                <a:solidFill>
                  <a:srgbClr val="7C8598"/>
                </a:solidFill>
                <a:latin typeface="Pretendard" pitchFamily="34" charset="0"/>
                <a:ea typeface="Pretendard" pitchFamily="34" charset="-122"/>
                <a:cs typeface="Pretendard" pitchFamily="34" charset="-120"/>
              </a:rPr>
              <a:t>출처  </a:t>
            </a:r>
            <a:pPr indent="0" marL="0">
              <a:buNone/>
            </a:pPr>
            <a:r>
              <a:rPr lang="en-US" sz="1400" u="sng" dirty="0">
                <a:solidFill>
                  <a:srgbClr val="7C859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교재 「10. RAG」 5.5 Router</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u="sng" dirty="0">
                <a:solidFill>
                  <a:srgbClr val="7C8598"/>
                </a:solidFill>
                <a:latin typeface="Pretendard" pitchFamily="34" charset="0"/>
                <a:ea typeface="Pretendard" pitchFamily="34" charset="-122"/>
                <a:cs typeface="Pretendard"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LangGraph Agentic RAG</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u="sng" dirty="0">
                <a:solidFill>
                  <a:srgbClr val="7C8598"/>
                </a:solidFill>
                <a:latin typeface="Pretendard" pitchFamily="34" charset="0"/>
                <a:ea typeface="Pretendard" pitchFamily="34" charset="-122"/>
                <a:cs typeface="Pretendard" pitchFamily="34" charset="-120"/>
                <a:hlinkClick r:id="rId3" invalidUrl="" action="" tgtFrame="" tooltip="" history="1" highlightClick="0" endSnd="0">
                  <a:extLst>
                    <a:ext uri="{A12FA001-AC4F-418D-AE19-62706E023703}">
                      <ahyp:hlinkClr xmlns:ahyp="http://schemas.microsoft.com/office/drawing/2018/hyperlinkcolor" val="tx"/>
                    </a:ext>
                  </a:extLst>
                </a:hlinkClick>
              </a:rPr>
              <a:t>CRAG, Yan et al.(2024)</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역할 분담: 세 패턴 결합 워크플로우 기준 설계안(현재 소스 기준 아님)</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불확실 판정 시 LLM이 기법 선택</dc:title>
  <dc:subject>PptxGenJS Presentation</dc:subject>
  <dc:creator>PptxGenJS</dc:creator>
  <cp:lastModifiedBy>PptxGenJS</cp:lastModifiedBy>
  <cp:revision>1</cp:revision>
  <dcterms:created xsi:type="dcterms:W3CDTF">2026-10-02T13:37:12Z</dcterms:created>
  <dcterms:modified xsi:type="dcterms:W3CDTF">2026-10-02T13:37:12Z</dcterms:modified>
</cp:coreProperties>
</file>