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장은 4기법을 외우게 하는 장이 아니라 "1차 검색과 LLM 사이에 손질 구간이 하나 더 있다"는 지도만
주는 장임. 상단 띠에서 점선 상자가 비어 있다가 하단 4블록으로 채워지는 구조로 읽히게 설명함.  
Fusion은 이미 Hybrid 검색에서 겪은 개념임. Vector와 BM25 결과를 합치던 그 동작이 4기법 중
하나였다고 짚어 주면 연결이 쉬움. RRF는 "순위가 앞설수록 큰 점수를 주고, 여러 검색에서 모두 뽑힌
문서가 유리해지는 계산" 정도로만 풀고 깊이 들어가지 않음.  
Re-ranking은 1차 검색 후보 중 관련성 높은 문서를 위로 올려 LLM에 넘길 근거를 정하는 단계임.
블록 1 강조 테두리를 가리키며 다음 장(원리)으로 넘어감.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좌우 구조도의 차이는 딱 하나임. 좌측은 질문 상자와 문서 상자가 떨어져 있고, 우측은 한 상자에 들어가
있음. 손가락으로 그 차이만 짚어 주면 나머지는 저절로 따라옴.  
Cross-Encoder가 느린 이유는 질문과 문서를 붙여 매번 새로 계산하기 때문임. 그래서 수천 · 수백만 쌍을
모두 점수 매기는 건 비현실적이고, 1차 검색이 걸러 준 후보에만 쓰는 구조가 나옴. "처음부터
Cross-Encoder만 쓰면 되지 않느냐"는 질문이 거의 매번 나오므로 이 대목에서 먼저 답해 둠.  
하단 깔때기에서 폭이 줄어드는 모양 자체가 메시지임. 넓게 가져오면 1차 검색이 놓칠 뻔한 문서를 건져
recall과 precision을 함께 올릴 수 있음.  
비유는 집 찾기 하나만 쓰고 더 늘리지 않음. 비유가 많아지면 교육생이 개념 대신 비유를 외움.
INITIAL_K · RERANK_K 권장값은 교재 기준이며, 다음 장 프로젝트 값과 다를 수 있다고 미리 알림.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상단 깔때기의 막대 폭 자체가 메시지임. 숫자를 읽어 주기보다 "넓은 데서 좁은 데로 간다"를 눈으로 보게
하고, 각 단계 아래 부품 카드로 "그 좁히기를 누가 하느냐"를 연결함.  
앞 장의 교재 권장값(INITIAL_K 50 ~ 100)과 이 프로젝트의 40건은 다름. 40건은 프로젝트 설정값
(Top-K 5 × 2 × CANDIDATE_MULTIPLIER 4)에서 계산된 값이며, 숫자를 정답처럼 말하지 않음.  
하단 좌측 도식에서 중요한 지점은 ① 질문과 청크가 한 쌍으로 묶여 들어간다 ② 결과가 0 ~ 1 점수다
③ 정렬에 동점 처리 규칙이 있다, 세 가지임. 동점 규칙이 있어야 같은 질문에 같은 순서가 나옴.  
하단 우측 분기가 이 장의 숨은 핵심임. 모델 적재·호출은 실패할 수 있으므로, 실패해도 결과를
돌려주는 대체 경로가 설계에 들어 있어야 한다는 점을 강조함.  
질문 변환을 쓰는 경우에는 정상 경로에서도 원 질문과 변환 질문을 각각 리랭킹한 뒤 가중 RRF로 병합함.
분기 도식의 아래쪽 가지와 모양이 비슷하지만 실패 경로와는 다른 흐름이라는 점만 구두로 구분해 줌.  
`RERANK_MAX_LENGTH 512`는 긴 청크를 잘라 점수를 매긴다는 뜻이므로 청킹 크기와 맞물림. 설정 카드는
읽고 넘기되 이 한 줄만 덧붙임. 실측 지연 · 품질 수치는 이 장에서 다루지 않고 별도 평가 세션에서 진행함.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 › Post-Retrieval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뒤 한 번 더 고르기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4416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검색 후보를 다시 평가해 LLM에 넘길 근거를 추림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7699248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54112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aistudy 교재 10.RAG.md §4.3 Post-Retrieval — github.com/cna-bootcamp/aistudy/blob/main/agentic-ai/textbook/10.RAG.md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87400" y="7754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574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31720" y="2537460"/>
            <a:ext cx="685800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593592" y="2057400"/>
            <a:ext cx="1828800" cy="777240"/>
          </a:xfrm>
          <a:prstGeom prst="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3864" y="2103120"/>
            <a:ext cx="1828800" cy="777240"/>
          </a:xfrm>
          <a:prstGeom prst="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74136" y="2148840"/>
            <a:ext cx="1828800" cy="777240"/>
          </a:xfrm>
          <a:prstGeom prst="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64408" y="2194560"/>
            <a:ext cx="1828800" cy="777240"/>
          </a:xfrm>
          <a:prstGeom prst="rect">
            <a:avLst>
              <a:gd name="adj" fmla="val 9412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2240280"/>
            <a:ext cx="1828800" cy="777240"/>
          </a:xfrm>
          <a:prstGeom prst="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22402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검색</a:t>
            </a:r>
            <a:endParaRPr lang="en-US" sz="1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다수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77840" y="2537460"/>
            <a:ext cx="1005840" cy="914"/>
          </a:xfrm>
          <a:prstGeom prst="line">
            <a:avLst/>
          </a:prstGeom>
          <a:noFill/>
          <a:ln w="381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6720840" y="2057400"/>
            <a:ext cx="4206240" cy="960120"/>
          </a:xfrm>
          <a:prstGeom prst="roundRect">
            <a:avLst>
              <a:gd name="adj" fmla="val 7619"/>
            </a:avLst>
          </a:prstGeom>
          <a:solidFill>
            <a:srgbClr val="EEF3FA"/>
          </a:solidFill>
          <a:ln w="25400">
            <a:solidFill>
              <a:srgbClr val="2E74C6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Post-Retrieval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다룰 구간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018520" y="2537460"/>
            <a:ext cx="1005840" cy="914"/>
          </a:xfrm>
          <a:prstGeom prst="line">
            <a:avLst/>
          </a:prstGeom>
          <a:noFill/>
          <a:ln w="254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10972800" y="17647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추린 근거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176479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다수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115800" y="2057400"/>
            <a:ext cx="2011680" cy="960120"/>
          </a:xfrm>
          <a:prstGeom prst="roundRect">
            <a:avLst>
              <a:gd name="adj" fmla="val 7619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 flipH="1">
            <a:off x="502920" y="3017520"/>
            <a:ext cx="6217920" cy="594360"/>
          </a:xfrm>
          <a:prstGeom prst="line">
            <a:avLst/>
          </a:prstGeom>
          <a:noFill/>
          <a:ln w="12700">
            <a:solidFill>
              <a:srgbClr val="2E74C6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10927080" y="3017520"/>
            <a:ext cx="3200400" cy="594360"/>
          </a:xfrm>
          <a:prstGeom prst="line">
            <a:avLst/>
          </a:prstGeom>
          <a:noFill/>
          <a:ln w="12700">
            <a:solidFill>
              <a:srgbClr val="2E74C6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02920" y="3611880"/>
            <a:ext cx="13624560" cy="3931920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19050">
            <a:solidFill>
              <a:srgbClr val="2E74C6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77240" y="3931920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EEF3FA"/>
          </a:solidFill>
          <a:ln w="38100">
            <a:solidFill>
              <a:srgbClr val="2E74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5623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재정렬 Re-ranking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7240" y="60533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높은 문서를 위로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6510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검색 후보의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순서를 다시 매김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33088" y="3931920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33088" y="5623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압축 Compression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133088" y="60533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절감 · 노이즈 제거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224528" y="6510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 관련 문장만 추출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LLM으로 요약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488936" y="3931920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88936" y="5623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걸러내기 Filtering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7488936" y="60533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 없는 문서 제거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580376" y="6510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임계값 · 메타데이터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중복 · 길이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844784" y="3931920"/>
            <a:ext cx="3108960" cy="3337560"/>
          </a:xfrm>
          <a:prstGeom prst="roundRect">
            <a:avLst>
              <a:gd name="adj" fmla="val 2353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44784" y="56235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합치기 Fusion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10844784" y="60533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검색 결과 병합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36224" y="651052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= Σ 1 / (k + 순위)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k는 보통 60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60120" y="374904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이번 장 중점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97280" y="420624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C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1097280" y="4608576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A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097280" y="5010912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E74C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B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103120" y="4773168"/>
            <a:ext cx="457200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2651760" y="4206240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A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651760" y="4608576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2E74C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B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2651760" y="5010912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C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498848" y="4206240"/>
            <a:ext cx="1097280" cy="1188720"/>
          </a:xfrm>
          <a:prstGeom prst="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636008" y="4370832"/>
            <a:ext cx="685800" cy="64008"/>
          </a:xfrm>
          <a:prstGeom prst="rect">
            <a:avLst>
              <a:gd name="adj" fmla="val 114286"/>
            </a:avLst>
          </a:prstGeom>
          <a:solidFill>
            <a:srgbClr val="D9E0EC"/>
          </a:solidFill>
          <a:ln/>
        </p:spPr>
      </p:sp>
      <p:sp>
        <p:nvSpPr>
          <p:cNvPr id="53" name="Shape 51"/>
          <p:cNvSpPr/>
          <p:nvPr/>
        </p:nvSpPr>
        <p:spPr>
          <a:xfrm>
            <a:off x="4636008" y="4572000"/>
            <a:ext cx="685800" cy="64008"/>
          </a:xfrm>
          <a:prstGeom prst="rect">
            <a:avLst>
              <a:gd name="adj" fmla="val 114286"/>
            </a:avLst>
          </a:prstGeom>
          <a:solidFill>
            <a:srgbClr val="D9E0EC"/>
          </a:solidFill>
          <a:ln/>
        </p:spPr>
      </p:sp>
      <p:sp>
        <p:nvSpPr>
          <p:cNvPr id="54" name="Shape 52"/>
          <p:cNvSpPr/>
          <p:nvPr/>
        </p:nvSpPr>
        <p:spPr>
          <a:xfrm>
            <a:off x="4636008" y="4773168"/>
            <a:ext cx="822960" cy="64008"/>
          </a:xfrm>
          <a:prstGeom prst="rect">
            <a:avLst>
              <a:gd name="adj" fmla="val 114286"/>
            </a:avLst>
          </a:prstGeom>
          <a:solidFill>
            <a:srgbClr val="2E74C6"/>
          </a:solidFill>
          <a:ln/>
        </p:spPr>
      </p:sp>
      <p:sp>
        <p:nvSpPr>
          <p:cNvPr id="55" name="Shape 53"/>
          <p:cNvSpPr/>
          <p:nvPr/>
        </p:nvSpPr>
        <p:spPr>
          <a:xfrm>
            <a:off x="4636008" y="4974336"/>
            <a:ext cx="685800" cy="64008"/>
          </a:xfrm>
          <a:prstGeom prst="rect">
            <a:avLst>
              <a:gd name="adj" fmla="val 114286"/>
            </a:avLst>
          </a:prstGeom>
          <a:solidFill>
            <a:srgbClr val="D9E0EC"/>
          </a:solidFill>
          <a:ln/>
        </p:spPr>
      </p:sp>
      <p:sp>
        <p:nvSpPr>
          <p:cNvPr id="56" name="Shape 54"/>
          <p:cNvSpPr/>
          <p:nvPr/>
        </p:nvSpPr>
        <p:spPr>
          <a:xfrm>
            <a:off x="4636008" y="5175504"/>
            <a:ext cx="685800" cy="64008"/>
          </a:xfrm>
          <a:prstGeom prst="rect">
            <a:avLst>
              <a:gd name="adj" fmla="val 114286"/>
            </a:avLst>
          </a:prstGeom>
          <a:solidFill>
            <a:srgbClr val="D9E0EC"/>
          </a:solidFill>
          <a:ln/>
        </p:spPr>
      </p:sp>
      <p:sp>
        <p:nvSpPr>
          <p:cNvPr id="57" name="Shape 55"/>
          <p:cNvSpPr/>
          <p:nvPr/>
        </p:nvSpPr>
        <p:spPr>
          <a:xfrm>
            <a:off x="5687568" y="4800600"/>
            <a:ext cx="411480" cy="914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6190488" y="4526280"/>
            <a:ext cx="73152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1E2A5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81928" y="4773168"/>
            <a:ext cx="548640" cy="64008"/>
          </a:xfrm>
          <a:prstGeom prst="rect">
            <a:avLst>
              <a:gd name="adj" fmla="val 114286"/>
            </a:avLst>
          </a:prstGeom>
          <a:solidFill>
            <a:srgbClr val="2E74C6"/>
          </a:solidFill>
          <a:ln/>
        </p:spPr>
      </p:sp>
      <p:sp>
        <p:nvSpPr>
          <p:cNvPr id="60" name="Shape 58"/>
          <p:cNvSpPr/>
          <p:nvPr/>
        </p:nvSpPr>
        <p:spPr>
          <a:xfrm>
            <a:off x="7900416" y="4434840"/>
            <a:ext cx="594360" cy="77724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23376" y="4434840"/>
            <a:ext cx="594360" cy="77724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2E74C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46336" y="4434840"/>
            <a:ext cx="594360" cy="77724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 w="15875">
            <a:solidFill>
              <a:srgbClr val="7C859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482328" y="4279392"/>
            <a:ext cx="1097280" cy="1097280"/>
          </a:xfrm>
          <a:prstGeom prst="ellipse">
            <a:avLst/>
          </a:prstGeom>
          <a:ln w="38100">
            <a:solidFill>
              <a:srgbClr val="40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646920" y="4443984"/>
            <a:ext cx="768096" cy="768096"/>
          </a:xfrm>
          <a:prstGeom prst="line">
            <a:avLst/>
          </a:prstGeom>
          <a:noFill/>
          <a:ln w="38100">
            <a:solidFill>
              <a:srgbClr val="4041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73384" y="425196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E2A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A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1073384" y="4983480"/>
            <a:ext cx="960120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2700">
            <a:solidFill>
              <a:srgbClr val="1E2A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B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12033504" y="4443984"/>
            <a:ext cx="502920" cy="36576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2033504" y="4809744"/>
            <a:ext cx="502920" cy="365760"/>
          </a:xfrm>
          <a:prstGeom prst="line">
            <a:avLst/>
          </a:prstGeom>
          <a:noFill/>
          <a:ln w="25400">
            <a:solidFill>
              <a:srgbClr val="1E2A5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2536424" y="4809744"/>
            <a:ext cx="274320" cy="914"/>
          </a:xfrm>
          <a:prstGeom prst="line">
            <a:avLst/>
          </a:prstGeom>
          <a:noFill/>
          <a:ln w="31750">
            <a:solidFill>
              <a:srgbClr val="1E2A5C"/>
            </a:solidFill>
            <a:prstDash val="solid"/>
            <a:tailEnd type="triangle"/>
          </a:ln>
        </p:spPr>
      </p:sp>
      <p:sp>
        <p:nvSpPr>
          <p:cNvPr id="70" name="Text 68"/>
          <p:cNvSpPr/>
          <p:nvPr/>
        </p:nvSpPr>
        <p:spPr>
          <a:xfrm>
            <a:off x="12856464" y="4553712"/>
            <a:ext cx="914400" cy="512064"/>
          </a:xfrm>
          <a:prstGeom prst="roundRect">
            <a:avLst>
              <a:gd name="adj" fmla="val 1428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목록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 › Post-Retrieval › Re-ranking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넓게 뽑고 정밀하게 다시 줄 세우기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4416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빠른 모델로 후보를 모으고, 정확한 모델로 최종 순서를 정함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7699248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54112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aistudy 교재 10.RAG.md §4.3 · huggingface.co/BAAI/bge-reranker-v2-m3 · sbert.net Retrieve &amp; Re-Rank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87400" y="7754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01168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Bi-Encoder · 1차 검색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6583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7432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011680" y="3017520"/>
            <a:ext cx="365760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2423160" y="2743200"/>
            <a:ext cx="1188720" cy="548640"/>
          </a:xfrm>
          <a:prstGeom prst="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인코더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657600" y="3017520"/>
            <a:ext cx="365760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69080" y="27432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7033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5F8FC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011680" y="3977640"/>
            <a:ext cx="365760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423160" y="3703320"/>
            <a:ext cx="1188720" cy="548640"/>
          </a:xfrm>
          <a:prstGeom prst="rect">
            <a:avLst>
              <a:gd name="adj" fmla="val 13333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인코더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57600" y="3977640"/>
            <a:ext cx="365760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069080" y="37033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벡터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754880" y="3328416"/>
            <a:ext cx="0" cy="338328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headEnd type="triangl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89204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유사도 비교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23560" y="3794760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계산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4074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따로 계산 · 문서 벡터는 미리 저장  →  빠름, 대신 거침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543800" y="2011680"/>
            <a:ext cx="6583680" cy="457200"/>
          </a:xfrm>
          <a:prstGeom prst="roundRect">
            <a:avLst>
              <a:gd name="adj" fmla="val 12000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Cross-Encoder · Re-ranking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7543800" y="2514600"/>
            <a:ext cx="6583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18120" y="2651760"/>
            <a:ext cx="1737360" cy="1691640"/>
          </a:xfrm>
          <a:prstGeom prst="roundRect">
            <a:avLst>
              <a:gd name="adj" fmla="val 4324"/>
            </a:avLst>
          </a:prstGeom>
          <a:solidFill>
            <a:srgbClr val="EEF3FA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18120" y="26974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상자에 함께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01000" y="306324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01000" y="36576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601200" y="3493008"/>
            <a:ext cx="457200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0104120" y="2926080"/>
            <a:ext cx="1280160" cy="1143000"/>
          </a:xfrm>
          <a:prstGeom prst="rect">
            <a:avLst>
              <a:gd name="adj" fmla="val 6400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인코더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30000" y="3493008"/>
            <a:ext cx="457200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1978640" y="2834640"/>
            <a:ext cx="1325880" cy="132588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0.98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11475720" y="4187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관련성 점수(0 ~ 1) 예시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818120" y="4407408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쌍마다 새로 계산 · 낱말 간 상호작용 분석  →  느림, 대신 정확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114800" y="4956048"/>
            <a:ext cx="6400800" cy="384048"/>
          </a:xfrm>
          <a:prstGeom prst="roundRect">
            <a:avLst>
              <a:gd name="adj" fmla="val 50000"/>
            </a:avLst>
          </a:prstGeom>
          <a:solidFill>
            <a:srgbClr val="EEF3FA"/>
          </a:solidFill>
          <a:ln w="12700">
            <a:solidFill>
              <a:srgbClr val="C3CEE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비유: 사진으로 집 고르기  ↔  직접 방문해 확인하기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02920" y="58521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664208" y="6172200"/>
            <a:ext cx="512064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2240280" y="5513832"/>
            <a:ext cx="2514600" cy="1316736"/>
          </a:xfrm>
          <a:prstGeom prst="rect">
            <a:avLst>
              <a:gd name="adj" fmla="val 5556"/>
            </a:avLst>
          </a:prstGeom>
          <a:solidFill>
            <a:srgbClr val="F5F8FC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검색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50 ~ 100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818888" y="6172200"/>
            <a:ext cx="484632" cy="914"/>
          </a:xfrm>
          <a:prstGeom prst="line">
            <a:avLst/>
          </a:prstGeom>
          <a:noFill/>
          <a:ln w="381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5367528" y="5696712"/>
            <a:ext cx="2194560" cy="950976"/>
          </a:xfrm>
          <a:prstGeom prst="rect">
            <a:avLst>
              <a:gd name="adj" fmla="val 7692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Re-ranking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Cross-Encoder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626096" y="6172200"/>
            <a:ext cx="484632" cy="914"/>
          </a:xfrm>
          <a:prstGeom prst="line">
            <a:avLst/>
          </a:prstGeom>
          <a:noFill/>
          <a:ln w="3810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8174736" y="5824728"/>
            <a:ext cx="1517904" cy="694944"/>
          </a:xfrm>
          <a:prstGeom prst="rect">
            <a:avLst>
              <a:gd name="adj" fmla="val 10526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Top 3 ~ 5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LLM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240280" y="68580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INITIAL_K · 넓게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863840" y="655624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RERANK_K · 좁게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502920" y="7205472"/>
            <a:ext cx="64008" cy="384048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" y="7205472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i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INITIAL_K를 올려도 LLM에는 RERANK_K개만 전달  →  토큰 비용 그대로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104120" y="54406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선택 예 (교재 기준)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0104120" y="5833872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195560" y="5916168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다국어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11109960" y="5833872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BAAI/bge-reranker-v2-m3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0104120" y="6437376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195560" y="6519672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11109960" y="6437376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dragonkue/bge-reranker-v2-m3-ko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10104120" y="7040880"/>
            <a:ext cx="4023360" cy="512064"/>
          </a:xfrm>
          <a:prstGeom prst="roundRect">
            <a:avLst>
              <a:gd name="adj" fmla="val 14286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0195560" y="7123176"/>
            <a:ext cx="822960" cy="347472"/>
          </a:xfrm>
          <a:prstGeom prst="roundRect">
            <a:avLst>
              <a:gd name="adj" fmla="val 13158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11109960" y="7040880"/>
            <a:ext cx="2971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Cohere rerank · Jina reranker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RAG 검색 › Post-Retrieval › 프로젝트 적용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3624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우리 프로젝트의 리랭킹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502920" y="1344168"/>
            <a:ext cx="13624560" cy="36576"/>
          </a:xfrm>
          <a:prstGeom prst="rect">
            <a:avLst/>
          </a:prstGeom>
          <a:solidFill>
            <a:srgbClr val="D9E0EC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344168"/>
            <a:ext cx="1920240" cy="36576"/>
          </a:xfrm>
          <a:prstGeom prst="rect">
            <a:avLst/>
          </a:prstGeom>
          <a:solidFill>
            <a:srgbClr val="2E74C6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1362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hybrid-ai-lab vector-retriever · 기본 모드 hybrid_rerank의 후보 축소 단계와 실패 대비 경로 (최종 Top-K 5 기준)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7699248"/>
            <a:ext cx="13624560" cy="0"/>
          </a:xfrm>
          <a:prstGeom prst="line">
            <a:avLst/>
          </a:prstGeom>
          <a:noFill/>
          <a:ln w="12700">
            <a:solidFill>
              <a:srgbClr val="E9EC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754112"/>
            <a:ext cx="1271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출처: hybrid-ai-lab/retriever/vector-retriever — README.md · app/infrastructure/graph.py · reranker.py · settings.py · app/application/scoring.py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487400" y="7754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194560"/>
            <a:ext cx="2743200" cy="1371600"/>
          </a:xfrm>
          <a:prstGeom prst="rect">
            <a:avLst>
              <a:gd name="adj" fmla="val 5333"/>
            </a:avLst>
          </a:prstGeom>
          <a:solidFill>
            <a:srgbClr val="F5F8FC"/>
          </a:solidFill>
          <a:ln w="1905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40건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검색기별 원시 후보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874520" y="3566160"/>
            <a:ext cx="0" cy="320040"/>
          </a:xfrm>
          <a:prstGeom prst="line">
            <a:avLst/>
          </a:prstGeom>
          <a:noFill/>
          <a:ln w="15875">
            <a:solidFill>
              <a:srgbClr val="D9E0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886200"/>
            <a:ext cx="27432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 검색 + BM25 검색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00984" y="2880360"/>
            <a:ext cx="256032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611880" y="2354580"/>
            <a:ext cx="2194560" cy="1051560"/>
          </a:xfrm>
          <a:prstGeom prst="rect">
            <a:avLst>
              <a:gd name="adj" fmla="val 6957"/>
            </a:avLst>
          </a:prstGeom>
          <a:solidFill>
            <a:srgbClr val="EEF3FA"/>
          </a:solidFill>
          <a:ln w="19050">
            <a:solidFill>
              <a:srgbClr val="2E74C6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10건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질문별 융합 후보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09160" y="3406140"/>
            <a:ext cx="0" cy="480060"/>
          </a:xfrm>
          <a:prstGeom prst="line">
            <a:avLst/>
          </a:prstGeom>
          <a:noFill/>
          <a:ln w="15875">
            <a:solidFill>
              <a:srgbClr val="D9E0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88620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가중 융합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Vector 0.6 + BM25 0.4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61304" y="2880360"/>
            <a:ext cx="256032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6172200" y="2478024"/>
            <a:ext cx="1737360" cy="804672"/>
          </a:xfrm>
          <a:prstGeom prst="rect">
            <a:avLst>
              <a:gd name="adj" fmla="val 9091"/>
            </a:avLst>
          </a:prstGeom>
          <a:solidFill>
            <a:srgbClr val="2E74C6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5건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Rerank 결과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3282696"/>
            <a:ext cx="0" cy="603504"/>
          </a:xfrm>
          <a:prstGeom prst="line">
            <a:avLst/>
          </a:prstGeom>
          <a:noFill/>
          <a:ln w="15875">
            <a:solidFill>
              <a:srgbClr val="D9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88620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CrossEncoder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bge-reranker-v2-m3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964424" y="2880360"/>
            <a:ext cx="256032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275320" y="2478024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1E2A5C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근거로 사용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02920" y="4681728"/>
            <a:ext cx="9509760" cy="457200"/>
          </a:xfrm>
          <a:prstGeom prst="roundRect">
            <a:avLst>
              <a:gd name="adj" fmla="val 16000"/>
            </a:avLst>
          </a:prstGeom>
          <a:solidFill>
            <a:srgbClr val="F5F8FC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727448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2E74C6"/>
          </a:solidFill>
          <a:ln w="12700">
            <a:solidFill>
              <a:srgbClr val="2E74C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hybrid_rerank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377440" y="46817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 → 10 → 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794760" y="472744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hybrid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937760" y="46817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→ 5 → 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63640" y="4681728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rerank 모드: 융합 = Top-K × 2, 원시 = 융합 × 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241280" y="196596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설정값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0" y="2395728"/>
          <a:ext cx="38862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설정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E2A5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기본값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E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RERANK_MODEL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bge-reranker-v2-m3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RERANK_MAX_LENGTH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512 토큰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TIMEOUT_RERANK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60초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TOP_K_DEFAULT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8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CANDIDATE_MULTIPLIER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3242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4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DF0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10241280" y="46817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최초 사용 시 모델 약 2.2GB 내려받기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02920" y="5349240"/>
            <a:ext cx="8046720" cy="411480"/>
          </a:xfrm>
          <a:prstGeom prst="roundRect">
            <a:avLst>
              <a:gd name="adj" fmla="val 13333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리랭커 내부 동작 · 모델은 처음 쓸 때 적재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502920" y="5806440"/>
            <a:ext cx="80467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" y="5943600"/>
            <a:ext cx="1874520" cy="1188720"/>
          </a:xfrm>
          <a:prstGeom prst="roundRect">
            <a:avLst>
              <a:gd name="adj" fmla="val 6154"/>
            </a:avLst>
          </a:prstGeom>
          <a:solidFill>
            <a:srgbClr val="EEF3FA"/>
          </a:solidFill>
          <a:ln w="25400">
            <a:solidFill>
              <a:srgbClr val="2E74C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" y="597103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쌍으로 묶음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22960" y="6272784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822960" y="6693408"/>
            <a:ext cx="160020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청크 본문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2624328" y="6537960"/>
            <a:ext cx="438912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39" name="Text 36"/>
          <p:cNvSpPr/>
          <p:nvPr/>
        </p:nvSpPr>
        <p:spPr>
          <a:xfrm>
            <a:off x="3127248" y="6080760"/>
            <a:ext cx="1691640" cy="914400"/>
          </a:xfrm>
          <a:prstGeom prst="rect">
            <a:avLst>
              <a:gd name="adj" fmla="val 8000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CrossEncoder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predict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4882896" y="6537960"/>
            <a:ext cx="420624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1" name="Text 38"/>
          <p:cNvSpPr/>
          <p:nvPr/>
        </p:nvSpPr>
        <p:spPr>
          <a:xfrm>
            <a:off x="5367528" y="6035040"/>
            <a:ext cx="1097280" cy="1005840"/>
          </a:xfrm>
          <a:prstGeom prst="ellipse">
            <a:avLst/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Sigmoid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 ~ 1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519672" y="6537960"/>
            <a:ext cx="384048" cy="914"/>
          </a:xfrm>
          <a:prstGeom prst="line">
            <a:avLst/>
          </a:prstGeom>
          <a:noFill/>
          <a:ln w="31750">
            <a:solidFill>
              <a:srgbClr val="2E74C6"/>
            </a:solidFill>
            <a:prstDash val="solid"/>
            <a:tailEnd type="triangle"/>
          </a:ln>
        </p:spPr>
      </p:sp>
      <p:sp>
        <p:nvSpPr>
          <p:cNvPr id="43" name="Shape 40"/>
          <p:cNvSpPr/>
          <p:nvPr/>
        </p:nvSpPr>
        <p:spPr>
          <a:xfrm>
            <a:off x="7022592" y="5943600"/>
            <a:ext cx="365760" cy="914400"/>
          </a:xfrm>
          <a:prstGeom prst="rect">
            <a:avLst>
              <a:gd name="adj" fmla="val 20000"/>
            </a:avLst>
          </a:prstGeom>
          <a:solidFill>
            <a:srgbClr val="2E74C6"/>
          </a:solidFill>
          <a:ln/>
        </p:spPr>
      </p:sp>
      <p:sp>
        <p:nvSpPr>
          <p:cNvPr id="44" name="Text 41"/>
          <p:cNvSpPr/>
          <p:nvPr/>
        </p:nvSpPr>
        <p:spPr>
          <a:xfrm>
            <a:off x="7040880" y="69128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498080" y="6199632"/>
            <a:ext cx="365760" cy="658368"/>
          </a:xfrm>
          <a:prstGeom prst="rect">
            <a:avLst>
              <a:gd name="adj" fmla="val 20000"/>
            </a:avLst>
          </a:prstGeom>
          <a:solidFill>
            <a:srgbClr val="2E74C6"/>
          </a:solidFill>
          <a:ln/>
        </p:spPr>
      </p:sp>
      <p:sp>
        <p:nvSpPr>
          <p:cNvPr id="46" name="Text 43"/>
          <p:cNvSpPr/>
          <p:nvPr/>
        </p:nvSpPr>
        <p:spPr>
          <a:xfrm>
            <a:off x="7516368" y="69128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7973568" y="6446520"/>
            <a:ext cx="365760" cy="411480"/>
          </a:xfrm>
          <a:prstGeom prst="rect">
            <a:avLst>
              <a:gd name="adj" fmla="val 20000"/>
            </a:avLst>
          </a:prstGeom>
          <a:solidFill>
            <a:srgbClr val="2E74C6"/>
          </a:solidFill>
          <a:ln/>
        </p:spPr>
      </p:sp>
      <p:sp>
        <p:nvSpPr>
          <p:cNvPr id="48" name="Text 45"/>
          <p:cNvSpPr/>
          <p:nvPr/>
        </p:nvSpPr>
        <p:spPr>
          <a:xfrm>
            <a:off x="7991856" y="6912864"/>
            <a:ext cx="329184" cy="329184"/>
          </a:xfrm>
          <a:prstGeom prst="roundRect">
            <a:avLst>
              <a:gd name="adj" fmla="val 13889"/>
            </a:avLst>
          </a:prstGeom>
          <a:solidFill>
            <a:srgbClr val="1E2A5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6"/>
          <p:cNvSpPr/>
          <p:nvPr/>
        </p:nvSpPr>
        <p:spPr>
          <a:xfrm>
            <a:off x="685800" y="717804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정렬: rerank_score 높은 순 → 같으면 원래 score → 그래도 같으면 chunk_id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8823960" y="5349240"/>
            <a:ext cx="5303520" cy="411480"/>
          </a:xfrm>
          <a:prstGeom prst="roundRect">
            <a:avLst>
              <a:gd name="adj" fmla="val 13333"/>
            </a:avLst>
          </a:prstGeom>
          <a:solidFill>
            <a:srgbClr val="2E74C6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리랭킹이 실패해도 검색은 실패가 아님</a:t>
            </a:r>
            <a:endParaRPr lang="en-US" sz="2000" dirty="0"/>
          </a:p>
        </p:txBody>
      </p:sp>
      <p:sp>
        <p:nvSpPr>
          <p:cNvPr id="51" name="Shape 48"/>
          <p:cNvSpPr/>
          <p:nvPr/>
        </p:nvSpPr>
        <p:spPr>
          <a:xfrm>
            <a:off x="8823960" y="5806440"/>
            <a:ext cx="530352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9E0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9006840" y="6345936"/>
            <a:ext cx="1234440" cy="694944"/>
          </a:xfrm>
          <a:prstGeom prst="roundRect">
            <a:avLst>
              <a:gd name="adj" fmla="val 10526"/>
            </a:avLst>
          </a:prstGeom>
          <a:solidFill>
            <a:srgbClr val="404155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리랭킹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10241280" y="6693408"/>
            <a:ext cx="274320" cy="91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flipV="1">
            <a:off x="10515600" y="6217920"/>
            <a:ext cx="1143000" cy="475488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55" name="Shape 52"/>
          <p:cNvSpPr/>
          <p:nvPr/>
        </p:nvSpPr>
        <p:spPr>
          <a:xfrm>
            <a:off x="10515600" y="6693408"/>
            <a:ext cx="1143000" cy="466344"/>
          </a:xfrm>
          <a:prstGeom prst="line">
            <a:avLst/>
          </a:prstGeom>
          <a:noFill/>
          <a:ln w="25400">
            <a:solidFill>
              <a:srgbClr val="7C8598"/>
            </a:solidFill>
            <a:prstDash val="solid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10241280" y="58795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질문 없음</a:t>
            </a:r>
            <a:endParaRPr lang="en-US" sz="1400" dirty="0"/>
          </a:p>
        </p:txBody>
      </p:sp>
      <p:sp>
        <p:nvSpPr>
          <p:cNvPr id="57" name="Text 54"/>
          <p:cNvSpPr/>
          <p:nvPr/>
        </p:nvSpPr>
        <p:spPr>
          <a:xfrm>
            <a:off x="10424160" y="72511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변환 질문 있음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11704320" y="5925312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직전 결과 그대로 사용</a:t>
            </a:r>
            <a:endParaRPr lang="en-US" sz="1400" dirty="0"/>
          </a:p>
        </p:txBody>
      </p:sp>
      <p:sp>
        <p:nvSpPr>
          <p:cNvPr id="59" name="Text 56"/>
          <p:cNvSpPr/>
          <p:nvPr/>
        </p:nvSpPr>
        <p:spPr>
          <a:xfrm>
            <a:off x="11704320" y="6867144"/>
            <a:ext cx="2286000" cy="585216"/>
          </a:xfrm>
          <a:prstGeom prst="roundRect">
            <a:avLst>
              <a:gd name="adj" fmla="val 12500"/>
            </a:avLst>
          </a:prstGeom>
          <a:solidFill>
            <a:srgbClr val="F5F8FC"/>
          </a:solidFill>
          <a:ln w="12700">
            <a:solidFill>
              <a:srgbClr val="D9E0E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 질문 · 변환 질문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RRF 병합</a:t>
            </a:r>
            <a:endParaRPr lang="en-US" sz="1600" dirty="0"/>
          </a:p>
        </p:txBody>
      </p:sp>
      <p:sp>
        <p:nvSpPr>
          <p:cNvPr id="60" name="Text 57"/>
          <p:cNvSpPr/>
          <p:nvPr/>
        </p:nvSpPr>
        <p:spPr>
          <a:xfrm>
            <a:off x="9006840" y="7077456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warnings에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기록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Post-Retrieval Techniques — Re-ranking</dc:title>
  <dc:subject>PptxGenJS Presentation</dc:subject>
  <dc:creator>PptxGenJS</dc:creator>
  <cp:lastModifiedBy>PptxGenJS</cp:lastModifiedBy>
  <cp:revision>1</cp:revision>
  <dcterms:created xsi:type="dcterms:W3CDTF">2026-10-02T09:19:24Z</dcterms:created>
  <dcterms:modified xsi:type="dcterms:W3CDTF">2026-10-02T09:19:24Z</dcterms:modified>
</cp:coreProperties>
</file>