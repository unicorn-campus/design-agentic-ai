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Local은 '한 점에서 출발해 이웃으로 넓히기', Global은 '미리 만든 요약들을 나눠 읽고 합치기'임. Hybrid라는 이름은 LightRAG의 모드 이름이고, MS GraphRAG에서 같은 역할은 DRIFT가 맡음. DRIFT는 동시에 돌리지 않고 '요약으로 큰 답 → 후속 질문 → Local 반복' 순서로 진행함. Global의 기본 동작은 한 계층의 리포트를 전부 나눠 읽는 것이라 비용이 큼. 관련 리포트만 고르는 동적 선택은 비용을 줄이는 옵션임. Cypher 집계는 '몇 개' · '가장 많은' 같은 숫자형 거시 질문에 강함. MS GraphRAG는 2026-08부터 유지보수 모드(새 기능 없음, 버그 · 보안 수정만)이지만 검색 방식 개념의 원형이라 소개함.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검색 3가지 방식: Local · Global · Hybrid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질문이 묻는 범위(한 대상 / 전체 / 둘 다)에 따라 그래프에서 꺼내는 재료와 순서가 달라짐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932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932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Search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648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048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대상을 깊게 묻는 질문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A카드의 해외 결제 혜택은?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829361" y="3163824"/>
            <a:ext cx="640080" cy="32004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</p:sp>
      <p:sp>
        <p:nvSpPr>
          <p:cNvPr id="11" name="Shape 8"/>
          <p:cNvSpPr/>
          <p:nvPr/>
        </p:nvSpPr>
        <p:spPr>
          <a:xfrm flipH="1">
            <a:off x="737921" y="3483864"/>
            <a:ext cx="731520" cy="292608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</p:sp>
      <p:sp>
        <p:nvSpPr>
          <p:cNvPr id="12" name="Shape 9"/>
          <p:cNvSpPr/>
          <p:nvPr/>
        </p:nvSpPr>
        <p:spPr>
          <a:xfrm flipV="1">
            <a:off x="1469441" y="3319272"/>
            <a:ext cx="502920" cy="164592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1469441" y="3483864"/>
            <a:ext cx="548640" cy="27432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1972361" y="3319272"/>
            <a:ext cx="45720" cy="43891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15" name="Shape 12"/>
          <p:cNvSpPr/>
          <p:nvPr/>
        </p:nvSpPr>
        <p:spPr>
          <a:xfrm flipV="1">
            <a:off x="1972361" y="3072384"/>
            <a:ext cx="548640" cy="246888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16" name="Shape 13"/>
          <p:cNvSpPr/>
          <p:nvPr/>
        </p:nvSpPr>
        <p:spPr>
          <a:xfrm>
            <a:off x="1972361" y="3319272"/>
            <a:ext cx="731520" cy="5486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17" name="Shape 14"/>
          <p:cNvSpPr/>
          <p:nvPr/>
        </p:nvSpPr>
        <p:spPr>
          <a:xfrm flipV="1">
            <a:off x="2018081" y="3685032"/>
            <a:ext cx="640080" cy="7315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2018081" y="3758184"/>
            <a:ext cx="457200" cy="18288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737921" y="30723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6481" y="368503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420417" y="29718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03297" y="327355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57577" y="3584448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374697" y="384048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826057" y="3063240"/>
            <a:ext cx="146304" cy="256032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1643177" y="295351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679753" y="301934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679753" y="306324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679753" y="310713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1853489" y="3758184"/>
            <a:ext cx="164592" cy="128016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1670609" y="377647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707185" y="384230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707185" y="388620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707185" y="393009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844345" y="3191256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890065" y="3630168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277417" y="3291840"/>
            <a:ext cx="384048" cy="384048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316529" y="3008376"/>
            <a:ext cx="182880" cy="182880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298241" y="3355848"/>
            <a:ext cx="228600" cy="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</p:sp>
      <p:sp>
        <p:nvSpPr>
          <p:cNvPr id="40" name="Shape 37"/>
          <p:cNvSpPr/>
          <p:nvPr/>
        </p:nvSpPr>
        <p:spPr>
          <a:xfrm>
            <a:off x="3298241" y="3611880"/>
            <a:ext cx="228600" cy="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</p:sp>
      <p:sp>
        <p:nvSpPr>
          <p:cNvPr id="41" name="Shape 38"/>
          <p:cNvSpPr/>
          <p:nvPr/>
        </p:nvSpPr>
        <p:spPr>
          <a:xfrm>
            <a:off x="3325673" y="3758184"/>
            <a:ext cx="164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358591" y="3818534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358591" y="3858768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58591" y="3899002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572561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3572561" y="3227832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 거리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3572561" y="3483864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(1홉)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3572561" y="3739896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조각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648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64648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03967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Q와 뜻이 가까운 엔티티 몇 개를 진입점으로 찾기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648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64648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103967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진입점에서 뻗은 관계(1홉)와 관계 설명을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후보에 넣기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4648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64648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103967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진입점의 원문 조각 · 리포트도 근거 후보에 넣기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4648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64648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103967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한도에 맞게 추려 LLM이 답변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4648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4648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LightRAG는 1단계를 세부(Low-level) 키워드로 수행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12704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12704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512704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Search</a:t>
            </a:r>
            <a:endParaRPr lang="en-US" sz="2000" dirty="0"/>
          </a:p>
        </p:txBody>
      </p:sp>
      <p:sp>
        <p:nvSpPr>
          <p:cNvPr id="66" name="Shape 63"/>
          <p:cNvSpPr/>
          <p:nvPr/>
        </p:nvSpPr>
        <p:spPr>
          <a:xfrm>
            <a:off x="526420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532820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전체를 조망하는 질문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고객 불만의 주요 주제는?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5264201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 묶음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6772961" y="2980944"/>
            <a:ext cx="914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8190281" y="2980944"/>
            <a:ext cx="1234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535564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535564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677296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77296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306617" y="3374136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76" name="Shape 73"/>
          <p:cNvSpPr/>
          <p:nvPr/>
        </p:nvSpPr>
        <p:spPr>
          <a:xfrm>
            <a:off x="7723937" y="3374136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77" name="Shape 74"/>
          <p:cNvSpPr/>
          <p:nvPr/>
        </p:nvSpPr>
        <p:spPr>
          <a:xfrm>
            <a:off x="535564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535564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77296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677296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630661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82" name="Shape 79"/>
          <p:cNvSpPr/>
          <p:nvPr/>
        </p:nvSpPr>
        <p:spPr>
          <a:xfrm>
            <a:off x="772393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83" name="Shape 80"/>
          <p:cNvSpPr/>
          <p:nvPr/>
        </p:nvSpPr>
        <p:spPr>
          <a:xfrm>
            <a:off x="535564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535564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677296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677296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6306617" y="3886200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88" name="Shape 85"/>
          <p:cNvSpPr/>
          <p:nvPr/>
        </p:nvSpPr>
        <p:spPr>
          <a:xfrm flipV="1">
            <a:off x="7723937" y="3630168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89" name="Shape 86"/>
          <p:cNvSpPr/>
          <p:nvPr/>
        </p:nvSpPr>
        <p:spPr>
          <a:xfrm>
            <a:off x="8190281" y="344728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</p:sp>
      <p:sp>
        <p:nvSpPr>
          <p:cNvPr id="90" name="Text 87"/>
          <p:cNvSpPr txBox="1"/>
          <p:nvPr/>
        </p:nvSpPr>
        <p:spPr>
          <a:xfrm>
            <a:off x="8190281" y="3447288"/>
            <a:ext cx="1234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526420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526420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3" name="Text 90"/>
          <p:cNvSpPr txBox="1"/>
          <p:nvPr/>
        </p:nvSpPr>
        <p:spPr>
          <a:xfrm>
            <a:off x="565739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계층의 커뮤니티 리포트를 묶음으로 나누기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526420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526420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96" name="Text 93"/>
          <p:cNvSpPr txBox="1"/>
          <p:nvPr/>
        </p:nvSpPr>
        <p:spPr>
          <a:xfrm>
            <a:off x="565739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map: 묶음마다 따로 중간 답 쓰기</a:t>
            </a:r>
            <a:endParaRPr lang="en-US" sz="1500" dirty="0"/>
          </a:p>
        </p:txBody>
      </p:sp>
      <p:sp>
        <p:nvSpPr>
          <p:cNvPr id="97" name="Shape 94"/>
          <p:cNvSpPr/>
          <p:nvPr/>
        </p:nvSpPr>
        <p:spPr>
          <a:xfrm>
            <a:off x="526420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526420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9" name="Text 96"/>
          <p:cNvSpPr txBox="1"/>
          <p:nvPr/>
        </p:nvSpPr>
        <p:spPr>
          <a:xfrm>
            <a:off x="565739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reduce: 중간 답 안의 요점별 중요도 점수로 골라 합치기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526420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526420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02" name="Text 99"/>
          <p:cNvSpPr txBox="1"/>
          <p:nvPr/>
        </p:nvSpPr>
        <p:spPr>
          <a:xfrm>
            <a:off x="565739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조망 답변 생성</a:t>
            </a:r>
            <a:endParaRPr lang="en-US" sz="1500" dirty="0"/>
          </a:p>
        </p:txBody>
      </p:sp>
      <p:sp>
        <p:nvSpPr>
          <p:cNvPr id="103" name="Shape 100"/>
          <p:cNvSpPr/>
          <p:nvPr/>
        </p:nvSpPr>
        <p:spPr>
          <a:xfrm>
            <a:off x="526420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26420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리포트만 골라 사용하는 동적 선택은 옵션</a:t>
            </a:r>
            <a:endParaRPr lang="en-US" sz="1400" dirty="0"/>
          </a:p>
        </p:txBody>
      </p:sp>
      <p:sp>
        <p:nvSpPr>
          <p:cNvPr id="105" name="Shape 102"/>
          <p:cNvSpPr/>
          <p:nvPr/>
        </p:nvSpPr>
        <p:spPr>
          <a:xfrm>
            <a:off x="974476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974476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974476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Search</a:t>
            </a:r>
            <a:endParaRPr lang="en-US" sz="2000" dirty="0"/>
          </a:p>
        </p:txBody>
      </p:sp>
      <p:sp>
        <p:nvSpPr>
          <p:cNvPr id="108" name="Shape 105"/>
          <p:cNvSpPr/>
          <p:nvPr/>
        </p:nvSpPr>
        <p:spPr>
          <a:xfrm>
            <a:off x="988192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</p:sp>
      <p:sp>
        <p:nvSpPr>
          <p:cNvPr id="109" name="Text 106"/>
          <p:cNvSpPr txBox="1"/>
          <p:nvPr/>
        </p:nvSpPr>
        <p:spPr>
          <a:xfrm>
            <a:off x="994592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 + 전체 흐름을 함께 묻는 질문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 혜택은 업계 흐름과 어떻게 다른가?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992764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992764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근거</a:t>
            </a:r>
            <a:endParaRPr lang="en-US" sz="1400" dirty="0"/>
          </a:p>
        </p:txBody>
      </p:sp>
      <p:sp>
        <p:nvSpPr>
          <p:cNvPr id="112" name="Shape 109"/>
          <p:cNvSpPr/>
          <p:nvPr/>
        </p:nvSpPr>
        <p:spPr>
          <a:xfrm>
            <a:off x="1271656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1271656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맥락</a:t>
            </a:r>
            <a:endParaRPr lang="en-US" sz="1400" dirty="0"/>
          </a:p>
        </p:txBody>
      </p:sp>
      <p:sp>
        <p:nvSpPr>
          <p:cNvPr id="114" name="Shape 111"/>
          <p:cNvSpPr/>
          <p:nvPr/>
        </p:nvSpPr>
        <p:spPr>
          <a:xfrm>
            <a:off x="11546129" y="3300984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</p:sp>
      <p:sp>
        <p:nvSpPr>
          <p:cNvPr id="115" name="Text 112"/>
          <p:cNvSpPr txBox="1"/>
          <p:nvPr/>
        </p:nvSpPr>
        <p:spPr>
          <a:xfrm>
            <a:off x="11546129" y="3300984"/>
            <a:ext cx="8778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</a:t>
            </a:r>
            <a:endParaRPr lang="en-US" sz="1500" dirty="0"/>
          </a:p>
        </p:txBody>
      </p:sp>
      <p:sp>
        <p:nvSpPr>
          <p:cNvPr id="116" name="Shape 113"/>
          <p:cNvSpPr/>
          <p:nvPr/>
        </p:nvSpPr>
        <p:spPr>
          <a:xfrm>
            <a:off x="11280953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17" name="Shape 114"/>
          <p:cNvSpPr/>
          <p:nvPr/>
        </p:nvSpPr>
        <p:spPr>
          <a:xfrm flipH="1">
            <a:off x="12451385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18" name="Text 115"/>
          <p:cNvSpPr txBox="1"/>
          <p:nvPr/>
        </p:nvSpPr>
        <p:spPr>
          <a:xfrm>
            <a:off x="9881921" y="4059936"/>
            <a:ext cx="41148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방법은 프레임워크마다 다름</a:t>
            </a:r>
            <a:endParaRPr lang="en-US" sz="1500" dirty="0"/>
          </a:p>
        </p:txBody>
      </p:sp>
      <p:sp>
        <p:nvSpPr>
          <p:cNvPr id="119" name="Shape 116"/>
          <p:cNvSpPr/>
          <p:nvPr/>
        </p:nvSpPr>
        <p:spPr>
          <a:xfrm>
            <a:off x="9881921" y="4474464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9881921" y="4474464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121" name="Text 118"/>
          <p:cNvSpPr txBox="1"/>
          <p:nvPr/>
        </p:nvSpPr>
        <p:spPr>
          <a:xfrm>
            <a:off x="11226089" y="4370832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'Hybrid' = 벡터 + 키워드 검색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+ Global 결합은 직접 설계</a:t>
            </a:r>
            <a:endParaRPr lang="en-US" sz="1400" dirty="0"/>
          </a:p>
        </p:txBody>
      </p:sp>
      <p:sp>
        <p:nvSpPr>
          <p:cNvPr id="122" name="Shape 119"/>
          <p:cNvSpPr/>
          <p:nvPr/>
        </p:nvSpPr>
        <p:spPr>
          <a:xfrm>
            <a:off x="9881921" y="4907280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881921" y="5010912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9881921" y="5010912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125" name="Text 122"/>
          <p:cNvSpPr txBox="1"/>
          <p:nvPr/>
        </p:nvSpPr>
        <p:spPr>
          <a:xfrm>
            <a:off x="11226089" y="4907280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DRIFT: 요약으로 큰 답 →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질문마다 Local 검색 (순서대로)</a:t>
            </a:r>
            <a:endParaRPr lang="en-US" sz="1400" dirty="0"/>
          </a:p>
        </p:txBody>
      </p:sp>
      <p:sp>
        <p:nvSpPr>
          <p:cNvPr id="126" name="Shape 123"/>
          <p:cNvSpPr/>
          <p:nvPr/>
        </p:nvSpPr>
        <p:spPr>
          <a:xfrm>
            <a:off x="9881921" y="5443728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9881921" y="5547360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</p:sp>
      <p:sp>
        <p:nvSpPr>
          <p:cNvPr id="128" name="Text 125"/>
          <p:cNvSpPr txBox="1"/>
          <p:nvPr/>
        </p:nvSpPr>
        <p:spPr>
          <a:xfrm>
            <a:off x="9881921" y="5547360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</a:t>
            </a:r>
            <a:endParaRPr lang="en-US" sz="1400" dirty="0"/>
          </a:p>
        </p:txBody>
      </p:sp>
      <p:sp>
        <p:nvSpPr>
          <p:cNvPr id="129" name="Text 126"/>
          <p:cNvSpPr txBox="1"/>
          <p:nvPr/>
        </p:nvSpPr>
        <p:spPr>
          <a:xfrm>
            <a:off x="11226089" y="5443728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듀얼 레벨: 세부 키워드 → 엔티티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상위 키워드 → 관계, 둘 다 사용</a:t>
            </a:r>
            <a:endParaRPr lang="en-US" sz="1400" dirty="0"/>
          </a:p>
        </p:txBody>
      </p:sp>
      <p:sp>
        <p:nvSpPr>
          <p:cNvPr id="130" name="Shape 127"/>
          <p:cNvSpPr/>
          <p:nvPr/>
        </p:nvSpPr>
        <p:spPr>
          <a:xfrm>
            <a:off x="509321" y="6144768"/>
            <a:ext cx="2057400" cy="1060704"/>
          </a:xfrm>
          <a:prstGeom prst="roundRect">
            <a:avLst>
              <a:gd name="adj" fmla="val 5172"/>
            </a:avLst>
          </a:prstGeom>
          <a:solidFill>
            <a:srgbClr val="404155"/>
          </a:solidFill>
          <a:ln/>
        </p:spPr>
      </p:sp>
      <p:sp>
        <p:nvSpPr>
          <p:cNvPr id="131" name="Text 128"/>
          <p:cNvSpPr txBox="1"/>
          <p:nvPr/>
        </p:nvSpPr>
        <p:spPr>
          <a:xfrm>
            <a:off x="509321" y="6144768"/>
            <a:ext cx="2057400" cy="10607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프레임워크의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질문 처리</a:t>
            </a:r>
            <a:endParaRPr lang="en-US" sz="1600" dirty="0"/>
          </a:p>
        </p:txBody>
      </p:sp>
      <p:sp>
        <p:nvSpPr>
          <p:cNvPr id="132" name="Shape 129"/>
          <p:cNvSpPr/>
          <p:nvPr/>
        </p:nvSpPr>
        <p:spPr>
          <a:xfrm>
            <a:off x="270388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281360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Neo4j GraphRAG</a:t>
            </a:r>
            <a:pPr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Text2Cypher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Cypher로 바꿔 그래프 전체를 집계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조건으로 대상을 좁혀 정확히 집계 · 요약은 LLM</a:t>
            </a:r>
            <a:endParaRPr lang="en-US" sz="1600" dirty="0"/>
          </a:p>
        </p:txBody>
      </p:sp>
      <p:sp>
        <p:nvSpPr>
          <p:cNvPr id="134" name="Shape 131"/>
          <p:cNvSpPr/>
          <p:nvPr/>
        </p:nvSpPr>
        <p:spPr>
          <a:xfrm>
            <a:off x="655960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5" name="Text 132"/>
          <p:cNvSpPr txBox="1"/>
          <p:nvPr/>
        </p:nvSpPr>
        <p:spPr>
          <a:xfrm>
            <a:off x="666932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MS GraphRAG※</a:t>
            </a:r>
            <a:pPr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커뮤니티 요약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커뮤니티 요약을 나눠 답하고 합침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리포트를 다 훑음 · 빠짐없지만 비용 큼</a:t>
            </a:r>
            <a:endParaRPr lang="en-US" sz="1600" dirty="0"/>
          </a:p>
        </p:txBody>
      </p:sp>
      <p:sp>
        <p:nvSpPr>
          <p:cNvPr id="136" name="Shape 133"/>
          <p:cNvSpPr/>
          <p:nvPr/>
        </p:nvSpPr>
        <p:spPr>
          <a:xfrm>
            <a:off x="1041532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1052504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LightRAG</a:t>
            </a:r>
            <a:pPr indent="0" marL="0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High-level 키워드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상위(High-level) 키워드로 관계 벡터 검색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맞는 관계만 골라 봄 · 가볍지만 놓칠 수 있음</a:t>
            </a:r>
            <a:endParaRPr lang="en-US" sz="1600" dirty="0"/>
          </a:p>
        </p:txBody>
      </p:sp>
      <p:sp>
        <p:nvSpPr>
          <p:cNvPr id="138" name="Text 135"/>
          <p:cNvSpPr txBox="1"/>
          <p:nvPr/>
        </p:nvSpPr>
        <p:spPr>
          <a:xfrm>
            <a:off x="509321" y="7242048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MS GraphRAG는 현재 유지보수 모드: 새 기능 추가 없이 버그 · 보안 수정만 이어 가는 상태 (2026-08 공지). Local · Global · DRIFT 개념의 원형으로 참고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2026-10-13T07:05:50Z</dcterms:created>
  <dcterms:modified xsi:type="dcterms:W3CDTF">2026-10-13T07:05:50Z</dcterms:modified>
</cp:coreProperties>
</file>