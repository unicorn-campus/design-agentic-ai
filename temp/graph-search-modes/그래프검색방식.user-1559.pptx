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92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75579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Local은 '한 점에서 출발해 이웃으로 넓히기', Global은 '미리 만든 요약들을 나눠 읽고 합치기'임. Hybrid라는 이름은 LightRAG의 모드 이름이고, MS GraphRAG에서 같은 역할은 DRIFT가 맡음. DRIFT는 동시에 돌리지 않고 '요약으로 큰 답 → 후속 질문 → Local 반복' 순서로 진행함. Global의 기본 동작은 한 계층의 리포트를 전부 나눠 읽는 것이라 비용이 큼. 관련 리포트만 고르는 동적 선택은 비용을 줄이는 옵션임. Cypher 집계는 '몇 개' · '가장 많은' 같은 숫자형 거시 질문에 강함. MS GraphRAG는 2026-08부터 유지보수 모드(새 기능 없음, 버그 · 보안 수정만)이지만 검색 방식 개념의 원형이라 소개함.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내용_단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406" y="868680"/>
            <a:ext cx="13613587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45770" y="7787945"/>
            <a:ext cx="15316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6A6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무단전재 및 배포 금지</a:t>
            </a:r>
            <a:endParaRPr lang="en-US" sz="1200" dirty="0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그래프 검색 3가지 방식: Local · Global · Hybrid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질문이 묻는 범위(한 대상 / 전체 / 둘 다)에 따라 그래프에서 꺼내는 재료와 순서가 달라짐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509321" y="1737360"/>
            <a:ext cx="438912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509321" y="1737360"/>
            <a:ext cx="4389120" cy="457200"/>
          </a:xfrm>
          <a:prstGeom prst="roundRect">
            <a:avLst>
              <a:gd name="adj" fmla="val 12000"/>
            </a:avLst>
          </a:prstGeom>
          <a:solidFill>
            <a:srgbClr val="1E2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 txBox="1"/>
          <p:nvPr/>
        </p:nvSpPr>
        <p:spPr>
          <a:xfrm>
            <a:off x="509321" y="1737360"/>
            <a:ext cx="438912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Local Search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646481" y="2286000"/>
            <a:ext cx="4114800" cy="640080"/>
          </a:xfrm>
          <a:prstGeom prst="roundRect">
            <a:avLst>
              <a:gd name="adj" fmla="val 8571"/>
            </a:avLst>
          </a:prstGeom>
          <a:solidFill>
            <a:srgbClr val="EEF3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710489" y="2286000"/>
            <a:ext cx="3986784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대상을 깊게 묻는 질문</a:t>
            </a:r>
            <a:endParaRPr lang="en-US" sz="1500" dirty="0"/>
          </a:p>
          <a:p>
            <a:pPr marL="0" indent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예) A카드의 해외 결제 혜택은?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 flipH="1" flipV="1">
            <a:off x="829361" y="3163824"/>
            <a:ext cx="640080" cy="320040"/>
          </a:xfrm>
          <a:prstGeom prst="line">
            <a:avLst/>
          </a:prstGeom>
          <a:noFill/>
          <a:ln w="12700">
            <a:solidFill>
              <a:srgbClr val="7C8598"/>
            </a:solidFill>
            <a:prstDash val="dash"/>
            <a:tailEnd type="non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 flipH="1">
            <a:off x="737921" y="3483864"/>
            <a:ext cx="731520" cy="292608"/>
          </a:xfrm>
          <a:prstGeom prst="line">
            <a:avLst/>
          </a:prstGeom>
          <a:noFill/>
          <a:ln w="12700">
            <a:solidFill>
              <a:srgbClr val="7C8598"/>
            </a:solidFill>
            <a:prstDash val="dash"/>
            <a:tailEnd type="non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 flipV="1">
            <a:off x="1469441" y="3319272"/>
            <a:ext cx="502920" cy="164592"/>
          </a:xfrm>
          <a:prstGeom prst="line">
            <a:avLst/>
          </a:prstGeom>
          <a:noFill/>
          <a:ln w="12700">
            <a:solidFill>
              <a:srgbClr val="7C8598"/>
            </a:solidFill>
            <a:prstDash val="dash"/>
            <a:tailEnd type="non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1469441" y="3483864"/>
            <a:ext cx="548640" cy="274320"/>
          </a:xfrm>
          <a:prstGeom prst="line">
            <a:avLst/>
          </a:prstGeom>
          <a:noFill/>
          <a:ln w="12700">
            <a:solidFill>
              <a:srgbClr val="7C8598"/>
            </a:solidFill>
            <a:prstDash val="dash"/>
            <a:tailEnd type="non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1972361" y="3319272"/>
            <a:ext cx="45720" cy="438912"/>
          </a:xfrm>
          <a:prstGeom prst="line">
            <a:avLst/>
          </a:prstGeom>
          <a:noFill/>
          <a:ln w="19050">
            <a:solidFill>
              <a:srgbClr val="1E2A5C"/>
            </a:solidFill>
            <a:prstDash val="solid"/>
            <a:tailEnd type="non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 flipV="1">
            <a:off x="1972361" y="3072384"/>
            <a:ext cx="548640" cy="246888"/>
          </a:xfrm>
          <a:prstGeom prst="line">
            <a:avLst/>
          </a:prstGeom>
          <a:noFill/>
          <a:ln w="19050">
            <a:solidFill>
              <a:srgbClr val="1E2A5C"/>
            </a:solidFill>
            <a:prstDash val="solid"/>
            <a:tailEnd type="non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1972361" y="3319272"/>
            <a:ext cx="731520" cy="54864"/>
          </a:xfrm>
          <a:prstGeom prst="line">
            <a:avLst/>
          </a:prstGeom>
          <a:noFill/>
          <a:ln w="19050">
            <a:solidFill>
              <a:srgbClr val="1E2A5C"/>
            </a:solidFill>
            <a:prstDash val="solid"/>
            <a:tailEnd type="non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4"/>
          <p:cNvSpPr/>
          <p:nvPr/>
        </p:nvSpPr>
        <p:spPr>
          <a:xfrm flipV="1">
            <a:off x="2018081" y="3685032"/>
            <a:ext cx="640080" cy="73152"/>
          </a:xfrm>
          <a:prstGeom prst="line">
            <a:avLst/>
          </a:prstGeom>
          <a:noFill/>
          <a:ln w="19050">
            <a:solidFill>
              <a:srgbClr val="1E2A5C"/>
            </a:solidFill>
            <a:prstDash val="solid"/>
            <a:tailEnd type="non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5"/>
          <p:cNvSpPr/>
          <p:nvPr/>
        </p:nvSpPr>
        <p:spPr>
          <a:xfrm>
            <a:off x="2018081" y="3758184"/>
            <a:ext cx="457200" cy="182880"/>
          </a:xfrm>
          <a:prstGeom prst="line">
            <a:avLst/>
          </a:prstGeom>
          <a:noFill/>
          <a:ln w="19050">
            <a:solidFill>
              <a:srgbClr val="1E2A5C"/>
            </a:solidFill>
            <a:prstDash val="solid"/>
            <a:tailEnd type="non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6"/>
          <p:cNvSpPr/>
          <p:nvPr/>
        </p:nvSpPr>
        <p:spPr>
          <a:xfrm>
            <a:off x="737921" y="3072384"/>
            <a:ext cx="182880" cy="18288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7C859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7"/>
          <p:cNvSpPr/>
          <p:nvPr/>
        </p:nvSpPr>
        <p:spPr>
          <a:xfrm>
            <a:off x="646481" y="3685032"/>
            <a:ext cx="182880" cy="18288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7C859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8"/>
          <p:cNvSpPr/>
          <p:nvPr/>
        </p:nvSpPr>
        <p:spPr>
          <a:xfrm>
            <a:off x="2420417" y="2971800"/>
            <a:ext cx="201168" cy="20116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E2A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9"/>
          <p:cNvSpPr/>
          <p:nvPr/>
        </p:nvSpPr>
        <p:spPr>
          <a:xfrm>
            <a:off x="2603297" y="3273552"/>
            <a:ext cx="201168" cy="20116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E2A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0"/>
          <p:cNvSpPr/>
          <p:nvPr/>
        </p:nvSpPr>
        <p:spPr>
          <a:xfrm>
            <a:off x="2557577" y="3584448"/>
            <a:ext cx="201168" cy="20116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E2A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1"/>
          <p:cNvSpPr/>
          <p:nvPr/>
        </p:nvSpPr>
        <p:spPr>
          <a:xfrm>
            <a:off x="2374697" y="3840480"/>
            <a:ext cx="201168" cy="20116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E2A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2"/>
          <p:cNvSpPr/>
          <p:nvPr/>
        </p:nvSpPr>
        <p:spPr>
          <a:xfrm>
            <a:off x="1826057" y="3063240"/>
            <a:ext cx="146304" cy="256032"/>
          </a:xfrm>
          <a:prstGeom prst="line">
            <a:avLst/>
          </a:prstGeom>
          <a:noFill/>
          <a:ln w="19050">
            <a:solidFill>
              <a:srgbClr val="7C8598"/>
            </a:solidFill>
            <a:prstDash val="solid"/>
            <a:tailEnd type="non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3"/>
          <p:cNvSpPr/>
          <p:nvPr/>
        </p:nvSpPr>
        <p:spPr>
          <a:xfrm>
            <a:off x="1643177" y="2953512"/>
            <a:ext cx="18288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4A53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4"/>
          <p:cNvSpPr/>
          <p:nvPr/>
        </p:nvSpPr>
        <p:spPr>
          <a:xfrm>
            <a:off x="1679753" y="3019349"/>
            <a:ext cx="109728" cy="0"/>
          </a:xfrm>
          <a:prstGeom prst="line">
            <a:avLst/>
          </a:prstGeom>
          <a:noFill/>
          <a:ln w="9525">
            <a:solidFill>
              <a:srgbClr val="4A53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5"/>
          <p:cNvSpPr/>
          <p:nvPr/>
        </p:nvSpPr>
        <p:spPr>
          <a:xfrm>
            <a:off x="1679753" y="3063240"/>
            <a:ext cx="109728" cy="0"/>
          </a:xfrm>
          <a:prstGeom prst="line">
            <a:avLst/>
          </a:prstGeom>
          <a:noFill/>
          <a:ln w="9525">
            <a:solidFill>
              <a:srgbClr val="4A53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6"/>
          <p:cNvSpPr/>
          <p:nvPr/>
        </p:nvSpPr>
        <p:spPr>
          <a:xfrm>
            <a:off x="1679753" y="3107131"/>
            <a:ext cx="109728" cy="0"/>
          </a:xfrm>
          <a:prstGeom prst="line">
            <a:avLst/>
          </a:prstGeom>
          <a:noFill/>
          <a:ln w="9525">
            <a:solidFill>
              <a:srgbClr val="4A53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7"/>
          <p:cNvSpPr/>
          <p:nvPr/>
        </p:nvSpPr>
        <p:spPr>
          <a:xfrm flipV="1">
            <a:off x="1853489" y="3758184"/>
            <a:ext cx="164592" cy="128016"/>
          </a:xfrm>
          <a:prstGeom prst="line">
            <a:avLst/>
          </a:prstGeom>
          <a:noFill/>
          <a:ln w="19050">
            <a:solidFill>
              <a:srgbClr val="7C8598"/>
            </a:solidFill>
            <a:prstDash val="solid"/>
            <a:tailEnd type="non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8"/>
          <p:cNvSpPr/>
          <p:nvPr/>
        </p:nvSpPr>
        <p:spPr>
          <a:xfrm>
            <a:off x="1670609" y="3776472"/>
            <a:ext cx="18288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4A53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9"/>
          <p:cNvSpPr/>
          <p:nvPr/>
        </p:nvSpPr>
        <p:spPr>
          <a:xfrm>
            <a:off x="1707185" y="3842309"/>
            <a:ext cx="109728" cy="0"/>
          </a:xfrm>
          <a:prstGeom prst="line">
            <a:avLst/>
          </a:prstGeom>
          <a:noFill/>
          <a:ln w="9525">
            <a:solidFill>
              <a:srgbClr val="4A53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0"/>
          <p:cNvSpPr/>
          <p:nvPr/>
        </p:nvSpPr>
        <p:spPr>
          <a:xfrm>
            <a:off x="1707185" y="3886200"/>
            <a:ext cx="109728" cy="0"/>
          </a:xfrm>
          <a:prstGeom prst="line">
            <a:avLst/>
          </a:prstGeom>
          <a:noFill/>
          <a:ln w="9525">
            <a:solidFill>
              <a:srgbClr val="4A53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1"/>
          <p:cNvSpPr/>
          <p:nvPr/>
        </p:nvSpPr>
        <p:spPr>
          <a:xfrm>
            <a:off x="1707185" y="3930091"/>
            <a:ext cx="109728" cy="0"/>
          </a:xfrm>
          <a:prstGeom prst="line">
            <a:avLst/>
          </a:prstGeom>
          <a:noFill/>
          <a:ln w="9525">
            <a:solidFill>
              <a:srgbClr val="4A53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2"/>
          <p:cNvSpPr/>
          <p:nvPr/>
        </p:nvSpPr>
        <p:spPr>
          <a:xfrm>
            <a:off x="1844345" y="3191256"/>
            <a:ext cx="256032" cy="256032"/>
          </a:xfrm>
          <a:prstGeom prst="ellipse">
            <a:avLst/>
          </a:prstGeom>
          <a:solidFill>
            <a:srgbClr val="1E2A5C"/>
          </a:solidFill>
          <a:ln w="15875">
            <a:solidFill>
              <a:srgbClr val="1E2A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3"/>
          <p:cNvSpPr/>
          <p:nvPr/>
        </p:nvSpPr>
        <p:spPr>
          <a:xfrm>
            <a:off x="1890065" y="3630168"/>
            <a:ext cx="256032" cy="256032"/>
          </a:xfrm>
          <a:prstGeom prst="ellipse">
            <a:avLst/>
          </a:prstGeom>
          <a:solidFill>
            <a:srgbClr val="1E2A5C"/>
          </a:solidFill>
          <a:ln w="15875">
            <a:solidFill>
              <a:srgbClr val="1E2A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4"/>
          <p:cNvSpPr/>
          <p:nvPr/>
        </p:nvSpPr>
        <p:spPr>
          <a:xfrm>
            <a:off x="1277417" y="3291840"/>
            <a:ext cx="384048" cy="384048"/>
          </a:xfrm>
          <a:prstGeom prst="ellipse">
            <a:avLst/>
          </a:prstGeom>
          <a:solidFill>
            <a:srgbClr val="2E74C6"/>
          </a:solidFill>
          <a:ln w="12700">
            <a:solidFill>
              <a:srgbClr val="2E74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3316529" y="3008376"/>
            <a:ext cx="182880" cy="182880"/>
          </a:xfrm>
          <a:prstGeom prst="ellipse">
            <a:avLst/>
          </a:prstGeom>
          <a:solidFill>
            <a:srgbClr val="1E2A5C"/>
          </a:solidFill>
          <a:ln w="15875">
            <a:solidFill>
              <a:srgbClr val="1E2A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6"/>
          <p:cNvSpPr/>
          <p:nvPr/>
        </p:nvSpPr>
        <p:spPr>
          <a:xfrm>
            <a:off x="3298241" y="3355848"/>
            <a:ext cx="228600" cy="0"/>
          </a:xfrm>
          <a:prstGeom prst="line">
            <a:avLst/>
          </a:prstGeom>
          <a:noFill/>
          <a:ln w="12700">
            <a:solidFill>
              <a:srgbClr val="7C8598"/>
            </a:solidFill>
            <a:prstDash val="dash"/>
            <a:tailEnd type="non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7"/>
          <p:cNvSpPr/>
          <p:nvPr/>
        </p:nvSpPr>
        <p:spPr>
          <a:xfrm>
            <a:off x="3298241" y="3611880"/>
            <a:ext cx="228600" cy="0"/>
          </a:xfrm>
          <a:prstGeom prst="line">
            <a:avLst/>
          </a:prstGeom>
          <a:noFill/>
          <a:ln w="19050">
            <a:solidFill>
              <a:srgbClr val="1E2A5C"/>
            </a:solidFill>
            <a:prstDash val="solid"/>
            <a:tailEnd type="non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8"/>
          <p:cNvSpPr/>
          <p:nvPr/>
        </p:nvSpPr>
        <p:spPr>
          <a:xfrm>
            <a:off x="3325673" y="3758184"/>
            <a:ext cx="164592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4A53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39"/>
          <p:cNvSpPr/>
          <p:nvPr/>
        </p:nvSpPr>
        <p:spPr>
          <a:xfrm>
            <a:off x="3358591" y="3818534"/>
            <a:ext cx="98755" cy="0"/>
          </a:xfrm>
          <a:prstGeom prst="line">
            <a:avLst/>
          </a:prstGeom>
          <a:noFill/>
          <a:ln w="9525">
            <a:solidFill>
              <a:srgbClr val="4A53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0"/>
          <p:cNvSpPr/>
          <p:nvPr/>
        </p:nvSpPr>
        <p:spPr>
          <a:xfrm>
            <a:off x="3358591" y="3858768"/>
            <a:ext cx="98755" cy="0"/>
          </a:xfrm>
          <a:prstGeom prst="line">
            <a:avLst/>
          </a:prstGeom>
          <a:noFill/>
          <a:ln w="9525">
            <a:solidFill>
              <a:srgbClr val="4A53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1"/>
          <p:cNvSpPr/>
          <p:nvPr/>
        </p:nvSpPr>
        <p:spPr>
          <a:xfrm>
            <a:off x="3358591" y="3899002"/>
            <a:ext cx="98755" cy="0"/>
          </a:xfrm>
          <a:prstGeom prst="line">
            <a:avLst/>
          </a:prstGeom>
          <a:noFill/>
          <a:ln w="9525">
            <a:solidFill>
              <a:srgbClr val="4A53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2"/>
          <p:cNvSpPr txBox="1"/>
          <p:nvPr/>
        </p:nvSpPr>
        <p:spPr>
          <a:xfrm>
            <a:off x="3572561" y="2971800"/>
            <a:ext cx="132588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진입점</a:t>
            </a:r>
            <a:endParaRPr lang="en-US" sz="1400" dirty="0"/>
          </a:p>
        </p:txBody>
      </p:sp>
      <p:sp>
        <p:nvSpPr>
          <p:cNvPr id="46" name="Text 43"/>
          <p:cNvSpPr txBox="1"/>
          <p:nvPr/>
        </p:nvSpPr>
        <p:spPr>
          <a:xfrm>
            <a:off x="3572561" y="3227832"/>
            <a:ext cx="132588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뜻 거리</a:t>
            </a:r>
            <a:endParaRPr lang="en-US" sz="1400" dirty="0"/>
          </a:p>
        </p:txBody>
      </p:sp>
      <p:sp>
        <p:nvSpPr>
          <p:cNvPr id="47" name="Text 44"/>
          <p:cNvSpPr txBox="1"/>
          <p:nvPr/>
        </p:nvSpPr>
        <p:spPr>
          <a:xfrm>
            <a:off x="3572561" y="3483864"/>
            <a:ext cx="132588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관계 (1홉)</a:t>
            </a:r>
            <a:endParaRPr lang="en-US" sz="1400" dirty="0"/>
          </a:p>
        </p:txBody>
      </p:sp>
      <p:sp>
        <p:nvSpPr>
          <p:cNvPr id="48" name="Text 45"/>
          <p:cNvSpPr txBox="1"/>
          <p:nvPr/>
        </p:nvSpPr>
        <p:spPr>
          <a:xfrm>
            <a:off x="3572561" y="3739896"/>
            <a:ext cx="132588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원문 조각</a:t>
            </a:r>
            <a:endParaRPr lang="en-US" sz="1400" dirty="0"/>
          </a:p>
        </p:txBody>
      </p:sp>
      <p:sp>
        <p:nvSpPr>
          <p:cNvPr id="49" name="Shape 46"/>
          <p:cNvSpPr/>
          <p:nvPr/>
        </p:nvSpPr>
        <p:spPr>
          <a:xfrm>
            <a:off x="646481" y="4101084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1E2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7"/>
          <p:cNvSpPr txBox="1"/>
          <p:nvPr/>
        </p:nvSpPr>
        <p:spPr>
          <a:xfrm>
            <a:off x="646481" y="4101084"/>
            <a:ext cx="310896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400" dirty="0"/>
          </a:p>
        </p:txBody>
      </p:sp>
      <p:sp>
        <p:nvSpPr>
          <p:cNvPr id="51" name="Text 48"/>
          <p:cNvSpPr txBox="1"/>
          <p:nvPr/>
        </p:nvSpPr>
        <p:spPr>
          <a:xfrm>
            <a:off x="1039673" y="4059936"/>
            <a:ext cx="3767328" cy="3931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Q와 뜻이 가까운 엔티티 몇 개를 진입점으로 찾기</a:t>
            </a:r>
            <a:endParaRPr lang="en-US" sz="1500" dirty="0"/>
          </a:p>
        </p:txBody>
      </p:sp>
      <p:sp>
        <p:nvSpPr>
          <p:cNvPr id="52" name="Shape 49"/>
          <p:cNvSpPr/>
          <p:nvPr/>
        </p:nvSpPr>
        <p:spPr>
          <a:xfrm>
            <a:off x="646481" y="4494276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1E2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0"/>
          <p:cNvSpPr txBox="1"/>
          <p:nvPr/>
        </p:nvSpPr>
        <p:spPr>
          <a:xfrm>
            <a:off x="646481" y="4494276"/>
            <a:ext cx="310896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400" dirty="0"/>
          </a:p>
        </p:txBody>
      </p:sp>
      <p:sp>
        <p:nvSpPr>
          <p:cNvPr id="54" name="Text 51"/>
          <p:cNvSpPr txBox="1"/>
          <p:nvPr/>
        </p:nvSpPr>
        <p:spPr>
          <a:xfrm>
            <a:off x="1039673" y="4453128"/>
            <a:ext cx="3767328" cy="3931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진입점에서 뻗은 관계(1홉)와 관계 설명을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 후보에 넣기</a:t>
            </a:r>
            <a:endParaRPr lang="en-US" sz="1500" dirty="0"/>
          </a:p>
        </p:txBody>
      </p:sp>
      <p:sp>
        <p:nvSpPr>
          <p:cNvPr id="55" name="Shape 52"/>
          <p:cNvSpPr/>
          <p:nvPr/>
        </p:nvSpPr>
        <p:spPr>
          <a:xfrm>
            <a:off x="646481" y="4887468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1E2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" name="Text 53"/>
          <p:cNvSpPr txBox="1"/>
          <p:nvPr/>
        </p:nvSpPr>
        <p:spPr>
          <a:xfrm>
            <a:off x="646481" y="4887468"/>
            <a:ext cx="310896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400" dirty="0"/>
          </a:p>
        </p:txBody>
      </p:sp>
      <p:sp>
        <p:nvSpPr>
          <p:cNvPr id="57" name="Text 54"/>
          <p:cNvSpPr txBox="1"/>
          <p:nvPr/>
        </p:nvSpPr>
        <p:spPr>
          <a:xfrm>
            <a:off x="1039673" y="4846320"/>
            <a:ext cx="3767328" cy="3931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진입점의 원문 조각 · 리포트도 근거 후보에 넣기</a:t>
            </a:r>
            <a:endParaRPr lang="en-US" sz="1500" dirty="0"/>
          </a:p>
        </p:txBody>
      </p:sp>
      <p:sp>
        <p:nvSpPr>
          <p:cNvPr id="58" name="Shape 55"/>
          <p:cNvSpPr/>
          <p:nvPr/>
        </p:nvSpPr>
        <p:spPr>
          <a:xfrm>
            <a:off x="646481" y="5280660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1E2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" name="Text 56"/>
          <p:cNvSpPr txBox="1"/>
          <p:nvPr/>
        </p:nvSpPr>
        <p:spPr>
          <a:xfrm>
            <a:off x="646481" y="5280660"/>
            <a:ext cx="310896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400" dirty="0"/>
          </a:p>
        </p:txBody>
      </p:sp>
      <p:sp>
        <p:nvSpPr>
          <p:cNvPr id="60" name="Text 57"/>
          <p:cNvSpPr txBox="1"/>
          <p:nvPr/>
        </p:nvSpPr>
        <p:spPr>
          <a:xfrm>
            <a:off x="1039673" y="5239512"/>
            <a:ext cx="3767328" cy="3931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토큰 한도에 맞게 추려 LLM이 답변</a:t>
            </a:r>
            <a:endParaRPr lang="en-US" sz="1500" dirty="0"/>
          </a:p>
        </p:txBody>
      </p:sp>
      <p:sp>
        <p:nvSpPr>
          <p:cNvPr id="61" name="Shape 58"/>
          <p:cNvSpPr/>
          <p:nvPr/>
        </p:nvSpPr>
        <p:spPr>
          <a:xfrm>
            <a:off x="646481" y="5678424"/>
            <a:ext cx="4114800" cy="0"/>
          </a:xfrm>
          <a:prstGeom prst="line">
            <a:avLst/>
          </a:prstGeom>
          <a:noFill/>
          <a:ln w="12700">
            <a:solidFill>
              <a:srgbClr val="EDF0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Text 59"/>
          <p:cNvSpPr txBox="1"/>
          <p:nvPr/>
        </p:nvSpPr>
        <p:spPr>
          <a:xfrm>
            <a:off x="646481" y="5696712"/>
            <a:ext cx="411480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LightRAG는 1단계를 세부(Low-level) 키워드로 수행</a:t>
            </a:r>
            <a:endParaRPr lang="en-US" sz="1400" dirty="0"/>
          </a:p>
        </p:txBody>
      </p:sp>
      <p:sp>
        <p:nvSpPr>
          <p:cNvPr id="63" name="Shape 60"/>
          <p:cNvSpPr/>
          <p:nvPr/>
        </p:nvSpPr>
        <p:spPr>
          <a:xfrm>
            <a:off x="5127041" y="1737360"/>
            <a:ext cx="438912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61"/>
          <p:cNvSpPr/>
          <p:nvPr/>
        </p:nvSpPr>
        <p:spPr>
          <a:xfrm>
            <a:off x="5127041" y="1737360"/>
            <a:ext cx="4389120" cy="457200"/>
          </a:xfrm>
          <a:prstGeom prst="roundRect">
            <a:avLst>
              <a:gd name="adj" fmla="val 12000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Text 62"/>
          <p:cNvSpPr txBox="1"/>
          <p:nvPr/>
        </p:nvSpPr>
        <p:spPr>
          <a:xfrm>
            <a:off x="5127041" y="1737360"/>
            <a:ext cx="438912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Global Search</a:t>
            </a:r>
            <a:endParaRPr lang="en-US" sz="2000" dirty="0"/>
          </a:p>
        </p:txBody>
      </p:sp>
      <p:sp>
        <p:nvSpPr>
          <p:cNvPr id="66" name="Shape 63"/>
          <p:cNvSpPr/>
          <p:nvPr/>
        </p:nvSpPr>
        <p:spPr>
          <a:xfrm>
            <a:off x="5264201" y="2286000"/>
            <a:ext cx="4114800" cy="640080"/>
          </a:xfrm>
          <a:prstGeom prst="roundRect">
            <a:avLst>
              <a:gd name="adj" fmla="val 8571"/>
            </a:avLst>
          </a:prstGeom>
          <a:solidFill>
            <a:srgbClr val="EEF3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7" name="Text 64"/>
          <p:cNvSpPr txBox="1"/>
          <p:nvPr/>
        </p:nvSpPr>
        <p:spPr>
          <a:xfrm>
            <a:off x="5328209" y="2286000"/>
            <a:ext cx="3986784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 전체를 조망하는 질문</a:t>
            </a:r>
            <a:endParaRPr lang="en-US" sz="1500" dirty="0"/>
          </a:p>
          <a:p>
            <a:pPr marL="0" indent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예) 고객 불만의 주요 주제는?</a:t>
            </a:r>
            <a:endParaRPr lang="en-US" sz="1500" dirty="0"/>
          </a:p>
        </p:txBody>
      </p:sp>
      <p:sp>
        <p:nvSpPr>
          <p:cNvPr id="68" name="Text 65"/>
          <p:cNvSpPr txBox="1"/>
          <p:nvPr/>
        </p:nvSpPr>
        <p:spPr>
          <a:xfrm>
            <a:off x="5264201" y="2980944"/>
            <a:ext cx="109728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리포트 묶음</a:t>
            </a:r>
            <a:endParaRPr lang="en-US" sz="1400" dirty="0"/>
          </a:p>
        </p:txBody>
      </p:sp>
      <p:sp>
        <p:nvSpPr>
          <p:cNvPr id="69" name="Text 66"/>
          <p:cNvSpPr txBox="1"/>
          <p:nvPr/>
        </p:nvSpPr>
        <p:spPr>
          <a:xfrm>
            <a:off x="6772961" y="2980944"/>
            <a:ext cx="91440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map</a:t>
            </a:r>
            <a:endParaRPr lang="en-US" sz="1400" dirty="0"/>
          </a:p>
        </p:txBody>
      </p:sp>
      <p:sp>
        <p:nvSpPr>
          <p:cNvPr id="70" name="Text 67"/>
          <p:cNvSpPr txBox="1"/>
          <p:nvPr/>
        </p:nvSpPr>
        <p:spPr>
          <a:xfrm>
            <a:off x="8190281" y="2980944"/>
            <a:ext cx="12344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reduce</a:t>
            </a:r>
            <a:endParaRPr lang="en-US" sz="1400" dirty="0"/>
          </a:p>
        </p:txBody>
      </p:sp>
      <p:sp>
        <p:nvSpPr>
          <p:cNvPr id="71" name="Shape 68"/>
          <p:cNvSpPr/>
          <p:nvPr/>
        </p:nvSpPr>
        <p:spPr>
          <a:xfrm>
            <a:off x="5355641" y="3255264"/>
            <a:ext cx="914400" cy="237744"/>
          </a:xfrm>
          <a:prstGeom prst="roundRect">
            <a:avLst>
              <a:gd name="adj" fmla="val 15385"/>
            </a:avLst>
          </a:prstGeom>
          <a:solidFill>
            <a:srgbClr val="EEF3FA"/>
          </a:solidFill>
          <a:ln w="12700">
            <a:solidFill>
              <a:srgbClr val="C3CE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" name="Text 69"/>
          <p:cNvSpPr txBox="1"/>
          <p:nvPr/>
        </p:nvSpPr>
        <p:spPr>
          <a:xfrm>
            <a:off x="5355641" y="3255264"/>
            <a:ext cx="914400" cy="23774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리포트</a:t>
            </a:r>
            <a:endParaRPr lang="en-US" sz="1400" dirty="0"/>
          </a:p>
        </p:txBody>
      </p:sp>
      <p:sp>
        <p:nvSpPr>
          <p:cNvPr id="73" name="Shape 70"/>
          <p:cNvSpPr/>
          <p:nvPr/>
        </p:nvSpPr>
        <p:spPr>
          <a:xfrm>
            <a:off x="6772961" y="3255264"/>
            <a:ext cx="914400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2E7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4" name="Text 71"/>
          <p:cNvSpPr txBox="1"/>
          <p:nvPr/>
        </p:nvSpPr>
        <p:spPr>
          <a:xfrm>
            <a:off x="6772961" y="3255264"/>
            <a:ext cx="914400" cy="23774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중간 답</a:t>
            </a:r>
            <a:endParaRPr lang="en-US" sz="1400" dirty="0"/>
          </a:p>
        </p:txBody>
      </p:sp>
      <p:sp>
        <p:nvSpPr>
          <p:cNvPr id="75" name="Shape 72"/>
          <p:cNvSpPr/>
          <p:nvPr/>
        </p:nvSpPr>
        <p:spPr>
          <a:xfrm>
            <a:off x="6306617" y="3374136"/>
            <a:ext cx="429768" cy="0"/>
          </a:xfrm>
          <a:prstGeom prst="line">
            <a:avLst/>
          </a:prstGeom>
          <a:noFill/>
          <a:ln w="15875">
            <a:solidFill>
              <a:srgbClr val="7C859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6" name="Shape 73"/>
          <p:cNvSpPr/>
          <p:nvPr/>
        </p:nvSpPr>
        <p:spPr>
          <a:xfrm>
            <a:off x="7723937" y="3374136"/>
            <a:ext cx="429768" cy="256032"/>
          </a:xfrm>
          <a:prstGeom prst="line">
            <a:avLst/>
          </a:prstGeom>
          <a:noFill/>
          <a:ln w="15875">
            <a:solidFill>
              <a:srgbClr val="7C859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7" name="Shape 74"/>
          <p:cNvSpPr/>
          <p:nvPr/>
        </p:nvSpPr>
        <p:spPr>
          <a:xfrm>
            <a:off x="5355641" y="3511296"/>
            <a:ext cx="914400" cy="237744"/>
          </a:xfrm>
          <a:prstGeom prst="roundRect">
            <a:avLst>
              <a:gd name="adj" fmla="val 15385"/>
            </a:avLst>
          </a:prstGeom>
          <a:solidFill>
            <a:srgbClr val="EEF3FA"/>
          </a:solidFill>
          <a:ln w="12700">
            <a:solidFill>
              <a:srgbClr val="C3CE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8" name="Text 75"/>
          <p:cNvSpPr txBox="1"/>
          <p:nvPr/>
        </p:nvSpPr>
        <p:spPr>
          <a:xfrm>
            <a:off x="5355641" y="3511296"/>
            <a:ext cx="914400" cy="23774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리포트</a:t>
            </a:r>
            <a:endParaRPr lang="en-US" sz="1400" dirty="0"/>
          </a:p>
        </p:txBody>
      </p:sp>
      <p:sp>
        <p:nvSpPr>
          <p:cNvPr id="79" name="Shape 76"/>
          <p:cNvSpPr/>
          <p:nvPr/>
        </p:nvSpPr>
        <p:spPr>
          <a:xfrm>
            <a:off x="6772961" y="3511296"/>
            <a:ext cx="914400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2E7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0" name="Text 77"/>
          <p:cNvSpPr txBox="1"/>
          <p:nvPr/>
        </p:nvSpPr>
        <p:spPr>
          <a:xfrm>
            <a:off x="6772961" y="3511296"/>
            <a:ext cx="914400" cy="23774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중간 답</a:t>
            </a:r>
            <a:endParaRPr lang="en-US" sz="1400" dirty="0"/>
          </a:p>
        </p:txBody>
      </p:sp>
      <p:sp>
        <p:nvSpPr>
          <p:cNvPr id="81" name="Shape 78"/>
          <p:cNvSpPr/>
          <p:nvPr/>
        </p:nvSpPr>
        <p:spPr>
          <a:xfrm>
            <a:off x="6306617" y="3630168"/>
            <a:ext cx="429768" cy="0"/>
          </a:xfrm>
          <a:prstGeom prst="line">
            <a:avLst/>
          </a:prstGeom>
          <a:noFill/>
          <a:ln w="15875">
            <a:solidFill>
              <a:srgbClr val="7C859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2" name="Shape 79"/>
          <p:cNvSpPr/>
          <p:nvPr/>
        </p:nvSpPr>
        <p:spPr>
          <a:xfrm>
            <a:off x="7723937" y="3630168"/>
            <a:ext cx="429768" cy="0"/>
          </a:xfrm>
          <a:prstGeom prst="line">
            <a:avLst/>
          </a:prstGeom>
          <a:noFill/>
          <a:ln w="15875">
            <a:solidFill>
              <a:srgbClr val="7C859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3" name="Shape 80"/>
          <p:cNvSpPr/>
          <p:nvPr/>
        </p:nvSpPr>
        <p:spPr>
          <a:xfrm>
            <a:off x="5355641" y="3767328"/>
            <a:ext cx="914400" cy="237744"/>
          </a:xfrm>
          <a:prstGeom prst="roundRect">
            <a:avLst>
              <a:gd name="adj" fmla="val 15385"/>
            </a:avLst>
          </a:prstGeom>
          <a:solidFill>
            <a:srgbClr val="EEF3FA"/>
          </a:solidFill>
          <a:ln w="12700">
            <a:solidFill>
              <a:srgbClr val="C3CE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4" name="Text 81"/>
          <p:cNvSpPr txBox="1"/>
          <p:nvPr/>
        </p:nvSpPr>
        <p:spPr>
          <a:xfrm>
            <a:off x="5355641" y="3767328"/>
            <a:ext cx="914400" cy="23774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리포트</a:t>
            </a:r>
            <a:endParaRPr lang="en-US" sz="1400" dirty="0"/>
          </a:p>
        </p:txBody>
      </p:sp>
      <p:sp>
        <p:nvSpPr>
          <p:cNvPr id="85" name="Shape 82"/>
          <p:cNvSpPr/>
          <p:nvPr/>
        </p:nvSpPr>
        <p:spPr>
          <a:xfrm>
            <a:off x="6772961" y="3767328"/>
            <a:ext cx="914400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2E7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6" name="Text 83"/>
          <p:cNvSpPr txBox="1"/>
          <p:nvPr/>
        </p:nvSpPr>
        <p:spPr>
          <a:xfrm>
            <a:off x="6772961" y="3767328"/>
            <a:ext cx="914400" cy="23774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중간 답</a:t>
            </a:r>
            <a:endParaRPr lang="en-US" sz="1400" dirty="0"/>
          </a:p>
        </p:txBody>
      </p:sp>
      <p:sp>
        <p:nvSpPr>
          <p:cNvPr id="87" name="Shape 84"/>
          <p:cNvSpPr/>
          <p:nvPr/>
        </p:nvSpPr>
        <p:spPr>
          <a:xfrm>
            <a:off x="6306617" y="3886200"/>
            <a:ext cx="429768" cy="0"/>
          </a:xfrm>
          <a:prstGeom prst="line">
            <a:avLst/>
          </a:prstGeom>
          <a:noFill/>
          <a:ln w="15875">
            <a:solidFill>
              <a:srgbClr val="7C859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8" name="Shape 85"/>
          <p:cNvSpPr/>
          <p:nvPr/>
        </p:nvSpPr>
        <p:spPr>
          <a:xfrm flipV="1">
            <a:off x="7723937" y="3630168"/>
            <a:ext cx="429768" cy="256032"/>
          </a:xfrm>
          <a:prstGeom prst="line">
            <a:avLst/>
          </a:prstGeom>
          <a:noFill/>
          <a:ln w="15875">
            <a:solidFill>
              <a:srgbClr val="7C859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9" name="Shape 86"/>
          <p:cNvSpPr/>
          <p:nvPr/>
        </p:nvSpPr>
        <p:spPr>
          <a:xfrm>
            <a:off x="8190281" y="3447288"/>
            <a:ext cx="1234440" cy="365760"/>
          </a:xfrm>
          <a:prstGeom prst="roundRect">
            <a:avLst>
              <a:gd name="adj" fmla="val 15000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0" name="Text 87"/>
          <p:cNvSpPr txBox="1"/>
          <p:nvPr/>
        </p:nvSpPr>
        <p:spPr>
          <a:xfrm>
            <a:off x="8190281" y="3447288"/>
            <a:ext cx="123444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최종 답</a:t>
            </a:r>
            <a:endParaRPr lang="en-US" sz="1500" dirty="0"/>
          </a:p>
        </p:txBody>
      </p:sp>
      <p:sp>
        <p:nvSpPr>
          <p:cNvPr id="91" name="Shape 88"/>
          <p:cNvSpPr/>
          <p:nvPr/>
        </p:nvSpPr>
        <p:spPr>
          <a:xfrm>
            <a:off x="5264201" y="4101084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2" name="Text 89"/>
          <p:cNvSpPr txBox="1"/>
          <p:nvPr/>
        </p:nvSpPr>
        <p:spPr>
          <a:xfrm>
            <a:off x="5264201" y="4101084"/>
            <a:ext cx="310896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400" dirty="0"/>
          </a:p>
        </p:txBody>
      </p:sp>
      <p:sp>
        <p:nvSpPr>
          <p:cNvPr id="93" name="Text 90"/>
          <p:cNvSpPr txBox="1"/>
          <p:nvPr/>
        </p:nvSpPr>
        <p:spPr>
          <a:xfrm>
            <a:off x="5657393" y="4059936"/>
            <a:ext cx="3767328" cy="3931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계층의 커뮤니티 리포트를 묶음으로 나누기</a:t>
            </a:r>
            <a:endParaRPr lang="en-US" sz="1500" dirty="0"/>
          </a:p>
        </p:txBody>
      </p:sp>
      <p:sp>
        <p:nvSpPr>
          <p:cNvPr id="94" name="Shape 91"/>
          <p:cNvSpPr/>
          <p:nvPr/>
        </p:nvSpPr>
        <p:spPr>
          <a:xfrm>
            <a:off x="5264201" y="4494276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5" name="Text 92"/>
          <p:cNvSpPr txBox="1"/>
          <p:nvPr/>
        </p:nvSpPr>
        <p:spPr>
          <a:xfrm>
            <a:off x="5264201" y="4494276"/>
            <a:ext cx="310896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400" dirty="0"/>
          </a:p>
        </p:txBody>
      </p:sp>
      <p:sp>
        <p:nvSpPr>
          <p:cNvPr id="96" name="Text 93"/>
          <p:cNvSpPr txBox="1"/>
          <p:nvPr/>
        </p:nvSpPr>
        <p:spPr>
          <a:xfrm>
            <a:off x="5657393" y="4453128"/>
            <a:ext cx="3767328" cy="3931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map: 묶음마다 따로 중간 답 쓰기</a:t>
            </a:r>
            <a:endParaRPr lang="en-US" sz="1500" dirty="0"/>
          </a:p>
        </p:txBody>
      </p:sp>
      <p:sp>
        <p:nvSpPr>
          <p:cNvPr id="97" name="Shape 94"/>
          <p:cNvSpPr/>
          <p:nvPr/>
        </p:nvSpPr>
        <p:spPr>
          <a:xfrm>
            <a:off x="5264201" y="4887468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8" name="Text 95"/>
          <p:cNvSpPr txBox="1"/>
          <p:nvPr/>
        </p:nvSpPr>
        <p:spPr>
          <a:xfrm>
            <a:off x="5264201" y="4887468"/>
            <a:ext cx="310896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400" dirty="0"/>
          </a:p>
        </p:txBody>
      </p:sp>
      <p:sp>
        <p:nvSpPr>
          <p:cNvPr id="99" name="Text 96"/>
          <p:cNvSpPr txBox="1"/>
          <p:nvPr/>
        </p:nvSpPr>
        <p:spPr>
          <a:xfrm>
            <a:off x="5657393" y="4846320"/>
            <a:ext cx="3767328" cy="3931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reduce: 중간 답 안의 요점별 중요도 점수로 골라 합치기</a:t>
            </a:r>
            <a:endParaRPr lang="en-US" sz="1500" dirty="0"/>
          </a:p>
        </p:txBody>
      </p:sp>
      <p:sp>
        <p:nvSpPr>
          <p:cNvPr id="100" name="Shape 97"/>
          <p:cNvSpPr/>
          <p:nvPr/>
        </p:nvSpPr>
        <p:spPr>
          <a:xfrm>
            <a:off x="5264201" y="5280660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1" name="Text 98"/>
          <p:cNvSpPr txBox="1"/>
          <p:nvPr/>
        </p:nvSpPr>
        <p:spPr>
          <a:xfrm>
            <a:off x="5264201" y="5280660"/>
            <a:ext cx="310896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400" dirty="0"/>
          </a:p>
        </p:txBody>
      </p:sp>
      <p:sp>
        <p:nvSpPr>
          <p:cNvPr id="102" name="Text 99"/>
          <p:cNvSpPr txBox="1"/>
          <p:nvPr/>
        </p:nvSpPr>
        <p:spPr>
          <a:xfrm>
            <a:off x="5657393" y="5239512"/>
            <a:ext cx="3767328" cy="3931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조망 답변 생성</a:t>
            </a:r>
            <a:endParaRPr lang="en-US" sz="1500" dirty="0"/>
          </a:p>
        </p:txBody>
      </p:sp>
      <p:sp>
        <p:nvSpPr>
          <p:cNvPr id="103" name="Shape 100"/>
          <p:cNvSpPr/>
          <p:nvPr/>
        </p:nvSpPr>
        <p:spPr>
          <a:xfrm>
            <a:off x="5264201" y="5678424"/>
            <a:ext cx="4114800" cy="0"/>
          </a:xfrm>
          <a:prstGeom prst="line">
            <a:avLst/>
          </a:prstGeom>
          <a:noFill/>
          <a:ln w="12700">
            <a:solidFill>
              <a:srgbClr val="EDF0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4" name="Text 101"/>
          <p:cNvSpPr txBox="1"/>
          <p:nvPr/>
        </p:nvSpPr>
        <p:spPr>
          <a:xfrm>
            <a:off x="5264201" y="5696712"/>
            <a:ext cx="411480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관련 리포트만 골라 사용하는 동적 선택은 옵션</a:t>
            </a:r>
            <a:endParaRPr lang="en-US" sz="1400" dirty="0"/>
          </a:p>
        </p:txBody>
      </p:sp>
      <p:sp>
        <p:nvSpPr>
          <p:cNvPr id="105" name="Shape 102"/>
          <p:cNvSpPr/>
          <p:nvPr/>
        </p:nvSpPr>
        <p:spPr>
          <a:xfrm>
            <a:off x="9744761" y="1737360"/>
            <a:ext cx="438912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6" name="Shape 103"/>
          <p:cNvSpPr/>
          <p:nvPr/>
        </p:nvSpPr>
        <p:spPr>
          <a:xfrm>
            <a:off x="9744761" y="1737360"/>
            <a:ext cx="4389120" cy="457200"/>
          </a:xfrm>
          <a:prstGeom prst="roundRect">
            <a:avLst>
              <a:gd name="adj" fmla="val 12000"/>
            </a:avLst>
          </a:prstGeom>
          <a:solidFill>
            <a:srgbClr val="4041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7" name="Text 104"/>
          <p:cNvSpPr txBox="1"/>
          <p:nvPr/>
        </p:nvSpPr>
        <p:spPr>
          <a:xfrm>
            <a:off x="9744761" y="1737360"/>
            <a:ext cx="438912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Hybrid Search</a:t>
            </a:r>
            <a:endParaRPr lang="en-US" sz="2000" dirty="0"/>
          </a:p>
        </p:txBody>
      </p:sp>
      <p:sp>
        <p:nvSpPr>
          <p:cNvPr id="108" name="Shape 105"/>
          <p:cNvSpPr/>
          <p:nvPr/>
        </p:nvSpPr>
        <p:spPr>
          <a:xfrm>
            <a:off x="9881921" y="2286000"/>
            <a:ext cx="4114800" cy="640080"/>
          </a:xfrm>
          <a:prstGeom prst="roundRect">
            <a:avLst>
              <a:gd name="adj" fmla="val 8571"/>
            </a:avLst>
          </a:prstGeom>
          <a:solidFill>
            <a:srgbClr val="EEF3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9" name="Text 106"/>
          <p:cNvSpPr txBox="1"/>
          <p:nvPr/>
        </p:nvSpPr>
        <p:spPr>
          <a:xfrm>
            <a:off x="9945929" y="2286000"/>
            <a:ext cx="3986784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대상 + 전체 흐름을 함께 묻는 질문</a:t>
            </a:r>
            <a:endParaRPr lang="en-US" sz="1500" dirty="0"/>
          </a:p>
          <a:p>
            <a:pPr marL="0" indent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예) A카드 혜택은 업계 흐름과 어떻게 다른가?</a:t>
            </a:r>
            <a:endParaRPr lang="en-US" sz="1500" dirty="0"/>
          </a:p>
        </p:txBody>
      </p:sp>
      <p:sp>
        <p:nvSpPr>
          <p:cNvPr id="110" name="Shape 107"/>
          <p:cNvSpPr/>
          <p:nvPr/>
        </p:nvSpPr>
        <p:spPr>
          <a:xfrm>
            <a:off x="9927641" y="3154680"/>
            <a:ext cx="1325880" cy="658368"/>
          </a:xfrm>
          <a:prstGeom prst="roundRect">
            <a:avLst>
              <a:gd name="adj" fmla="val 8333"/>
            </a:avLst>
          </a:prstGeom>
          <a:solidFill>
            <a:srgbClr val="EEF3FA"/>
          </a:solidFill>
          <a:ln w="12700">
            <a:solidFill>
              <a:srgbClr val="C3CE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1" name="Text 108"/>
          <p:cNvSpPr txBox="1"/>
          <p:nvPr/>
        </p:nvSpPr>
        <p:spPr>
          <a:xfrm>
            <a:off x="9927641" y="3154680"/>
            <a:ext cx="1325880" cy="6583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Local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세부 근거</a:t>
            </a:r>
            <a:endParaRPr lang="en-US" sz="1400" dirty="0"/>
          </a:p>
        </p:txBody>
      </p:sp>
      <p:sp>
        <p:nvSpPr>
          <p:cNvPr id="112" name="Shape 109"/>
          <p:cNvSpPr/>
          <p:nvPr/>
        </p:nvSpPr>
        <p:spPr>
          <a:xfrm>
            <a:off x="12716561" y="3154680"/>
            <a:ext cx="1325880" cy="658368"/>
          </a:xfrm>
          <a:prstGeom prst="roundRect">
            <a:avLst>
              <a:gd name="adj" fmla="val 8333"/>
            </a:avLst>
          </a:prstGeom>
          <a:solidFill>
            <a:srgbClr val="EEF3FA"/>
          </a:solidFill>
          <a:ln w="12700">
            <a:solidFill>
              <a:srgbClr val="C3CE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3" name="Text 110"/>
          <p:cNvSpPr txBox="1"/>
          <p:nvPr/>
        </p:nvSpPr>
        <p:spPr>
          <a:xfrm>
            <a:off x="12716561" y="3154680"/>
            <a:ext cx="1325880" cy="6583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Global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맥락</a:t>
            </a:r>
            <a:endParaRPr lang="en-US" sz="1400" dirty="0"/>
          </a:p>
        </p:txBody>
      </p:sp>
      <p:sp>
        <p:nvSpPr>
          <p:cNvPr id="114" name="Shape 111"/>
          <p:cNvSpPr/>
          <p:nvPr/>
        </p:nvSpPr>
        <p:spPr>
          <a:xfrm>
            <a:off x="11546129" y="3300984"/>
            <a:ext cx="877824" cy="365760"/>
          </a:xfrm>
          <a:prstGeom prst="roundRect">
            <a:avLst>
              <a:gd name="adj" fmla="val 15000"/>
            </a:avLst>
          </a:prstGeom>
          <a:solidFill>
            <a:srgbClr val="4041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5" name="Text 112"/>
          <p:cNvSpPr txBox="1"/>
          <p:nvPr/>
        </p:nvSpPr>
        <p:spPr>
          <a:xfrm>
            <a:off x="11546129" y="3300984"/>
            <a:ext cx="877824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결합</a:t>
            </a:r>
            <a:endParaRPr lang="en-US" sz="1500" dirty="0"/>
          </a:p>
        </p:txBody>
      </p:sp>
      <p:sp>
        <p:nvSpPr>
          <p:cNvPr id="116" name="Shape 113"/>
          <p:cNvSpPr/>
          <p:nvPr/>
        </p:nvSpPr>
        <p:spPr>
          <a:xfrm>
            <a:off x="11280953" y="3483864"/>
            <a:ext cx="237744" cy="0"/>
          </a:xfrm>
          <a:prstGeom prst="line">
            <a:avLst/>
          </a:prstGeom>
          <a:noFill/>
          <a:ln w="15875">
            <a:solidFill>
              <a:srgbClr val="7C859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7" name="Shape 114"/>
          <p:cNvSpPr/>
          <p:nvPr/>
        </p:nvSpPr>
        <p:spPr>
          <a:xfrm flipH="1">
            <a:off x="12451385" y="3483864"/>
            <a:ext cx="237744" cy="0"/>
          </a:xfrm>
          <a:prstGeom prst="line">
            <a:avLst/>
          </a:prstGeom>
          <a:noFill/>
          <a:ln w="15875">
            <a:solidFill>
              <a:srgbClr val="7C859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8" name="Text 115"/>
          <p:cNvSpPr txBox="1"/>
          <p:nvPr/>
        </p:nvSpPr>
        <p:spPr>
          <a:xfrm>
            <a:off x="9881921" y="4059936"/>
            <a:ext cx="4114800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40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결합 방법은 프레임워크마다 다름</a:t>
            </a:r>
            <a:endParaRPr lang="en-US" sz="1500" dirty="0"/>
          </a:p>
        </p:txBody>
      </p:sp>
      <p:sp>
        <p:nvSpPr>
          <p:cNvPr id="119" name="Shape 116"/>
          <p:cNvSpPr/>
          <p:nvPr/>
        </p:nvSpPr>
        <p:spPr>
          <a:xfrm>
            <a:off x="9881921" y="4474464"/>
            <a:ext cx="1280160" cy="329184"/>
          </a:xfrm>
          <a:prstGeom prst="roundRect">
            <a:avLst>
              <a:gd name="adj" fmla="val 45000"/>
            </a:avLst>
          </a:prstGeom>
          <a:solidFill>
            <a:srgbClr val="EEF3FA"/>
          </a:solidFill>
          <a:ln w="12700">
            <a:solidFill>
              <a:srgbClr val="C3CE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0" name="Text 117"/>
          <p:cNvSpPr txBox="1"/>
          <p:nvPr/>
        </p:nvSpPr>
        <p:spPr>
          <a:xfrm>
            <a:off x="9881921" y="4474464"/>
            <a:ext cx="128016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Neo4j</a:t>
            </a:r>
            <a:endParaRPr lang="en-US" sz="1400" dirty="0"/>
          </a:p>
        </p:txBody>
      </p:sp>
      <p:sp>
        <p:nvSpPr>
          <p:cNvPr id="121" name="Text 118"/>
          <p:cNvSpPr txBox="1"/>
          <p:nvPr/>
        </p:nvSpPr>
        <p:spPr>
          <a:xfrm>
            <a:off x="11226089" y="4370832"/>
            <a:ext cx="2834640" cy="5364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'Hybrid' = 벡터 + 키워드 검색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Local + Global 결합은 직접 설계</a:t>
            </a:r>
            <a:endParaRPr lang="en-US" sz="1400" dirty="0"/>
          </a:p>
        </p:txBody>
      </p:sp>
      <p:sp>
        <p:nvSpPr>
          <p:cNvPr id="122" name="Shape 119"/>
          <p:cNvSpPr/>
          <p:nvPr/>
        </p:nvSpPr>
        <p:spPr>
          <a:xfrm>
            <a:off x="9881921" y="4907280"/>
            <a:ext cx="4114800" cy="0"/>
          </a:xfrm>
          <a:prstGeom prst="line">
            <a:avLst/>
          </a:prstGeom>
          <a:noFill/>
          <a:ln w="12700">
            <a:solidFill>
              <a:srgbClr val="EDF0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3" name="Shape 120"/>
          <p:cNvSpPr/>
          <p:nvPr/>
        </p:nvSpPr>
        <p:spPr>
          <a:xfrm>
            <a:off x="9881921" y="5010912"/>
            <a:ext cx="1280160" cy="329184"/>
          </a:xfrm>
          <a:prstGeom prst="roundRect">
            <a:avLst>
              <a:gd name="adj" fmla="val 45000"/>
            </a:avLst>
          </a:prstGeom>
          <a:solidFill>
            <a:srgbClr val="EEF3FA"/>
          </a:solidFill>
          <a:ln w="12700">
            <a:solidFill>
              <a:srgbClr val="C3CE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4" name="Text 121"/>
          <p:cNvSpPr txBox="1"/>
          <p:nvPr/>
        </p:nvSpPr>
        <p:spPr>
          <a:xfrm>
            <a:off x="9881921" y="5010912"/>
            <a:ext cx="128016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MS GraphRAG</a:t>
            </a:r>
            <a:endParaRPr lang="en-US" sz="1400" dirty="0"/>
          </a:p>
        </p:txBody>
      </p:sp>
      <p:sp>
        <p:nvSpPr>
          <p:cNvPr id="125" name="Text 122"/>
          <p:cNvSpPr txBox="1"/>
          <p:nvPr/>
        </p:nvSpPr>
        <p:spPr>
          <a:xfrm>
            <a:off x="11226089" y="4907280"/>
            <a:ext cx="2834640" cy="5364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DRIFT: 요약으로 큰 답 →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후속 질문마다 Local 검색 (순서대로)</a:t>
            </a:r>
            <a:endParaRPr lang="en-US" sz="1400" dirty="0"/>
          </a:p>
        </p:txBody>
      </p:sp>
      <p:sp>
        <p:nvSpPr>
          <p:cNvPr id="126" name="Shape 123"/>
          <p:cNvSpPr/>
          <p:nvPr/>
        </p:nvSpPr>
        <p:spPr>
          <a:xfrm>
            <a:off x="9881921" y="5443728"/>
            <a:ext cx="4114800" cy="0"/>
          </a:xfrm>
          <a:prstGeom prst="line">
            <a:avLst/>
          </a:prstGeom>
          <a:noFill/>
          <a:ln w="12700">
            <a:solidFill>
              <a:srgbClr val="EDF0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7" name="Shape 124"/>
          <p:cNvSpPr/>
          <p:nvPr/>
        </p:nvSpPr>
        <p:spPr>
          <a:xfrm>
            <a:off x="9881921" y="5547360"/>
            <a:ext cx="1280160" cy="329184"/>
          </a:xfrm>
          <a:prstGeom prst="roundRect">
            <a:avLst>
              <a:gd name="adj" fmla="val 45000"/>
            </a:avLst>
          </a:prstGeom>
          <a:solidFill>
            <a:srgbClr val="EEF3FA"/>
          </a:solidFill>
          <a:ln w="12700">
            <a:solidFill>
              <a:srgbClr val="C3CE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8" name="Text 125"/>
          <p:cNvSpPr txBox="1"/>
          <p:nvPr/>
        </p:nvSpPr>
        <p:spPr>
          <a:xfrm>
            <a:off x="9881921" y="5547360"/>
            <a:ext cx="128016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LightRAG</a:t>
            </a:r>
            <a:endParaRPr lang="en-US" sz="1400" dirty="0"/>
          </a:p>
        </p:txBody>
      </p:sp>
      <p:sp>
        <p:nvSpPr>
          <p:cNvPr id="129" name="Text 126"/>
          <p:cNvSpPr txBox="1"/>
          <p:nvPr/>
        </p:nvSpPr>
        <p:spPr>
          <a:xfrm>
            <a:off x="11226089" y="5443728"/>
            <a:ext cx="2834640" cy="5364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듀얼 레벨: 세부 키워드 → 엔티티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 상위 키워드 → 관계, 둘 다 사용</a:t>
            </a:r>
            <a:endParaRPr lang="en-US" sz="1400" dirty="0"/>
          </a:p>
        </p:txBody>
      </p:sp>
      <p:sp>
        <p:nvSpPr>
          <p:cNvPr id="130" name="Shape 127"/>
          <p:cNvSpPr/>
          <p:nvPr/>
        </p:nvSpPr>
        <p:spPr>
          <a:xfrm>
            <a:off x="509321" y="6144768"/>
            <a:ext cx="2057400" cy="1060704"/>
          </a:xfrm>
          <a:prstGeom prst="roundRect">
            <a:avLst>
              <a:gd name="adj" fmla="val 5172"/>
            </a:avLst>
          </a:prstGeom>
          <a:solidFill>
            <a:srgbClr val="4041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1" name="Text 128"/>
          <p:cNvSpPr txBox="1"/>
          <p:nvPr/>
        </p:nvSpPr>
        <p:spPr>
          <a:xfrm>
            <a:off x="509321" y="6144768"/>
            <a:ext cx="2057400" cy="106070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대표 프레임워크의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Global 질문 처리</a:t>
            </a:r>
            <a:endParaRPr lang="en-US" sz="1600" dirty="0"/>
          </a:p>
        </p:txBody>
      </p:sp>
      <p:sp>
        <p:nvSpPr>
          <p:cNvPr id="132" name="Shape 129"/>
          <p:cNvSpPr/>
          <p:nvPr/>
        </p:nvSpPr>
        <p:spPr>
          <a:xfrm>
            <a:off x="2703881" y="6144768"/>
            <a:ext cx="3718560" cy="1060704"/>
          </a:xfrm>
          <a:prstGeom prst="roundRect">
            <a:avLst>
              <a:gd name="adj" fmla="val 5172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3" name="Text 130"/>
          <p:cNvSpPr txBox="1"/>
          <p:nvPr/>
        </p:nvSpPr>
        <p:spPr>
          <a:xfrm>
            <a:off x="2813609" y="6144768"/>
            <a:ext cx="3499104" cy="10607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Neo4j GraphRAG</a:t>
            </a:r>
            <a:r>
              <a:rPr lang="en-US" sz="1400" b="1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Text2Cypher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질문을 Cypher로 바꿔 그래프 전체를 집계</a:t>
            </a:r>
            <a:endParaRPr lang="en-US" sz="1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잘 맞는 질문: 개수 · 순위 · 패턴</a:t>
            </a:r>
            <a:endParaRPr lang="en-US" sz="1600" dirty="0"/>
          </a:p>
        </p:txBody>
      </p:sp>
      <p:sp>
        <p:nvSpPr>
          <p:cNvPr id="134" name="Shape 131"/>
          <p:cNvSpPr/>
          <p:nvPr/>
        </p:nvSpPr>
        <p:spPr>
          <a:xfrm>
            <a:off x="6559601" y="6144768"/>
            <a:ext cx="3718560" cy="1060704"/>
          </a:xfrm>
          <a:prstGeom prst="roundRect">
            <a:avLst>
              <a:gd name="adj" fmla="val 5172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5" name="Text 132"/>
          <p:cNvSpPr txBox="1"/>
          <p:nvPr/>
        </p:nvSpPr>
        <p:spPr>
          <a:xfrm>
            <a:off x="6669329" y="6144768"/>
            <a:ext cx="3499104" cy="10607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MS GraphRAG*</a:t>
            </a:r>
            <a:r>
              <a:rPr lang="en-US" sz="1400" b="1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커뮤니티 요약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미리 만든 커뮤니티 요약을 나눠 답하고 합침</a:t>
            </a:r>
            <a:endParaRPr lang="en-US" sz="1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잘 맞는 질문: 주제 · 경향 요약</a:t>
            </a:r>
            <a:endParaRPr lang="en-US" sz="1600" dirty="0"/>
          </a:p>
        </p:txBody>
      </p:sp>
      <p:sp>
        <p:nvSpPr>
          <p:cNvPr id="136" name="Shape 133"/>
          <p:cNvSpPr/>
          <p:nvPr/>
        </p:nvSpPr>
        <p:spPr>
          <a:xfrm>
            <a:off x="10415321" y="6144768"/>
            <a:ext cx="3718560" cy="1060704"/>
          </a:xfrm>
          <a:prstGeom prst="roundRect">
            <a:avLst>
              <a:gd name="adj" fmla="val 5172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7" name="Text 134"/>
          <p:cNvSpPr txBox="1"/>
          <p:nvPr/>
        </p:nvSpPr>
        <p:spPr>
          <a:xfrm>
            <a:off x="10525049" y="6144768"/>
            <a:ext cx="3499104" cy="10607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LightRAG</a:t>
            </a:r>
            <a:r>
              <a:rPr lang="en-US" sz="1400" b="1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High-level 키워드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질문의 상위(High-level) 키워드로 관계 벡터 검색</a:t>
            </a:r>
            <a:endParaRPr lang="en-US" sz="1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잘 맞는 질문: 개념 간 연결 · 흐름</a:t>
            </a:r>
            <a:endParaRPr lang="en-US" sz="1600" dirty="0"/>
          </a:p>
        </p:txBody>
      </p:sp>
      <p:sp>
        <p:nvSpPr>
          <p:cNvPr id="138" name="Text 135"/>
          <p:cNvSpPr txBox="1"/>
          <p:nvPr/>
        </p:nvSpPr>
        <p:spPr>
          <a:xfrm>
            <a:off x="509321" y="7242048"/>
            <a:ext cx="13624560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altLang="ko-KR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MS </a:t>
            </a:r>
            <a:r>
              <a:rPr lang="en-US" altLang="ko-KR" sz="1400" dirty="0" err="1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GraphRAG</a:t>
            </a:r>
            <a:r>
              <a:rPr lang="ko-KR" alt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는 현재</a:t>
            </a: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유지보수 모드: 새 기능 추가 없이 버그 · 보안 수정만 이어 가는 상태 (2026-08 공지). Local · Global · DRIFT 개념의 원형으로 참고</a:t>
            </a:r>
            <a:endParaRPr lang="en-US" sz="140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472</Words>
  <Application>Microsoft Office PowerPoint</Application>
  <PresentationFormat>사용자 지정</PresentationFormat>
  <Paragraphs>75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Arial</vt:lpstr>
      <vt:lpstr>Pretendard</vt:lpstr>
      <vt:lpstr>Pretendard SemiBold</vt:lpstr>
      <vt:lpstr>Office Theme</vt:lpstr>
      <vt:lpstr>그래프 검색 3가지 방식: Local · Global · Hybrid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해경 이</cp:lastModifiedBy>
  <cp:revision>2</cp:revision>
  <dcterms:created xsi:type="dcterms:W3CDTF">2026-10-13T06:56:58Z</dcterms:created>
  <dcterms:modified xsi:type="dcterms:W3CDTF">2026-10-13T06:59:36Z</dcterms:modified>
</cp:coreProperties>
</file>