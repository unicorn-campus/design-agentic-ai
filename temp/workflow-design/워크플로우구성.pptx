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인덱싱은 오케스트레이터, KG 구축, 검색엔진 인덱싱 세 워크플로우로 나눕니다. 서브 워크플로우 두 개는 준비, 반영, 정리를 따로 부를 수 있게 만들고, 언제 무엇을 부를지는 오케스트레이터가 모드에 따라 정합니다. 서브 워크플로우는 활성 세대 파일을 바꾸지 않습니다.
준비는 아무 데도 쓰지 않고 계산만 해서 결과를 보관합니다. 반영은 Neo4j나 검색엔진에 씁니다. 정리는 KG에서 옛 청크와 근거를 잃은 엔티티를 지웁니다.
전체 재색인은 둘 다 새 세대에 쓰므로 게시 전까지 아무에게도 보이지 않습니다. 그래서 두 서브 워크플로우를 처음부터 끝까지 병렬로 돌리고, chunk_id 목록을 검증한 뒤 활성 세대 파일을 바꿉니다.
증분 색인은 지금 쓰는 세대에 바로 쓰므로 쓰는 순간 보입니다. 그래서 준비만 병렬로 하고, 반영은 KG에 새 청크 넣기, 검색엔진 문서 교체, KG 옛 청크 지우기 순서로 합니다. 그래프는 먼저 넣고 나중에 지워서, 바뀌는 동안에도 검색이 찾은 chunk_id가 그래프에 있게 합니다.
준비 결과를 보관하므로 반영에서 실패해도 오래 걸리는 계산을 다시 하지 않습니다. 되돌리기와 옛 세대 정리는 이 흐름과 따로 처리합니다. 세 워크플로우 모두 순서가 정해진 처리라 에이전트가 필요 없고, LLM은 K2 추출의 도구로만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_단쪽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868680"/>
            <a:ext cx="13613587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45770" y="7787945"/>
            <a:ext cx="15316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인덱싱 워크플로우 구성안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서브 워크플로우는 준비, 반영, 정리를 따로 제공하고, 언제 부를지와 게시는 오케스트레이터가 정함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09321" y="1737360"/>
            <a:ext cx="1828800" cy="658368"/>
          </a:xfrm>
          <a:prstGeom prst="roundRect">
            <a:avLst>
              <a:gd name="adj" fmla="val 6944"/>
            </a:avLst>
          </a:prstGeom>
          <a:solidFill>
            <a:srgbClr val="1E2A5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09321" y="1737360"/>
            <a:ext cx="1828800" cy="6583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오케스트레이터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475281" y="1737360"/>
            <a:ext cx="2112264" cy="658368"/>
          </a:xfrm>
          <a:prstGeom prst="roundRect">
            <a:avLst>
              <a:gd name="adj" fmla="val 11111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475281" y="1737360"/>
            <a:ext cx="2112264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세대 ID 발급</a:t>
            </a:r>
            <a:endParaRPr lang="en-US" sz="15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gen-X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614977" y="2066544"/>
            <a:ext cx="219456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4861865" y="1737360"/>
            <a:ext cx="2112264" cy="658368"/>
          </a:xfrm>
          <a:prstGeom prst="roundRect">
            <a:avLst>
              <a:gd name="adj" fmla="val 11111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61865" y="1737360"/>
            <a:ext cx="2112264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공통 단계</a:t>
            </a:r>
            <a:endParaRPr lang="en-US" sz="15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청킹 결과 파일 생성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001561" y="2066544"/>
            <a:ext cx="219456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7248449" y="1737360"/>
            <a:ext cx="2112264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248449" y="1737360"/>
            <a:ext cx="2112264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인덱스 구축</a:t>
            </a:r>
            <a:endParaRPr lang="en-US" sz="15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서브 워크플로우 호출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9388145" y="2066544"/>
            <a:ext cx="219456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9635033" y="1737360"/>
            <a:ext cx="2112264" cy="658368"/>
          </a:xfrm>
          <a:prstGeom prst="roundRect">
            <a:avLst>
              <a:gd name="adj" fmla="val 11111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635033" y="1737360"/>
            <a:ext cx="2112264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검증</a:t>
            </a:r>
            <a:endParaRPr lang="en-US" sz="15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chunk_id 목록 비교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11774729" y="2066544"/>
            <a:ext cx="219456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12021617" y="1737360"/>
            <a:ext cx="2112264" cy="658368"/>
          </a:xfrm>
          <a:prstGeom prst="roundRect">
            <a:avLst>
              <a:gd name="adj" fmla="val 11111"/>
            </a:avLst>
          </a:prstGeom>
          <a:solidFill>
            <a:srgbClr val="1E2A5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2021617" y="1737360"/>
            <a:ext cx="2112264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게시</a:t>
            </a:r>
            <a:endParaRPr lang="en-US" sz="15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활성 세대 파일 교체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509321" y="2542032"/>
            <a:ext cx="13624560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2E74C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304581" y="2414016"/>
            <a:ext cx="0" cy="109728"/>
          </a:xfrm>
          <a:prstGeom prst="line">
            <a:avLst/>
          </a:prstGeom>
          <a:noFill/>
          <a:ln w="2540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 flipV="1">
            <a:off x="10691165" y="2414016"/>
            <a:ext cx="0" cy="109728"/>
          </a:xfrm>
          <a:prstGeom prst="line">
            <a:avLst/>
          </a:prstGeom>
          <a:noFill/>
          <a:ln w="2540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24" name="Text 21"/>
          <p:cNvSpPr txBox="1"/>
          <p:nvPr/>
        </p:nvSpPr>
        <p:spPr>
          <a:xfrm>
            <a:off x="10782605" y="2569464"/>
            <a:ext cx="201168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준비 보고를 ④로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46481" y="2569464"/>
            <a:ext cx="594360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서브 워크플로우 (활성 세대 파일은 안 바꿈)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646481" y="2926080"/>
            <a:ext cx="1828800" cy="621792"/>
          </a:xfrm>
          <a:prstGeom prst="roundRect">
            <a:avLst>
              <a:gd name="adj" fmla="val 11765"/>
            </a:avLst>
          </a:prstGeom>
          <a:solidFill>
            <a:srgbClr val="1E2A5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46481" y="2926080"/>
            <a:ext cx="182880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KG 구축</a:t>
            </a:r>
            <a:endParaRPr lang="en-US" sz="15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워크플로우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2612441" y="2926080"/>
            <a:ext cx="566928" cy="621792"/>
          </a:xfrm>
          <a:prstGeom prst="roundRect">
            <a:avLst>
              <a:gd name="adj" fmla="val 8065"/>
            </a:avLst>
          </a:prstGeom>
          <a:solidFill>
            <a:srgbClr val="404155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2612441" y="2926080"/>
            <a:ext cx="566928" cy="6217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준비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3252521" y="2926080"/>
            <a:ext cx="1153828" cy="621792"/>
          </a:xfrm>
          <a:prstGeom prst="roundRect">
            <a:avLst>
              <a:gd name="adj" fmla="val 11765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252521" y="2926080"/>
            <a:ext cx="1153828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K1 추출 단위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나누기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4479501" y="2926080"/>
            <a:ext cx="1153828" cy="621792"/>
          </a:xfrm>
          <a:prstGeom prst="roundRect">
            <a:avLst>
              <a:gd name="adj" fmla="val 11765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479501" y="2926080"/>
            <a:ext cx="1153828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K2 엔티티와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 추출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5706482" y="2926080"/>
            <a:ext cx="1153828" cy="621792"/>
          </a:xfrm>
          <a:prstGeom prst="roundRect">
            <a:avLst>
              <a:gd name="adj" fmla="val 11765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706482" y="2926080"/>
            <a:ext cx="1153828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K3 가지치기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보관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7061478" y="2926080"/>
            <a:ext cx="566928" cy="621792"/>
          </a:xfrm>
          <a:prstGeom prst="roundRect">
            <a:avLst>
              <a:gd name="adj" fmla="val 8065"/>
            </a:avLst>
          </a:prstGeom>
          <a:solidFill>
            <a:srgbClr val="2E74C6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7061478" y="2926080"/>
            <a:ext cx="566928" cy="6217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반영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7701558" y="2926080"/>
            <a:ext cx="1153828" cy="621792"/>
          </a:xfrm>
          <a:prstGeom prst="roundRect">
            <a:avLst>
              <a:gd name="adj" fmla="val 11765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701558" y="2926080"/>
            <a:ext cx="1153828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K4 Neo4j 저장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청크 넣기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8928538" y="2926080"/>
            <a:ext cx="1153828" cy="621792"/>
          </a:xfrm>
          <a:prstGeom prst="roundRect">
            <a:avLst>
              <a:gd name="adj" fmla="val 11765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928538" y="2926080"/>
            <a:ext cx="1153828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K5 병합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관련 엔티티만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10155519" y="2926080"/>
            <a:ext cx="1153828" cy="621792"/>
          </a:xfrm>
          <a:prstGeom prst="roundRect">
            <a:avLst>
              <a:gd name="adj" fmla="val 11765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10155519" y="2926080"/>
            <a:ext cx="1153828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K6 노드 설명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임베딩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11510515" y="2926080"/>
            <a:ext cx="566928" cy="621792"/>
          </a:xfrm>
          <a:prstGeom prst="roundRect">
            <a:avLst>
              <a:gd name="adj" fmla="val 8065"/>
            </a:avLst>
          </a:prstGeom>
          <a:solidFill>
            <a:srgbClr val="404155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11510515" y="2926080"/>
            <a:ext cx="566928" cy="6217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정리</a:t>
            </a: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12150595" y="2926080"/>
            <a:ext cx="1846125" cy="621792"/>
          </a:xfrm>
          <a:prstGeom prst="roundRect">
            <a:avLst>
              <a:gd name="adj" fmla="val 11765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2150595" y="2926080"/>
            <a:ext cx="1846125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K7 옛 청크 지움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고아 엔티티 정리</a:t>
            </a:r>
            <a:endParaRPr lang="en-US" sz="1400" dirty="0"/>
          </a:p>
        </p:txBody>
      </p:sp>
      <p:sp>
        <p:nvSpPr>
          <p:cNvPr id="48" name="Shape 45"/>
          <p:cNvSpPr/>
          <p:nvPr/>
        </p:nvSpPr>
        <p:spPr>
          <a:xfrm>
            <a:off x="646481" y="3611880"/>
            <a:ext cx="1828800" cy="621792"/>
          </a:xfrm>
          <a:prstGeom prst="roundRect">
            <a:avLst>
              <a:gd name="adj" fmla="val 11765"/>
            </a:avLst>
          </a:prstGeom>
          <a:solidFill>
            <a:srgbClr val="1E2A5C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646481" y="3611880"/>
            <a:ext cx="182880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검색엔진 인덱싱</a:t>
            </a:r>
            <a:endParaRPr lang="en-US" sz="15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워크플로우</a:t>
            </a:r>
            <a:endParaRPr lang="en-US" sz="1500" dirty="0"/>
          </a:p>
        </p:txBody>
      </p:sp>
      <p:sp>
        <p:nvSpPr>
          <p:cNvPr id="50" name="Shape 47"/>
          <p:cNvSpPr/>
          <p:nvPr/>
        </p:nvSpPr>
        <p:spPr>
          <a:xfrm>
            <a:off x="2612441" y="3611880"/>
            <a:ext cx="566928" cy="621792"/>
          </a:xfrm>
          <a:prstGeom prst="roundRect">
            <a:avLst>
              <a:gd name="adj" fmla="val 8065"/>
            </a:avLst>
          </a:prstGeom>
          <a:solidFill>
            <a:srgbClr val="404155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2612441" y="3611880"/>
            <a:ext cx="566928" cy="6217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준비</a:t>
            </a:r>
            <a:endParaRPr lang="en-US" sz="1400" dirty="0"/>
          </a:p>
        </p:txBody>
      </p:sp>
      <p:sp>
        <p:nvSpPr>
          <p:cNvPr id="52" name="Shape 49"/>
          <p:cNvSpPr/>
          <p:nvPr/>
        </p:nvSpPr>
        <p:spPr>
          <a:xfrm>
            <a:off x="3252521" y="3611880"/>
            <a:ext cx="1767319" cy="621792"/>
          </a:xfrm>
          <a:prstGeom prst="roundRect">
            <a:avLst>
              <a:gd name="adj" fmla="val 11765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3252521" y="3611880"/>
            <a:ext cx="1767319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S1 임베딩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바뀐 것만</a:t>
            </a:r>
            <a:endParaRPr lang="en-US" sz="1400" dirty="0"/>
          </a:p>
        </p:txBody>
      </p:sp>
      <p:sp>
        <p:nvSpPr>
          <p:cNvPr id="54" name="Shape 51"/>
          <p:cNvSpPr/>
          <p:nvPr/>
        </p:nvSpPr>
        <p:spPr>
          <a:xfrm>
            <a:off x="5092991" y="3611880"/>
            <a:ext cx="1767319" cy="621792"/>
          </a:xfrm>
          <a:prstGeom prst="roundRect">
            <a:avLst>
              <a:gd name="adj" fmla="val 11765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5092991" y="3611880"/>
            <a:ext cx="1767319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S2 키워드 분석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사전과 별칭, 결과 보관</a:t>
            </a:r>
            <a:endParaRPr lang="en-US" sz="1400" dirty="0"/>
          </a:p>
        </p:txBody>
      </p:sp>
      <p:sp>
        <p:nvSpPr>
          <p:cNvPr id="56" name="Shape 53"/>
          <p:cNvSpPr/>
          <p:nvPr/>
        </p:nvSpPr>
        <p:spPr>
          <a:xfrm>
            <a:off x="7061478" y="3611880"/>
            <a:ext cx="566928" cy="621792"/>
          </a:xfrm>
          <a:prstGeom prst="roundRect">
            <a:avLst>
              <a:gd name="adj" fmla="val 8065"/>
            </a:avLst>
          </a:prstGeom>
          <a:solidFill>
            <a:srgbClr val="2E74C6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7061478" y="3611880"/>
            <a:ext cx="566928" cy="6217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반영</a:t>
            </a:r>
            <a:endParaRPr lang="en-US" sz="1400" dirty="0"/>
          </a:p>
        </p:txBody>
      </p:sp>
      <p:sp>
        <p:nvSpPr>
          <p:cNvPr id="58" name="Shape 55"/>
          <p:cNvSpPr/>
          <p:nvPr/>
        </p:nvSpPr>
        <p:spPr>
          <a:xfrm>
            <a:off x="7701558" y="3611880"/>
            <a:ext cx="3607789" cy="621792"/>
          </a:xfrm>
          <a:prstGeom prst="roundRect">
            <a:avLst>
              <a:gd name="adj" fmla="val 11765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7701558" y="3611880"/>
            <a:ext cx="3607789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검색엔진에 쓰기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card_chunks-gen-X</a:t>
            </a:r>
            <a:endParaRPr lang="en-US" sz="1400" dirty="0"/>
          </a:p>
        </p:txBody>
      </p:sp>
      <p:sp>
        <p:nvSpPr>
          <p:cNvPr id="60" name="Shape 57"/>
          <p:cNvSpPr/>
          <p:nvPr/>
        </p:nvSpPr>
        <p:spPr>
          <a:xfrm>
            <a:off x="11510515" y="3611880"/>
            <a:ext cx="566928" cy="621792"/>
          </a:xfrm>
          <a:prstGeom prst="roundRect">
            <a:avLst>
              <a:gd name="adj" fmla="val 8065"/>
            </a:avLst>
          </a:prstGeom>
          <a:solidFill>
            <a:srgbClr val="404155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11510515" y="3611880"/>
            <a:ext cx="566928" cy="6217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정리</a:t>
            </a:r>
            <a:endParaRPr lang="en-US" sz="1400" dirty="0"/>
          </a:p>
        </p:txBody>
      </p:sp>
      <p:sp>
        <p:nvSpPr>
          <p:cNvPr id="62" name="Shape 59"/>
          <p:cNvSpPr/>
          <p:nvPr/>
        </p:nvSpPr>
        <p:spPr>
          <a:xfrm>
            <a:off x="12150595" y="3611880"/>
            <a:ext cx="1846125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dash"/>
          </a:ln>
        </p:spPr>
      </p:sp>
      <p:sp>
        <p:nvSpPr>
          <p:cNvPr id="63" name="Text 60"/>
          <p:cNvSpPr txBox="1"/>
          <p:nvPr/>
        </p:nvSpPr>
        <p:spPr>
          <a:xfrm>
            <a:off x="12150595" y="3611880"/>
            <a:ext cx="1846125" cy="6217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없음</a:t>
            </a:r>
            <a:endParaRPr lang="en-US" sz="1400" dirty="0"/>
          </a:p>
        </p:txBody>
      </p:sp>
      <p:sp>
        <p:nvSpPr>
          <p:cNvPr id="64" name="Shape 61"/>
          <p:cNvSpPr/>
          <p:nvPr/>
        </p:nvSpPr>
        <p:spPr>
          <a:xfrm>
            <a:off x="509321" y="4443984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404155"/>
          </a:solidFill>
          <a:ln/>
        </p:spPr>
      </p:sp>
      <p:sp>
        <p:nvSpPr>
          <p:cNvPr id="65" name="Text 62"/>
          <p:cNvSpPr txBox="1"/>
          <p:nvPr/>
        </p:nvSpPr>
        <p:spPr>
          <a:xfrm>
            <a:off x="509321" y="4443984"/>
            <a:ext cx="17373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재색인</a:t>
            </a:r>
            <a:endParaRPr lang="en-US" sz="16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순서 불필요</a:t>
            </a:r>
            <a:endParaRPr lang="en-US" sz="1600" dirty="0"/>
          </a:p>
        </p:txBody>
      </p:sp>
      <p:sp>
        <p:nvSpPr>
          <p:cNvPr id="66" name="Shape 63"/>
          <p:cNvSpPr/>
          <p:nvPr/>
        </p:nvSpPr>
        <p:spPr>
          <a:xfrm>
            <a:off x="2383841" y="4443984"/>
            <a:ext cx="3703320" cy="640080"/>
          </a:xfrm>
          <a:prstGeom prst="roundRect">
            <a:avLst>
              <a:gd name="adj" fmla="val 11429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2383841" y="4443984"/>
            <a:ext cx="37033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K1 ~ K7 와 S1 ~ S3 병렬</a:t>
            </a:r>
            <a:endParaRPr lang="en-US" sz="15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둘 다 새 세대에 씀</a:t>
            </a:r>
            <a:endParaRPr lang="en-US" sz="1500" dirty="0"/>
          </a:p>
        </p:txBody>
      </p:sp>
      <p:sp>
        <p:nvSpPr>
          <p:cNvPr id="68" name="Shape 65"/>
          <p:cNvSpPr/>
          <p:nvPr/>
        </p:nvSpPr>
        <p:spPr>
          <a:xfrm>
            <a:off x="6114593" y="4764024"/>
            <a:ext cx="265176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69" name="Shape 66"/>
          <p:cNvSpPr/>
          <p:nvPr/>
        </p:nvSpPr>
        <p:spPr>
          <a:xfrm>
            <a:off x="6407201" y="4443984"/>
            <a:ext cx="3703320" cy="640080"/>
          </a:xfrm>
          <a:prstGeom prst="roundRect">
            <a:avLst>
              <a:gd name="adj" fmla="val 11429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6407201" y="4443984"/>
            <a:ext cx="37033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검증</a:t>
            </a:r>
            <a:endParaRPr lang="en-US" sz="15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chunk_id 목록 비교</a:t>
            </a:r>
            <a:endParaRPr lang="en-US" sz="1500" dirty="0"/>
          </a:p>
        </p:txBody>
      </p:sp>
      <p:sp>
        <p:nvSpPr>
          <p:cNvPr id="71" name="Shape 68"/>
          <p:cNvSpPr/>
          <p:nvPr/>
        </p:nvSpPr>
        <p:spPr>
          <a:xfrm>
            <a:off x="10137953" y="4764024"/>
            <a:ext cx="265176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72" name="Shape 69"/>
          <p:cNvSpPr/>
          <p:nvPr/>
        </p:nvSpPr>
        <p:spPr>
          <a:xfrm>
            <a:off x="10430561" y="4443984"/>
            <a:ext cx="3703320" cy="640080"/>
          </a:xfrm>
          <a:prstGeom prst="roundRect">
            <a:avLst>
              <a:gd name="adj" fmla="val 11429"/>
            </a:avLst>
          </a:prstGeom>
          <a:solidFill>
            <a:srgbClr val="1E2A5C"/>
          </a:solidFill>
          <a:ln/>
        </p:spPr>
      </p:sp>
      <p:sp>
        <p:nvSpPr>
          <p:cNvPr id="73" name="Text 70"/>
          <p:cNvSpPr txBox="1"/>
          <p:nvPr/>
        </p:nvSpPr>
        <p:spPr>
          <a:xfrm>
            <a:off x="10430561" y="4443984"/>
            <a:ext cx="37033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게시</a:t>
            </a:r>
            <a:endParaRPr lang="en-US" sz="15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활성 세대 파일 교체</a:t>
            </a:r>
            <a:endParaRPr lang="en-US" sz="1500" dirty="0"/>
          </a:p>
        </p:txBody>
      </p:sp>
      <p:sp>
        <p:nvSpPr>
          <p:cNvPr id="74" name="Shape 71"/>
          <p:cNvSpPr/>
          <p:nvPr/>
        </p:nvSpPr>
        <p:spPr>
          <a:xfrm>
            <a:off x="509321" y="5175504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2E74C6"/>
          </a:solidFill>
          <a:ln/>
        </p:spPr>
      </p:sp>
      <p:sp>
        <p:nvSpPr>
          <p:cNvPr id="75" name="Text 72"/>
          <p:cNvSpPr txBox="1"/>
          <p:nvPr/>
        </p:nvSpPr>
        <p:spPr>
          <a:xfrm>
            <a:off x="509321" y="5175504"/>
            <a:ext cx="17373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증분 색인</a:t>
            </a:r>
            <a:endParaRPr lang="en-US" sz="16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순서 필요</a:t>
            </a:r>
            <a:endParaRPr lang="en-US" sz="1600" dirty="0"/>
          </a:p>
        </p:txBody>
      </p:sp>
      <p:sp>
        <p:nvSpPr>
          <p:cNvPr id="76" name="Shape 73"/>
          <p:cNvSpPr/>
          <p:nvPr/>
        </p:nvSpPr>
        <p:spPr>
          <a:xfrm>
            <a:off x="2383841" y="5175504"/>
            <a:ext cx="2130552" cy="640080"/>
          </a:xfrm>
          <a:prstGeom prst="roundRect">
            <a:avLst>
              <a:gd name="adj" fmla="val 11429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2383841" y="5175504"/>
            <a:ext cx="2130552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준비 (병렬)</a:t>
            </a:r>
            <a:endParaRPr lang="en-US" sz="15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K1 ~ K3, S1 ~ S2</a:t>
            </a:r>
            <a:endParaRPr lang="en-US" sz="1500" dirty="0"/>
          </a:p>
        </p:txBody>
      </p:sp>
      <p:sp>
        <p:nvSpPr>
          <p:cNvPr id="78" name="Shape 75"/>
          <p:cNvSpPr/>
          <p:nvPr/>
        </p:nvSpPr>
        <p:spPr>
          <a:xfrm>
            <a:off x="4541825" y="5495544"/>
            <a:ext cx="219456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79" name="Shape 76"/>
          <p:cNvSpPr/>
          <p:nvPr/>
        </p:nvSpPr>
        <p:spPr>
          <a:xfrm>
            <a:off x="4788713" y="5175504"/>
            <a:ext cx="2130552" cy="640080"/>
          </a:xfrm>
          <a:prstGeom prst="roundRect">
            <a:avLst>
              <a:gd name="adj" fmla="val 11429"/>
            </a:avLst>
          </a:prstGeom>
          <a:solidFill>
            <a:srgbClr val="2E74C6"/>
          </a:solidFill>
          <a:ln/>
        </p:spPr>
      </p:sp>
      <p:sp>
        <p:nvSpPr>
          <p:cNvPr id="80" name="Text 77"/>
          <p:cNvSpPr txBox="1"/>
          <p:nvPr/>
        </p:nvSpPr>
        <p:spPr>
          <a:xfrm>
            <a:off x="4788713" y="5175504"/>
            <a:ext cx="2130552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반영 K4 ~ K6</a:t>
            </a:r>
            <a:endParaRPr lang="en-US" sz="15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KG에 새 청크 넣기</a:t>
            </a:r>
            <a:endParaRPr lang="en-US" sz="1500" dirty="0"/>
          </a:p>
        </p:txBody>
      </p:sp>
      <p:sp>
        <p:nvSpPr>
          <p:cNvPr id="81" name="Shape 78"/>
          <p:cNvSpPr/>
          <p:nvPr/>
        </p:nvSpPr>
        <p:spPr>
          <a:xfrm>
            <a:off x="6946697" y="5495544"/>
            <a:ext cx="219456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82" name="Shape 79"/>
          <p:cNvSpPr/>
          <p:nvPr/>
        </p:nvSpPr>
        <p:spPr>
          <a:xfrm>
            <a:off x="7193585" y="5175504"/>
            <a:ext cx="2130552" cy="640080"/>
          </a:xfrm>
          <a:prstGeom prst="roundRect">
            <a:avLst>
              <a:gd name="adj" fmla="val 11429"/>
            </a:avLst>
          </a:prstGeom>
          <a:solidFill>
            <a:srgbClr val="2E74C6"/>
          </a:solidFill>
          <a:ln/>
        </p:spPr>
      </p:sp>
      <p:sp>
        <p:nvSpPr>
          <p:cNvPr id="83" name="Text 80"/>
          <p:cNvSpPr txBox="1"/>
          <p:nvPr/>
        </p:nvSpPr>
        <p:spPr>
          <a:xfrm>
            <a:off x="7193585" y="5175504"/>
            <a:ext cx="2130552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반영 S3</a:t>
            </a:r>
            <a:endParaRPr lang="en-US" sz="15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검색엔진 문서 교체</a:t>
            </a:r>
            <a:endParaRPr lang="en-US" sz="1500" dirty="0"/>
          </a:p>
        </p:txBody>
      </p:sp>
      <p:sp>
        <p:nvSpPr>
          <p:cNvPr id="84" name="Shape 81"/>
          <p:cNvSpPr/>
          <p:nvPr/>
        </p:nvSpPr>
        <p:spPr>
          <a:xfrm>
            <a:off x="9351569" y="5495544"/>
            <a:ext cx="219456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85" name="Shape 82"/>
          <p:cNvSpPr/>
          <p:nvPr/>
        </p:nvSpPr>
        <p:spPr>
          <a:xfrm>
            <a:off x="9598457" y="5175504"/>
            <a:ext cx="2130552" cy="640080"/>
          </a:xfrm>
          <a:prstGeom prst="roundRect">
            <a:avLst>
              <a:gd name="adj" fmla="val 11429"/>
            </a:avLst>
          </a:prstGeom>
          <a:solidFill>
            <a:srgbClr val="2E74C6"/>
          </a:solidFill>
          <a:ln/>
        </p:spPr>
      </p:sp>
      <p:sp>
        <p:nvSpPr>
          <p:cNvPr id="86" name="Text 83"/>
          <p:cNvSpPr txBox="1"/>
          <p:nvPr/>
        </p:nvSpPr>
        <p:spPr>
          <a:xfrm>
            <a:off x="9598457" y="5175504"/>
            <a:ext cx="2130552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정리 K7</a:t>
            </a:r>
            <a:endParaRPr lang="en-US" sz="15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KG 옛 청크 지우기</a:t>
            </a:r>
            <a:endParaRPr lang="en-US" sz="1500" dirty="0"/>
          </a:p>
        </p:txBody>
      </p:sp>
      <p:sp>
        <p:nvSpPr>
          <p:cNvPr id="87" name="Shape 84"/>
          <p:cNvSpPr/>
          <p:nvPr/>
        </p:nvSpPr>
        <p:spPr>
          <a:xfrm>
            <a:off x="11756441" y="5495544"/>
            <a:ext cx="219456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88" name="Shape 85"/>
          <p:cNvSpPr/>
          <p:nvPr/>
        </p:nvSpPr>
        <p:spPr>
          <a:xfrm>
            <a:off x="12003329" y="5175504"/>
            <a:ext cx="2130552" cy="640080"/>
          </a:xfrm>
          <a:prstGeom prst="roundRect">
            <a:avLst>
              <a:gd name="adj" fmla="val 11429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89" name="Text 86"/>
          <p:cNvSpPr txBox="1"/>
          <p:nvPr/>
        </p:nvSpPr>
        <p:spPr>
          <a:xfrm>
            <a:off x="12003329" y="5175504"/>
            <a:ext cx="2130552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기록 갱신</a:t>
            </a:r>
            <a:endParaRPr lang="en-US" sz="15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 지문 갱신</a:t>
            </a:r>
            <a:endParaRPr lang="en-US" sz="1500" dirty="0"/>
          </a:p>
        </p:txBody>
      </p:sp>
      <p:sp>
        <p:nvSpPr>
          <p:cNvPr id="90" name="Shape 87"/>
          <p:cNvSpPr/>
          <p:nvPr/>
        </p:nvSpPr>
        <p:spPr>
          <a:xfrm>
            <a:off x="509321" y="5961888"/>
            <a:ext cx="3268980" cy="1280160"/>
          </a:xfrm>
          <a:prstGeom prst="roundRect">
            <a:avLst>
              <a:gd name="adj" fmla="val 5714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646481" y="608076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2E74C6"/>
          </a:solidFill>
          <a:ln/>
        </p:spPr>
      </p:sp>
      <p:sp>
        <p:nvSpPr>
          <p:cNvPr id="92" name="Text 89"/>
          <p:cNvSpPr txBox="1"/>
          <p:nvPr/>
        </p:nvSpPr>
        <p:spPr>
          <a:xfrm>
            <a:off x="646481" y="6080760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600" dirty="0"/>
          </a:p>
        </p:txBody>
      </p:sp>
      <p:sp>
        <p:nvSpPr>
          <p:cNvPr id="93" name="Text 90"/>
          <p:cNvSpPr txBox="1"/>
          <p:nvPr/>
        </p:nvSpPr>
        <p:spPr>
          <a:xfrm>
            <a:off x="1076249" y="6035040"/>
            <a:ext cx="258318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서브 워크플로우는 인덱스 구축만 함</a:t>
            </a:r>
            <a:endParaRPr lang="en-US" sz="1600" dirty="0"/>
          </a:p>
        </p:txBody>
      </p:sp>
      <p:sp>
        <p:nvSpPr>
          <p:cNvPr id="94" name="Text 91"/>
          <p:cNvSpPr txBox="1"/>
          <p:nvPr/>
        </p:nvSpPr>
        <p:spPr>
          <a:xfrm>
            <a:off x="646481" y="6638544"/>
            <a:ext cx="299466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준비, 반영, 정리만 제공. 활성 세대 파일은 안 바꿈</a:t>
            </a:r>
            <a:endParaRPr lang="en-US" sz="1400" dirty="0"/>
          </a:p>
        </p:txBody>
      </p:sp>
      <p:sp>
        <p:nvSpPr>
          <p:cNvPr id="95" name="Shape 92"/>
          <p:cNvSpPr/>
          <p:nvPr/>
        </p:nvSpPr>
        <p:spPr>
          <a:xfrm>
            <a:off x="3961181" y="5961888"/>
            <a:ext cx="3268980" cy="1280160"/>
          </a:xfrm>
          <a:prstGeom prst="roundRect">
            <a:avLst>
              <a:gd name="adj" fmla="val 5714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4098341" y="608076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E2A5C"/>
          </a:solidFill>
          <a:ln/>
        </p:spPr>
      </p:sp>
      <p:sp>
        <p:nvSpPr>
          <p:cNvPr id="97" name="Text 94"/>
          <p:cNvSpPr txBox="1"/>
          <p:nvPr/>
        </p:nvSpPr>
        <p:spPr>
          <a:xfrm>
            <a:off x="4098341" y="6080760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600" dirty="0"/>
          </a:p>
        </p:txBody>
      </p:sp>
      <p:sp>
        <p:nvSpPr>
          <p:cNvPr id="98" name="Text 95"/>
          <p:cNvSpPr txBox="1"/>
          <p:nvPr/>
        </p:nvSpPr>
        <p:spPr>
          <a:xfrm>
            <a:off x="4528109" y="6035040"/>
            <a:ext cx="258318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활성 세대 파일은 하나</a:t>
            </a:r>
            <a:endParaRPr lang="en-US" sz="1600" dirty="0"/>
          </a:p>
        </p:txBody>
      </p:sp>
      <p:sp>
        <p:nvSpPr>
          <p:cNvPr id="99" name="Text 96"/>
          <p:cNvSpPr txBox="1"/>
          <p:nvPr/>
        </p:nvSpPr>
        <p:spPr>
          <a:xfrm>
            <a:off x="4098341" y="6638544"/>
            <a:ext cx="299466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검색기는 요청마다 한 번 읽고 같은 세대로 두 곳을 조회</a:t>
            </a:r>
            <a:endParaRPr lang="en-US" sz="1400" dirty="0"/>
          </a:p>
        </p:txBody>
      </p:sp>
      <p:sp>
        <p:nvSpPr>
          <p:cNvPr id="100" name="Shape 97"/>
          <p:cNvSpPr/>
          <p:nvPr/>
        </p:nvSpPr>
        <p:spPr>
          <a:xfrm>
            <a:off x="7413041" y="5961888"/>
            <a:ext cx="3268980" cy="1280160"/>
          </a:xfrm>
          <a:prstGeom prst="roundRect">
            <a:avLst>
              <a:gd name="adj" fmla="val 5714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7550201" y="608076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2E74C6"/>
          </a:solidFill>
          <a:ln/>
        </p:spPr>
      </p:sp>
      <p:sp>
        <p:nvSpPr>
          <p:cNvPr id="102" name="Text 99"/>
          <p:cNvSpPr txBox="1"/>
          <p:nvPr/>
        </p:nvSpPr>
        <p:spPr>
          <a:xfrm>
            <a:off x="7550201" y="6080760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600" dirty="0"/>
          </a:p>
        </p:txBody>
      </p:sp>
      <p:sp>
        <p:nvSpPr>
          <p:cNvPr id="103" name="Text 100"/>
          <p:cNvSpPr txBox="1"/>
          <p:nvPr/>
        </p:nvSpPr>
        <p:spPr>
          <a:xfrm>
            <a:off x="7979969" y="6035040"/>
            <a:ext cx="258318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실패하면 게시 안 함</a:t>
            </a:r>
            <a:endParaRPr lang="en-US" sz="1600" dirty="0"/>
          </a:p>
        </p:txBody>
      </p:sp>
      <p:sp>
        <p:nvSpPr>
          <p:cNvPr id="104" name="Text 101"/>
          <p:cNvSpPr txBox="1"/>
          <p:nvPr/>
        </p:nvSpPr>
        <p:spPr>
          <a:xfrm>
            <a:off x="7550201" y="6638544"/>
            <a:ext cx="299466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준비 결과를 보관해 반영만 다시 실행</a:t>
            </a:r>
            <a:endParaRPr lang="en-US" sz="1400" dirty="0"/>
          </a:p>
        </p:txBody>
      </p:sp>
      <p:sp>
        <p:nvSpPr>
          <p:cNvPr id="105" name="Shape 102"/>
          <p:cNvSpPr/>
          <p:nvPr/>
        </p:nvSpPr>
        <p:spPr>
          <a:xfrm>
            <a:off x="10864901" y="5961888"/>
            <a:ext cx="3268980" cy="1280160"/>
          </a:xfrm>
          <a:prstGeom prst="roundRect">
            <a:avLst>
              <a:gd name="adj" fmla="val 5714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11002061" y="608076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2E74C6"/>
          </a:solidFill>
          <a:ln/>
        </p:spPr>
      </p:sp>
      <p:sp>
        <p:nvSpPr>
          <p:cNvPr id="107" name="Text 104"/>
          <p:cNvSpPr txBox="1"/>
          <p:nvPr/>
        </p:nvSpPr>
        <p:spPr>
          <a:xfrm>
            <a:off x="11002061" y="6080760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600" dirty="0"/>
          </a:p>
        </p:txBody>
      </p:sp>
      <p:sp>
        <p:nvSpPr>
          <p:cNvPr id="108" name="Text 105"/>
          <p:cNvSpPr txBox="1"/>
          <p:nvPr/>
        </p:nvSpPr>
        <p:spPr>
          <a:xfrm>
            <a:off x="11431829" y="6035040"/>
            <a:ext cx="258318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별도 처리</a:t>
            </a:r>
            <a:endParaRPr lang="en-US" sz="1600" dirty="0"/>
          </a:p>
        </p:txBody>
      </p:sp>
      <p:sp>
        <p:nvSpPr>
          <p:cNvPr id="109" name="Text 106"/>
          <p:cNvSpPr txBox="1"/>
          <p:nvPr/>
        </p:nvSpPr>
        <p:spPr>
          <a:xfrm>
            <a:off x="11002061" y="6638544"/>
            <a:ext cx="299466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되돌리기와 옛 세대 정리는 흐름 밖에서 함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2026-10-19T08:50:03Z</dcterms:created>
  <dcterms:modified xsi:type="dcterms:W3CDTF">2026-10-19T08:50:03Z</dcterms:modified>
</cp:coreProperties>
</file>