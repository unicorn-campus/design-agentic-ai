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인덱싱을 세 워크플로우로 나눕니다. 오케스트레이터가 세대 ID를 발급하고 공통 단계를 돌려 청킹 결과를 하나 만듭니다. KG 구축과 검색엔진 인덱싱은 이 같은 청킹 결과를 받아 각자의 인덱스를 만들고, 다 만들면 준비 보고만 돌려줍니다. 둘은 활성 세대 파일을 바꾸지 않습니다. 바꾸는 일은 오케스트레이터만 합니다.
전체 재색인은 둘 다 새 세대에 쓰므로 병렬로 돌려도 됩니다. 오케스트레이터는 두 보고의 chunk_id 목록이 같은지 확인한 뒤 활성 세대 파일 하나만 바꿉니다. 검색기는 요청마다 이 파일을 한 번 읽고 그 세대의 검색엔진 인덱스와 Neo4j를 함께 조회합니다. 한쪽이라도 실패하면 게시하지 않으므로 사용자는 계속 옛 세대를 봅니다.
증분 색인은 지금 쓰는 세대에 바로 쓰므로 쓰는 순간 보입니다. 그래서 오래 걸리는 계산은 병렬로 하되, 반영은 KG에 새 청크 넣기, 검색엔진 인덱스 바꾸기, KG에서 옛 청크 지우기 순서로 합니다. 그래프는 먼저 넣고 나중에 지워서, 바뀌는 동안에도 검색이 찾은 chunk_id가 그래프에 있게 합니다.
되돌리기와 옛 세대 정리는 이 흐름과 따로 처리합니다.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_단쪽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868680"/>
            <a:ext cx="13613587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45770" y="7787945"/>
            <a:ext cx="15316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인덱싱 워크플로우 구성안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KG 구축과 검색엔진 인덱싱은 인덱스를 만들기만 하고, 세대 전환(게시)은 오케스트레이터만 함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09321" y="1737360"/>
            <a:ext cx="1362456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22225">
            <a:solidFill>
              <a:srgbClr val="1E2A5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6481" y="1773936"/>
            <a:ext cx="310896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오케스트레이터 워크플로우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92201" y="2240280"/>
            <a:ext cx="2194560" cy="621792"/>
          </a:xfrm>
          <a:prstGeom prst="roundRect">
            <a:avLst>
              <a:gd name="adj" fmla="val 11765"/>
            </a:avLst>
          </a:prstGeom>
          <a:solidFill>
            <a:srgbClr val="1E2A5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92201" y="2240280"/>
            <a:ext cx="219456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세대 ID 발급</a:t>
            </a:r>
            <a:endParaRPr lang="en-US" sz="15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gen-X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92201" y="3044952"/>
            <a:ext cx="2194560" cy="749808"/>
          </a:xfrm>
          <a:prstGeom prst="roundRect">
            <a:avLst>
              <a:gd name="adj" fmla="val 9756"/>
            </a:avLst>
          </a:prstGeom>
          <a:solidFill>
            <a:srgbClr val="1E2A5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92201" y="3044952"/>
            <a:ext cx="2194560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공통 단계</a:t>
            </a:r>
            <a:endParaRPr lang="en-US" sz="15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로드, 정제와 가명처리, 청킹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92201" y="3977640"/>
            <a:ext cx="2194560" cy="749808"/>
          </a:xfrm>
          <a:prstGeom prst="roundRect">
            <a:avLst>
              <a:gd name="adj" fmla="val 9756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92201" y="3977640"/>
            <a:ext cx="2194560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prepared-chunks.json</a:t>
            </a:r>
            <a:endParaRPr lang="en-US" sz="14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청킹 결과 + 해시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789481" y="2871216"/>
            <a:ext cx="0" cy="164592"/>
          </a:xfrm>
          <a:prstGeom prst="line">
            <a:avLst/>
          </a:prstGeom>
          <a:noFill/>
          <a:ln w="19050">
            <a:solidFill>
              <a:srgbClr val="1E2A5C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1789481" y="3803904"/>
            <a:ext cx="0" cy="164592"/>
          </a:xfrm>
          <a:prstGeom prst="line">
            <a:avLst/>
          </a:prstGeom>
          <a:noFill/>
          <a:ln w="19050">
            <a:solidFill>
              <a:srgbClr val="1E2A5C"/>
            </a:solidFill>
            <a:prstDash val="solid"/>
            <a:tailEnd type="triangle"/>
          </a:ln>
        </p:spPr>
      </p:sp>
      <p:sp>
        <p:nvSpPr>
          <p:cNvPr id="15" name="Text 12"/>
          <p:cNvSpPr txBox="1"/>
          <p:nvPr/>
        </p:nvSpPr>
        <p:spPr>
          <a:xfrm>
            <a:off x="3950208" y="1773936"/>
            <a:ext cx="566928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인덱스 구축 (전체 재색인은 둘을 병렬로 호출)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3127248" y="2212848"/>
            <a:ext cx="6675120" cy="1261872"/>
          </a:xfrm>
          <a:prstGeom prst="roundRect">
            <a:avLst>
              <a:gd name="adj" fmla="val 5797"/>
            </a:avLst>
          </a:prstGeom>
          <a:solidFill>
            <a:srgbClr val="F5F8FC"/>
          </a:solidFill>
          <a:ln w="15875">
            <a:solidFill>
              <a:srgbClr val="2E74C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236976" y="2249424"/>
            <a:ext cx="402336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KG 구축 워크플로우 (서브)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7150608" y="2249424"/>
            <a:ext cx="2542032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활성 세대 파일은 안 바꿈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3264408" y="2606040"/>
            <a:ext cx="9753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264408" y="2606040"/>
            <a:ext cx="975360" cy="7863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K1</a:t>
            </a:r>
            <a:endParaRPr lang="en-US" sz="14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추출 단위</a:t>
            </a:r>
            <a:endParaRPr lang="en-US" sz="14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나누기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239768" y="2999232"/>
            <a:ext cx="109728" cy="0"/>
          </a:xfrm>
          <a:prstGeom prst="line">
            <a:avLst/>
          </a:prstGeom>
          <a:noFill/>
          <a:ln w="1587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4349496" y="2606040"/>
            <a:ext cx="9753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349496" y="2606040"/>
            <a:ext cx="975360" cy="7863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K2</a:t>
            </a:r>
            <a:endParaRPr lang="en-US" sz="14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엔티티와</a:t>
            </a:r>
            <a:endParaRPr lang="en-US" sz="14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 추출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324856" y="2999232"/>
            <a:ext cx="109728" cy="0"/>
          </a:xfrm>
          <a:prstGeom prst="line">
            <a:avLst/>
          </a:prstGeom>
          <a:noFill/>
          <a:ln w="1587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5434584" y="2606040"/>
            <a:ext cx="9753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434584" y="2606040"/>
            <a:ext cx="975360" cy="7863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K3</a:t>
            </a:r>
            <a:endParaRPr lang="en-US" sz="14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가지치기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409944" y="2999232"/>
            <a:ext cx="109728" cy="0"/>
          </a:xfrm>
          <a:prstGeom prst="line">
            <a:avLst/>
          </a:prstGeom>
          <a:noFill/>
          <a:ln w="1587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6519672" y="2606040"/>
            <a:ext cx="9753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19672" y="2606040"/>
            <a:ext cx="975360" cy="7863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K4</a:t>
            </a:r>
            <a:endParaRPr lang="en-US" sz="14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Neo4j 저장</a:t>
            </a:r>
            <a:endParaRPr lang="en-US" sz="14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gen-X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7495032" y="2999232"/>
            <a:ext cx="109728" cy="0"/>
          </a:xfrm>
          <a:prstGeom prst="line">
            <a:avLst/>
          </a:prstGeom>
          <a:noFill/>
          <a:ln w="1587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7604760" y="2606040"/>
            <a:ext cx="9753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604760" y="2606040"/>
            <a:ext cx="975360" cy="7863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K5</a:t>
            </a:r>
            <a:endParaRPr lang="en-US" sz="14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병합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8580120" y="2999232"/>
            <a:ext cx="109728" cy="0"/>
          </a:xfrm>
          <a:prstGeom prst="line">
            <a:avLst/>
          </a:prstGeom>
          <a:noFill/>
          <a:ln w="1587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8689848" y="2606040"/>
            <a:ext cx="9753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89848" y="2606040"/>
            <a:ext cx="975360" cy="7863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K6</a:t>
            </a:r>
            <a:endParaRPr lang="en-US" sz="14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노드 설명</a:t>
            </a:r>
            <a:endParaRPr lang="en-US" sz="14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임베딩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 flipV="1">
            <a:off x="2914193" y="2843784"/>
            <a:ext cx="185623" cy="1508760"/>
          </a:xfrm>
          <a:prstGeom prst="line">
            <a:avLst/>
          </a:prstGeom>
          <a:noFill/>
          <a:ln w="1905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3127248" y="3566160"/>
            <a:ext cx="6675120" cy="1261872"/>
          </a:xfrm>
          <a:prstGeom prst="roundRect">
            <a:avLst>
              <a:gd name="adj" fmla="val 5797"/>
            </a:avLst>
          </a:prstGeom>
          <a:solidFill>
            <a:srgbClr val="F5F8FC"/>
          </a:solidFill>
          <a:ln w="15875">
            <a:solidFill>
              <a:srgbClr val="2E74C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3236976" y="3602736"/>
            <a:ext cx="402336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검색엔진 인덱싱 워크플로우 (서브)</a:t>
            </a:r>
            <a:endParaRPr lang="en-US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7150608" y="3602736"/>
            <a:ext cx="2542032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활성 세대 파일은 안 바꿈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3264408" y="3959352"/>
            <a:ext cx="2060448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3264408" y="3959352"/>
            <a:ext cx="2060448" cy="7863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S1</a:t>
            </a:r>
            <a:endParaRPr lang="en-US" sz="14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임베딩</a:t>
            </a:r>
            <a:endParaRPr lang="en-US" sz="14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바뀐 것만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5324856" y="4352544"/>
            <a:ext cx="109728" cy="0"/>
          </a:xfrm>
          <a:prstGeom prst="line">
            <a:avLst/>
          </a:prstGeom>
          <a:noFill/>
          <a:ln w="1587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43" name="Shape 40"/>
          <p:cNvSpPr/>
          <p:nvPr/>
        </p:nvSpPr>
        <p:spPr>
          <a:xfrm>
            <a:off x="5434584" y="3959352"/>
            <a:ext cx="2060448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5434584" y="3959352"/>
            <a:ext cx="2060448" cy="7863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S2</a:t>
            </a:r>
            <a:endParaRPr lang="en-US" sz="14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키워드 분석</a:t>
            </a:r>
            <a:endParaRPr lang="en-US" sz="14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사전과 별칭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7495032" y="4352544"/>
            <a:ext cx="109728" cy="0"/>
          </a:xfrm>
          <a:prstGeom prst="line">
            <a:avLst/>
          </a:prstGeom>
          <a:noFill/>
          <a:ln w="1587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46" name="Shape 43"/>
          <p:cNvSpPr/>
          <p:nvPr/>
        </p:nvSpPr>
        <p:spPr>
          <a:xfrm>
            <a:off x="7604760" y="3959352"/>
            <a:ext cx="2060448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7604760" y="3959352"/>
            <a:ext cx="2060448" cy="7863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</a:t>
            </a:r>
            <a:endParaRPr lang="en-US" sz="14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검색엔진에 쓰기</a:t>
            </a:r>
            <a:endParaRPr lang="en-US" sz="14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card_chunks-gen-X</a:t>
            </a:r>
            <a:endParaRPr lang="en-US" sz="1400" dirty="0"/>
          </a:p>
        </p:txBody>
      </p:sp>
      <p:sp>
        <p:nvSpPr>
          <p:cNvPr id="48" name="Shape 45"/>
          <p:cNvSpPr/>
          <p:nvPr/>
        </p:nvSpPr>
        <p:spPr>
          <a:xfrm flipV="1">
            <a:off x="2914193" y="4197096"/>
            <a:ext cx="185623" cy="155448"/>
          </a:xfrm>
          <a:prstGeom prst="line">
            <a:avLst/>
          </a:prstGeom>
          <a:noFill/>
          <a:ln w="1905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49" name="Shape 46"/>
          <p:cNvSpPr/>
          <p:nvPr/>
        </p:nvSpPr>
        <p:spPr>
          <a:xfrm>
            <a:off x="9985248" y="2432304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9985248" y="2432304"/>
            <a:ext cx="13716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준비 보고</a:t>
            </a:r>
            <a:endParaRPr lang="en-US" sz="14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chunk_id 목록과 건수</a:t>
            </a:r>
            <a:endParaRPr lang="en-US" sz="1400" dirty="0"/>
          </a:p>
        </p:txBody>
      </p:sp>
      <p:sp>
        <p:nvSpPr>
          <p:cNvPr id="51" name="Shape 48"/>
          <p:cNvSpPr/>
          <p:nvPr/>
        </p:nvSpPr>
        <p:spPr>
          <a:xfrm>
            <a:off x="9820656" y="2843784"/>
            <a:ext cx="146304" cy="0"/>
          </a:xfrm>
          <a:prstGeom prst="line">
            <a:avLst/>
          </a:prstGeom>
          <a:noFill/>
          <a:ln w="1905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52" name="Shape 49"/>
          <p:cNvSpPr/>
          <p:nvPr/>
        </p:nvSpPr>
        <p:spPr>
          <a:xfrm flipV="1">
            <a:off x="11375136" y="2651760"/>
            <a:ext cx="192024" cy="192024"/>
          </a:xfrm>
          <a:prstGeom prst="line">
            <a:avLst/>
          </a:prstGeom>
          <a:noFill/>
          <a:ln w="1905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53" name="Shape 50"/>
          <p:cNvSpPr/>
          <p:nvPr/>
        </p:nvSpPr>
        <p:spPr>
          <a:xfrm>
            <a:off x="9985248" y="3785616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985248" y="3785616"/>
            <a:ext cx="13716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준비 보고</a:t>
            </a:r>
            <a:endParaRPr lang="en-US" sz="14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chunk_id 목록과 건수</a:t>
            </a:r>
            <a:endParaRPr lang="en-US" sz="1400" dirty="0"/>
          </a:p>
        </p:txBody>
      </p:sp>
      <p:sp>
        <p:nvSpPr>
          <p:cNvPr id="55" name="Shape 52"/>
          <p:cNvSpPr/>
          <p:nvPr/>
        </p:nvSpPr>
        <p:spPr>
          <a:xfrm>
            <a:off x="9820656" y="4197096"/>
            <a:ext cx="146304" cy="0"/>
          </a:xfrm>
          <a:prstGeom prst="line">
            <a:avLst/>
          </a:prstGeom>
          <a:noFill/>
          <a:ln w="1905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56" name="Shape 53"/>
          <p:cNvSpPr/>
          <p:nvPr/>
        </p:nvSpPr>
        <p:spPr>
          <a:xfrm flipV="1">
            <a:off x="11375136" y="2651760"/>
            <a:ext cx="192024" cy="1545336"/>
          </a:xfrm>
          <a:prstGeom prst="line">
            <a:avLst/>
          </a:prstGeom>
          <a:noFill/>
          <a:ln w="1905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57" name="Shape 54"/>
          <p:cNvSpPr/>
          <p:nvPr/>
        </p:nvSpPr>
        <p:spPr>
          <a:xfrm>
            <a:off x="11585448" y="2240280"/>
            <a:ext cx="2365553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1E2A5C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11585448" y="2240280"/>
            <a:ext cx="2365553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검증</a:t>
            </a:r>
            <a:endParaRPr lang="en-US" sz="15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보고의 chunk_id 목록 비교</a:t>
            </a:r>
            <a:endParaRPr lang="en-US" sz="1500" dirty="0"/>
          </a:p>
        </p:txBody>
      </p:sp>
      <p:sp>
        <p:nvSpPr>
          <p:cNvPr id="59" name="Shape 56"/>
          <p:cNvSpPr/>
          <p:nvPr/>
        </p:nvSpPr>
        <p:spPr>
          <a:xfrm>
            <a:off x="11585448" y="3291840"/>
            <a:ext cx="2365553" cy="822960"/>
          </a:xfrm>
          <a:prstGeom prst="roundRect">
            <a:avLst>
              <a:gd name="adj" fmla="val 8889"/>
            </a:avLst>
          </a:prstGeom>
          <a:solidFill>
            <a:srgbClr val="1E2A5C"/>
          </a:solidFill>
          <a:ln/>
        </p:spPr>
      </p:sp>
      <p:sp>
        <p:nvSpPr>
          <p:cNvPr id="60" name="Text 57"/>
          <p:cNvSpPr txBox="1"/>
          <p:nvPr/>
        </p:nvSpPr>
        <p:spPr>
          <a:xfrm>
            <a:off x="11585448" y="3291840"/>
            <a:ext cx="2365553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 게시</a:t>
            </a:r>
            <a:endParaRPr lang="en-US" sz="15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활성 세대 파일 교체</a:t>
            </a:r>
            <a:endParaRPr lang="en-US" sz="1500" dirty="0"/>
          </a:p>
        </p:txBody>
      </p:sp>
      <p:sp>
        <p:nvSpPr>
          <p:cNvPr id="61" name="Shape 58"/>
          <p:cNvSpPr/>
          <p:nvPr/>
        </p:nvSpPr>
        <p:spPr>
          <a:xfrm>
            <a:off x="12768224" y="3072384"/>
            <a:ext cx="0" cy="210312"/>
          </a:xfrm>
          <a:prstGeom prst="line">
            <a:avLst/>
          </a:prstGeom>
          <a:noFill/>
          <a:ln w="19050">
            <a:solidFill>
              <a:srgbClr val="1E2A5C"/>
            </a:solidFill>
            <a:prstDash val="solid"/>
            <a:tailEnd type="triangle"/>
          </a:ln>
        </p:spPr>
      </p:sp>
      <p:sp>
        <p:nvSpPr>
          <p:cNvPr id="62" name="Text 59"/>
          <p:cNvSpPr txBox="1"/>
          <p:nvPr/>
        </p:nvSpPr>
        <p:spPr>
          <a:xfrm>
            <a:off x="11585448" y="4187952"/>
            <a:ext cx="2365553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되돌리기와 옛 세대 정리는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별도 처리</a:t>
            </a:r>
            <a:endParaRPr lang="en-US" sz="1400" dirty="0"/>
          </a:p>
        </p:txBody>
      </p:sp>
      <p:sp>
        <p:nvSpPr>
          <p:cNvPr id="63" name="Shape 60"/>
          <p:cNvSpPr/>
          <p:nvPr/>
        </p:nvSpPr>
        <p:spPr>
          <a:xfrm>
            <a:off x="509321" y="5029200"/>
            <a:ext cx="3268980" cy="1481328"/>
          </a:xfrm>
          <a:prstGeom prst="roundRect">
            <a:avLst>
              <a:gd name="adj" fmla="val 4938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646481" y="516636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2E74C6"/>
          </a:solidFill>
          <a:ln/>
        </p:spPr>
      </p:sp>
      <p:sp>
        <p:nvSpPr>
          <p:cNvPr id="65" name="Text 62"/>
          <p:cNvSpPr txBox="1"/>
          <p:nvPr/>
        </p:nvSpPr>
        <p:spPr>
          <a:xfrm>
            <a:off x="646481" y="5166360"/>
            <a:ext cx="3474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600" dirty="0"/>
          </a:p>
        </p:txBody>
      </p:sp>
      <p:sp>
        <p:nvSpPr>
          <p:cNvPr id="66" name="Text 63"/>
          <p:cNvSpPr txBox="1"/>
          <p:nvPr/>
        </p:nvSpPr>
        <p:spPr>
          <a:xfrm>
            <a:off x="1076249" y="5120640"/>
            <a:ext cx="258318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서브 워크플로우는 인덱스 구축만 함</a:t>
            </a:r>
            <a:endParaRPr lang="en-US" sz="1600" dirty="0"/>
          </a:p>
        </p:txBody>
      </p:sp>
      <p:sp>
        <p:nvSpPr>
          <p:cNvPr id="67" name="Text 64"/>
          <p:cNvSpPr txBox="1"/>
          <p:nvPr/>
        </p:nvSpPr>
        <p:spPr>
          <a:xfrm>
            <a:off x="646481" y="5742432"/>
            <a:ext cx="2994660" cy="7132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KG 구축과 검색엔진 인덱싱은 활성 세대 파일을 바꾸지 않음</a:t>
            </a:r>
            <a:endParaRPr lang="en-US" sz="1400" dirty="0"/>
          </a:p>
        </p:txBody>
      </p:sp>
      <p:sp>
        <p:nvSpPr>
          <p:cNvPr id="68" name="Shape 65"/>
          <p:cNvSpPr/>
          <p:nvPr/>
        </p:nvSpPr>
        <p:spPr>
          <a:xfrm>
            <a:off x="3961181" y="5029200"/>
            <a:ext cx="3268980" cy="1481328"/>
          </a:xfrm>
          <a:prstGeom prst="roundRect">
            <a:avLst>
              <a:gd name="adj" fmla="val 4938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4098341" y="516636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E2A5C"/>
          </a:solidFill>
          <a:ln/>
        </p:spPr>
      </p:sp>
      <p:sp>
        <p:nvSpPr>
          <p:cNvPr id="70" name="Text 67"/>
          <p:cNvSpPr txBox="1"/>
          <p:nvPr/>
        </p:nvSpPr>
        <p:spPr>
          <a:xfrm>
            <a:off x="4098341" y="5166360"/>
            <a:ext cx="3474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600" dirty="0"/>
          </a:p>
        </p:txBody>
      </p:sp>
      <p:sp>
        <p:nvSpPr>
          <p:cNvPr id="71" name="Text 68"/>
          <p:cNvSpPr txBox="1"/>
          <p:nvPr/>
        </p:nvSpPr>
        <p:spPr>
          <a:xfrm>
            <a:off x="4528109" y="5120640"/>
            <a:ext cx="258318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활성 세대 파일은 하나</a:t>
            </a:r>
            <a:endParaRPr lang="en-US" sz="1600" dirty="0"/>
          </a:p>
        </p:txBody>
      </p:sp>
      <p:sp>
        <p:nvSpPr>
          <p:cNvPr id="72" name="Text 69"/>
          <p:cNvSpPr txBox="1"/>
          <p:nvPr/>
        </p:nvSpPr>
        <p:spPr>
          <a:xfrm>
            <a:off x="4098341" y="5742432"/>
            <a:ext cx="2994660" cy="7132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검색기는 요청마다 이 파일을 한 번 읽고 같은 세대로 두 곳을 조회</a:t>
            </a:r>
            <a:endParaRPr lang="en-US" sz="1400" dirty="0"/>
          </a:p>
        </p:txBody>
      </p:sp>
      <p:sp>
        <p:nvSpPr>
          <p:cNvPr id="73" name="Shape 70"/>
          <p:cNvSpPr/>
          <p:nvPr/>
        </p:nvSpPr>
        <p:spPr>
          <a:xfrm>
            <a:off x="7413041" y="5029200"/>
            <a:ext cx="3268980" cy="1481328"/>
          </a:xfrm>
          <a:prstGeom prst="roundRect">
            <a:avLst>
              <a:gd name="adj" fmla="val 4938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7550201" y="516636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2E74C6"/>
          </a:solidFill>
          <a:ln/>
        </p:spPr>
      </p:sp>
      <p:sp>
        <p:nvSpPr>
          <p:cNvPr id="75" name="Text 72"/>
          <p:cNvSpPr txBox="1"/>
          <p:nvPr/>
        </p:nvSpPr>
        <p:spPr>
          <a:xfrm>
            <a:off x="7550201" y="5166360"/>
            <a:ext cx="3474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600" dirty="0"/>
          </a:p>
        </p:txBody>
      </p:sp>
      <p:sp>
        <p:nvSpPr>
          <p:cNvPr id="76" name="Text 73"/>
          <p:cNvSpPr txBox="1"/>
          <p:nvPr/>
        </p:nvSpPr>
        <p:spPr>
          <a:xfrm>
            <a:off x="7979969" y="5120640"/>
            <a:ext cx="258318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실패하면 게시 안 함</a:t>
            </a:r>
            <a:endParaRPr lang="en-US" sz="1600" dirty="0"/>
          </a:p>
        </p:txBody>
      </p:sp>
      <p:sp>
        <p:nvSpPr>
          <p:cNvPr id="77" name="Text 74"/>
          <p:cNvSpPr txBox="1"/>
          <p:nvPr/>
        </p:nvSpPr>
        <p:spPr>
          <a:xfrm>
            <a:off x="7550201" y="5742432"/>
            <a:ext cx="2994660" cy="7132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활성 세대는 그대로. 성공한 쪽 결과는 남겨 재시도 때 재사용</a:t>
            </a:r>
            <a:endParaRPr lang="en-US" sz="1400" dirty="0"/>
          </a:p>
        </p:txBody>
      </p:sp>
      <p:sp>
        <p:nvSpPr>
          <p:cNvPr id="78" name="Shape 75"/>
          <p:cNvSpPr/>
          <p:nvPr/>
        </p:nvSpPr>
        <p:spPr>
          <a:xfrm>
            <a:off x="10864901" y="5029200"/>
            <a:ext cx="3268980" cy="1481328"/>
          </a:xfrm>
          <a:prstGeom prst="roundRect">
            <a:avLst>
              <a:gd name="adj" fmla="val 4938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11002061" y="516636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2E74C6"/>
          </a:solidFill>
          <a:ln/>
        </p:spPr>
      </p:sp>
      <p:sp>
        <p:nvSpPr>
          <p:cNvPr id="80" name="Text 77"/>
          <p:cNvSpPr txBox="1"/>
          <p:nvPr/>
        </p:nvSpPr>
        <p:spPr>
          <a:xfrm>
            <a:off x="11002061" y="5166360"/>
            <a:ext cx="3474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600" dirty="0"/>
          </a:p>
        </p:txBody>
      </p:sp>
      <p:sp>
        <p:nvSpPr>
          <p:cNvPr id="81" name="Text 78"/>
          <p:cNvSpPr txBox="1"/>
          <p:nvPr/>
        </p:nvSpPr>
        <p:spPr>
          <a:xfrm>
            <a:off x="11431829" y="5120640"/>
            <a:ext cx="258318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증분 색인</a:t>
            </a:r>
            <a:endParaRPr lang="en-US" sz="1600" dirty="0"/>
          </a:p>
        </p:txBody>
      </p:sp>
      <p:sp>
        <p:nvSpPr>
          <p:cNvPr id="82" name="Text 79"/>
          <p:cNvSpPr txBox="1"/>
          <p:nvPr/>
        </p:nvSpPr>
        <p:spPr>
          <a:xfrm>
            <a:off x="11002061" y="5742432"/>
            <a:ext cx="2994660" cy="7132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계산은 병렬, 반영은 순서대로: K4 새 청크 넣기 → S3 검색엔진 교체 → KG 옛 청크 지우기</a:t>
            </a:r>
            <a:endParaRPr lang="en-US" sz="1400" dirty="0"/>
          </a:p>
        </p:txBody>
      </p:sp>
      <p:sp>
        <p:nvSpPr>
          <p:cNvPr id="83" name="Shape 80"/>
          <p:cNvSpPr/>
          <p:nvPr/>
        </p:nvSpPr>
        <p:spPr>
          <a:xfrm>
            <a:off x="509321" y="6620256"/>
            <a:ext cx="64008" cy="640080"/>
          </a:xfrm>
          <a:prstGeom prst="rect">
            <a:avLst/>
          </a:prstGeom>
          <a:solidFill>
            <a:srgbClr val="2E74C6"/>
          </a:solidFill>
          <a:ln/>
        </p:spPr>
      </p:sp>
      <p:sp>
        <p:nvSpPr>
          <p:cNvPr id="84" name="Text 81"/>
          <p:cNvSpPr txBox="1"/>
          <p:nvPr/>
        </p:nvSpPr>
        <p:spPr>
          <a:xfrm>
            <a:off x="673913" y="6620256"/>
            <a:ext cx="13459968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에이전트가 아닌 워크플로우임(LLM은 K2 추출의 도구로만 씀). 처음에는 오케스트레이터 그래프 하나와 서브 그래프 둘로 시작하고, 실행 시간 차이가 커지면 서브 워크플로우를 별도 작업으로 분리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2026-10-19T08:36:38Z</dcterms:created>
  <dcterms:modified xsi:type="dcterms:W3CDTF">2026-10-19T08:36:38Z</dcterms:modified>
</cp:coreProperties>
</file>