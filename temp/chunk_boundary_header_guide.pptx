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단계는 순서가 중요함. 경계가 틀린 상태에서 머리말을 붙이면, 머리말이 가장 필요한 청크(대상이 섞인 청크)가 대상을 하나로 정할 수 없어 전부 빠짐.
경계는 '대상' 단위가 하드 경계이고, 그 안에서만 기존 구분자 우선순위로 자름. 경계 시작은 구조 신호만 있는 줄로 한정해야 목차나 참고 목록 속 언급이 경계로 오인되지 않음.
머리말 항목은 세 질문으로 거름: 청크를 구별하나, 분할로 잃어버린 정보인가, 사용자가 질문에 쓰는 말인가. 문서 전체에 같은 값(부서·버전)은 구별력이 없어 제외함.
자유 텍스트 라벨(상담 주제 등)은 평가 근거 문구와 글자가 겹쳐 채점을 부풀린 사례가 있음. 개인정보·가명 ID는 언제나 제외.
추가 여부는 실측으로 정함. 대상 질의가 좋아지고, 일반 질문의 1위가 유지되고, 다른 문서 유형 질의가 나빠지지 않아야 채택. 평가셋에 변별력 없는 문항이 섞이면 판단이 흐려지므로 평가셋부터 점검함.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7754112"/>
            <a:ext cx="13624560" cy="18288"/>
          </a:xfrm>
          <a:prstGeom prst="rect">
            <a:avLst/>
          </a:prstGeom>
          <a:solidFill>
            <a:srgbClr val="E9ECF3"/>
          </a:solidFill>
          <a:ln/>
        </p:spPr>
      </p:sp>
      <p:sp>
        <p:nvSpPr>
          <p:cNvPr id="3" name="Text 1"/>
          <p:cNvSpPr/>
          <p:nvPr/>
        </p:nvSpPr>
        <p:spPr>
          <a:xfrm>
            <a:off x="502920" y="7818120"/>
            <a:ext cx="7315200" cy="292608"/>
          </a:xfrm>
          <a:prstGeom prst="rect">
            <a:avLst/>
          </a:prstGeom>
          <a:noFill/>
          <a:ln/>
        </p:spPr>
        <p:txBody>
          <a:bodyPr wrap="square"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design-agentic-ai  ·  청킹 경계와 머리말 설계 가이드</a:t>
            </a:r>
            <a:endParaRPr lang="en-US" sz="1400" dirty="0"/>
          </a:p>
        </p:txBody>
      </p:sp>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www.anthropic.com/news/contextual-retrieval" TargetMode="External"/><Relationship Id="rId2" Type="http://schemas.openxmlformats.org/officeDocument/2006/relationships/hyperlink" Target="https://developers.llamaindex.ai/python/framework/module_guides/loading/documents_and_nodes/usage_documents" TargetMode="External"/><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347472"/>
            <a:ext cx="10972800" cy="292608"/>
          </a:xfrm>
          <a:prstGeom prst="rect">
            <a:avLst/>
          </a:prstGeom>
          <a:noFill/>
          <a:ln/>
        </p:spPr>
        <p:txBody>
          <a:bodyPr wrap="square" rtlCol="0" anchor="ctr"/>
          <a:lstStyle/>
          <a:p>
            <a:pPr indent="0" marL="0">
              <a:buNone/>
            </a:pPr>
            <a:r>
              <a:rPr lang="en-US" sz="1500" b="1" dirty="0">
                <a:solidFill>
                  <a:srgbClr val="7C8598"/>
                </a:solidFill>
                <a:latin typeface="Pretendard" pitchFamily="34" charset="0"/>
                <a:ea typeface="Pretendard" pitchFamily="34" charset="-122"/>
                <a:cs typeface="Pretendard" pitchFamily="34" charset="-120"/>
              </a:rPr>
              <a:t>Ⅲ. 문서 검색 아키텍처 › 청킹 › 경계·머리말 설계</a:t>
            </a:r>
            <a:endParaRPr lang="en-US" sz="1500" dirty="0"/>
          </a:p>
        </p:txBody>
      </p:sp>
      <p:sp>
        <p:nvSpPr>
          <p:cNvPr id="3" name="Text 1"/>
          <p:cNvSpPr/>
          <p:nvPr/>
        </p:nvSpPr>
        <p:spPr>
          <a:xfrm>
            <a:off x="502920" y="640080"/>
            <a:ext cx="13258800" cy="685800"/>
          </a:xfrm>
          <a:prstGeom prst="rect">
            <a:avLst/>
          </a:prstGeom>
          <a:noFill/>
          <a:ln/>
        </p:spPr>
        <p:txBody>
          <a:bodyPr wrap="square" rtlCol="0" anchor="ctr"/>
          <a:lstStyle/>
          <a:p>
            <a:pPr indent="0" marL="0">
              <a:buNone/>
            </a:pPr>
            <a:r>
              <a:rPr lang="en-US" sz="4800" b="1" dirty="0">
                <a:solidFill>
                  <a:srgbClr val="1E2A5C"/>
                </a:solidFill>
                <a:latin typeface="Pretendard" pitchFamily="34" charset="0"/>
                <a:ea typeface="Pretendard" pitchFamily="34" charset="-122"/>
                <a:cs typeface="Pretendard" pitchFamily="34" charset="-120"/>
              </a:rPr>
              <a:t>청킹 경계와 머리말 설계 가이드</a:t>
            </a:r>
            <a:endParaRPr lang="en-US" sz="4800" dirty="0"/>
          </a:p>
        </p:txBody>
      </p:sp>
      <p:sp>
        <p:nvSpPr>
          <p:cNvPr id="4" name="Shape 2"/>
          <p:cNvSpPr/>
          <p:nvPr/>
        </p:nvSpPr>
        <p:spPr>
          <a:xfrm>
            <a:off x="502920" y="1389888"/>
            <a:ext cx="13624560" cy="36576"/>
          </a:xfrm>
          <a:prstGeom prst="rect">
            <a:avLst/>
          </a:prstGeom>
          <a:solidFill>
            <a:srgbClr val="D9E0EC"/>
          </a:solidFill>
          <a:ln/>
        </p:spPr>
      </p:sp>
      <p:sp>
        <p:nvSpPr>
          <p:cNvPr id="5" name="Shape 3"/>
          <p:cNvSpPr/>
          <p:nvPr/>
        </p:nvSpPr>
        <p:spPr>
          <a:xfrm>
            <a:off x="502920" y="1389888"/>
            <a:ext cx="1920240" cy="36576"/>
          </a:xfrm>
          <a:prstGeom prst="rect">
            <a:avLst/>
          </a:prstGeom>
          <a:solidFill>
            <a:srgbClr val="2E74C6"/>
          </a:solidFill>
          <a:ln/>
        </p:spPr>
      </p:sp>
      <p:sp>
        <p:nvSpPr>
          <p:cNvPr id="6" name="Text 4"/>
          <p:cNvSpPr/>
          <p:nvPr/>
        </p:nvSpPr>
        <p:spPr>
          <a:xfrm>
            <a:off x="502920" y="1499616"/>
            <a:ext cx="13624560" cy="438912"/>
          </a:xfrm>
          <a:prstGeom prst="rect">
            <a:avLst/>
          </a:prstGeom>
          <a:noFill/>
          <a:ln/>
        </p:spPr>
        <p:txBody>
          <a:bodyPr wrap="square" rtlCol="0" anchor="ctr"/>
          <a:lstStyle/>
          <a:p>
            <a:pPr indent="0" marL="0">
              <a:buNone/>
            </a:pPr>
            <a:r>
              <a:rPr lang="en-US" sz="1800" dirty="0">
                <a:solidFill>
                  <a:srgbClr val="4A5364"/>
                </a:solidFill>
                <a:latin typeface="Pretendard" pitchFamily="34" charset="0"/>
                <a:ea typeface="Pretendard" pitchFamily="34" charset="-122"/>
                <a:cs typeface="Pretendard" pitchFamily="34" charset="-120"/>
              </a:rPr>
              <a:t>경계는 「대상」을 넘지 않게, 머리말은 「잃어버린 상위 정보」만, 추가 여부는 「실측」으로 — 문서 유형마다 같은 세 단계로 판단</a:t>
            </a:r>
            <a:endParaRPr lang="en-US" sz="1800" dirty="0"/>
          </a:p>
        </p:txBody>
      </p:sp>
      <p:sp>
        <p:nvSpPr>
          <p:cNvPr id="7" name="Text 5"/>
          <p:cNvSpPr/>
          <p:nvPr/>
        </p:nvSpPr>
        <p:spPr>
          <a:xfrm>
            <a:off x="502920" y="2011680"/>
            <a:ext cx="4389120" cy="457200"/>
          </a:xfrm>
          <a:prstGeom prst="roundRect">
            <a:avLst>
              <a:gd name="adj" fmla="val 12000"/>
            </a:avLst>
          </a:prstGeom>
          <a:solidFill>
            <a:srgbClr val="1E2A5C"/>
          </a:solidFill>
          <a:ln/>
        </p:spPr>
        <p:txBody>
          <a:bodyPr wrap="square" lIns="50800" tIns="50800" rIns="50800" bIns="5080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① 경계(구분자) 정하기</a:t>
            </a:r>
            <a:endParaRPr lang="en-US" sz="2000" dirty="0"/>
          </a:p>
        </p:txBody>
      </p:sp>
      <p:sp>
        <p:nvSpPr>
          <p:cNvPr id="8" name="Shape 6"/>
          <p:cNvSpPr/>
          <p:nvPr/>
        </p:nvSpPr>
        <p:spPr>
          <a:xfrm>
            <a:off x="502920" y="2542032"/>
            <a:ext cx="4389120" cy="3355848"/>
          </a:xfrm>
          <a:prstGeom prst="roundRect">
            <a:avLst>
              <a:gd name="adj" fmla="val 2725"/>
            </a:avLst>
          </a:prstGeom>
          <a:solidFill>
            <a:srgbClr val="EEF3FA"/>
          </a:solidFill>
          <a:ln w="12700">
            <a:solidFill>
              <a:srgbClr val="D9E0EC"/>
            </a:solidFill>
            <a:prstDash val="solid"/>
          </a:ln>
        </p:spPr>
      </p:sp>
      <p:sp>
        <p:nvSpPr>
          <p:cNvPr id="9" name="Text 7"/>
          <p:cNvSpPr/>
          <p:nvPr/>
        </p:nvSpPr>
        <p:spPr>
          <a:xfrm>
            <a:off x="5120640" y="2011680"/>
            <a:ext cx="4389120" cy="457200"/>
          </a:xfrm>
          <a:prstGeom prst="roundRect">
            <a:avLst>
              <a:gd name="adj" fmla="val 12000"/>
            </a:avLst>
          </a:prstGeom>
          <a:solidFill>
            <a:srgbClr val="1E2A5C"/>
          </a:solidFill>
          <a:ln/>
        </p:spPr>
        <p:txBody>
          <a:bodyPr wrap="square" lIns="50800" tIns="50800" rIns="50800" bIns="5080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② 머리말 항목 고르기</a:t>
            </a:r>
            <a:endParaRPr lang="en-US" sz="2000" dirty="0"/>
          </a:p>
        </p:txBody>
      </p:sp>
      <p:sp>
        <p:nvSpPr>
          <p:cNvPr id="10" name="Shape 8"/>
          <p:cNvSpPr/>
          <p:nvPr/>
        </p:nvSpPr>
        <p:spPr>
          <a:xfrm>
            <a:off x="5120640" y="2542032"/>
            <a:ext cx="4389120" cy="3355848"/>
          </a:xfrm>
          <a:prstGeom prst="roundRect">
            <a:avLst>
              <a:gd name="adj" fmla="val 2725"/>
            </a:avLst>
          </a:prstGeom>
          <a:solidFill>
            <a:srgbClr val="EEF3FA"/>
          </a:solidFill>
          <a:ln w="12700">
            <a:solidFill>
              <a:srgbClr val="D9E0EC"/>
            </a:solidFill>
            <a:prstDash val="solid"/>
          </a:ln>
        </p:spPr>
      </p:sp>
      <p:sp>
        <p:nvSpPr>
          <p:cNvPr id="11" name="Text 9"/>
          <p:cNvSpPr/>
          <p:nvPr/>
        </p:nvSpPr>
        <p:spPr>
          <a:xfrm>
            <a:off x="9738360" y="2011680"/>
            <a:ext cx="4389120" cy="457200"/>
          </a:xfrm>
          <a:prstGeom prst="roundRect">
            <a:avLst>
              <a:gd name="adj" fmla="val 12000"/>
            </a:avLst>
          </a:prstGeom>
          <a:solidFill>
            <a:srgbClr val="2E74C6"/>
          </a:solidFill>
          <a:ln/>
        </p:spPr>
        <p:txBody>
          <a:bodyPr wrap="square" lIns="50800" tIns="50800" rIns="50800" bIns="5080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③ 머리말 붙일지 판단</a:t>
            </a:r>
            <a:endParaRPr lang="en-US" sz="2000" dirty="0"/>
          </a:p>
        </p:txBody>
      </p:sp>
      <p:sp>
        <p:nvSpPr>
          <p:cNvPr id="12" name="Shape 10"/>
          <p:cNvSpPr/>
          <p:nvPr/>
        </p:nvSpPr>
        <p:spPr>
          <a:xfrm>
            <a:off x="9738360" y="2542032"/>
            <a:ext cx="4389120" cy="3355848"/>
          </a:xfrm>
          <a:prstGeom prst="roundRect">
            <a:avLst>
              <a:gd name="adj" fmla="val 2725"/>
            </a:avLst>
          </a:prstGeom>
          <a:solidFill>
            <a:srgbClr val="EEF3FA"/>
          </a:solidFill>
          <a:ln w="12700">
            <a:solidFill>
              <a:srgbClr val="D9E0EC"/>
            </a:solidFill>
            <a:prstDash val="solid"/>
          </a:ln>
        </p:spPr>
      </p:sp>
      <p:sp>
        <p:nvSpPr>
          <p:cNvPr id="13" name="Shape 11"/>
          <p:cNvSpPr/>
          <p:nvPr/>
        </p:nvSpPr>
        <p:spPr>
          <a:xfrm>
            <a:off x="640080" y="2670048"/>
            <a:ext cx="4114800" cy="1627632"/>
          </a:xfrm>
          <a:prstGeom prst="roundRect">
            <a:avLst>
              <a:gd name="adj" fmla="val 4494"/>
            </a:avLst>
          </a:prstGeom>
          <a:solidFill>
            <a:srgbClr val="FFFFFF"/>
          </a:solidFill>
          <a:ln w="25400">
            <a:solidFill>
              <a:srgbClr val="404155"/>
            </a:solidFill>
            <a:prstDash val="solid"/>
          </a:ln>
        </p:spPr>
      </p:sp>
      <p:sp>
        <p:nvSpPr>
          <p:cNvPr id="14" name="Text 12"/>
          <p:cNvSpPr/>
          <p:nvPr/>
        </p:nvSpPr>
        <p:spPr>
          <a:xfrm>
            <a:off x="749808" y="2715768"/>
            <a:ext cx="3895344" cy="274320"/>
          </a:xfrm>
          <a:prstGeom prst="rect">
            <a:avLst/>
          </a:prstGeom>
          <a:noFill/>
          <a:ln/>
        </p:spPr>
        <p:txBody>
          <a:bodyPr wrap="square" lIns="0" tIns="0" rIns="0" bIns="0" rtlCol="0" anchor="ctr"/>
          <a:lstStyle/>
          <a:p>
            <a:pPr algn="l" indent="0" marL="0">
              <a:buNone/>
            </a:pPr>
            <a:r>
              <a:rPr lang="en-US" sz="1500" b="1" dirty="0">
                <a:solidFill>
                  <a:srgbClr val="404155"/>
                </a:solidFill>
                <a:latin typeface="Pretendard" pitchFamily="34" charset="0"/>
                <a:ea typeface="Pretendard" pitchFamily="34" charset="-122"/>
                <a:cs typeface="Pretendard" pitchFamily="34" charset="-120"/>
              </a:rPr>
              <a:t>하드 경계 — 대상 단위</a:t>
            </a:r>
            <a:endParaRPr lang="en-US" sz="1500" dirty="0"/>
          </a:p>
        </p:txBody>
      </p:sp>
      <p:sp>
        <p:nvSpPr>
          <p:cNvPr id="15" name="Text 13"/>
          <p:cNvSpPr/>
          <p:nvPr/>
        </p:nvSpPr>
        <p:spPr>
          <a:xfrm>
            <a:off x="749808" y="2971800"/>
            <a:ext cx="3895344" cy="237744"/>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상품 · 카드 · 상담 건 · 조항 → 넘어서 합치지 않음</a:t>
            </a:r>
            <a:endParaRPr lang="en-US" sz="1400" dirty="0"/>
          </a:p>
        </p:txBody>
      </p:sp>
      <p:sp>
        <p:nvSpPr>
          <p:cNvPr id="16" name="Shape 14"/>
          <p:cNvSpPr/>
          <p:nvPr/>
        </p:nvSpPr>
        <p:spPr>
          <a:xfrm>
            <a:off x="822960" y="3273552"/>
            <a:ext cx="3749040" cy="914400"/>
          </a:xfrm>
          <a:prstGeom prst="roundRect">
            <a:avLst>
              <a:gd name="adj" fmla="val 8000"/>
            </a:avLst>
          </a:prstGeom>
          <a:solidFill>
            <a:srgbClr val="EEF3FA"/>
          </a:solidFill>
          <a:ln w="19050">
            <a:solidFill>
              <a:srgbClr val="2E74C6"/>
            </a:solidFill>
            <a:prstDash val="solid"/>
          </a:ln>
        </p:spPr>
      </p:sp>
      <p:sp>
        <p:nvSpPr>
          <p:cNvPr id="17" name="Text 15"/>
          <p:cNvSpPr/>
          <p:nvPr/>
        </p:nvSpPr>
        <p:spPr>
          <a:xfrm>
            <a:off x="932688" y="3310128"/>
            <a:ext cx="3529584" cy="274320"/>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1순위 구분자 — 의미 단위</a:t>
            </a:r>
            <a:endParaRPr lang="en-US" sz="1400" dirty="0"/>
          </a:p>
        </p:txBody>
      </p:sp>
      <p:sp>
        <p:nvSpPr>
          <p:cNvPr id="18" name="Text 16"/>
          <p:cNvSpPr/>
          <p:nvPr/>
        </p:nvSpPr>
        <p:spPr>
          <a:xfrm>
            <a:off x="932688" y="3547872"/>
            <a:ext cx="3529584" cy="237744"/>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혜택 항목 · 발화 · 항</a:t>
            </a:r>
            <a:endParaRPr lang="en-US" sz="1400" dirty="0"/>
          </a:p>
        </p:txBody>
      </p:sp>
      <p:sp>
        <p:nvSpPr>
          <p:cNvPr id="19" name="Text 17"/>
          <p:cNvSpPr/>
          <p:nvPr/>
        </p:nvSpPr>
        <p:spPr>
          <a:xfrm>
            <a:off x="1051560" y="3822192"/>
            <a:ext cx="3291840" cy="292608"/>
          </a:xfrm>
          <a:prstGeom prst="roundRect">
            <a:avLst>
              <a:gd name="adj" fmla="val 18750"/>
            </a:avLst>
          </a:prstGeom>
          <a:solidFill>
            <a:srgbClr val="FFFFFF"/>
          </a:solidFill>
          <a:ln w="15875">
            <a:solidFill>
              <a:srgbClr val="C3CEE0"/>
            </a:solidFill>
            <a:prstDash val="solid"/>
          </a:ln>
        </p:spPr>
        <p:txBody>
          <a:bodyPr wrap="square" lIns="50800" tIns="50800" rIns="50800" bIns="50800" rtlCol="0" anchor="ctr"/>
          <a:lstStyle/>
          <a:p>
            <a:pPr algn="ctr" indent="0" marL="0">
              <a:buNone/>
            </a:pPr>
            <a:r>
              <a:rPr lang="en-US" sz="1400" dirty="0">
                <a:solidFill>
                  <a:srgbClr val="2B3242"/>
                </a:solidFill>
                <a:latin typeface="Pretendard" pitchFamily="34" charset="0"/>
                <a:ea typeface="Pretendard" pitchFamily="34" charset="-122"/>
                <a:cs typeface="Pretendard" pitchFamily="34" charset="-120"/>
              </a:rPr>
              <a:t>그래도 길면 → 문장 · 줄 · 공백</a:t>
            </a:r>
            <a:endParaRPr lang="en-US" sz="1400" dirty="0"/>
          </a:p>
        </p:txBody>
      </p:sp>
      <p:sp>
        <p:nvSpPr>
          <p:cNvPr id="20" name="Text 18"/>
          <p:cNvSpPr/>
          <p:nvPr/>
        </p:nvSpPr>
        <p:spPr>
          <a:xfrm>
            <a:off x="640080" y="4389120"/>
            <a:ext cx="4114800" cy="987552"/>
          </a:xfrm>
          <a:prstGeom prst="rect">
            <a:avLst/>
          </a:prstGeom>
          <a:noFill/>
          <a:ln/>
        </p:spPr>
        <p:txBody>
          <a:bodyPr wrap="square" lIns="0" tIns="0" rIns="0" bIns="0" rtlCol="0" anchor="t"/>
          <a:lstStyle/>
          <a:p>
            <a:pPr indent="0" marL="0">
              <a:spcAft>
                <a:spcPts val="200"/>
              </a:spcAft>
              <a:buNone/>
            </a:pPr>
            <a:r>
              <a:rPr lang="en-US" sz="1400" dirty="0">
                <a:solidFill>
                  <a:srgbClr val="2B3242"/>
                </a:solidFill>
                <a:latin typeface="Pretendard" pitchFamily="34" charset="0"/>
                <a:ea typeface="Pretendard" pitchFamily="34" charset="-122"/>
                <a:cs typeface="Pretendard" pitchFamily="34" charset="-120"/>
              </a:rPr>
              <a:t>· 대상 경계는 넘어서 합치지 않음</a:t>
            </a:r>
            <a:endParaRPr lang="en-US" sz="1400" dirty="0"/>
          </a:p>
          <a:p>
            <a:pPr indent="0" marL="0">
              <a:spcAft>
                <a:spcPts val="200"/>
              </a:spcAft>
              <a:buNone/>
            </a:pPr>
            <a:r>
              <a:rPr lang="en-US" sz="1400" dirty="0">
                <a:solidFill>
                  <a:srgbClr val="2B3242"/>
                </a:solidFill>
                <a:latin typeface="Pretendard" pitchFamily="34" charset="0"/>
                <a:ea typeface="Pretendard" pitchFamily="34" charset="-122"/>
                <a:cs typeface="Pretendard" pitchFamily="34" charset="-120"/>
              </a:rPr>
              <a:t>· 경계 시작 = 구조 신호만 있는 줄</a:t>
            </a:r>
            <a:endParaRPr lang="en-US" sz="1400" dirty="0"/>
          </a:p>
          <a:p>
            <a:pPr indent="0" marL="0">
              <a:spcAft>
                <a:spcPts val="200"/>
              </a:spcAft>
              <a:buNone/>
            </a:pPr>
            <a:r>
              <a:rPr lang="en-US" sz="1400" dirty="0">
                <a:solidFill>
                  <a:srgbClr val="4A5364"/>
                </a:solidFill>
                <a:latin typeface="Pretendard" pitchFamily="34" charset="0"/>
                <a:ea typeface="Pretendard" pitchFamily="34" charset="-122"/>
                <a:cs typeface="Pretendard" pitchFamily="34" charset="-120"/>
              </a:rPr>
              <a:t>(목차 · 참고 목록 속 언급은 제외)</a:t>
            </a:r>
            <a:endParaRPr lang="en-US" sz="1400" dirty="0"/>
          </a:p>
          <a:p>
            <a:pPr indent="0" marL="0">
              <a:spcAft>
                <a:spcPts val="200"/>
              </a:spcAft>
              <a:buNone/>
            </a:pPr>
            <a:r>
              <a:rPr lang="en-US" sz="1400" dirty="0">
                <a:solidFill>
                  <a:srgbClr val="2B3242"/>
                </a:solidFill>
                <a:latin typeface="Pretendard" pitchFamily="34" charset="0"/>
                <a:ea typeface="Pretendard" pitchFamily="34" charset="-122"/>
                <a:cs typeface="Pretendard" pitchFamily="34" charset="-120"/>
              </a:rPr>
              <a:t>· 어디에도 안 속하는 구간은 「대상 없음」</a:t>
            </a:r>
            <a:endParaRPr lang="en-US" sz="1400" dirty="0"/>
          </a:p>
        </p:txBody>
      </p:sp>
      <p:sp>
        <p:nvSpPr>
          <p:cNvPr id="21" name="Text 19"/>
          <p:cNvSpPr/>
          <p:nvPr/>
        </p:nvSpPr>
        <p:spPr>
          <a:xfrm>
            <a:off x="640080" y="5440680"/>
            <a:ext cx="4114800" cy="347472"/>
          </a:xfrm>
          <a:prstGeom prst="roundRect">
            <a:avLst>
              <a:gd name="adj" fmla="val 15789"/>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점검: 대상이 섞인 청크 · 대상 메타데이터 오류 → 0</a:t>
            </a:r>
            <a:endParaRPr lang="en-US" sz="1400" dirty="0"/>
          </a:p>
        </p:txBody>
      </p:sp>
      <p:sp>
        <p:nvSpPr>
          <p:cNvPr id="22" name="Text 20"/>
          <p:cNvSpPr/>
          <p:nvPr/>
        </p:nvSpPr>
        <p:spPr>
          <a:xfrm>
            <a:off x="5257800" y="2670048"/>
            <a:ext cx="2606040" cy="329184"/>
          </a:xfrm>
          <a:prstGeom prst="roundRect">
            <a:avLst>
              <a:gd name="adj" fmla="val 16667"/>
            </a:avLst>
          </a:prstGeom>
          <a:solidFill>
            <a:srgbClr val="FFFFFF"/>
          </a:solidFill>
          <a:ln w="15875">
            <a:solidFill>
              <a:srgbClr val="4A5364"/>
            </a:solidFill>
            <a:prstDash val="solid"/>
          </a:ln>
        </p:spPr>
        <p:txBody>
          <a:bodyPr wrap="square" lIns="50800" tIns="50800" rIns="50800" bIns="5080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메타데이터 후보</a:t>
            </a:r>
            <a:endParaRPr lang="en-US" sz="1400" dirty="0"/>
          </a:p>
        </p:txBody>
      </p:sp>
      <p:sp>
        <p:nvSpPr>
          <p:cNvPr id="23" name="Text 21"/>
          <p:cNvSpPr/>
          <p:nvPr/>
        </p:nvSpPr>
        <p:spPr>
          <a:xfrm>
            <a:off x="8138160" y="2697480"/>
            <a:ext cx="1234440" cy="274320"/>
          </a:xfrm>
          <a:prstGeom prst="rect">
            <a:avLst/>
          </a:prstGeom>
          <a:noFill/>
          <a:ln/>
        </p:spPr>
        <p:txBody>
          <a:bodyPr wrap="square" lIns="0" tIns="0" rIns="0" bIns="0" rtlCol="0" anchor="ctr"/>
          <a:lstStyle/>
          <a:p>
            <a:pPr algn="ctr" indent="0" marL="0">
              <a:buNone/>
            </a:pPr>
            <a:r>
              <a:rPr lang="en-US" sz="1400" b="1" dirty="0">
                <a:solidFill>
                  <a:srgbClr val="404155"/>
                </a:solidFill>
                <a:latin typeface="Pretendard" pitchFamily="34" charset="0"/>
                <a:ea typeface="Pretendard" pitchFamily="34" charset="-122"/>
                <a:cs typeface="Pretendard" pitchFamily="34" charset="-120"/>
              </a:rPr>
              <a:t>아니오 → 제외</a:t>
            </a:r>
            <a:endParaRPr lang="en-US" sz="1400" dirty="0"/>
          </a:p>
        </p:txBody>
      </p:sp>
      <p:sp>
        <p:nvSpPr>
          <p:cNvPr id="24" name="Shape 22"/>
          <p:cNvSpPr/>
          <p:nvPr/>
        </p:nvSpPr>
        <p:spPr>
          <a:xfrm>
            <a:off x="6560820" y="2999232"/>
            <a:ext cx="0" cy="137160"/>
          </a:xfrm>
          <a:prstGeom prst="line">
            <a:avLst/>
          </a:prstGeom>
          <a:noFill/>
          <a:ln w="19050">
            <a:solidFill>
              <a:srgbClr val="4A5364"/>
            </a:solidFill>
            <a:prstDash val="solid"/>
            <a:tailEnd type="triangle"/>
          </a:ln>
        </p:spPr>
      </p:sp>
      <p:sp>
        <p:nvSpPr>
          <p:cNvPr id="25" name="Text 23"/>
          <p:cNvSpPr/>
          <p:nvPr/>
        </p:nvSpPr>
        <p:spPr>
          <a:xfrm>
            <a:off x="5257800" y="3136392"/>
            <a:ext cx="2606040" cy="457200"/>
          </a:xfrm>
          <a:prstGeom prst="roundRect">
            <a:avLst>
              <a:gd name="adj" fmla="val 12000"/>
            </a:avLst>
          </a:prstGeom>
          <a:solidFill>
            <a:srgbClr val="FFFFFF"/>
          </a:solidFill>
          <a:ln w="19050">
            <a:solidFill>
              <a:srgbClr val="2E74C6"/>
            </a:solidFill>
            <a:prstDash val="solid"/>
          </a:ln>
        </p:spPr>
        <p:txBody>
          <a:bodyPr wrap="square" lIns="76200" tIns="76200" rIns="76200" bIns="7620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Q1  </a:t>
            </a:r>
            <a:pPr algn="l" indent="0" marL="0">
              <a:buNone/>
            </a:pPr>
            <a:r>
              <a:rPr lang="en-US" sz="1400" b="1" dirty="0">
                <a:solidFill>
                  <a:srgbClr val="2B3242"/>
                </a:solidFill>
                <a:latin typeface="Pretendard" pitchFamily="34" charset="0"/>
                <a:ea typeface="Pretendard" pitchFamily="34" charset="-122"/>
                <a:cs typeface="Pretendard" pitchFamily="34" charset="-120"/>
              </a:rPr>
              <a:t>청크마다 값이 달라 구별해 주나?</a:t>
            </a:r>
            <a:endParaRPr lang="en-US" sz="1400" dirty="0"/>
          </a:p>
        </p:txBody>
      </p:sp>
      <p:sp>
        <p:nvSpPr>
          <p:cNvPr id="26" name="Shape 24"/>
          <p:cNvSpPr/>
          <p:nvPr/>
        </p:nvSpPr>
        <p:spPr>
          <a:xfrm>
            <a:off x="7863840" y="3364992"/>
            <a:ext cx="274320" cy="0"/>
          </a:xfrm>
          <a:prstGeom prst="line">
            <a:avLst/>
          </a:prstGeom>
          <a:noFill/>
          <a:ln w="19050">
            <a:solidFill>
              <a:srgbClr val="404155"/>
            </a:solidFill>
            <a:prstDash val="solid"/>
            <a:tailEnd type="triangle"/>
          </a:ln>
        </p:spPr>
      </p:sp>
      <p:sp>
        <p:nvSpPr>
          <p:cNvPr id="27" name="Text 25"/>
          <p:cNvSpPr/>
          <p:nvPr/>
        </p:nvSpPr>
        <p:spPr>
          <a:xfrm>
            <a:off x="8138160" y="3154680"/>
            <a:ext cx="1234440" cy="420624"/>
          </a:xfrm>
          <a:prstGeom prst="roundRect">
            <a:avLst>
              <a:gd name="adj" fmla="val 13043"/>
            </a:avLst>
          </a:prstGeom>
          <a:solidFill>
            <a:srgbClr val="F5F8FC"/>
          </a:solidFill>
          <a:ln w="15875">
            <a:solidFill>
              <a:srgbClr val="D9E0EC"/>
            </a:solidFill>
            <a:prstDash val="solid"/>
          </a:ln>
        </p:spPr>
        <p:txBody>
          <a:bodyPr wrap="square" lIns="50800" tIns="50800" rIns="50800" bIns="50800" rtlCol="0" anchor="ctr"/>
          <a:lstStyle/>
          <a:p>
            <a:pPr algn="ctr" indent="0" marL="0">
              <a:buNone/>
            </a:pPr>
            <a:r>
              <a:rPr lang="en-US" sz="1400" dirty="0">
                <a:solidFill>
                  <a:srgbClr val="4A5364"/>
                </a:solidFill>
                <a:latin typeface="Pretendard" pitchFamily="34" charset="0"/>
                <a:ea typeface="Pretendard" pitchFamily="34" charset="-122"/>
                <a:cs typeface="Pretendard" pitchFamily="34" charset="-120"/>
              </a:rPr>
              <a:t>문서 공통값</a:t>
            </a:r>
            <a:endParaRPr lang="en-US" sz="1400" dirty="0"/>
          </a:p>
        </p:txBody>
      </p:sp>
      <p:sp>
        <p:nvSpPr>
          <p:cNvPr id="28" name="Shape 26"/>
          <p:cNvSpPr/>
          <p:nvPr/>
        </p:nvSpPr>
        <p:spPr>
          <a:xfrm>
            <a:off x="6560820" y="3602736"/>
            <a:ext cx="0" cy="137160"/>
          </a:xfrm>
          <a:prstGeom prst="line">
            <a:avLst/>
          </a:prstGeom>
          <a:noFill/>
          <a:ln w="19050">
            <a:solidFill>
              <a:srgbClr val="4A5364"/>
            </a:solidFill>
            <a:prstDash val="solid"/>
            <a:tailEnd type="triangle"/>
          </a:ln>
        </p:spPr>
      </p:sp>
      <p:sp>
        <p:nvSpPr>
          <p:cNvPr id="29" name="Text 27"/>
          <p:cNvSpPr/>
          <p:nvPr/>
        </p:nvSpPr>
        <p:spPr>
          <a:xfrm>
            <a:off x="5257800" y="3739896"/>
            <a:ext cx="2606040" cy="457200"/>
          </a:xfrm>
          <a:prstGeom prst="roundRect">
            <a:avLst>
              <a:gd name="adj" fmla="val 12000"/>
            </a:avLst>
          </a:prstGeom>
          <a:solidFill>
            <a:srgbClr val="FFFFFF"/>
          </a:solidFill>
          <a:ln w="19050">
            <a:solidFill>
              <a:srgbClr val="2E74C6"/>
            </a:solidFill>
            <a:prstDash val="solid"/>
          </a:ln>
        </p:spPr>
        <p:txBody>
          <a:bodyPr wrap="square" lIns="76200" tIns="76200" rIns="76200" bIns="7620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Q2  </a:t>
            </a:r>
            <a:pPr algn="l" indent="0" marL="0">
              <a:buNone/>
            </a:pPr>
            <a:r>
              <a:rPr lang="en-US" sz="1400" b="1" dirty="0">
                <a:solidFill>
                  <a:srgbClr val="2B3242"/>
                </a:solidFill>
                <a:latin typeface="Pretendard" pitchFamily="34" charset="0"/>
                <a:ea typeface="Pretendard" pitchFamily="34" charset="-122"/>
                <a:cs typeface="Pretendard" pitchFamily="34" charset="-120"/>
              </a:rPr>
              <a:t>분할로 잃어버린 상위 정보인가?</a:t>
            </a:r>
            <a:endParaRPr lang="en-US" sz="1400" dirty="0"/>
          </a:p>
        </p:txBody>
      </p:sp>
      <p:sp>
        <p:nvSpPr>
          <p:cNvPr id="30" name="Shape 28"/>
          <p:cNvSpPr/>
          <p:nvPr/>
        </p:nvSpPr>
        <p:spPr>
          <a:xfrm>
            <a:off x="7863840" y="3968496"/>
            <a:ext cx="274320" cy="0"/>
          </a:xfrm>
          <a:prstGeom prst="line">
            <a:avLst/>
          </a:prstGeom>
          <a:noFill/>
          <a:ln w="19050">
            <a:solidFill>
              <a:srgbClr val="404155"/>
            </a:solidFill>
            <a:prstDash val="solid"/>
            <a:tailEnd type="triangle"/>
          </a:ln>
        </p:spPr>
      </p:sp>
      <p:sp>
        <p:nvSpPr>
          <p:cNvPr id="31" name="Text 29"/>
          <p:cNvSpPr/>
          <p:nvPr/>
        </p:nvSpPr>
        <p:spPr>
          <a:xfrm>
            <a:off x="8138160" y="3758184"/>
            <a:ext cx="1234440" cy="420624"/>
          </a:xfrm>
          <a:prstGeom prst="roundRect">
            <a:avLst>
              <a:gd name="adj" fmla="val 13043"/>
            </a:avLst>
          </a:prstGeom>
          <a:solidFill>
            <a:srgbClr val="F5F8FC"/>
          </a:solidFill>
          <a:ln w="15875">
            <a:solidFill>
              <a:srgbClr val="D9E0EC"/>
            </a:solidFill>
            <a:prstDash val="solid"/>
          </a:ln>
        </p:spPr>
        <p:txBody>
          <a:bodyPr wrap="square" lIns="50800" tIns="50800" rIns="50800" bIns="50800" rtlCol="0" anchor="ctr"/>
          <a:lstStyle/>
          <a:p>
            <a:pPr algn="ctr" indent="0" marL="0">
              <a:buNone/>
            </a:pPr>
            <a:r>
              <a:rPr lang="en-US" sz="1400" dirty="0">
                <a:solidFill>
                  <a:srgbClr val="4A5364"/>
                </a:solidFill>
                <a:latin typeface="Pretendard" pitchFamily="34" charset="0"/>
                <a:ea typeface="Pretendard" pitchFamily="34" charset="-122"/>
                <a:cs typeface="Pretendard" pitchFamily="34" charset="-120"/>
              </a:rPr>
              <a:t>이미 본문에 있음</a:t>
            </a:r>
            <a:endParaRPr lang="en-US" sz="1400" dirty="0"/>
          </a:p>
        </p:txBody>
      </p:sp>
      <p:sp>
        <p:nvSpPr>
          <p:cNvPr id="32" name="Shape 30"/>
          <p:cNvSpPr/>
          <p:nvPr/>
        </p:nvSpPr>
        <p:spPr>
          <a:xfrm>
            <a:off x="6560820" y="4206240"/>
            <a:ext cx="0" cy="137160"/>
          </a:xfrm>
          <a:prstGeom prst="line">
            <a:avLst/>
          </a:prstGeom>
          <a:noFill/>
          <a:ln w="19050">
            <a:solidFill>
              <a:srgbClr val="4A5364"/>
            </a:solidFill>
            <a:prstDash val="solid"/>
            <a:tailEnd type="triangle"/>
          </a:ln>
        </p:spPr>
      </p:sp>
      <p:sp>
        <p:nvSpPr>
          <p:cNvPr id="33" name="Text 31"/>
          <p:cNvSpPr/>
          <p:nvPr/>
        </p:nvSpPr>
        <p:spPr>
          <a:xfrm>
            <a:off x="5257800" y="4343400"/>
            <a:ext cx="2606040" cy="457200"/>
          </a:xfrm>
          <a:prstGeom prst="roundRect">
            <a:avLst>
              <a:gd name="adj" fmla="val 12000"/>
            </a:avLst>
          </a:prstGeom>
          <a:solidFill>
            <a:srgbClr val="FFFFFF"/>
          </a:solidFill>
          <a:ln w="19050">
            <a:solidFill>
              <a:srgbClr val="2E74C6"/>
            </a:solidFill>
            <a:prstDash val="solid"/>
          </a:ln>
        </p:spPr>
        <p:txBody>
          <a:bodyPr wrap="square" lIns="76200" tIns="76200" rIns="76200" bIns="7620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Q3  </a:t>
            </a:r>
            <a:pPr algn="l" indent="0" marL="0">
              <a:buNone/>
            </a:pPr>
            <a:r>
              <a:rPr lang="en-US" sz="1400" b="1" dirty="0">
                <a:solidFill>
                  <a:srgbClr val="2B3242"/>
                </a:solidFill>
                <a:latin typeface="Pretendard" pitchFamily="34" charset="0"/>
                <a:ea typeface="Pretendard" pitchFamily="34" charset="-122"/>
                <a:cs typeface="Pretendard" pitchFamily="34" charset="-120"/>
              </a:rPr>
              <a:t>사용자가 질문에 쓰는 말인가?</a:t>
            </a:r>
            <a:endParaRPr lang="en-US" sz="1400" dirty="0"/>
          </a:p>
        </p:txBody>
      </p:sp>
      <p:sp>
        <p:nvSpPr>
          <p:cNvPr id="34" name="Shape 32"/>
          <p:cNvSpPr/>
          <p:nvPr/>
        </p:nvSpPr>
        <p:spPr>
          <a:xfrm>
            <a:off x="7863840" y="4572000"/>
            <a:ext cx="274320" cy="0"/>
          </a:xfrm>
          <a:prstGeom prst="line">
            <a:avLst/>
          </a:prstGeom>
          <a:noFill/>
          <a:ln w="19050">
            <a:solidFill>
              <a:srgbClr val="404155"/>
            </a:solidFill>
            <a:prstDash val="solid"/>
            <a:tailEnd type="triangle"/>
          </a:ln>
        </p:spPr>
      </p:sp>
      <p:sp>
        <p:nvSpPr>
          <p:cNvPr id="35" name="Text 33"/>
          <p:cNvSpPr/>
          <p:nvPr/>
        </p:nvSpPr>
        <p:spPr>
          <a:xfrm>
            <a:off x="8138160" y="4361688"/>
            <a:ext cx="1234440" cy="420624"/>
          </a:xfrm>
          <a:prstGeom prst="roundRect">
            <a:avLst>
              <a:gd name="adj" fmla="val 13043"/>
            </a:avLst>
          </a:prstGeom>
          <a:solidFill>
            <a:srgbClr val="F5F8FC"/>
          </a:solidFill>
          <a:ln w="15875">
            <a:solidFill>
              <a:srgbClr val="D9E0EC"/>
            </a:solidFill>
            <a:prstDash val="solid"/>
          </a:ln>
        </p:spPr>
        <p:txBody>
          <a:bodyPr wrap="square" lIns="50800" tIns="50800" rIns="50800" bIns="50800" rtlCol="0" anchor="ctr"/>
          <a:lstStyle/>
          <a:p>
            <a:pPr algn="ctr" indent="0" marL="0">
              <a:buNone/>
            </a:pPr>
            <a:r>
              <a:rPr lang="en-US" sz="1400" dirty="0">
                <a:solidFill>
                  <a:srgbClr val="4A5364"/>
                </a:solidFill>
                <a:latin typeface="Pretendard" pitchFamily="34" charset="0"/>
                <a:ea typeface="Pretendard" pitchFamily="34" charset="-122"/>
                <a:cs typeface="Pretendard" pitchFamily="34" charset="-120"/>
              </a:rPr>
              <a:t>내부 전용 값</a:t>
            </a:r>
            <a:endParaRPr lang="en-US" sz="1400" dirty="0"/>
          </a:p>
        </p:txBody>
      </p:sp>
      <p:sp>
        <p:nvSpPr>
          <p:cNvPr id="36" name="Shape 34"/>
          <p:cNvSpPr/>
          <p:nvPr/>
        </p:nvSpPr>
        <p:spPr>
          <a:xfrm>
            <a:off x="6560820" y="4800600"/>
            <a:ext cx="0" cy="164592"/>
          </a:xfrm>
          <a:prstGeom prst="line">
            <a:avLst/>
          </a:prstGeom>
          <a:noFill/>
          <a:ln w="19050">
            <a:solidFill>
              <a:srgbClr val="4A5364"/>
            </a:solidFill>
            <a:prstDash val="solid"/>
            <a:tailEnd type="triangle"/>
          </a:ln>
        </p:spPr>
      </p:sp>
      <p:sp>
        <p:nvSpPr>
          <p:cNvPr id="37" name="Text 35"/>
          <p:cNvSpPr/>
          <p:nvPr/>
        </p:nvSpPr>
        <p:spPr>
          <a:xfrm>
            <a:off x="6615684" y="4754880"/>
            <a:ext cx="365760" cy="201168"/>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예</a:t>
            </a:r>
            <a:endParaRPr lang="en-US" sz="1400" dirty="0"/>
          </a:p>
        </p:txBody>
      </p:sp>
      <p:sp>
        <p:nvSpPr>
          <p:cNvPr id="38" name="Text 36"/>
          <p:cNvSpPr/>
          <p:nvPr/>
        </p:nvSpPr>
        <p:spPr>
          <a:xfrm>
            <a:off x="5257800" y="4965192"/>
            <a:ext cx="2606040" cy="347472"/>
          </a:xfrm>
          <a:prstGeom prst="roundRect">
            <a:avLst>
              <a:gd name="adj" fmla="val 15789"/>
            </a:avLst>
          </a:prstGeom>
          <a:solidFill>
            <a:srgbClr val="1E2A5C"/>
          </a:solidFill>
          <a:ln/>
        </p:spPr>
        <p:txBody>
          <a:bodyPr wrap="square" lIns="50800" tIns="50800" rIns="50800" bIns="5080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머리말 항목</a:t>
            </a:r>
            <a:endParaRPr lang="en-US" sz="1500" dirty="0"/>
          </a:p>
        </p:txBody>
      </p:sp>
      <p:sp>
        <p:nvSpPr>
          <p:cNvPr id="39" name="Text 37"/>
          <p:cNvSpPr/>
          <p:nvPr/>
        </p:nvSpPr>
        <p:spPr>
          <a:xfrm>
            <a:off x="5257800" y="5413248"/>
            <a:ext cx="4114800" cy="402336"/>
          </a:xfrm>
          <a:prstGeom prst="roundRect">
            <a:avLst>
              <a:gd name="adj" fmla="val 13636"/>
            </a:avLst>
          </a:prstGeom>
          <a:solidFill>
            <a:srgbClr val="404155"/>
          </a:solidFill>
          <a:ln/>
        </p:spPr>
        <p:txBody>
          <a:bodyPr wrap="square" lIns="76200" tIns="76200" rIns="76200" bIns="76200" rtlCol="0" anchor="ctr"/>
          <a:lstStyle/>
          <a:p>
            <a:pPr algn="l" indent="0" marL="0">
              <a:buNone/>
            </a:pPr>
            <a:r>
              <a:rPr lang="en-US" sz="1400" b="1" dirty="0">
                <a:solidFill>
                  <a:srgbClr val="FFFFFF"/>
                </a:solidFill>
                <a:latin typeface="Pretendard" pitchFamily="34" charset="0"/>
                <a:ea typeface="Pretendard" pitchFamily="34" charset="-122"/>
                <a:cs typeface="Pretendard" pitchFamily="34" charset="-120"/>
              </a:rPr>
              <a:t>항상 제외  </a:t>
            </a:r>
            <a:pPr algn="l" indent="0" marL="0">
              <a:buNone/>
            </a:pPr>
            <a:r>
              <a:rPr lang="en-US" sz="1400" dirty="0">
                <a:solidFill>
                  <a:srgbClr val="FFFFFF"/>
                </a:solidFill>
                <a:latin typeface="Pretendard" pitchFamily="34" charset="0"/>
                <a:ea typeface="Pretendard" pitchFamily="34" charset="-122"/>
                <a:cs typeface="Pretendard" pitchFamily="34" charset="-120"/>
              </a:rPr>
              <a:t>개인정보·가명 ID · 자유 텍스트 라벨(주제 등)</a:t>
            </a:r>
            <a:endParaRPr lang="en-US" sz="1400" dirty="0"/>
          </a:p>
        </p:txBody>
      </p:sp>
      <p:sp>
        <p:nvSpPr>
          <p:cNvPr id="40" name="Text 38"/>
          <p:cNvSpPr/>
          <p:nvPr/>
        </p:nvSpPr>
        <p:spPr>
          <a:xfrm>
            <a:off x="9875520" y="2670048"/>
            <a:ext cx="2331720" cy="658368"/>
          </a:xfrm>
          <a:prstGeom prst="flowChartDecision">
            <a:avLst/>
          </a:prstGeom>
          <a:solidFill>
            <a:srgbClr val="FFFFFF"/>
          </a:solidFill>
          <a:ln w="25400">
            <a:solidFill>
              <a:srgbClr val="2E74C6"/>
            </a:solidFill>
            <a:prstDash val="solid"/>
          </a:ln>
        </p:spPr>
        <p:txBody>
          <a:bodyPr wrap="square" lIns="76200" tIns="76200" rIns="76200" bIns="762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정보가 본문에</a:t>
            </a:r>
            <a:endParaRPr lang="en-US" sz="1400" dirty="0"/>
          </a:p>
          <a:p>
            <a:pPr algn="ctr" indent="0" marL="0">
              <a:buNone/>
            </a:pPr>
            <a:r>
              <a:rPr lang="en-US" sz="1400" b="1" dirty="0">
                <a:solidFill>
                  <a:srgbClr val="1E2A5C"/>
                </a:solidFill>
                <a:latin typeface="Pretendard" pitchFamily="34" charset="0"/>
                <a:ea typeface="Pretendard" pitchFamily="34" charset="-122"/>
                <a:cs typeface="Pretendard" pitchFamily="34" charset="-120"/>
              </a:rPr>
              <a:t>이미 있나?</a:t>
            </a:r>
            <a:endParaRPr lang="en-US" sz="1400" dirty="0"/>
          </a:p>
        </p:txBody>
      </p:sp>
      <p:sp>
        <p:nvSpPr>
          <p:cNvPr id="41" name="Shape 39"/>
          <p:cNvSpPr/>
          <p:nvPr/>
        </p:nvSpPr>
        <p:spPr>
          <a:xfrm>
            <a:off x="12207240" y="2999232"/>
            <a:ext cx="256032" cy="0"/>
          </a:xfrm>
          <a:prstGeom prst="line">
            <a:avLst/>
          </a:prstGeom>
          <a:noFill/>
          <a:ln w="19050">
            <a:solidFill>
              <a:srgbClr val="4A5364"/>
            </a:solidFill>
            <a:prstDash val="solid"/>
            <a:tailEnd type="triangle"/>
          </a:ln>
        </p:spPr>
      </p:sp>
      <p:sp>
        <p:nvSpPr>
          <p:cNvPr id="42" name="Text 40"/>
          <p:cNvSpPr/>
          <p:nvPr/>
        </p:nvSpPr>
        <p:spPr>
          <a:xfrm>
            <a:off x="12225528" y="2724912"/>
            <a:ext cx="274320" cy="201168"/>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예</a:t>
            </a:r>
            <a:endParaRPr lang="en-US" sz="1400" dirty="0"/>
          </a:p>
        </p:txBody>
      </p:sp>
      <p:sp>
        <p:nvSpPr>
          <p:cNvPr id="43" name="Text 41"/>
          <p:cNvSpPr/>
          <p:nvPr/>
        </p:nvSpPr>
        <p:spPr>
          <a:xfrm>
            <a:off x="12463272" y="2770632"/>
            <a:ext cx="1527048" cy="457200"/>
          </a:xfrm>
          <a:prstGeom prst="roundRect">
            <a:avLst>
              <a:gd name="adj" fmla="val 12000"/>
            </a:avLst>
          </a:prstGeom>
          <a:solidFill>
            <a:srgbClr val="F5F8FC"/>
          </a:solidFill>
          <a:ln w="15875">
            <a:solidFill>
              <a:srgbClr val="D9E0EC"/>
            </a:solidFill>
            <a:prstDash val="solid"/>
          </a:ln>
        </p:spPr>
        <p:txBody>
          <a:bodyPr wrap="square" lIns="50800" tIns="50800" rIns="50800" bIns="5080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붙이지 않음</a:t>
            </a:r>
            <a:endParaRPr lang="en-US" sz="1400" dirty="0"/>
          </a:p>
        </p:txBody>
      </p:sp>
      <p:sp>
        <p:nvSpPr>
          <p:cNvPr id="44" name="Shape 42"/>
          <p:cNvSpPr/>
          <p:nvPr/>
        </p:nvSpPr>
        <p:spPr>
          <a:xfrm>
            <a:off x="11041380" y="3328416"/>
            <a:ext cx="0" cy="210312"/>
          </a:xfrm>
          <a:prstGeom prst="line">
            <a:avLst/>
          </a:prstGeom>
          <a:noFill/>
          <a:ln w="19050">
            <a:solidFill>
              <a:srgbClr val="4A5364"/>
            </a:solidFill>
            <a:prstDash val="solid"/>
            <a:tailEnd type="triangle"/>
          </a:ln>
        </p:spPr>
      </p:sp>
      <p:sp>
        <p:nvSpPr>
          <p:cNvPr id="45" name="Text 43"/>
          <p:cNvSpPr/>
          <p:nvPr/>
        </p:nvSpPr>
        <p:spPr>
          <a:xfrm>
            <a:off x="11096244" y="3310128"/>
            <a:ext cx="1280160" cy="201168"/>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아니오</a:t>
            </a:r>
            <a:endParaRPr lang="en-US" sz="1400" dirty="0"/>
          </a:p>
        </p:txBody>
      </p:sp>
      <p:sp>
        <p:nvSpPr>
          <p:cNvPr id="46" name="Text 44"/>
          <p:cNvSpPr/>
          <p:nvPr/>
        </p:nvSpPr>
        <p:spPr>
          <a:xfrm>
            <a:off x="9875520" y="3538728"/>
            <a:ext cx="2331720" cy="658368"/>
          </a:xfrm>
          <a:prstGeom prst="flowChartDecision">
            <a:avLst/>
          </a:prstGeom>
          <a:solidFill>
            <a:srgbClr val="FFFFFF"/>
          </a:solidFill>
          <a:ln w="25400">
            <a:solidFill>
              <a:srgbClr val="2E74C6"/>
            </a:solidFill>
            <a:prstDash val="solid"/>
          </a:ln>
        </p:spPr>
        <p:txBody>
          <a:bodyPr wrap="square" lIns="76200" tIns="76200" rIns="76200" bIns="762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대상이 섞인</a:t>
            </a:r>
            <a:endParaRPr lang="en-US" sz="1400" dirty="0"/>
          </a:p>
          <a:p>
            <a:pPr algn="ctr" indent="0" marL="0">
              <a:buNone/>
            </a:pPr>
            <a:r>
              <a:rPr lang="en-US" sz="1400" b="1" dirty="0">
                <a:solidFill>
                  <a:srgbClr val="1E2A5C"/>
                </a:solidFill>
                <a:latin typeface="Pretendard" pitchFamily="34" charset="0"/>
                <a:ea typeface="Pretendard" pitchFamily="34" charset="-122"/>
                <a:cs typeface="Pretendard" pitchFamily="34" charset="-120"/>
              </a:rPr>
              <a:t>청크가 많나?</a:t>
            </a:r>
            <a:endParaRPr lang="en-US" sz="1400" dirty="0"/>
          </a:p>
        </p:txBody>
      </p:sp>
      <p:sp>
        <p:nvSpPr>
          <p:cNvPr id="47" name="Shape 45"/>
          <p:cNvSpPr/>
          <p:nvPr/>
        </p:nvSpPr>
        <p:spPr>
          <a:xfrm>
            <a:off x="12207240" y="3867912"/>
            <a:ext cx="256032" cy="0"/>
          </a:xfrm>
          <a:prstGeom prst="line">
            <a:avLst/>
          </a:prstGeom>
          <a:noFill/>
          <a:ln w="19050">
            <a:solidFill>
              <a:srgbClr val="4A5364"/>
            </a:solidFill>
            <a:prstDash val="solid"/>
            <a:tailEnd type="triangle"/>
          </a:ln>
        </p:spPr>
      </p:sp>
      <p:sp>
        <p:nvSpPr>
          <p:cNvPr id="48" name="Text 46"/>
          <p:cNvSpPr/>
          <p:nvPr/>
        </p:nvSpPr>
        <p:spPr>
          <a:xfrm>
            <a:off x="12225528" y="3593592"/>
            <a:ext cx="274320" cy="201168"/>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예</a:t>
            </a:r>
            <a:endParaRPr lang="en-US" sz="1400" dirty="0"/>
          </a:p>
        </p:txBody>
      </p:sp>
      <p:sp>
        <p:nvSpPr>
          <p:cNvPr id="49" name="Text 47"/>
          <p:cNvSpPr/>
          <p:nvPr/>
        </p:nvSpPr>
        <p:spPr>
          <a:xfrm>
            <a:off x="12463272" y="3639312"/>
            <a:ext cx="1527048" cy="457200"/>
          </a:xfrm>
          <a:prstGeom prst="roundRect">
            <a:avLst>
              <a:gd name="adj" fmla="val 12000"/>
            </a:avLst>
          </a:prstGeom>
          <a:solidFill>
            <a:srgbClr val="F5F8FC"/>
          </a:solidFill>
          <a:ln w="15875">
            <a:solidFill>
              <a:srgbClr val="D9E0EC"/>
            </a:solidFill>
            <a:prstDash val="solid"/>
          </a:ln>
        </p:spPr>
        <p:txBody>
          <a:bodyPr wrap="square" lIns="50800" tIns="50800" rIns="50800" bIns="50800" rtlCol="0" anchor="ctr"/>
          <a:lstStyle/>
          <a:p>
            <a:pPr algn="ctr" indent="0" marL="0">
              <a:buNone/>
            </a:pPr>
            <a:r>
              <a:rPr lang="en-US" sz="1400" b="1" dirty="0">
                <a:solidFill>
                  <a:srgbClr val="404155"/>
                </a:solidFill>
                <a:latin typeface="Pretendard" pitchFamily="34" charset="0"/>
                <a:ea typeface="Pretendard" pitchFamily="34" charset="-122"/>
                <a:cs typeface="Pretendard" pitchFamily="34" charset="-120"/>
              </a:rPr>
              <a:t>경계부터</a:t>
            </a:r>
            <a:endParaRPr lang="en-US" sz="1400" dirty="0"/>
          </a:p>
          <a:p>
            <a:pPr algn="ctr" indent="0" marL="0">
              <a:buNone/>
            </a:pPr>
            <a:r>
              <a:rPr lang="en-US" sz="1400" b="1" dirty="0">
                <a:solidFill>
                  <a:srgbClr val="404155"/>
                </a:solidFill>
                <a:latin typeface="Pretendard" pitchFamily="34" charset="0"/>
                <a:ea typeface="Pretendard" pitchFamily="34" charset="-122"/>
                <a:cs typeface="Pretendard" pitchFamily="34" charset="-120"/>
              </a:rPr>
              <a:t>고침(①)</a:t>
            </a:r>
            <a:endParaRPr lang="en-US" sz="1400" dirty="0"/>
          </a:p>
        </p:txBody>
      </p:sp>
      <p:sp>
        <p:nvSpPr>
          <p:cNvPr id="50" name="Shape 48"/>
          <p:cNvSpPr/>
          <p:nvPr/>
        </p:nvSpPr>
        <p:spPr>
          <a:xfrm>
            <a:off x="11041380" y="4197096"/>
            <a:ext cx="0" cy="210312"/>
          </a:xfrm>
          <a:prstGeom prst="line">
            <a:avLst/>
          </a:prstGeom>
          <a:noFill/>
          <a:ln w="19050">
            <a:solidFill>
              <a:srgbClr val="4A5364"/>
            </a:solidFill>
            <a:prstDash val="solid"/>
            <a:tailEnd type="triangle"/>
          </a:ln>
        </p:spPr>
      </p:sp>
      <p:sp>
        <p:nvSpPr>
          <p:cNvPr id="51" name="Text 49"/>
          <p:cNvSpPr/>
          <p:nvPr/>
        </p:nvSpPr>
        <p:spPr>
          <a:xfrm>
            <a:off x="11096244" y="4178808"/>
            <a:ext cx="1280160" cy="201168"/>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아니오·고친 뒤</a:t>
            </a:r>
            <a:endParaRPr lang="en-US" sz="1400" dirty="0"/>
          </a:p>
        </p:txBody>
      </p:sp>
      <p:sp>
        <p:nvSpPr>
          <p:cNvPr id="52" name="Text 50"/>
          <p:cNvSpPr/>
          <p:nvPr/>
        </p:nvSpPr>
        <p:spPr>
          <a:xfrm>
            <a:off x="9875520" y="4407408"/>
            <a:ext cx="2331720" cy="658368"/>
          </a:xfrm>
          <a:prstGeom prst="flowChartDecision">
            <a:avLst/>
          </a:prstGeom>
          <a:solidFill>
            <a:srgbClr val="FFFFFF"/>
          </a:solidFill>
          <a:ln w="25400">
            <a:solidFill>
              <a:srgbClr val="2E74C6"/>
            </a:solidFill>
            <a:prstDash val="solid"/>
          </a:ln>
        </p:spPr>
        <p:txBody>
          <a:bodyPr wrap="square" lIns="76200" tIns="76200" rIns="76200" bIns="762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A/B 실측</a:t>
            </a:r>
            <a:endParaRPr lang="en-US" sz="1400" dirty="0"/>
          </a:p>
          <a:p>
            <a:pPr algn="ctr" indent="0" marL="0">
              <a:buNone/>
            </a:pPr>
            <a:r>
              <a:rPr lang="en-US" sz="1400" b="1" dirty="0">
                <a:solidFill>
                  <a:srgbClr val="1E2A5C"/>
                </a:solidFill>
                <a:latin typeface="Pretendard" pitchFamily="34" charset="0"/>
                <a:ea typeface="Pretendard" pitchFamily="34" charset="-122"/>
                <a:cs typeface="Pretendard" pitchFamily="34" charset="-120"/>
              </a:rPr>
              <a:t>통과?</a:t>
            </a:r>
            <a:endParaRPr lang="en-US" sz="1400" dirty="0"/>
          </a:p>
        </p:txBody>
      </p:sp>
      <p:sp>
        <p:nvSpPr>
          <p:cNvPr id="53" name="Shape 51"/>
          <p:cNvSpPr/>
          <p:nvPr/>
        </p:nvSpPr>
        <p:spPr>
          <a:xfrm>
            <a:off x="12207240" y="4736592"/>
            <a:ext cx="256032" cy="0"/>
          </a:xfrm>
          <a:prstGeom prst="line">
            <a:avLst/>
          </a:prstGeom>
          <a:noFill/>
          <a:ln w="19050">
            <a:solidFill>
              <a:srgbClr val="4A5364"/>
            </a:solidFill>
            <a:prstDash val="solid"/>
            <a:tailEnd type="triangle"/>
          </a:ln>
        </p:spPr>
      </p:sp>
      <p:sp>
        <p:nvSpPr>
          <p:cNvPr id="54" name="Text 52"/>
          <p:cNvSpPr/>
          <p:nvPr/>
        </p:nvSpPr>
        <p:spPr>
          <a:xfrm>
            <a:off x="12225528" y="4462272"/>
            <a:ext cx="274320" cy="201168"/>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예</a:t>
            </a:r>
            <a:endParaRPr lang="en-US" sz="1400" dirty="0"/>
          </a:p>
        </p:txBody>
      </p:sp>
      <p:sp>
        <p:nvSpPr>
          <p:cNvPr id="55" name="Text 53"/>
          <p:cNvSpPr/>
          <p:nvPr/>
        </p:nvSpPr>
        <p:spPr>
          <a:xfrm>
            <a:off x="12463272" y="4507992"/>
            <a:ext cx="1527048" cy="457200"/>
          </a:xfrm>
          <a:prstGeom prst="roundRect">
            <a:avLst>
              <a:gd name="adj" fmla="val 12000"/>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채택</a:t>
            </a:r>
            <a:endParaRPr lang="en-US" sz="1400" dirty="0"/>
          </a:p>
        </p:txBody>
      </p:sp>
      <p:sp>
        <p:nvSpPr>
          <p:cNvPr id="56" name="Text 54"/>
          <p:cNvSpPr/>
          <p:nvPr/>
        </p:nvSpPr>
        <p:spPr>
          <a:xfrm>
            <a:off x="9875520" y="5120640"/>
            <a:ext cx="4114800" cy="457200"/>
          </a:xfrm>
          <a:prstGeom prst="rect">
            <a:avLst/>
          </a:prstGeom>
          <a:noFill/>
          <a:ln/>
        </p:spPr>
        <p:txBody>
          <a:bodyPr wrap="square" lIns="0" tIns="0" rIns="0" bIns="0" rtlCol="0" anchor="t"/>
          <a:lstStyle/>
          <a:p>
            <a:pPr indent="0" marL="0">
              <a:buNone/>
            </a:pPr>
            <a:r>
              <a:rPr lang="en-US" sz="1400" b="1" dirty="0">
                <a:solidFill>
                  <a:srgbClr val="1E2A5C"/>
                </a:solidFill>
                <a:latin typeface="Pretendard" pitchFamily="34" charset="0"/>
                <a:ea typeface="Pretendard" pitchFamily="34" charset="-122"/>
                <a:cs typeface="Pretendard" pitchFamily="34" charset="-120"/>
              </a:rPr>
              <a:t>통과 기준  </a:t>
            </a:r>
            <a:pPr indent="0" marL="0">
              <a:buNone/>
            </a:pPr>
            <a:r>
              <a:rPr lang="en-US" sz="1400" dirty="0">
                <a:solidFill>
                  <a:srgbClr val="2B3242"/>
                </a:solidFill>
                <a:latin typeface="Pretendard" pitchFamily="34" charset="0"/>
                <a:ea typeface="Pretendard" pitchFamily="34" charset="-122"/>
                <a:cs typeface="Pretendard" pitchFamily="34" charset="-120"/>
              </a:rPr>
              <a:t>대상 질의 적중↑ · 일반 질문 1위 유지 · 다른 유형 질의 무손상(미달 시 보류)</a:t>
            </a:r>
            <a:endParaRPr lang="en-US" sz="1400" dirty="0"/>
          </a:p>
        </p:txBody>
      </p:sp>
      <p:sp>
        <p:nvSpPr>
          <p:cNvPr id="57" name="Text 55"/>
          <p:cNvSpPr/>
          <p:nvPr/>
        </p:nvSpPr>
        <p:spPr>
          <a:xfrm>
            <a:off x="9875520" y="5577840"/>
            <a:ext cx="4114800" cy="274320"/>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예산: 분할 전에 머리말 몫을 빼서 상한 초과 0</a:t>
            </a:r>
            <a:endParaRPr lang="en-US" sz="1400" dirty="0"/>
          </a:p>
        </p:txBody>
      </p:sp>
      <p:sp>
        <p:nvSpPr>
          <p:cNvPr id="58" name="Text 56"/>
          <p:cNvSpPr/>
          <p:nvPr/>
        </p:nvSpPr>
        <p:spPr>
          <a:xfrm>
            <a:off x="502920" y="6016752"/>
            <a:ext cx="1600200" cy="1161288"/>
          </a:xfrm>
          <a:prstGeom prst="roundRect">
            <a:avLst>
              <a:gd name="adj" fmla="val 4724"/>
            </a:avLst>
          </a:prstGeom>
          <a:solidFill>
            <a:srgbClr val="404155"/>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실측 예</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카드 상품 문서</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(2026-10-03)</a:t>
            </a:r>
            <a:endParaRPr lang="en-US" sz="1400" dirty="0"/>
          </a:p>
        </p:txBody>
      </p:sp>
      <p:sp>
        <p:nvSpPr>
          <p:cNvPr id="59" name="Shape 57"/>
          <p:cNvSpPr/>
          <p:nvPr/>
        </p:nvSpPr>
        <p:spPr>
          <a:xfrm>
            <a:off x="2240280" y="6016752"/>
            <a:ext cx="3870960" cy="1161288"/>
          </a:xfrm>
          <a:prstGeom prst="roundRect">
            <a:avLst>
              <a:gd name="adj" fmla="val 7874"/>
            </a:avLst>
          </a:prstGeom>
          <a:solidFill>
            <a:srgbClr val="F5F8FC"/>
          </a:solidFill>
          <a:ln w="12700">
            <a:solidFill>
              <a:srgbClr val="D9E0EC"/>
            </a:solidFill>
            <a:prstDash val="solid"/>
          </a:ln>
        </p:spPr>
      </p:sp>
      <p:sp>
        <p:nvSpPr>
          <p:cNvPr id="60" name="Text 58"/>
          <p:cNvSpPr/>
          <p:nvPr/>
        </p:nvSpPr>
        <p:spPr>
          <a:xfrm>
            <a:off x="2377440" y="6071616"/>
            <a:ext cx="3596640" cy="1051560"/>
          </a:xfrm>
          <a:prstGeom prst="rect">
            <a:avLst/>
          </a:prstGeom>
          <a:noFill/>
          <a:ln/>
        </p:spPr>
        <p:txBody>
          <a:bodyPr wrap="square" lIns="0" tIns="0" rIns="0" bIns="0" rtlCol="0" anchor="ctr"/>
          <a:lstStyle/>
          <a:p>
            <a:pPr indent="0" marL="0">
              <a:spcAft>
                <a:spcPts val="200"/>
              </a:spcAft>
              <a:buNone/>
            </a:pPr>
            <a:r>
              <a:rPr lang="en-US" sz="1500" b="1" dirty="0">
                <a:solidFill>
                  <a:srgbClr val="1E2A5C"/>
                </a:solidFill>
                <a:latin typeface="Pretendard" pitchFamily="34" charset="0"/>
                <a:ea typeface="Pretendard" pitchFamily="34" charset="-122"/>
                <a:cs typeface="Pretendard" pitchFamily="34" charset="-120"/>
              </a:rPr>
              <a:t>약관</a:t>
            </a:r>
            <a:endParaRPr lang="en-US" sz="1400" dirty="0"/>
          </a:p>
          <a:p>
            <a:pPr indent="0" marL="0">
              <a:spcAft>
                <a:spcPts val="200"/>
              </a:spcAft>
              <a:buNone/>
            </a:pPr>
            <a:r>
              <a:rPr lang="en-US" sz="1400" dirty="0">
                <a:solidFill>
                  <a:srgbClr val="4A5364"/>
                </a:solidFill>
                <a:latin typeface="Pretendard" pitchFamily="34" charset="0"/>
                <a:ea typeface="Pretendard" pitchFamily="34" charset="-122"/>
                <a:cs typeface="Pretendard" pitchFamily="34" charset="-120"/>
              </a:rPr>
              <a:t>조항 제목이 이미 본문 첫 줄</a:t>
            </a:r>
            <a:endParaRPr lang="en-US" sz="1400" dirty="0"/>
          </a:p>
          <a:p>
            <a:pPr indent="0" marL="0">
              <a:spcAft>
                <a:spcPts val="200"/>
              </a:spcAft>
              <a:buNone/>
            </a:pPr>
            <a:r>
              <a:rPr lang="en-US" sz="1400" b="1" dirty="0">
                <a:solidFill>
                  <a:srgbClr val="2B3242"/>
                </a:solidFill>
                <a:latin typeface="Pretendard" pitchFamily="34" charset="0"/>
                <a:ea typeface="Pretendard" pitchFamily="34" charset="-122"/>
                <a:cs typeface="Pretendard" pitchFamily="34" charset="-120"/>
              </a:rPr>
              <a:t>→ 머리말 없음(해당 1/10건, 변화 없음)</a:t>
            </a:r>
            <a:endParaRPr lang="en-US" sz="1400" dirty="0"/>
          </a:p>
        </p:txBody>
      </p:sp>
      <p:sp>
        <p:nvSpPr>
          <p:cNvPr id="61" name="Shape 59"/>
          <p:cNvSpPr/>
          <p:nvPr/>
        </p:nvSpPr>
        <p:spPr>
          <a:xfrm>
            <a:off x="6248400" y="6016752"/>
            <a:ext cx="3870960" cy="1161288"/>
          </a:xfrm>
          <a:prstGeom prst="roundRect">
            <a:avLst>
              <a:gd name="adj" fmla="val 7874"/>
            </a:avLst>
          </a:prstGeom>
          <a:solidFill>
            <a:srgbClr val="F5F8FC"/>
          </a:solidFill>
          <a:ln w="12700">
            <a:solidFill>
              <a:srgbClr val="D9E0EC"/>
            </a:solidFill>
            <a:prstDash val="solid"/>
          </a:ln>
        </p:spPr>
      </p:sp>
      <p:sp>
        <p:nvSpPr>
          <p:cNvPr id="62" name="Text 60"/>
          <p:cNvSpPr/>
          <p:nvPr/>
        </p:nvSpPr>
        <p:spPr>
          <a:xfrm>
            <a:off x="6385560" y="6071616"/>
            <a:ext cx="3596640" cy="1051560"/>
          </a:xfrm>
          <a:prstGeom prst="rect">
            <a:avLst/>
          </a:prstGeom>
          <a:noFill/>
          <a:ln/>
        </p:spPr>
        <p:txBody>
          <a:bodyPr wrap="square" lIns="0" tIns="0" rIns="0" bIns="0" rtlCol="0" anchor="ctr"/>
          <a:lstStyle/>
          <a:p>
            <a:pPr indent="0" marL="0">
              <a:spcAft>
                <a:spcPts val="200"/>
              </a:spcAft>
              <a:buNone/>
            </a:pPr>
            <a:r>
              <a:rPr lang="en-US" sz="1500" b="1" dirty="0">
                <a:solidFill>
                  <a:srgbClr val="1E2A5C"/>
                </a:solidFill>
                <a:latin typeface="Pretendard" pitchFamily="34" charset="0"/>
                <a:ea typeface="Pretendard" pitchFamily="34" charset="-122"/>
                <a:cs typeface="Pretendard" pitchFamily="34" charset="-120"/>
              </a:rPr>
              <a:t>카드 혜택</a:t>
            </a:r>
            <a:endParaRPr lang="en-US" sz="1400" dirty="0"/>
          </a:p>
          <a:p>
            <a:pPr indent="0" marL="0">
              <a:spcAft>
                <a:spcPts val="200"/>
              </a:spcAft>
              <a:buNone/>
            </a:pPr>
            <a:r>
              <a:rPr lang="en-US" sz="1400" dirty="0">
                <a:solidFill>
                  <a:srgbClr val="4A5364"/>
                </a:solidFill>
                <a:latin typeface="Pretendard" pitchFamily="34" charset="0"/>
                <a:ea typeface="Pretendard" pitchFamily="34" charset="-122"/>
                <a:cs typeface="Pretendard" pitchFamily="34" charset="-120"/>
              </a:rPr>
              <a:t>카드 경계 분할 + 카드명·ID 머리말</a:t>
            </a:r>
            <a:endParaRPr lang="en-US" sz="1400" dirty="0"/>
          </a:p>
          <a:p>
            <a:pPr indent="0" marL="0">
              <a:spcAft>
                <a:spcPts val="200"/>
              </a:spcAft>
              <a:buNone/>
            </a:pPr>
            <a:r>
              <a:rPr lang="en-US" sz="1400" b="1" dirty="0">
                <a:solidFill>
                  <a:srgbClr val="2B3242"/>
                </a:solidFill>
                <a:latin typeface="Pretendard" pitchFamily="34" charset="0"/>
                <a:ea typeface="Pretendard" pitchFamily="34" charset="-122"/>
                <a:cs typeface="Pretendard" pitchFamily="34" charset="-120"/>
              </a:rPr>
              <a:t>→ 섞인 청크 66→12 · hybrid 카드 질의 적중 4→8/11</a:t>
            </a:r>
            <a:endParaRPr lang="en-US" sz="1400" dirty="0"/>
          </a:p>
        </p:txBody>
      </p:sp>
      <p:sp>
        <p:nvSpPr>
          <p:cNvPr id="63" name="Shape 61"/>
          <p:cNvSpPr/>
          <p:nvPr/>
        </p:nvSpPr>
        <p:spPr>
          <a:xfrm>
            <a:off x="10256520" y="6016752"/>
            <a:ext cx="3870960" cy="1161288"/>
          </a:xfrm>
          <a:prstGeom prst="roundRect">
            <a:avLst>
              <a:gd name="adj" fmla="val 7874"/>
            </a:avLst>
          </a:prstGeom>
          <a:solidFill>
            <a:srgbClr val="F5F8FC"/>
          </a:solidFill>
          <a:ln w="12700">
            <a:solidFill>
              <a:srgbClr val="D9E0EC"/>
            </a:solidFill>
            <a:prstDash val="solid"/>
          </a:ln>
        </p:spPr>
      </p:sp>
      <p:sp>
        <p:nvSpPr>
          <p:cNvPr id="64" name="Text 62"/>
          <p:cNvSpPr/>
          <p:nvPr/>
        </p:nvSpPr>
        <p:spPr>
          <a:xfrm>
            <a:off x="10393680" y="6071616"/>
            <a:ext cx="3596640" cy="1051560"/>
          </a:xfrm>
          <a:prstGeom prst="rect">
            <a:avLst/>
          </a:prstGeom>
          <a:noFill/>
          <a:ln/>
        </p:spPr>
        <p:txBody>
          <a:bodyPr wrap="square" lIns="0" tIns="0" rIns="0" bIns="0" rtlCol="0" anchor="ctr"/>
          <a:lstStyle/>
          <a:p>
            <a:pPr indent="0" marL="0">
              <a:spcAft>
                <a:spcPts val="200"/>
              </a:spcAft>
              <a:buNone/>
            </a:pPr>
            <a:r>
              <a:rPr lang="en-US" sz="1500" b="1" dirty="0">
                <a:solidFill>
                  <a:srgbClr val="1E2A5C"/>
                </a:solidFill>
                <a:latin typeface="Pretendard" pitchFamily="34" charset="0"/>
                <a:ea typeface="Pretendard" pitchFamily="34" charset="-122"/>
                <a:cs typeface="Pretendard" pitchFamily="34" charset="-120"/>
              </a:rPr>
              <a:t>상담 로그</a:t>
            </a:r>
            <a:endParaRPr lang="en-US" sz="1400" dirty="0"/>
          </a:p>
          <a:p>
            <a:pPr indent="0" marL="0">
              <a:spcAft>
                <a:spcPts val="200"/>
              </a:spcAft>
              <a:buNone/>
            </a:pPr>
            <a:r>
              <a:rPr lang="en-US" sz="1400" dirty="0">
                <a:solidFill>
                  <a:srgbClr val="4A5364"/>
                </a:solidFill>
                <a:latin typeface="Pretendard" pitchFamily="34" charset="0"/>
                <a:ea typeface="Pretendard" pitchFamily="34" charset="-122"/>
                <a:cs typeface="Pretendard" pitchFamily="34" charset="-120"/>
              </a:rPr>
              <a:t>주제 머리말이 채점 부풀림·일반 질문 흔들림</a:t>
            </a:r>
            <a:endParaRPr lang="en-US" sz="1400" dirty="0"/>
          </a:p>
          <a:p>
            <a:pPr indent="0" marL="0">
              <a:spcAft>
                <a:spcPts val="200"/>
              </a:spcAft>
              <a:buNone/>
            </a:pPr>
            <a:r>
              <a:rPr lang="en-US" sz="1400" b="1" dirty="0">
                <a:solidFill>
                  <a:srgbClr val="2B3242"/>
                </a:solidFill>
                <a:latin typeface="Pretendard" pitchFamily="34" charset="0"/>
                <a:ea typeface="Pretendard" pitchFamily="34" charset="-122"/>
                <a:cs typeface="Pretendard" pitchFamily="34" charset="-120"/>
              </a:rPr>
              <a:t>→ 머리말 없음(카드 질의 성능 동일)</a:t>
            </a:r>
            <a:endParaRPr lang="en-US" sz="1400" dirty="0"/>
          </a:p>
        </p:txBody>
      </p:sp>
      <p:sp>
        <p:nvSpPr>
          <p:cNvPr id="65" name="Text 63"/>
          <p:cNvSpPr/>
          <p:nvPr/>
        </p:nvSpPr>
        <p:spPr>
          <a:xfrm>
            <a:off x="502920" y="7296912"/>
            <a:ext cx="13624560" cy="365760"/>
          </a:xfrm>
          <a:prstGeom prst="rect">
            <a:avLst/>
          </a:prstGeom>
          <a:noFill/>
          <a:ln/>
        </p:spPr>
        <p:txBody>
          <a:bodyPr wrap="square" rtlCol="0" anchor="ctr"/>
          <a:lstStyle/>
          <a:p>
            <a:pPr indent="0" marL="0">
              <a:buNone/>
            </a:pPr>
            <a:r>
              <a:rPr lang="en-US" sz="1400" b="1" dirty="0">
                <a:solidFill>
                  <a:srgbClr val="7C8598"/>
                </a:solidFill>
                <a:latin typeface="Pretendard" pitchFamily="34" charset="0"/>
                <a:ea typeface="Pretendard" pitchFamily="34" charset="-122"/>
                <a:cs typeface="Pretendard" pitchFamily="34" charset="-120"/>
              </a:rPr>
              <a:t>출처  </a:t>
            </a:r>
            <a:pPr indent="0" marL="0">
              <a:buNone/>
            </a:pPr>
            <a:r>
              <a:rPr lang="en-US" sz="1400" u="sng" dirty="0">
                <a:solidFill>
                  <a:srgbClr val="7C8598"/>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Anthropic, Contextual Retrieval</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u="sng" dirty="0">
                <a:solidFill>
                  <a:srgbClr val="7C8598"/>
                </a:solidFill>
                <a:latin typeface="Pretendard" pitchFamily="34" charset="0"/>
                <a:ea typeface="Pretendard" pitchFamily="34" charset="-122"/>
                <a:cs typeface="Pretendard" pitchFamily="34" charset="-120"/>
                <a:hlinkClick r:id="rId2" invalidUrl="" action="" tgtFrame="" tooltip="" history="1" highlightClick="0" endSnd="0">
                  <a:extLst>
                    <a:ext uri="{A12FA001-AC4F-418D-AE19-62706E023703}">
                      <ahyp:hlinkClr xmlns:ahyp="http://schemas.microsoft.com/office/drawing/2018/hyperlinkcolor" val="tx"/>
                    </a:ext>
                  </a:extLst>
                </a:hlinkClick>
              </a:rPr>
              <a:t>LlamaIndex 메타데이터(임베딩 텍스트 포함·키별 제외)</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dirty="0">
                <a:solidFill>
                  <a:srgbClr val="7C8598"/>
                </a:solidFill>
                <a:latin typeface="Pretendard" pitchFamily="34" charset="0"/>
                <a:ea typeface="Pretendard" pitchFamily="34" charset="-122"/>
                <a:cs typeface="Pretendard" pitchFamily="34" charset="-120"/>
              </a:rPr>
              <a:t>LangChain 재귀 분할(구분자 우선순위)</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dirty="0">
                <a:solidFill>
                  <a:srgbClr val="7C8598"/>
                </a:solidFill>
                <a:latin typeface="Pretendard" pitchFamily="34" charset="0"/>
                <a:ea typeface="Pretendard" pitchFamily="34" charset="-122"/>
                <a:cs typeface="Pretendard" pitchFamily="34" charset="-120"/>
              </a:rPr>
              <a:t>실측: 2026-10-03 우리 시스템 A/B 실험</a:t>
            </a:r>
            <a:endParaRPr lang="en-US" sz="1400" dirty="0"/>
          </a:p>
        </p:txBody>
      </p:sp>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청킹 경계와 머리말 설계 가이드</dc:title>
  <dc:subject>PptxGenJS Presentation</dc:subject>
  <dc:creator>PptxGenJS</dc:creator>
  <cp:lastModifiedBy>PptxGenJS</cp:lastModifiedBy>
  <cp:revision>1</cp:revision>
  <dcterms:created xsi:type="dcterms:W3CDTF">2026-10-02T17:31:12Z</dcterms:created>
  <dcterms:modified xsi:type="dcterms:W3CDTF">2026-10-02T17:31:12Z</dcterms:modified>
</cp:coreProperties>
</file>