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07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1938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인덱서가 만든 청크를 그대로 TextChunk로 바꿔 Neo4j에 넣음. 정제·가명처리·청킹은 기존 코드가 함. uid는 저장할 때만 쓰고 지워지므로, 검색 결과를 BM25와 맞추려면 chunk_id를 metadata에 넣어 속성으로 남겨야 함. metadata에 embedding을 넣으면 벡터 속성으로 저장돼 다시 임베딩하지 않아도 됨. 질문 임베딩도 같은 KURE-v2를 써야 함. member_scope는 상담 이력이 아니면 'all', 상담 이력이면 회원 가명임. Neo4j 2026.09 벡터 필터는 같음(=)과 범위만 받아 '상담이 아니거나 그 회원'이라는 OR 조건을 넘길 수 없으므로, member_scope = 'all' 검색과 = 회원 검색을 따로 해 점수순으로 합침. 후보를 넉넉히 받아 앱에서 거르는 방식은 시험에서 20문항 중 3문항이 틀렸음. 기본 VectorRetriever는 이 버전 조합에서 걸러 낼 속성을 못 읽어 필터가 늘 전수 비교가 되므로 하위 클래스로 보완함. 인덱스 기본 압축(BINARY) 때문에 후보 배수를 4로 둬야 기존 Chroma와 60/60 같았음(배수 1은 40/60). 하이브리드: HybridRetriever는 Neo4j 전문 색인만 연결할 수 있어 쓰지 않고, 기존 BM25와 기존 가중합(0.6 : 0.4)으로 합침. Neo4j 점수는 (1+cos)/2라 값은 다르지만 최소-최대 정규화 뒤 같아져 순위가 그대로임. 그래프 확장은 찾은 chunk_id에서 FROM_CHUNK를 거꾸로 따라가 엔티티와 관계를 모음. 검증: hybrid-ai-lab/verify/neo4j-vector-search 시험 24건 통과(2026-10-13).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지금 인덱서는 Chroma와 BM25를 같은 세대 폴더에 만들고 active_generation.json을 한 번에 바꿈. 검색기는 포인터를 한 번 읽고 같은 세대의 두 경로를 씀. Neo4j로 바꿔도 이 원칙은 그대로 둠. 차이는 Neo4j 쪽 세대를 폴더가 아니라 노드의 generation 속성으로 구분한다는 점이며, 한 DB에 여러 세대가 같이 있음. 엔티티는 추출기가 만들 때 generation이 붙지 않으므로, 저장 뒤 해당 세대 청크와 FROM_CHUNK로 이어진 엔티티에 표시함. 병합기를 그냥 돌리면 이전 세대 엔티티와도 합쳐 세대가 섞이므로 filter_query로 새 세대만 대상으로 함. 검증을 통과해야 포인터를 바꿈. 되돌릴 때는 포인터를 이전 세대로 바꾸면 Neo4j 값과 BM25 경로가 함께 돌아감. 검증(2026-10-13, hybrid-ai-lab/verify/neo4j-vector-search, Neo4j 2026.09.0 · neo4j-graphrag 1.22.0): 게시 · 전환 · 되돌리기, 검증 실패 시 게시 거부, 세대 범위 병합이 시험을 통과함. 같은 세대 재저장 시 청크 2배, 병합 범위를 안 좁히면 두 세대 엔티티가 한 노드로 합쳐지는 현상도 재현함. 주의 1 · 2 · 3은 시험 중 드러나 설계를 고친 부분임. 한계: BM25 세대는 하나뿐이라 BM25 쪽 전환은 포인터 값 대조까지만 확인함.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내용_단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406" y="868680"/>
            <a:ext cx="13613587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45770" y="7787945"/>
            <a:ext cx="15316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6A6A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무단전재 및 배포 금지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벡터검색을 Native Neo4j 벡터 인덱스로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청크·벡터·그래프를 Neo4j 한 곳에 담고, 하이브리드 검색의 키워드 쪽은 기존 BM25 인덱스를 그대로 씀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9321" y="1737360"/>
            <a:ext cx="676656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509321" y="1737360"/>
            <a:ext cx="67665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인덱싱 — 기존 청크를 Neo4j에 담기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9321" y="2212848"/>
            <a:ext cx="152019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509321" y="2212848"/>
            <a:ext cx="152019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청킹(기존 코드)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056943" y="2404872"/>
            <a:ext cx="17373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2258111" y="2212848"/>
            <a:ext cx="1520190" cy="384048"/>
          </a:xfrm>
          <a:prstGeom prst="roundRect">
            <a:avLst>
              <a:gd name="adj" fmla="val 19048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2258111" y="2212848"/>
            <a:ext cx="152019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TextChunk 만들기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05733" y="2404872"/>
            <a:ext cx="17373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006901" y="2212848"/>
            <a:ext cx="1520190" cy="384048"/>
          </a:xfrm>
          <a:prstGeom prst="roundRect">
            <a:avLst>
              <a:gd name="adj" fmla="val 1904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4006901" y="2212848"/>
            <a:ext cx="152019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Neo4jWriter 저장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554523" y="2404872"/>
            <a:ext cx="17373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755691" y="2212848"/>
            <a:ext cx="1520190" cy="384048"/>
          </a:xfrm>
          <a:prstGeom prst="roundRect">
            <a:avLst>
              <a:gd name="adj" fmla="val 1904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5755691" y="2212848"/>
            <a:ext cx="152019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인덱스 생성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09321" y="2697480"/>
            <a:ext cx="6766560" cy="1517904"/>
          </a:xfrm>
          <a:prstGeom prst="roundRect">
            <a:avLst>
              <a:gd name="adj" fmla="val 3614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619049" y="2770632"/>
            <a:ext cx="6547104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TextChunk(text=c.text, index=i, uid=c.chunk_id, metadata={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"chunk_id": c.chunk_id, "generation": gen, "access_level": c.level,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"member_scope": c.member or "all", "embedding": c.vector})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create_vector_index(driver, "chunk_vec", label="Chunk",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embedding_property="embedding", dimensions=768, similarity_fn="cosine",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 filterable_properties=["generation", "access_level", "member_scope"])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09321" y="424281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uid는 임시 ID라 chunk_id는 metadata에 · 기존 벡터(768차원)를 넣어 재사용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member_scope: 상담이 아니면 "all", 상담이면 회원 가명 → 회원 필터를 $eq로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504481" y="1737360"/>
            <a:ext cx="662940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504481" y="1737360"/>
            <a:ext cx="6629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Neo4j에 담긴 모습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504481" y="2157984"/>
            <a:ext cx="662940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7733081" y="2395728"/>
            <a:ext cx="11887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7733081" y="2395728"/>
            <a:ext cx="1188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A사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10247681" y="2395728"/>
            <a:ext cx="118872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 txBox="1"/>
          <p:nvPr/>
        </p:nvSpPr>
        <p:spPr>
          <a:xfrm>
            <a:off x="10247681" y="2395728"/>
            <a:ext cx="1188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B카드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7733081" y="3364992"/>
            <a:ext cx="1188720" cy="457200"/>
          </a:xfrm>
          <a:prstGeom prst="roundRect">
            <a:avLst>
              <a:gd name="adj" fmla="val 24000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7733081" y="3364992"/>
            <a:ext cx="1188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 1</a:t>
            </a:r>
            <a:endParaRPr lang="en-US" sz="1500" dirty="0"/>
          </a:p>
        </p:txBody>
      </p:sp>
      <p:sp>
        <p:nvSpPr>
          <p:cNvPr id="32" name="Shape 29"/>
          <p:cNvSpPr/>
          <p:nvPr/>
        </p:nvSpPr>
        <p:spPr>
          <a:xfrm>
            <a:off x="10247681" y="3364992"/>
            <a:ext cx="1188720" cy="457200"/>
          </a:xfrm>
          <a:prstGeom prst="roundRect">
            <a:avLst>
              <a:gd name="adj" fmla="val 24000"/>
            </a:avLst>
          </a:prstGeom>
          <a:solidFill>
            <a:srgbClr val="EEF3FA"/>
          </a:solidFill>
          <a:ln w="1905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10247681" y="3364992"/>
            <a:ext cx="1188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 2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12670841" y="3364992"/>
            <a:ext cx="1234440" cy="457200"/>
          </a:xfrm>
          <a:prstGeom prst="roundRect">
            <a:avLst>
              <a:gd name="adj" fmla="val 24000"/>
            </a:avLst>
          </a:prstGeom>
          <a:solidFill>
            <a:srgbClr val="F5F8FC"/>
          </a:solidFill>
          <a:ln w="1905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12670841" y="3364992"/>
            <a:ext cx="12344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Document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8949233" y="2624328"/>
            <a:ext cx="1271016" cy="0"/>
          </a:xfrm>
          <a:prstGeom prst="line">
            <a:avLst/>
          </a:prstGeom>
          <a:noFill/>
          <a:ln w="22225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8921801" y="2340864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LAUNCHED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8327441" y="2880360"/>
            <a:ext cx="0" cy="457200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6"/>
          <p:cNvSpPr/>
          <p:nvPr/>
        </p:nvSpPr>
        <p:spPr>
          <a:xfrm>
            <a:off x="10842041" y="2880360"/>
            <a:ext cx="0" cy="457200"/>
          </a:xfrm>
          <a:prstGeom prst="line">
            <a:avLst/>
          </a:prstGeom>
          <a:noFill/>
          <a:ln w="19050">
            <a:solidFill>
              <a:srgbClr val="1E2A5C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7"/>
          <p:cNvSpPr txBox="1"/>
          <p:nvPr/>
        </p:nvSpPr>
        <p:spPr>
          <a:xfrm>
            <a:off x="8418881" y="29809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8949233" y="3593592"/>
            <a:ext cx="127101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9"/>
          <p:cNvSpPr txBox="1"/>
          <p:nvPr/>
        </p:nvSpPr>
        <p:spPr>
          <a:xfrm>
            <a:off x="8921801" y="3840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NEXT_CHUNK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11463833" y="3593592"/>
            <a:ext cx="117957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 txBox="1"/>
          <p:nvPr/>
        </p:nvSpPr>
        <p:spPr>
          <a:xfrm>
            <a:off x="11207801" y="309067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FROM_DOCUMENT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7641641" y="4114800"/>
            <a:ext cx="6355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 속성: chunk_id · text · embedding · generation · 등급 · member_scope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7641641" y="4379976"/>
            <a:ext cx="6355080" cy="274320"/>
          </a:xfrm>
          <a:prstGeom prst="roundRect">
            <a:avLst>
              <a:gd name="adj" fmla="val 45000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7641641" y="4379976"/>
            <a:ext cx="63550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 인덱스 chunk_vec = Chunk.embedding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509321" y="4791456"/>
            <a:ext cx="1362456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6"/>
          <p:cNvSpPr txBox="1"/>
          <p:nvPr/>
        </p:nvSpPr>
        <p:spPr>
          <a:xfrm>
            <a:off x="509321" y="4791456"/>
            <a:ext cx="136245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검색 4가지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509321" y="5175504"/>
            <a:ext cx="136245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8"/>
          <p:cNvSpPr/>
          <p:nvPr/>
        </p:nvSpPr>
        <p:spPr>
          <a:xfrm>
            <a:off x="600761" y="523951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9"/>
          <p:cNvSpPr txBox="1"/>
          <p:nvPr/>
        </p:nvSpPr>
        <p:spPr>
          <a:xfrm>
            <a:off x="600761" y="5239512"/>
            <a:ext cx="1371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2063801" y="5202936"/>
            <a:ext cx="2164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1"/>
          <p:cNvSpPr txBox="1"/>
          <p:nvPr/>
        </p:nvSpPr>
        <p:spPr>
          <a:xfrm>
            <a:off x="2063801" y="5202936"/>
            <a:ext cx="21640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4255313" y="5422392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3"/>
          <p:cNvSpPr/>
          <p:nvPr/>
        </p:nvSpPr>
        <p:spPr>
          <a:xfrm>
            <a:off x="4502201" y="5202936"/>
            <a:ext cx="2164080" cy="438912"/>
          </a:xfrm>
          <a:prstGeom prst="roundRect">
            <a:avLst>
              <a:gd name="adj" fmla="val 16667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4"/>
          <p:cNvSpPr txBox="1"/>
          <p:nvPr/>
        </p:nvSpPr>
        <p:spPr>
          <a:xfrm>
            <a:off x="4502201" y="5202936"/>
            <a:ext cx="21640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VectorRetriever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(속성 인식 보완)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6693713" y="5422392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6"/>
          <p:cNvSpPr/>
          <p:nvPr/>
        </p:nvSpPr>
        <p:spPr>
          <a:xfrm>
            <a:off x="6940601" y="5202936"/>
            <a:ext cx="2164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7"/>
          <p:cNvSpPr txBox="1"/>
          <p:nvPr/>
        </p:nvSpPr>
        <p:spPr>
          <a:xfrm>
            <a:off x="6940601" y="5202936"/>
            <a:ext cx="21640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 목록</a:t>
            </a:r>
            <a:endParaRPr lang="en-US" sz="1400" dirty="0"/>
          </a:p>
        </p:txBody>
      </p:sp>
      <p:sp>
        <p:nvSpPr>
          <p:cNvPr id="61" name="Text 58"/>
          <p:cNvSpPr txBox="1"/>
          <p:nvPr/>
        </p:nvSpPr>
        <p:spPr>
          <a:xfrm>
            <a:off x="9333281" y="519379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세대 · 등급을 $eq로 인덱스 안에서 거름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배수 4(압축 보정)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509321" y="5701284"/>
            <a:ext cx="136245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0"/>
          <p:cNvSpPr/>
          <p:nvPr/>
        </p:nvSpPr>
        <p:spPr>
          <a:xfrm>
            <a:off x="600761" y="576529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Text 61"/>
          <p:cNvSpPr txBox="1"/>
          <p:nvPr/>
        </p:nvSpPr>
        <p:spPr>
          <a:xfrm>
            <a:off x="600761" y="5765292"/>
            <a:ext cx="1371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필터</a:t>
            </a:r>
            <a:endParaRPr lang="en-US" sz="1600" dirty="0"/>
          </a:p>
        </p:txBody>
      </p:sp>
      <p:sp>
        <p:nvSpPr>
          <p:cNvPr id="65" name="Shape 62"/>
          <p:cNvSpPr/>
          <p:nvPr/>
        </p:nvSpPr>
        <p:spPr>
          <a:xfrm>
            <a:off x="2063801" y="5728716"/>
            <a:ext cx="2164080" cy="438912"/>
          </a:xfrm>
          <a:prstGeom prst="roundRect">
            <a:avLst>
              <a:gd name="adj" fmla="val 16667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3"/>
          <p:cNvSpPr txBox="1"/>
          <p:nvPr/>
        </p:nvSpPr>
        <p:spPr>
          <a:xfrm>
            <a:off x="2063801" y="5728716"/>
            <a:ext cx="21640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member_scope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"all"</a:t>
            </a:r>
            <a:endParaRPr lang="en-US" sz="1400" dirty="0"/>
          </a:p>
        </p:txBody>
      </p:sp>
      <p:sp>
        <p:nvSpPr>
          <p:cNvPr id="67" name="Text 64"/>
          <p:cNvSpPr txBox="1"/>
          <p:nvPr/>
        </p:nvSpPr>
        <p:spPr>
          <a:xfrm>
            <a:off x="4227881" y="572871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000" dirty="0"/>
          </a:p>
        </p:txBody>
      </p:sp>
      <p:sp>
        <p:nvSpPr>
          <p:cNvPr id="68" name="Shape 65"/>
          <p:cNvSpPr/>
          <p:nvPr/>
        </p:nvSpPr>
        <p:spPr>
          <a:xfrm>
            <a:off x="4502201" y="5728716"/>
            <a:ext cx="2164080" cy="438912"/>
          </a:xfrm>
          <a:prstGeom prst="roundRect">
            <a:avLst>
              <a:gd name="adj" fmla="val 16667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6"/>
          <p:cNvSpPr txBox="1"/>
          <p:nvPr/>
        </p:nvSpPr>
        <p:spPr>
          <a:xfrm>
            <a:off x="4502201" y="5728716"/>
            <a:ext cx="21640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member_scope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회원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6693713" y="5948172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8"/>
          <p:cNvSpPr/>
          <p:nvPr/>
        </p:nvSpPr>
        <p:spPr>
          <a:xfrm>
            <a:off x="6940601" y="5728716"/>
            <a:ext cx="2164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9"/>
          <p:cNvSpPr txBox="1"/>
          <p:nvPr/>
        </p:nvSpPr>
        <p:spPr>
          <a:xfrm>
            <a:off x="6940601" y="5728716"/>
            <a:ext cx="21640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점수순 합침</a:t>
            </a:r>
            <a:endParaRPr lang="en-US" sz="1400" dirty="0"/>
          </a:p>
        </p:txBody>
      </p:sp>
      <p:sp>
        <p:nvSpPr>
          <p:cNvPr id="73" name="Text 70"/>
          <p:cNvSpPr txBox="1"/>
          <p:nvPr/>
        </p:nvSpPr>
        <p:spPr>
          <a:xfrm>
            <a:off x="9333281" y="571957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$or · $ne는 전수 비교 · 서버 거부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$eq 검색 2번</a:t>
            </a:r>
            <a:endParaRPr lang="en-US" sz="1400" dirty="0"/>
          </a:p>
        </p:txBody>
      </p:sp>
      <p:sp>
        <p:nvSpPr>
          <p:cNvPr id="74" name="Shape 71"/>
          <p:cNvSpPr/>
          <p:nvPr/>
        </p:nvSpPr>
        <p:spPr>
          <a:xfrm>
            <a:off x="509321" y="6227064"/>
            <a:ext cx="13624560" cy="493776"/>
          </a:xfrm>
          <a:prstGeom prst="roundRect">
            <a:avLst>
              <a:gd name="adj" fmla="val 14815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2"/>
          <p:cNvSpPr/>
          <p:nvPr/>
        </p:nvSpPr>
        <p:spPr>
          <a:xfrm>
            <a:off x="600761" y="629107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6" name="Text 73"/>
          <p:cNvSpPr txBox="1"/>
          <p:nvPr/>
        </p:nvSpPr>
        <p:spPr>
          <a:xfrm>
            <a:off x="600761" y="6291072"/>
            <a:ext cx="1371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하이브리드</a:t>
            </a: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2063801" y="6254496"/>
            <a:ext cx="2164080" cy="438912"/>
          </a:xfrm>
          <a:prstGeom prst="roundRect">
            <a:avLst>
              <a:gd name="adj" fmla="val 16667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5"/>
          <p:cNvSpPr txBox="1"/>
          <p:nvPr/>
        </p:nvSpPr>
        <p:spPr>
          <a:xfrm>
            <a:off x="2063801" y="6254496"/>
            <a:ext cx="21640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벡터 결과</a:t>
            </a:r>
            <a:endParaRPr lang="en-US" sz="1400" dirty="0"/>
          </a:p>
        </p:txBody>
      </p:sp>
      <p:sp>
        <p:nvSpPr>
          <p:cNvPr id="79" name="Text 76"/>
          <p:cNvSpPr txBox="1"/>
          <p:nvPr/>
        </p:nvSpPr>
        <p:spPr>
          <a:xfrm>
            <a:off x="4227881" y="6254496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</a:t>
            </a:r>
            <a:endParaRPr lang="en-US" sz="2000" dirty="0"/>
          </a:p>
        </p:txBody>
      </p:sp>
      <p:sp>
        <p:nvSpPr>
          <p:cNvPr id="80" name="Shape 77"/>
          <p:cNvSpPr/>
          <p:nvPr/>
        </p:nvSpPr>
        <p:spPr>
          <a:xfrm>
            <a:off x="4502201" y="6254496"/>
            <a:ext cx="2164080" cy="438912"/>
          </a:xfrm>
          <a:prstGeom prst="roundRect">
            <a:avLst>
              <a:gd name="adj" fmla="val 16667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8"/>
          <p:cNvSpPr txBox="1"/>
          <p:nvPr/>
        </p:nvSpPr>
        <p:spPr>
          <a:xfrm>
            <a:off x="4502201" y="6254496"/>
            <a:ext cx="21640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BM25 결과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(bm25s · Kiwi)</a:t>
            </a:r>
            <a:endParaRPr lang="en-US" sz="1400" dirty="0"/>
          </a:p>
        </p:txBody>
      </p:sp>
      <p:sp>
        <p:nvSpPr>
          <p:cNvPr id="82" name="Shape 79"/>
          <p:cNvSpPr/>
          <p:nvPr/>
        </p:nvSpPr>
        <p:spPr>
          <a:xfrm>
            <a:off x="6693713" y="6473952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3" name="Shape 80"/>
          <p:cNvSpPr/>
          <p:nvPr/>
        </p:nvSpPr>
        <p:spPr>
          <a:xfrm>
            <a:off x="6940601" y="6254496"/>
            <a:ext cx="2164080" cy="438912"/>
          </a:xfrm>
          <a:prstGeom prst="roundRect">
            <a:avLst>
              <a:gd name="adj" fmla="val 16667"/>
            </a:avLst>
          </a:prstGeom>
          <a:solidFill>
            <a:srgbClr val="EEF3FA"/>
          </a:solidFill>
          <a:ln w="1270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4" name="Text 81"/>
          <p:cNvSpPr txBox="1"/>
          <p:nvPr/>
        </p:nvSpPr>
        <p:spPr>
          <a:xfrm>
            <a:off x="6940601" y="6254496"/>
            <a:ext cx="21640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가중합 0.6 : 0.4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(weighted_hybrid)</a:t>
            </a:r>
            <a:endParaRPr lang="en-US" sz="1400" dirty="0"/>
          </a:p>
        </p:txBody>
      </p:sp>
      <p:sp>
        <p:nvSpPr>
          <p:cNvPr id="85" name="Text 82"/>
          <p:cNvSpPr txBox="1"/>
          <p:nvPr/>
        </p:nvSpPr>
        <p:spPr>
          <a:xfrm>
            <a:off x="9333281" y="624535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HybridRetriever 대신 기존 BM25 유지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점수는 정규화돼 순위 그대로</a:t>
            </a:r>
            <a:endParaRPr lang="en-US" sz="1400" dirty="0"/>
          </a:p>
        </p:txBody>
      </p:sp>
      <p:sp>
        <p:nvSpPr>
          <p:cNvPr id="86" name="Shape 83"/>
          <p:cNvSpPr/>
          <p:nvPr/>
        </p:nvSpPr>
        <p:spPr>
          <a:xfrm>
            <a:off x="509321" y="6752844"/>
            <a:ext cx="136245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7" name="Shape 84"/>
          <p:cNvSpPr/>
          <p:nvPr/>
        </p:nvSpPr>
        <p:spPr>
          <a:xfrm>
            <a:off x="600761" y="6816852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5"/>
          <p:cNvSpPr txBox="1"/>
          <p:nvPr/>
        </p:nvSpPr>
        <p:spPr>
          <a:xfrm>
            <a:off x="600761" y="6816852"/>
            <a:ext cx="13716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그래프 확장</a:t>
            </a:r>
            <a:endParaRPr lang="en-US" sz="1600" dirty="0"/>
          </a:p>
        </p:txBody>
      </p:sp>
      <p:sp>
        <p:nvSpPr>
          <p:cNvPr id="89" name="Shape 86"/>
          <p:cNvSpPr/>
          <p:nvPr/>
        </p:nvSpPr>
        <p:spPr>
          <a:xfrm>
            <a:off x="2063801" y="6780276"/>
            <a:ext cx="2164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0" name="Text 87"/>
          <p:cNvSpPr txBox="1"/>
          <p:nvPr/>
        </p:nvSpPr>
        <p:spPr>
          <a:xfrm>
            <a:off x="2063801" y="6780276"/>
            <a:ext cx="21640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chunk_id</a:t>
            </a:r>
            <a:endParaRPr lang="en-US" sz="1400" dirty="0"/>
          </a:p>
        </p:txBody>
      </p:sp>
      <p:sp>
        <p:nvSpPr>
          <p:cNvPr id="91" name="Shape 88"/>
          <p:cNvSpPr/>
          <p:nvPr/>
        </p:nvSpPr>
        <p:spPr>
          <a:xfrm>
            <a:off x="4255313" y="6999732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2" name="Shape 89"/>
          <p:cNvSpPr/>
          <p:nvPr/>
        </p:nvSpPr>
        <p:spPr>
          <a:xfrm>
            <a:off x="4502201" y="6780276"/>
            <a:ext cx="2164080" cy="438912"/>
          </a:xfrm>
          <a:prstGeom prst="roundRect">
            <a:avLst>
              <a:gd name="adj" fmla="val 16667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3" name="Text 90"/>
          <p:cNvSpPr txBox="1"/>
          <p:nvPr/>
        </p:nvSpPr>
        <p:spPr>
          <a:xfrm>
            <a:off x="4502201" y="6780276"/>
            <a:ext cx="21640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FROM_CHUNK로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</a:t>
            </a:r>
            <a:endParaRPr lang="en-US" sz="1400" dirty="0"/>
          </a:p>
        </p:txBody>
      </p:sp>
      <p:sp>
        <p:nvSpPr>
          <p:cNvPr id="94" name="Shape 91"/>
          <p:cNvSpPr/>
          <p:nvPr/>
        </p:nvSpPr>
        <p:spPr>
          <a:xfrm>
            <a:off x="6693713" y="6999732"/>
            <a:ext cx="219456" cy="0"/>
          </a:xfrm>
          <a:prstGeom prst="line">
            <a:avLst/>
          </a:prstGeom>
          <a:noFill/>
          <a:ln w="19050">
            <a:solidFill>
              <a:srgbClr val="4A5364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5" name="Shape 92"/>
          <p:cNvSpPr/>
          <p:nvPr/>
        </p:nvSpPr>
        <p:spPr>
          <a:xfrm>
            <a:off x="6940601" y="6780276"/>
            <a:ext cx="21640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A53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6" name="Text 93"/>
          <p:cNvSpPr txBox="1"/>
          <p:nvPr/>
        </p:nvSpPr>
        <p:spPr>
          <a:xfrm>
            <a:off x="6940601" y="6780276"/>
            <a:ext cx="21640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관계 따라감</a:t>
            </a:r>
            <a:endParaRPr lang="en-US" sz="1400" dirty="0"/>
          </a:p>
        </p:txBody>
      </p:sp>
      <p:sp>
        <p:nvSpPr>
          <p:cNvPr id="97" name="Text 94"/>
          <p:cNvSpPr txBox="1"/>
          <p:nvPr/>
        </p:nvSpPr>
        <p:spPr>
          <a:xfrm>
            <a:off x="9333281" y="677113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VectorCypherRetriever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Cypher 직접 작성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/>
          </p:nvPr>
        </p:nvSpPr>
        <p:spPr>
          <a:xfrm>
            <a:off x="509321" y="99670"/>
            <a:ext cx="13738860" cy="828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2C29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세대 구성: Neo4j와 BM25를 한 세대로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09321" y="115123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세대를 다 만든 뒤 포인터 하나만 바꿔, 검색기가 늘 같은 세대의 벡터·그래프·BM25를 보게 함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09321" y="1737360"/>
            <a:ext cx="786384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 txBox="1"/>
          <p:nvPr/>
        </p:nvSpPr>
        <p:spPr>
          <a:xfrm>
            <a:off x="509321" y="1737360"/>
            <a:ext cx="786384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포인터 active_generation.json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9321" y="2157984"/>
            <a:ext cx="7863840" cy="1207008"/>
          </a:xfrm>
          <a:prstGeom prst="roundRect">
            <a:avLst>
              <a:gd name="adj" fmla="val 4545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46481" y="2194560"/>
            <a:ext cx="75895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{ "generation": "gen-B",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"neo4j": { "vector_index": "chunk_vec", "generation": "gen-B"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"search_index_root": "generations/gen-B/search_indexes",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"embedding_dimension": 768 }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46481" y="3072384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바뀌는 점: chroma_path(폴더) 대신 neo4j.generation(값) — Neo4j는 세대를 노드 속성으로 구분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9321" y="3657600"/>
            <a:ext cx="3794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7C859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646481" y="37307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gen-A · 이전(보관)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6481" y="4160520"/>
            <a:ext cx="17145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737921" y="4251960"/>
            <a:ext cx="1531620" cy="310896"/>
          </a:xfrm>
          <a:prstGeom prst="roundRect">
            <a:avLst>
              <a:gd name="adj" fmla="val 14706"/>
            </a:avLst>
          </a:prstGeom>
          <a:solidFill>
            <a:srgbClr val="7C859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37921" y="4251960"/>
            <a:ext cx="15316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692201" y="4617720"/>
            <a:ext cx="16230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generation = gen-A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· 엔티티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452421" y="4160520"/>
            <a:ext cx="17145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2543861" y="4251960"/>
            <a:ext cx="1531620" cy="310896"/>
          </a:xfrm>
          <a:prstGeom prst="roundRect">
            <a:avLst>
              <a:gd name="adj" fmla="val 14706"/>
            </a:avLst>
          </a:prstGeom>
          <a:solidFill>
            <a:srgbClr val="7C859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2543861" y="4251960"/>
            <a:ext cx="15316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2498141" y="4617720"/>
            <a:ext cx="16230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generations/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gen-A/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search_indexes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8401" y="3657600"/>
            <a:ext cx="3794760" cy="2057400"/>
          </a:xfrm>
          <a:prstGeom prst="roundRect">
            <a:avLst>
              <a:gd name="adj" fmla="val 3556"/>
            </a:avLst>
          </a:prstGeom>
          <a:solidFill>
            <a:srgbClr val="EEF3FA"/>
          </a:solidFill>
          <a:ln w="19050">
            <a:solidFill>
              <a:srgbClr val="2E74C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4715561" y="373075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gen-B · 활성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4715561" y="4160520"/>
            <a:ext cx="17145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2"/>
          <p:cNvSpPr/>
          <p:nvPr/>
        </p:nvSpPr>
        <p:spPr>
          <a:xfrm>
            <a:off x="4807001" y="4251960"/>
            <a:ext cx="1531620" cy="310896"/>
          </a:xfrm>
          <a:prstGeom prst="roundRect">
            <a:avLst>
              <a:gd name="adj" fmla="val 14706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 txBox="1"/>
          <p:nvPr/>
        </p:nvSpPr>
        <p:spPr>
          <a:xfrm>
            <a:off x="4807001" y="4251960"/>
            <a:ext cx="15316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4761281" y="4617720"/>
            <a:ext cx="16230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generation = gen-B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· 엔티티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노드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521501" y="4160520"/>
            <a:ext cx="17145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1E2A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6612941" y="4251960"/>
            <a:ext cx="1531620" cy="310896"/>
          </a:xfrm>
          <a:prstGeom prst="roundRect">
            <a:avLst>
              <a:gd name="adj" fmla="val 14706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 txBox="1"/>
          <p:nvPr/>
        </p:nvSpPr>
        <p:spPr>
          <a:xfrm>
            <a:off x="6612941" y="4251960"/>
            <a:ext cx="15316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567221" y="4617720"/>
            <a:ext cx="162306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generations/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gen-B/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search_indexes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6475781" y="3383280"/>
            <a:ext cx="0" cy="256032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0"/>
          <p:cNvSpPr txBox="1"/>
          <p:nvPr/>
        </p:nvSpPr>
        <p:spPr>
          <a:xfrm>
            <a:off x="6567221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검색기가 한 번 읽음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2406701" y="3383280"/>
            <a:ext cx="0" cy="256032"/>
          </a:xfrm>
          <a:prstGeom prst="line">
            <a:avLst/>
          </a:prstGeom>
          <a:noFill/>
          <a:ln w="19050">
            <a:solidFill>
              <a:srgbClr val="7C8598"/>
            </a:solidFill>
            <a:prstDash val="dash"/>
            <a:tailEnd type="triangle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2498141" y="3383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되돌릴 때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647481" y="1737360"/>
            <a:ext cx="5486400" cy="365760"/>
          </a:xfrm>
          <a:prstGeom prst="roundRect">
            <a:avLst>
              <a:gd name="adj" fmla="val 12500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 txBox="1"/>
          <p:nvPr/>
        </p:nvSpPr>
        <p:spPr>
          <a:xfrm>
            <a:off x="8647481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 순서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647481" y="226771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6"/>
          <p:cNvSpPr txBox="1"/>
          <p:nvPr/>
        </p:nvSpPr>
        <p:spPr>
          <a:xfrm>
            <a:off x="8647481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37"/>
          <p:cNvSpPr txBox="1"/>
          <p:nvPr/>
        </p:nvSpPr>
        <p:spPr>
          <a:xfrm>
            <a:off x="9104681" y="2194560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세대 ID를 정함(gen-B)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9104681" y="2711196"/>
            <a:ext cx="50292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9"/>
          <p:cNvSpPr/>
          <p:nvPr/>
        </p:nvSpPr>
        <p:spPr>
          <a:xfrm>
            <a:off x="8647481" y="2798064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 txBox="1"/>
          <p:nvPr/>
        </p:nvSpPr>
        <p:spPr>
          <a:xfrm>
            <a:off x="8647481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1"/>
          <p:cNvSpPr txBox="1"/>
          <p:nvPr/>
        </p:nvSpPr>
        <p:spPr>
          <a:xfrm>
            <a:off x="9104681" y="2724912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Neo4j 저장 — 청크는 metadata(member_scope 포함),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엔티티는 저장 뒤 Cypher로 generation 표시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9104681" y="3241548"/>
            <a:ext cx="50292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3"/>
          <p:cNvSpPr/>
          <p:nvPr/>
        </p:nvSpPr>
        <p:spPr>
          <a:xfrm>
            <a:off x="8647481" y="3328416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 txBox="1"/>
          <p:nvPr/>
        </p:nvSpPr>
        <p:spPr>
          <a:xfrm>
            <a:off x="8647481" y="3328416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48" name="Text 45"/>
          <p:cNvSpPr txBox="1"/>
          <p:nvPr/>
        </p:nvSpPr>
        <p:spPr>
          <a:xfrm>
            <a:off x="9104681" y="3255264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세대 안에서만 병합(병합기 filter_query)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9104681" y="3771900"/>
            <a:ext cx="50292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7"/>
          <p:cNvSpPr/>
          <p:nvPr/>
        </p:nvSpPr>
        <p:spPr>
          <a:xfrm>
            <a:off x="8647481" y="385876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8"/>
          <p:cNvSpPr txBox="1"/>
          <p:nvPr/>
        </p:nvSpPr>
        <p:spPr>
          <a:xfrm>
            <a:off x="8647481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52" name="Text 49"/>
          <p:cNvSpPr txBox="1"/>
          <p:nvPr/>
        </p:nvSpPr>
        <p:spPr>
          <a:xfrm>
            <a:off x="9104681" y="3785616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BM25 색인 생성(generations/gen-B)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9104681" y="4302252"/>
            <a:ext cx="50292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1"/>
          <p:cNvSpPr/>
          <p:nvPr/>
        </p:nvSpPr>
        <p:spPr>
          <a:xfrm>
            <a:off x="8647481" y="4389120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1E2A5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2"/>
          <p:cNvSpPr txBox="1"/>
          <p:nvPr/>
        </p:nvSpPr>
        <p:spPr>
          <a:xfrm>
            <a:off x="8647481" y="4389120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3"/>
          <p:cNvSpPr txBox="1"/>
          <p:nvPr/>
        </p:nvSpPr>
        <p:spPr>
          <a:xfrm>
            <a:off x="9104681" y="4315968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— 청크 수 · chunk_id 집합 일치,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768차원, 벡터 인덱스 ONLINE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9104681" y="4832604"/>
            <a:ext cx="5029200" cy="0"/>
          </a:xfrm>
          <a:prstGeom prst="line">
            <a:avLst/>
          </a:prstGeom>
          <a:noFill/>
          <a:ln w="12700">
            <a:solidFill>
              <a:srgbClr val="EDF0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5"/>
          <p:cNvSpPr/>
          <p:nvPr/>
        </p:nvSpPr>
        <p:spPr>
          <a:xfrm>
            <a:off x="8647481" y="491947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E74C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6"/>
          <p:cNvSpPr txBox="1"/>
          <p:nvPr/>
        </p:nvSpPr>
        <p:spPr>
          <a:xfrm>
            <a:off x="8647481" y="4919472"/>
            <a:ext cx="347472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600" dirty="0"/>
          </a:p>
        </p:txBody>
      </p:sp>
      <p:sp>
        <p:nvSpPr>
          <p:cNvPr id="60" name="Text 57"/>
          <p:cNvSpPr txBox="1"/>
          <p:nvPr/>
        </p:nvSpPr>
        <p:spPr>
          <a:xfrm>
            <a:off x="9104681" y="4846320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포인터 교체(active_generation.json 원자적 교체)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8647481" y="5394960"/>
            <a:ext cx="5486400" cy="320040"/>
          </a:xfrm>
          <a:prstGeom prst="roundRect">
            <a:avLst>
              <a:gd name="adj" fmla="val 1714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9"/>
          <p:cNvSpPr txBox="1"/>
          <p:nvPr/>
        </p:nvSpPr>
        <p:spPr>
          <a:xfrm>
            <a:off x="8757209" y="5394960"/>
            <a:ext cx="5266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되돌리기: 포인터만 gen-A로 → Neo4j 값 · BM25 경로가 함께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509321" y="5897880"/>
            <a:ext cx="330327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1"/>
          <p:cNvSpPr/>
          <p:nvPr/>
        </p:nvSpPr>
        <p:spPr>
          <a:xfrm>
            <a:off x="619049" y="600760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2"/>
          <p:cNvSpPr txBox="1"/>
          <p:nvPr/>
        </p:nvSpPr>
        <p:spPr>
          <a:xfrm>
            <a:off x="619049" y="600760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66" name="Text 63"/>
          <p:cNvSpPr txBox="1"/>
          <p:nvPr/>
        </p:nvSpPr>
        <p:spPr>
          <a:xfrm>
            <a:off x="1021385" y="5989320"/>
            <a:ext cx="2718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라이브러리 불일치</a:t>
            </a:r>
            <a:endParaRPr lang="en-US" sz="1600" dirty="0"/>
          </a:p>
        </p:txBody>
      </p:sp>
      <p:sp>
        <p:nvSpPr>
          <p:cNvPr id="67" name="Text 64"/>
          <p:cNvSpPr txBox="1"/>
          <p:nvPr/>
        </p:nvSpPr>
        <p:spPr>
          <a:xfrm>
            <a:off x="646481" y="6446520"/>
            <a:ext cx="30746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VectorRetriever가 거를 속성을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못 읽어 필터가 늘 전수 비교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하위 클래스로 보완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3949751" y="5897880"/>
            <a:ext cx="330327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66"/>
          <p:cNvSpPr/>
          <p:nvPr/>
        </p:nvSpPr>
        <p:spPr>
          <a:xfrm>
            <a:off x="4059479" y="600760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7"/>
          <p:cNvSpPr txBox="1"/>
          <p:nvPr/>
        </p:nvSpPr>
        <p:spPr>
          <a:xfrm>
            <a:off x="4059479" y="600760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1" name="Text 68"/>
          <p:cNvSpPr txBox="1"/>
          <p:nvPr/>
        </p:nvSpPr>
        <p:spPr>
          <a:xfrm>
            <a:off x="4461815" y="5989320"/>
            <a:ext cx="2718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 필터는 $eq 2번</a:t>
            </a:r>
            <a:endParaRPr lang="en-US" sz="1600" dirty="0"/>
          </a:p>
        </p:txBody>
      </p:sp>
      <p:sp>
        <p:nvSpPr>
          <p:cNvPr id="72" name="Text 69"/>
          <p:cNvSpPr txBox="1"/>
          <p:nvPr/>
        </p:nvSpPr>
        <p:spPr>
          <a:xfrm>
            <a:off x="4086911" y="6446520"/>
            <a:ext cx="30746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$or · $ne는 전수 비교 · 서버 거부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앱에서 거르면 3/20 문항 누락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member_scope로 2번 검색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7390181" y="5897880"/>
            <a:ext cx="330327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1"/>
          <p:cNvSpPr/>
          <p:nvPr/>
        </p:nvSpPr>
        <p:spPr>
          <a:xfrm>
            <a:off x="7499909" y="600760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2"/>
          <p:cNvSpPr txBox="1"/>
          <p:nvPr/>
        </p:nvSpPr>
        <p:spPr>
          <a:xfrm>
            <a:off x="7499909" y="600760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76" name="Text 73"/>
          <p:cNvSpPr txBox="1"/>
          <p:nvPr/>
        </p:nvSpPr>
        <p:spPr>
          <a:xfrm>
            <a:off x="7902245" y="5989320"/>
            <a:ext cx="2718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압축(BINARY) 보정</a:t>
            </a:r>
            <a:endParaRPr lang="en-US" sz="1600" dirty="0"/>
          </a:p>
        </p:txBody>
      </p:sp>
      <p:sp>
        <p:nvSpPr>
          <p:cNvPr id="77" name="Text 74"/>
          <p:cNvSpPr txBox="1"/>
          <p:nvPr/>
        </p:nvSpPr>
        <p:spPr>
          <a:xfrm>
            <a:off x="7527341" y="6446520"/>
            <a:ext cx="30746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압축 + 후보 배수 1은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 일치 40/60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후보 배수 4로 60/60</a:t>
            </a:r>
            <a:endParaRPr lang="en-US" sz="1400" dirty="0"/>
          </a:p>
        </p:txBody>
      </p:sp>
      <p:sp>
        <p:nvSpPr>
          <p:cNvPr id="78" name="Shape 75"/>
          <p:cNvSpPr/>
          <p:nvPr/>
        </p:nvSpPr>
        <p:spPr>
          <a:xfrm>
            <a:off x="10830611" y="5897880"/>
            <a:ext cx="330327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Shape 76"/>
          <p:cNvSpPr/>
          <p:nvPr/>
        </p:nvSpPr>
        <p:spPr>
          <a:xfrm>
            <a:off x="10940339" y="6007608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40415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0" name="Text 77"/>
          <p:cNvSpPr txBox="1"/>
          <p:nvPr/>
        </p:nvSpPr>
        <p:spPr>
          <a:xfrm>
            <a:off x="10940339" y="6007608"/>
            <a:ext cx="329184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!</a:t>
            </a:r>
            <a:endParaRPr lang="en-US" sz="1600" dirty="0"/>
          </a:p>
        </p:txBody>
      </p:sp>
      <p:sp>
        <p:nvSpPr>
          <p:cNvPr id="81" name="Text 78"/>
          <p:cNvSpPr txBox="1"/>
          <p:nvPr/>
        </p:nvSpPr>
        <p:spPr>
          <a:xfrm>
            <a:off x="11342675" y="5989320"/>
            <a:ext cx="271805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CREATE · 병합 범위</a:t>
            </a:r>
            <a:endParaRPr lang="en-US" sz="1600" dirty="0"/>
          </a:p>
        </p:txBody>
      </p:sp>
      <p:sp>
        <p:nvSpPr>
          <p:cNvPr id="82" name="Text 79"/>
          <p:cNvSpPr txBox="1"/>
          <p:nvPr/>
        </p:nvSpPr>
        <p:spPr>
          <a:xfrm>
            <a:off x="10967771" y="6446520"/>
            <a:ext cx="307467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세대 재저장 시 청크 중복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실패 세대는 지우고 처음부터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병합기는 filter_query로 새 세대만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idx="4"/>
          </p:nvPr>
        </p:nvSpPr>
        <p:spPr>
          <a:xfrm>
            <a:off x="10893247" y="7787945"/>
            <a:ext cx="32918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600">
                <a:solidFill>
                  <a:srgbClr val="6B6B7B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1168</Words>
  <Application>Microsoft Office PowerPoint</Application>
  <PresentationFormat>사용자 지정</PresentationFormat>
  <Paragraphs>130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Arial</vt:lpstr>
      <vt:lpstr>Pretendard</vt:lpstr>
      <vt:lpstr>Pretendard SemiBold</vt:lpstr>
      <vt:lpstr>Office Theme</vt:lpstr>
      <vt:lpstr>벡터검색을 Native Neo4j 벡터 인덱스로</vt:lpstr>
      <vt:lpstr>검색 세대 구성: Neo4j와 BM25를 한 세대로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해경 이</cp:lastModifiedBy>
  <cp:revision>2</cp:revision>
  <dcterms:created xsi:type="dcterms:W3CDTF">2026-10-13T14:53:19Z</dcterms:created>
  <dcterms:modified xsi:type="dcterms:W3CDTF">2026-10-14T01:31:56Z</dcterms:modified>
</cp:coreProperties>
</file>