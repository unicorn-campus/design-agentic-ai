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240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키워드 분석 단계는 한국어 문장을 BM25가 셀 수 있는 낱말로 바꾸는 일입니다. 1-b에서는 이 일을 검색 엔진에 맡기지 않고 파이썬에서 Kiwi로 미리 자릅니다. 자른 낱말을 공백으로 이어 text_tokens 필드에 넣으면, 검색 엔진은 공백으로만 잘라 역색인을 만듭니다. 예를 들어 '한빛 가족돌봄 카드로 30,000원 이상 결제하면 KB-PAY 할인을 받습니다.'는 '한빛가족돌봄 카드 30000 원 이상 결제 kb pay 할인 받 30000원 kb-pay'로 들어갑니다.
검색할 때는 질문을 같은 토크나이저로 잘라 넣고, BM25 점수는 그때 검색 엔진이 계산합니다. 1-a와 가장 큰 차이는 점수표를 미리 만들어 두지 않는다는 점입니다. 그래서 문서 하나만 지우고 다시 넣는 증분 색인이 가능해집니다.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카드명 사전은 '한빛 가족돌봄'을 한 단어로 묶어 줍니다. 그런데 사전만 넣으면 문서에는 한빛가족돌봄 한 단어만 남고, '가족돌봄'이라고만 묻는 질문은 가족, 돌봄, 가족돌봄으로 잘려 카드명과 하나도 겹치지 않습니다. 사전이 없을 때보다 오히려 나빠지는 셈입니다. 별칭 사전은 줄여 부른 이름을 정식 카드명 단어로 바꿔 줘서 이 틈을 메웁니다.
별칭은 규칙으로 자동으로 만들되, 장보기처럼 일반 명사와 같은 별칭은 빼야 합니다. 그대로 두면 '장보기 할인'이라는 일반 질문이 특정 카드명으로 바뀌어 버립니다.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갈래 ② 키워드 분석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파이썬에서 Kiwi로 낱말을 잘라 넣고, BM25 점수는 검색 엔진이 검색할 때 계산함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83080"/>
            <a:ext cx="914400" cy="1234440"/>
          </a:xfrm>
          <a:prstGeom prst="roundRect">
            <a:avLst>
              <a:gd name="adj" fmla="val 50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509321" y="1783080"/>
            <a:ext cx="91440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색인 때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9321" y="3657600"/>
            <a:ext cx="914400" cy="914400"/>
          </a:xfrm>
          <a:prstGeom prst="roundRect">
            <a:avLst>
              <a:gd name="adj" fmla="val 50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509321" y="3657600"/>
            <a:ext cx="91440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때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600200" y="1783080"/>
            <a:ext cx="2250704" cy="1234440"/>
          </a:xfrm>
          <a:prstGeom prst="roundRect">
            <a:avLst>
              <a:gd name="adj" fmla="val 5926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600200" y="1783080"/>
            <a:ext cx="2250704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색인용 본문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(머리말 포함)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887480" y="2400300"/>
            <a:ext cx="246888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170944" y="1783080"/>
            <a:ext cx="2250704" cy="1234440"/>
          </a:xfrm>
          <a:prstGeom prst="roundRect">
            <a:avLst>
              <a:gd name="adj" fmla="val 5926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4170944" y="1783080"/>
            <a:ext cx="2250704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Kiwi 토크나이저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통일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카드명 </a:t>
            </a:r>
            <a:r>
              <a:rPr lang="en-US" sz="15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사전과</a:t>
            </a: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별칭</a:t>
            </a: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조사와 어미 빼고 원형 보충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458224" y="2400300"/>
            <a:ext cx="246888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741688" y="1783080"/>
            <a:ext cx="225070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6741688" y="1783080"/>
            <a:ext cx="2250704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text_tokens 필드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낱말을 공백으로 이음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한빛가족돌봄 카드 30000원 …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9028968" y="2400300"/>
            <a:ext cx="246888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9312432" y="1783080"/>
            <a:ext cx="225070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9312432" y="1783080"/>
            <a:ext cx="2250704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whitespace 분석기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공백으로만 자름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11599713" y="2400300"/>
            <a:ext cx="246888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11883177" y="1783080"/>
            <a:ext cx="225070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11883177" y="1783080"/>
            <a:ext cx="2250704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역색인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낱말 → 청크 목록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1600200" y="3657600"/>
            <a:ext cx="2250704" cy="9144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1600200" y="3657600"/>
            <a:ext cx="225070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3887480" y="4114800"/>
            <a:ext cx="246888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4170944" y="3657600"/>
            <a:ext cx="2250704" cy="914400"/>
          </a:xfrm>
          <a:prstGeom prst="roundRect">
            <a:avLst>
              <a:gd name="adj" fmla="val 80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4170944" y="3657600"/>
            <a:ext cx="225070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Kiwi 토크나이저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(색인 때와 같은 것)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6458224" y="4114800"/>
            <a:ext cx="246888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6741688" y="3657600"/>
            <a:ext cx="225070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6741688" y="3657600"/>
            <a:ext cx="225070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match 질의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text_tokens 필드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9028968" y="4114800"/>
            <a:ext cx="246888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9312432" y="3657600"/>
            <a:ext cx="2250704" cy="914400"/>
          </a:xfrm>
          <a:prstGeom prst="roundRect">
            <a:avLst>
              <a:gd name="adj" fmla="val 8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9312432" y="3657600"/>
            <a:ext cx="225070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BM25 점수 계산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k1 1.5, b 0.75 (인덱스 설정)</a:t>
            </a:r>
            <a:endParaRPr lang="en-US" sz="1700" dirty="0"/>
          </a:p>
        </p:txBody>
      </p:sp>
      <p:sp>
        <p:nvSpPr>
          <p:cNvPr id="34" name="Shape 31"/>
          <p:cNvSpPr/>
          <p:nvPr/>
        </p:nvSpPr>
        <p:spPr>
          <a:xfrm>
            <a:off x="11599713" y="4114800"/>
            <a:ext cx="246888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11883177" y="3657600"/>
            <a:ext cx="225070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11883177" y="3657600"/>
            <a:ext cx="225070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상위 청크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chunk_id 목록</a:t>
            </a:r>
            <a:endParaRPr lang="en-US" sz="1700" dirty="0"/>
          </a:p>
        </p:txBody>
      </p:sp>
      <p:sp>
        <p:nvSpPr>
          <p:cNvPr id="37" name="Shape 34"/>
          <p:cNvSpPr/>
          <p:nvPr/>
        </p:nvSpPr>
        <p:spPr>
          <a:xfrm>
            <a:off x="5296296" y="3044952"/>
            <a:ext cx="0" cy="585216"/>
          </a:xfrm>
          <a:prstGeom prst="line">
            <a:avLst/>
          </a:prstGeom>
          <a:noFill/>
          <a:ln w="19050">
            <a:solidFill>
              <a:srgbClr val="1E2A5C"/>
            </a:solidFill>
            <a:prstDash val="dash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5387736" y="3136392"/>
            <a:ext cx="23774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사전, 같은 규칙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13008529" y="3044952"/>
            <a:ext cx="0" cy="265176"/>
          </a:xfrm>
          <a:prstGeom prst="line">
            <a:avLst/>
          </a:prstGeom>
          <a:noFill/>
          <a:ln w="19050">
            <a:solidFill>
              <a:srgbClr val="2E74C6"/>
            </a:solidFill>
            <a:prstDash val="dash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 flipH="1">
            <a:off x="10437785" y="3310128"/>
            <a:ext cx="2570744" cy="0"/>
          </a:xfrm>
          <a:prstGeom prst="line">
            <a:avLst/>
          </a:prstGeom>
          <a:noFill/>
          <a:ln w="19050">
            <a:solidFill>
              <a:srgbClr val="2E74C6"/>
            </a:solidFill>
            <a:prstDash val="dash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8"/>
          <p:cNvSpPr/>
          <p:nvPr/>
        </p:nvSpPr>
        <p:spPr>
          <a:xfrm>
            <a:off x="10437785" y="3310128"/>
            <a:ext cx="0" cy="320040"/>
          </a:xfrm>
          <a:prstGeom prst="line">
            <a:avLst/>
          </a:prstGeom>
          <a:noFill/>
          <a:ln w="19050">
            <a:solidFill>
              <a:srgbClr val="2E74C6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 txBox="1"/>
          <p:nvPr/>
        </p:nvSpPr>
        <p:spPr>
          <a:xfrm>
            <a:off x="9038112" y="2926080"/>
            <a:ext cx="237744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검색할 때 통계를 읽음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509321" y="4800600"/>
            <a:ext cx="8595360" cy="411480"/>
          </a:xfrm>
          <a:prstGeom prst="roundRect">
            <a:avLst>
              <a:gd name="adj" fmla="val 13333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 txBox="1"/>
          <p:nvPr/>
        </p:nvSpPr>
        <p:spPr>
          <a:xfrm>
            <a:off x="509321" y="4800600"/>
            <a:ext cx="85953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벡터DB 인덱싱(1-a)의 BM25 색인과 다른 점</a:t>
            </a:r>
            <a:endParaRPr lang="en-US" sz="1800" dirty="0"/>
          </a:p>
        </p:txBody>
      </p:sp>
      <p:sp>
        <p:nvSpPr>
          <p:cNvPr id="45" name="Shape 42"/>
          <p:cNvSpPr/>
          <p:nvPr/>
        </p:nvSpPr>
        <p:spPr>
          <a:xfrm>
            <a:off x="2155241" y="5285232"/>
            <a:ext cx="3429000" cy="329184"/>
          </a:xfrm>
          <a:prstGeom prst="roundRect">
            <a:avLst>
              <a:gd name="adj" fmla="val 22222"/>
            </a:avLst>
          </a:prstGeom>
          <a:solidFill>
            <a:srgbClr val="E2EE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 txBox="1"/>
          <p:nvPr/>
        </p:nvSpPr>
        <p:spPr>
          <a:xfrm>
            <a:off x="2155241" y="5285232"/>
            <a:ext cx="34290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벡터DB 인덱싱 (bm25s)</a:t>
            </a:r>
            <a:endParaRPr lang="en-US" sz="1500" dirty="0"/>
          </a:p>
        </p:txBody>
      </p:sp>
      <p:sp>
        <p:nvSpPr>
          <p:cNvPr id="47" name="Shape 44"/>
          <p:cNvSpPr/>
          <p:nvPr/>
        </p:nvSpPr>
        <p:spPr>
          <a:xfrm>
            <a:off x="5675681" y="5285232"/>
            <a:ext cx="3429000" cy="329184"/>
          </a:xfrm>
          <a:prstGeom prst="roundRect">
            <a:avLst>
              <a:gd name="adj" fmla="val 22222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 txBox="1"/>
          <p:nvPr/>
        </p:nvSpPr>
        <p:spPr>
          <a:xfrm>
            <a:off x="5675681" y="5285232"/>
            <a:ext cx="34290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엔진 (1-b)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509321" y="5687568"/>
            <a:ext cx="1554480" cy="512064"/>
          </a:xfrm>
          <a:prstGeom prst="roundRect">
            <a:avLst>
              <a:gd name="adj" fmla="val 8929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 txBox="1"/>
          <p:nvPr/>
        </p:nvSpPr>
        <p:spPr>
          <a:xfrm>
            <a:off x="509321" y="5687568"/>
            <a:ext cx="155448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 계산</a:t>
            </a:r>
            <a:endParaRPr lang="en-US" sz="1500" dirty="0"/>
          </a:p>
        </p:txBody>
      </p:sp>
      <p:sp>
        <p:nvSpPr>
          <p:cNvPr id="51" name="Shape 48"/>
          <p:cNvSpPr/>
          <p:nvPr/>
        </p:nvSpPr>
        <p:spPr>
          <a:xfrm>
            <a:off x="2155241" y="5687568"/>
            <a:ext cx="3429000" cy="512064"/>
          </a:xfrm>
          <a:prstGeom prst="roundRect">
            <a:avLst>
              <a:gd name="adj" fmla="val 1428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 txBox="1"/>
          <p:nvPr/>
        </p:nvSpPr>
        <p:spPr>
          <a:xfrm>
            <a:off x="2155241" y="5687568"/>
            <a:ext cx="342900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색인 때 점수표를 미리 만들어 저장</a:t>
            </a:r>
            <a:endParaRPr lang="en-US" sz="1500" dirty="0"/>
          </a:p>
        </p:txBody>
      </p:sp>
      <p:sp>
        <p:nvSpPr>
          <p:cNvPr id="53" name="Shape 50"/>
          <p:cNvSpPr/>
          <p:nvPr/>
        </p:nvSpPr>
        <p:spPr>
          <a:xfrm>
            <a:off x="5675681" y="5687568"/>
            <a:ext cx="3429000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 txBox="1"/>
          <p:nvPr/>
        </p:nvSpPr>
        <p:spPr>
          <a:xfrm>
            <a:off x="5675681" y="5687568"/>
            <a:ext cx="342900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검색할 때 역색인 통계로 계산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509321" y="6254496"/>
            <a:ext cx="1554480" cy="512064"/>
          </a:xfrm>
          <a:prstGeom prst="roundRect">
            <a:avLst>
              <a:gd name="adj" fmla="val 8929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3"/>
          <p:cNvSpPr txBox="1"/>
          <p:nvPr/>
        </p:nvSpPr>
        <p:spPr>
          <a:xfrm>
            <a:off x="509321" y="6254496"/>
            <a:ext cx="155448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갱신</a:t>
            </a:r>
            <a:endParaRPr lang="en-US" sz="1500" dirty="0"/>
          </a:p>
        </p:txBody>
      </p:sp>
      <p:sp>
        <p:nvSpPr>
          <p:cNvPr id="57" name="Shape 54"/>
          <p:cNvSpPr/>
          <p:nvPr/>
        </p:nvSpPr>
        <p:spPr>
          <a:xfrm>
            <a:off x="2155241" y="6254496"/>
            <a:ext cx="3429000" cy="512064"/>
          </a:xfrm>
          <a:prstGeom prst="roundRect">
            <a:avLst>
              <a:gd name="adj" fmla="val 1428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5"/>
          <p:cNvSpPr txBox="1"/>
          <p:nvPr/>
        </p:nvSpPr>
        <p:spPr>
          <a:xfrm>
            <a:off x="2155241" y="6254496"/>
            <a:ext cx="342900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하나만 바뀌어도 점수표 전체를 다시 만듦</a:t>
            </a:r>
            <a:endParaRPr lang="en-US" sz="1500" dirty="0"/>
          </a:p>
        </p:txBody>
      </p:sp>
      <p:sp>
        <p:nvSpPr>
          <p:cNvPr id="59" name="Shape 56"/>
          <p:cNvSpPr/>
          <p:nvPr/>
        </p:nvSpPr>
        <p:spPr>
          <a:xfrm>
            <a:off x="5675681" y="6254496"/>
            <a:ext cx="3429000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7"/>
          <p:cNvSpPr txBox="1"/>
          <p:nvPr/>
        </p:nvSpPr>
        <p:spPr>
          <a:xfrm>
            <a:off x="5675681" y="6254496"/>
            <a:ext cx="342900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단위로 지우고 넣기 가능</a:t>
            </a:r>
            <a:endParaRPr lang="en-US" sz="1500" dirty="0"/>
          </a:p>
        </p:txBody>
      </p:sp>
      <p:sp>
        <p:nvSpPr>
          <p:cNvPr id="61" name="Shape 58"/>
          <p:cNvSpPr/>
          <p:nvPr/>
        </p:nvSpPr>
        <p:spPr>
          <a:xfrm>
            <a:off x="509321" y="6821424"/>
            <a:ext cx="1554480" cy="512064"/>
          </a:xfrm>
          <a:prstGeom prst="roundRect">
            <a:avLst>
              <a:gd name="adj" fmla="val 8929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 txBox="1"/>
          <p:nvPr/>
        </p:nvSpPr>
        <p:spPr>
          <a:xfrm>
            <a:off x="509321" y="6821424"/>
            <a:ext cx="155448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ko-KR" altLang="en-US" sz="15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증분색인</a:t>
            </a:r>
            <a:endParaRPr lang="en-US" sz="1500" dirty="0"/>
          </a:p>
        </p:txBody>
      </p:sp>
      <p:sp>
        <p:nvSpPr>
          <p:cNvPr id="63" name="Shape 60"/>
          <p:cNvSpPr/>
          <p:nvPr/>
        </p:nvSpPr>
        <p:spPr>
          <a:xfrm>
            <a:off x="2155241" y="6821424"/>
            <a:ext cx="3429000" cy="512064"/>
          </a:xfrm>
          <a:prstGeom prst="roundRect">
            <a:avLst>
              <a:gd name="adj" fmla="val 1428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1"/>
          <p:cNvSpPr txBox="1"/>
          <p:nvPr/>
        </p:nvSpPr>
        <p:spPr>
          <a:xfrm>
            <a:off x="2155241" y="6821424"/>
            <a:ext cx="342900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ko-KR" altLang="en-US" sz="1500" dirty="0" err="1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점수표</a:t>
            </a:r>
            <a:r>
              <a:rPr lang="ko-KR" alt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갱신 때문에 항상 전체 재색인</a:t>
            </a:r>
            <a:endParaRPr lang="en-US" sz="1500" dirty="0"/>
          </a:p>
        </p:txBody>
      </p:sp>
      <p:sp>
        <p:nvSpPr>
          <p:cNvPr id="65" name="Shape 62"/>
          <p:cNvSpPr/>
          <p:nvPr/>
        </p:nvSpPr>
        <p:spPr>
          <a:xfrm>
            <a:off x="5675681" y="6821424"/>
            <a:ext cx="3429000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3"/>
          <p:cNvSpPr txBox="1"/>
          <p:nvPr/>
        </p:nvSpPr>
        <p:spPr>
          <a:xfrm>
            <a:off x="5675681" y="6821424"/>
            <a:ext cx="342900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ko-KR" altLang="en-US" sz="1500" b="1" dirty="0" err="1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증분색인함</a:t>
            </a:r>
            <a:r>
              <a:rPr lang="en-US" altLang="ko-KR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</a:t>
            </a:r>
            <a:r>
              <a:rPr lang="en-US" sz="1500" b="1" dirty="0" err="1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세대</a:t>
            </a: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인덱스를 채운 뒤 별칭 전환</a:t>
            </a:r>
            <a:endParaRPr lang="en-US" sz="1500" dirty="0"/>
          </a:p>
        </p:txBody>
      </p:sp>
      <p:sp>
        <p:nvSpPr>
          <p:cNvPr id="67" name="Shape 64"/>
          <p:cNvSpPr/>
          <p:nvPr/>
        </p:nvSpPr>
        <p:spPr>
          <a:xfrm>
            <a:off x="9379001" y="4800600"/>
            <a:ext cx="4754880" cy="411480"/>
          </a:xfrm>
          <a:prstGeom prst="roundRect">
            <a:avLst>
              <a:gd name="adj" fmla="val 13333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5"/>
          <p:cNvSpPr txBox="1"/>
          <p:nvPr/>
        </p:nvSpPr>
        <p:spPr>
          <a:xfrm>
            <a:off x="9379001" y="4800600"/>
            <a:ext cx="47548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nori 대신 Kiwi를 쓰는 이유</a:t>
            </a:r>
            <a:endParaRPr lang="en-US" sz="1800" dirty="0"/>
          </a:p>
        </p:txBody>
      </p:sp>
      <p:sp>
        <p:nvSpPr>
          <p:cNvPr id="69" name="Shape 66"/>
          <p:cNvSpPr/>
          <p:nvPr/>
        </p:nvSpPr>
        <p:spPr>
          <a:xfrm>
            <a:off x="9379001" y="5285232"/>
            <a:ext cx="4754880" cy="1956816"/>
          </a:xfrm>
          <a:prstGeom prst="roundRect">
            <a:avLst>
              <a:gd name="adj" fmla="val 3738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7"/>
          <p:cNvSpPr/>
          <p:nvPr/>
        </p:nvSpPr>
        <p:spPr>
          <a:xfrm>
            <a:off x="9543593" y="547725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8"/>
          <p:cNvSpPr txBox="1"/>
          <p:nvPr/>
        </p:nvSpPr>
        <p:spPr>
          <a:xfrm>
            <a:off x="9543593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72" name="Text 69"/>
          <p:cNvSpPr txBox="1"/>
          <p:nvPr/>
        </p:nvSpPr>
        <p:spPr>
          <a:xfrm>
            <a:off x="10019081" y="5422392"/>
            <a:ext cx="397764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1-a의 토큰화 규칙과 사전을 그대로 씀</a:t>
            </a:r>
            <a:endParaRPr lang="en-US" sz="1500" dirty="0"/>
          </a:p>
        </p:txBody>
      </p:sp>
      <p:sp>
        <p:nvSpPr>
          <p:cNvPr id="73" name="Shape 70"/>
          <p:cNvSpPr/>
          <p:nvPr/>
        </p:nvSpPr>
        <p:spPr>
          <a:xfrm>
            <a:off x="9543593" y="606247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1"/>
          <p:cNvSpPr txBox="1"/>
          <p:nvPr/>
        </p:nvSpPr>
        <p:spPr>
          <a:xfrm>
            <a:off x="9543593" y="6062472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75" name="Text 72"/>
          <p:cNvSpPr txBox="1"/>
          <p:nvPr/>
        </p:nvSpPr>
        <p:spPr>
          <a:xfrm>
            <a:off x="10019081" y="6007608"/>
            <a:ext cx="397764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엔진에 형태소 플러그인을 깔지 않음</a:t>
            </a:r>
            <a:endParaRPr lang="en-US" sz="1500" dirty="0"/>
          </a:p>
        </p:txBody>
      </p:sp>
      <p:sp>
        <p:nvSpPr>
          <p:cNvPr id="76" name="Shape 73"/>
          <p:cNvSpPr/>
          <p:nvPr/>
        </p:nvSpPr>
        <p:spPr>
          <a:xfrm>
            <a:off x="9543593" y="664768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4"/>
          <p:cNvSpPr txBox="1"/>
          <p:nvPr/>
        </p:nvSpPr>
        <p:spPr>
          <a:xfrm>
            <a:off x="9543593" y="6647688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78" name="Text 75"/>
          <p:cNvSpPr txBox="1"/>
          <p:nvPr/>
        </p:nvSpPr>
        <p:spPr>
          <a:xfrm>
            <a:off x="10019081" y="6592824"/>
            <a:ext cx="397764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대신 질문도 반드시 같은 토크나이저로 잘라야 함</a:t>
            </a:r>
            <a:endParaRPr lang="en-US" sz="15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1DBB60A-5313-1078-5814-7C16F2656AD9}"/>
              </a:ext>
            </a:extLst>
          </p:cNvPr>
          <p:cNvSpPr txBox="1"/>
          <p:nvPr/>
        </p:nvSpPr>
        <p:spPr>
          <a:xfrm>
            <a:off x="451714" y="7461504"/>
            <a:ext cx="104479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※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점수 계산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 단어별로 단일 문서 내 </a:t>
            </a:r>
            <a:r>
              <a:rPr lang="en-US" altLang="ko-KR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빈도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전체 문서 내 </a:t>
            </a:r>
            <a:r>
              <a:rPr lang="en-US" altLang="ko-KR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희소성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 문서 </a:t>
            </a:r>
            <a:r>
              <a:rPr lang="en-US" altLang="ko-KR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길이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차이 보정하여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점수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계산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카드명 사전과 별칭 사전은 한 쌍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카드명 사전만 넣으면 줄여 부른 카드명 질문이 문서의 카드명 낱말과 겹치지 않음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822960" cy="347472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509321" y="1737360"/>
            <a:ext cx="82296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423721" y="1719072"/>
            <a:ext cx="1097280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한빛 가족돌봄 카드로 30,000원 이상 결제하면 KB-PAY 할인을 받습니다.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09321" y="2157984"/>
            <a:ext cx="822960" cy="347472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509321" y="2157984"/>
            <a:ext cx="82296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423721" y="2139696"/>
            <a:ext cx="1097280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가족돌봄 카드 할인 조건이 뭐예요?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09321" y="2697480"/>
            <a:ext cx="4358640" cy="438912"/>
          </a:xfrm>
          <a:prstGeom prst="roundRect">
            <a:avLst>
              <a:gd name="adj" fmla="val 125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509321" y="2697480"/>
            <a:ext cx="435864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없음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09321" y="3200400"/>
            <a:ext cx="4358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646481" y="3319272"/>
            <a:ext cx="6400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332281" y="3319272"/>
            <a:ext cx="676656" cy="384048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1332281" y="3319272"/>
            <a:ext cx="67665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한빛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100377" y="3319272"/>
            <a:ext cx="676656" cy="384048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2100377" y="3319272"/>
            <a:ext cx="67665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868473" y="3319272"/>
            <a:ext cx="676656" cy="384048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2868473" y="3319272"/>
            <a:ext cx="67665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돌봄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636569" y="3319272"/>
            <a:ext cx="1060704" cy="384048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3636569" y="3319272"/>
            <a:ext cx="1060704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가족돌봄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46481" y="3794760"/>
            <a:ext cx="6400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1332281" y="3794760"/>
            <a:ext cx="676656" cy="384048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1332281" y="3794760"/>
            <a:ext cx="67665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2100377" y="3794760"/>
            <a:ext cx="676656" cy="384048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2100377" y="3794760"/>
            <a:ext cx="67665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돌봄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2868473" y="3794760"/>
            <a:ext cx="1060704" cy="384048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2868473" y="3794760"/>
            <a:ext cx="1060704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가족돌봄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46481" y="4297680"/>
            <a:ext cx="4084320" cy="896112"/>
          </a:xfrm>
          <a:prstGeom prst="roundRect">
            <a:avLst>
              <a:gd name="adj" fmla="val 816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646481" y="4297680"/>
            <a:ext cx="4084320" cy="8961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겹치지만 카드 구분이 약함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'한빛'은 카드 64종 모두에,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'가족'은 한빛 가족통신에도 나옴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5142281" y="2697480"/>
            <a:ext cx="4358640" cy="438912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5142281" y="2697480"/>
            <a:ext cx="435864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카드명 사전만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5142281" y="3200400"/>
            <a:ext cx="4358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 txBox="1"/>
          <p:nvPr/>
        </p:nvSpPr>
        <p:spPr>
          <a:xfrm>
            <a:off x="5279441" y="3319272"/>
            <a:ext cx="6400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5965241" y="3319272"/>
            <a:ext cx="1444752" cy="384048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 txBox="1"/>
          <p:nvPr/>
        </p:nvSpPr>
        <p:spPr>
          <a:xfrm>
            <a:off x="5965241" y="3319272"/>
            <a:ext cx="1444752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한빛가족돌봄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279441" y="3794760"/>
            <a:ext cx="6400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5965241" y="3794760"/>
            <a:ext cx="676656" cy="384048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 txBox="1"/>
          <p:nvPr/>
        </p:nvSpPr>
        <p:spPr>
          <a:xfrm>
            <a:off x="5965241" y="3794760"/>
            <a:ext cx="67665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733337" y="3794760"/>
            <a:ext cx="676656" cy="384048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 txBox="1"/>
          <p:nvPr/>
        </p:nvSpPr>
        <p:spPr>
          <a:xfrm>
            <a:off x="6733337" y="3794760"/>
            <a:ext cx="67665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돌봄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7501433" y="3794760"/>
            <a:ext cx="1060704" cy="384048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 txBox="1"/>
          <p:nvPr/>
        </p:nvSpPr>
        <p:spPr>
          <a:xfrm>
            <a:off x="7501433" y="3794760"/>
            <a:ext cx="1060704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가족돌봄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5279441" y="4297680"/>
            <a:ext cx="4084320" cy="896112"/>
          </a:xfrm>
          <a:prstGeom prst="roundRect">
            <a:avLst>
              <a:gd name="adj" fmla="val 8163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 txBox="1"/>
          <p:nvPr/>
        </p:nvSpPr>
        <p:spPr>
          <a:xfrm>
            <a:off x="5279441" y="4297680"/>
            <a:ext cx="4084320" cy="8961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카드명이 하나도 안 겹침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줄여 부르면 그 카드를 못 찾음</a:t>
            </a:r>
            <a:endParaRPr lang="en-US" sz="1700" dirty="0"/>
          </a:p>
        </p:txBody>
      </p:sp>
      <p:sp>
        <p:nvSpPr>
          <p:cNvPr id="47" name="Shape 44"/>
          <p:cNvSpPr/>
          <p:nvPr/>
        </p:nvSpPr>
        <p:spPr>
          <a:xfrm>
            <a:off x="9775241" y="2697480"/>
            <a:ext cx="4358640" cy="438912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 txBox="1"/>
          <p:nvPr/>
        </p:nvSpPr>
        <p:spPr>
          <a:xfrm>
            <a:off x="9775241" y="2697480"/>
            <a:ext cx="435864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카드명 사전 + 별칭</a:t>
            </a:r>
            <a:endParaRPr lang="en-US" sz="1800" dirty="0"/>
          </a:p>
        </p:txBody>
      </p:sp>
      <p:sp>
        <p:nvSpPr>
          <p:cNvPr id="49" name="Shape 46"/>
          <p:cNvSpPr/>
          <p:nvPr/>
        </p:nvSpPr>
        <p:spPr>
          <a:xfrm>
            <a:off x="9775241" y="3200400"/>
            <a:ext cx="4358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 txBox="1"/>
          <p:nvPr/>
        </p:nvSpPr>
        <p:spPr>
          <a:xfrm>
            <a:off x="9912401" y="3319272"/>
            <a:ext cx="6400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</a:t>
            </a:r>
            <a:endParaRPr lang="en-US" sz="1500" dirty="0"/>
          </a:p>
        </p:txBody>
      </p:sp>
      <p:sp>
        <p:nvSpPr>
          <p:cNvPr id="51" name="Shape 48"/>
          <p:cNvSpPr/>
          <p:nvPr/>
        </p:nvSpPr>
        <p:spPr>
          <a:xfrm>
            <a:off x="10598201" y="3319272"/>
            <a:ext cx="1444752" cy="384048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 txBox="1"/>
          <p:nvPr/>
        </p:nvSpPr>
        <p:spPr>
          <a:xfrm>
            <a:off x="10598201" y="3319272"/>
            <a:ext cx="1444752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한빛가족돌봄</a:t>
            </a:r>
            <a:endParaRPr lang="en-US" sz="1600" dirty="0"/>
          </a:p>
        </p:txBody>
      </p:sp>
      <p:sp>
        <p:nvSpPr>
          <p:cNvPr id="53" name="Text 50"/>
          <p:cNvSpPr txBox="1"/>
          <p:nvPr/>
        </p:nvSpPr>
        <p:spPr>
          <a:xfrm>
            <a:off x="9912401" y="3794760"/>
            <a:ext cx="6400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500" dirty="0"/>
          </a:p>
        </p:txBody>
      </p:sp>
      <p:sp>
        <p:nvSpPr>
          <p:cNvPr id="54" name="Shape 51"/>
          <p:cNvSpPr/>
          <p:nvPr/>
        </p:nvSpPr>
        <p:spPr>
          <a:xfrm>
            <a:off x="10598201" y="3794760"/>
            <a:ext cx="1444752" cy="384048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2"/>
          <p:cNvSpPr txBox="1"/>
          <p:nvPr/>
        </p:nvSpPr>
        <p:spPr>
          <a:xfrm>
            <a:off x="10598201" y="3794760"/>
            <a:ext cx="1444752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한빛가족돌봄</a:t>
            </a:r>
            <a:endParaRPr lang="en-US" sz="1600" dirty="0"/>
          </a:p>
        </p:txBody>
      </p:sp>
      <p:sp>
        <p:nvSpPr>
          <p:cNvPr id="56" name="Text 53"/>
          <p:cNvSpPr txBox="1"/>
          <p:nvPr/>
        </p:nvSpPr>
        <p:spPr>
          <a:xfrm>
            <a:off x="12134393" y="3794760"/>
            <a:ext cx="20116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별칭이 바꿈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9912401" y="4297680"/>
            <a:ext cx="4084320" cy="896112"/>
          </a:xfrm>
          <a:prstGeom prst="roundRect">
            <a:avLst>
              <a:gd name="adj" fmla="val 8163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5"/>
          <p:cNvSpPr txBox="1"/>
          <p:nvPr/>
        </p:nvSpPr>
        <p:spPr>
          <a:xfrm>
            <a:off x="9912401" y="4297680"/>
            <a:ext cx="4084320" cy="8961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카드 한 단어로 정확히 겹침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줄여 불러도 정식 카드명으로 찾음</a:t>
            </a:r>
            <a:endParaRPr lang="en-US" sz="1700" dirty="0"/>
          </a:p>
        </p:txBody>
      </p:sp>
      <p:sp>
        <p:nvSpPr>
          <p:cNvPr id="59" name="Text 56"/>
          <p:cNvSpPr txBox="1"/>
          <p:nvPr/>
        </p:nvSpPr>
        <p:spPr>
          <a:xfrm>
            <a:off x="509321" y="5358384"/>
            <a:ext cx="1362456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파란 칩이 문서와 질문에서 겹친 낱말. 카드, 할인 같은 다른 낱말은 세 경우 모두 겹침</a:t>
            </a:r>
            <a:endParaRPr lang="en-US" sz="1400" dirty="0"/>
          </a:p>
        </p:txBody>
      </p:sp>
      <p:sp>
        <p:nvSpPr>
          <p:cNvPr id="60" name="Shape 57"/>
          <p:cNvSpPr/>
          <p:nvPr/>
        </p:nvSpPr>
        <p:spPr>
          <a:xfrm>
            <a:off x="509321" y="5779008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8"/>
          <p:cNvSpPr txBox="1"/>
          <p:nvPr/>
        </p:nvSpPr>
        <p:spPr>
          <a:xfrm>
            <a:off x="509321" y="5779008"/>
            <a:ext cx="23774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별칭 사전 만드는 법</a:t>
            </a:r>
            <a:endParaRPr lang="en-US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3023921" y="5779008"/>
            <a:ext cx="111099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사전이나 별칭이 바뀌면 문서 낱말도 바뀜 → 새 세대로 BM25 필드를 다시 만듦 (벡터는 재사용)</a:t>
            </a:r>
            <a:endParaRPr lang="en-US" sz="1500" dirty="0"/>
          </a:p>
        </p:txBody>
      </p:sp>
      <p:sp>
        <p:nvSpPr>
          <p:cNvPr id="63" name="Shape 60"/>
          <p:cNvSpPr/>
          <p:nvPr/>
        </p:nvSpPr>
        <p:spPr>
          <a:xfrm>
            <a:off x="509321" y="6236208"/>
            <a:ext cx="2505456" cy="987552"/>
          </a:xfrm>
          <a:prstGeom prst="roundRect">
            <a:avLst>
              <a:gd name="adj" fmla="val 7407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1"/>
          <p:cNvSpPr txBox="1"/>
          <p:nvPr/>
        </p:nvSpPr>
        <p:spPr>
          <a:xfrm>
            <a:off x="509321" y="6236208"/>
            <a:ext cx="2505456" cy="9875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카드명 64개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한빛 가족돌봄</a:t>
            </a:r>
            <a:endParaRPr lang="en-US" sz="1700" dirty="0"/>
          </a:p>
        </p:txBody>
      </p:sp>
      <p:sp>
        <p:nvSpPr>
          <p:cNvPr id="65" name="Shape 62"/>
          <p:cNvSpPr/>
          <p:nvPr/>
        </p:nvSpPr>
        <p:spPr>
          <a:xfrm>
            <a:off x="3042209" y="6729984"/>
            <a:ext cx="21945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3"/>
          <p:cNvSpPr/>
          <p:nvPr/>
        </p:nvSpPr>
        <p:spPr>
          <a:xfrm>
            <a:off x="3289097" y="6236208"/>
            <a:ext cx="2505456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 txBox="1"/>
          <p:nvPr/>
        </p:nvSpPr>
        <p:spPr>
          <a:xfrm>
            <a:off x="3289097" y="6236208"/>
            <a:ext cx="2505456" cy="9875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규칙으로 자동 생성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'한빛', '카드'를 떼고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3글자 이상만</a:t>
            </a:r>
            <a:endParaRPr lang="en-US" sz="1700" dirty="0"/>
          </a:p>
        </p:txBody>
      </p:sp>
      <p:sp>
        <p:nvSpPr>
          <p:cNvPr id="68" name="Shape 65"/>
          <p:cNvSpPr/>
          <p:nvPr/>
        </p:nvSpPr>
        <p:spPr>
          <a:xfrm>
            <a:off x="5821985" y="6729984"/>
            <a:ext cx="21945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6"/>
          <p:cNvSpPr/>
          <p:nvPr/>
        </p:nvSpPr>
        <p:spPr>
          <a:xfrm>
            <a:off x="6068873" y="6236208"/>
            <a:ext cx="2505456" cy="987552"/>
          </a:xfrm>
          <a:prstGeom prst="roundRect">
            <a:avLst>
              <a:gd name="adj" fmla="val 7407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7"/>
          <p:cNvSpPr txBox="1"/>
          <p:nvPr/>
        </p:nvSpPr>
        <p:spPr>
          <a:xfrm>
            <a:off x="6068873" y="6236208"/>
            <a:ext cx="2505456" cy="9875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별칭 189개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가족돌봄 → 한빛가족돌봄</a:t>
            </a:r>
            <a:endParaRPr lang="en-US" sz="1700" dirty="0"/>
          </a:p>
        </p:txBody>
      </p:sp>
      <p:sp>
        <p:nvSpPr>
          <p:cNvPr id="71" name="Shape 68"/>
          <p:cNvSpPr/>
          <p:nvPr/>
        </p:nvSpPr>
        <p:spPr>
          <a:xfrm>
            <a:off x="8601761" y="6729984"/>
            <a:ext cx="21945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69"/>
          <p:cNvSpPr/>
          <p:nvPr/>
        </p:nvSpPr>
        <p:spPr>
          <a:xfrm>
            <a:off x="8848649" y="6236208"/>
            <a:ext cx="2505456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0"/>
          <p:cNvSpPr txBox="1"/>
          <p:nvPr/>
        </p:nvSpPr>
        <p:spPr>
          <a:xfrm>
            <a:off x="8848649" y="6236208"/>
            <a:ext cx="2505456" cy="9875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명사 자동 제외 3개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대중교통, 장보기, 출퇴근</a:t>
            </a:r>
            <a:endParaRPr lang="en-US" sz="1700" dirty="0"/>
          </a:p>
        </p:txBody>
      </p:sp>
      <p:sp>
        <p:nvSpPr>
          <p:cNvPr id="74" name="Shape 71"/>
          <p:cNvSpPr/>
          <p:nvPr/>
        </p:nvSpPr>
        <p:spPr>
          <a:xfrm>
            <a:off x="11381537" y="6729984"/>
            <a:ext cx="21945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2"/>
          <p:cNvSpPr/>
          <p:nvPr/>
        </p:nvSpPr>
        <p:spPr>
          <a:xfrm>
            <a:off x="11628425" y="6236208"/>
            <a:ext cx="2505456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3"/>
          <p:cNvSpPr txBox="1"/>
          <p:nvPr/>
        </p:nvSpPr>
        <p:spPr>
          <a:xfrm>
            <a:off x="11628425" y="6236208"/>
            <a:ext cx="2505456" cy="9875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검수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목록과 제외 목록</a:t>
            </a:r>
            <a:endParaRPr lang="en-US" sz="17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620</Words>
  <Application>Microsoft Office PowerPoint</Application>
  <PresentationFormat>사용자 지정</PresentationFormat>
  <Paragraphs>104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Arial</vt:lpstr>
      <vt:lpstr>Pretendard</vt:lpstr>
      <vt:lpstr>Pretendard SemiBold</vt:lpstr>
      <vt:lpstr>Office Theme</vt:lpstr>
      <vt:lpstr>검색 갈래 ② 키워드 분석</vt:lpstr>
      <vt:lpstr>카드명 사전과 별칭 사전은 한 쌍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해경 이</cp:lastModifiedBy>
  <cp:revision>3</cp:revision>
  <dcterms:created xsi:type="dcterms:W3CDTF">2026-10-19T06:28:40Z</dcterms:created>
  <dcterms:modified xsi:type="dcterms:W3CDTF">2026-10-19T06:45:23Z</dcterms:modified>
</cp:coreProperties>
</file>