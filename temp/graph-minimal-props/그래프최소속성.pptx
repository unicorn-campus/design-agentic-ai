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ID만 넣으면 노드 하나를 지날 때마다 정형 DB를 다시 불러야 해서 여러 단계 탐색이 느려짐. 그래서 노드 탐색에 쓰는 속성(업종명)과 탐색된 노드의 제목(상품명·혜택명)은 그래프에 복제함. 전부 넣으면 값이 두 곳에 생겨 맞춰 두기(동기화) 부담과 민감정보 노출 범위가 커짐. 그래서 자주 바뀌고 크고 민감한 값은 뺌. 업종 비중은 매달 바뀌는 집계값이라 그래프에 넣지 않고 SQL로 계산해 출발 노드만 정함. 회원-업종 관계는 '소비 패턴이 비슷한 회원 찾기'처럼 회원끼리 비교하는 질문을 쓸 때만 월 1회 배치로 만듦. 업종과 잇는 대상은 발급 카드가 아니라 상품(64종)이며, 사이에 혜택 노드를 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그래프에는 ID와 최소 속성만 넣음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그래프는 노드 탐색과 제목만 맡고, 비중·금액·원문은 원래 저장소에서 ID로 가져옴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1E2A5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9321" y="1737360"/>
            <a:ext cx="420624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최소 속성이란?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9321" y="2212848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19049" y="2212848"/>
            <a:ext cx="3986784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안에서 </a:t>
            </a:r>
            <a:pPr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노드 탐색</a:t>
            </a:r>
            <a:pPr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탐색된 노드의 제목</a:t>
            </a:r>
            <a:pPr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꼭 필요한 정보만 넣은 것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9321" y="3172968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9049" y="3172968"/>
            <a:ext cx="3986784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비유: 지하철 노선도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 이름·노선·환승만 있어도 길은 찾음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시간표·역 안 상가는 역에 가서 봄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9321" y="4270248"/>
            <a:ext cx="420624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09321" y="4270248"/>
            <a:ext cx="42062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넣을지 정하는 질문 3가지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9321" y="4727448"/>
            <a:ext cx="4206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9049" y="4855464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E74C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19049" y="4855464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12241" y="4727448"/>
            <a:ext cx="2606040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탐색에 쓰나?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업종명=식비, 관계(대상·제공)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3645713" y="4946904"/>
            <a:ext cx="960120" cy="347472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645713" y="4946904"/>
            <a:ext cx="9601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넣음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09321" y="5586984"/>
            <a:ext cx="4206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9049" y="571500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E74C6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19049" y="5715000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012241" y="5586984"/>
            <a:ext cx="2606040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탐색된 노드의 제목인가?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상품명, 혜택명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3645713" y="5806440"/>
            <a:ext cx="960120" cy="347472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645713" y="5806440"/>
            <a:ext cx="9601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넣음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09321" y="6446520"/>
            <a:ext cx="4206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19049" y="6574536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E74C6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19049" y="6574536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012241" y="6446520"/>
            <a:ext cx="2606040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 바뀌거나 크거나 민감한가?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업종 비중, 카드 상태, 상담 원문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3645713" y="6665976"/>
            <a:ext cx="960120" cy="347472"/>
          </a:xfrm>
          <a:prstGeom prst="roundRect">
            <a:avLst>
              <a:gd name="adj" fmla="val 45000"/>
            </a:avLst>
          </a:prstGeom>
          <a:solidFill>
            <a:srgbClr val="404155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645713" y="6665976"/>
            <a:ext cx="9601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빼고 ID만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898441" y="1737360"/>
            <a:ext cx="9235440" cy="384048"/>
          </a:xfrm>
          <a:prstGeom prst="roundRect">
            <a:avLst>
              <a:gd name="adj" fmla="val 14286"/>
            </a:avLst>
          </a:prstGeom>
          <a:solidFill>
            <a:srgbClr val="2E74C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898441" y="1737360"/>
            <a:ext cx="923544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시스템 예시: 무엇을 그래프에 넣나</a:t>
            </a:r>
            <a:endParaRPr lang="en-US" sz="17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8441" y="2212848"/>
          <a:ext cx="9235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114800"/>
                <a:gridCol w="38404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노드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그래프에 넣는 것 (ID + 최소 속성)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원래 자리에 두는 것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회원 가명 ID, 고객군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가입일·연령대·연체 (정형 DB)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 ID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 상태·발급일 (정형 DB)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상품 ID, 상품명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연회비 (정형 DB)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혜택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혜택 ID, 혜택명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혜택률·한도·조건 문구 (벡터 DB)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업종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업종명 (식비·주유 등 8개)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7C859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넣지 않음 — 업종 비중은 SQL로 계산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거래 건별 금액 (정형 DB)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상담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상담 ID, 상담일, 불만 주제, 조각 ID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발언 원문 (벡터 DB)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Shape 30"/>
          <p:cNvSpPr/>
          <p:nvPr/>
        </p:nvSpPr>
        <p:spPr>
          <a:xfrm>
            <a:off x="4898441" y="4992624"/>
            <a:ext cx="1097280" cy="329184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4898441" y="4992624"/>
            <a:ext cx="10972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질문</a:t>
            </a:r>
            <a:endParaRPr lang="en-US" sz="1400" dirty="0"/>
          </a:p>
        </p:txBody>
      </p:sp>
      <p:sp>
        <p:nvSpPr>
          <p:cNvPr id="36" name="Text 32"/>
          <p:cNvSpPr txBox="1"/>
          <p:nvPr/>
        </p:nvSpPr>
        <p:spPr>
          <a:xfrm>
            <a:off x="6105449" y="4974336"/>
            <a:ext cx="8028432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"M-6001 회원이 많이 쓰는 업종에 혜택을 주는 카드는?"</a:t>
            </a:r>
            <a:endParaRPr lang="en-US" sz="1600" dirty="0"/>
          </a:p>
        </p:txBody>
      </p:sp>
      <p:sp>
        <p:nvSpPr>
          <p:cNvPr id="37" name="Shape 33"/>
          <p:cNvSpPr/>
          <p:nvPr/>
        </p:nvSpPr>
        <p:spPr>
          <a:xfrm>
            <a:off x="4898441" y="5413248"/>
            <a:ext cx="21031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898441" y="5413248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1E2A5C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4898441" y="5413248"/>
            <a:ext cx="21031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정형 DB</a:t>
            </a:r>
            <a:endParaRPr lang="en-US" sz="1500" dirty="0"/>
          </a:p>
        </p:txBody>
      </p:sp>
      <p:sp>
        <p:nvSpPr>
          <p:cNvPr id="40" name="Text 36"/>
          <p:cNvSpPr txBox="1"/>
          <p:nvPr/>
        </p:nvSpPr>
        <p:spPr>
          <a:xfrm>
            <a:off x="4971593" y="5815584"/>
            <a:ext cx="1956816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출발 노드 정하기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업종 비중 계산</a:t>
            </a:r>
            <a:endParaRPr lang="en-US" sz="1400" dirty="0"/>
          </a:p>
        </p:txBody>
      </p:sp>
      <p:sp>
        <p:nvSpPr>
          <p:cNvPr id="41" name="Text 37"/>
          <p:cNvSpPr txBox="1"/>
          <p:nvPr/>
        </p:nvSpPr>
        <p:spPr>
          <a:xfrm>
            <a:off x="4971593" y="6345936"/>
            <a:ext cx="1956816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넘김: 식비</a:t>
            </a:r>
            <a:endParaRPr lang="en-US" sz="1400" dirty="0"/>
          </a:p>
        </p:txBody>
      </p:sp>
      <p:sp>
        <p:nvSpPr>
          <p:cNvPr id="42" name="Shape 38"/>
          <p:cNvSpPr/>
          <p:nvPr/>
        </p:nvSpPr>
        <p:spPr>
          <a:xfrm>
            <a:off x="7038137" y="6062472"/>
            <a:ext cx="201168" cy="0"/>
          </a:xfrm>
          <a:prstGeom prst="line">
            <a:avLst/>
          </a:prstGeom>
          <a:noFill/>
          <a:ln w="2540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43" name="Shape 39"/>
          <p:cNvSpPr/>
          <p:nvPr/>
        </p:nvSpPr>
        <p:spPr>
          <a:xfrm>
            <a:off x="7275881" y="5413248"/>
            <a:ext cx="21031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7275881" y="5413248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2E74C6"/>
          </a:solidFill>
          <a:ln/>
        </p:spPr>
      </p:sp>
      <p:sp>
        <p:nvSpPr>
          <p:cNvPr id="45" name="Text 41"/>
          <p:cNvSpPr txBox="1"/>
          <p:nvPr/>
        </p:nvSpPr>
        <p:spPr>
          <a:xfrm>
            <a:off x="7275881" y="5413248"/>
            <a:ext cx="21031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그래프</a:t>
            </a:r>
            <a:endParaRPr lang="en-US" sz="1500" dirty="0"/>
          </a:p>
        </p:txBody>
      </p:sp>
      <p:sp>
        <p:nvSpPr>
          <p:cNvPr id="46" name="Text 42"/>
          <p:cNvSpPr txBox="1"/>
          <p:nvPr/>
        </p:nvSpPr>
        <p:spPr>
          <a:xfrm>
            <a:off x="7349033" y="5815584"/>
            <a:ext cx="1956816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탐색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식비 → 혜택 → 상품</a:t>
            </a:r>
            <a:endParaRPr lang="en-US" sz="1400" dirty="0"/>
          </a:p>
        </p:txBody>
      </p:sp>
      <p:sp>
        <p:nvSpPr>
          <p:cNvPr id="47" name="Text 43"/>
          <p:cNvSpPr txBox="1"/>
          <p:nvPr/>
        </p:nvSpPr>
        <p:spPr>
          <a:xfrm>
            <a:off x="7349033" y="6345936"/>
            <a:ext cx="1956816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넘김: ID·제목</a:t>
            </a:r>
            <a:endParaRPr lang="en-US" sz="1400" dirty="0"/>
          </a:p>
        </p:txBody>
      </p:sp>
      <p:sp>
        <p:nvSpPr>
          <p:cNvPr id="48" name="Shape 44"/>
          <p:cNvSpPr/>
          <p:nvPr/>
        </p:nvSpPr>
        <p:spPr>
          <a:xfrm>
            <a:off x="9415577" y="6062472"/>
            <a:ext cx="201168" cy="0"/>
          </a:xfrm>
          <a:prstGeom prst="line">
            <a:avLst/>
          </a:prstGeom>
          <a:noFill/>
          <a:ln w="2540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49" name="Shape 45"/>
          <p:cNvSpPr/>
          <p:nvPr/>
        </p:nvSpPr>
        <p:spPr>
          <a:xfrm>
            <a:off x="9653321" y="5413248"/>
            <a:ext cx="21031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9653321" y="5413248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1E2A5C"/>
          </a:solidFill>
          <a:ln/>
        </p:spPr>
      </p:sp>
      <p:sp>
        <p:nvSpPr>
          <p:cNvPr id="51" name="Text 47"/>
          <p:cNvSpPr txBox="1"/>
          <p:nvPr/>
        </p:nvSpPr>
        <p:spPr>
          <a:xfrm>
            <a:off x="9653321" y="5413248"/>
            <a:ext cx="21031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정형 DB</a:t>
            </a:r>
            <a:endParaRPr lang="en-US" sz="1500" dirty="0"/>
          </a:p>
        </p:txBody>
      </p:sp>
      <p:sp>
        <p:nvSpPr>
          <p:cNvPr id="52" name="Text 48"/>
          <p:cNvSpPr txBox="1"/>
          <p:nvPr/>
        </p:nvSpPr>
        <p:spPr>
          <a:xfrm>
            <a:off x="9726473" y="5815584"/>
            <a:ext cx="1956816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정확한 값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ID로 연회비 조회</a:t>
            </a:r>
            <a:endParaRPr lang="en-US" sz="1400" dirty="0"/>
          </a:p>
        </p:txBody>
      </p:sp>
      <p:sp>
        <p:nvSpPr>
          <p:cNvPr id="53" name="Text 49"/>
          <p:cNvSpPr txBox="1"/>
          <p:nvPr/>
        </p:nvSpPr>
        <p:spPr>
          <a:xfrm>
            <a:off x="9726473" y="6345936"/>
            <a:ext cx="1956816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넘김: 연회비</a:t>
            </a:r>
            <a:endParaRPr lang="en-US" sz="1400" dirty="0"/>
          </a:p>
        </p:txBody>
      </p:sp>
      <p:sp>
        <p:nvSpPr>
          <p:cNvPr id="54" name="Shape 50"/>
          <p:cNvSpPr/>
          <p:nvPr/>
        </p:nvSpPr>
        <p:spPr>
          <a:xfrm>
            <a:off x="11793017" y="6062472"/>
            <a:ext cx="201168" cy="0"/>
          </a:xfrm>
          <a:prstGeom prst="line">
            <a:avLst/>
          </a:prstGeom>
          <a:noFill/>
          <a:ln w="2540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55" name="Shape 51"/>
          <p:cNvSpPr/>
          <p:nvPr/>
        </p:nvSpPr>
        <p:spPr>
          <a:xfrm>
            <a:off x="12030761" y="5413248"/>
            <a:ext cx="21031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12030761" y="5413248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404155"/>
          </a:solidFill>
          <a:ln/>
        </p:spPr>
      </p:sp>
      <p:sp>
        <p:nvSpPr>
          <p:cNvPr id="57" name="Text 53"/>
          <p:cNvSpPr txBox="1"/>
          <p:nvPr/>
        </p:nvSpPr>
        <p:spPr>
          <a:xfrm>
            <a:off x="12030761" y="5413248"/>
            <a:ext cx="21031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벡터 DB</a:t>
            </a:r>
            <a:endParaRPr lang="en-US" sz="1500" dirty="0"/>
          </a:p>
        </p:txBody>
      </p:sp>
      <p:sp>
        <p:nvSpPr>
          <p:cNvPr id="58" name="Text 54"/>
          <p:cNvSpPr txBox="1"/>
          <p:nvPr/>
        </p:nvSpPr>
        <p:spPr>
          <a:xfrm>
            <a:off x="12103913" y="5815584"/>
            <a:ext cx="1956816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문단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혜택 ID로 문단 찾기</a:t>
            </a:r>
            <a:endParaRPr lang="en-US" sz="1400" dirty="0"/>
          </a:p>
        </p:txBody>
      </p:sp>
      <p:sp>
        <p:nvSpPr>
          <p:cNvPr id="59" name="Text 55"/>
          <p:cNvSpPr txBox="1"/>
          <p:nvPr/>
        </p:nvSpPr>
        <p:spPr>
          <a:xfrm>
            <a:off x="12103913" y="6345936"/>
            <a:ext cx="1956816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넘김: 혜택 문단</a:t>
            </a:r>
            <a:endParaRPr lang="en-US" sz="1400" dirty="0"/>
          </a:p>
        </p:txBody>
      </p:sp>
      <p:sp>
        <p:nvSpPr>
          <p:cNvPr id="60" name="Shape 56"/>
          <p:cNvSpPr/>
          <p:nvPr/>
        </p:nvSpPr>
        <p:spPr>
          <a:xfrm>
            <a:off x="4898441" y="6830568"/>
            <a:ext cx="64008" cy="41148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61" name="Text 57"/>
          <p:cNvSpPr txBox="1"/>
          <p:nvPr/>
        </p:nvSpPr>
        <p:spPr>
          <a:xfrm>
            <a:off x="5063033" y="6830568"/>
            <a:ext cx="9070848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하나로 세 저장소를 이음 → 값은 원래 자리에 한 번만 두고, 그래프는 노드 탐색과 제목만 맡음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2026-10-12T07:03:19Z</dcterms:created>
  <dcterms:modified xsi:type="dcterms:W3CDTF">2026-10-12T07:03:19Z</dcterms:modified>
</cp:coreProperties>
</file>