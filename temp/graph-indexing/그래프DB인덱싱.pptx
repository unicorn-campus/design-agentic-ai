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그래프DB 인덱싱은 벡터DB 인덱싱과 앞뒤가 똑같음. 앞의 로드·정제·청킹, 뒤의 임베딩·적재는 그대로임. 다른 점은 청킹과 임베딩 사이에 끼어드는 네 단계임. LLM이 청크마다 글을 읽고 사람·회사 같은 노드(엔티티)와 '근무한다' 같은 관계를 한 번의 호출로 함께 뽑음. 같은 노드가 여러 청크에서 나오면 이름·종류가 같은 것을 코드로 하나로 합치고, 청크마다 따로 붙은 설명은 LLM이 한 줄로 요약함. 지식 그래프 구축은 합친 노드·관계를 그래프로 엮는 일이라 코드가 함. 사전요약은 Leiden 같은 알고리즘이 노드를 주제별로 묶고, 묶음마다 LLM이 요약을 씀. '전체 경향' 질문을 위한 선택 단계임. 임베딩은 그래프DB에서도 LLM이 아니라 벡터DB와 같은 임베딩 모델이 맡음. 즉 LLM은 추출과 요약(병합 설명·커뮤니티 요약)에만 씀. '삼성'과 '삼성전자'처럼 이름이 다른 같은 대상을 합치는 일(엔티티 해소)은 기본 병합으로는 안 되며 따로 붙이는 작업임. 임베딩 대상은 청크와 노드 설명(사전요약을 했으면 커뮤니티 요약도)이고, 관계 연결 자체는 임베딩하지 않고 그래프 그대로 둠. 마지막 적재에서 KG와 벡터를 함께 그래프DB에 저장함 (Neo4j는 벡터를 노드 속성으로 두고 벡터 인덱스를 검). 검색할 때는 벡터로 비슷한 노드·청크를 먼저 찾고 KG의 관계를 따라 넓혀 감. 정제 단계에서 이름·연락처 같은 개인정보를 가명으로 바꿔 두어야 LLM 추출과 그래프 노드에 실명이 남지 않음.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sp>
      <p:sp>
        <p:nvSpPr>
          <p:cNvPr id="3" name="Text 1"/>
          <p:cNvSpPr/>
          <p:nvPr/>
        </p:nvSpPr>
        <p:spPr>
          <a:xfrm>
            <a:off x="445770" y="7787945"/>
            <a:ext cx="1531620" cy="246888"/>
          </a:xfrm>
          <a:prstGeom prst="rect">
            <a:avLst/>
          </a:prstGeom>
          <a:noFill/>
          <a:ln/>
        </p:spPr>
        <p:txBody>
          <a:bodyPr wrap="square" lIns="0" tIns="0" rIns="0" bIns="0" rtlCol="0" anchor="ctr"/>
          <a:lstStyle/>
          <a:p>
            <a:pPr indent="0" marL="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p:nvPr>
            <p:ph type="title"/>
          </p:nvPr>
        </p:nvSpPr>
        <p:spPr>
          <a:xfrm>
            <a:off x="509321" y="99670"/>
            <a:ext cx="13738860" cy="828446"/>
          </a:xfrm>
          <a:prstGeom prst="rect">
            <a:avLst/>
          </a:prstGeom>
          <a:noFill/>
          <a:ln/>
        </p:spPr>
        <p:txBody>
          <a:bodyPr wrap="square" rtlCol="0"/>
          <a:lstStyle>
            <a:lvl1pPr algn="l" indent="0" marL="0">
              <a:buNone/>
              <a:defRPr lang="en-US" sz="3200" b="1" dirty="0">
                <a:solidFill>
                  <a:srgbClr val="2C2926"/>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그래프DB 인덱싱 과정: 벡터DB와 비교</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벡터DB 인덱싱 가운데에 'LLM이 글을 노드와 관계로 바꿔 그래프로 저장하는 단계'가 끼어든 것임</a:t>
            </a:r>
            <a:endParaRPr lang="en-US" sz="1800" dirty="0"/>
          </a:p>
        </p:txBody>
      </p:sp>
      <p:sp>
        <p:nvSpPr>
          <p:cNvPr id="5" name="Shape 2"/>
          <p:cNvSpPr/>
          <p:nvPr/>
        </p:nvSpPr>
        <p:spPr>
          <a:xfrm>
            <a:off x="1725473" y="1682496"/>
            <a:ext cx="4072128" cy="4206240"/>
          </a:xfrm>
          <a:prstGeom prst="roundRect">
            <a:avLst>
              <a:gd name="adj" fmla="val 2246"/>
            </a:avLst>
          </a:prstGeom>
          <a:solidFill>
            <a:srgbClr val="F5F8FC"/>
          </a:solidFill>
          <a:ln/>
        </p:spPr>
      </p:sp>
      <p:sp>
        <p:nvSpPr>
          <p:cNvPr id="6" name="Shape 3"/>
          <p:cNvSpPr/>
          <p:nvPr/>
        </p:nvSpPr>
        <p:spPr>
          <a:xfrm>
            <a:off x="1789481" y="1737360"/>
            <a:ext cx="3944112" cy="365760"/>
          </a:xfrm>
          <a:prstGeom prst="roundRect">
            <a:avLst>
              <a:gd name="adj" fmla="val 15000"/>
            </a:avLst>
          </a:prstGeom>
          <a:solidFill>
            <a:srgbClr val="7C8598"/>
          </a:solidFill>
          <a:ln/>
        </p:spPr>
      </p:sp>
      <p:sp>
        <p:nvSpPr>
          <p:cNvPr id="7" name="Text 4"/>
          <p:cNvSpPr txBox="1"/>
          <p:nvPr/>
        </p:nvSpPr>
        <p:spPr>
          <a:xfrm>
            <a:off x="1789481" y="1737360"/>
            <a:ext cx="3944112" cy="365760"/>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똑같음</a:t>
            </a:r>
            <a:endParaRPr lang="en-US" sz="1500" dirty="0"/>
          </a:p>
        </p:txBody>
      </p:sp>
      <p:sp>
        <p:nvSpPr>
          <p:cNvPr id="8" name="Shape 5"/>
          <p:cNvSpPr/>
          <p:nvPr/>
        </p:nvSpPr>
        <p:spPr>
          <a:xfrm>
            <a:off x="5925617" y="1682496"/>
            <a:ext cx="5472176" cy="4206240"/>
          </a:xfrm>
          <a:prstGeom prst="roundRect">
            <a:avLst>
              <a:gd name="adj" fmla="val 2174"/>
            </a:avLst>
          </a:prstGeom>
          <a:solidFill>
            <a:srgbClr val="F5F8FC"/>
          </a:solidFill>
          <a:ln/>
        </p:spPr>
      </p:sp>
      <p:sp>
        <p:nvSpPr>
          <p:cNvPr id="9" name="Shape 6"/>
          <p:cNvSpPr/>
          <p:nvPr/>
        </p:nvSpPr>
        <p:spPr>
          <a:xfrm>
            <a:off x="5989625" y="1737360"/>
            <a:ext cx="5344160" cy="365760"/>
          </a:xfrm>
          <a:prstGeom prst="roundRect">
            <a:avLst>
              <a:gd name="adj" fmla="val 15000"/>
            </a:avLst>
          </a:prstGeom>
          <a:solidFill>
            <a:srgbClr val="2E74C6"/>
          </a:solidFill>
          <a:ln/>
        </p:spPr>
      </p:sp>
      <p:sp>
        <p:nvSpPr>
          <p:cNvPr id="10" name="Text 7"/>
          <p:cNvSpPr txBox="1"/>
          <p:nvPr/>
        </p:nvSpPr>
        <p:spPr>
          <a:xfrm>
            <a:off x="5989625" y="1737360"/>
            <a:ext cx="5344160" cy="365760"/>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그래프DB에만 있음: 글 → 노드와 관계</a:t>
            </a:r>
            <a:endParaRPr lang="en-US" sz="1500" dirty="0"/>
          </a:p>
        </p:txBody>
      </p:sp>
      <p:sp>
        <p:nvSpPr>
          <p:cNvPr id="11" name="Shape 8"/>
          <p:cNvSpPr/>
          <p:nvPr/>
        </p:nvSpPr>
        <p:spPr>
          <a:xfrm>
            <a:off x="11525809" y="1682496"/>
            <a:ext cx="2672080" cy="4206240"/>
          </a:xfrm>
          <a:prstGeom prst="roundRect">
            <a:avLst>
              <a:gd name="adj" fmla="val 3422"/>
            </a:avLst>
          </a:prstGeom>
          <a:solidFill>
            <a:srgbClr val="F5F8FC"/>
          </a:solidFill>
          <a:ln/>
        </p:spPr>
      </p:sp>
      <p:sp>
        <p:nvSpPr>
          <p:cNvPr id="12" name="Shape 9"/>
          <p:cNvSpPr/>
          <p:nvPr/>
        </p:nvSpPr>
        <p:spPr>
          <a:xfrm>
            <a:off x="11589817" y="1737360"/>
            <a:ext cx="2544064" cy="365760"/>
          </a:xfrm>
          <a:prstGeom prst="roundRect">
            <a:avLst>
              <a:gd name="adj" fmla="val 15000"/>
            </a:avLst>
          </a:prstGeom>
          <a:solidFill>
            <a:srgbClr val="7C8598"/>
          </a:solidFill>
          <a:ln/>
        </p:spPr>
      </p:sp>
      <p:sp>
        <p:nvSpPr>
          <p:cNvPr id="13" name="Text 10"/>
          <p:cNvSpPr txBox="1"/>
          <p:nvPr/>
        </p:nvSpPr>
        <p:spPr>
          <a:xfrm>
            <a:off x="11589817" y="1737360"/>
            <a:ext cx="2544064" cy="365760"/>
          </a:xfrm>
          <a:prstGeom prst="rect">
            <a:avLst/>
          </a:prstGeom>
          <a:noFill/>
          <a:ln/>
        </p:spPr>
        <p:txBody>
          <a:bodyPr wrap="square" lIns="1016" tIns="1016" rIns="1016" bIns="1016" rtlCol="0" anchor="ctr"/>
          <a:lstStyle/>
          <a:p>
            <a:pPr algn="ctr" indent="0" marL="0">
              <a:buNone/>
            </a:pPr>
            <a:r>
              <a:rPr lang="en-US" sz="1500" b="1" dirty="0">
                <a:solidFill>
                  <a:srgbClr val="FFFFFF"/>
                </a:solidFill>
                <a:latin typeface="Pretendard" pitchFamily="34" charset="0"/>
                <a:ea typeface="Pretendard" pitchFamily="34" charset="-122"/>
                <a:cs typeface="Pretendard" pitchFamily="34" charset="-120"/>
              </a:rPr>
              <a:t>똑같음</a:t>
            </a:r>
            <a:endParaRPr lang="en-US" sz="1500" dirty="0"/>
          </a:p>
        </p:txBody>
      </p:sp>
      <p:sp>
        <p:nvSpPr>
          <p:cNvPr id="14" name="Shape 11"/>
          <p:cNvSpPr/>
          <p:nvPr/>
        </p:nvSpPr>
        <p:spPr>
          <a:xfrm>
            <a:off x="509321" y="2212848"/>
            <a:ext cx="1143000" cy="914400"/>
          </a:xfrm>
          <a:prstGeom prst="roundRect">
            <a:avLst>
              <a:gd name="adj" fmla="val 8000"/>
            </a:avLst>
          </a:prstGeom>
          <a:solidFill>
            <a:srgbClr val="1E2A5C"/>
          </a:solidFill>
          <a:ln/>
        </p:spPr>
      </p:sp>
      <p:sp>
        <p:nvSpPr>
          <p:cNvPr id="15" name="Text 12"/>
          <p:cNvSpPr txBox="1"/>
          <p:nvPr/>
        </p:nvSpPr>
        <p:spPr>
          <a:xfrm>
            <a:off x="509321" y="2212848"/>
            <a:ext cx="1143000" cy="91440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벡터DB</a:t>
            </a:r>
            <a:endParaRPr lang="en-US" sz="1600" dirty="0"/>
          </a:p>
          <a:p>
            <a:pPr algn="ctr" indent="0" marL="0">
              <a:buNone/>
            </a:pPr>
            <a:r>
              <a:rPr lang="en-US" sz="1600" b="1" dirty="0">
                <a:solidFill>
                  <a:srgbClr val="FFFFFF"/>
                </a:solidFill>
                <a:latin typeface="Pretendard" pitchFamily="34" charset="0"/>
                <a:ea typeface="Pretendard" pitchFamily="34" charset="-122"/>
                <a:cs typeface="Pretendard" pitchFamily="34" charset="-120"/>
              </a:rPr>
              <a:t>인덱싱</a:t>
            </a:r>
            <a:endParaRPr lang="en-US" sz="1600" dirty="0"/>
          </a:p>
        </p:txBody>
      </p:sp>
      <p:sp>
        <p:nvSpPr>
          <p:cNvPr id="16" name="Shape 13"/>
          <p:cNvSpPr/>
          <p:nvPr/>
        </p:nvSpPr>
        <p:spPr>
          <a:xfrm>
            <a:off x="509321" y="3310128"/>
            <a:ext cx="1143000" cy="1280160"/>
          </a:xfrm>
          <a:prstGeom prst="roundRect">
            <a:avLst>
              <a:gd name="adj" fmla="val 6400"/>
            </a:avLst>
          </a:prstGeom>
          <a:solidFill>
            <a:srgbClr val="2E74C6"/>
          </a:solidFill>
          <a:ln/>
        </p:spPr>
      </p:sp>
      <p:sp>
        <p:nvSpPr>
          <p:cNvPr id="17" name="Text 14"/>
          <p:cNvSpPr txBox="1"/>
          <p:nvPr/>
        </p:nvSpPr>
        <p:spPr>
          <a:xfrm>
            <a:off x="509321" y="3310128"/>
            <a:ext cx="1143000" cy="128016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그래프DB</a:t>
            </a:r>
            <a:endParaRPr lang="en-US" sz="1600" dirty="0"/>
          </a:p>
          <a:p>
            <a:pPr algn="ctr" indent="0" marL="0">
              <a:buNone/>
            </a:pPr>
            <a:r>
              <a:rPr lang="en-US" sz="1600" b="1" dirty="0">
                <a:solidFill>
                  <a:srgbClr val="FFFFFF"/>
                </a:solidFill>
                <a:latin typeface="Pretendard" pitchFamily="34" charset="0"/>
                <a:ea typeface="Pretendard" pitchFamily="34" charset="-122"/>
                <a:cs typeface="Pretendard" pitchFamily="34" charset="-120"/>
              </a:rPr>
              <a:t>인덱싱</a:t>
            </a:r>
            <a:endParaRPr lang="en-US" sz="1600" dirty="0"/>
          </a:p>
        </p:txBody>
      </p:sp>
      <p:sp>
        <p:nvSpPr>
          <p:cNvPr id="18" name="Shape 15"/>
          <p:cNvSpPr/>
          <p:nvPr/>
        </p:nvSpPr>
        <p:spPr>
          <a:xfrm>
            <a:off x="509321" y="5084064"/>
            <a:ext cx="1143000" cy="749808"/>
          </a:xfrm>
          <a:prstGeom prst="roundRect">
            <a:avLst>
              <a:gd name="adj" fmla="val 9756"/>
            </a:avLst>
          </a:prstGeom>
          <a:solidFill>
            <a:srgbClr val="FFFFFF"/>
          </a:solidFill>
          <a:ln w="12700">
            <a:solidFill>
              <a:srgbClr val="C3CEE0"/>
            </a:solidFill>
            <a:prstDash val="solid"/>
          </a:ln>
        </p:spPr>
      </p:sp>
      <p:sp>
        <p:nvSpPr>
          <p:cNvPr id="19" name="Text 16"/>
          <p:cNvSpPr txBox="1"/>
          <p:nvPr/>
        </p:nvSpPr>
        <p:spPr>
          <a:xfrm>
            <a:off x="509321" y="5084064"/>
            <a:ext cx="1143000" cy="749808"/>
          </a:xfrm>
          <a:prstGeom prst="rect">
            <a:avLst/>
          </a:prstGeom>
          <a:noFill/>
          <a:ln/>
        </p:spPr>
        <p:txBody>
          <a:bodyPr wrap="square" lIns="1016" tIns="1016" rIns="1016" bIns="1016" rtlCol="0" anchor="ctr"/>
          <a:lstStyle/>
          <a:p>
            <a:pPr algn="ctr" indent="0" marL="0">
              <a:buNone/>
            </a:pPr>
            <a:r>
              <a:rPr lang="en-US" sz="1500" b="1" dirty="0">
                <a:solidFill>
                  <a:srgbClr val="1E2A5C"/>
                </a:solidFill>
                <a:latin typeface="Pretendard" pitchFamily="34" charset="0"/>
                <a:ea typeface="Pretendard" pitchFamily="34" charset="-122"/>
                <a:cs typeface="Pretendard" pitchFamily="34" charset="-120"/>
              </a:rPr>
              <a:t>나오는 것</a:t>
            </a:r>
            <a:endParaRPr lang="en-US" sz="1500" dirty="0"/>
          </a:p>
        </p:txBody>
      </p:sp>
      <p:sp>
        <p:nvSpPr>
          <p:cNvPr id="20" name="Shape 17"/>
          <p:cNvSpPr/>
          <p:nvPr/>
        </p:nvSpPr>
        <p:spPr>
          <a:xfrm>
            <a:off x="1789481" y="2212848"/>
            <a:ext cx="1144016" cy="914400"/>
          </a:xfrm>
          <a:prstGeom prst="roundRect">
            <a:avLst>
              <a:gd name="adj" fmla="val 8000"/>
            </a:avLst>
          </a:prstGeom>
          <a:solidFill>
            <a:srgbClr val="FFFFFF"/>
          </a:solidFill>
          <a:ln w="15875">
            <a:solidFill>
              <a:srgbClr val="1E2A5C"/>
            </a:solidFill>
            <a:prstDash val="solid"/>
          </a:ln>
        </p:spPr>
      </p:sp>
      <p:sp>
        <p:nvSpPr>
          <p:cNvPr id="21" name="Text 18"/>
          <p:cNvSpPr txBox="1"/>
          <p:nvPr/>
        </p:nvSpPr>
        <p:spPr>
          <a:xfrm>
            <a:off x="1789481" y="2212848"/>
            <a:ext cx="1144016" cy="914400"/>
          </a:xfrm>
          <a:prstGeom prst="rect">
            <a:avLst/>
          </a:prstGeom>
          <a:noFill/>
          <a:ln/>
        </p:spPr>
        <p:txBody>
          <a:bodyPr wrap="square" lIns="508" tIns="508" rIns="508" bIns="508" rtlCol="0" anchor="ctr"/>
          <a:lstStyle/>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로드</a:t>
            </a:r>
            <a:endParaRPr lang="en-US" sz="1700" dirty="0"/>
          </a:p>
          <a:p>
            <a:pPr algn="ctr" indent="0" marL="0">
              <a:spcAft>
                <a:spcPts val="200"/>
              </a:spcAft>
              <a:buNone/>
            </a:pPr>
            <a:r>
              <a:rPr lang="en-US" sz="1400" dirty="0">
                <a:solidFill>
                  <a:srgbClr val="4A5364"/>
                </a:solidFill>
                <a:latin typeface="Pretendard" pitchFamily="34" charset="0"/>
                <a:ea typeface="Pretendard" pitchFamily="34" charset="-122"/>
                <a:cs typeface="Pretendard" pitchFamily="34" charset="-120"/>
              </a:rPr>
              <a:t>원본 읽기</a:t>
            </a:r>
            <a:endParaRPr lang="en-US" sz="1700" dirty="0"/>
          </a:p>
        </p:txBody>
      </p:sp>
      <p:sp>
        <p:nvSpPr>
          <p:cNvPr id="22" name="Shape 19"/>
          <p:cNvSpPr/>
          <p:nvPr/>
        </p:nvSpPr>
        <p:spPr>
          <a:xfrm>
            <a:off x="3189529" y="2212848"/>
            <a:ext cx="1144016" cy="914400"/>
          </a:xfrm>
          <a:prstGeom prst="roundRect">
            <a:avLst>
              <a:gd name="adj" fmla="val 8000"/>
            </a:avLst>
          </a:prstGeom>
          <a:solidFill>
            <a:srgbClr val="FFFFFF"/>
          </a:solidFill>
          <a:ln w="15875">
            <a:solidFill>
              <a:srgbClr val="1E2A5C"/>
            </a:solidFill>
            <a:prstDash val="solid"/>
          </a:ln>
        </p:spPr>
      </p:sp>
      <p:sp>
        <p:nvSpPr>
          <p:cNvPr id="23" name="Text 20"/>
          <p:cNvSpPr txBox="1"/>
          <p:nvPr/>
        </p:nvSpPr>
        <p:spPr>
          <a:xfrm>
            <a:off x="3189529" y="2212848"/>
            <a:ext cx="1144016" cy="914400"/>
          </a:xfrm>
          <a:prstGeom prst="rect">
            <a:avLst/>
          </a:prstGeom>
          <a:noFill/>
          <a:ln/>
        </p:spPr>
        <p:txBody>
          <a:bodyPr wrap="square" lIns="508" tIns="508" rIns="508" bIns="508" rtlCol="0" anchor="ctr"/>
          <a:lstStyle/>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정제·</a:t>
            </a:r>
            <a:endParaRPr lang="en-US" sz="1700" dirty="0"/>
          </a:p>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가명처리</a:t>
            </a:r>
            <a:endParaRPr lang="en-US" sz="1700" dirty="0"/>
          </a:p>
          <a:p>
            <a:pPr algn="ctr" indent="0" marL="0">
              <a:spcAft>
                <a:spcPts val="200"/>
              </a:spcAft>
              <a:buNone/>
            </a:pPr>
            <a:r>
              <a:rPr lang="en-US" sz="1400" dirty="0">
                <a:solidFill>
                  <a:srgbClr val="4A5364"/>
                </a:solidFill>
                <a:latin typeface="Pretendard" pitchFamily="34" charset="0"/>
                <a:ea typeface="Pretendard" pitchFamily="34" charset="-122"/>
                <a:cs typeface="Pretendard" pitchFamily="34" charset="-120"/>
              </a:rPr>
              <a:t>실명 → 가명</a:t>
            </a:r>
            <a:endParaRPr lang="en-US" sz="1700" dirty="0"/>
          </a:p>
        </p:txBody>
      </p:sp>
      <p:sp>
        <p:nvSpPr>
          <p:cNvPr id="24" name="Shape 21"/>
          <p:cNvSpPr/>
          <p:nvPr/>
        </p:nvSpPr>
        <p:spPr>
          <a:xfrm>
            <a:off x="2960929" y="2670048"/>
            <a:ext cx="201168" cy="0"/>
          </a:xfrm>
          <a:prstGeom prst="line">
            <a:avLst/>
          </a:prstGeom>
          <a:noFill/>
          <a:ln w="22225">
            <a:solidFill>
              <a:srgbClr val="4A5364"/>
            </a:solidFill>
            <a:prstDash val="solid"/>
            <a:tailEnd type="triangle"/>
          </a:ln>
        </p:spPr>
      </p:sp>
      <p:sp>
        <p:nvSpPr>
          <p:cNvPr id="25" name="Shape 22"/>
          <p:cNvSpPr/>
          <p:nvPr/>
        </p:nvSpPr>
        <p:spPr>
          <a:xfrm>
            <a:off x="4589577" y="2212848"/>
            <a:ext cx="1144016" cy="914400"/>
          </a:xfrm>
          <a:prstGeom prst="roundRect">
            <a:avLst>
              <a:gd name="adj" fmla="val 8000"/>
            </a:avLst>
          </a:prstGeom>
          <a:solidFill>
            <a:srgbClr val="FFFFFF"/>
          </a:solidFill>
          <a:ln w="15875">
            <a:solidFill>
              <a:srgbClr val="1E2A5C"/>
            </a:solidFill>
            <a:prstDash val="solid"/>
          </a:ln>
        </p:spPr>
      </p:sp>
      <p:sp>
        <p:nvSpPr>
          <p:cNvPr id="26" name="Text 23"/>
          <p:cNvSpPr txBox="1"/>
          <p:nvPr/>
        </p:nvSpPr>
        <p:spPr>
          <a:xfrm>
            <a:off x="4589577" y="2212848"/>
            <a:ext cx="1144016" cy="914400"/>
          </a:xfrm>
          <a:prstGeom prst="rect">
            <a:avLst/>
          </a:prstGeom>
          <a:noFill/>
          <a:ln/>
        </p:spPr>
        <p:txBody>
          <a:bodyPr wrap="square" lIns="508" tIns="508" rIns="508" bIns="508" rtlCol="0" anchor="ctr"/>
          <a:lstStyle/>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청킹</a:t>
            </a:r>
            <a:endParaRPr lang="en-US" sz="1700" dirty="0"/>
          </a:p>
          <a:p>
            <a:pPr algn="ctr" indent="0" marL="0">
              <a:spcAft>
                <a:spcPts val="200"/>
              </a:spcAft>
              <a:buNone/>
            </a:pPr>
            <a:r>
              <a:rPr lang="en-US" sz="1400" dirty="0">
                <a:solidFill>
                  <a:srgbClr val="4A5364"/>
                </a:solidFill>
                <a:latin typeface="Pretendard" pitchFamily="34" charset="0"/>
                <a:ea typeface="Pretendard" pitchFamily="34" charset="-122"/>
                <a:cs typeface="Pretendard" pitchFamily="34" charset="-120"/>
              </a:rPr>
              <a:t>글 자르기</a:t>
            </a:r>
            <a:endParaRPr lang="en-US" sz="1700" dirty="0"/>
          </a:p>
        </p:txBody>
      </p:sp>
      <p:sp>
        <p:nvSpPr>
          <p:cNvPr id="27" name="Shape 24"/>
          <p:cNvSpPr/>
          <p:nvPr/>
        </p:nvSpPr>
        <p:spPr>
          <a:xfrm>
            <a:off x="4360977" y="2670048"/>
            <a:ext cx="201168" cy="0"/>
          </a:xfrm>
          <a:prstGeom prst="line">
            <a:avLst/>
          </a:prstGeom>
          <a:noFill/>
          <a:ln w="22225">
            <a:solidFill>
              <a:srgbClr val="4A5364"/>
            </a:solidFill>
            <a:prstDash val="solid"/>
            <a:tailEnd type="triangle"/>
          </a:ln>
        </p:spPr>
      </p:sp>
      <p:sp>
        <p:nvSpPr>
          <p:cNvPr id="28" name="Shape 25"/>
          <p:cNvSpPr/>
          <p:nvPr/>
        </p:nvSpPr>
        <p:spPr>
          <a:xfrm>
            <a:off x="11589817" y="2212848"/>
            <a:ext cx="1144016" cy="914400"/>
          </a:xfrm>
          <a:prstGeom prst="roundRect">
            <a:avLst>
              <a:gd name="adj" fmla="val 8000"/>
            </a:avLst>
          </a:prstGeom>
          <a:solidFill>
            <a:srgbClr val="FFFFFF"/>
          </a:solidFill>
          <a:ln w="15875">
            <a:solidFill>
              <a:srgbClr val="1E2A5C"/>
            </a:solidFill>
            <a:prstDash val="solid"/>
          </a:ln>
        </p:spPr>
      </p:sp>
      <p:sp>
        <p:nvSpPr>
          <p:cNvPr id="29" name="Text 26"/>
          <p:cNvSpPr txBox="1"/>
          <p:nvPr/>
        </p:nvSpPr>
        <p:spPr>
          <a:xfrm>
            <a:off x="11589817" y="2212848"/>
            <a:ext cx="1144016" cy="914400"/>
          </a:xfrm>
          <a:prstGeom prst="rect">
            <a:avLst/>
          </a:prstGeom>
          <a:noFill/>
          <a:ln/>
        </p:spPr>
        <p:txBody>
          <a:bodyPr wrap="square" lIns="508" tIns="508" rIns="508" bIns="508" rtlCol="0" anchor="ctr"/>
          <a:lstStyle/>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임베딩</a:t>
            </a:r>
            <a:endParaRPr lang="en-US" sz="1700" dirty="0"/>
          </a:p>
          <a:p>
            <a:pPr algn="ctr" indent="0" marL="0">
              <a:spcAft>
                <a:spcPts val="200"/>
              </a:spcAft>
              <a:buNone/>
            </a:pPr>
            <a:r>
              <a:rPr lang="en-US" sz="1400" dirty="0">
                <a:solidFill>
                  <a:srgbClr val="4A5364"/>
                </a:solidFill>
                <a:latin typeface="Pretendard" pitchFamily="34" charset="0"/>
                <a:ea typeface="Pretendard" pitchFamily="34" charset="-122"/>
                <a:cs typeface="Pretendard" pitchFamily="34" charset="-120"/>
              </a:rPr>
              <a:t>청크 → 벡터</a:t>
            </a:r>
            <a:endParaRPr lang="en-US" sz="1700" dirty="0"/>
          </a:p>
        </p:txBody>
      </p:sp>
      <p:sp>
        <p:nvSpPr>
          <p:cNvPr id="30" name="Shape 27"/>
          <p:cNvSpPr/>
          <p:nvPr/>
        </p:nvSpPr>
        <p:spPr>
          <a:xfrm>
            <a:off x="5761025" y="2670048"/>
            <a:ext cx="5801360" cy="0"/>
          </a:xfrm>
          <a:prstGeom prst="line">
            <a:avLst/>
          </a:prstGeom>
          <a:noFill/>
          <a:ln w="22225">
            <a:solidFill>
              <a:srgbClr val="4A5364"/>
            </a:solidFill>
            <a:prstDash val="solid"/>
            <a:tailEnd type="triangle"/>
          </a:ln>
        </p:spPr>
      </p:sp>
      <p:sp>
        <p:nvSpPr>
          <p:cNvPr id="31" name="Shape 28"/>
          <p:cNvSpPr/>
          <p:nvPr/>
        </p:nvSpPr>
        <p:spPr>
          <a:xfrm>
            <a:off x="12989865" y="2212848"/>
            <a:ext cx="1144016" cy="914400"/>
          </a:xfrm>
          <a:prstGeom prst="roundRect">
            <a:avLst>
              <a:gd name="adj" fmla="val 8000"/>
            </a:avLst>
          </a:prstGeom>
          <a:solidFill>
            <a:srgbClr val="FFFFFF"/>
          </a:solidFill>
          <a:ln w="15875">
            <a:solidFill>
              <a:srgbClr val="1E2A5C"/>
            </a:solidFill>
            <a:prstDash val="solid"/>
          </a:ln>
        </p:spPr>
      </p:sp>
      <p:sp>
        <p:nvSpPr>
          <p:cNvPr id="32" name="Text 29"/>
          <p:cNvSpPr txBox="1"/>
          <p:nvPr/>
        </p:nvSpPr>
        <p:spPr>
          <a:xfrm>
            <a:off x="12989865" y="2212848"/>
            <a:ext cx="1144016" cy="914400"/>
          </a:xfrm>
          <a:prstGeom prst="rect">
            <a:avLst/>
          </a:prstGeom>
          <a:noFill/>
          <a:ln/>
        </p:spPr>
        <p:txBody>
          <a:bodyPr wrap="square" lIns="508" tIns="508" rIns="508" bIns="508" rtlCol="0" anchor="ctr"/>
          <a:lstStyle/>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적재</a:t>
            </a:r>
            <a:endParaRPr lang="en-US" sz="1700" dirty="0"/>
          </a:p>
          <a:p>
            <a:pPr algn="ctr" indent="0" marL="0">
              <a:spcAft>
                <a:spcPts val="200"/>
              </a:spcAft>
              <a:buNone/>
            </a:pPr>
            <a:r>
              <a:rPr lang="en-US" sz="1400" dirty="0">
                <a:solidFill>
                  <a:srgbClr val="4A5364"/>
                </a:solidFill>
                <a:latin typeface="Pretendard" pitchFamily="34" charset="0"/>
                <a:ea typeface="Pretendard" pitchFamily="34" charset="-122"/>
                <a:cs typeface="Pretendard" pitchFamily="34" charset="-120"/>
              </a:rPr>
              <a:t>벡터DB로</a:t>
            </a:r>
            <a:endParaRPr lang="en-US" sz="1700" dirty="0"/>
          </a:p>
        </p:txBody>
      </p:sp>
      <p:sp>
        <p:nvSpPr>
          <p:cNvPr id="33" name="Shape 30"/>
          <p:cNvSpPr/>
          <p:nvPr/>
        </p:nvSpPr>
        <p:spPr>
          <a:xfrm>
            <a:off x="12761265" y="2670048"/>
            <a:ext cx="201168" cy="0"/>
          </a:xfrm>
          <a:prstGeom prst="line">
            <a:avLst/>
          </a:prstGeom>
          <a:noFill/>
          <a:ln w="22225">
            <a:solidFill>
              <a:srgbClr val="4A5364"/>
            </a:solidFill>
            <a:prstDash val="solid"/>
            <a:tailEnd type="triangle"/>
          </a:ln>
        </p:spPr>
      </p:sp>
      <p:sp>
        <p:nvSpPr>
          <p:cNvPr id="34" name="Shape 31"/>
          <p:cNvSpPr/>
          <p:nvPr/>
        </p:nvSpPr>
        <p:spPr>
          <a:xfrm>
            <a:off x="7198665" y="2487168"/>
            <a:ext cx="2926080" cy="365760"/>
          </a:xfrm>
          <a:prstGeom prst="roundRect">
            <a:avLst>
              <a:gd name="adj" fmla="val 45000"/>
            </a:avLst>
          </a:prstGeom>
          <a:solidFill>
            <a:srgbClr val="FFFFFF"/>
          </a:solidFill>
          <a:ln w="12700">
            <a:solidFill>
              <a:srgbClr val="C3CEE0"/>
            </a:solidFill>
            <a:prstDash val="solid"/>
          </a:ln>
        </p:spPr>
      </p:sp>
      <p:sp>
        <p:nvSpPr>
          <p:cNvPr id="35" name="Text 32"/>
          <p:cNvSpPr txBox="1"/>
          <p:nvPr/>
        </p:nvSpPr>
        <p:spPr>
          <a:xfrm>
            <a:off x="7198665" y="2487168"/>
            <a:ext cx="2926080" cy="365760"/>
          </a:xfrm>
          <a:prstGeom prst="rect">
            <a:avLst/>
          </a:prstGeom>
          <a:noFill/>
          <a:ln/>
        </p:spPr>
        <p:txBody>
          <a:bodyPr wrap="square" lIns="1016" tIns="1016" rIns="1016" bIns="1016" rtlCol="0" anchor="ctr"/>
          <a:lstStyle/>
          <a:p>
            <a:pPr algn="ctr" indent="0" marL="0">
              <a:buNone/>
            </a:pPr>
            <a:r>
              <a:rPr lang="en-US" sz="1400" dirty="0">
                <a:solidFill>
                  <a:srgbClr val="4A5364"/>
                </a:solidFill>
                <a:latin typeface="Pretendard" pitchFamily="34" charset="0"/>
                <a:ea typeface="Pretendard" pitchFamily="34" charset="-122"/>
                <a:cs typeface="Pretendard" pitchFamily="34" charset="-120"/>
              </a:rPr>
              <a:t>그래프 단계 없이 바로 임베딩</a:t>
            </a:r>
            <a:endParaRPr lang="en-US" sz="1400" dirty="0"/>
          </a:p>
        </p:txBody>
      </p:sp>
      <p:sp>
        <p:nvSpPr>
          <p:cNvPr id="36" name="Shape 33"/>
          <p:cNvSpPr/>
          <p:nvPr/>
        </p:nvSpPr>
        <p:spPr>
          <a:xfrm>
            <a:off x="1789481" y="3310128"/>
            <a:ext cx="1144016" cy="1280160"/>
          </a:xfrm>
          <a:prstGeom prst="roundRect">
            <a:avLst>
              <a:gd name="adj" fmla="val 6394"/>
            </a:avLst>
          </a:prstGeom>
          <a:solidFill>
            <a:srgbClr val="EEF3FA"/>
          </a:solidFill>
          <a:ln w="19050">
            <a:solidFill>
              <a:srgbClr val="2E74C6"/>
            </a:solidFill>
            <a:prstDash val="solid"/>
          </a:ln>
        </p:spPr>
      </p:sp>
      <p:sp>
        <p:nvSpPr>
          <p:cNvPr id="37" name="Shape 34"/>
          <p:cNvSpPr/>
          <p:nvPr/>
        </p:nvSpPr>
        <p:spPr>
          <a:xfrm>
            <a:off x="1880921" y="3401568"/>
            <a:ext cx="347472" cy="347472"/>
          </a:xfrm>
          <a:prstGeom prst="roundRect">
            <a:avLst>
              <a:gd name="adj" fmla="val 13158"/>
            </a:avLst>
          </a:prstGeom>
          <a:solidFill>
            <a:srgbClr val="2E74C6"/>
          </a:solidFill>
          <a:ln/>
        </p:spPr>
      </p:sp>
      <p:sp>
        <p:nvSpPr>
          <p:cNvPr id="38" name="Text 35"/>
          <p:cNvSpPr txBox="1"/>
          <p:nvPr/>
        </p:nvSpPr>
        <p:spPr>
          <a:xfrm>
            <a:off x="1880921" y="3401568"/>
            <a:ext cx="347472" cy="347472"/>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1</a:t>
            </a:r>
            <a:endParaRPr lang="en-US" sz="1600" dirty="0"/>
          </a:p>
        </p:txBody>
      </p:sp>
      <p:sp>
        <p:nvSpPr>
          <p:cNvPr id="39" name="Text 36"/>
          <p:cNvSpPr txBox="1"/>
          <p:nvPr/>
        </p:nvSpPr>
        <p:spPr>
          <a:xfrm>
            <a:off x="1789481" y="3730752"/>
            <a:ext cx="1144016" cy="804672"/>
          </a:xfrm>
          <a:prstGeom prst="rect">
            <a:avLst/>
          </a:prstGeom>
          <a:noFill/>
          <a:ln/>
        </p:spPr>
        <p:txBody>
          <a:bodyPr wrap="square" lIns="381" tIns="381" rIns="381" bIns="381" rtlCol="0" anchor="ctr"/>
          <a:lstStyle/>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로드</a:t>
            </a:r>
            <a:endParaRPr lang="en-US" sz="1700" dirty="0"/>
          </a:p>
          <a:p>
            <a:pPr algn="ctr" indent="0" marL="0">
              <a:spcAft>
                <a:spcPts val="200"/>
              </a:spcAft>
              <a:buNone/>
            </a:pPr>
            <a:r>
              <a:rPr lang="en-US" sz="1400" dirty="0">
                <a:solidFill>
                  <a:srgbClr val="4A5364"/>
                </a:solidFill>
                <a:latin typeface="Pretendard" pitchFamily="34" charset="0"/>
                <a:ea typeface="Pretendard" pitchFamily="34" charset="-122"/>
                <a:cs typeface="Pretendard" pitchFamily="34" charset="-120"/>
              </a:rPr>
              <a:t>원본 읽기</a:t>
            </a:r>
            <a:endParaRPr lang="en-US" sz="1700" dirty="0"/>
          </a:p>
        </p:txBody>
      </p:sp>
      <p:sp>
        <p:nvSpPr>
          <p:cNvPr id="40" name="Shape 37"/>
          <p:cNvSpPr/>
          <p:nvPr/>
        </p:nvSpPr>
        <p:spPr>
          <a:xfrm>
            <a:off x="3189529" y="3310128"/>
            <a:ext cx="1144016" cy="1280160"/>
          </a:xfrm>
          <a:prstGeom prst="roundRect">
            <a:avLst>
              <a:gd name="adj" fmla="val 6394"/>
            </a:avLst>
          </a:prstGeom>
          <a:solidFill>
            <a:srgbClr val="EEF3FA"/>
          </a:solidFill>
          <a:ln w="19050">
            <a:solidFill>
              <a:srgbClr val="2E74C6"/>
            </a:solidFill>
            <a:prstDash val="solid"/>
          </a:ln>
        </p:spPr>
      </p:sp>
      <p:sp>
        <p:nvSpPr>
          <p:cNvPr id="41" name="Shape 38"/>
          <p:cNvSpPr/>
          <p:nvPr/>
        </p:nvSpPr>
        <p:spPr>
          <a:xfrm>
            <a:off x="3280969" y="3401568"/>
            <a:ext cx="347472" cy="347472"/>
          </a:xfrm>
          <a:prstGeom prst="roundRect">
            <a:avLst>
              <a:gd name="adj" fmla="val 13158"/>
            </a:avLst>
          </a:prstGeom>
          <a:solidFill>
            <a:srgbClr val="2E74C6"/>
          </a:solidFill>
          <a:ln/>
        </p:spPr>
      </p:sp>
      <p:sp>
        <p:nvSpPr>
          <p:cNvPr id="42" name="Text 39"/>
          <p:cNvSpPr txBox="1"/>
          <p:nvPr/>
        </p:nvSpPr>
        <p:spPr>
          <a:xfrm>
            <a:off x="3280969" y="3401568"/>
            <a:ext cx="347472" cy="347472"/>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2</a:t>
            </a:r>
            <a:endParaRPr lang="en-US" sz="1600" dirty="0"/>
          </a:p>
        </p:txBody>
      </p:sp>
      <p:sp>
        <p:nvSpPr>
          <p:cNvPr id="43" name="Text 40"/>
          <p:cNvSpPr txBox="1"/>
          <p:nvPr/>
        </p:nvSpPr>
        <p:spPr>
          <a:xfrm>
            <a:off x="3189529" y="3730752"/>
            <a:ext cx="1144016" cy="804672"/>
          </a:xfrm>
          <a:prstGeom prst="rect">
            <a:avLst/>
          </a:prstGeom>
          <a:noFill/>
          <a:ln/>
        </p:spPr>
        <p:txBody>
          <a:bodyPr wrap="square" lIns="381" tIns="381" rIns="381" bIns="381" rtlCol="0" anchor="ctr"/>
          <a:lstStyle/>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정제·</a:t>
            </a:r>
            <a:endParaRPr lang="en-US" sz="1700" dirty="0"/>
          </a:p>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가명처리</a:t>
            </a:r>
            <a:endParaRPr lang="en-US" sz="1700" dirty="0"/>
          </a:p>
          <a:p>
            <a:pPr algn="ctr" indent="0" marL="0">
              <a:spcAft>
                <a:spcPts val="200"/>
              </a:spcAft>
              <a:buNone/>
            </a:pPr>
            <a:r>
              <a:rPr lang="en-US" sz="1400" dirty="0">
                <a:solidFill>
                  <a:srgbClr val="4A5364"/>
                </a:solidFill>
                <a:latin typeface="Pretendard" pitchFamily="34" charset="0"/>
                <a:ea typeface="Pretendard" pitchFamily="34" charset="-122"/>
                <a:cs typeface="Pretendard" pitchFamily="34" charset="-120"/>
              </a:rPr>
              <a:t>실명 → 가명</a:t>
            </a:r>
            <a:endParaRPr lang="en-US" sz="1700" dirty="0"/>
          </a:p>
        </p:txBody>
      </p:sp>
      <p:sp>
        <p:nvSpPr>
          <p:cNvPr id="44" name="Shape 41"/>
          <p:cNvSpPr/>
          <p:nvPr/>
        </p:nvSpPr>
        <p:spPr>
          <a:xfrm>
            <a:off x="2960929" y="3950208"/>
            <a:ext cx="201168" cy="0"/>
          </a:xfrm>
          <a:prstGeom prst="line">
            <a:avLst/>
          </a:prstGeom>
          <a:noFill/>
          <a:ln w="22225">
            <a:solidFill>
              <a:srgbClr val="4A5364"/>
            </a:solidFill>
            <a:prstDash val="solid"/>
            <a:tailEnd type="triangle"/>
          </a:ln>
        </p:spPr>
      </p:sp>
      <p:sp>
        <p:nvSpPr>
          <p:cNvPr id="45" name="Shape 42"/>
          <p:cNvSpPr/>
          <p:nvPr/>
        </p:nvSpPr>
        <p:spPr>
          <a:xfrm>
            <a:off x="4589577" y="3310128"/>
            <a:ext cx="1144016" cy="1280160"/>
          </a:xfrm>
          <a:prstGeom prst="roundRect">
            <a:avLst>
              <a:gd name="adj" fmla="val 6394"/>
            </a:avLst>
          </a:prstGeom>
          <a:solidFill>
            <a:srgbClr val="EEF3FA"/>
          </a:solidFill>
          <a:ln w="19050">
            <a:solidFill>
              <a:srgbClr val="2E74C6"/>
            </a:solidFill>
            <a:prstDash val="solid"/>
          </a:ln>
        </p:spPr>
      </p:sp>
      <p:sp>
        <p:nvSpPr>
          <p:cNvPr id="46" name="Shape 43"/>
          <p:cNvSpPr/>
          <p:nvPr/>
        </p:nvSpPr>
        <p:spPr>
          <a:xfrm>
            <a:off x="4681017" y="3401568"/>
            <a:ext cx="347472" cy="347472"/>
          </a:xfrm>
          <a:prstGeom prst="roundRect">
            <a:avLst>
              <a:gd name="adj" fmla="val 13158"/>
            </a:avLst>
          </a:prstGeom>
          <a:solidFill>
            <a:srgbClr val="2E74C6"/>
          </a:solidFill>
          <a:ln/>
        </p:spPr>
      </p:sp>
      <p:sp>
        <p:nvSpPr>
          <p:cNvPr id="47" name="Text 44"/>
          <p:cNvSpPr txBox="1"/>
          <p:nvPr/>
        </p:nvSpPr>
        <p:spPr>
          <a:xfrm>
            <a:off x="4681017" y="3401568"/>
            <a:ext cx="347472" cy="347472"/>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3</a:t>
            </a:r>
            <a:endParaRPr lang="en-US" sz="1600" dirty="0"/>
          </a:p>
        </p:txBody>
      </p:sp>
      <p:sp>
        <p:nvSpPr>
          <p:cNvPr id="48" name="Text 45"/>
          <p:cNvSpPr txBox="1"/>
          <p:nvPr/>
        </p:nvSpPr>
        <p:spPr>
          <a:xfrm>
            <a:off x="4589577" y="3730752"/>
            <a:ext cx="1144016" cy="804672"/>
          </a:xfrm>
          <a:prstGeom prst="rect">
            <a:avLst/>
          </a:prstGeom>
          <a:noFill/>
          <a:ln/>
        </p:spPr>
        <p:txBody>
          <a:bodyPr wrap="square" lIns="381" tIns="381" rIns="381" bIns="381" rtlCol="0" anchor="ctr"/>
          <a:lstStyle/>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청킹</a:t>
            </a:r>
            <a:endParaRPr lang="en-US" sz="1700" dirty="0"/>
          </a:p>
          <a:p>
            <a:pPr algn="ctr" indent="0" marL="0">
              <a:spcAft>
                <a:spcPts val="200"/>
              </a:spcAft>
              <a:buNone/>
            </a:pPr>
            <a:r>
              <a:rPr lang="en-US" sz="1400" dirty="0">
                <a:solidFill>
                  <a:srgbClr val="4A5364"/>
                </a:solidFill>
                <a:latin typeface="Pretendard" pitchFamily="34" charset="0"/>
                <a:ea typeface="Pretendard" pitchFamily="34" charset="-122"/>
                <a:cs typeface="Pretendard" pitchFamily="34" charset="-120"/>
              </a:rPr>
              <a:t>글 자르기</a:t>
            </a:r>
            <a:endParaRPr lang="en-US" sz="1700" dirty="0"/>
          </a:p>
        </p:txBody>
      </p:sp>
      <p:sp>
        <p:nvSpPr>
          <p:cNvPr id="49" name="Shape 46"/>
          <p:cNvSpPr/>
          <p:nvPr/>
        </p:nvSpPr>
        <p:spPr>
          <a:xfrm>
            <a:off x="4360977" y="3950208"/>
            <a:ext cx="201168" cy="0"/>
          </a:xfrm>
          <a:prstGeom prst="line">
            <a:avLst/>
          </a:prstGeom>
          <a:noFill/>
          <a:ln w="22225">
            <a:solidFill>
              <a:srgbClr val="4A5364"/>
            </a:solidFill>
            <a:prstDash val="solid"/>
            <a:tailEnd type="triangle"/>
          </a:ln>
        </p:spPr>
      </p:sp>
      <p:sp>
        <p:nvSpPr>
          <p:cNvPr id="50" name="Shape 47"/>
          <p:cNvSpPr/>
          <p:nvPr/>
        </p:nvSpPr>
        <p:spPr>
          <a:xfrm>
            <a:off x="5989625" y="3310128"/>
            <a:ext cx="1144016" cy="1280160"/>
          </a:xfrm>
          <a:prstGeom prst="roundRect">
            <a:avLst>
              <a:gd name="adj" fmla="val 6394"/>
            </a:avLst>
          </a:prstGeom>
          <a:solidFill>
            <a:srgbClr val="EEF3FA"/>
          </a:solidFill>
          <a:ln w="19050">
            <a:solidFill>
              <a:srgbClr val="2E74C6"/>
            </a:solidFill>
            <a:prstDash val="solid"/>
          </a:ln>
        </p:spPr>
      </p:sp>
      <p:sp>
        <p:nvSpPr>
          <p:cNvPr id="51" name="Shape 48"/>
          <p:cNvSpPr/>
          <p:nvPr/>
        </p:nvSpPr>
        <p:spPr>
          <a:xfrm>
            <a:off x="6081065" y="3401568"/>
            <a:ext cx="347472" cy="347472"/>
          </a:xfrm>
          <a:prstGeom prst="roundRect">
            <a:avLst>
              <a:gd name="adj" fmla="val 13158"/>
            </a:avLst>
          </a:prstGeom>
          <a:solidFill>
            <a:srgbClr val="2E74C6"/>
          </a:solidFill>
          <a:ln/>
        </p:spPr>
      </p:sp>
      <p:sp>
        <p:nvSpPr>
          <p:cNvPr id="52" name="Text 49"/>
          <p:cNvSpPr txBox="1"/>
          <p:nvPr/>
        </p:nvSpPr>
        <p:spPr>
          <a:xfrm>
            <a:off x="6081065" y="3401568"/>
            <a:ext cx="347472" cy="347472"/>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4</a:t>
            </a:r>
            <a:endParaRPr lang="en-US" sz="1600" dirty="0"/>
          </a:p>
        </p:txBody>
      </p:sp>
      <p:sp>
        <p:nvSpPr>
          <p:cNvPr id="53" name="Text 50"/>
          <p:cNvSpPr txBox="1"/>
          <p:nvPr/>
        </p:nvSpPr>
        <p:spPr>
          <a:xfrm>
            <a:off x="5989625" y="3730752"/>
            <a:ext cx="1144016" cy="804672"/>
          </a:xfrm>
          <a:prstGeom prst="rect">
            <a:avLst/>
          </a:prstGeom>
          <a:noFill/>
          <a:ln/>
        </p:spPr>
        <p:txBody>
          <a:bodyPr wrap="square" lIns="381" tIns="381" rIns="381" bIns="381" rtlCol="0" anchor="ctr"/>
          <a:lstStyle/>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엔티티·관계</a:t>
            </a:r>
            <a:endParaRPr lang="en-US" sz="1700" dirty="0"/>
          </a:p>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추출</a:t>
            </a:r>
            <a:endParaRPr lang="en-US" sz="1700" dirty="0"/>
          </a:p>
        </p:txBody>
      </p:sp>
      <p:sp>
        <p:nvSpPr>
          <p:cNvPr id="54" name="Shape 51"/>
          <p:cNvSpPr/>
          <p:nvPr/>
        </p:nvSpPr>
        <p:spPr>
          <a:xfrm>
            <a:off x="5761025" y="3950208"/>
            <a:ext cx="201168" cy="0"/>
          </a:xfrm>
          <a:prstGeom prst="line">
            <a:avLst/>
          </a:prstGeom>
          <a:noFill/>
          <a:ln w="22225">
            <a:solidFill>
              <a:srgbClr val="4A5364"/>
            </a:solidFill>
            <a:prstDash val="solid"/>
            <a:tailEnd type="triangle"/>
          </a:ln>
        </p:spPr>
      </p:sp>
      <p:sp>
        <p:nvSpPr>
          <p:cNvPr id="55" name="Shape 52"/>
          <p:cNvSpPr/>
          <p:nvPr/>
        </p:nvSpPr>
        <p:spPr>
          <a:xfrm>
            <a:off x="7389673" y="3310128"/>
            <a:ext cx="1144016" cy="1280160"/>
          </a:xfrm>
          <a:prstGeom prst="roundRect">
            <a:avLst>
              <a:gd name="adj" fmla="val 6394"/>
            </a:avLst>
          </a:prstGeom>
          <a:solidFill>
            <a:srgbClr val="FFFFFF"/>
          </a:solidFill>
          <a:ln w="19050">
            <a:solidFill>
              <a:srgbClr val="2E74C6"/>
            </a:solidFill>
            <a:prstDash val="dash"/>
          </a:ln>
        </p:spPr>
      </p:sp>
      <p:sp>
        <p:nvSpPr>
          <p:cNvPr id="56" name="Shape 53"/>
          <p:cNvSpPr/>
          <p:nvPr/>
        </p:nvSpPr>
        <p:spPr>
          <a:xfrm>
            <a:off x="7481113" y="3401568"/>
            <a:ext cx="585216" cy="310896"/>
          </a:xfrm>
          <a:prstGeom prst="roundRect">
            <a:avLst>
              <a:gd name="adj" fmla="val 45000"/>
            </a:avLst>
          </a:prstGeom>
          <a:solidFill>
            <a:srgbClr val="FFFFFF"/>
          </a:solidFill>
          <a:ln w="12700">
            <a:solidFill>
              <a:srgbClr val="2E74C6"/>
            </a:solidFill>
            <a:prstDash val="solid"/>
          </a:ln>
        </p:spPr>
      </p:sp>
      <p:sp>
        <p:nvSpPr>
          <p:cNvPr id="57" name="Text 54"/>
          <p:cNvSpPr txBox="1"/>
          <p:nvPr/>
        </p:nvSpPr>
        <p:spPr>
          <a:xfrm>
            <a:off x="7481113" y="3401568"/>
            <a:ext cx="585216" cy="310896"/>
          </a:xfrm>
          <a:prstGeom prst="rect">
            <a:avLst/>
          </a:prstGeom>
          <a:noFill/>
          <a:ln/>
        </p:spPr>
        <p:txBody>
          <a:bodyPr wrap="square" lIns="1016" tIns="1016" rIns="1016" bIns="1016" rtlCol="0" anchor="ct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보강</a:t>
            </a:r>
            <a:endParaRPr lang="en-US" sz="1400" dirty="0"/>
          </a:p>
        </p:txBody>
      </p:sp>
      <p:sp>
        <p:nvSpPr>
          <p:cNvPr id="58" name="Text 55"/>
          <p:cNvSpPr txBox="1"/>
          <p:nvPr/>
        </p:nvSpPr>
        <p:spPr>
          <a:xfrm>
            <a:off x="7389673" y="3730752"/>
            <a:ext cx="1144016" cy="804672"/>
          </a:xfrm>
          <a:prstGeom prst="rect">
            <a:avLst/>
          </a:prstGeom>
          <a:noFill/>
          <a:ln/>
        </p:spPr>
        <p:txBody>
          <a:bodyPr wrap="square" lIns="381" tIns="381" rIns="381" bIns="381" rtlCol="0" anchor="ctr"/>
          <a:lstStyle/>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같은 이름</a:t>
            </a:r>
            <a:endParaRPr lang="en-US" sz="1700" dirty="0"/>
          </a:p>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병합</a:t>
            </a:r>
            <a:endParaRPr lang="en-US" sz="1700" dirty="0"/>
          </a:p>
        </p:txBody>
      </p:sp>
      <p:sp>
        <p:nvSpPr>
          <p:cNvPr id="59" name="Shape 56"/>
          <p:cNvSpPr/>
          <p:nvPr/>
        </p:nvSpPr>
        <p:spPr>
          <a:xfrm>
            <a:off x="7161073" y="3950208"/>
            <a:ext cx="201168" cy="0"/>
          </a:xfrm>
          <a:prstGeom prst="line">
            <a:avLst/>
          </a:prstGeom>
          <a:noFill/>
          <a:ln w="22225">
            <a:solidFill>
              <a:srgbClr val="4A5364"/>
            </a:solidFill>
            <a:prstDash val="solid"/>
            <a:tailEnd type="triangle"/>
          </a:ln>
        </p:spPr>
      </p:sp>
      <p:sp>
        <p:nvSpPr>
          <p:cNvPr id="60" name="Shape 57"/>
          <p:cNvSpPr/>
          <p:nvPr/>
        </p:nvSpPr>
        <p:spPr>
          <a:xfrm>
            <a:off x="8789721" y="3310128"/>
            <a:ext cx="1144016" cy="1280160"/>
          </a:xfrm>
          <a:prstGeom prst="roundRect">
            <a:avLst>
              <a:gd name="adj" fmla="val 6394"/>
            </a:avLst>
          </a:prstGeom>
          <a:solidFill>
            <a:srgbClr val="EEF3FA"/>
          </a:solidFill>
          <a:ln w="19050">
            <a:solidFill>
              <a:srgbClr val="2E74C6"/>
            </a:solidFill>
            <a:prstDash val="solid"/>
          </a:ln>
        </p:spPr>
      </p:sp>
      <p:sp>
        <p:nvSpPr>
          <p:cNvPr id="61" name="Shape 58"/>
          <p:cNvSpPr/>
          <p:nvPr/>
        </p:nvSpPr>
        <p:spPr>
          <a:xfrm>
            <a:off x="8881161" y="3401568"/>
            <a:ext cx="347472" cy="347472"/>
          </a:xfrm>
          <a:prstGeom prst="roundRect">
            <a:avLst>
              <a:gd name="adj" fmla="val 13158"/>
            </a:avLst>
          </a:prstGeom>
          <a:solidFill>
            <a:srgbClr val="2E74C6"/>
          </a:solidFill>
          <a:ln/>
        </p:spPr>
      </p:sp>
      <p:sp>
        <p:nvSpPr>
          <p:cNvPr id="62" name="Text 59"/>
          <p:cNvSpPr txBox="1"/>
          <p:nvPr/>
        </p:nvSpPr>
        <p:spPr>
          <a:xfrm>
            <a:off x="8881161" y="3401568"/>
            <a:ext cx="347472" cy="347472"/>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5</a:t>
            </a:r>
            <a:endParaRPr lang="en-US" sz="1600" dirty="0"/>
          </a:p>
        </p:txBody>
      </p:sp>
      <p:sp>
        <p:nvSpPr>
          <p:cNvPr id="63" name="Text 60"/>
          <p:cNvSpPr txBox="1"/>
          <p:nvPr/>
        </p:nvSpPr>
        <p:spPr>
          <a:xfrm>
            <a:off x="8789721" y="3730752"/>
            <a:ext cx="1144016" cy="804672"/>
          </a:xfrm>
          <a:prstGeom prst="rect">
            <a:avLst/>
          </a:prstGeom>
          <a:noFill/>
          <a:ln/>
        </p:spPr>
        <p:txBody>
          <a:bodyPr wrap="square" lIns="381" tIns="381" rIns="381" bIns="381" rtlCol="0" anchor="ctr"/>
          <a:lstStyle/>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지식 그래프</a:t>
            </a:r>
            <a:endParaRPr lang="en-US" sz="1700" dirty="0"/>
          </a:p>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구축</a:t>
            </a:r>
            <a:endParaRPr lang="en-US" sz="1700" dirty="0"/>
          </a:p>
        </p:txBody>
      </p:sp>
      <p:sp>
        <p:nvSpPr>
          <p:cNvPr id="64" name="Shape 61"/>
          <p:cNvSpPr/>
          <p:nvPr/>
        </p:nvSpPr>
        <p:spPr>
          <a:xfrm>
            <a:off x="8561121" y="3950208"/>
            <a:ext cx="201168" cy="0"/>
          </a:xfrm>
          <a:prstGeom prst="line">
            <a:avLst/>
          </a:prstGeom>
          <a:noFill/>
          <a:ln w="22225">
            <a:solidFill>
              <a:srgbClr val="4A5364"/>
            </a:solidFill>
            <a:prstDash val="solid"/>
            <a:tailEnd type="triangle"/>
          </a:ln>
        </p:spPr>
      </p:sp>
      <p:sp>
        <p:nvSpPr>
          <p:cNvPr id="65" name="Shape 62"/>
          <p:cNvSpPr/>
          <p:nvPr/>
        </p:nvSpPr>
        <p:spPr>
          <a:xfrm>
            <a:off x="10189769" y="3310128"/>
            <a:ext cx="1144016" cy="1280160"/>
          </a:xfrm>
          <a:prstGeom prst="roundRect">
            <a:avLst>
              <a:gd name="adj" fmla="val 6394"/>
            </a:avLst>
          </a:prstGeom>
          <a:solidFill>
            <a:srgbClr val="EEF3FA"/>
          </a:solidFill>
          <a:ln w="19050">
            <a:solidFill>
              <a:srgbClr val="2E74C6"/>
            </a:solidFill>
            <a:prstDash val="solid"/>
          </a:ln>
        </p:spPr>
      </p:sp>
      <p:sp>
        <p:nvSpPr>
          <p:cNvPr id="66" name="Shape 63"/>
          <p:cNvSpPr/>
          <p:nvPr/>
        </p:nvSpPr>
        <p:spPr>
          <a:xfrm>
            <a:off x="10281209" y="3401568"/>
            <a:ext cx="585216" cy="310896"/>
          </a:xfrm>
          <a:prstGeom prst="roundRect">
            <a:avLst>
              <a:gd name="adj" fmla="val 45000"/>
            </a:avLst>
          </a:prstGeom>
          <a:solidFill>
            <a:srgbClr val="FFFFFF"/>
          </a:solidFill>
          <a:ln w="12700">
            <a:solidFill>
              <a:srgbClr val="2E74C6"/>
            </a:solidFill>
            <a:prstDash val="solid"/>
          </a:ln>
        </p:spPr>
      </p:sp>
      <p:sp>
        <p:nvSpPr>
          <p:cNvPr id="67" name="Text 64"/>
          <p:cNvSpPr txBox="1"/>
          <p:nvPr/>
        </p:nvSpPr>
        <p:spPr>
          <a:xfrm>
            <a:off x="10281209" y="3401568"/>
            <a:ext cx="585216" cy="310896"/>
          </a:xfrm>
          <a:prstGeom prst="rect">
            <a:avLst/>
          </a:prstGeom>
          <a:noFill/>
          <a:ln/>
        </p:spPr>
        <p:txBody>
          <a:bodyPr wrap="square" lIns="1016" tIns="1016" rIns="1016" bIns="1016" rtlCol="0" anchor="ct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선택</a:t>
            </a:r>
            <a:endParaRPr lang="en-US" sz="1400" dirty="0"/>
          </a:p>
        </p:txBody>
      </p:sp>
      <p:sp>
        <p:nvSpPr>
          <p:cNvPr id="68" name="Text 65"/>
          <p:cNvSpPr txBox="1"/>
          <p:nvPr/>
        </p:nvSpPr>
        <p:spPr>
          <a:xfrm>
            <a:off x="10189769" y="3730752"/>
            <a:ext cx="1144016" cy="804672"/>
          </a:xfrm>
          <a:prstGeom prst="rect">
            <a:avLst/>
          </a:prstGeom>
          <a:noFill/>
          <a:ln/>
        </p:spPr>
        <p:txBody>
          <a:bodyPr wrap="square" lIns="381" tIns="381" rIns="381" bIns="381" rtlCol="0" anchor="ctr"/>
          <a:lstStyle/>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사전요약</a:t>
            </a:r>
            <a:endParaRPr lang="en-US" sz="1700" dirty="0"/>
          </a:p>
          <a:p>
            <a:pPr algn="ctr" indent="0" marL="0">
              <a:spcAft>
                <a:spcPts val="200"/>
              </a:spcAft>
              <a:buNone/>
            </a:pPr>
            <a:r>
              <a:rPr lang="en-US" sz="1400" dirty="0">
                <a:solidFill>
                  <a:srgbClr val="4A5364"/>
                </a:solidFill>
                <a:latin typeface="Pretendard" pitchFamily="34" charset="0"/>
                <a:ea typeface="Pretendard" pitchFamily="34" charset="-122"/>
                <a:cs typeface="Pretendard" pitchFamily="34" charset="-120"/>
              </a:rPr>
              <a:t>커뮤니티 요약</a:t>
            </a:r>
            <a:endParaRPr lang="en-US" sz="1700" dirty="0"/>
          </a:p>
        </p:txBody>
      </p:sp>
      <p:sp>
        <p:nvSpPr>
          <p:cNvPr id="69" name="Shape 66"/>
          <p:cNvSpPr/>
          <p:nvPr/>
        </p:nvSpPr>
        <p:spPr>
          <a:xfrm>
            <a:off x="9961169" y="3950208"/>
            <a:ext cx="201168" cy="0"/>
          </a:xfrm>
          <a:prstGeom prst="line">
            <a:avLst/>
          </a:prstGeom>
          <a:noFill/>
          <a:ln w="22225">
            <a:solidFill>
              <a:srgbClr val="4A5364"/>
            </a:solidFill>
            <a:prstDash val="solid"/>
            <a:tailEnd type="triangle"/>
          </a:ln>
        </p:spPr>
      </p:sp>
      <p:sp>
        <p:nvSpPr>
          <p:cNvPr id="70" name="Shape 67"/>
          <p:cNvSpPr/>
          <p:nvPr/>
        </p:nvSpPr>
        <p:spPr>
          <a:xfrm>
            <a:off x="11589817" y="3310128"/>
            <a:ext cx="1144016" cy="1280160"/>
          </a:xfrm>
          <a:prstGeom prst="roundRect">
            <a:avLst>
              <a:gd name="adj" fmla="val 6394"/>
            </a:avLst>
          </a:prstGeom>
          <a:solidFill>
            <a:srgbClr val="EEF3FA"/>
          </a:solidFill>
          <a:ln w="19050">
            <a:solidFill>
              <a:srgbClr val="2E74C6"/>
            </a:solidFill>
            <a:prstDash val="solid"/>
          </a:ln>
        </p:spPr>
      </p:sp>
      <p:sp>
        <p:nvSpPr>
          <p:cNvPr id="71" name="Shape 68"/>
          <p:cNvSpPr/>
          <p:nvPr/>
        </p:nvSpPr>
        <p:spPr>
          <a:xfrm>
            <a:off x="11681257" y="3401568"/>
            <a:ext cx="347472" cy="347472"/>
          </a:xfrm>
          <a:prstGeom prst="roundRect">
            <a:avLst>
              <a:gd name="adj" fmla="val 13158"/>
            </a:avLst>
          </a:prstGeom>
          <a:solidFill>
            <a:srgbClr val="2E74C6"/>
          </a:solidFill>
          <a:ln/>
        </p:spPr>
      </p:sp>
      <p:sp>
        <p:nvSpPr>
          <p:cNvPr id="72" name="Text 69"/>
          <p:cNvSpPr txBox="1"/>
          <p:nvPr/>
        </p:nvSpPr>
        <p:spPr>
          <a:xfrm>
            <a:off x="11681257" y="3401568"/>
            <a:ext cx="347472" cy="347472"/>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6</a:t>
            </a:r>
            <a:endParaRPr lang="en-US" sz="1600" dirty="0"/>
          </a:p>
        </p:txBody>
      </p:sp>
      <p:sp>
        <p:nvSpPr>
          <p:cNvPr id="73" name="Text 70"/>
          <p:cNvSpPr txBox="1"/>
          <p:nvPr/>
        </p:nvSpPr>
        <p:spPr>
          <a:xfrm>
            <a:off x="11589817" y="3730752"/>
            <a:ext cx="1144016" cy="804672"/>
          </a:xfrm>
          <a:prstGeom prst="rect">
            <a:avLst/>
          </a:prstGeom>
          <a:noFill/>
          <a:ln/>
        </p:spPr>
        <p:txBody>
          <a:bodyPr wrap="square" lIns="381" tIns="381" rIns="381" bIns="381" rtlCol="0" anchor="ctr"/>
          <a:lstStyle/>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임베딩</a:t>
            </a:r>
            <a:endParaRPr lang="en-US" sz="1700" dirty="0"/>
          </a:p>
          <a:p>
            <a:pPr algn="ctr" indent="0" marL="0">
              <a:spcAft>
                <a:spcPts val="200"/>
              </a:spcAft>
              <a:buNone/>
            </a:pPr>
            <a:r>
              <a:rPr lang="en-US" sz="1400" dirty="0">
                <a:solidFill>
                  <a:srgbClr val="4A5364"/>
                </a:solidFill>
                <a:latin typeface="Pretendard" pitchFamily="34" charset="0"/>
                <a:ea typeface="Pretendard" pitchFamily="34" charset="-122"/>
                <a:cs typeface="Pretendard" pitchFamily="34" charset="-120"/>
              </a:rPr>
              <a:t>청크 +</a:t>
            </a:r>
            <a:endParaRPr lang="en-US" sz="1700" dirty="0"/>
          </a:p>
          <a:p>
            <a:pPr algn="ctr" indent="0" marL="0">
              <a:spcAft>
                <a:spcPts val="200"/>
              </a:spcAft>
              <a:buNone/>
            </a:pPr>
            <a:r>
              <a:rPr lang="en-US" sz="1400" dirty="0">
                <a:solidFill>
                  <a:srgbClr val="4A5364"/>
                </a:solidFill>
                <a:latin typeface="Pretendard" pitchFamily="34" charset="0"/>
                <a:ea typeface="Pretendard" pitchFamily="34" charset="-122"/>
                <a:cs typeface="Pretendard" pitchFamily="34" charset="-120"/>
              </a:rPr>
              <a:t>노드 설명</a:t>
            </a:r>
            <a:endParaRPr lang="en-US" sz="1700" dirty="0"/>
          </a:p>
        </p:txBody>
      </p:sp>
      <p:sp>
        <p:nvSpPr>
          <p:cNvPr id="74" name="Shape 71"/>
          <p:cNvSpPr/>
          <p:nvPr/>
        </p:nvSpPr>
        <p:spPr>
          <a:xfrm>
            <a:off x="11361217" y="3950208"/>
            <a:ext cx="201168" cy="0"/>
          </a:xfrm>
          <a:prstGeom prst="line">
            <a:avLst/>
          </a:prstGeom>
          <a:noFill/>
          <a:ln w="22225">
            <a:solidFill>
              <a:srgbClr val="4A5364"/>
            </a:solidFill>
            <a:prstDash val="solid"/>
            <a:tailEnd type="triangle"/>
          </a:ln>
        </p:spPr>
      </p:sp>
      <p:sp>
        <p:nvSpPr>
          <p:cNvPr id="75" name="Shape 72"/>
          <p:cNvSpPr/>
          <p:nvPr/>
        </p:nvSpPr>
        <p:spPr>
          <a:xfrm>
            <a:off x="12989865" y="3310128"/>
            <a:ext cx="1144016" cy="1280160"/>
          </a:xfrm>
          <a:prstGeom prst="roundRect">
            <a:avLst>
              <a:gd name="adj" fmla="val 6394"/>
            </a:avLst>
          </a:prstGeom>
          <a:solidFill>
            <a:srgbClr val="EEF3FA"/>
          </a:solidFill>
          <a:ln w="19050">
            <a:solidFill>
              <a:srgbClr val="2E74C6"/>
            </a:solidFill>
            <a:prstDash val="solid"/>
          </a:ln>
        </p:spPr>
      </p:sp>
      <p:sp>
        <p:nvSpPr>
          <p:cNvPr id="76" name="Shape 73"/>
          <p:cNvSpPr/>
          <p:nvPr/>
        </p:nvSpPr>
        <p:spPr>
          <a:xfrm>
            <a:off x="13081305" y="3401568"/>
            <a:ext cx="347472" cy="347472"/>
          </a:xfrm>
          <a:prstGeom prst="roundRect">
            <a:avLst>
              <a:gd name="adj" fmla="val 13158"/>
            </a:avLst>
          </a:prstGeom>
          <a:solidFill>
            <a:srgbClr val="2E74C6"/>
          </a:solidFill>
          <a:ln/>
        </p:spPr>
      </p:sp>
      <p:sp>
        <p:nvSpPr>
          <p:cNvPr id="77" name="Text 74"/>
          <p:cNvSpPr txBox="1"/>
          <p:nvPr/>
        </p:nvSpPr>
        <p:spPr>
          <a:xfrm>
            <a:off x="13081305" y="3401568"/>
            <a:ext cx="347472" cy="347472"/>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7</a:t>
            </a:r>
            <a:endParaRPr lang="en-US" sz="1600" dirty="0"/>
          </a:p>
        </p:txBody>
      </p:sp>
      <p:sp>
        <p:nvSpPr>
          <p:cNvPr id="78" name="Text 75"/>
          <p:cNvSpPr txBox="1"/>
          <p:nvPr/>
        </p:nvSpPr>
        <p:spPr>
          <a:xfrm>
            <a:off x="12989865" y="3730752"/>
            <a:ext cx="1144016" cy="804672"/>
          </a:xfrm>
          <a:prstGeom prst="rect">
            <a:avLst/>
          </a:prstGeom>
          <a:noFill/>
          <a:ln/>
        </p:spPr>
        <p:txBody>
          <a:bodyPr wrap="square" lIns="381" tIns="381" rIns="381" bIns="381" rtlCol="0" anchor="ctr"/>
          <a:lstStyle/>
          <a:p>
            <a:pPr algn="ctr" indent="0" marL="0">
              <a:spcAft>
                <a:spcPts val="200"/>
              </a:spcAft>
              <a:buNone/>
            </a:pPr>
            <a:r>
              <a:rPr lang="en-US" sz="1700" b="1" dirty="0">
                <a:solidFill>
                  <a:srgbClr val="1E2A5C"/>
                </a:solidFill>
                <a:latin typeface="Pretendard" pitchFamily="34" charset="0"/>
                <a:ea typeface="Pretendard" pitchFamily="34" charset="-122"/>
                <a:cs typeface="Pretendard" pitchFamily="34" charset="-120"/>
              </a:rPr>
              <a:t>적재</a:t>
            </a:r>
            <a:endParaRPr lang="en-US" sz="1700" dirty="0"/>
          </a:p>
          <a:p>
            <a:pPr algn="ctr" indent="0" marL="0">
              <a:spcAft>
                <a:spcPts val="200"/>
              </a:spcAft>
              <a:buNone/>
            </a:pPr>
            <a:r>
              <a:rPr lang="en-US" sz="1400" dirty="0">
                <a:solidFill>
                  <a:srgbClr val="4A5364"/>
                </a:solidFill>
                <a:latin typeface="Pretendard" pitchFamily="34" charset="0"/>
                <a:ea typeface="Pretendard" pitchFamily="34" charset="-122"/>
                <a:cs typeface="Pretendard" pitchFamily="34" charset="-120"/>
              </a:rPr>
              <a:t>KG + 벡터</a:t>
            </a:r>
            <a:endParaRPr lang="en-US" sz="1700" dirty="0"/>
          </a:p>
        </p:txBody>
      </p:sp>
      <p:sp>
        <p:nvSpPr>
          <p:cNvPr id="79" name="Shape 76"/>
          <p:cNvSpPr/>
          <p:nvPr/>
        </p:nvSpPr>
        <p:spPr>
          <a:xfrm>
            <a:off x="12761265" y="3950208"/>
            <a:ext cx="201168" cy="0"/>
          </a:xfrm>
          <a:prstGeom prst="line">
            <a:avLst/>
          </a:prstGeom>
          <a:noFill/>
          <a:ln w="22225">
            <a:solidFill>
              <a:srgbClr val="4A5364"/>
            </a:solidFill>
            <a:prstDash val="solid"/>
            <a:tailEnd type="triangle"/>
          </a:ln>
        </p:spPr>
      </p:sp>
      <p:sp>
        <p:nvSpPr>
          <p:cNvPr id="80" name="Shape 77"/>
          <p:cNvSpPr/>
          <p:nvPr/>
        </p:nvSpPr>
        <p:spPr>
          <a:xfrm>
            <a:off x="509321" y="4663440"/>
            <a:ext cx="1143000" cy="347472"/>
          </a:xfrm>
          <a:prstGeom prst="roundRect">
            <a:avLst>
              <a:gd name="adj" fmla="val 21053"/>
            </a:avLst>
          </a:prstGeom>
          <a:solidFill>
            <a:srgbClr val="FFFFFF"/>
          </a:solidFill>
          <a:ln w="12700">
            <a:solidFill>
              <a:srgbClr val="C3CEE0"/>
            </a:solidFill>
            <a:prstDash val="solid"/>
          </a:ln>
        </p:spPr>
      </p:sp>
      <p:sp>
        <p:nvSpPr>
          <p:cNvPr id="81" name="Text 78"/>
          <p:cNvSpPr txBox="1"/>
          <p:nvPr/>
        </p:nvSpPr>
        <p:spPr>
          <a:xfrm>
            <a:off x="509321" y="4663440"/>
            <a:ext cx="1143000" cy="347472"/>
          </a:xfrm>
          <a:prstGeom prst="rect">
            <a:avLst/>
          </a:prstGeom>
          <a:noFill/>
          <a:ln/>
        </p:spPr>
        <p:txBody>
          <a:bodyPr wrap="square" lIns="1016" tIns="1016" rIns="1016" bIns="1016" rtlCol="0" anchor="ctr"/>
          <a:lstStyle/>
          <a:p>
            <a:pPr algn="ctr" indent="0" marL="0">
              <a:buNone/>
            </a:pPr>
            <a:r>
              <a:rPr lang="en-US" sz="1500" b="1" dirty="0">
                <a:solidFill>
                  <a:srgbClr val="1E2A5C"/>
                </a:solidFill>
                <a:latin typeface="Pretendard" pitchFamily="34" charset="0"/>
                <a:ea typeface="Pretendard" pitchFamily="34" charset="-122"/>
                <a:cs typeface="Pretendard" pitchFamily="34" charset="-120"/>
              </a:rPr>
              <a:t>누가 하나</a:t>
            </a:r>
            <a:endParaRPr lang="en-US" sz="1500" dirty="0"/>
          </a:p>
        </p:txBody>
      </p:sp>
      <p:sp>
        <p:nvSpPr>
          <p:cNvPr id="82" name="Shape 79"/>
          <p:cNvSpPr/>
          <p:nvPr/>
        </p:nvSpPr>
        <p:spPr>
          <a:xfrm>
            <a:off x="1789481" y="4663440"/>
            <a:ext cx="1144016" cy="347472"/>
          </a:xfrm>
          <a:prstGeom prst="roundRect">
            <a:avLst>
              <a:gd name="adj" fmla="val 45000"/>
            </a:avLst>
          </a:prstGeom>
          <a:solidFill>
            <a:srgbClr val="FFFFFF"/>
          </a:solidFill>
          <a:ln w="12700">
            <a:solidFill>
              <a:srgbClr val="C3CEE0"/>
            </a:solidFill>
            <a:prstDash val="solid"/>
          </a:ln>
        </p:spPr>
      </p:sp>
      <p:sp>
        <p:nvSpPr>
          <p:cNvPr id="83" name="Text 80"/>
          <p:cNvSpPr txBox="1"/>
          <p:nvPr/>
        </p:nvSpPr>
        <p:spPr>
          <a:xfrm>
            <a:off x="1789481" y="4663440"/>
            <a:ext cx="1144016" cy="347472"/>
          </a:xfrm>
          <a:prstGeom prst="rect">
            <a:avLst/>
          </a:prstGeom>
          <a:noFill/>
          <a:ln/>
        </p:spPr>
        <p:txBody>
          <a:bodyPr wrap="square" lIns="1016" tIns="1016" rIns="1016" bIns="1016"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코드</a:t>
            </a:r>
            <a:endParaRPr lang="en-US" sz="1400" dirty="0"/>
          </a:p>
        </p:txBody>
      </p:sp>
      <p:sp>
        <p:nvSpPr>
          <p:cNvPr id="84" name="Shape 81"/>
          <p:cNvSpPr/>
          <p:nvPr/>
        </p:nvSpPr>
        <p:spPr>
          <a:xfrm>
            <a:off x="3189529" y="4663440"/>
            <a:ext cx="1144016" cy="347472"/>
          </a:xfrm>
          <a:prstGeom prst="roundRect">
            <a:avLst>
              <a:gd name="adj" fmla="val 45000"/>
            </a:avLst>
          </a:prstGeom>
          <a:solidFill>
            <a:srgbClr val="FFFFFF"/>
          </a:solidFill>
          <a:ln w="12700">
            <a:solidFill>
              <a:srgbClr val="C3CEE0"/>
            </a:solidFill>
            <a:prstDash val="solid"/>
          </a:ln>
        </p:spPr>
      </p:sp>
      <p:sp>
        <p:nvSpPr>
          <p:cNvPr id="85" name="Text 82"/>
          <p:cNvSpPr txBox="1"/>
          <p:nvPr/>
        </p:nvSpPr>
        <p:spPr>
          <a:xfrm>
            <a:off x="3189529" y="4663440"/>
            <a:ext cx="1144016" cy="347472"/>
          </a:xfrm>
          <a:prstGeom prst="rect">
            <a:avLst/>
          </a:prstGeom>
          <a:noFill/>
          <a:ln/>
        </p:spPr>
        <p:txBody>
          <a:bodyPr wrap="square" lIns="1016" tIns="1016" rIns="1016" bIns="1016"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코드</a:t>
            </a:r>
            <a:endParaRPr lang="en-US" sz="1400" dirty="0"/>
          </a:p>
        </p:txBody>
      </p:sp>
      <p:sp>
        <p:nvSpPr>
          <p:cNvPr id="86" name="Shape 83"/>
          <p:cNvSpPr/>
          <p:nvPr/>
        </p:nvSpPr>
        <p:spPr>
          <a:xfrm>
            <a:off x="4589577" y="4663440"/>
            <a:ext cx="1144016" cy="347472"/>
          </a:xfrm>
          <a:prstGeom prst="roundRect">
            <a:avLst>
              <a:gd name="adj" fmla="val 45000"/>
            </a:avLst>
          </a:prstGeom>
          <a:solidFill>
            <a:srgbClr val="FFFFFF"/>
          </a:solidFill>
          <a:ln w="12700">
            <a:solidFill>
              <a:srgbClr val="C3CEE0"/>
            </a:solidFill>
            <a:prstDash val="solid"/>
          </a:ln>
        </p:spPr>
      </p:sp>
      <p:sp>
        <p:nvSpPr>
          <p:cNvPr id="87" name="Text 84"/>
          <p:cNvSpPr txBox="1"/>
          <p:nvPr/>
        </p:nvSpPr>
        <p:spPr>
          <a:xfrm>
            <a:off x="4589577" y="4663440"/>
            <a:ext cx="1144016" cy="347472"/>
          </a:xfrm>
          <a:prstGeom prst="rect">
            <a:avLst/>
          </a:prstGeom>
          <a:noFill/>
          <a:ln/>
        </p:spPr>
        <p:txBody>
          <a:bodyPr wrap="square" lIns="1016" tIns="1016" rIns="1016" bIns="1016"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코드</a:t>
            </a:r>
            <a:endParaRPr lang="en-US" sz="1400" dirty="0"/>
          </a:p>
        </p:txBody>
      </p:sp>
      <p:sp>
        <p:nvSpPr>
          <p:cNvPr id="88" name="Shape 85"/>
          <p:cNvSpPr/>
          <p:nvPr/>
        </p:nvSpPr>
        <p:spPr>
          <a:xfrm>
            <a:off x="5989625" y="4663440"/>
            <a:ext cx="1144016" cy="347472"/>
          </a:xfrm>
          <a:prstGeom prst="roundRect">
            <a:avLst>
              <a:gd name="adj" fmla="val 45000"/>
            </a:avLst>
          </a:prstGeom>
          <a:solidFill>
            <a:srgbClr val="2E74C6"/>
          </a:solidFill>
          <a:ln/>
        </p:spPr>
      </p:sp>
      <p:sp>
        <p:nvSpPr>
          <p:cNvPr id="89" name="Text 86"/>
          <p:cNvSpPr txBox="1"/>
          <p:nvPr/>
        </p:nvSpPr>
        <p:spPr>
          <a:xfrm>
            <a:off x="5989625" y="4663440"/>
            <a:ext cx="1144016" cy="347472"/>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LLM</a:t>
            </a:r>
            <a:endParaRPr lang="en-US" sz="1400" dirty="0"/>
          </a:p>
        </p:txBody>
      </p:sp>
      <p:sp>
        <p:nvSpPr>
          <p:cNvPr id="90" name="Shape 87"/>
          <p:cNvSpPr/>
          <p:nvPr/>
        </p:nvSpPr>
        <p:spPr>
          <a:xfrm>
            <a:off x="7389673" y="4663440"/>
            <a:ext cx="1144016" cy="347472"/>
          </a:xfrm>
          <a:prstGeom prst="roundRect">
            <a:avLst>
              <a:gd name="adj" fmla="val 45000"/>
            </a:avLst>
          </a:prstGeom>
          <a:solidFill>
            <a:srgbClr val="EEF3FA"/>
          </a:solidFill>
          <a:ln w="12700">
            <a:solidFill>
              <a:srgbClr val="2E74C6"/>
            </a:solidFill>
            <a:prstDash val="solid"/>
          </a:ln>
        </p:spPr>
      </p:sp>
      <p:sp>
        <p:nvSpPr>
          <p:cNvPr id="91" name="Text 88"/>
          <p:cNvSpPr txBox="1"/>
          <p:nvPr/>
        </p:nvSpPr>
        <p:spPr>
          <a:xfrm>
            <a:off x="7389673" y="4663440"/>
            <a:ext cx="1144016" cy="347472"/>
          </a:xfrm>
          <a:prstGeom prst="rect">
            <a:avLst/>
          </a:prstGeom>
          <a:noFill/>
          <a:ln/>
        </p:spPr>
        <p:txBody>
          <a:bodyPr wrap="square" lIns="1016" tIns="1016" rIns="1016" bIns="1016" rtlCol="0" anchor="ct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코드 + LLM</a:t>
            </a:r>
            <a:endParaRPr lang="en-US" sz="1400" dirty="0"/>
          </a:p>
        </p:txBody>
      </p:sp>
      <p:sp>
        <p:nvSpPr>
          <p:cNvPr id="92" name="Shape 89"/>
          <p:cNvSpPr/>
          <p:nvPr/>
        </p:nvSpPr>
        <p:spPr>
          <a:xfrm>
            <a:off x="8789721" y="4663440"/>
            <a:ext cx="1144016" cy="347472"/>
          </a:xfrm>
          <a:prstGeom prst="roundRect">
            <a:avLst>
              <a:gd name="adj" fmla="val 45000"/>
            </a:avLst>
          </a:prstGeom>
          <a:solidFill>
            <a:srgbClr val="FFFFFF"/>
          </a:solidFill>
          <a:ln w="12700">
            <a:solidFill>
              <a:srgbClr val="C3CEE0"/>
            </a:solidFill>
            <a:prstDash val="solid"/>
          </a:ln>
        </p:spPr>
      </p:sp>
      <p:sp>
        <p:nvSpPr>
          <p:cNvPr id="93" name="Text 90"/>
          <p:cNvSpPr txBox="1"/>
          <p:nvPr/>
        </p:nvSpPr>
        <p:spPr>
          <a:xfrm>
            <a:off x="8789721" y="4663440"/>
            <a:ext cx="1144016" cy="347472"/>
          </a:xfrm>
          <a:prstGeom prst="rect">
            <a:avLst/>
          </a:prstGeom>
          <a:noFill/>
          <a:ln/>
        </p:spPr>
        <p:txBody>
          <a:bodyPr wrap="square" lIns="1016" tIns="1016" rIns="1016" bIns="1016"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코드</a:t>
            </a:r>
            <a:endParaRPr lang="en-US" sz="1400" dirty="0"/>
          </a:p>
        </p:txBody>
      </p:sp>
      <p:sp>
        <p:nvSpPr>
          <p:cNvPr id="94" name="Shape 91"/>
          <p:cNvSpPr/>
          <p:nvPr/>
        </p:nvSpPr>
        <p:spPr>
          <a:xfrm>
            <a:off x="10189769" y="4663440"/>
            <a:ext cx="1144016" cy="347472"/>
          </a:xfrm>
          <a:prstGeom prst="roundRect">
            <a:avLst>
              <a:gd name="adj" fmla="val 45000"/>
            </a:avLst>
          </a:prstGeom>
          <a:solidFill>
            <a:srgbClr val="EEF3FA"/>
          </a:solidFill>
          <a:ln w="12700">
            <a:solidFill>
              <a:srgbClr val="2E74C6"/>
            </a:solidFill>
            <a:prstDash val="solid"/>
          </a:ln>
        </p:spPr>
      </p:sp>
      <p:sp>
        <p:nvSpPr>
          <p:cNvPr id="95" name="Text 92"/>
          <p:cNvSpPr txBox="1"/>
          <p:nvPr/>
        </p:nvSpPr>
        <p:spPr>
          <a:xfrm>
            <a:off x="10189769" y="4663440"/>
            <a:ext cx="1144016" cy="347472"/>
          </a:xfrm>
          <a:prstGeom prst="rect">
            <a:avLst/>
          </a:prstGeom>
          <a:noFill/>
          <a:ln/>
        </p:spPr>
        <p:txBody>
          <a:bodyPr wrap="square" lIns="1016" tIns="1016" rIns="1016" bIns="1016" rtlCol="0" anchor="ct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코드 + LLM</a:t>
            </a:r>
            <a:endParaRPr lang="en-US" sz="1400" dirty="0"/>
          </a:p>
        </p:txBody>
      </p:sp>
      <p:sp>
        <p:nvSpPr>
          <p:cNvPr id="96" name="Shape 93"/>
          <p:cNvSpPr/>
          <p:nvPr/>
        </p:nvSpPr>
        <p:spPr>
          <a:xfrm>
            <a:off x="11589817" y="4663440"/>
            <a:ext cx="1144016" cy="347472"/>
          </a:xfrm>
          <a:prstGeom prst="roundRect">
            <a:avLst>
              <a:gd name="adj" fmla="val 45000"/>
            </a:avLst>
          </a:prstGeom>
          <a:solidFill>
            <a:srgbClr val="1E2A5C"/>
          </a:solidFill>
          <a:ln/>
        </p:spPr>
      </p:sp>
      <p:sp>
        <p:nvSpPr>
          <p:cNvPr id="97" name="Text 94"/>
          <p:cNvSpPr txBox="1"/>
          <p:nvPr/>
        </p:nvSpPr>
        <p:spPr>
          <a:xfrm>
            <a:off x="11589817" y="4663440"/>
            <a:ext cx="1144016" cy="347472"/>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임베딩 모델</a:t>
            </a:r>
            <a:endParaRPr lang="en-US" sz="1400" dirty="0"/>
          </a:p>
        </p:txBody>
      </p:sp>
      <p:sp>
        <p:nvSpPr>
          <p:cNvPr id="98" name="Shape 95"/>
          <p:cNvSpPr/>
          <p:nvPr/>
        </p:nvSpPr>
        <p:spPr>
          <a:xfrm>
            <a:off x="12989865" y="4663440"/>
            <a:ext cx="1144016" cy="347472"/>
          </a:xfrm>
          <a:prstGeom prst="roundRect">
            <a:avLst>
              <a:gd name="adj" fmla="val 45000"/>
            </a:avLst>
          </a:prstGeom>
          <a:solidFill>
            <a:srgbClr val="FFFFFF"/>
          </a:solidFill>
          <a:ln w="12700">
            <a:solidFill>
              <a:srgbClr val="C3CEE0"/>
            </a:solidFill>
            <a:prstDash val="solid"/>
          </a:ln>
        </p:spPr>
      </p:sp>
      <p:sp>
        <p:nvSpPr>
          <p:cNvPr id="99" name="Text 96"/>
          <p:cNvSpPr txBox="1"/>
          <p:nvPr/>
        </p:nvSpPr>
        <p:spPr>
          <a:xfrm>
            <a:off x="12989865" y="4663440"/>
            <a:ext cx="1144016" cy="347472"/>
          </a:xfrm>
          <a:prstGeom prst="rect">
            <a:avLst/>
          </a:prstGeom>
          <a:noFill/>
          <a:ln/>
        </p:spPr>
        <p:txBody>
          <a:bodyPr wrap="square" lIns="1016" tIns="1016" rIns="1016" bIns="1016"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코드</a:t>
            </a:r>
            <a:endParaRPr lang="en-US" sz="1400" dirty="0"/>
          </a:p>
        </p:txBody>
      </p:sp>
      <p:sp>
        <p:nvSpPr>
          <p:cNvPr id="100" name="Shape 97"/>
          <p:cNvSpPr/>
          <p:nvPr/>
        </p:nvSpPr>
        <p:spPr>
          <a:xfrm>
            <a:off x="1789481" y="5084064"/>
            <a:ext cx="3944112" cy="749808"/>
          </a:xfrm>
          <a:prstGeom prst="roundRect">
            <a:avLst>
              <a:gd name="adj" fmla="val 7317"/>
            </a:avLst>
          </a:prstGeom>
          <a:solidFill>
            <a:srgbClr val="FFFFFF"/>
          </a:solidFill>
          <a:ln w="12700">
            <a:solidFill>
              <a:srgbClr val="D9E0EC"/>
            </a:solidFill>
            <a:prstDash val="solid"/>
          </a:ln>
        </p:spPr>
      </p:sp>
      <p:sp>
        <p:nvSpPr>
          <p:cNvPr id="101" name="Text 98"/>
          <p:cNvSpPr txBox="1"/>
          <p:nvPr/>
        </p:nvSpPr>
        <p:spPr>
          <a:xfrm>
            <a:off x="1789481" y="5084064"/>
            <a:ext cx="3944112" cy="749808"/>
          </a:xfrm>
          <a:prstGeom prst="rect">
            <a:avLst/>
          </a:prstGeom>
          <a:noFill/>
          <a:ln/>
        </p:spPr>
        <p:txBody>
          <a:bodyPr wrap="square" lIns="1016" tIns="1016" rIns="1016" bIns="1016" rtlCol="0" anchor="ctr"/>
          <a:lstStyle/>
          <a:p>
            <a:pPr algn="ctr" indent="0" marL="0">
              <a:buNone/>
            </a:pPr>
            <a:r>
              <a:rPr lang="en-US" sz="1400" dirty="0">
                <a:solidFill>
                  <a:srgbClr val="2B3242"/>
                </a:solidFill>
                <a:latin typeface="Pretendard" pitchFamily="34" charset="0"/>
                <a:ea typeface="Pretendard" pitchFamily="34" charset="-122"/>
                <a:cs typeface="Pretendard" pitchFamily="34" charset="-120"/>
              </a:rPr>
              <a:t>청크(글 조각) — 벡터DB와 같음</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이름·연락처 같은 개인정보는 가명으로</a:t>
            </a:r>
            <a:endParaRPr lang="en-US" sz="1400" dirty="0"/>
          </a:p>
        </p:txBody>
      </p:sp>
      <p:sp>
        <p:nvSpPr>
          <p:cNvPr id="102" name="Shape 99"/>
          <p:cNvSpPr/>
          <p:nvPr/>
        </p:nvSpPr>
        <p:spPr>
          <a:xfrm>
            <a:off x="5989625" y="5084064"/>
            <a:ext cx="2544064" cy="749808"/>
          </a:xfrm>
          <a:prstGeom prst="roundRect">
            <a:avLst>
              <a:gd name="adj" fmla="val 7317"/>
            </a:avLst>
          </a:prstGeom>
          <a:solidFill>
            <a:srgbClr val="FFFFFF"/>
          </a:solidFill>
          <a:ln w="12700">
            <a:solidFill>
              <a:srgbClr val="D9E0EC"/>
            </a:solidFill>
            <a:prstDash val="solid"/>
          </a:ln>
        </p:spPr>
      </p:sp>
      <p:sp>
        <p:nvSpPr>
          <p:cNvPr id="103" name="Text 100"/>
          <p:cNvSpPr txBox="1"/>
          <p:nvPr/>
        </p:nvSpPr>
        <p:spPr>
          <a:xfrm>
            <a:off x="5989625" y="5084064"/>
            <a:ext cx="2544064" cy="749808"/>
          </a:xfrm>
          <a:prstGeom prst="rect">
            <a:avLst/>
          </a:prstGeom>
          <a:noFill/>
          <a:ln/>
        </p:spPr>
        <p:txBody>
          <a:bodyPr wrap="square" lIns="1016" tIns="1016" rIns="1016" bIns="1016" rtlCol="0" anchor="ctr"/>
          <a:lstStyle/>
          <a:p>
            <a:pPr algn="ctr" indent="0" marL="0">
              <a:buNone/>
            </a:pPr>
            <a:r>
              <a:rPr lang="en-US" sz="1400" dirty="0">
                <a:solidFill>
                  <a:srgbClr val="2B3242"/>
                </a:solidFill>
                <a:latin typeface="Pretendard" pitchFamily="34" charset="0"/>
                <a:ea typeface="Pretendard" pitchFamily="34" charset="-122"/>
                <a:cs typeface="Pretendard" pitchFamily="34" charset="-120"/>
              </a:rPr>
              <a:t>(A사) ─출시→ (B카드)</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같은 이름 합침, 설명은 LLM 요약</a:t>
            </a:r>
            <a:endParaRPr lang="en-US" sz="1400" dirty="0"/>
          </a:p>
        </p:txBody>
      </p:sp>
      <p:sp>
        <p:nvSpPr>
          <p:cNvPr id="104" name="Shape 101"/>
          <p:cNvSpPr/>
          <p:nvPr/>
        </p:nvSpPr>
        <p:spPr>
          <a:xfrm>
            <a:off x="8789721" y="5084064"/>
            <a:ext cx="2544064" cy="749808"/>
          </a:xfrm>
          <a:prstGeom prst="roundRect">
            <a:avLst>
              <a:gd name="adj" fmla="val 7317"/>
            </a:avLst>
          </a:prstGeom>
          <a:solidFill>
            <a:srgbClr val="FFFFFF"/>
          </a:solidFill>
          <a:ln w="12700">
            <a:solidFill>
              <a:srgbClr val="D9E0EC"/>
            </a:solidFill>
            <a:prstDash val="solid"/>
          </a:ln>
        </p:spPr>
      </p:sp>
      <p:sp>
        <p:nvSpPr>
          <p:cNvPr id="105" name="Text 102"/>
          <p:cNvSpPr txBox="1"/>
          <p:nvPr/>
        </p:nvSpPr>
        <p:spPr>
          <a:xfrm>
            <a:off x="8789721" y="5084064"/>
            <a:ext cx="2544064" cy="749808"/>
          </a:xfrm>
          <a:prstGeom prst="rect">
            <a:avLst/>
          </a:prstGeom>
          <a:noFill/>
          <a:ln/>
        </p:spPr>
        <p:txBody>
          <a:bodyPr wrap="square" lIns="1016" tIns="1016" rIns="1016" bIns="1016" rtlCol="0" anchor="ctr"/>
          <a:lstStyle/>
          <a:p>
            <a:pPr algn="ctr" indent="0" marL="0">
              <a:buNone/>
            </a:pPr>
            <a:r>
              <a:rPr lang="en-US" sz="1400" dirty="0">
                <a:solidFill>
                  <a:srgbClr val="2B3242"/>
                </a:solidFill>
                <a:latin typeface="Pretendard" pitchFamily="34" charset="0"/>
                <a:ea typeface="Pretendard" pitchFamily="34" charset="-122"/>
                <a:cs typeface="Pretendard" pitchFamily="34" charset="-120"/>
              </a:rPr>
              <a:t>노드·관계 연결망(KG) 완성</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묶기는 알고리즘, 요약은 LLM</a:t>
            </a:r>
            <a:endParaRPr lang="en-US" sz="1400" dirty="0"/>
          </a:p>
        </p:txBody>
      </p:sp>
      <p:sp>
        <p:nvSpPr>
          <p:cNvPr id="106" name="Shape 103"/>
          <p:cNvSpPr/>
          <p:nvPr/>
        </p:nvSpPr>
        <p:spPr>
          <a:xfrm>
            <a:off x="11589817" y="5084064"/>
            <a:ext cx="2544064" cy="749808"/>
          </a:xfrm>
          <a:prstGeom prst="roundRect">
            <a:avLst>
              <a:gd name="adj" fmla="val 7317"/>
            </a:avLst>
          </a:prstGeom>
          <a:solidFill>
            <a:srgbClr val="FFFFFF"/>
          </a:solidFill>
          <a:ln w="12700">
            <a:solidFill>
              <a:srgbClr val="D9E0EC"/>
            </a:solidFill>
            <a:prstDash val="solid"/>
          </a:ln>
        </p:spPr>
      </p:sp>
      <p:sp>
        <p:nvSpPr>
          <p:cNvPr id="107" name="Text 104"/>
          <p:cNvSpPr txBox="1"/>
          <p:nvPr/>
        </p:nvSpPr>
        <p:spPr>
          <a:xfrm>
            <a:off x="11589817" y="5084064"/>
            <a:ext cx="2544064" cy="749808"/>
          </a:xfrm>
          <a:prstGeom prst="rect">
            <a:avLst/>
          </a:prstGeom>
          <a:noFill/>
          <a:ln/>
        </p:spPr>
        <p:txBody>
          <a:bodyPr wrap="square" lIns="1016" tIns="1016" rIns="1016" bIns="1016" rtlCol="0" anchor="ctr"/>
          <a:lstStyle/>
          <a:p>
            <a:pPr algn="ctr" indent="0" marL="0">
              <a:buNone/>
            </a:pPr>
            <a:r>
              <a:rPr lang="en-US" sz="1400" dirty="0">
                <a:solidFill>
                  <a:srgbClr val="2B3242"/>
                </a:solidFill>
                <a:latin typeface="Pretendard" pitchFamily="34" charset="0"/>
                <a:ea typeface="Pretendard" pitchFamily="34" charset="-122"/>
                <a:cs typeface="Pretendard" pitchFamily="34" charset="-120"/>
              </a:rPr>
              <a:t>임베딩: 청크 + 노드 설명</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(관계 연결은 임베딩 안 함)</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적재: KG + 벡터 함께 저장</a:t>
            </a:r>
            <a:endParaRPr lang="en-US" sz="1400" dirty="0"/>
          </a:p>
        </p:txBody>
      </p:sp>
      <p:sp>
        <p:nvSpPr>
          <p:cNvPr id="108" name="Shape 105"/>
          <p:cNvSpPr/>
          <p:nvPr/>
        </p:nvSpPr>
        <p:spPr>
          <a:xfrm>
            <a:off x="509321" y="5943600"/>
            <a:ext cx="4419600" cy="1325880"/>
          </a:xfrm>
          <a:prstGeom prst="roundRect">
            <a:avLst>
              <a:gd name="adj" fmla="val 5517"/>
            </a:avLst>
          </a:prstGeom>
          <a:solidFill>
            <a:srgbClr val="FFFFFF"/>
          </a:solidFill>
          <a:ln w="12700">
            <a:solidFill>
              <a:srgbClr val="D9E0EC"/>
            </a:solidFill>
            <a:prstDash val="solid"/>
          </a:ln>
        </p:spPr>
      </p:sp>
      <p:sp>
        <p:nvSpPr>
          <p:cNvPr id="109" name="Shape 106"/>
          <p:cNvSpPr/>
          <p:nvPr/>
        </p:nvSpPr>
        <p:spPr>
          <a:xfrm>
            <a:off x="646481" y="6071616"/>
            <a:ext cx="347472" cy="347472"/>
          </a:xfrm>
          <a:prstGeom prst="roundRect">
            <a:avLst>
              <a:gd name="adj" fmla="val 13158"/>
            </a:avLst>
          </a:prstGeom>
          <a:solidFill>
            <a:srgbClr val="2E74C6"/>
          </a:solidFill>
          <a:ln/>
        </p:spPr>
      </p:sp>
      <p:sp>
        <p:nvSpPr>
          <p:cNvPr id="110" name="Text 107"/>
          <p:cNvSpPr txBox="1"/>
          <p:nvPr/>
        </p:nvSpPr>
        <p:spPr>
          <a:xfrm>
            <a:off x="646481" y="6071616"/>
            <a:ext cx="347472" cy="347472"/>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1</a:t>
            </a:r>
            <a:endParaRPr lang="en-US" sz="1600" dirty="0"/>
          </a:p>
        </p:txBody>
      </p:sp>
      <p:sp>
        <p:nvSpPr>
          <p:cNvPr id="111" name="Text 108"/>
          <p:cNvSpPr txBox="1"/>
          <p:nvPr/>
        </p:nvSpPr>
        <p:spPr>
          <a:xfrm>
            <a:off x="1076249" y="6053328"/>
            <a:ext cx="3733800" cy="384048"/>
          </a:xfrm>
          <a:prstGeom prst="rect">
            <a:avLst/>
          </a:prstGeom>
          <a:noFill/>
          <a:ln/>
        </p:spPr>
        <p:txBody>
          <a:bodyPr wrap="square" lIns="762" tIns="762" rIns="762" bIns="762" rtlCol="0" anchor="ctr"/>
          <a:lstStyle/>
          <a:p>
            <a:pPr algn="l" indent="0" marL="0">
              <a:buNone/>
            </a:pPr>
            <a:r>
              <a:rPr lang="en-US" sz="1700" b="1" dirty="0">
                <a:solidFill>
                  <a:srgbClr val="1E2A5C"/>
                </a:solidFill>
                <a:latin typeface="Pretendard" pitchFamily="34" charset="0"/>
                <a:ea typeface="Pretendard" pitchFamily="34" charset="-122"/>
                <a:cs typeface="Pretendard" pitchFamily="34" charset="-120"/>
              </a:rPr>
              <a:t>글을 무엇으로 바꾸나</a:t>
            </a:r>
            <a:endParaRPr lang="en-US" sz="1700" dirty="0"/>
          </a:p>
        </p:txBody>
      </p:sp>
      <p:sp>
        <p:nvSpPr>
          <p:cNvPr id="112" name="Shape 109"/>
          <p:cNvSpPr/>
          <p:nvPr/>
        </p:nvSpPr>
        <p:spPr>
          <a:xfrm>
            <a:off x="646481" y="6492240"/>
            <a:ext cx="987552" cy="329184"/>
          </a:xfrm>
          <a:prstGeom prst="roundRect">
            <a:avLst>
              <a:gd name="adj" fmla="val 45000"/>
            </a:avLst>
          </a:prstGeom>
          <a:solidFill>
            <a:srgbClr val="EEF3FA"/>
          </a:solidFill>
          <a:ln w="12700">
            <a:solidFill>
              <a:srgbClr val="C3CEE0"/>
            </a:solidFill>
            <a:prstDash val="solid"/>
          </a:ln>
        </p:spPr>
      </p:sp>
      <p:sp>
        <p:nvSpPr>
          <p:cNvPr id="113" name="Text 110"/>
          <p:cNvSpPr txBox="1"/>
          <p:nvPr/>
        </p:nvSpPr>
        <p:spPr>
          <a:xfrm>
            <a:off x="646481" y="6492240"/>
            <a:ext cx="987552" cy="329184"/>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벡터DB</a:t>
            </a:r>
            <a:endParaRPr lang="en-US" sz="1400" dirty="0"/>
          </a:p>
        </p:txBody>
      </p:sp>
      <p:sp>
        <p:nvSpPr>
          <p:cNvPr id="114" name="Text 111"/>
          <p:cNvSpPr txBox="1"/>
          <p:nvPr/>
        </p:nvSpPr>
        <p:spPr>
          <a:xfrm>
            <a:off x="1725473" y="6473952"/>
            <a:ext cx="3112008" cy="384048"/>
          </a:xfrm>
          <a:prstGeom prst="rect">
            <a:avLst/>
          </a:prstGeom>
          <a:noFill/>
          <a:ln/>
        </p:spPr>
        <p:txBody>
          <a:bodyPr wrap="square" lIns="762" tIns="762" rIns="762" bIns="762" rtlCol="0" anchor="ctr"/>
          <a:lstStyle/>
          <a:p>
            <a:pPr algn="l" indent="0" marL="0">
              <a:buNone/>
            </a:pPr>
            <a:r>
              <a:rPr lang="en-US" sz="1500" dirty="0">
                <a:solidFill>
                  <a:srgbClr val="3B4557"/>
                </a:solidFill>
                <a:latin typeface="Pretendard" pitchFamily="34" charset="0"/>
                <a:ea typeface="Pretendard" pitchFamily="34" charset="-122"/>
                <a:cs typeface="Pretendard" pitchFamily="34" charset="-120"/>
              </a:rPr>
              <a:t>숫자 벡터 → 뜻이 비슷한 글 찾기</a:t>
            </a:r>
            <a:endParaRPr lang="en-US" sz="1500" dirty="0"/>
          </a:p>
        </p:txBody>
      </p:sp>
      <p:sp>
        <p:nvSpPr>
          <p:cNvPr id="115" name="Shape 112"/>
          <p:cNvSpPr/>
          <p:nvPr/>
        </p:nvSpPr>
        <p:spPr>
          <a:xfrm>
            <a:off x="646481" y="6894576"/>
            <a:ext cx="987552" cy="329184"/>
          </a:xfrm>
          <a:prstGeom prst="roundRect">
            <a:avLst>
              <a:gd name="adj" fmla="val 45000"/>
            </a:avLst>
          </a:prstGeom>
          <a:solidFill>
            <a:srgbClr val="2E74C6"/>
          </a:solidFill>
          <a:ln/>
        </p:spPr>
      </p:sp>
      <p:sp>
        <p:nvSpPr>
          <p:cNvPr id="116" name="Text 113"/>
          <p:cNvSpPr txBox="1"/>
          <p:nvPr/>
        </p:nvSpPr>
        <p:spPr>
          <a:xfrm>
            <a:off x="646481" y="6894576"/>
            <a:ext cx="987552" cy="329184"/>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그래프DB</a:t>
            </a:r>
            <a:endParaRPr lang="en-US" sz="1400" dirty="0"/>
          </a:p>
        </p:txBody>
      </p:sp>
      <p:sp>
        <p:nvSpPr>
          <p:cNvPr id="117" name="Text 114"/>
          <p:cNvSpPr txBox="1"/>
          <p:nvPr/>
        </p:nvSpPr>
        <p:spPr>
          <a:xfrm>
            <a:off x="1725473" y="6876288"/>
            <a:ext cx="3112008" cy="384048"/>
          </a:xfrm>
          <a:prstGeom prst="rect">
            <a:avLst/>
          </a:prstGeom>
          <a:noFill/>
          <a:ln/>
        </p:spPr>
        <p:txBody>
          <a:bodyPr wrap="square" lIns="762" tIns="762" rIns="762" bIns="762" rtlCol="0" anchor="ctr"/>
          <a:lstStyle/>
          <a:p>
            <a:pPr algn="l" indent="0" marL="0">
              <a:buNone/>
            </a:pPr>
            <a:r>
              <a:rPr lang="en-US" sz="1500" b="1" dirty="0">
                <a:solidFill>
                  <a:srgbClr val="2B3242"/>
                </a:solidFill>
                <a:latin typeface="Pretendard" pitchFamily="34" charset="0"/>
                <a:ea typeface="Pretendard" pitchFamily="34" charset="-122"/>
                <a:cs typeface="Pretendard" pitchFamily="34" charset="-120"/>
              </a:rPr>
              <a:t>노드·관계 → 누가 누구와 이어지나</a:t>
            </a:r>
            <a:endParaRPr lang="en-US" sz="1500" dirty="0"/>
          </a:p>
        </p:txBody>
      </p:sp>
      <p:sp>
        <p:nvSpPr>
          <p:cNvPr id="118" name="Shape 115"/>
          <p:cNvSpPr/>
          <p:nvPr/>
        </p:nvSpPr>
        <p:spPr>
          <a:xfrm>
            <a:off x="5111801" y="5943600"/>
            <a:ext cx="4419600" cy="1325880"/>
          </a:xfrm>
          <a:prstGeom prst="roundRect">
            <a:avLst>
              <a:gd name="adj" fmla="val 5517"/>
            </a:avLst>
          </a:prstGeom>
          <a:solidFill>
            <a:srgbClr val="FFFFFF"/>
          </a:solidFill>
          <a:ln w="12700">
            <a:solidFill>
              <a:srgbClr val="D9E0EC"/>
            </a:solidFill>
            <a:prstDash val="solid"/>
          </a:ln>
        </p:spPr>
      </p:sp>
      <p:sp>
        <p:nvSpPr>
          <p:cNvPr id="119" name="Shape 116"/>
          <p:cNvSpPr/>
          <p:nvPr/>
        </p:nvSpPr>
        <p:spPr>
          <a:xfrm>
            <a:off x="5248961" y="6071616"/>
            <a:ext cx="347472" cy="347472"/>
          </a:xfrm>
          <a:prstGeom prst="roundRect">
            <a:avLst>
              <a:gd name="adj" fmla="val 13158"/>
            </a:avLst>
          </a:prstGeom>
          <a:solidFill>
            <a:srgbClr val="2E74C6"/>
          </a:solidFill>
          <a:ln/>
        </p:spPr>
      </p:sp>
      <p:sp>
        <p:nvSpPr>
          <p:cNvPr id="120" name="Text 117"/>
          <p:cNvSpPr txBox="1"/>
          <p:nvPr/>
        </p:nvSpPr>
        <p:spPr>
          <a:xfrm>
            <a:off x="5248961" y="6071616"/>
            <a:ext cx="347472" cy="347472"/>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2</a:t>
            </a:r>
            <a:endParaRPr lang="en-US" sz="1600" dirty="0"/>
          </a:p>
        </p:txBody>
      </p:sp>
      <p:sp>
        <p:nvSpPr>
          <p:cNvPr id="121" name="Text 118"/>
          <p:cNvSpPr txBox="1"/>
          <p:nvPr/>
        </p:nvSpPr>
        <p:spPr>
          <a:xfrm>
            <a:off x="5678729" y="6053328"/>
            <a:ext cx="3733800" cy="384048"/>
          </a:xfrm>
          <a:prstGeom prst="rect">
            <a:avLst/>
          </a:prstGeom>
          <a:noFill/>
          <a:ln/>
        </p:spPr>
        <p:txBody>
          <a:bodyPr wrap="square" lIns="762" tIns="762" rIns="762" bIns="762" rtlCol="0" anchor="ctr"/>
          <a:lstStyle/>
          <a:p>
            <a:pPr algn="l" indent="0" marL="0">
              <a:buNone/>
            </a:pPr>
            <a:r>
              <a:rPr lang="en-US" sz="1700" b="1" dirty="0">
                <a:solidFill>
                  <a:srgbClr val="1E2A5C"/>
                </a:solidFill>
                <a:latin typeface="Pretendard" pitchFamily="34" charset="0"/>
                <a:ea typeface="Pretendard" pitchFamily="34" charset="-122"/>
                <a:cs typeface="Pretendard" pitchFamily="34" charset="-120"/>
              </a:rPr>
              <a:t>누가 바꾸나</a:t>
            </a:r>
            <a:endParaRPr lang="en-US" sz="1700" dirty="0"/>
          </a:p>
        </p:txBody>
      </p:sp>
      <p:sp>
        <p:nvSpPr>
          <p:cNvPr id="122" name="Shape 119"/>
          <p:cNvSpPr/>
          <p:nvPr/>
        </p:nvSpPr>
        <p:spPr>
          <a:xfrm>
            <a:off x="5248961" y="6492240"/>
            <a:ext cx="987552" cy="329184"/>
          </a:xfrm>
          <a:prstGeom prst="roundRect">
            <a:avLst>
              <a:gd name="adj" fmla="val 45000"/>
            </a:avLst>
          </a:prstGeom>
          <a:solidFill>
            <a:srgbClr val="EEF3FA"/>
          </a:solidFill>
          <a:ln w="12700">
            <a:solidFill>
              <a:srgbClr val="C3CEE0"/>
            </a:solidFill>
            <a:prstDash val="solid"/>
          </a:ln>
        </p:spPr>
      </p:sp>
      <p:sp>
        <p:nvSpPr>
          <p:cNvPr id="123" name="Text 120"/>
          <p:cNvSpPr txBox="1"/>
          <p:nvPr/>
        </p:nvSpPr>
        <p:spPr>
          <a:xfrm>
            <a:off x="5248961" y="6492240"/>
            <a:ext cx="987552" cy="329184"/>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벡터DB</a:t>
            </a:r>
            <a:endParaRPr lang="en-US" sz="1400" dirty="0"/>
          </a:p>
        </p:txBody>
      </p:sp>
      <p:sp>
        <p:nvSpPr>
          <p:cNvPr id="124" name="Text 121"/>
          <p:cNvSpPr txBox="1"/>
          <p:nvPr/>
        </p:nvSpPr>
        <p:spPr>
          <a:xfrm>
            <a:off x="6327953" y="6473952"/>
            <a:ext cx="3112008" cy="384048"/>
          </a:xfrm>
          <a:prstGeom prst="rect">
            <a:avLst/>
          </a:prstGeom>
          <a:noFill/>
          <a:ln/>
        </p:spPr>
        <p:txBody>
          <a:bodyPr wrap="square" lIns="762" tIns="762" rIns="762" bIns="762" rtlCol="0" anchor="ctr"/>
          <a:lstStyle/>
          <a:p>
            <a:pPr algn="l" indent="0" marL="0">
              <a:buNone/>
            </a:pPr>
            <a:r>
              <a:rPr lang="en-US" sz="1500" dirty="0">
                <a:solidFill>
                  <a:srgbClr val="3B4557"/>
                </a:solidFill>
                <a:latin typeface="Pretendard" pitchFamily="34" charset="0"/>
                <a:ea typeface="Pretendard" pitchFamily="34" charset="-122"/>
                <a:cs typeface="Pretendard" pitchFamily="34" charset="-120"/>
              </a:rPr>
              <a:t>임베딩 모델 → 빠르고 쌈</a:t>
            </a:r>
            <a:endParaRPr lang="en-US" sz="1500" dirty="0"/>
          </a:p>
        </p:txBody>
      </p:sp>
      <p:sp>
        <p:nvSpPr>
          <p:cNvPr id="125" name="Shape 122"/>
          <p:cNvSpPr/>
          <p:nvPr/>
        </p:nvSpPr>
        <p:spPr>
          <a:xfrm>
            <a:off x="5248961" y="6894576"/>
            <a:ext cx="987552" cy="329184"/>
          </a:xfrm>
          <a:prstGeom prst="roundRect">
            <a:avLst>
              <a:gd name="adj" fmla="val 45000"/>
            </a:avLst>
          </a:prstGeom>
          <a:solidFill>
            <a:srgbClr val="2E74C6"/>
          </a:solidFill>
          <a:ln/>
        </p:spPr>
      </p:sp>
      <p:sp>
        <p:nvSpPr>
          <p:cNvPr id="126" name="Text 123"/>
          <p:cNvSpPr txBox="1"/>
          <p:nvPr/>
        </p:nvSpPr>
        <p:spPr>
          <a:xfrm>
            <a:off x="5248961" y="6894576"/>
            <a:ext cx="987552" cy="329184"/>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그래프DB</a:t>
            </a:r>
            <a:endParaRPr lang="en-US" sz="1400" dirty="0"/>
          </a:p>
        </p:txBody>
      </p:sp>
      <p:sp>
        <p:nvSpPr>
          <p:cNvPr id="127" name="Text 124"/>
          <p:cNvSpPr txBox="1"/>
          <p:nvPr/>
        </p:nvSpPr>
        <p:spPr>
          <a:xfrm>
            <a:off x="6327953" y="6876288"/>
            <a:ext cx="3112008" cy="384048"/>
          </a:xfrm>
          <a:prstGeom prst="rect">
            <a:avLst/>
          </a:prstGeom>
          <a:noFill/>
          <a:ln/>
        </p:spPr>
        <p:txBody>
          <a:bodyPr wrap="square" lIns="762" tIns="762" rIns="762" bIns="762" rtlCol="0" anchor="ctr"/>
          <a:lstStyle/>
          <a:p>
            <a:pPr algn="l" indent="0" marL="0">
              <a:buNone/>
            </a:pPr>
            <a:r>
              <a:rPr lang="en-US" sz="1500" b="1" dirty="0">
                <a:solidFill>
                  <a:srgbClr val="2B3242"/>
                </a:solidFill>
                <a:latin typeface="Pretendard" pitchFamily="34" charset="0"/>
                <a:ea typeface="Pretendard" pitchFamily="34" charset="-122"/>
                <a:cs typeface="Pretendard" pitchFamily="34" charset="-120"/>
              </a:rPr>
              <a:t>LLM(추출·요약)까지 → 느리고 비쌈</a:t>
            </a:r>
            <a:endParaRPr lang="en-US" sz="1500" dirty="0"/>
          </a:p>
        </p:txBody>
      </p:sp>
      <p:sp>
        <p:nvSpPr>
          <p:cNvPr id="128" name="Shape 125"/>
          <p:cNvSpPr/>
          <p:nvPr/>
        </p:nvSpPr>
        <p:spPr>
          <a:xfrm>
            <a:off x="9714281" y="5943600"/>
            <a:ext cx="4419600" cy="1325880"/>
          </a:xfrm>
          <a:prstGeom prst="roundRect">
            <a:avLst>
              <a:gd name="adj" fmla="val 5517"/>
            </a:avLst>
          </a:prstGeom>
          <a:solidFill>
            <a:srgbClr val="FFFFFF"/>
          </a:solidFill>
          <a:ln w="12700">
            <a:solidFill>
              <a:srgbClr val="D9E0EC"/>
            </a:solidFill>
            <a:prstDash val="solid"/>
          </a:ln>
        </p:spPr>
      </p:sp>
      <p:sp>
        <p:nvSpPr>
          <p:cNvPr id="129" name="Shape 126"/>
          <p:cNvSpPr/>
          <p:nvPr/>
        </p:nvSpPr>
        <p:spPr>
          <a:xfrm>
            <a:off x="9851441" y="6071616"/>
            <a:ext cx="347472" cy="347472"/>
          </a:xfrm>
          <a:prstGeom prst="roundRect">
            <a:avLst>
              <a:gd name="adj" fmla="val 13158"/>
            </a:avLst>
          </a:prstGeom>
          <a:solidFill>
            <a:srgbClr val="2E74C6"/>
          </a:solidFill>
          <a:ln/>
        </p:spPr>
      </p:sp>
      <p:sp>
        <p:nvSpPr>
          <p:cNvPr id="130" name="Text 127"/>
          <p:cNvSpPr txBox="1"/>
          <p:nvPr/>
        </p:nvSpPr>
        <p:spPr>
          <a:xfrm>
            <a:off x="9851441" y="6071616"/>
            <a:ext cx="347472" cy="347472"/>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3</a:t>
            </a:r>
            <a:endParaRPr lang="en-US" sz="1600" dirty="0"/>
          </a:p>
        </p:txBody>
      </p:sp>
      <p:sp>
        <p:nvSpPr>
          <p:cNvPr id="131" name="Text 128"/>
          <p:cNvSpPr txBox="1"/>
          <p:nvPr/>
        </p:nvSpPr>
        <p:spPr>
          <a:xfrm>
            <a:off x="10281209" y="6053328"/>
            <a:ext cx="3733800" cy="384048"/>
          </a:xfrm>
          <a:prstGeom prst="rect">
            <a:avLst/>
          </a:prstGeom>
          <a:noFill/>
          <a:ln/>
        </p:spPr>
        <p:txBody>
          <a:bodyPr wrap="square" lIns="762" tIns="762" rIns="762" bIns="762" rtlCol="0" anchor="ctr"/>
          <a:lstStyle/>
          <a:p>
            <a:pPr algn="l" indent="0" marL="0">
              <a:buNone/>
            </a:pPr>
            <a:r>
              <a:rPr lang="en-US" sz="1700" b="1" dirty="0">
                <a:solidFill>
                  <a:srgbClr val="1E2A5C"/>
                </a:solidFill>
                <a:latin typeface="Pretendard" pitchFamily="34" charset="0"/>
                <a:ea typeface="Pretendard" pitchFamily="34" charset="-122"/>
                <a:cs typeface="Pretendard" pitchFamily="34" charset="-120"/>
              </a:rPr>
              <a:t>무엇에 강한가</a:t>
            </a:r>
            <a:endParaRPr lang="en-US" sz="1700" dirty="0"/>
          </a:p>
        </p:txBody>
      </p:sp>
      <p:sp>
        <p:nvSpPr>
          <p:cNvPr id="132" name="Shape 129"/>
          <p:cNvSpPr/>
          <p:nvPr/>
        </p:nvSpPr>
        <p:spPr>
          <a:xfrm>
            <a:off x="9851441" y="6492240"/>
            <a:ext cx="987552" cy="329184"/>
          </a:xfrm>
          <a:prstGeom prst="roundRect">
            <a:avLst>
              <a:gd name="adj" fmla="val 45000"/>
            </a:avLst>
          </a:prstGeom>
          <a:solidFill>
            <a:srgbClr val="EEF3FA"/>
          </a:solidFill>
          <a:ln w="12700">
            <a:solidFill>
              <a:srgbClr val="C3CEE0"/>
            </a:solidFill>
            <a:prstDash val="solid"/>
          </a:ln>
        </p:spPr>
      </p:sp>
      <p:sp>
        <p:nvSpPr>
          <p:cNvPr id="133" name="Text 130"/>
          <p:cNvSpPr txBox="1"/>
          <p:nvPr/>
        </p:nvSpPr>
        <p:spPr>
          <a:xfrm>
            <a:off x="9851441" y="6492240"/>
            <a:ext cx="987552" cy="329184"/>
          </a:xfrm>
          <a:prstGeom prst="rect">
            <a:avLst/>
          </a:prstGeom>
          <a:noFill/>
          <a:ln/>
        </p:spPr>
        <p:txBody>
          <a:bodyPr wrap="square" lIns="1016" tIns="1016" rIns="1016" bIns="1016"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벡터DB</a:t>
            </a:r>
            <a:endParaRPr lang="en-US" sz="1400" dirty="0"/>
          </a:p>
        </p:txBody>
      </p:sp>
      <p:sp>
        <p:nvSpPr>
          <p:cNvPr id="134" name="Text 131"/>
          <p:cNvSpPr txBox="1"/>
          <p:nvPr/>
        </p:nvSpPr>
        <p:spPr>
          <a:xfrm>
            <a:off x="10930433" y="6473952"/>
            <a:ext cx="3112008" cy="384048"/>
          </a:xfrm>
          <a:prstGeom prst="rect">
            <a:avLst/>
          </a:prstGeom>
          <a:noFill/>
          <a:ln/>
        </p:spPr>
        <p:txBody>
          <a:bodyPr wrap="square" lIns="762" tIns="762" rIns="762" bIns="762" rtlCol="0" anchor="ctr"/>
          <a:lstStyle/>
          <a:p>
            <a:pPr algn="l" indent="0" marL="0">
              <a:buNone/>
            </a:pPr>
            <a:r>
              <a:rPr lang="en-US" sz="1500" dirty="0">
                <a:solidFill>
                  <a:srgbClr val="3B4557"/>
                </a:solidFill>
                <a:latin typeface="Pretendard" pitchFamily="34" charset="0"/>
                <a:ea typeface="Pretendard" pitchFamily="34" charset="-122"/>
                <a:cs typeface="Pretendard" pitchFamily="34" charset="-120"/>
              </a:rPr>
              <a:t>한 문단으로 끝나는 질문</a:t>
            </a:r>
            <a:endParaRPr lang="en-US" sz="1500" dirty="0"/>
          </a:p>
        </p:txBody>
      </p:sp>
      <p:sp>
        <p:nvSpPr>
          <p:cNvPr id="135" name="Shape 132"/>
          <p:cNvSpPr/>
          <p:nvPr/>
        </p:nvSpPr>
        <p:spPr>
          <a:xfrm>
            <a:off x="9851441" y="6894576"/>
            <a:ext cx="987552" cy="329184"/>
          </a:xfrm>
          <a:prstGeom prst="roundRect">
            <a:avLst>
              <a:gd name="adj" fmla="val 45000"/>
            </a:avLst>
          </a:prstGeom>
          <a:solidFill>
            <a:srgbClr val="2E74C6"/>
          </a:solidFill>
          <a:ln/>
        </p:spPr>
      </p:sp>
      <p:sp>
        <p:nvSpPr>
          <p:cNvPr id="136" name="Text 133"/>
          <p:cNvSpPr txBox="1"/>
          <p:nvPr/>
        </p:nvSpPr>
        <p:spPr>
          <a:xfrm>
            <a:off x="9851441" y="6894576"/>
            <a:ext cx="987552" cy="329184"/>
          </a:xfrm>
          <a:prstGeom prst="rect">
            <a:avLst/>
          </a:prstGeom>
          <a:noFill/>
          <a:ln/>
        </p:spPr>
        <p:txBody>
          <a:bodyPr wrap="square" lIns="1016" tIns="1016" rIns="1016" bIns="1016"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그래프DB</a:t>
            </a:r>
            <a:endParaRPr lang="en-US" sz="1400" dirty="0"/>
          </a:p>
        </p:txBody>
      </p:sp>
      <p:sp>
        <p:nvSpPr>
          <p:cNvPr id="137" name="Text 134"/>
          <p:cNvSpPr txBox="1"/>
          <p:nvPr/>
        </p:nvSpPr>
        <p:spPr>
          <a:xfrm>
            <a:off x="10930433" y="6876288"/>
            <a:ext cx="3112008" cy="384048"/>
          </a:xfrm>
          <a:prstGeom prst="rect">
            <a:avLst/>
          </a:prstGeom>
          <a:noFill/>
          <a:ln/>
        </p:spPr>
        <p:txBody>
          <a:bodyPr wrap="square" lIns="762" tIns="762" rIns="762" bIns="762" rtlCol="0" anchor="ctr"/>
          <a:lstStyle/>
          <a:p>
            <a:pPr algn="l" indent="0" marL="0">
              <a:buNone/>
            </a:pPr>
            <a:r>
              <a:rPr lang="en-US" sz="1500" b="1" dirty="0">
                <a:solidFill>
                  <a:srgbClr val="2B3242"/>
                </a:solidFill>
                <a:latin typeface="Pretendard" pitchFamily="34" charset="0"/>
                <a:ea typeface="Pretendard" pitchFamily="34" charset="-122"/>
                <a:cs typeface="Pretendard" pitchFamily="34" charset="-120"/>
              </a:rPr>
              <a:t>여러 단계 연결 · 전체 경향</a:t>
            </a:r>
            <a:endParaRPr lang="en-US" sz="15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2026-10-13T05:35:12Z</dcterms:created>
  <dcterms:modified xsi:type="dcterms:W3CDTF">2026-10-13T05:35:12Z</dcterms:modified>
</cp:coreProperties>
</file>