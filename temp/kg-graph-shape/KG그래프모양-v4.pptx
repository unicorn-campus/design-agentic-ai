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바깥 틀이 KG, 즉 Neo4j에 들어 있는 그래프 하나입니다. 그 안을 논리적으로 두 층으로 나눠 볼 수 있습니다. 위층은 엔티티 그래프입니다. LLM이 조항 단위로 읽고 뽑은 엔티티와 관계입니다. 원은 엔티티이고, 약관 문서, 조항, 조건, 기한, 처리가 모두 엔티티입니다. 이름표가 붙은 선이 관계입니다. 문서가 조항을 가지는 HAS_CLAUSE, 조항이 조건, 기한, 처리를 정하는 SETS_REQUIREMENT, SETS_DEADLINE, DEFINES_HANDLING이 있습니다.
아래층은 Lexical Graph입니다. 검색엔진의 청크를 코드가 그대로 옮긴 청크 노드입니다. LLM이 뽑은 것이 아니고, chunk_id가 검색엔진과 같습니다. 원문 본문도 함께 들어 있어 답의 근거를 보여 줄 때 씁니다. v0는 Document 노드와 NEXT_CHUNK는 만들지 않고 청크 노드만 둡니다.
두 층은 따로 저장되지 않고 같은 그래프 안에서 FROM_CHUNK로 이어집니다. 엔티티마다 자기 조항이 나온 청크로 이어집니다. 제15조는 왼쪽 청크에만, 제17조는 오른쪽 청크에만 있습니다. 제16조와 제16조의2는 두 청크가 겹치는 구간에 있어 두 청크 모두에 이어집니다. 약관 문서 노드도 두 청크 모두에 이어집니다. 그림이 복잡해지지 않게 점선 묶음마다 선을 모아 그렸습니다. 점선 묶음은 설명용 표시이고, 추출 단위는 그래프에 남지 않습니다.
색과 모양 읽는 법입니다. 같은 색의 원은 모두 엔티티 노드이고, 같은 색의 실선은 엔티티 사이 관계입니다. 관계 종류는 선 위 이름표로 구분합니다. 남색 사각형은 청크 노드로, 글에서 뽑은 개체가 아니라 엔티티가 아닙니다. 남색 점선이 FROM_CHUNK 관계이고, 엔티티 그래프의 모든 엔티티가 이 관계로 청크 노드에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KG 그래프의 모양</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엔티티 그래프의 모든 엔티티는 Lexical Graph의 청크 노드에 FROM_CHUNK로 이어짐 (KG 하나 안의 두 층)</a:t>
            </a:r>
            <a:endParaRPr lang="en-US" sz="1800" dirty="0"/>
          </a:p>
        </p:txBody>
      </p:sp>
      <p:sp>
        <p:nvSpPr>
          <p:cNvPr id="5" name="Text 2"/>
          <p:cNvSpPr txBox="1"/>
          <p:nvPr/>
        </p:nvSpPr>
        <p:spPr>
          <a:xfrm>
            <a:off x="509321" y="1591056"/>
            <a:ext cx="13624560" cy="256032"/>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관계 이름  </a:t>
            </a:r>
            <a:pPr indent="0" marL="0">
              <a:buNone/>
            </a:pPr>
            <a:r>
              <a:rPr lang="en-US" sz="1400" dirty="0">
                <a:solidFill>
                  <a:srgbClr val="3B4557"/>
                </a:solidFill>
                <a:latin typeface="Pretendard" pitchFamily="34" charset="0"/>
                <a:ea typeface="Pretendard" pitchFamily="34" charset="-122"/>
                <a:cs typeface="Pretendard" pitchFamily="34" charset="-120"/>
              </a:rPr>
              <a:t>조항 가짐 = HAS_CLAUSE,  조건 둠 = SETS_REQUIREMENT,  기한 둠 = SETS_DEADLINE,  처리 정함 = DEFINES_HANDLING</a:t>
            </a:r>
            <a:endParaRPr lang="en-US" sz="1400" dirty="0"/>
          </a:p>
        </p:txBody>
      </p:sp>
      <p:sp>
        <p:nvSpPr>
          <p:cNvPr id="6" name="Shape 3"/>
          <p:cNvSpPr/>
          <p:nvPr/>
        </p:nvSpPr>
        <p:spPr>
          <a:xfrm>
            <a:off x="509321" y="2048256"/>
            <a:ext cx="13624560" cy="5614416"/>
          </a:xfrm>
          <a:prstGeom prst="roundRect">
            <a:avLst>
              <a:gd name="adj" fmla="val 2280"/>
            </a:avLst>
          </a:prstGeom>
          <a:solidFill>
            <a:srgbClr val="FFFFFF"/>
          </a:solidFill>
          <a:ln w="25400">
            <a:solidFill>
              <a:srgbClr val="1E2A5C"/>
            </a:solidFill>
            <a:prstDash val="solid"/>
          </a:ln>
        </p:spPr>
      </p:sp>
      <p:sp>
        <p:nvSpPr>
          <p:cNvPr id="7" name="Shape 4"/>
          <p:cNvSpPr/>
          <p:nvPr/>
        </p:nvSpPr>
        <p:spPr>
          <a:xfrm>
            <a:off x="619049" y="2231136"/>
            <a:ext cx="13405104" cy="4114800"/>
          </a:xfrm>
          <a:prstGeom prst="roundRect">
            <a:avLst>
              <a:gd name="adj" fmla="val 2222"/>
            </a:avLst>
          </a:prstGeom>
          <a:solidFill>
            <a:srgbClr val="FFFFFF"/>
          </a:solidFill>
          <a:ln w="15875">
            <a:solidFill>
              <a:srgbClr val="2E74C6"/>
            </a:solidFill>
            <a:prstDash val="solid"/>
          </a:ln>
        </p:spPr>
      </p:sp>
      <p:sp>
        <p:nvSpPr>
          <p:cNvPr id="8" name="Shape 5"/>
          <p:cNvSpPr/>
          <p:nvPr/>
        </p:nvSpPr>
        <p:spPr>
          <a:xfrm>
            <a:off x="619049" y="6547104"/>
            <a:ext cx="13405104" cy="1005840"/>
          </a:xfrm>
          <a:prstGeom prst="roundRect">
            <a:avLst>
              <a:gd name="adj" fmla="val 9091"/>
            </a:avLst>
          </a:prstGeom>
          <a:solidFill>
            <a:srgbClr val="E2EEF9"/>
          </a:solidFill>
          <a:ln w="15875">
            <a:solidFill>
              <a:srgbClr val="1E2A5C"/>
            </a:solidFill>
            <a:prstDash val="solid"/>
          </a:ln>
        </p:spPr>
      </p:sp>
      <p:sp>
        <p:nvSpPr>
          <p:cNvPr id="9" name="Shape 6"/>
          <p:cNvSpPr/>
          <p:nvPr/>
        </p:nvSpPr>
        <p:spPr>
          <a:xfrm>
            <a:off x="737921" y="1892808"/>
            <a:ext cx="3017520" cy="329184"/>
          </a:xfrm>
          <a:prstGeom prst="roundRect">
            <a:avLst>
              <a:gd name="adj" fmla="val 16667"/>
            </a:avLst>
          </a:prstGeom>
          <a:solidFill>
            <a:srgbClr val="1E2A5C"/>
          </a:solidFill>
          <a:ln/>
        </p:spPr>
      </p:sp>
      <p:sp>
        <p:nvSpPr>
          <p:cNvPr id="10" name="Text 7"/>
          <p:cNvSpPr txBox="1"/>
          <p:nvPr/>
        </p:nvSpPr>
        <p:spPr>
          <a:xfrm>
            <a:off x="737921" y="1892808"/>
            <a:ext cx="3017520" cy="329184"/>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KG  (Neo4j 그래프 하나)</a:t>
            </a:r>
            <a:endParaRPr lang="en-US" sz="1600" dirty="0"/>
          </a:p>
        </p:txBody>
      </p:sp>
      <p:sp>
        <p:nvSpPr>
          <p:cNvPr id="11" name="Text 8"/>
          <p:cNvSpPr txBox="1"/>
          <p:nvPr/>
        </p:nvSpPr>
        <p:spPr>
          <a:xfrm>
            <a:off x="801929" y="2322576"/>
            <a:ext cx="530352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엔티티 그래프 (지식 층): LLM이 조항 단위로 추출</a:t>
            </a:r>
            <a:endParaRPr lang="en-US" sz="1400" dirty="0"/>
          </a:p>
        </p:txBody>
      </p:sp>
      <p:sp>
        <p:nvSpPr>
          <p:cNvPr id="12" name="Shape 9"/>
          <p:cNvSpPr/>
          <p:nvPr/>
        </p:nvSpPr>
        <p:spPr>
          <a:xfrm>
            <a:off x="801929" y="2642616"/>
            <a:ext cx="502920" cy="310896"/>
          </a:xfrm>
          <a:prstGeom prst="ellipse">
            <a:avLst/>
          </a:prstGeom>
          <a:solidFill>
            <a:srgbClr val="EEF3FA"/>
          </a:solidFill>
          <a:ln w="15875">
            <a:solidFill>
              <a:srgbClr val="2E74C6"/>
            </a:solidFill>
            <a:prstDash val="solid"/>
          </a:ln>
        </p:spPr>
      </p:sp>
      <p:sp>
        <p:nvSpPr>
          <p:cNvPr id="13" name="Text 10"/>
          <p:cNvSpPr txBox="1"/>
          <p:nvPr/>
        </p:nvSpPr>
        <p:spPr>
          <a:xfrm>
            <a:off x="1396289" y="2660904"/>
            <a:ext cx="173736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엔티티 노드</a:t>
            </a:r>
            <a:endParaRPr lang="en-US" sz="1400" dirty="0"/>
          </a:p>
        </p:txBody>
      </p:sp>
      <p:sp>
        <p:nvSpPr>
          <p:cNvPr id="14" name="Shape 11"/>
          <p:cNvSpPr/>
          <p:nvPr/>
        </p:nvSpPr>
        <p:spPr>
          <a:xfrm>
            <a:off x="3316529" y="2798064"/>
            <a:ext cx="548640" cy="0"/>
          </a:xfrm>
          <a:prstGeom prst="line">
            <a:avLst/>
          </a:prstGeom>
          <a:noFill/>
          <a:ln w="15875">
            <a:solidFill>
              <a:srgbClr val="4A5364"/>
            </a:solidFill>
            <a:prstDash val="solid"/>
            <a:tailEnd type="triangle"/>
          </a:ln>
        </p:spPr>
      </p:sp>
      <p:sp>
        <p:nvSpPr>
          <p:cNvPr id="15" name="Text 12"/>
          <p:cNvSpPr txBox="1"/>
          <p:nvPr/>
        </p:nvSpPr>
        <p:spPr>
          <a:xfrm>
            <a:off x="3956609" y="2660904"/>
            <a:ext cx="246888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관계 (이름표로 종류 표시)</a:t>
            </a:r>
            <a:endParaRPr lang="en-US" sz="1400" dirty="0"/>
          </a:p>
        </p:txBody>
      </p:sp>
      <p:sp>
        <p:nvSpPr>
          <p:cNvPr id="16" name="Shape 13"/>
          <p:cNvSpPr/>
          <p:nvPr/>
        </p:nvSpPr>
        <p:spPr>
          <a:xfrm>
            <a:off x="801929" y="3182112"/>
            <a:ext cx="502920" cy="0"/>
          </a:xfrm>
          <a:prstGeom prst="line">
            <a:avLst/>
          </a:prstGeom>
          <a:noFill/>
          <a:ln w="28575">
            <a:solidFill>
              <a:srgbClr val="1E2A5C"/>
            </a:solidFill>
            <a:prstDash val="dash"/>
            <a:tailEnd type="triangle"/>
          </a:ln>
        </p:spPr>
      </p:sp>
      <p:sp>
        <p:nvSpPr>
          <p:cNvPr id="17" name="Text 14"/>
          <p:cNvSpPr txBox="1"/>
          <p:nvPr/>
        </p:nvSpPr>
        <p:spPr>
          <a:xfrm>
            <a:off x="1396289" y="3044952"/>
            <a:ext cx="173736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FROM_CHUNK 관계</a:t>
            </a:r>
            <a:endParaRPr lang="en-US" sz="1400" dirty="0"/>
          </a:p>
        </p:txBody>
      </p:sp>
      <p:sp>
        <p:nvSpPr>
          <p:cNvPr id="18" name="Shape 15"/>
          <p:cNvSpPr/>
          <p:nvPr/>
        </p:nvSpPr>
        <p:spPr>
          <a:xfrm>
            <a:off x="3316529" y="3044952"/>
            <a:ext cx="548640" cy="274320"/>
          </a:xfrm>
          <a:prstGeom prst="roundRect">
            <a:avLst>
              <a:gd name="adj" fmla="val 20000"/>
            </a:avLst>
          </a:prstGeom>
          <a:solidFill>
            <a:srgbClr val="1E2A5C"/>
          </a:solidFill>
          <a:ln/>
        </p:spPr>
      </p:sp>
      <p:sp>
        <p:nvSpPr>
          <p:cNvPr id="19" name="Text 16"/>
          <p:cNvSpPr txBox="1"/>
          <p:nvPr/>
        </p:nvSpPr>
        <p:spPr>
          <a:xfrm>
            <a:off x="3956609" y="3044952"/>
            <a:ext cx="246888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청크 노드 (엔티티 아님)</a:t>
            </a:r>
            <a:endParaRPr lang="en-US" sz="1400" dirty="0"/>
          </a:p>
        </p:txBody>
      </p:sp>
      <p:sp>
        <p:nvSpPr>
          <p:cNvPr id="20" name="Text 17"/>
          <p:cNvSpPr txBox="1"/>
          <p:nvPr/>
        </p:nvSpPr>
        <p:spPr>
          <a:xfrm>
            <a:off x="5303520" y="6656832"/>
            <a:ext cx="4023360" cy="749808"/>
          </a:xfrm>
          <a:prstGeom prst="rect">
            <a:avLst/>
          </a:prstGeom>
          <a:noFill/>
          <a:ln/>
        </p:spPr>
        <p:txBody>
          <a:bodyPr wrap="square" lIns="0" tIns="0" rIns="0" bIns="0" rtlCol="0" anchor="t"/>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Lexical Graph (원문 층)</a:t>
            </a:r>
            <a:endParaRPr lang="en-US" sz="1400" dirty="0"/>
          </a:p>
          <a:p>
            <a:pPr algn="ctr" indent="0" marL="0">
              <a:buNone/>
            </a:pPr>
            <a:r>
              <a:rPr lang="en-US" sz="1400" dirty="0">
                <a:solidFill>
                  <a:srgbClr val="3B4557"/>
                </a:solidFill>
                <a:latin typeface="Pretendard" pitchFamily="34" charset="0"/>
                <a:ea typeface="Pretendard" pitchFamily="34" charset="-122"/>
                <a:cs typeface="Pretendard" pitchFamily="34" charset="-120"/>
              </a:rPr>
              <a:t>코드가 검색 청크를 옮긴 청크 노드</a:t>
            </a:r>
            <a:endParaRPr lang="en-US" sz="1400" dirty="0"/>
          </a:p>
          <a:p>
            <a:pPr algn="ctr" indent="0" marL="0">
              <a:buNone/>
            </a:pPr>
            <a:r>
              <a:rPr lang="en-US" sz="1400" dirty="0">
                <a:solidFill>
                  <a:srgbClr val="3B4557"/>
                </a:solidFill>
                <a:latin typeface="Pretendard" pitchFamily="34" charset="0"/>
                <a:ea typeface="Pretendard" pitchFamily="34" charset="-122"/>
                <a:cs typeface="Pretendard" pitchFamily="34" charset="-120"/>
              </a:rPr>
              <a:t>글에서 뽑은 개체가 아니므로 엔티티 아님</a:t>
            </a:r>
            <a:endParaRPr lang="en-US" sz="1400" dirty="0"/>
          </a:p>
        </p:txBody>
      </p:sp>
      <p:sp>
        <p:nvSpPr>
          <p:cNvPr id="21" name="Shape 18"/>
          <p:cNvSpPr/>
          <p:nvPr/>
        </p:nvSpPr>
        <p:spPr>
          <a:xfrm>
            <a:off x="960120" y="3703320"/>
            <a:ext cx="3017520" cy="2542032"/>
          </a:xfrm>
          <a:prstGeom prst="roundRect">
            <a:avLst>
              <a:gd name="adj" fmla="val 4317"/>
            </a:avLst>
          </a:prstGeom>
          <a:solidFill>
            <a:srgbClr val="F5F8FC"/>
          </a:solidFill>
          <a:ln w="15875">
            <a:solidFill>
              <a:srgbClr val="C3CEE0"/>
            </a:solidFill>
            <a:prstDash val="dash"/>
          </a:ln>
        </p:spPr>
      </p:sp>
      <p:sp>
        <p:nvSpPr>
          <p:cNvPr id="22" name="Text 19"/>
          <p:cNvSpPr txBox="1"/>
          <p:nvPr/>
        </p:nvSpPr>
        <p:spPr>
          <a:xfrm>
            <a:off x="960120" y="5916168"/>
            <a:ext cx="3017520" cy="292608"/>
          </a:xfrm>
          <a:prstGeom prst="rect">
            <a:avLst/>
          </a:prstGeom>
          <a:noFill/>
          <a:ln/>
        </p:spPr>
        <p:txBody>
          <a:bodyPr wrap="square" lIns="0" tIns="0" rIns="0" bIns="0" rtlCol="0" anchor="ctr"/>
          <a:lstStyle/>
          <a:p>
            <a:pPr algn="ctr" indent="0" marL="0">
              <a:buNone/>
            </a:pPr>
            <a:r>
              <a:rPr lang="en-US" sz="1400" dirty="0">
                <a:solidFill>
                  <a:srgbClr val="7C8598"/>
                </a:solidFill>
                <a:latin typeface="Pretendard" pitchFamily="34" charset="0"/>
                <a:ea typeface="Pretendard" pitchFamily="34" charset="-122"/>
                <a:cs typeface="Pretendard" pitchFamily="34" charset="-120"/>
              </a:rPr>
              <a:t>청크 a4fd…에만</a:t>
            </a:r>
            <a:endParaRPr lang="en-US" sz="1400" dirty="0"/>
          </a:p>
        </p:txBody>
      </p:sp>
      <p:sp>
        <p:nvSpPr>
          <p:cNvPr id="23" name="Shape 20"/>
          <p:cNvSpPr/>
          <p:nvPr/>
        </p:nvSpPr>
        <p:spPr>
          <a:xfrm>
            <a:off x="4114800" y="3703320"/>
            <a:ext cx="3017520" cy="2542032"/>
          </a:xfrm>
          <a:prstGeom prst="roundRect">
            <a:avLst>
              <a:gd name="adj" fmla="val 4317"/>
            </a:avLst>
          </a:prstGeom>
          <a:solidFill>
            <a:srgbClr val="F5F8FC"/>
          </a:solidFill>
          <a:ln w="15875">
            <a:solidFill>
              <a:srgbClr val="C3CEE0"/>
            </a:solidFill>
            <a:prstDash val="dash"/>
          </a:ln>
        </p:spPr>
      </p:sp>
      <p:sp>
        <p:nvSpPr>
          <p:cNvPr id="24" name="Text 21"/>
          <p:cNvSpPr txBox="1"/>
          <p:nvPr/>
        </p:nvSpPr>
        <p:spPr>
          <a:xfrm>
            <a:off x="4114800" y="5916168"/>
            <a:ext cx="3017520" cy="292608"/>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겹친 조항: 청크 2개</a:t>
            </a:r>
            <a:endParaRPr lang="en-US" sz="1400" dirty="0"/>
          </a:p>
        </p:txBody>
      </p:sp>
      <p:sp>
        <p:nvSpPr>
          <p:cNvPr id="25" name="Shape 22"/>
          <p:cNvSpPr/>
          <p:nvPr/>
        </p:nvSpPr>
        <p:spPr>
          <a:xfrm>
            <a:off x="7269480" y="3703320"/>
            <a:ext cx="4389120" cy="2542032"/>
          </a:xfrm>
          <a:prstGeom prst="roundRect">
            <a:avLst>
              <a:gd name="adj" fmla="val 4317"/>
            </a:avLst>
          </a:prstGeom>
          <a:solidFill>
            <a:srgbClr val="F5F8FC"/>
          </a:solidFill>
          <a:ln w="15875">
            <a:solidFill>
              <a:srgbClr val="C3CEE0"/>
            </a:solidFill>
            <a:prstDash val="dash"/>
          </a:ln>
        </p:spPr>
      </p:sp>
      <p:sp>
        <p:nvSpPr>
          <p:cNvPr id="26" name="Text 23"/>
          <p:cNvSpPr txBox="1"/>
          <p:nvPr/>
        </p:nvSpPr>
        <p:spPr>
          <a:xfrm>
            <a:off x="7269480" y="5916168"/>
            <a:ext cx="4389120" cy="292608"/>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겹친 조항: 청크 2개 (처리 1개 더 있음)</a:t>
            </a:r>
            <a:endParaRPr lang="en-US" sz="1400" dirty="0"/>
          </a:p>
        </p:txBody>
      </p:sp>
      <p:sp>
        <p:nvSpPr>
          <p:cNvPr id="27" name="Shape 24"/>
          <p:cNvSpPr/>
          <p:nvPr/>
        </p:nvSpPr>
        <p:spPr>
          <a:xfrm>
            <a:off x="11795760" y="3703320"/>
            <a:ext cx="1874520" cy="2542032"/>
          </a:xfrm>
          <a:prstGeom prst="roundRect">
            <a:avLst>
              <a:gd name="adj" fmla="val 5854"/>
            </a:avLst>
          </a:prstGeom>
          <a:solidFill>
            <a:srgbClr val="F5F8FC"/>
          </a:solidFill>
          <a:ln w="15875">
            <a:solidFill>
              <a:srgbClr val="C3CEE0"/>
            </a:solidFill>
            <a:prstDash val="dash"/>
          </a:ln>
        </p:spPr>
      </p:sp>
      <p:sp>
        <p:nvSpPr>
          <p:cNvPr id="28" name="Text 25"/>
          <p:cNvSpPr txBox="1"/>
          <p:nvPr/>
        </p:nvSpPr>
        <p:spPr>
          <a:xfrm>
            <a:off x="11795760" y="5916168"/>
            <a:ext cx="1874520" cy="292608"/>
          </a:xfrm>
          <a:prstGeom prst="rect">
            <a:avLst/>
          </a:prstGeom>
          <a:noFill/>
          <a:ln/>
        </p:spPr>
        <p:txBody>
          <a:bodyPr wrap="square" lIns="0" tIns="0" rIns="0" bIns="0" rtlCol="0" anchor="ctr"/>
          <a:lstStyle/>
          <a:p>
            <a:pPr algn="ctr" indent="0" marL="0">
              <a:buNone/>
            </a:pPr>
            <a:r>
              <a:rPr lang="en-US" sz="1400" dirty="0">
                <a:solidFill>
                  <a:srgbClr val="7C8598"/>
                </a:solidFill>
                <a:latin typeface="Pretendard" pitchFamily="34" charset="0"/>
                <a:ea typeface="Pretendard" pitchFamily="34" charset="-122"/>
                <a:cs typeface="Pretendard" pitchFamily="34" charset="-120"/>
              </a:rPr>
              <a:t>청크 112f…에만</a:t>
            </a:r>
            <a:endParaRPr lang="en-US" sz="1400" dirty="0"/>
          </a:p>
        </p:txBody>
      </p:sp>
      <p:sp>
        <p:nvSpPr>
          <p:cNvPr id="29" name="Shape 26"/>
          <p:cNvSpPr/>
          <p:nvPr/>
        </p:nvSpPr>
        <p:spPr>
          <a:xfrm>
            <a:off x="2468880" y="6245352"/>
            <a:ext cx="502920" cy="493776"/>
          </a:xfrm>
          <a:prstGeom prst="line">
            <a:avLst/>
          </a:prstGeom>
          <a:noFill/>
          <a:ln w="28575">
            <a:solidFill>
              <a:srgbClr val="1E2A5C"/>
            </a:solidFill>
            <a:prstDash val="dash"/>
            <a:tailEnd type="triangle"/>
          </a:ln>
        </p:spPr>
      </p:sp>
      <p:sp>
        <p:nvSpPr>
          <p:cNvPr id="30" name="Shape 27"/>
          <p:cNvSpPr/>
          <p:nvPr/>
        </p:nvSpPr>
        <p:spPr>
          <a:xfrm flipH="1">
            <a:off x="3931920" y="6245352"/>
            <a:ext cx="1234440" cy="493776"/>
          </a:xfrm>
          <a:prstGeom prst="line">
            <a:avLst/>
          </a:prstGeom>
          <a:noFill/>
          <a:ln w="28575">
            <a:solidFill>
              <a:srgbClr val="1E2A5C"/>
            </a:solidFill>
            <a:prstDash val="dash"/>
            <a:tailEnd type="triangle"/>
          </a:ln>
        </p:spPr>
      </p:sp>
      <p:sp>
        <p:nvSpPr>
          <p:cNvPr id="31" name="Shape 28"/>
          <p:cNvSpPr/>
          <p:nvPr/>
        </p:nvSpPr>
        <p:spPr>
          <a:xfrm flipH="1">
            <a:off x="4892040" y="6245352"/>
            <a:ext cx="4114800" cy="493776"/>
          </a:xfrm>
          <a:prstGeom prst="line">
            <a:avLst/>
          </a:prstGeom>
          <a:noFill/>
          <a:ln w="28575">
            <a:solidFill>
              <a:srgbClr val="1E2A5C"/>
            </a:solidFill>
            <a:prstDash val="dash"/>
            <a:tailEnd type="triangle"/>
          </a:ln>
        </p:spPr>
      </p:sp>
      <p:sp>
        <p:nvSpPr>
          <p:cNvPr id="32" name="Shape 29"/>
          <p:cNvSpPr/>
          <p:nvPr/>
        </p:nvSpPr>
        <p:spPr>
          <a:xfrm>
            <a:off x="6080760" y="6245352"/>
            <a:ext cx="3657600" cy="493776"/>
          </a:xfrm>
          <a:prstGeom prst="line">
            <a:avLst/>
          </a:prstGeom>
          <a:noFill/>
          <a:ln w="28575">
            <a:solidFill>
              <a:srgbClr val="1E2A5C"/>
            </a:solidFill>
            <a:prstDash val="dash"/>
            <a:tailEnd type="triangle"/>
          </a:ln>
        </p:spPr>
      </p:sp>
      <p:sp>
        <p:nvSpPr>
          <p:cNvPr id="33" name="Shape 30"/>
          <p:cNvSpPr/>
          <p:nvPr/>
        </p:nvSpPr>
        <p:spPr>
          <a:xfrm>
            <a:off x="9921240" y="6245352"/>
            <a:ext cx="777240" cy="493776"/>
          </a:xfrm>
          <a:prstGeom prst="line">
            <a:avLst/>
          </a:prstGeom>
          <a:noFill/>
          <a:ln w="28575">
            <a:solidFill>
              <a:srgbClr val="1E2A5C"/>
            </a:solidFill>
            <a:prstDash val="dash"/>
            <a:tailEnd type="triangle"/>
          </a:ln>
        </p:spPr>
      </p:sp>
      <p:sp>
        <p:nvSpPr>
          <p:cNvPr id="34" name="Shape 31"/>
          <p:cNvSpPr/>
          <p:nvPr/>
        </p:nvSpPr>
        <p:spPr>
          <a:xfrm flipH="1">
            <a:off x="11658600" y="6245352"/>
            <a:ext cx="1074420" cy="493776"/>
          </a:xfrm>
          <a:prstGeom prst="line">
            <a:avLst/>
          </a:prstGeom>
          <a:noFill/>
          <a:ln w="28575">
            <a:solidFill>
              <a:srgbClr val="1E2A5C"/>
            </a:solidFill>
            <a:prstDash val="dash"/>
            <a:tailEnd type="triangle"/>
          </a:ln>
        </p:spPr>
      </p:sp>
      <p:sp>
        <p:nvSpPr>
          <p:cNvPr id="35" name="Shape 32"/>
          <p:cNvSpPr/>
          <p:nvPr/>
        </p:nvSpPr>
        <p:spPr>
          <a:xfrm>
            <a:off x="8641080" y="2926080"/>
            <a:ext cx="457200" cy="0"/>
          </a:xfrm>
          <a:prstGeom prst="line">
            <a:avLst/>
          </a:prstGeom>
          <a:noFill/>
          <a:ln w="28575">
            <a:solidFill>
              <a:srgbClr val="1E2A5C"/>
            </a:solidFill>
            <a:prstDash val="dash"/>
            <a:tailEnd type="triangle"/>
          </a:ln>
        </p:spPr>
      </p:sp>
      <p:sp>
        <p:nvSpPr>
          <p:cNvPr id="36" name="Shape 33"/>
          <p:cNvSpPr/>
          <p:nvPr/>
        </p:nvSpPr>
        <p:spPr>
          <a:xfrm flipH="1">
            <a:off x="2468880" y="3291840"/>
            <a:ext cx="4846320" cy="548640"/>
          </a:xfrm>
          <a:prstGeom prst="line">
            <a:avLst/>
          </a:prstGeom>
          <a:noFill/>
          <a:ln w="15875">
            <a:solidFill>
              <a:srgbClr val="4A5364"/>
            </a:solidFill>
            <a:prstDash val="solid"/>
            <a:tailEnd type="triangle"/>
          </a:ln>
        </p:spPr>
      </p:sp>
      <p:sp>
        <p:nvSpPr>
          <p:cNvPr id="37" name="Shape 34"/>
          <p:cNvSpPr/>
          <p:nvPr/>
        </p:nvSpPr>
        <p:spPr>
          <a:xfrm flipH="1">
            <a:off x="5623560" y="3291840"/>
            <a:ext cx="1691640" cy="548640"/>
          </a:xfrm>
          <a:prstGeom prst="line">
            <a:avLst/>
          </a:prstGeom>
          <a:noFill/>
          <a:ln w="15875">
            <a:solidFill>
              <a:srgbClr val="4A5364"/>
            </a:solidFill>
            <a:prstDash val="solid"/>
            <a:tailEnd type="triangle"/>
          </a:ln>
        </p:spPr>
      </p:sp>
      <p:sp>
        <p:nvSpPr>
          <p:cNvPr id="38" name="Shape 35"/>
          <p:cNvSpPr/>
          <p:nvPr/>
        </p:nvSpPr>
        <p:spPr>
          <a:xfrm>
            <a:off x="7315200" y="3291840"/>
            <a:ext cx="2148840" cy="548640"/>
          </a:xfrm>
          <a:prstGeom prst="line">
            <a:avLst/>
          </a:prstGeom>
          <a:noFill/>
          <a:ln w="15875">
            <a:solidFill>
              <a:srgbClr val="4A5364"/>
            </a:solidFill>
            <a:prstDash val="solid"/>
            <a:tailEnd type="triangle"/>
          </a:ln>
        </p:spPr>
      </p:sp>
      <p:sp>
        <p:nvSpPr>
          <p:cNvPr id="39" name="Shape 36"/>
          <p:cNvSpPr/>
          <p:nvPr/>
        </p:nvSpPr>
        <p:spPr>
          <a:xfrm>
            <a:off x="7315200" y="3291840"/>
            <a:ext cx="5417820" cy="548640"/>
          </a:xfrm>
          <a:prstGeom prst="line">
            <a:avLst/>
          </a:prstGeom>
          <a:noFill/>
          <a:ln w="15875">
            <a:solidFill>
              <a:srgbClr val="4A5364"/>
            </a:solidFill>
            <a:prstDash val="solid"/>
            <a:tailEnd type="triangle"/>
          </a:ln>
        </p:spPr>
      </p:sp>
      <p:sp>
        <p:nvSpPr>
          <p:cNvPr id="40" name="Shape 37"/>
          <p:cNvSpPr/>
          <p:nvPr/>
        </p:nvSpPr>
        <p:spPr>
          <a:xfrm flipH="1">
            <a:off x="1783080" y="4544568"/>
            <a:ext cx="411480" cy="598932"/>
          </a:xfrm>
          <a:prstGeom prst="line">
            <a:avLst/>
          </a:prstGeom>
          <a:noFill/>
          <a:ln w="15875">
            <a:solidFill>
              <a:srgbClr val="4A5364"/>
            </a:solidFill>
            <a:prstDash val="solid"/>
            <a:tailEnd type="triangle"/>
          </a:ln>
        </p:spPr>
      </p:sp>
      <p:sp>
        <p:nvSpPr>
          <p:cNvPr id="41" name="Shape 38"/>
          <p:cNvSpPr/>
          <p:nvPr/>
        </p:nvSpPr>
        <p:spPr>
          <a:xfrm>
            <a:off x="2743200" y="4544568"/>
            <a:ext cx="411480" cy="598932"/>
          </a:xfrm>
          <a:prstGeom prst="line">
            <a:avLst/>
          </a:prstGeom>
          <a:noFill/>
          <a:ln w="15875">
            <a:solidFill>
              <a:srgbClr val="4A5364"/>
            </a:solidFill>
            <a:prstDash val="solid"/>
            <a:tailEnd type="triangle"/>
          </a:ln>
        </p:spPr>
      </p:sp>
      <p:sp>
        <p:nvSpPr>
          <p:cNvPr id="42" name="Shape 39"/>
          <p:cNvSpPr/>
          <p:nvPr/>
        </p:nvSpPr>
        <p:spPr>
          <a:xfrm flipH="1">
            <a:off x="4937760" y="4544568"/>
            <a:ext cx="411480" cy="598932"/>
          </a:xfrm>
          <a:prstGeom prst="line">
            <a:avLst/>
          </a:prstGeom>
          <a:noFill/>
          <a:ln w="15875">
            <a:solidFill>
              <a:srgbClr val="4A5364"/>
            </a:solidFill>
            <a:prstDash val="solid"/>
            <a:tailEnd type="triangle"/>
          </a:ln>
        </p:spPr>
      </p:sp>
      <p:sp>
        <p:nvSpPr>
          <p:cNvPr id="43" name="Shape 40"/>
          <p:cNvSpPr/>
          <p:nvPr/>
        </p:nvSpPr>
        <p:spPr>
          <a:xfrm>
            <a:off x="5897880" y="4544568"/>
            <a:ext cx="411480" cy="598932"/>
          </a:xfrm>
          <a:prstGeom prst="line">
            <a:avLst/>
          </a:prstGeom>
          <a:noFill/>
          <a:ln w="15875">
            <a:solidFill>
              <a:srgbClr val="4A5364"/>
            </a:solidFill>
            <a:prstDash val="solid"/>
            <a:tailEnd type="triangle"/>
          </a:ln>
        </p:spPr>
      </p:sp>
      <p:sp>
        <p:nvSpPr>
          <p:cNvPr id="44" name="Shape 41"/>
          <p:cNvSpPr/>
          <p:nvPr/>
        </p:nvSpPr>
        <p:spPr>
          <a:xfrm flipH="1">
            <a:off x="8092440" y="4544568"/>
            <a:ext cx="960120" cy="598932"/>
          </a:xfrm>
          <a:prstGeom prst="line">
            <a:avLst/>
          </a:prstGeom>
          <a:noFill/>
          <a:ln w="15875">
            <a:solidFill>
              <a:srgbClr val="4A5364"/>
            </a:solidFill>
            <a:prstDash val="solid"/>
            <a:tailEnd type="triangle"/>
          </a:ln>
        </p:spPr>
      </p:sp>
      <p:sp>
        <p:nvSpPr>
          <p:cNvPr id="45" name="Shape 42"/>
          <p:cNvSpPr/>
          <p:nvPr/>
        </p:nvSpPr>
        <p:spPr>
          <a:xfrm>
            <a:off x="9464040" y="4544568"/>
            <a:ext cx="0" cy="598932"/>
          </a:xfrm>
          <a:prstGeom prst="line">
            <a:avLst/>
          </a:prstGeom>
          <a:noFill/>
          <a:ln w="15875">
            <a:solidFill>
              <a:srgbClr val="4A5364"/>
            </a:solidFill>
            <a:prstDash val="solid"/>
            <a:tailEnd type="triangle"/>
          </a:ln>
        </p:spPr>
      </p:sp>
      <p:sp>
        <p:nvSpPr>
          <p:cNvPr id="46" name="Shape 43"/>
          <p:cNvSpPr/>
          <p:nvPr/>
        </p:nvSpPr>
        <p:spPr>
          <a:xfrm>
            <a:off x="9875520" y="4544568"/>
            <a:ext cx="960120" cy="598932"/>
          </a:xfrm>
          <a:prstGeom prst="line">
            <a:avLst/>
          </a:prstGeom>
          <a:noFill/>
          <a:ln w="15875">
            <a:solidFill>
              <a:srgbClr val="4A5364"/>
            </a:solidFill>
            <a:prstDash val="solid"/>
            <a:tailEnd type="triangle"/>
          </a:ln>
        </p:spPr>
      </p:sp>
      <p:sp>
        <p:nvSpPr>
          <p:cNvPr id="47" name="Shape 44"/>
          <p:cNvSpPr/>
          <p:nvPr/>
        </p:nvSpPr>
        <p:spPr>
          <a:xfrm>
            <a:off x="12733020" y="4544568"/>
            <a:ext cx="0" cy="598932"/>
          </a:xfrm>
          <a:prstGeom prst="line">
            <a:avLst/>
          </a:prstGeom>
          <a:noFill/>
          <a:ln w="15875">
            <a:solidFill>
              <a:srgbClr val="4A5364"/>
            </a:solidFill>
            <a:prstDash val="solid"/>
            <a:tailEnd type="triangle"/>
          </a:ln>
        </p:spPr>
      </p:sp>
      <p:sp>
        <p:nvSpPr>
          <p:cNvPr id="48" name="Shape 45"/>
          <p:cNvSpPr/>
          <p:nvPr/>
        </p:nvSpPr>
        <p:spPr>
          <a:xfrm>
            <a:off x="1463954" y="4829495"/>
            <a:ext cx="868680" cy="292608"/>
          </a:xfrm>
          <a:prstGeom prst="roundRect">
            <a:avLst>
              <a:gd name="adj" fmla="val 18750"/>
            </a:avLst>
          </a:prstGeom>
          <a:solidFill>
            <a:srgbClr val="FFFFFF"/>
          </a:solidFill>
          <a:ln w="9525">
            <a:solidFill>
              <a:srgbClr val="4A5364"/>
            </a:solidFill>
            <a:prstDash val="solid"/>
          </a:ln>
        </p:spPr>
      </p:sp>
      <p:sp>
        <p:nvSpPr>
          <p:cNvPr id="49" name="Text 46"/>
          <p:cNvSpPr txBox="1"/>
          <p:nvPr/>
        </p:nvSpPr>
        <p:spPr>
          <a:xfrm>
            <a:off x="1463954"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0" name="Shape 47"/>
          <p:cNvSpPr/>
          <p:nvPr/>
        </p:nvSpPr>
        <p:spPr>
          <a:xfrm>
            <a:off x="2605126" y="4829495"/>
            <a:ext cx="868680" cy="292608"/>
          </a:xfrm>
          <a:prstGeom prst="roundRect">
            <a:avLst>
              <a:gd name="adj" fmla="val 18750"/>
            </a:avLst>
          </a:prstGeom>
          <a:solidFill>
            <a:srgbClr val="FFFFFF"/>
          </a:solidFill>
          <a:ln w="9525">
            <a:solidFill>
              <a:srgbClr val="4A5364"/>
            </a:solidFill>
            <a:prstDash val="solid"/>
          </a:ln>
        </p:spPr>
      </p:sp>
      <p:sp>
        <p:nvSpPr>
          <p:cNvPr id="51" name="Text 48"/>
          <p:cNvSpPr txBox="1"/>
          <p:nvPr/>
        </p:nvSpPr>
        <p:spPr>
          <a:xfrm>
            <a:off x="2605126"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2" name="Shape 49"/>
          <p:cNvSpPr/>
          <p:nvPr/>
        </p:nvSpPr>
        <p:spPr>
          <a:xfrm>
            <a:off x="4457700" y="3419856"/>
            <a:ext cx="868680" cy="292608"/>
          </a:xfrm>
          <a:prstGeom prst="roundRect">
            <a:avLst>
              <a:gd name="adj" fmla="val 18750"/>
            </a:avLst>
          </a:prstGeom>
          <a:solidFill>
            <a:srgbClr val="FFFFFF"/>
          </a:solidFill>
          <a:ln w="9525">
            <a:solidFill>
              <a:srgbClr val="4A5364"/>
            </a:solidFill>
            <a:prstDash val="solid"/>
          </a:ln>
        </p:spPr>
      </p:sp>
      <p:sp>
        <p:nvSpPr>
          <p:cNvPr id="53" name="Text 50"/>
          <p:cNvSpPr txBox="1"/>
          <p:nvPr/>
        </p:nvSpPr>
        <p:spPr>
          <a:xfrm>
            <a:off x="445770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54" name="Shape 51"/>
          <p:cNvSpPr/>
          <p:nvPr/>
        </p:nvSpPr>
        <p:spPr>
          <a:xfrm>
            <a:off x="4687214" y="4829495"/>
            <a:ext cx="731520" cy="292608"/>
          </a:xfrm>
          <a:prstGeom prst="roundRect">
            <a:avLst>
              <a:gd name="adj" fmla="val 18750"/>
            </a:avLst>
          </a:prstGeom>
          <a:solidFill>
            <a:srgbClr val="FFFFFF"/>
          </a:solidFill>
          <a:ln w="9525">
            <a:solidFill>
              <a:srgbClr val="4A5364"/>
            </a:solidFill>
            <a:prstDash val="solid"/>
          </a:ln>
        </p:spPr>
      </p:sp>
      <p:sp>
        <p:nvSpPr>
          <p:cNvPr id="55" name="Text 52"/>
          <p:cNvSpPr txBox="1"/>
          <p:nvPr/>
        </p:nvSpPr>
        <p:spPr>
          <a:xfrm>
            <a:off x="4687214"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56" name="Shape 53"/>
          <p:cNvSpPr/>
          <p:nvPr/>
        </p:nvSpPr>
        <p:spPr>
          <a:xfrm>
            <a:off x="5759806" y="4829495"/>
            <a:ext cx="868680" cy="292608"/>
          </a:xfrm>
          <a:prstGeom prst="roundRect">
            <a:avLst>
              <a:gd name="adj" fmla="val 18750"/>
            </a:avLst>
          </a:prstGeom>
          <a:solidFill>
            <a:srgbClr val="FFFFFF"/>
          </a:solidFill>
          <a:ln w="9525">
            <a:solidFill>
              <a:srgbClr val="4A5364"/>
            </a:solidFill>
            <a:prstDash val="solid"/>
          </a:ln>
        </p:spPr>
      </p:sp>
      <p:sp>
        <p:nvSpPr>
          <p:cNvPr id="57" name="Text 54"/>
          <p:cNvSpPr txBox="1"/>
          <p:nvPr/>
        </p:nvSpPr>
        <p:spPr>
          <a:xfrm>
            <a:off x="5759806"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8" name="Shape 55"/>
          <p:cNvSpPr/>
          <p:nvPr/>
        </p:nvSpPr>
        <p:spPr>
          <a:xfrm>
            <a:off x="6035040" y="3419856"/>
            <a:ext cx="868680" cy="292608"/>
          </a:xfrm>
          <a:prstGeom prst="roundRect">
            <a:avLst>
              <a:gd name="adj" fmla="val 18750"/>
            </a:avLst>
          </a:prstGeom>
          <a:solidFill>
            <a:srgbClr val="FFFFFF"/>
          </a:solidFill>
          <a:ln w="9525">
            <a:solidFill>
              <a:srgbClr val="4A5364"/>
            </a:solidFill>
            <a:prstDash val="solid"/>
          </a:ln>
        </p:spPr>
      </p:sp>
      <p:sp>
        <p:nvSpPr>
          <p:cNvPr id="59" name="Text 56"/>
          <p:cNvSpPr txBox="1"/>
          <p:nvPr/>
        </p:nvSpPr>
        <p:spPr>
          <a:xfrm>
            <a:off x="603504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60" name="Shape 57"/>
          <p:cNvSpPr/>
          <p:nvPr/>
        </p:nvSpPr>
        <p:spPr>
          <a:xfrm>
            <a:off x="7995514" y="4829495"/>
            <a:ext cx="731520" cy="292608"/>
          </a:xfrm>
          <a:prstGeom prst="roundRect">
            <a:avLst>
              <a:gd name="adj" fmla="val 18750"/>
            </a:avLst>
          </a:prstGeom>
          <a:solidFill>
            <a:srgbClr val="FFFFFF"/>
          </a:solidFill>
          <a:ln w="9525">
            <a:solidFill>
              <a:srgbClr val="4A5364"/>
            </a:solidFill>
            <a:prstDash val="solid"/>
          </a:ln>
        </p:spPr>
      </p:sp>
      <p:sp>
        <p:nvSpPr>
          <p:cNvPr id="61" name="Text 58"/>
          <p:cNvSpPr txBox="1"/>
          <p:nvPr/>
        </p:nvSpPr>
        <p:spPr>
          <a:xfrm>
            <a:off x="7995514"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기한 둠</a:t>
            </a:r>
            <a:endParaRPr lang="en-US" sz="1400" dirty="0"/>
          </a:p>
        </p:txBody>
      </p:sp>
      <p:sp>
        <p:nvSpPr>
          <p:cNvPr id="62" name="Shape 59"/>
          <p:cNvSpPr/>
          <p:nvPr/>
        </p:nvSpPr>
        <p:spPr>
          <a:xfrm>
            <a:off x="9098280" y="4829495"/>
            <a:ext cx="731520" cy="292608"/>
          </a:xfrm>
          <a:prstGeom prst="roundRect">
            <a:avLst>
              <a:gd name="adj" fmla="val 18750"/>
            </a:avLst>
          </a:prstGeom>
          <a:solidFill>
            <a:srgbClr val="FFFFFF"/>
          </a:solidFill>
          <a:ln w="9525">
            <a:solidFill>
              <a:srgbClr val="4A5364"/>
            </a:solidFill>
            <a:prstDash val="solid"/>
          </a:ln>
        </p:spPr>
      </p:sp>
      <p:sp>
        <p:nvSpPr>
          <p:cNvPr id="63" name="Text 60"/>
          <p:cNvSpPr txBox="1"/>
          <p:nvPr/>
        </p:nvSpPr>
        <p:spPr>
          <a:xfrm>
            <a:off x="9098280"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64" name="Shape 61"/>
          <p:cNvSpPr/>
          <p:nvPr/>
        </p:nvSpPr>
        <p:spPr>
          <a:xfrm>
            <a:off x="10132466" y="4829495"/>
            <a:ext cx="868680" cy="292608"/>
          </a:xfrm>
          <a:prstGeom prst="roundRect">
            <a:avLst>
              <a:gd name="adj" fmla="val 18750"/>
            </a:avLst>
          </a:prstGeom>
          <a:solidFill>
            <a:srgbClr val="FFFFFF"/>
          </a:solidFill>
          <a:ln w="9525">
            <a:solidFill>
              <a:srgbClr val="4A5364"/>
            </a:solidFill>
            <a:prstDash val="solid"/>
          </a:ln>
        </p:spPr>
      </p:sp>
      <p:sp>
        <p:nvSpPr>
          <p:cNvPr id="65" name="Text 62"/>
          <p:cNvSpPr txBox="1"/>
          <p:nvPr/>
        </p:nvSpPr>
        <p:spPr>
          <a:xfrm>
            <a:off x="10132466"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66" name="Shape 63"/>
          <p:cNvSpPr/>
          <p:nvPr/>
        </p:nvSpPr>
        <p:spPr>
          <a:xfrm>
            <a:off x="7955280" y="3419856"/>
            <a:ext cx="868680" cy="292608"/>
          </a:xfrm>
          <a:prstGeom prst="roundRect">
            <a:avLst>
              <a:gd name="adj" fmla="val 18750"/>
            </a:avLst>
          </a:prstGeom>
          <a:solidFill>
            <a:srgbClr val="FFFFFF"/>
          </a:solidFill>
          <a:ln w="9525">
            <a:solidFill>
              <a:srgbClr val="4A5364"/>
            </a:solidFill>
            <a:prstDash val="solid"/>
          </a:ln>
        </p:spPr>
      </p:sp>
      <p:sp>
        <p:nvSpPr>
          <p:cNvPr id="67" name="Text 64"/>
          <p:cNvSpPr txBox="1"/>
          <p:nvPr/>
        </p:nvSpPr>
        <p:spPr>
          <a:xfrm>
            <a:off x="795528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68" name="Shape 65"/>
          <p:cNvSpPr/>
          <p:nvPr/>
        </p:nvSpPr>
        <p:spPr>
          <a:xfrm>
            <a:off x="12367260" y="4829495"/>
            <a:ext cx="731520" cy="292608"/>
          </a:xfrm>
          <a:prstGeom prst="roundRect">
            <a:avLst>
              <a:gd name="adj" fmla="val 18750"/>
            </a:avLst>
          </a:prstGeom>
          <a:solidFill>
            <a:srgbClr val="FFFFFF"/>
          </a:solidFill>
          <a:ln w="9525">
            <a:solidFill>
              <a:srgbClr val="4A5364"/>
            </a:solidFill>
            <a:prstDash val="solid"/>
          </a:ln>
        </p:spPr>
      </p:sp>
      <p:sp>
        <p:nvSpPr>
          <p:cNvPr id="69" name="Text 66"/>
          <p:cNvSpPr txBox="1"/>
          <p:nvPr/>
        </p:nvSpPr>
        <p:spPr>
          <a:xfrm>
            <a:off x="12367260"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70" name="Shape 67"/>
          <p:cNvSpPr/>
          <p:nvPr/>
        </p:nvSpPr>
        <p:spPr>
          <a:xfrm>
            <a:off x="9589770" y="3419856"/>
            <a:ext cx="868680" cy="292608"/>
          </a:xfrm>
          <a:prstGeom prst="roundRect">
            <a:avLst>
              <a:gd name="adj" fmla="val 18750"/>
            </a:avLst>
          </a:prstGeom>
          <a:solidFill>
            <a:srgbClr val="FFFFFF"/>
          </a:solidFill>
          <a:ln w="9525">
            <a:solidFill>
              <a:srgbClr val="4A5364"/>
            </a:solidFill>
            <a:prstDash val="solid"/>
          </a:ln>
        </p:spPr>
      </p:sp>
      <p:sp>
        <p:nvSpPr>
          <p:cNvPr id="71" name="Text 68"/>
          <p:cNvSpPr txBox="1"/>
          <p:nvPr/>
        </p:nvSpPr>
        <p:spPr>
          <a:xfrm>
            <a:off x="958977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72" name="Shape 69"/>
          <p:cNvSpPr/>
          <p:nvPr/>
        </p:nvSpPr>
        <p:spPr>
          <a:xfrm>
            <a:off x="4846320" y="6300216"/>
            <a:ext cx="4937760" cy="292608"/>
          </a:xfrm>
          <a:prstGeom prst="roundRect">
            <a:avLst>
              <a:gd name="adj" fmla="val 18750"/>
            </a:avLst>
          </a:prstGeom>
          <a:solidFill>
            <a:srgbClr val="FFFFFF"/>
          </a:solidFill>
          <a:ln w="9525">
            <a:solidFill>
              <a:srgbClr val="1E2A5C"/>
            </a:solidFill>
            <a:prstDash val="solid"/>
          </a:ln>
        </p:spPr>
      </p:sp>
      <p:sp>
        <p:nvSpPr>
          <p:cNvPr id="73" name="Text 70"/>
          <p:cNvSpPr txBox="1"/>
          <p:nvPr/>
        </p:nvSpPr>
        <p:spPr>
          <a:xfrm>
            <a:off x="4846320" y="6300216"/>
            <a:ext cx="4937760" cy="292608"/>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FROM_CHUNK: 엔티티 그래프의 모든 엔티티 → 나온 청크</a:t>
            </a:r>
            <a:endParaRPr lang="en-US" sz="1400" dirty="0"/>
          </a:p>
        </p:txBody>
      </p:sp>
      <p:sp>
        <p:nvSpPr>
          <p:cNvPr id="74" name="Shape 71"/>
          <p:cNvSpPr/>
          <p:nvPr/>
        </p:nvSpPr>
        <p:spPr>
          <a:xfrm>
            <a:off x="9098280" y="2779776"/>
            <a:ext cx="3474720" cy="292608"/>
          </a:xfrm>
          <a:prstGeom prst="roundRect">
            <a:avLst>
              <a:gd name="adj" fmla="val 18750"/>
            </a:avLst>
          </a:prstGeom>
          <a:solidFill>
            <a:srgbClr val="FFFFFF"/>
          </a:solidFill>
          <a:ln w="9525">
            <a:solidFill>
              <a:srgbClr val="1E2A5C"/>
            </a:solidFill>
            <a:prstDash val="solid"/>
          </a:ln>
        </p:spPr>
      </p:sp>
      <p:sp>
        <p:nvSpPr>
          <p:cNvPr id="75" name="Text 72"/>
          <p:cNvSpPr txBox="1"/>
          <p:nvPr/>
        </p:nvSpPr>
        <p:spPr>
          <a:xfrm>
            <a:off x="9098280" y="2779776"/>
            <a:ext cx="3474720" cy="292608"/>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FROM_CHUNK: 청크 a4fd…, 112f… 둘 다</a:t>
            </a:r>
            <a:endParaRPr lang="en-US" sz="1400" dirty="0"/>
          </a:p>
        </p:txBody>
      </p:sp>
      <p:sp>
        <p:nvSpPr>
          <p:cNvPr id="76" name="Text 73"/>
          <p:cNvSpPr/>
          <p:nvPr/>
        </p:nvSpPr>
        <p:spPr>
          <a:xfrm>
            <a:off x="5989320" y="2560320"/>
            <a:ext cx="265176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약관 문서</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판 1.2, 시행 2027-01-15</a:t>
            </a:r>
            <a:endParaRPr lang="en-US" sz="1400" dirty="0"/>
          </a:p>
        </p:txBody>
      </p:sp>
      <p:sp>
        <p:nvSpPr>
          <p:cNvPr id="77" name="Text 74"/>
          <p:cNvSpPr/>
          <p:nvPr/>
        </p:nvSpPr>
        <p:spPr>
          <a:xfrm>
            <a:off x="2743200" y="6739128"/>
            <a:ext cx="2377440" cy="676656"/>
          </a:xfrm>
          <a:prstGeom prst="roundRect">
            <a:avLst>
              <a:gd name="adj" fmla="val 16216"/>
            </a:avLst>
          </a:prstGeom>
          <a:solidFill>
            <a:srgbClr val="1E2A5C"/>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청크 노드 (Chunk)</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엔티티 아님, 검색 청크 a4fd…</a:t>
            </a:r>
            <a:endParaRPr lang="en-US" sz="1400" dirty="0"/>
          </a:p>
        </p:txBody>
      </p:sp>
      <p:sp>
        <p:nvSpPr>
          <p:cNvPr id="78" name="Text 75"/>
          <p:cNvSpPr/>
          <p:nvPr/>
        </p:nvSpPr>
        <p:spPr>
          <a:xfrm>
            <a:off x="9509760" y="6739128"/>
            <a:ext cx="2377440" cy="676656"/>
          </a:xfrm>
          <a:prstGeom prst="roundRect">
            <a:avLst>
              <a:gd name="adj" fmla="val 16216"/>
            </a:avLst>
          </a:prstGeom>
          <a:solidFill>
            <a:srgbClr val="1E2A5C"/>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청크 노드 (Chunk)</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엔티티 아님, 검색 청크 112f…</a:t>
            </a:r>
            <a:endParaRPr lang="en-US" sz="1400" dirty="0"/>
          </a:p>
        </p:txBody>
      </p:sp>
      <p:sp>
        <p:nvSpPr>
          <p:cNvPr id="79" name="Text 76"/>
          <p:cNvSpPr/>
          <p:nvPr/>
        </p:nvSpPr>
        <p:spPr>
          <a:xfrm>
            <a:off x="162306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제15조</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승인과 취소</a:t>
            </a:r>
            <a:endParaRPr lang="en-US" sz="1400" dirty="0"/>
          </a:p>
        </p:txBody>
      </p:sp>
      <p:sp>
        <p:nvSpPr>
          <p:cNvPr id="80" name="Text 77"/>
          <p:cNvSpPr/>
          <p:nvPr/>
        </p:nvSpPr>
        <p:spPr>
          <a:xfrm>
            <a:off x="114300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승인 시 기록</a:t>
            </a:r>
            <a:endParaRPr lang="en-US" sz="1400" dirty="0"/>
          </a:p>
        </p:txBody>
      </p:sp>
      <p:sp>
        <p:nvSpPr>
          <p:cNvPr id="81" name="Text 78"/>
          <p:cNvSpPr/>
          <p:nvPr/>
        </p:nvSpPr>
        <p:spPr>
          <a:xfrm>
            <a:off x="251460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결제 이월</a:t>
            </a:r>
            <a:endParaRPr lang="en-US" sz="1400" dirty="0"/>
          </a:p>
        </p:txBody>
      </p:sp>
      <p:sp>
        <p:nvSpPr>
          <p:cNvPr id="82" name="Text 79"/>
          <p:cNvSpPr/>
          <p:nvPr/>
        </p:nvSpPr>
        <p:spPr>
          <a:xfrm>
            <a:off x="477774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제16조</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할부 거래</a:t>
            </a:r>
            <a:endParaRPr lang="en-US" sz="1400" dirty="0"/>
          </a:p>
        </p:txBody>
      </p:sp>
      <p:sp>
        <p:nvSpPr>
          <p:cNvPr id="83" name="Text 80"/>
          <p:cNvSpPr/>
          <p:nvPr/>
        </p:nvSpPr>
        <p:spPr>
          <a:xfrm>
            <a:off x="429768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승인 전 표시</a:t>
            </a:r>
            <a:endParaRPr lang="en-US" sz="1400" dirty="0"/>
          </a:p>
        </p:txBody>
      </p:sp>
      <p:sp>
        <p:nvSpPr>
          <p:cNvPr id="84" name="Text 81"/>
          <p:cNvSpPr/>
          <p:nvPr/>
        </p:nvSpPr>
        <p:spPr>
          <a:xfrm>
            <a:off x="566928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선납 재계산</a:t>
            </a:r>
            <a:endParaRPr lang="en-US" sz="1400" dirty="0"/>
          </a:p>
        </p:txBody>
      </p:sp>
      <p:sp>
        <p:nvSpPr>
          <p:cNvPr id="85" name="Text 82"/>
          <p:cNvSpPr/>
          <p:nvPr/>
        </p:nvSpPr>
        <p:spPr>
          <a:xfrm>
            <a:off x="861822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제16조의2</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철회 요청</a:t>
            </a:r>
            <a:endParaRPr lang="en-US" sz="1400" dirty="0"/>
          </a:p>
        </p:txBody>
      </p:sp>
      <p:sp>
        <p:nvSpPr>
          <p:cNvPr id="86" name="Text 83"/>
          <p:cNvSpPr/>
          <p:nvPr/>
        </p:nvSpPr>
        <p:spPr>
          <a:xfrm>
            <a:off x="745236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기한</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7일 내 철회</a:t>
            </a:r>
            <a:endParaRPr lang="en-US" sz="1400" dirty="0"/>
          </a:p>
        </p:txBody>
      </p:sp>
      <p:sp>
        <p:nvSpPr>
          <p:cNvPr id="87" name="Text 84"/>
          <p:cNvSpPr/>
          <p:nvPr/>
        </p:nvSpPr>
        <p:spPr>
          <a:xfrm>
            <a:off x="882396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철회 제한</a:t>
            </a:r>
            <a:endParaRPr lang="en-US" sz="1400" dirty="0"/>
          </a:p>
        </p:txBody>
      </p:sp>
      <p:sp>
        <p:nvSpPr>
          <p:cNvPr id="88" name="Text 85"/>
          <p:cNvSpPr/>
          <p:nvPr/>
        </p:nvSpPr>
        <p:spPr>
          <a:xfrm>
            <a:off x="1019556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사유 안내</a:t>
            </a:r>
            <a:endParaRPr lang="en-US" sz="1400" dirty="0"/>
          </a:p>
        </p:txBody>
      </p:sp>
      <p:sp>
        <p:nvSpPr>
          <p:cNvPr id="89" name="Text 86"/>
          <p:cNvSpPr/>
          <p:nvPr/>
        </p:nvSpPr>
        <p:spPr>
          <a:xfrm>
            <a:off x="1188720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제17조</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부가서비스 이용</a:t>
            </a:r>
            <a:endParaRPr lang="en-US" sz="1400" dirty="0"/>
          </a:p>
        </p:txBody>
      </p:sp>
      <p:sp>
        <p:nvSpPr>
          <p:cNvPr id="90" name="Text 87"/>
          <p:cNvSpPr/>
          <p:nvPr/>
        </p:nvSpPr>
        <p:spPr>
          <a:xfrm>
            <a:off x="1209294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전월 실적</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2026-10-23T06:42:59Z</dcterms:created>
  <dcterms:modified xsi:type="dcterms:W3CDTF">2026-10-23T06:42:59Z</dcterms:modified>
</cp:coreProperties>
</file>