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바깥 틀이 KG, 즉 Neo4j에 들어 있는 그래프 하나입니다. 그 안을 논리적으로 두 층으로 나눠 볼 수 있습니다. 위층은 엔티티 그래프입니다. LLM이 조항 단위로 읽고 뽑은 엔티티와 관계입니다. 원은 엔티티이고, 약관 문서, 조항, 조건, 기한, 처리가 모두 엔티티입니다. 이름표가 붙은 선이 관계입니다. 문서가 조항을 가지는 HAS_CLAUSE, 조항이 조건, 기한, 처리를 정하는 SETS_REQUIREMENT, SETS_DEADLINE, DEFINES_HANDLING이 있습니다.
아래층은 Lexical Graph입니다. 검색엔진의 청크를 코드가 그대로 옮긴 청크 노드입니다. LLM이 뽑은 것이 아니고, chunk_id가 검색엔진과 같습니다. 원문 본문도 함께 들어 있어 답의 근거를 보여 줄 때 씁니다. v0는 Document 노드와 NEXT_CHUNK는 만들지 않고 청크 노드만 둡니다.
두 층은 따로 저장되지 않고 같은 그래프 안에서 FROM_CHUNK로 이어집니다. 엔티티마다 자기 조항이 나온 청크로 이어집니다. 제15조는 왼쪽 청크에만, 제17조는 오른쪽 청크에만 있습니다. 제16조와 제16조의2는 두 청크가 겹치는 구간에 있어 두 청크 모두에 이어집니다. 약관 문서 노드도 두 청크 모두에 이어집니다. 그림이 복잡해지지 않게 점선 묶음마다 선을 모아 그렸습니다. 점선 묶음은 설명용 표시이고, 추출 단위는 그래프에 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인덱싱: KG 구축 - KG 그래프의 모양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KG 하나 안에 엔티티 그래프(지식 층)와 Lexical Graph(원문 층)가 함께 있고, 두 층은 FROM_CHUNK로 이어짐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09321" y="1591056"/>
            <a:ext cx="1362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이름  </a:t>
            </a:r>
            <a:pPr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가짐 = HAS_CLAUSE,  조건 둠 = SETS_REQUIREMENT,  기한 둠 = SETS_DEADLINE,  처리 정함 = DEFINES_HANDLING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9321" y="2048256"/>
            <a:ext cx="13624560" cy="5614416"/>
          </a:xfrm>
          <a:prstGeom prst="roundRect">
            <a:avLst>
              <a:gd name="adj" fmla="val 2280"/>
            </a:avLst>
          </a:prstGeom>
          <a:solidFill>
            <a:srgbClr val="FFFFFF"/>
          </a:solidFill>
          <a:ln w="25400">
            <a:solidFill>
              <a:srgbClr val="1E2A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9049" y="2231136"/>
            <a:ext cx="13405104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2E74C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9049" y="6547104"/>
            <a:ext cx="13405104" cy="1005840"/>
          </a:xfrm>
          <a:prstGeom prst="roundRect">
            <a:avLst>
              <a:gd name="adj" fmla="val 9091"/>
            </a:avLst>
          </a:prstGeom>
          <a:solidFill>
            <a:srgbClr val="E2EEF9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7921" y="1892808"/>
            <a:ext cx="3017520" cy="329184"/>
          </a:xfrm>
          <a:prstGeom prst="roundRect">
            <a:avLst>
              <a:gd name="adj" fmla="val 16667"/>
            </a:avLst>
          </a:prstGeom>
          <a:solidFill>
            <a:srgbClr val="1E2A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7921" y="1892808"/>
            <a:ext cx="301752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 (Neo4j 그래프 하나)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01929" y="2377440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엔티티 그래프 (지식 층)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조항 단위로 추출. 원 = 엔티티, 이름표 선 = 관계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0" y="67299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Lexical Graph (원문 층)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코드가 검색 청크를 옮김. 검색엔진과 1대1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60120" y="3703320"/>
            <a:ext cx="3017520" cy="2542032"/>
          </a:xfrm>
          <a:prstGeom prst="roundRect">
            <a:avLst>
              <a:gd name="adj" fmla="val 4317"/>
            </a:avLst>
          </a:prstGeom>
          <a:solidFill>
            <a:srgbClr val="F5F8FC"/>
          </a:solidFill>
          <a:ln w="15875">
            <a:solidFill>
              <a:srgbClr val="C3CEE0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960120" y="59161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a4fd…에만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114800" y="3703320"/>
            <a:ext cx="3017520" cy="2542032"/>
          </a:xfrm>
          <a:prstGeom prst="roundRect">
            <a:avLst>
              <a:gd name="adj" fmla="val 4317"/>
            </a:avLst>
          </a:prstGeom>
          <a:solidFill>
            <a:srgbClr val="F5F8FC"/>
          </a:solidFill>
          <a:ln w="15875">
            <a:solidFill>
              <a:srgbClr val="C3CEE0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4114800" y="59161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겹친 조항: 청크 2개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269480" y="3703320"/>
            <a:ext cx="4389120" cy="2542032"/>
          </a:xfrm>
          <a:prstGeom prst="roundRect">
            <a:avLst>
              <a:gd name="adj" fmla="val 4317"/>
            </a:avLst>
          </a:prstGeom>
          <a:solidFill>
            <a:srgbClr val="F5F8FC"/>
          </a:solidFill>
          <a:ln w="15875">
            <a:solidFill>
              <a:srgbClr val="C3CEE0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7269480" y="59161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겹친 조항: 청크 2개 (처리 1개 더 있음)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1795760" y="3703320"/>
            <a:ext cx="1874520" cy="2542032"/>
          </a:xfrm>
          <a:prstGeom prst="roundRect">
            <a:avLst>
              <a:gd name="adj" fmla="val 5854"/>
            </a:avLst>
          </a:prstGeom>
          <a:solidFill>
            <a:srgbClr val="F5F8FC"/>
          </a:solidFill>
          <a:ln w="15875">
            <a:solidFill>
              <a:srgbClr val="C3CEE0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11795760" y="591616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112f…에만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468880" y="6245352"/>
            <a:ext cx="502920" cy="493776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triangle"/>
          </a:ln>
        </p:spPr>
      </p:sp>
      <p:sp>
        <p:nvSpPr>
          <p:cNvPr id="22" name="Shape 19"/>
          <p:cNvSpPr/>
          <p:nvPr/>
        </p:nvSpPr>
        <p:spPr>
          <a:xfrm flipH="1">
            <a:off x="3931920" y="6245352"/>
            <a:ext cx="1234440" cy="493776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triangle"/>
          </a:ln>
        </p:spPr>
      </p:sp>
      <p:sp>
        <p:nvSpPr>
          <p:cNvPr id="23" name="Shape 20"/>
          <p:cNvSpPr/>
          <p:nvPr/>
        </p:nvSpPr>
        <p:spPr>
          <a:xfrm flipH="1">
            <a:off x="4892040" y="6245352"/>
            <a:ext cx="4114800" cy="493776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080760" y="6245352"/>
            <a:ext cx="3657600" cy="493776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9921240" y="6245352"/>
            <a:ext cx="777240" cy="493776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triangle"/>
          </a:ln>
        </p:spPr>
      </p:sp>
      <p:sp>
        <p:nvSpPr>
          <p:cNvPr id="26" name="Shape 23"/>
          <p:cNvSpPr/>
          <p:nvPr/>
        </p:nvSpPr>
        <p:spPr>
          <a:xfrm flipH="1">
            <a:off x="11658600" y="6245352"/>
            <a:ext cx="1074420" cy="493776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8641080" y="2926080"/>
            <a:ext cx="457200" cy="0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triangle"/>
          </a:ln>
        </p:spPr>
      </p:sp>
      <p:sp>
        <p:nvSpPr>
          <p:cNvPr id="28" name="Shape 25"/>
          <p:cNvSpPr/>
          <p:nvPr/>
        </p:nvSpPr>
        <p:spPr>
          <a:xfrm flipH="1">
            <a:off x="2468880" y="3291840"/>
            <a:ext cx="4846320" cy="54864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 flipH="1">
            <a:off x="5623560" y="3291840"/>
            <a:ext cx="1691640" cy="54864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7315200" y="3291840"/>
            <a:ext cx="2148840" cy="54864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7315200" y="3291840"/>
            <a:ext cx="5417820" cy="54864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 flipH="1">
            <a:off x="1783080" y="4544568"/>
            <a:ext cx="411480" cy="59893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2743200" y="4544568"/>
            <a:ext cx="411480" cy="59893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 flipH="1">
            <a:off x="4937760" y="4544568"/>
            <a:ext cx="411480" cy="59893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5897880" y="4544568"/>
            <a:ext cx="411480" cy="59893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 flipH="1">
            <a:off x="8092440" y="4544568"/>
            <a:ext cx="960120" cy="59893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9464040" y="4544568"/>
            <a:ext cx="0" cy="59893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9875520" y="4544568"/>
            <a:ext cx="960120" cy="59893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12733020" y="4544568"/>
            <a:ext cx="0" cy="59893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1463954" y="4829495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463954" y="4829495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정함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2605126" y="4829495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605126" y="4829495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정함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4457700" y="341985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457700" y="341985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가짐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4687214" y="4829495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687214" y="4829495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둠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5759806" y="4829495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759806" y="4829495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정함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6035040" y="341985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035040" y="341985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가짐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7995514" y="4829495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995514" y="4829495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 둠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9098280" y="4829495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098280" y="4829495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둠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10132466" y="4829495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32466" y="4829495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정함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7955280" y="341985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7955280" y="341985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가짐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12367260" y="4829495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12367260" y="4829495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둠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9589770" y="341985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9589770" y="341985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가짐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5852160" y="6300216"/>
            <a:ext cx="29260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1E2A5C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5852160" y="63002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FROM_CHUNK: 엔티티 → 나온 청크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9098280" y="2779776"/>
            <a:ext cx="34747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1E2A5C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098280" y="27797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FROM_CHUNK: 청크 a4fd…, 112f… 둘 다</a:t>
            </a:r>
            <a:endParaRPr lang="en-US" sz="1400" dirty="0"/>
          </a:p>
        </p:txBody>
      </p:sp>
      <p:sp>
        <p:nvSpPr>
          <p:cNvPr id="68" name="Text 65"/>
          <p:cNvSpPr/>
          <p:nvPr/>
        </p:nvSpPr>
        <p:spPr>
          <a:xfrm>
            <a:off x="5989320" y="2560320"/>
            <a:ext cx="2651760" cy="731520"/>
          </a:xfrm>
          <a:prstGeom prst="ellipse">
            <a:avLst/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약관 문서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 1.2, 시행 2027-01-15</a:t>
            </a:r>
            <a:endParaRPr lang="en-US" sz="1400" dirty="0"/>
          </a:p>
        </p:txBody>
      </p:sp>
      <p:sp>
        <p:nvSpPr>
          <p:cNvPr id="69" name="Text 66"/>
          <p:cNvSpPr/>
          <p:nvPr/>
        </p:nvSpPr>
        <p:spPr>
          <a:xfrm>
            <a:off x="2743200" y="6739128"/>
            <a:ext cx="2377440" cy="676656"/>
          </a:xfrm>
          <a:prstGeom prst="roundRect">
            <a:avLst>
              <a:gd name="adj" fmla="val 16216"/>
            </a:avLst>
          </a:prstGeom>
          <a:solidFill>
            <a:srgbClr val="1E2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노드 (Chunk)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청크 a4fd…, 원문 본문</a:t>
            </a:r>
            <a:endParaRPr lang="en-US" sz="1400" dirty="0"/>
          </a:p>
        </p:txBody>
      </p:sp>
      <p:sp>
        <p:nvSpPr>
          <p:cNvPr id="70" name="Text 67"/>
          <p:cNvSpPr/>
          <p:nvPr/>
        </p:nvSpPr>
        <p:spPr>
          <a:xfrm>
            <a:off x="9509760" y="6739128"/>
            <a:ext cx="2377440" cy="676656"/>
          </a:xfrm>
          <a:prstGeom prst="roundRect">
            <a:avLst>
              <a:gd name="adj" fmla="val 16216"/>
            </a:avLst>
          </a:prstGeom>
          <a:solidFill>
            <a:srgbClr val="1E2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노드 (Chunk)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청크 112f…, 원문 본문</a:t>
            </a:r>
            <a:endParaRPr lang="en-US" sz="1400" dirty="0"/>
          </a:p>
        </p:txBody>
      </p:sp>
      <p:sp>
        <p:nvSpPr>
          <p:cNvPr id="71" name="Text 68"/>
          <p:cNvSpPr/>
          <p:nvPr/>
        </p:nvSpPr>
        <p:spPr>
          <a:xfrm>
            <a:off x="1623060" y="3840480"/>
            <a:ext cx="1691640" cy="731520"/>
          </a:xfrm>
          <a:prstGeom prst="ellipse">
            <a:avLst/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제15조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승인과 취소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1143000" y="514350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시 기록</a:t>
            </a:r>
            <a:endParaRPr lang="en-US" sz="1400" dirty="0"/>
          </a:p>
        </p:txBody>
      </p:sp>
      <p:sp>
        <p:nvSpPr>
          <p:cNvPr id="73" name="Text 70"/>
          <p:cNvSpPr/>
          <p:nvPr/>
        </p:nvSpPr>
        <p:spPr>
          <a:xfrm>
            <a:off x="2514600" y="514350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이월</a:t>
            </a:r>
            <a:endParaRPr lang="en-US" sz="1400" dirty="0"/>
          </a:p>
        </p:txBody>
      </p:sp>
      <p:sp>
        <p:nvSpPr>
          <p:cNvPr id="74" name="Text 71"/>
          <p:cNvSpPr/>
          <p:nvPr/>
        </p:nvSpPr>
        <p:spPr>
          <a:xfrm>
            <a:off x="4777740" y="3840480"/>
            <a:ext cx="1691640" cy="731520"/>
          </a:xfrm>
          <a:prstGeom prst="ellipse">
            <a:avLst/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제16조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할부 거래</a:t>
            </a:r>
            <a:endParaRPr lang="en-US" sz="1400" dirty="0"/>
          </a:p>
        </p:txBody>
      </p:sp>
      <p:sp>
        <p:nvSpPr>
          <p:cNvPr id="75" name="Text 72"/>
          <p:cNvSpPr/>
          <p:nvPr/>
        </p:nvSpPr>
        <p:spPr>
          <a:xfrm>
            <a:off x="4297680" y="514350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전 표시</a:t>
            </a:r>
            <a:endParaRPr lang="en-US" sz="1400" dirty="0"/>
          </a:p>
        </p:txBody>
      </p:sp>
      <p:sp>
        <p:nvSpPr>
          <p:cNvPr id="76" name="Text 73"/>
          <p:cNvSpPr/>
          <p:nvPr/>
        </p:nvSpPr>
        <p:spPr>
          <a:xfrm>
            <a:off x="5669280" y="514350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선납 재계산</a:t>
            </a:r>
            <a:endParaRPr lang="en-US" sz="1400" dirty="0"/>
          </a:p>
        </p:txBody>
      </p:sp>
      <p:sp>
        <p:nvSpPr>
          <p:cNvPr id="77" name="Text 74"/>
          <p:cNvSpPr/>
          <p:nvPr/>
        </p:nvSpPr>
        <p:spPr>
          <a:xfrm>
            <a:off x="8618220" y="3840480"/>
            <a:ext cx="1691640" cy="731520"/>
          </a:xfrm>
          <a:prstGeom prst="ellipse">
            <a:avLst/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제16조의2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철회 요청</a:t>
            </a:r>
            <a:endParaRPr lang="en-US" sz="1400" dirty="0"/>
          </a:p>
        </p:txBody>
      </p:sp>
      <p:sp>
        <p:nvSpPr>
          <p:cNvPr id="78" name="Text 75"/>
          <p:cNvSpPr/>
          <p:nvPr/>
        </p:nvSpPr>
        <p:spPr>
          <a:xfrm>
            <a:off x="7452360" y="514350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7일 내 철회</a:t>
            </a:r>
            <a:endParaRPr lang="en-US" sz="1400" dirty="0"/>
          </a:p>
        </p:txBody>
      </p:sp>
      <p:sp>
        <p:nvSpPr>
          <p:cNvPr id="79" name="Text 76"/>
          <p:cNvSpPr/>
          <p:nvPr/>
        </p:nvSpPr>
        <p:spPr>
          <a:xfrm>
            <a:off x="8823960" y="514350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철회 제한</a:t>
            </a:r>
            <a:endParaRPr lang="en-US" sz="1400" dirty="0"/>
          </a:p>
        </p:txBody>
      </p:sp>
      <p:sp>
        <p:nvSpPr>
          <p:cNvPr id="80" name="Text 77"/>
          <p:cNvSpPr/>
          <p:nvPr/>
        </p:nvSpPr>
        <p:spPr>
          <a:xfrm>
            <a:off x="10195560" y="514350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사유 안내</a:t>
            </a:r>
            <a:endParaRPr lang="en-US" sz="1400" dirty="0"/>
          </a:p>
        </p:txBody>
      </p:sp>
      <p:sp>
        <p:nvSpPr>
          <p:cNvPr id="81" name="Text 78"/>
          <p:cNvSpPr/>
          <p:nvPr/>
        </p:nvSpPr>
        <p:spPr>
          <a:xfrm>
            <a:off x="11887200" y="3840480"/>
            <a:ext cx="1691640" cy="731520"/>
          </a:xfrm>
          <a:prstGeom prst="ellipse">
            <a:avLst/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제17조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부가서비스 이용</a:t>
            </a:r>
            <a:endParaRPr lang="en-US" sz="1400" dirty="0"/>
          </a:p>
        </p:txBody>
      </p:sp>
      <p:sp>
        <p:nvSpPr>
          <p:cNvPr id="82" name="Text 79"/>
          <p:cNvSpPr/>
          <p:nvPr/>
        </p:nvSpPr>
        <p:spPr>
          <a:xfrm>
            <a:off x="12092940" y="514350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전월 실적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2026-10-23T06:24:23Z</dcterms:created>
  <dcterms:modified xsi:type="dcterms:W3CDTF">2026-10-23T06:24:23Z</dcterms:modified>
</cp:coreProperties>
</file>