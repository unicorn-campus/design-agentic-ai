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모양 읽는 법입니다. 원은 엔티티, 즉 노드입니다. 약관 문서, 조항, 조건, 기한, 처리가 모두 엔티티입니다. 선 위의 이름표가 관계입니다. 사각형인 청크 노드는 검색 청크를 그대로 옮긴 노드라서 LLM이 뽑은 엔티티가 아닙니다.
v0 표본의 약관 청크 두 개로 만든 실제 그래프입니다. 맨 위 가운데가 약관 문서 노드이고, HAS_CLAUSE로 조항 노드에 이어집니다. 조항 노드 아래에는 그 조항 글에서 LLM이 뽑은 조건, 기한, 처리 노드가 SETS_REQUIREMENT, SETS_DEADLINE, DEFINES_HANDLING으로 달립니다. 조건, 기한, 처리 노드 안의 글은 원문을 줄여 적은 것이고, 실제 노드에는 원문 문장이 그대로 들어 있습니다.
양옆의 청크 노드 두 개는 검색엔진의 청크와 하나씩 맞고 chunk_id도 같습니다. 점선 묶음 안의 노드는 모두 자기 조항이 나온 청크로 FROM_CHUNK가 있습니다. 그림이 복잡해지지 않게 묶음마다 선 하나로 모아 그렸습니다. 제15조는 왼쪽 청크에만, 제17조는 오른쪽 청크에만 있습니다. 제16조와 제16조의2는 두 청크가 겹치는 구간에 있어서 두 청크 모두에 이어집니다. 약관 문서 노드는 조항마다 뽑힌 문서 노드가 K5에서 하나로 합쳐지면서 두 청크 모두에 이어졌습니다.
점선 묶음은 설명을 위해 그린 표시입니다. 추출할 때 쓴 조항 글 조각, 즉 추출 단위는 그래프에 노드로 남지 않습니다. 그래프에 남는 것은 청크 노드와 엔티티뿐입니다.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인덱싱: KG 구축 - KG 그래프의 모양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조항 단위로 뽑은 엔티티(원)와 관계(이름표 붙은 선)가 그래프 하나로 모이고, 청크 노드(사각형)에 FROM_CHUNK로 이어짐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09321" y="162763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</a:t>
            </a:r>
            <a:pPr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엔티티(노드). 문서, 조항, 조건, 기한, 처리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사각형 </a:t>
            </a:r>
            <a:pPr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노드. 검색 청크와 1대1, LLM이 뽑은 엔티티 아님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점선 묶음 </a:t>
            </a:r>
            <a:pPr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설명용 표시. 추출 단위는 그래프에 남지 않음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1517904"/>
            <a:ext cx="53556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= 이름표 붙은 선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가짐: HAS_CLAUSE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둠: SETS_REQUIREMENT, 기한 둠: SETS_DEADLINE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정함: DEFINES_HANDLING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FROM_CHUNK: 엔티티가 나온 청크(굵은 점선)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60120" y="3611880"/>
            <a:ext cx="3017520" cy="2880360"/>
          </a:xfrm>
          <a:prstGeom prst="roundRect">
            <a:avLst>
              <a:gd name="adj" fmla="val 3810"/>
            </a:avLst>
          </a:prstGeom>
          <a:solidFill>
            <a:srgbClr val="F5F8FC"/>
          </a:solidFill>
          <a:ln w="15875">
            <a:solidFill>
              <a:srgbClr val="C3CEE0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960120" y="61630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a4fd…에만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0" y="3611880"/>
            <a:ext cx="3017520" cy="2880360"/>
          </a:xfrm>
          <a:prstGeom prst="roundRect">
            <a:avLst>
              <a:gd name="adj" fmla="val 3810"/>
            </a:avLst>
          </a:prstGeom>
          <a:solidFill>
            <a:srgbClr val="F5F8FC"/>
          </a:solidFill>
          <a:ln w="15875">
            <a:solidFill>
              <a:srgbClr val="C3CEE0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4114800" y="61630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겹친 조항: 청크 2개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269480" y="3611880"/>
            <a:ext cx="4389120" cy="2880360"/>
          </a:xfrm>
          <a:prstGeom prst="roundRect">
            <a:avLst>
              <a:gd name="adj" fmla="val 3810"/>
            </a:avLst>
          </a:prstGeom>
          <a:solidFill>
            <a:srgbClr val="F5F8FC"/>
          </a:solidFill>
          <a:ln w="15875">
            <a:solidFill>
              <a:srgbClr val="C3CEE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7269480" y="61630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겹친 조항: 청크 2개 (처리 1개 더 있음)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1795760" y="3611880"/>
            <a:ext cx="1874520" cy="2880360"/>
          </a:xfrm>
          <a:prstGeom prst="roundRect">
            <a:avLst>
              <a:gd name="adj" fmla="val 5854"/>
            </a:avLst>
          </a:prstGeom>
          <a:solidFill>
            <a:srgbClr val="F5F8FC"/>
          </a:solidFill>
          <a:ln w="15875">
            <a:solidFill>
              <a:srgbClr val="C3CEE0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11795760" y="61630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112f…에만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468880" y="6492240"/>
            <a:ext cx="0" cy="36576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5120640" y="6492240"/>
            <a:ext cx="0" cy="36576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8961120" y="6492240"/>
            <a:ext cx="0" cy="36576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6126480" y="6492240"/>
            <a:ext cx="0" cy="64008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9966960" y="6492240"/>
            <a:ext cx="0" cy="64008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12733020" y="6492240"/>
            <a:ext cx="0" cy="64008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21" name="Shape 18"/>
          <p:cNvSpPr/>
          <p:nvPr/>
        </p:nvSpPr>
        <p:spPr>
          <a:xfrm flipH="1">
            <a:off x="777240" y="6858000"/>
            <a:ext cx="8183880" cy="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22" name="Shape 19"/>
          <p:cNvSpPr/>
          <p:nvPr/>
        </p:nvSpPr>
        <p:spPr>
          <a:xfrm flipV="1">
            <a:off x="777240" y="3374136"/>
            <a:ext cx="0" cy="3483864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126480" y="7132320"/>
            <a:ext cx="7726680" cy="0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none"/>
          </a:ln>
        </p:spPr>
      </p:sp>
      <p:sp>
        <p:nvSpPr>
          <p:cNvPr id="24" name="Shape 21"/>
          <p:cNvSpPr/>
          <p:nvPr/>
        </p:nvSpPr>
        <p:spPr>
          <a:xfrm flipV="1">
            <a:off x="13853160" y="3374136"/>
            <a:ext cx="0" cy="3758184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5" name="Shape 22"/>
          <p:cNvSpPr/>
          <p:nvPr/>
        </p:nvSpPr>
        <p:spPr>
          <a:xfrm flipH="1">
            <a:off x="2606040" y="2331720"/>
            <a:ext cx="3383280" cy="621792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641080" y="2331720"/>
            <a:ext cx="3383280" cy="621792"/>
          </a:xfrm>
          <a:prstGeom prst="line">
            <a:avLst/>
          </a:prstGeom>
          <a:noFill/>
          <a:ln w="2857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27" name="Shape 24"/>
          <p:cNvSpPr/>
          <p:nvPr/>
        </p:nvSpPr>
        <p:spPr>
          <a:xfrm flipH="1">
            <a:off x="2468880" y="2628900"/>
            <a:ext cx="4846320" cy="116586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H="1">
            <a:off x="5623560" y="2628900"/>
            <a:ext cx="1691640" cy="116586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315200" y="2628900"/>
            <a:ext cx="2148840" cy="116586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315200" y="2628900"/>
            <a:ext cx="5417820" cy="1165860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 flipH="1">
            <a:off x="1783080" y="4498848"/>
            <a:ext cx="41148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2743200" y="4498848"/>
            <a:ext cx="41148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 flipH="1">
            <a:off x="4937760" y="4498848"/>
            <a:ext cx="41148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5897880" y="4498848"/>
            <a:ext cx="41148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 flipH="1">
            <a:off x="8092440" y="4498848"/>
            <a:ext cx="96012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464040" y="4498848"/>
            <a:ext cx="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875520" y="4498848"/>
            <a:ext cx="96012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12733020" y="4498848"/>
            <a:ext cx="0" cy="736092"/>
          </a:xfrm>
          <a:prstGeom prst="line">
            <a:avLst/>
          </a:prstGeom>
          <a:noFill/>
          <a:ln w="1587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463954" y="488253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463954" y="488253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2605126" y="488253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605126" y="488253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457700" y="306552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457700" y="306552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4687214" y="488253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687214" y="488253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둠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5759806" y="488253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759806" y="488253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035040" y="306552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035040" y="306552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995514" y="488253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995514" y="488253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 둠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9098280" y="488253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098280" y="488253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둠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10132466" y="488253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132466" y="488253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정함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7955280" y="306552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955280" y="306552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12367260" y="488253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2367260" y="488253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둠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9589770" y="306552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4A5364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589770" y="306552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가짐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2923337" y="2633106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1E2A5C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2923337" y="263310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10381183" y="2633106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1E2A5C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381183" y="263310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2628900" y="6711696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1E2A5C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2628900" y="671169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10675620" y="6986016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1E2A5C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675620" y="69860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</a:t>
            </a:r>
            <a:endParaRPr lang="en-US" sz="1400" dirty="0"/>
          </a:p>
        </p:txBody>
      </p:sp>
      <p:sp>
        <p:nvSpPr>
          <p:cNvPr id="71" name="Text 68"/>
          <p:cNvSpPr/>
          <p:nvPr/>
        </p:nvSpPr>
        <p:spPr>
          <a:xfrm>
            <a:off x="5989320" y="1851660"/>
            <a:ext cx="2651760" cy="777240"/>
          </a:xfrm>
          <a:prstGeom prst="ellipse">
            <a:avLst/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 문서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 1.2, 시행 2027-01-15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548640" y="265176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노드 (Chunk)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청크 a4fd…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11978640" y="265176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노드 (Chunk)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청크 112f…</a:t>
            </a:r>
            <a:endParaRPr lang="en-US" sz="1400" dirty="0"/>
          </a:p>
        </p:txBody>
      </p:sp>
      <p:sp>
        <p:nvSpPr>
          <p:cNvPr id="74" name="Text 71"/>
          <p:cNvSpPr/>
          <p:nvPr/>
        </p:nvSpPr>
        <p:spPr>
          <a:xfrm>
            <a:off x="1623060" y="3794760"/>
            <a:ext cx="1691640" cy="73152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제15조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승인과 취소</a:t>
            </a:r>
            <a:endParaRPr lang="en-US" sz="1400" dirty="0"/>
          </a:p>
        </p:txBody>
      </p:sp>
      <p:sp>
        <p:nvSpPr>
          <p:cNvPr id="75" name="Text 72"/>
          <p:cNvSpPr/>
          <p:nvPr/>
        </p:nvSpPr>
        <p:spPr>
          <a:xfrm>
            <a:off x="114300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시 기록</a:t>
            </a:r>
            <a:endParaRPr lang="en-US" sz="1400" dirty="0"/>
          </a:p>
        </p:txBody>
      </p:sp>
      <p:sp>
        <p:nvSpPr>
          <p:cNvPr id="76" name="Text 73"/>
          <p:cNvSpPr/>
          <p:nvPr/>
        </p:nvSpPr>
        <p:spPr>
          <a:xfrm>
            <a:off x="251460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이월</a:t>
            </a:r>
            <a:endParaRPr lang="en-US" sz="1400" dirty="0"/>
          </a:p>
        </p:txBody>
      </p:sp>
      <p:sp>
        <p:nvSpPr>
          <p:cNvPr id="77" name="Text 74"/>
          <p:cNvSpPr/>
          <p:nvPr/>
        </p:nvSpPr>
        <p:spPr>
          <a:xfrm>
            <a:off x="4777740" y="3794760"/>
            <a:ext cx="1691640" cy="73152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제16조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할부 거래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429768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전 표시</a:t>
            </a:r>
            <a:endParaRPr lang="en-US" sz="1400" dirty="0"/>
          </a:p>
        </p:txBody>
      </p:sp>
      <p:sp>
        <p:nvSpPr>
          <p:cNvPr id="79" name="Text 76"/>
          <p:cNvSpPr/>
          <p:nvPr/>
        </p:nvSpPr>
        <p:spPr>
          <a:xfrm>
            <a:off x="566928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선납 재계산</a:t>
            </a:r>
            <a:endParaRPr lang="en-US" sz="1400" dirty="0"/>
          </a:p>
        </p:txBody>
      </p:sp>
      <p:sp>
        <p:nvSpPr>
          <p:cNvPr id="80" name="Text 77"/>
          <p:cNvSpPr/>
          <p:nvPr/>
        </p:nvSpPr>
        <p:spPr>
          <a:xfrm>
            <a:off x="8618220" y="3794760"/>
            <a:ext cx="1691640" cy="73152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제16조의2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철회 요청</a:t>
            </a:r>
            <a:endParaRPr lang="en-US" sz="1400" dirty="0"/>
          </a:p>
        </p:txBody>
      </p:sp>
      <p:sp>
        <p:nvSpPr>
          <p:cNvPr id="81" name="Text 78"/>
          <p:cNvSpPr/>
          <p:nvPr/>
        </p:nvSpPr>
        <p:spPr>
          <a:xfrm>
            <a:off x="745236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7일 내 철회</a:t>
            </a:r>
            <a:endParaRPr lang="en-US" sz="1400" dirty="0"/>
          </a:p>
        </p:txBody>
      </p:sp>
      <p:sp>
        <p:nvSpPr>
          <p:cNvPr id="82" name="Text 79"/>
          <p:cNvSpPr/>
          <p:nvPr/>
        </p:nvSpPr>
        <p:spPr>
          <a:xfrm>
            <a:off x="882396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철회 제한</a:t>
            </a:r>
            <a:endParaRPr lang="en-US" sz="1400" dirty="0"/>
          </a:p>
        </p:txBody>
      </p:sp>
      <p:sp>
        <p:nvSpPr>
          <p:cNvPr id="83" name="Text 80"/>
          <p:cNvSpPr/>
          <p:nvPr/>
        </p:nvSpPr>
        <p:spPr>
          <a:xfrm>
            <a:off x="1019556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사유 안내</a:t>
            </a:r>
            <a:endParaRPr lang="en-US" sz="1400" dirty="0"/>
          </a:p>
        </p:txBody>
      </p:sp>
      <p:sp>
        <p:nvSpPr>
          <p:cNvPr id="84" name="Text 81"/>
          <p:cNvSpPr/>
          <p:nvPr/>
        </p:nvSpPr>
        <p:spPr>
          <a:xfrm>
            <a:off x="11887200" y="3794760"/>
            <a:ext cx="1691640" cy="73152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제17조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부가서비스 이용</a:t>
            </a:r>
            <a:endParaRPr lang="en-US" sz="1400" dirty="0"/>
          </a:p>
        </p:txBody>
      </p:sp>
      <p:sp>
        <p:nvSpPr>
          <p:cNvPr id="85" name="Text 82"/>
          <p:cNvSpPr/>
          <p:nvPr/>
        </p:nvSpPr>
        <p:spPr>
          <a:xfrm>
            <a:off x="12092940" y="5234940"/>
            <a:ext cx="1280160" cy="777240"/>
          </a:xfrm>
          <a:prstGeom prst="ellipse">
            <a:avLst/>
          </a:prstGeom>
          <a:solidFill>
            <a:srgbClr val="EEF3FA"/>
          </a:solidFill>
          <a:ln w="15875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전월 실적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2026-10-23T06:11:06Z</dcterms:created>
  <dcterms:modified xsi:type="dcterms:W3CDTF">2026-10-23T06:11:06Z</dcterms:modified>
</cp:coreProperties>
</file>