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SHA-256은 파일 전체 바이트를 고정 길이 지문으로 바꾸는 함수입니다. 현재 구현은 파일명(source)을 키로 사용해 이전 활성 색인의 manifest.inputs_sha256 값과 현재 지문을 비교합니다. 파일의 수정 시각만으로 판정하지 않으며, 비교를 위해 모든 대상 파일의 바이트를 읽습니다. 표의 파일명과 짧은 지문은 설명용 가상 값입니다.
원천 확인 discover_docs는 전체 무변경 여부를 먼저 판정합니다. 선택 범위의 파일 목록·지문·문서 키, 청킹 정책·문서 프로필 및 임베딩 계약이 같고 강제 재색인이 아니면 _is_no_op 결과에 따라 전체 실행을 종료합니다. 파일별 기존 청크 재사용은 다음 load_split_clean에서 실제 적용합니다. 같은 파일명으로 저장된 원천 지문과 정책·프로필이 같고 기존 청크가 있으며 강제 재색인이 아닐 때 기존의 정제된 청크를 재사용합니다. 변경·신규 파일이나 재사용 조건을 만족하지 않는 파일만 로더, 분할기, 정제 처리기를 통과합니다. 이 그림은 두 단계에 걸친 판단을 이해하기 쉽게 하나의 흐름으로 표현했습니다.
정책 또는 프로필 변경은 파일 내용이 같아도 재처리 원인이 됩니다. 부분 실행에서는 이러한 설정 변경을 차단하고 전체 실행을 요구합니다. 임베딩 모델 계약 변경만 있는 경우 기존 청크를 재사용하되 임베딩은 다시 생성할 수 있습니다. 기존 청크 재사용이 이후 모든 색인 작업의 생략을 뜻하지는 않습니다. 파일 내용이 변경되어도 정제된 청크 본문이 같으면 뒤 단계에서 벡터를 재사용할 수 있으며 이는 원천 파일 변경 확인과 별도 판단입니다.
원천 파일의 전체 바이트를 해시하므로 PDF에서 보이는 본문이 같아도 내부 메타데이터나 저장 구조가 바뀌면 재처리 대상이 될 수 있습니다. 파일 이름 변경은 별도 원천으로 인식합니다. 원천에서 사라진 파일은 선택 범위에 맞춰 기존 청크 제외 대상으로 처리하며, 이 슬라이드의 예시는 신규·변경·동일 세 경우만 보여줍니다. 인덱스 게시 시 현재 지문을 inputs_sha256에 기록해 다음 실행의 비교 기준으로 사용합니다.
구현 근거:
hybrid-ai-lab/indexer/vector-bm25/app/infrastructure/loaders.py: FileSystemSourceCatalog.discover, sha256(path.read_bytes()).hexdigest()
hybrid-ai-lab/indexer/vector-bm25/app/application/indexing_service.py: discover_docs, _is_no_op, load_split_clean, _build_manifest
hybrid-ai-lab/indexer/vector-bm25/app/infrastructure/graph.py: _after_discover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2064" y="320040"/>
            <a:ext cx="11887200" cy="237744"/>
          </a:xfrm>
          <a:prstGeom prst="rect">
            <a:avLst/>
          </a:prstGeom>
          <a:noFill/>
          <a:ln/>
        </p:spPr>
        <p:txBody>
          <a:bodyPr wrap="square" lIns="0" tIns="0" rIns="0" bIns="0" rtlCol="0" anchor="ctr"/>
          <a:lstStyle/>
          <a:p>
            <a:pPr algn="l" indent="0" marL="0">
              <a:buNone/>
            </a:pPr>
            <a:r>
              <a:rPr lang="en-US" sz="1500" dirty="0">
                <a:solidFill>
                  <a:srgbClr val="7C8598"/>
                </a:solidFill>
                <a:latin typeface="Pretendard" pitchFamily="34" charset="0"/>
                <a:ea typeface="Pretendard" pitchFamily="34" charset="-122"/>
                <a:cs typeface="Pretendard" pitchFamily="34" charset="-120"/>
              </a:rPr>
              <a:t>문서 인덱싱  ›  원천 확인</a:t>
            </a:r>
            <a:endParaRPr lang="en-US" sz="1500" dirty="0"/>
          </a:p>
        </p:txBody>
      </p:sp>
      <p:sp>
        <p:nvSpPr>
          <p:cNvPr id="3" name="Text 1"/>
          <p:cNvSpPr/>
          <p:nvPr/>
        </p:nvSpPr>
        <p:spPr>
          <a:xfrm>
            <a:off x="512064" y="704088"/>
            <a:ext cx="13606272" cy="640080"/>
          </a:xfrm>
          <a:prstGeom prst="rect">
            <a:avLst/>
          </a:prstGeom>
          <a:noFill/>
          <a:ln/>
        </p:spPr>
        <p:txBody>
          <a:bodyPr wrap="square" lIns="0" tIns="0" rIns="0" bIns="0" rtlCol="0" anchor="ctr"/>
          <a:lstStyle/>
          <a:p>
            <a:pPr algn="l" indent="0" marL="0">
              <a:buNone/>
            </a:pPr>
            <a:r>
              <a:rPr lang="en-US" sz="4800" b="1" dirty="0">
                <a:solidFill>
                  <a:srgbClr val="1E2A5C"/>
                </a:solidFill>
                <a:latin typeface="Pretendard" pitchFamily="34" charset="0"/>
                <a:ea typeface="Pretendard" pitchFamily="34" charset="-122"/>
                <a:cs typeface="Pretendard" pitchFamily="34" charset="-120"/>
              </a:rPr>
              <a:t>원천 파일의 변경 확인</a:t>
            </a:r>
            <a:endParaRPr lang="en-US" sz="4800" dirty="0"/>
          </a:p>
        </p:txBody>
      </p:sp>
      <p:sp>
        <p:nvSpPr>
          <p:cNvPr id="4" name="Shape 2"/>
          <p:cNvSpPr/>
          <p:nvPr/>
        </p:nvSpPr>
        <p:spPr>
          <a:xfrm>
            <a:off x="512064" y="1472184"/>
            <a:ext cx="13606272" cy="32004"/>
          </a:xfrm>
          <a:prstGeom prst="rect">
            <a:avLst/>
          </a:prstGeom>
          <a:solidFill>
            <a:srgbClr val="D9E0EC"/>
          </a:solidFill>
          <a:ln w="12700">
            <a:solidFill>
              <a:srgbClr val="D9E0EC"/>
            </a:solidFill>
            <a:prstDash val="solid"/>
          </a:ln>
        </p:spPr>
      </p:sp>
      <p:sp>
        <p:nvSpPr>
          <p:cNvPr id="5" name="Shape 3"/>
          <p:cNvSpPr/>
          <p:nvPr/>
        </p:nvSpPr>
        <p:spPr>
          <a:xfrm>
            <a:off x="512064" y="1472184"/>
            <a:ext cx="1901952" cy="32004"/>
          </a:xfrm>
          <a:prstGeom prst="rect">
            <a:avLst/>
          </a:prstGeom>
          <a:solidFill>
            <a:srgbClr val="2E74C6"/>
          </a:solidFill>
          <a:ln w="12700">
            <a:solidFill>
              <a:srgbClr val="2E74C6"/>
            </a:solidFill>
            <a:prstDash val="solid"/>
          </a:ln>
        </p:spPr>
      </p:sp>
      <p:sp>
        <p:nvSpPr>
          <p:cNvPr id="6" name="Text 4"/>
          <p:cNvSpPr/>
          <p:nvPr/>
        </p:nvSpPr>
        <p:spPr>
          <a:xfrm>
            <a:off x="512064" y="1673352"/>
            <a:ext cx="13606272" cy="466344"/>
          </a:xfrm>
          <a:prstGeom prst="rect">
            <a:avLst/>
          </a:prstGeom>
          <a:noFill/>
          <a:ln/>
        </p:spPr>
        <p:txBody>
          <a:bodyPr wrap="square" lIns="0" tIns="0" rIns="0" bIns="0" rtlCol="0" anchor="ctr"/>
          <a:lstStyle/>
          <a:p>
            <a:pPr algn="l" indent="0" marL="0">
              <a:buNone/>
            </a:pPr>
            <a:r>
              <a:rPr lang="en-US" sz="2200" dirty="0">
                <a:solidFill>
                  <a:srgbClr val="4A5364"/>
                </a:solidFill>
                <a:latin typeface="Pretendard" pitchFamily="34" charset="0"/>
                <a:ea typeface="Pretendard" pitchFamily="34" charset="-122"/>
                <a:cs typeface="Pretendard" pitchFamily="34" charset="-120"/>
              </a:rPr>
              <a:t>파일 내용을 SHA-256 지문으로 바꾸고, 이전 색인에 저장한 같은 파일의 지문과 비교합니다.</a:t>
            </a:r>
            <a:endParaRPr lang="en-US" sz="2200" dirty="0"/>
          </a:p>
        </p:txBody>
      </p:sp>
      <p:sp>
        <p:nvSpPr>
          <p:cNvPr id="7" name="Shape 5"/>
          <p:cNvSpPr/>
          <p:nvPr/>
        </p:nvSpPr>
        <p:spPr>
          <a:xfrm>
            <a:off x="512064" y="2450592"/>
            <a:ext cx="4023360" cy="1024128"/>
          </a:xfrm>
          <a:prstGeom prst="rect">
            <a:avLst/>
          </a:prstGeom>
          <a:solidFill>
            <a:srgbClr val="EEF3FA"/>
          </a:solidFill>
          <a:ln w="11430">
            <a:solidFill>
              <a:srgbClr val="1E2A5C"/>
            </a:solidFill>
            <a:prstDash val="solid"/>
          </a:ln>
        </p:spPr>
      </p:sp>
      <p:sp>
        <p:nvSpPr>
          <p:cNvPr id="8" name="Text 6"/>
          <p:cNvSpPr/>
          <p:nvPr/>
        </p:nvSpPr>
        <p:spPr>
          <a:xfrm>
            <a:off x="694944" y="2569464"/>
            <a:ext cx="3657600" cy="329184"/>
          </a:xfrm>
          <a:prstGeom prst="rect">
            <a:avLst/>
          </a:prstGeom>
          <a:noFill/>
          <a:ln/>
        </p:spPr>
        <p:txBody>
          <a:bodyPr wrap="square" lIns="0" tIns="0" rIns="0" bIns="0" rtlCol="0" anchor="ctr"/>
          <a:lstStyle/>
          <a:p>
            <a:pPr algn="l" indent="0" marL="0">
              <a:buNone/>
            </a:pPr>
            <a:r>
              <a:rPr lang="en-US" sz="2200" b="1" dirty="0">
                <a:solidFill>
                  <a:srgbClr val="1E2A5C"/>
                </a:solidFill>
                <a:latin typeface="Pretendard" pitchFamily="34" charset="0"/>
                <a:ea typeface="Pretendard" pitchFamily="34" charset="-122"/>
                <a:cs typeface="Pretendard" pitchFamily="34" charset="-120"/>
              </a:rPr>
              <a:t>현재 파일의 지문 계산</a:t>
            </a:r>
            <a:endParaRPr lang="en-US" sz="2200" dirty="0"/>
          </a:p>
        </p:txBody>
      </p:sp>
      <p:sp>
        <p:nvSpPr>
          <p:cNvPr id="9" name="Text 7"/>
          <p:cNvSpPr/>
          <p:nvPr/>
        </p:nvSpPr>
        <p:spPr>
          <a:xfrm>
            <a:off x="694944" y="2990088"/>
            <a:ext cx="3657600" cy="329184"/>
          </a:xfrm>
          <a:prstGeom prst="rect">
            <a:avLst/>
          </a:prstGeom>
          <a:noFill/>
          <a:ln/>
        </p:spPr>
        <p:txBody>
          <a:bodyPr wrap="square" lIns="0" tIns="0" rIns="0" bIns="0" rtlCol="0" anchor="ctr"/>
          <a:lstStyle/>
          <a:p>
            <a:pPr algn="l" indent="0" marL="0">
              <a:buNone/>
            </a:pPr>
            <a:r>
              <a:rPr lang="en-US" sz="1900" dirty="0">
                <a:solidFill>
                  <a:srgbClr val="4A5364"/>
                </a:solidFill>
                <a:latin typeface="Pretendard" pitchFamily="34" charset="0"/>
                <a:ea typeface="Pretendard" pitchFamily="34" charset="-122"/>
                <a:cs typeface="Pretendard" pitchFamily="34" charset="-120"/>
              </a:rPr>
              <a:t>파일 전체 읽기 · SHA-256 계산</a:t>
            </a:r>
            <a:endParaRPr lang="en-US" sz="1900" dirty="0"/>
          </a:p>
        </p:txBody>
      </p:sp>
      <p:sp>
        <p:nvSpPr>
          <p:cNvPr id="10" name="Text 8"/>
          <p:cNvSpPr/>
          <p:nvPr/>
        </p:nvSpPr>
        <p:spPr>
          <a:xfrm>
            <a:off x="694944" y="3575304"/>
            <a:ext cx="3657600" cy="320040"/>
          </a:xfrm>
          <a:prstGeom prst="rect">
            <a:avLst/>
          </a:prstGeom>
          <a:noFill/>
          <a:ln/>
        </p:spPr>
        <p:txBody>
          <a:bodyPr wrap="square" lIns="0" tIns="0" rIns="0" bIns="0" rtlCol="0" anchor="ctr"/>
          <a:lstStyle/>
          <a:p>
            <a:pPr algn="l" indent="0" marL="0">
              <a:buNone/>
            </a:pPr>
            <a:r>
              <a:rPr lang="en-US" sz="2100" b="1" dirty="0">
                <a:solidFill>
                  <a:srgbClr val="1E2A5C"/>
                </a:solidFill>
                <a:latin typeface="Pretendard" pitchFamily="34" charset="0"/>
                <a:ea typeface="Pretendard" pitchFamily="34" charset="-122"/>
                <a:cs typeface="Pretendard" pitchFamily="34" charset="-120"/>
              </a:rPr>
              <a:t>약관.pdf  /  a17…</a:t>
            </a:r>
            <a:endParaRPr lang="en-US" sz="2100" dirty="0"/>
          </a:p>
        </p:txBody>
      </p:sp>
      <p:sp>
        <p:nvSpPr>
          <p:cNvPr id="11" name="Shape 9"/>
          <p:cNvSpPr/>
          <p:nvPr/>
        </p:nvSpPr>
        <p:spPr>
          <a:xfrm>
            <a:off x="512064" y="4014216"/>
            <a:ext cx="4023360" cy="1024128"/>
          </a:xfrm>
          <a:prstGeom prst="rect">
            <a:avLst/>
          </a:prstGeom>
          <a:solidFill>
            <a:srgbClr val="EEF3FA"/>
          </a:solidFill>
          <a:ln w="11430">
            <a:solidFill>
              <a:srgbClr val="1E2A5C"/>
            </a:solidFill>
            <a:prstDash val="solid"/>
          </a:ln>
        </p:spPr>
      </p:sp>
      <p:sp>
        <p:nvSpPr>
          <p:cNvPr id="12" name="Text 10"/>
          <p:cNvSpPr/>
          <p:nvPr/>
        </p:nvSpPr>
        <p:spPr>
          <a:xfrm>
            <a:off x="694944" y="4133088"/>
            <a:ext cx="3657600" cy="329184"/>
          </a:xfrm>
          <a:prstGeom prst="rect">
            <a:avLst/>
          </a:prstGeom>
          <a:noFill/>
          <a:ln/>
        </p:spPr>
        <p:txBody>
          <a:bodyPr wrap="square" lIns="0" tIns="0" rIns="0" bIns="0" rtlCol="0" anchor="ctr"/>
          <a:lstStyle/>
          <a:p>
            <a:pPr algn="l" indent="0" marL="0">
              <a:buNone/>
            </a:pPr>
            <a:r>
              <a:rPr lang="en-US" sz="2200" b="1" dirty="0">
                <a:solidFill>
                  <a:srgbClr val="1E2A5C"/>
                </a:solidFill>
                <a:latin typeface="Pretendard" pitchFamily="34" charset="0"/>
                <a:ea typeface="Pretendard" pitchFamily="34" charset="-122"/>
                <a:cs typeface="Pretendard" pitchFamily="34" charset="-120"/>
              </a:rPr>
              <a:t>이전 색인의 기록 조회</a:t>
            </a:r>
            <a:endParaRPr lang="en-US" sz="2200" dirty="0"/>
          </a:p>
        </p:txBody>
      </p:sp>
      <p:sp>
        <p:nvSpPr>
          <p:cNvPr id="13" name="Text 11"/>
          <p:cNvSpPr/>
          <p:nvPr/>
        </p:nvSpPr>
        <p:spPr>
          <a:xfrm>
            <a:off x="694944" y="4553712"/>
            <a:ext cx="3657600" cy="329184"/>
          </a:xfrm>
          <a:prstGeom prst="rect">
            <a:avLst/>
          </a:prstGeom>
          <a:noFill/>
          <a:ln/>
        </p:spPr>
        <p:txBody>
          <a:bodyPr wrap="square" lIns="0" tIns="0" rIns="0" bIns="0" rtlCol="0" anchor="ctr"/>
          <a:lstStyle/>
          <a:p>
            <a:pPr algn="l" indent="0" marL="0">
              <a:buNone/>
            </a:pPr>
            <a:r>
              <a:rPr lang="en-US" sz="1900" dirty="0">
                <a:solidFill>
                  <a:srgbClr val="4A5364"/>
                </a:solidFill>
                <a:latin typeface="Pretendard" pitchFamily="34" charset="0"/>
                <a:ea typeface="Pretendard" pitchFamily="34" charset="-122"/>
                <a:cs typeface="Pretendard" pitchFamily="34" charset="-120"/>
              </a:rPr>
              <a:t>manifest의 약관.pdf 지문 · a17…</a:t>
            </a:r>
            <a:endParaRPr lang="en-US" sz="1900" dirty="0"/>
          </a:p>
        </p:txBody>
      </p:sp>
      <p:sp>
        <p:nvSpPr>
          <p:cNvPr id="14" name="Shape 12"/>
          <p:cNvSpPr/>
          <p:nvPr/>
        </p:nvSpPr>
        <p:spPr>
          <a:xfrm>
            <a:off x="4535424" y="2962656"/>
            <a:ext cx="630936" cy="0"/>
          </a:xfrm>
          <a:prstGeom prst="line">
            <a:avLst/>
          </a:prstGeom>
          <a:noFill/>
          <a:ln w="22860">
            <a:solidFill>
              <a:srgbClr val="2E74C6"/>
            </a:solidFill>
            <a:prstDash val="solid"/>
          </a:ln>
        </p:spPr>
      </p:sp>
      <p:sp>
        <p:nvSpPr>
          <p:cNvPr id="15" name="Shape 13"/>
          <p:cNvSpPr/>
          <p:nvPr/>
        </p:nvSpPr>
        <p:spPr>
          <a:xfrm>
            <a:off x="5166360" y="2962656"/>
            <a:ext cx="0" cy="694944"/>
          </a:xfrm>
          <a:prstGeom prst="line">
            <a:avLst/>
          </a:prstGeom>
          <a:noFill/>
          <a:ln w="22860">
            <a:solidFill>
              <a:srgbClr val="2E74C6"/>
            </a:solidFill>
            <a:prstDash val="solid"/>
          </a:ln>
        </p:spPr>
      </p:sp>
      <p:sp>
        <p:nvSpPr>
          <p:cNvPr id="16" name="Shape 14"/>
          <p:cNvSpPr/>
          <p:nvPr/>
        </p:nvSpPr>
        <p:spPr>
          <a:xfrm>
            <a:off x="5166360" y="3657600"/>
            <a:ext cx="685800" cy="0"/>
          </a:xfrm>
          <a:prstGeom prst="line">
            <a:avLst/>
          </a:prstGeom>
          <a:noFill/>
          <a:ln w="22860">
            <a:solidFill>
              <a:srgbClr val="2E74C6"/>
            </a:solidFill>
            <a:prstDash val="solid"/>
            <a:tailEnd type="triangle"/>
          </a:ln>
        </p:spPr>
      </p:sp>
      <p:sp>
        <p:nvSpPr>
          <p:cNvPr id="17" name="Shape 15"/>
          <p:cNvSpPr/>
          <p:nvPr/>
        </p:nvSpPr>
        <p:spPr>
          <a:xfrm>
            <a:off x="4535424" y="4526280"/>
            <a:ext cx="630936" cy="0"/>
          </a:xfrm>
          <a:prstGeom prst="line">
            <a:avLst/>
          </a:prstGeom>
          <a:noFill/>
          <a:ln w="22860">
            <a:solidFill>
              <a:srgbClr val="2E74C6"/>
            </a:solidFill>
            <a:prstDash val="solid"/>
          </a:ln>
        </p:spPr>
      </p:sp>
      <p:sp>
        <p:nvSpPr>
          <p:cNvPr id="18" name="Shape 16"/>
          <p:cNvSpPr/>
          <p:nvPr/>
        </p:nvSpPr>
        <p:spPr>
          <a:xfrm>
            <a:off x="5166360" y="3657600"/>
            <a:ext cx="0" cy="868680"/>
          </a:xfrm>
          <a:prstGeom prst="line">
            <a:avLst/>
          </a:prstGeom>
          <a:noFill/>
          <a:ln w="22860">
            <a:solidFill>
              <a:srgbClr val="2E74C6"/>
            </a:solidFill>
            <a:prstDash val="solid"/>
          </a:ln>
        </p:spPr>
      </p:sp>
      <p:sp>
        <p:nvSpPr>
          <p:cNvPr id="19" name="Shape 17"/>
          <p:cNvSpPr/>
          <p:nvPr/>
        </p:nvSpPr>
        <p:spPr>
          <a:xfrm>
            <a:off x="5852160" y="3090672"/>
            <a:ext cx="3154680" cy="1133856"/>
          </a:xfrm>
          <a:prstGeom prst="rect">
            <a:avLst/>
          </a:prstGeom>
          <a:solidFill>
            <a:srgbClr val="FFFFFF"/>
          </a:solidFill>
          <a:ln w="21590">
            <a:solidFill>
              <a:srgbClr val="2E74C6"/>
            </a:solidFill>
            <a:prstDash val="solid"/>
          </a:ln>
        </p:spPr>
      </p:sp>
      <p:sp>
        <p:nvSpPr>
          <p:cNvPr id="20" name="Text 18"/>
          <p:cNvSpPr/>
          <p:nvPr/>
        </p:nvSpPr>
        <p:spPr>
          <a:xfrm>
            <a:off x="6016752" y="3264408"/>
            <a:ext cx="2825496" cy="329184"/>
          </a:xfrm>
          <a:prstGeom prst="rect">
            <a:avLst/>
          </a:prstGeom>
          <a:noFill/>
          <a:ln/>
        </p:spPr>
        <p:txBody>
          <a:bodyPr wrap="square" lIns="0" tIns="0" rIns="0" bIns="0" rtlCol="0" anchor="ctr"/>
          <a:lstStyle/>
          <a:p>
            <a:pPr algn="ctr" indent="0" marL="0">
              <a:buNone/>
            </a:pPr>
            <a:r>
              <a:rPr lang="en-US" sz="2200" b="1" dirty="0">
                <a:solidFill>
                  <a:srgbClr val="1E2A5C"/>
                </a:solidFill>
                <a:latin typeface="Pretendard" pitchFamily="34" charset="0"/>
                <a:ea typeface="Pretendard" pitchFamily="34" charset="-122"/>
                <a:cs typeface="Pretendard" pitchFamily="34" charset="-120"/>
              </a:rPr>
              <a:t>같은 파일명으로 비교</a:t>
            </a:r>
            <a:endParaRPr lang="en-US" sz="2200" dirty="0"/>
          </a:p>
        </p:txBody>
      </p:sp>
      <p:sp>
        <p:nvSpPr>
          <p:cNvPr id="21" name="Text 19"/>
          <p:cNvSpPr/>
          <p:nvPr/>
        </p:nvSpPr>
        <p:spPr>
          <a:xfrm>
            <a:off x="6016752" y="3730752"/>
            <a:ext cx="2825496" cy="283464"/>
          </a:xfrm>
          <a:prstGeom prst="rect">
            <a:avLst/>
          </a:prstGeom>
          <a:noFill/>
          <a:ln/>
        </p:spPr>
        <p:txBody>
          <a:bodyPr wrap="square" lIns="0" tIns="0" rIns="0" bIns="0" rtlCol="0" anchor="ctr"/>
          <a:lstStyle/>
          <a:p>
            <a:pPr algn="ctr" indent="0" marL="0">
              <a:buNone/>
            </a:pPr>
            <a:r>
              <a:rPr lang="en-US" sz="1900" dirty="0">
                <a:solidFill>
                  <a:srgbClr val="4A5364"/>
                </a:solidFill>
                <a:latin typeface="Pretendard" pitchFamily="34" charset="0"/>
                <a:ea typeface="Pretendard" pitchFamily="34" charset="-122"/>
                <a:cs typeface="Pretendard" pitchFamily="34" charset="-120"/>
              </a:rPr>
              <a:t>현재 지문 = 이전 지문?</a:t>
            </a:r>
            <a:endParaRPr lang="en-US" sz="1900" dirty="0"/>
          </a:p>
        </p:txBody>
      </p:sp>
      <p:sp>
        <p:nvSpPr>
          <p:cNvPr id="22" name="Shape 20"/>
          <p:cNvSpPr/>
          <p:nvPr/>
        </p:nvSpPr>
        <p:spPr>
          <a:xfrm>
            <a:off x="9006840" y="3657600"/>
            <a:ext cx="557784" cy="0"/>
          </a:xfrm>
          <a:prstGeom prst="line">
            <a:avLst/>
          </a:prstGeom>
          <a:noFill/>
          <a:ln w="22860">
            <a:solidFill>
              <a:srgbClr val="2E74C6"/>
            </a:solidFill>
            <a:prstDash val="solid"/>
          </a:ln>
        </p:spPr>
      </p:sp>
      <p:sp>
        <p:nvSpPr>
          <p:cNvPr id="23" name="Shape 21"/>
          <p:cNvSpPr/>
          <p:nvPr/>
        </p:nvSpPr>
        <p:spPr>
          <a:xfrm>
            <a:off x="9564624" y="2962656"/>
            <a:ext cx="0" cy="1563624"/>
          </a:xfrm>
          <a:prstGeom prst="line">
            <a:avLst/>
          </a:prstGeom>
          <a:noFill/>
          <a:ln w="22860">
            <a:solidFill>
              <a:srgbClr val="2E74C6"/>
            </a:solidFill>
            <a:prstDash val="solid"/>
          </a:ln>
        </p:spPr>
      </p:sp>
      <p:sp>
        <p:nvSpPr>
          <p:cNvPr id="24" name="Shape 22"/>
          <p:cNvSpPr/>
          <p:nvPr/>
        </p:nvSpPr>
        <p:spPr>
          <a:xfrm>
            <a:off x="9564624" y="2962656"/>
            <a:ext cx="530352" cy="0"/>
          </a:xfrm>
          <a:prstGeom prst="line">
            <a:avLst/>
          </a:prstGeom>
          <a:noFill/>
          <a:ln w="22860">
            <a:solidFill>
              <a:srgbClr val="1E2A5C"/>
            </a:solidFill>
            <a:prstDash val="solid"/>
            <a:tailEnd type="triangle"/>
          </a:ln>
        </p:spPr>
      </p:sp>
      <p:sp>
        <p:nvSpPr>
          <p:cNvPr id="25" name="Shape 23"/>
          <p:cNvSpPr/>
          <p:nvPr/>
        </p:nvSpPr>
        <p:spPr>
          <a:xfrm>
            <a:off x="9564624" y="4526280"/>
            <a:ext cx="530352" cy="0"/>
          </a:xfrm>
          <a:prstGeom prst="line">
            <a:avLst/>
          </a:prstGeom>
          <a:noFill/>
          <a:ln w="22860">
            <a:solidFill>
              <a:srgbClr val="2E74C6"/>
            </a:solidFill>
            <a:prstDash val="solid"/>
            <a:tailEnd type="triangle"/>
          </a:ln>
        </p:spPr>
      </p:sp>
      <p:sp>
        <p:nvSpPr>
          <p:cNvPr id="26" name="Shape 24"/>
          <p:cNvSpPr/>
          <p:nvPr/>
        </p:nvSpPr>
        <p:spPr>
          <a:xfrm>
            <a:off x="10094976" y="2450592"/>
            <a:ext cx="4023360" cy="1024128"/>
          </a:xfrm>
          <a:prstGeom prst="rect">
            <a:avLst/>
          </a:prstGeom>
          <a:solidFill>
            <a:srgbClr val="EEF3FA"/>
          </a:solidFill>
          <a:ln w="11430">
            <a:solidFill>
              <a:srgbClr val="1E2A5C"/>
            </a:solidFill>
            <a:prstDash val="solid"/>
          </a:ln>
        </p:spPr>
      </p:sp>
      <p:sp>
        <p:nvSpPr>
          <p:cNvPr id="27" name="Text 25"/>
          <p:cNvSpPr/>
          <p:nvPr/>
        </p:nvSpPr>
        <p:spPr>
          <a:xfrm>
            <a:off x="10277856" y="2569464"/>
            <a:ext cx="3657600" cy="329184"/>
          </a:xfrm>
          <a:prstGeom prst="rect">
            <a:avLst/>
          </a:prstGeom>
          <a:noFill/>
          <a:ln/>
        </p:spPr>
        <p:txBody>
          <a:bodyPr wrap="square" lIns="0" tIns="0" rIns="0" bIns="0" rtlCol="0" anchor="ctr"/>
          <a:lstStyle/>
          <a:p>
            <a:pPr algn="l" indent="0" marL="0">
              <a:buNone/>
            </a:pPr>
            <a:r>
              <a:rPr lang="en-US" sz="2200" b="1" dirty="0">
                <a:solidFill>
                  <a:srgbClr val="1E2A5C"/>
                </a:solidFill>
                <a:latin typeface="Pretendard" pitchFamily="34" charset="0"/>
                <a:ea typeface="Pretendard" pitchFamily="34" charset="-122"/>
                <a:cs typeface="Pretendard" pitchFamily="34" charset="-120"/>
              </a:rPr>
              <a:t>같음 · 기존 청크 재사용</a:t>
            </a:r>
            <a:endParaRPr lang="en-US" sz="2200" dirty="0"/>
          </a:p>
        </p:txBody>
      </p:sp>
      <p:sp>
        <p:nvSpPr>
          <p:cNvPr id="28" name="Text 26"/>
          <p:cNvSpPr/>
          <p:nvPr/>
        </p:nvSpPr>
        <p:spPr>
          <a:xfrm>
            <a:off x="10277856" y="2990088"/>
            <a:ext cx="3657600" cy="329184"/>
          </a:xfrm>
          <a:prstGeom prst="rect">
            <a:avLst/>
          </a:prstGeom>
          <a:noFill/>
          <a:ln/>
        </p:spPr>
        <p:txBody>
          <a:bodyPr wrap="square" lIns="0" tIns="0" rIns="0" bIns="0" rtlCol="0" anchor="ctr"/>
          <a:lstStyle/>
          <a:p>
            <a:pPr algn="l" indent="0" marL="0">
              <a:buNone/>
            </a:pPr>
            <a:r>
              <a:rPr lang="en-US" sz="1900" dirty="0">
                <a:solidFill>
                  <a:srgbClr val="4A5364"/>
                </a:solidFill>
                <a:latin typeface="Pretendard" pitchFamily="34" charset="0"/>
                <a:ea typeface="Pretendard" pitchFamily="34" charset="-122"/>
                <a:cs typeface="Pretendard" pitchFamily="34" charset="-120"/>
              </a:rPr>
              <a:t>원문 로드·청킹·정제 생략</a:t>
            </a:r>
            <a:endParaRPr lang="en-US" sz="1900" dirty="0"/>
          </a:p>
        </p:txBody>
      </p:sp>
      <p:sp>
        <p:nvSpPr>
          <p:cNvPr id="29" name="Shape 27"/>
          <p:cNvSpPr/>
          <p:nvPr/>
        </p:nvSpPr>
        <p:spPr>
          <a:xfrm>
            <a:off x="10094976" y="4014216"/>
            <a:ext cx="4023360" cy="1024128"/>
          </a:xfrm>
          <a:prstGeom prst="rect">
            <a:avLst/>
          </a:prstGeom>
          <a:solidFill>
            <a:srgbClr val="F5F8FC"/>
          </a:solidFill>
          <a:ln w="11430">
            <a:solidFill>
              <a:srgbClr val="2E74C6"/>
            </a:solidFill>
            <a:prstDash val="solid"/>
          </a:ln>
        </p:spPr>
      </p:sp>
      <p:sp>
        <p:nvSpPr>
          <p:cNvPr id="30" name="Text 28"/>
          <p:cNvSpPr/>
          <p:nvPr/>
        </p:nvSpPr>
        <p:spPr>
          <a:xfrm>
            <a:off x="10277856" y="4133088"/>
            <a:ext cx="3657600" cy="329184"/>
          </a:xfrm>
          <a:prstGeom prst="rect">
            <a:avLst/>
          </a:prstGeom>
          <a:noFill/>
          <a:ln/>
        </p:spPr>
        <p:txBody>
          <a:bodyPr wrap="square" lIns="0" tIns="0" rIns="0" bIns="0" rtlCol="0" anchor="ctr"/>
          <a:lstStyle/>
          <a:p>
            <a:pPr algn="l" indent="0" marL="0">
              <a:buNone/>
            </a:pPr>
            <a:r>
              <a:rPr lang="en-US" sz="2200" b="1" dirty="0">
                <a:solidFill>
                  <a:srgbClr val="2E74C6"/>
                </a:solidFill>
                <a:latin typeface="Pretendard" pitchFamily="34" charset="0"/>
                <a:ea typeface="Pretendard" pitchFamily="34" charset="-122"/>
                <a:cs typeface="Pretendard" pitchFamily="34" charset="-120"/>
              </a:rPr>
              <a:t>다름·신규 · 파일 처리</a:t>
            </a:r>
            <a:endParaRPr lang="en-US" sz="2200" dirty="0"/>
          </a:p>
        </p:txBody>
      </p:sp>
      <p:sp>
        <p:nvSpPr>
          <p:cNvPr id="31" name="Text 29"/>
          <p:cNvSpPr/>
          <p:nvPr/>
        </p:nvSpPr>
        <p:spPr>
          <a:xfrm>
            <a:off x="10277856" y="4553712"/>
            <a:ext cx="3657600" cy="329184"/>
          </a:xfrm>
          <a:prstGeom prst="rect">
            <a:avLst/>
          </a:prstGeom>
          <a:noFill/>
          <a:ln/>
        </p:spPr>
        <p:txBody>
          <a:bodyPr wrap="square" lIns="0" tIns="0" rIns="0" bIns="0" rtlCol="0" anchor="ctr"/>
          <a:lstStyle/>
          <a:p>
            <a:pPr algn="l" indent="0" marL="0">
              <a:buNone/>
            </a:pPr>
            <a:r>
              <a:rPr lang="en-US" sz="1900" dirty="0">
                <a:solidFill>
                  <a:srgbClr val="4A5364"/>
                </a:solidFill>
                <a:latin typeface="Pretendard" pitchFamily="34" charset="0"/>
                <a:ea typeface="Pretendard" pitchFamily="34" charset="-122"/>
                <a:cs typeface="Pretendard" pitchFamily="34" charset="-120"/>
              </a:rPr>
              <a:t>로드·청킹·정제 및 가명 처리</a:t>
            </a:r>
            <a:endParaRPr lang="en-US" sz="1900" dirty="0"/>
          </a:p>
        </p:txBody>
      </p:sp>
      <p:sp>
        <p:nvSpPr>
          <p:cNvPr id="32" name="Text 30"/>
          <p:cNvSpPr/>
          <p:nvPr/>
        </p:nvSpPr>
        <p:spPr>
          <a:xfrm>
            <a:off x="512064" y="5248656"/>
            <a:ext cx="13606272" cy="301752"/>
          </a:xfrm>
          <a:prstGeom prst="rect">
            <a:avLst/>
          </a:prstGeom>
          <a:noFill/>
          <a:ln/>
        </p:spPr>
        <p:txBody>
          <a:bodyPr wrap="square" lIns="0" tIns="0" rIns="0" bIns="0" rtlCol="0" anchor="ctr"/>
          <a:lstStyle/>
          <a:p>
            <a:pPr algn="l" indent="0" marL="0">
              <a:buNone/>
            </a:pPr>
            <a:r>
              <a:rPr lang="en-US" sz="1800" dirty="0">
                <a:solidFill>
                  <a:srgbClr val="4A5364"/>
                </a:solidFill>
                <a:latin typeface="Pretendard" pitchFamily="34" charset="0"/>
                <a:ea typeface="Pretendard" pitchFamily="34" charset="-122"/>
                <a:cs typeface="Pretendard" pitchFamily="34" charset="-120"/>
              </a:rPr>
              <a:t>비교 예시  ·  지문은 설명용 가상 값이며 짧게 표시했습니다.</a:t>
            </a:r>
            <a:endParaRPr lang="en-US"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12064" y="5650992"/>
          <a:ext cx="13606272" cy="914400"/>
        </p:xfrm>
        <a:graphic>
          <a:graphicData uri="http://schemas.openxmlformats.org/drawingml/2006/table">
            <a:tbl>
              <a:tblPr/>
              <a:tblGrid>
                <a:gridCol w="3200400"/>
                <a:gridCol w="2148840"/>
                <a:gridCol w="2148840"/>
                <a:gridCol w="6108192"/>
              </a:tblGrid>
              <a:tr h="365760">
                <a:tc>
                  <a:txBody>
                    <a:bodyPr/>
                    <a:lstStyle/>
                    <a:p>
                      <a:pPr algn="l" indent="0" marL="0">
                        <a:buNone/>
                      </a:pPr>
                      <a:r>
                        <a:rPr lang="en-US" sz="1900" b="1" dirty="0">
                          <a:solidFill>
                            <a:srgbClr val="1E2A5C"/>
                          </a:solidFill>
                          <a:latin typeface="Pretendard" pitchFamily="34" charset="0"/>
                          <a:ea typeface="Pretendard" pitchFamily="34" charset="-122"/>
                          <a:cs typeface="Pretendard" pitchFamily="34" charset="-120"/>
                        </a:rPr>
                        <a:t>원천 파일</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2EEF9"/>
                    </a:solidFill>
                  </a:tcPr>
                </a:tc>
                <a:tc>
                  <a:txBody>
                    <a:bodyPr/>
                    <a:lstStyle/>
                    <a:p>
                      <a:pPr algn="ctr" indent="0" marL="0">
                        <a:buNone/>
                      </a:pPr>
                      <a:r>
                        <a:rPr lang="en-US" sz="1900" b="1" dirty="0">
                          <a:solidFill>
                            <a:srgbClr val="1E2A5C"/>
                          </a:solidFill>
                          <a:latin typeface="Pretendard" pitchFamily="34" charset="0"/>
                          <a:ea typeface="Pretendard" pitchFamily="34" charset="-122"/>
                          <a:cs typeface="Pretendard" pitchFamily="34" charset="-120"/>
                        </a:rPr>
                        <a:t>이전 지문</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2EEF9"/>
                    </a:solidFill>
                  </a:tcPr>
                </a:tc>
                <a:tc>
                  <a:txBody>
                    <a:bodyPr/>
                    <a:lstStyle/>
                    <a:p>
                      <a:pPr algn="ctr" indent="0" marL="0">
                        <a:buNone/>
                      </a:pPr>
                      <a:r>
                        <a:rPr lang="en-US" sz="1900" b="1" dirty="0">
                          <a:solidFill>
                            <a:srgbClr val="1E2A5C"/>
                          </a:solidFill>
                          <a:latin typeface="Pretendard" pitchFamily="34" charset="0"/>
                          <a:ea typeface="Pretendard" pitchFamily="34" charset="-122"/>
                          <a:cs typeface="Pretendard" pitchFamily="34" charset="-120"/>
                        </a:rPr>
                        <a:t>현재 지문</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2EEF9"/>
                    </a:solidFill>
                  </a:tcPr>
                </a:tc>
                <a:tc>
                  <a:txBody>
                    <a:bodyPr/>
                    <a:lstStyle/>
                    <a:p>
                      <a:pPr algn="l" indent="0" marL="0">
                        <a:buNone/>
                      </a:pPr>
                      <a:r>
                        <a:rPr lang="en-US" sz="1900" b="1" dirty="0">
                          <a:solidFill>
                            <a:srgbClr val="1E2A5C"/>
                          </a:solidFill>
                          <a:latin typeface="Pretendard" pitchFamily="34" charset="0"/>
                          <a:ea typeface="Pretendard" pitchFamily="34" charset="-122"/>
                          <a:cs typeface="Pretendard" pitchFamily="34" charset="-120"/>
                        </a:rPr>
                        <a:t>판정과 처리</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2EEF9"/>
                    </a:solidFill>
                  </a:tcPr>
                </a:tc>
              </a:tr>
              <a:tr h="411480">
                <a:tc>
                  <a:txBody>
                    <a:bodyPr/>
                    <a:lstStyle/>
                    <a:p>
                      <a:pPr algn="l" indent="0" marL="0">
                        <a:buNone/>
                      </a:pPr>
                      <a:r>
                        <a:rPr lang="en-US" sz="1900" dirty="0">
                          <a:solidFill>
                            <a:srgbClr val="2B3242"/>
                          </a:solidFill>
                          <a:latin typeface="Pretendard" pitchFamily="34" charset="0"/>
                          <a:ea typeface="Pretendard" pitchFamily="34" charset="-122"/>
                          <a:cs typeface="Pretendard" pitchFamily="34" charset="-120"/>
                        </a:rPr>
                        <a:t>약관.pdf</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2B3242"/>
                          </a:solidFill>
                          <a:latin typeface="Pretendard" pitchFamily="34" charset="0"/>
                          <a:ea typeface="Pretendard" pitchFamily="34" charset="-122"/>
                          <a:cs typeface="Pretendard" pitchFamily="34" charset="-120"/>
                        </a:rPr>
                        <a:t>a17…</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2B3242"/>
                          </a:solidFill>
                          <a:latin typeface="Pretendard" pitchFamily="34" charset="0"/>
                          <a:ea typeface="Pretendard" pitchFamily="34" charset="-122"/>
                          <a:cs typeface="Pretendard" pitchFamily="34" charset="-120"/>
                        </a:rPr>
                        <a:t>a17…</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algn="l" indent="0" marL="0">
                        <a:buNone/>
                      </a:pPr>
                      <a:r>
                        <a:rPr lang="en-US" sz="1900" b="1" dirty="0">
                          <a:solidFill>
                            <a:srgbClr val="2B3242"/>
                          </a:solidFill>
                          <a:latin typeface="Pretendard" pitchFamily="34" charset="0"/>
                          <a:ea typeface="Pretendard" pitchFamily="34" charset="-122"/>
                          <a:cs typeface="Pretendard" pitchFamily="34" charset="-120"/>
                        </a:rPr>
                        <a:t>동일 · 기존 청크 재사용</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r>
              <a:tr h="411480">
                <a:tc>
                  <a:txBody>
                    <a:bodyPr/>
                    <a:lstStyle/>
                    <a:p>
                      <a:pPr algn="l" indent="0" marL="0">
                        <a:buNone/>
                      </a:pPr>
                      <a:r>
                        <a:rPr lang="en-US" sz="1900" dirty="0">
                          <a:solidFill>
                            <a:srgbClr val="2B3242"/>
                          </a:solidFill>
                          <a:latin typeface="Pretendard" pitchFamily="34" charset="0"/>
                          <a:ea typeface="Pretendard" pitchFamily="34" charset="-122"/>
                          <a:cs typeface="Pretendard" pitchFamily="34" charset="-120"/>
                        </a:rPr>
                        <a:t>안내.pdf</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5F8FC"/>
                    </a:solidFill>
                  </a:tcPr>
                </a:tc>
                <a:tc>
                  <a:txBody>
                    <a:bodyPr/>
                    <a:lstStyle/>
                    <a:p>
                      <a:pPr algn="ctr" indent="0" marL="0">
                        <a:buNone/>
                      </a:pPr>
                      <a:r>
                        <a:rPr lang="en-US" sz="1900" dirty="0">
                          <a:solidFill>
                            <a:srgbClr val="2B3242"/>
                          </a:solidFill>
                          <a:latin typeface="Pretendard" pitchFamily="34" charset="0"/>
                          <a:ea typeface="Pretendard" pitchFamily="34" charset="-122"/>
                          <a:cs typeface="Pretendard" pitchFamily="34" charset="-120"/>
                        </a:rPr>
                        <a:t>b29…</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5F8FC"/>
                    </a:solidFill>
                  </a:tcPr>
                </a:tc>
                <a:tc>
                  <a:txBody>
                    <a:bodyPr/>
                    <a:lstStyle/>
                    <a:p>
                      <a:pPr algn="ctr" indent="0" marL="0">
                        <a:buNone/>
                      </a:pPr>
                      <a:r>
                        <a:rPr lang="en-US" sz="1900" dirty="0">
                          <a:solidFill>
                            <a:srgbClr val="2B3242"/>
                          </a:solidFill>
                          <a:latin typeface="Pretendard" pitchFamily="34" charset="0"/>
                          <a:ea typeface="Pretendard" pitchFamily="34" charset="-122"/>
                          <a:cs typeface="Pretendard" pitchFamily="34" charset="-120"/>
                        </a:rPr>
                        <a:t>c83…</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5F8FC"/>
                    </a:solidFill>
                  </a:tcPr>
                </a:tc>
                <a:tc>
                  <a:txBody>
                    <a:bodyPr/>
                    <a:lstStyle/>
                    <a:p>
                      <a:pPr algn="l" indent="0" marL="0">
                        <a:buNone/>
                      </a:pPr>
                      <a:r>
                        <a:rPr lang="en-US" sz="1900" b="1" dirty="0">
                          <a:solidFill>
                            <a:srgbClr val="2E74C6"/>
                          </a:solidFill>
                          <a:latin typeface="Pretendard" pitchFamily="34" charset="0"/>
                          <a:ea typeface="Pretendard" pitchFamily="34" charset="-122"/>
                          <a:cs typeface="Pretendard" pitchFamily="34" charset="-120"/>
                        </a:rPr>
                        <a:t>변경 · 원문부터 다시 처리</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5F8FC"/>
                    </a:solidFill>
                  </a:tcPr>
                </a:tc>
              </a:tr>
              <a:tr h="411480">
                <a:tc>
                  <a:txBody>
                    <a:bodyPr/>
                    <a:lstStyle/>
                    <a:p>
                      <a:pPr algn="l" indent="0" marL="0">
                        <a:buNone/>
                      </a:pPr>
                      <a:r>
                        <a:rPr lang="en-US" sz="1900" dirty="0">
                          <a:solidFill>
                            <a:srgbClr val="2B3242"/>
                          </a:solidFill>
                          <a:latin typeface="Pretendard" pitchFamily="34" charset="0"/>
                          <a:ea typeface="Pretendard" pitchFamily="34" charset="-122"/>
                          <a:cs typeface="Pretendard" pitchFamily="34" charset="-120"/>
                        </a:rPr>
                        <a:t>상담.txt</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2B3242"/>
                          </a:solidFill>
                          <a:latin typeface="Pretendard" pitchFamily="34" charset="0"/>
                          <a:ea typeface="Pretendard" pitchFamily="34" charset="-122"/>
                          <a:cs typeface="Pretendard" pitchFamily="34" charset="-120"/>
                        </a:rPr>
                        <a:t>없음</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2B3242"/>
                          </a:solidFill>
                          <a:latin typeface="Pretendard" pitchFamily="34" charset="0"/>
                          <a:ea typeface="Pretendard" pitchFamily="34" charset="-122"/>
                          <a:cs typeface="Pretendard" pitchFamily="34" charset="-120"/>
                        </a:rPr>
                        <a:t>d40…</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algn="l" indent="0" marL="0">
                        <a:buNone/>
                      </a:pPr>
                      <a:r>
                        <a:rPr lang="en-US" sz="1900" b="1" dirty="0">
                          <a:solidFill>
                            <a:srgbClr val="2E74C6"/>
                          </a:solidFill>
                          <a:latin typeface="Pretendard" pitchFamily="34" charset="0"/>
                          <a:ea typeface="Pretendard" pitchFamily="34" charset="-122"/>
                          <a:cs typeface="Pretendard" pitchFamily="34" charset="-120"/>
                        </a:rPr>
                        <a:t>신규 · 원문부터 처리</a:t>
                      </a:r>
                      <a:endParaRPr lang="en-US" sz="1900" dirty="0">
                        <a:latin typeface="Pretendard" charset="0"/>
                        <a:ea typeface="Pretendard" charset="0"/>
                        <a:cs typeface="Pretendard" charset="0"/>
                      </a:endParaRPr>
                    </a:p>
                  </a:txBody>
                  <a:tcPr marL="146304" marR="146304" marT="64008" marB="64008"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r>
            </a:tbl>
          </a:graphicData>
        </a:graphic>
      </p:graphicFrame>
      <p:sp>
        <p:nvSpPr>
          <p:cNvPr id="34" name="Text 31"/>
          <p:cNvSpPr/>
          <p:nvPr/>
        </p:nvSpPr>
        <p:spPr>
          <a:xfrm>
            <a:off x="512064" y="7434072"/>
            <a:ext cx="13606272" cy="265176"/>
          </a:xfrm>
          <a:prstGeom prst="rect">
            <a:avLst/>
          </a:prstGeom>
          <a:noFill/>
          <a:ln/>
        </p:spPr>
        <p:txBody>
          <a:bodyPr wrap="square" lIns="0" tIns="0" rIns="0" bIns="0" rtlCol="0" anchor="ctr"/>
          <a:lstStyle/>
          <a:p>
            <a:pPr algn="l" indent="0" marL="0">
              <a:buNone/>
            </a:pPr>
            <a:r>
              <a:rPr lang="en-US" sz="1800" b="1" dirty="0">
                <a:solidFill>
                  <a:srgbClr val="1E2A5C"/>
                </a:solidFill>
                <a:latin typeface="Pretendard" pitchFamily="34" charset="0"/>
                <a:ea typeface="Pretendard" pitchFamily="34" charset="-122"/>
                <a:cs typeface="Pretendard" pitchFamily="34" charset="-120"/>
              </a:rPr>
              <a:t>재사용 조건: 처리 정책·문서 프로필이 같고, 기존 청크가 있으며, 강제 재색인이 아닐 때</a:t>
            </a:r>
            <a:endParaRPr lang="en-US" sz="1800" dirty="0"/>
          </a:p>
        </p:txBody>
      </p:sp>
      <p:sp>
        <p:nvSpPr>
          <p:cNvPr id="35" name="Shape 32"/>
          <p:cNvSpPr/>
          <p:nvPr/>
        </p:nvSpPr>
        <p:spPr>
          <a:xfrm>
            <a:off x="512064" y="7799832"/>
            <a:ext cx="13606272" cy="0"/>
          </a:xfrm>
          <a:prstGeom prst="line">
            <a:avLst/>
          </a:prstGeom>
          <a:noFill/>
          <a:ln w="22860">
            <a:solidFill>
              <a:srgbClr val="E9ECF3"/>
            </a:solidFill>
            <a:prstDash val="solid"/>
          </a:ln>
        </p:spPr>
      </p:sp>
      <p:sp>
        <p:nvSpPr>
          <p:cNvPr id="36" name="Text 33"/>
          <p:cNvSpPr/>
          <p:nvPr/>
        </p:nvSpPr>
        <p:spPr>
          <a:xfrm>
            <a:off x="512064" y="7900416"/>
            <a:ext cx="12664440" cy="210312"/>
          </a:xfrm>
          <a:prstGeom prst="rect">
            <a:avLst/>
          </a:prstGeom>
          <a:noFill/>
          <a:ln/>
        </p:spPr>
        <p:txBody>
          <a:bodyPr wrap="square" lIns="0" tIns="0" rIns="0" bIns="0" rtlCol="0" anchor="ctr"/>
          <a:lstStyle/>
          <a:p>
            <a:pPr algn="l" indent="0" marL="0">
              <a:buNone/>
            </a:pPr>
            <a:r>
              <a:rPr lang="en-US" sz="1400" dirty="0">
                <a:solidFill>
                  <a:srgbClr val="7C8598"/>
                </a:solidFill>
                <a:latin typeface="Pretendard" pitchFamily="34" charset="0"/>
                <a:ea typeface="Pretendard" pitchFamily="34" charset="-122"/>
                <a:cs typeface="Pretendard" pitchFamily="34" charset="-120"/>
              </a:rPr>
              <a:t>파일 전체 바이트 기준입니다. PDF 내부 정보만 바뀌어도 변경으로 판정할 수 있습니다.</a:t>
            </a:r>
            <a:endParaRPr lang="en-US" sz="1400" dirty="0"/>
          </a:p>
        </p:txBody>
      </p:sp>
      <p:sp>
        <p:nvSpPr>
          <p:cNvPr id="37" name="Text 34"/>
          <p:cNvSpPr/>
          <p:nvPr/>
        </p:nvSpPr>
        <p:spPr>
          <a:xfrm>
            <a:off x="13368528" y="7882128"/>
            <a:ext cx="749808" cy="246888"/>
          </a:xfrm>
          <a:prstGeom prst="rect">
            <a:avLst/>
          </a:prstGeom>
          <a:noFill/>
          <a:ln/>
        </p:spPr>
        <p:txBody>
          <a:bodyPr wrap="square" lIns="0" tIns="0" rIns="0" bIns="0" rtlCol="0" anchor="ctr"/>
          <a:lstStyle/>
          <a:p>
            <a:pPr algn="r" indent="0" marL="0">
              <a:buNone/>
            </a:pPr>
            <a:r>
              <a:rPr lang="en-US" sz="1500" dirty="0">
                <a:solidFill>
                  <a:srgbClr val="1E2A5C"/>
                </a:solidFill>
                <a:latin typeface="Pretendard" pitchFamily="34" charset="0"/>
                <a:ea typeface="Pretendard" pitchFamily="34" charset="-122"/>
                <a:cs typeface="Pretendard" pitchFamily="34" charset="-120"/>
              </a:rPr>
              <a:t>01</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원천 파일의 변경 확인</dc:title>
  <dc:subject>SHA-256과 이전 색인 기록을 통한 변경 감지</dc:subject>
  <dc:creator>design-agentic-ai</dc:creator>
  <cp:lastModifiedBy>design-agentic-ai</cp:lastModifiedBy>
  <cp:revision>1</cp:revision>
  <dcterms:created xsi:type="dcterms:W3CDTF">2026-10-01T12:46:33Z</dcterms:created>
  <dcterms:modified xsi:type="dcterms:W3CDTF">2026-10-01T12:46:33Z</dcterms:modified>
</cp:coreProperties>
</file>