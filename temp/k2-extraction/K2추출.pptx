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K2는 추출 단위 하나를 LLM에 넣어 노드와 관계를 받는 단계입니다. LLM에는 네 가지가 들어갑니다. 그 문서 유형의 graph_schema.json, 메타데이터 머리줄, 추출 단위 본문, 그리고 라이브러리의 기본 추출 지시입니다. 머리줄은 상담 번호나 날짜처럼 본문에 잘 드러나지 않는 키 속성을 채우려고 붙입니다.
예시 상담에서 LLM은 상담사가 권한 두 방법을 제안 노드로, 고객이 말한 다시 문의할 조건을 재검토 조건 노드로 뽑고, 본문에 적힌 앞 상담 번호로 이전 상담과 이었습니다. 다만 같은 원문을 한 번 더 넣었더니 재검토 조건이 제안의 이유 속성으로 들어갔습니다. LLM은 부를 때마다 결과가 조금씩 다릅니다. 그래서 본문과 스키마가 그대로인 단위는 다시 묻지 않고 앞 결과를 씁니다.
노드 ID 앞에 붙는 단위 ID는 단위끼리 ID가 겹치지 않게 하는 임시 표시입니다. 검색용 청크와 잇는 일은 K4에서 추출 단위 노드와 FROM_CHUNK 관계가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추출기는 한 번만 만듭니다. 검색용 청크 노드는 만들지 않고, 오류가 나면 예외로 올리게 설정합니다. 단위마다 머리줄을 붙인 글을 TextChunk 하나로 감싸 넣는데, uid에 단위 ID를 줍니다. 그래서 돌려받은 노드 ID 앞에 단위 ID가 붙습니다.
형식 오류는 같은 입력으로 두 번까지 다시 묻고, 그래도 안 되면 오류를 돌려줘 실패 목록에 남깁니다. 받은 그래프는 같은 함수에서 바로 가지치기를 하고, 결과를 kg_prepared.json에 보관합니다. 다음 실행에서는 본문 해시와 스키마 지문이 같으면 이 보관 결과를 그대로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sp>
      <p:sp>
        <p:nvSpPr>
          <p:cNvPr id="3" name="Text 1"/>
          <p:cNvSpPr/>
          <p:nvPr/>
        </p:nvSpPr>
        <p:spPr>
          <a:xfrm>
            <a:off x="445770" y="7787945"/>
            <a:ext cx="1531620" cy="246888"/>
          </a:xfrm>
          <a:prstGeom prst="rect">
            <a:avLst/>
          </a:prstGeom>
          <a:noFill/>
          <a:ln/>
        </p:spPr>
        <p:txBody>
          <a:bodyPr wrap="square" lIns="0" tIns="0" rIns="0" bIns="0" rtlCol="0" anchor="ctr"/>
          <a:lstStyle/>
          <a:p>
            <a:pPr indent="0" marL="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p:nvPr>
            <p:ph type="title"/>
          </p:nvPr>
        </p:nvSpPr>
        <p:spPr>
          <a:xfrm>
            <a:off x="509321" y="99670"/>
            <a:ext cx="13738860" cy="828446"/>
          </a:xfrm>
          <a:prstGeom prst="rect">
            <a:avLst/>
          </a:prstGeom>
          <a:noFill/>
          <a:ln/>
        </p:spPr>
        <p:txBody>
          <a:bodyPr wrap="square" rtlCol="0"/>
          <a:lstStyle>
            <a:lvl1pPr algn="l" indent="0" marL="0">
              <a:buNone/>
              <a:defRPr lang="en-US" sz="3200" b="1" dirty="0">
                <a:solidFill>
                  <a:srgbClr val="2C2926"/>
                </a:solidFill>
                <a:latin typeface="Pretendard" pitchFamily="34" charset="0"/>
                <a:ea typeface="Pretendard" pitchFamily="34" charset="-122"/>
                <a:cs typeface="Pretendard" pitchFamily="34" charset="-120"/>
              </a:defRPr>
            </a:lvl1pPr>
          </a:lstStyle>
          <a:p>
            <a:pPr algn="l" indent="0" marL="0">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KG 구축 K2 엔티티와 관계 추출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추출 단위 하나와 그 문서 유형의 그래프 스키마를 LLM에 넣어, 스키마 모양대로 노드와 관계를 JSON으로 받음</a:t>
            </a:r>
            <a:endParaRPr lang="en-US" sz="1800" dirty="0"/>
          </a:p>
        </p:txBody>
      </p:sp>
      <p:sp>
        <p:nvSpPr>
          <p:cNvPr id="5" name="Shape 2"/>
          <p:cNvSpPr/>
          <p:nvPr/>
        </p:nvSpPr>
        <p:spPr>
          <a:xfrm>
            <a:off x="509321" y="1737360"/>
            <a:ext cx="4160520" cy="365760"/>
          </a:xfrm>
          <a:prstGeom prst="roundRect">
            <a:avLst>
              <a:gd name="adj" fmla="val 12500"/>
            </a:avLst>
          </a:prstGeom>
          <a:solidFill>
            <a:srgbClr val="404155"/>
          </a:solidFill>
          <a:ln/>
        </p:spPr>
      </p:sp>
      <p:sp>
        <p:nvSpPr>
          <p:cNvPr id="6" name="Text 3"/>
          <p:cNvSpPr txBox="1"/>
          <p:nvPr/>
        </p:nvSpPr>
        <p:spPr>
          <a:xfrm>
            <a:off x="509321" y="1737360"/>
            <a:ext cx="416052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LLM에 넣는 것</a:t>
            </a:r>
            <a:endParaRPr lang="en-US" sz="1600" dirty="0"/>
          </a:p>
        </p:txBody>
      </p:sp>
      <p:sp>
        <p:nvSpPr>
          <p:cNvPr id="7" name="Shape 4"/>
          <p:cNvSpPr/>
          <p:nvPr/>
        </p:nvSpPr>
        <p:spPr>
          <a:xfrm>
            <a:off x="509321" y="2194560"/>
            <a:ext cx="4160520" cy="585216"/>
          </a:xfrm>
          <a:prstGeom prst="roundRect">
            <a:avLst>
              <a:gd name="adj" fmla="val 12500"/>
            </a:avLst>
          </a:prstGeom>
          <a:solidFill>
            <a:srgbClr val="EEF3FA"/>
          </a:solidFill>
          <a:ln w="12700">
            <a:solidFill>
              <a:srgbClr val="2E74C6"/>
            </a:solidFill>
            <a:prstDash val="solid"/>
          </a:ln>
        </p:spPr>
      </p:sp>
      <p:sp>
        <p:nvSpPr>
          <p:cNvPr id="8" name="Text 5"/>
          <p:cNvSpPr txBox="1"/>
          <p:nvPr/>
        </p:nvSpPr>
        <p:spPr>
          <a:xfrm>
            <a:off x="509321" y="2194560"/>
            <a:ext cx="4160520" cy="585216"/>
          </a:xfrm>
          <a:prstGeom prst="rect">
            <a:avLst/>
          </a:prstGeom>
          <a:noFill/>
          <a:ln/>
        </p:spPr>
        <p:txBody>
          <a:bodyPr wrap="square" lIns="127000" tIns="38100" rIns="127000" bIns="38100" rtlCol="0" anchor="ctr"/>
          <a:lstStyle/>
          <a:p>
            <a:pPr algn="l" indent="0" marL="0">
              <a:spcAft>
                <a:spcPts val="100"/>
              </a:spcAft>
              <a:buNone/>
            </a:pPr>
            <a:r>
              <a:rPr lang="en-US" sz="1500" b="1" dirty="0">
                <a:solidFill>
                  <a:srgbClr val="1E2A5C"/>
                </a:solidFill>
                <a:latin typeface="Pretendard" pitchFamily="34" charset="0"/>
                <a:ea typeface="Pretendard" pitchFamily="34" charset="-122"/>
                <a:cs typeface="Pretendard" pitchFamily="34" charset="-120"/>
              </a:rPr>
              <a:t>① 문서 유형별 graph_schema.json</a:t>
            </a:r>
            <a:endParaRPr lang="en-US" sz="1500" dirty="0"/>
          </a:p>
          <a:p>
            <a:pPr algn="l" indent="0" marL="0">
              <a:spcAft>
                <a:spcPts val="100"/>
              </a:spcAft>
              <a:buNone/>
            </a:pPr>
            <a:r>
              <a:rPr lang="en-US" sz="1400" dirty="0">
                <a:solidFill>
                  <a:srgbClr val="1E2A5C"/>
                </a:solidFill>
                <a:latin typeface="Pretendard" pitchFamily="34" charset="0"/>
                <a:ea typeface="Pretendard" pitchFamily="34" charset="-122"/>
                <a:cs typeface="Pretendard" pitchFamily="34" charset="-120"/>
              </a:rPr>
              <a:t>상담 기록: 노드 4, 관계 4와 해당, 비해당 설명</a:t>
            </a:r>
            <a:endParaRPr lang="en-US" sz="1500" dirty="0"/>
          </a:p>
        </p:txBody>
      </p:sp>
      <p:sp>
        <p:nvSpPr>
          <p:cNvPr id="9" name="Shape 6"/>
          <p:cNvSpPr/>
          <p:nvPr/>
        </p:nvSpPr>
        <p:spPr>
          <a:xfrm>
            <a:off x="509321" y="2852928"/>
            <a:ext cx="4160520" cy="585216"/>
          </a:xfrm>
          <a:prstGeom prst="roundRect">
            <a:avLst>
              <a:gd name="adj" fmla="val 12500"/>
            </a:avLst>
          </a:prstGeom>
          <a:solidFill>
            <a:srgbClr val="F5F8FC"/>
          </a:solidFill>
          <a:ln w="12700">
            <a:solidFill>
              <a:srgbClr val="D9E0EC"/>
            </a:solidFill>
            <a:prstDash val="solid"/>
          </a:ln>
        </p:spPr>
      </p:sp>
      <p:sp>
        <p:nvSpPr>
          <p:cNvPr id="10" name="Text 7"/>
          <p:cNvSpPr txBox="1"/>
          <p:nvPr/>
        </p:nvSpPr>
        <p:spPr>
          <a:xfrm>
            <a:off x="509321" y="2852928"/>
            <a:ext cx="4160520" cy="585216"/>
          </a:xfrm>
          <a:prstGeom prst="rect">
            <a:avLst/>
          </a:prstGeom>
          <a:noFill/>
          <a:ln/>
        </p:spPr>
        <p:txBody>
          <a:bodyPr wrap="square" lIns="127000" tIns="38100" rIns="127000" bIns="38100" rtlCol="0" anchor="ctr"/>
          <a:lstStyle/>
          <a:p>
            <a:pPr algn="l" indent="0" marL="0">
              <a:spcAft>
                <a:spcPts val="100"/>
              </a:spcAft>
              <a:buNone/>
            </a:pPr>
            <a:r>
              <a:rPr lang="en-US" sz="1500" b="1" dirty="0">
                <a:solidFill>
                  <a:srgbClr val="2B3242"/>
                </a:solidFill>
                <a:latin typeface="Pretendard" pitchFamily="34" charset="0"/>
                <a:ea typeface="Pretendard" pitchFamily="34" charset="-122"/>
                <a:cs typeface="Pretendard" pitchFamily="34" charset="-120"/>
              </a:rPr>
              <a:t>② 머리줄 (메타데이터 5칸)</a:t>
            </a:r>
            <a:endParaRPr lang="en-US" sz="1500" dirty="0"/>
          </a:p>
          <a:p>
            <a:pPr algn="l" indent="0" marL="0">
              <a:spcAft>
                <a:spcPts val="100"/>
              </a:spcAft>
              <a:buNone/>
            </a:pPr>
            <a:r>
              <a:rPr lang="en-US" sz="1400" dirty="0">
                <a:solidFill>
                  <a:srgbClr val="2B3242"/>
                </a:solidFill>
                <a:latin typeface="Pretendard" pitchFamily="34" charset="0"/>
                <a:ea typeface="Pretendard" pitchFamily="34" charset="-122"/>
                <a:cs typeface="Pretendard" pitchFamily="34" charset="-120"/>
              </a:rPr>
              <a:t>record_id, 상담일, 채널, 주제, 가명 회원 키</a:t>
            </a:r>
            <a:endParaRPr lang="en-US" sz="1500" dirty="0"/>
          </a:p>
        </p:txBody>
      </p:sp>
      <p:sp>
        <p:nvSpPr>
          <p:cNvPr id="11" name="Shape 8"/>
          <p:cNvSpPr/>
          <p:nvPr/>
        </p:nvSpPr>
        <p:spPr>
          <a:xfrm>
            <a:off x="509321" y="3511296"/>
            <a:ext cx="4160520" cy="585216"/>
          </a:xfrm>
          <a:prstGeom prst="roundRect">
            <a:avLst>
              <a:gd name="adj" fmla="val 12500"/>
            </a:avLst>
          </a:prstGeom>
          <a:solidFill>
            <a:srgbClr val="F5F8FC"/>
          </a:solidFill>
          <a:ln w="12700">
            <a:solidFill>
              <a:srgbClr val="D9E0EC"/>
            </a:solidFill>
            <a:prstDash val="solid"/>
          </a:ln>
        </p:spPr>
      </p:sp>
      <p:sp>
        <p:nvSpPr>
          <p:cNvPr id="12" name="Text 9"/>
          <p:cNvSpPr txBox="1"/>
          <p:nvPr/>
        </p:nvSpPr>
        <p:spPr>
          <a:xfrm>
            <a:off x="509321" y="3511296"/>
            <a:ext cx="4160520" cy="585216"/>
          </a:xfrm>
          <a:prstGeom prst="rect">
            <a:avLst/>
          </a:prstGeom>
          <a:noFill/>
          <a:ln/>
        </p:spPr>
        <p:txBody>
          <a:bodyPr wrap="square" lIns="127000" tIns="38100" rIns="127000" bIns="38100" rtlCol="0" anchor="ctr"/>
          <a:lstStyle/>
          <a:p>
            <a:pPr algn="l" indent="0" marL="0">
              <a:spcAft>
                <a:spcPts val="100"/>
              </a:spcAft>
              <a:buNone/>
            </a:pPr>
            <a:r>
              <a:rPr lang="en-US" sz="1500" b="1" dirty="0">
                <a:solidFill>
                  <a:srgbClr val="2B3242"/>
                </a:solidFill>
                <a:latin typeface="Pretendard" pitchFamily="34" charset="0"/>
                <a:ea typeface="Pretendard" pitchFamily="34" charset="-122"/>
                <a:cs typeface="Pretendard" pitchFamily="34" charset="-120"/>
              </a:rPr>
              <a:t>③ 추출 단위 본문 (K1 결과)</a:t>
            </a:r>
            <a:endParaRPr lang="en-US" sz="1500" dirty="0"/>
          </a:p>
          <a:p>
            <a:pPr algn="l" indent="0" marL="0">
              <a:spcAft>
                <a:spcPts val="100"/>
              </a:spcAft>
              <a:buNone/>
            </a:pPr>
            <a:r>
              <a:rPr lang="en-US" sz="1400" dirty="0">
                <a:solidFill>
                  <a:srgbClr val="2B3242"/>
                </a:solidFill>
                <a:latin typeface="Pretendard" pitchFamily="34" charset="0"/>
                <a:ea typeface="Pretendard" pitchFamily="34" charset="-122"/>
                <a:cs typeface="Pretendard" pitchFamily="34" charset="-120"/>
              </a:rPr>
              <a:t>상담은 검색용 청크 1개가 곧 단위 1개</a:t>
            </a:r>
            <a:endParaRPr lang="en-US" sz="1500" dirty="0"/>
          </a:p>
        </p:txBody>
      </p:sp>
      <p:sp>
        <p:nvSpPr>
          <p:cNvPr id="13" name="Shape 10"/>
          <p:cNvSpPr/>
          <p:nvPr/>
        </p:nvSpPr>
        <p:spPr>
          <a:xfrm>
            <a:off x="509321" y="4169664"/>
            <a:ext cx="4160520" cy="585216"/>
          </a:xfrm>
          <a:prstGeom prst="roundRect">
            <a:avLst>
              <a:gd name="adj" fmla="val 12500"/>
            </a:avLst>
          </a:prstGeom>
          <a:solidFill>
            <a:srgbClr val="F5F8FC"/>
          </a:solidFill>
          <a:ln w="12700">
            <a:solidFill>
              <a:srgbClr val="D9E0EC"/>
            </a:solidFill>
            <a:prstDash val="solid"/>
          </a:ln>
        </p:spPr>
      </p:sp>
      <p:sp>
        <p:nvSpPr>
          <p:cNvPr id="14" name="Text 11"/>
          <p:cNvSpPr txBox="1"/>
          <p:nvPr/>
        </p:nvSpPr>
        <p:spPr>
          <a:xfrm>
            <a:off x="509321" y="4169664"/>
            <a:ext cx="4160520" cy="585216"/>
          </a:xfrm>
          <a:prstGeom prst="rect">
            <a:avLst/>
          </a:prstGeom>
          <a:noFill/>
          <a:ln/>
        </p:spPr>
        <p:txBody>
          <a:bodyPr wrap="square" lIns="127000" tIns="38100" rIns="127000" bIns="38100" rtlCol="0" anchor="ctr"/>
          <a:lstStyle/>
          <a:p>
            <a:pPr algn="l" indent="0" marL="0">
              <a:spcAft>
                <a:spcPts val="100"/>
              </a:spcAft>
              <a:buNone/>
            </a:pPr>
            <a:r>
              <a:rPr lang="en-US" sz="1500" b="1" dirty="0">
                <a:solidFill>
                  <a:srgbClr val="2B3242"/>
                </a:solidFill>
                <a:latin typeface="Pretendard" pitchFamily="34" charset="0"/>
                <a:ea typeface="Pretendard" pitchFamily="34" charset="-122"/>
                <a:cs typeface="Pretendard" pitchFamily="34" charset="-120"/>
              </a:rPr>
              <a:t>④ 추출 지시 (라이브러리 기본)</a:t>
            </a:r>
            <a:endParaRPr lang="en-US" sz="1500" dirty="0"/>
          </a:p>
          <a:p>
            <a:pPr algn="l" indent="0" marL="0">
              <a:spcAft>
                <a:spcPts val="100"/>
              </a:spcAft>
              <a:buNone/>
            </a:pPr>
            <a:r>
              <a:rPr lang="en-US" sz="1400" dirty="0">
                <a:solidFill>
                  <a:srgbClr val="2B3242"/>
                </a:solidFill>
                <a:latin typeface="Pretendard" pitchFamily="34" charset="0"/>
                <a:ea typeface="Pretendard" pitchFamily="34" charset="-122"/>
                <a:cs typeface="Pretendard" pitchFamily="34" charset="-120"/>
              </a:rPr>
              <a:t>JSON으로, 주어진 타입만, 관계 방향 지킴</a:t>
            </a:r>
            <a:endParaRPr lang="en-US" sz="1500" dirty="0"/>
          </a:p>
        </p:txBody>
      </p:sp>
      <p:sp>
        <p:nvSpPr>
          <p:cNvPr id="15" name="Shape 12"/>
          <p:cNvSpPr/>
          <p:nvPr/>
        </p:nvSpPr>
        <p:spPr>
          <a:xfrm>
            <a:off x="4989881" y="2377440"/>
            <a:ext cx="1600200" cy="2103120"/>
          </a:xfrm>
          <a:prstGeom prst="roundRect">
            <a:avLst>
              <a:gd name="adj" fmla="val 4571"/>
            </a:avLst>
          </a:prstGeom>
          <a:solidFill>
            <a:srgbClr val="1E2A5C"/>
          </a:solidFill>
          <a:ln/>
        </p:spPr>
      </p:sp>
      <p:sp>
        <p:nvSpPr>
          <p:cNvPr id="16" name="Text 13"/>
          <p:cNvSpPr txBox="1"/>
          <p:nvPr/>
        </p:nvSpPr>
        <p:spPr>
          <a:xfrm>
            <a:off x="4989881" y="2377440"/>
            <a:ext cx="1600200" cy="2103120"/>
          </a:xfrm>
          <a:prstGeom prst="rect">
            <a:avLst/>
          </a:prstGeom>
          <a:noFill/>
          <a:ln/>
        </p:spPr>
        <p:txBody>
          <a:bodyPr wrap="square" lIns="635" tIns="635" rIns="635" bIns="635" rtlCol="0" anchor="ctr"/>
          <a:lstStyle/>
          <a:p>
            <a:pPr algn="ctr" indent="0" marL="0">
              <a:spcAft>
                <a:spcPts val="100"/>
              </a:spcAft>
              <a:buNone/>
            </a:pPr>
            <a:r>
              <a:rPr lang="en-US" sz="2000" b="1" dirty="0">
                <a:solidFill>
                  <a:srgbClr val="FFFFFF"/>
                </a:solidFill>
                <a:latin typeface="Pretendard" pitchFamily="34" charset="0"/>
                <a:ea typeface="Pretendard" pitchFamily="34" charset="-122"/>
                <a:cs typeface="Pretendard" pitchFamily="34" charset="-120"/>
              </a:rPr>
              <a:t>LLM</a:t>
            </a:r>
            <a:endParaRPr lang="en-US" sz="2000" dirty="0"/>
          </a:p>
          <a:p>
            <a:pPr algn="ctr" indent="0" marL="0">
              <a:spcAft>
                <a:spcPts val="100"/>
              </a:spcAft>
              <a:buNone/>
            </a:pPr>
            <a:r>
              <a:rPr lang="en-US" sz="1400" dirty="0">
                <a:solidFill>
                  <a:srgbClr val="FFFFFF"/>
                </a:solidFill>
                <a:latin typeface="Pretendard" pitchFamily="34" charset="0"/>
                <a:ea typeface="Pretendard" pitchFamily="34" charset="-122"/>
                <a:cs typeface="Pretendard" pitchFamily="34" charset="-120"/>
              </a:rPr>
              <a:t>gpt-oss-120b</a:t>
            </a:r>
            <a:endParaRPr lang="en-US" sz="2000" dirty="0"/>
          </a:p>
          <a:p>
            <a:pPr algn="ctr" indent="0" marL="0">
              <a:spcAft>
                <a:spcPts val="100"/>
              </a:spcAft>
              <a:buNone/>
            </a:pPr>
            <a:r>
              <a:rPr lang="en-US" sz="1400" dirty="0">
                <a:solidFill>
                  <a:srgbClr val="FFFFFF"/>
                </a:solidFill>
                <a:latin typeface="Pretendard" pitchFamily="34" charset="0"/>
                <a:ea typeface="Pretendard" pitchFamily="34" charset="-122"/>
                <a:cs typeface="Pretendard" pitchFamily="34" charset="-120"/>
              </a:rPr>
              <a:t>(Groq)</a:t>
            </a:r>
            <a:endParaRPr lang="en-US" sz="2000" dirty="0"/>
          </a:p>
          <a:p>
            <a:pPr algn="ctr" indent="0" marL="0">
              <a:spcAft>
                <a:spcPts val="100"/>
              </a:spcAft>
              <a:buNone/>
            </a:pPr>
            <a:r>
              <a:rPr lang="en-US" sz="1400" dirty="0">
                <a:solidFill>
                  <a:srgbClr val="FFFFFF"/>
                </a:solidFill>
                <a:latin typeface="Pretendard" pitchFamily="34" charset="0"/>
                <a:ea typeface="Pretendard" pitchFamily="34" charset="-122"/>
                <a:cs typeface="Pretendard" pitchFamily="34" charset="-120"/>
              </a:rPr>
              <a:t>단위 하나에 1번</a:t>
            </a:r>
            <a:endParaRPr lang="en-US" sz="2000" dirty="0"/>
          </a:p>
          <a:p>
            <a:pPr algn="ctr" indent="0" marL="0">
              <a:spcAft>
                <a:spcPts val="100"/>
              </a:spcAft>
              <a:buNone/>
            </a:pPr>
            <a:r>
              <a:rPr lang="en-US" sz="1400" dirty="0">
                <a:solidFill>
                  <a:srgbClr val="FFFFFF"/>
                </a:solidFill>
                <a:latin typeface="Pretendard" pitchFamily="34" charset="0"/>
                <a:ea typeface="Pretendard" pitchFamily="34" charset="-122"/>
                <a:cs typeface="Pretendard" pitchFamily="34" charset="-120"/>
              </a:rPr>
              <a:t>동시 4건</a:t>
            </a:r>
            <a:endParaRPr lang="en-US" sz="2000" dirty="0"/>
          </a:p>
        </p:txBody>
      </p:sp>
      <p:sp>
        <p:nvSpPr>
          <p:cNvPr id="17" name="Shape 14"/>
          <p:cNvSpPr/>
          <p:nvPr/>
        </p:nvSpPr>
        <p:spPr>
          <a:xfrm>
            <a:off x="4706417" y="3429000"/>
            <a:ext cx="246888" cy="0"/>
          </a:xfrm>
          <a:prstGeom prst="line">
            <a:avLst/>
          </a:prstGeom>
          <a:noFill/>
          <a:ln w="31750">
            <a:solidFill>
              <a:srgbClr val="1E2A5C"/>
            </a:solidFill>
            <a:prstDash val="solid"/>
            <a:tailEnd type="triangle"/>
          </a:ln>
        </p:spPr>
      </p:sp>
      <p:sp>
        <p:nvSpPr>
          <p:cNvPr id="18" name="Shape 15"/>
          <p:cNvSpPr/>
          <p:nvPr/>
        </p:nvSpPr>
        <p:spPr>
          <a:xfrm>
            <a:off x="6626657" y="3429000"/>
            <a:ext cx="246888" cy="0"/>
          </a:xfrm>
          <a:prstGeom prst="line">
            <a:avLst/>
          </a:prstGeom>
          <a:noFill/>
          <a:ln w="31750">
            <a:solidFill>
              <a:srgbClr val="1E2A5C"/>
            </a:solidFill>
            <a:prstDash val="solid"/>
            <a:tailEnd type="triangle"/>
          </a:ln>
        </p:spPr>
      </p:sp>
      <p:sp>
        <p:nvSpPr>
          <p:cNvPr id="19" name="Shape 16"/>
          <p:cNvSpPr/>
          <p:nvPr/>
        </p:nvSpPr>
        <p:spPr>
          <a:xfrm>
            <a:off x="6910121" y="1737360"/>
            <a:ext cx="7223760" cy="365760"/>
          </a:xfrm>
          <a:prstGeom prst="roundRect">
            <a:avLst>
              <a:gd name="adj" fmla="val 15000"/>
            </a:avLst>
          </a:prstGeom>
          <a:solidFill>
            <a:srgbClr val="2E74C6"/>
          </a:solidFill>
          <a:ln/>
        </p:spPr>
      </p:sp>
      <p:sp>
        <p:nvSpPr>
          <p:cNvPr id="20" name="Text 17"/>
          <p:cNvSpPr txBox="1"/>
          <p:nvPr/>
        </p:nvSpPr>
        <p:spPr>
          <a:xfrm>
            <a:off x="6910121" y="1737360"/>
            <a:ext cx="722376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나온 그래프 (v0 표본 실행, 상담 C-20260501-003)</a:t>
            </a:r>
            <a:endParaRPr lang="en-US" sz="1600" dirty="0"/>
          </a:p>
        </p:txBody>
      </p:sp>
      <p:sp>
        <p:nvSpPr>
          <p:cNvPr id="21" name="Shape 18"/>
          <p:cNvSpPr/>
          <p:nvPr/>
        </p:nvSpPr>
        <p:spPr>
          <a:xfrm>
            <a:off x="6910121" y="2194560"/>
            <a:ext cx="2331720" cy="585216"/>
          </a:xfrm>
          <a:prstGeom prst="roundRect">
            <a:avLst>
              <a:gd name="adj" fmla="val 12500"/>
            </a:avLst>
          </a:prstGeom>
          <a:solidFill>
            <a:srgbClr val="FFFFFF"/>
          </a:solidFill>
          <a:ln w="12700">
            <a:solidFill>
              <a:srgbClr val="D9E0EC"/>
            </a:solidFill>
            <a:prstDash val="solid"/>
          </a:ln>
        </p:spPr>
      </p:sp>
      <p:sp>
        <p:nvSpPr>
          <p:cNvPr id="22" name="Text 19"/>
          <p:cNvSpPr txBox="1"/>
          <p:nvPr/>
        </p:nvSpPr>
        <p:spPr>
          <a:xfrm>
            <a:off x="6910121" y="2194560"/>
            <a:ext cx="2331720" cy="585216"/>
          </a:xfrm>
          <a:prstGeom prst="rect">
            <a:avLst/>
          </a:prstGeom>
          <a:noFill/>
          <a:ln/>
        </p:spPr>
        <p:txBody>
          <a:bodyPr wrap="square" lIns="635" tIns="635" rIns="635" bIns="635" rtlCol="0" anchor="ctr"/>
          <a:lstStyle/>
          <a:p>
            <a:pPr algn="ctr" indent="0" marL="0">
              <a:spcAft>
                <a:spcPts val="100"/>
              </a:spcAft>
              <a:buNone/>
            </a:pPr>
            <a:r>
              <a:rPr lang="en-US" sz="1400" b="1" dirty="0">
                <a:solidFill>
                  <a:srgbClr val="2B3242"/>
                </a:solidFill>
                <a:latin typeface="Pretendard" pitchFamily="34" charset="0"/>
                <a:ea typeface="Pretendard" pitchFamily="34" charset="-122"/>
                <a:cs typeface="Pretendard" pitchFamily="34" charset="-120"/>
              </a:rPr>
              <a:t>Consultation</a:t>
            </a:r>
            <a:endParaRPr lang="en-US" sz="1400" dirty="0"/>
          </a:p>
          <a:p>
            <a:pPr algn="ctr" indent="0" marL="0">
              <a:spcAft>
                <a:spcPts val="100"/>
              </a:spcAft>
              <a:buNone/>
            </a:pPr>
            <a:r>
              <a:rPr lang="en-US" sz="1400" dirty="0">
                <a:solidFill>
                  <a:srgbClr val="2B3242"/>
                </a:solidFill>
                <a:latin typeface="Pretendard" pitchFamily="34" charset="0"/>
                <a:ea typeface="Pretendard" pitchFamily="34" charset="-122"/>
                <a:cs typeface="Pretendard" pitchFamily="34" charset="-120"/>
              </a:rPr>
              <a:t>C-20260501-003, 콜센터</a:t>
            </a:r>
            <a:endParaRPr lang="en-US" sz="1400" dirty="0"/>
          </a:p>
        </p:txBody>
      </p:sp>
      <p:sp>
        <p:nvSpPr>
          <p:cNvPr id="23" name="Shape 20"/>
          <p:cNvSpPr/>
          <p:nvPr/>
        </p:nvSpPr>
        <p:spPr>
          <a:xfrm>
            <a:off x="9269273" y="2487168"/>
            <a:ext cx="82296" cy="0"/>
          </a:xfrm>
          <a:prstGeom prst="line">
            <a:avLst/>
          </a:prstGeom>
          <a:noFill/>
          <a:ln w="19050">
            <a:solidFill>
              <a:srgbClr val="4A5364"/>
            </a:solidFill>
            <a:prstDash val="solid"/>
            <a:tailEnd type="triangle"/>
          </a:ln>
        </p:spPr>
      </p:sp>
      <p:sp>
        <p:nvSpPr>
          <p:cNvPr id="24" name="Shape 21"/>
          <p:cNvSpPr/>
          <p:nvPr/>
        </p:nvSpPr>
        <p:spPr>
          <a:xfrm>
            <a:off x="9379001" y="2304288"/>
            <a:ext cx="1874520" cy="365760"/>
          </a:xfrm>
          <a:prstGeom prst="roundRect">
            <a:avLst>
              <a:gd name="adj" fmla="val 45000"/>
            </a:avLst>
          </a:prstGeom>
          <a:solidFill>
            <a:srgbClr val="EEF3FA"/>
          </a:solidFill>
          <a:ln w="12700">
            <a:solidFill>
              <a:srgbClr val="C3CEE0"/>
            </a:solidFill>
            <a:prstDash val="solid"/>
          </a:ln>
        </p:spPr>
      </p:sp>
      <p:sp>
        <p:nvSpPr>
          <p:cNvPr id="25" name="Text 22"/>
          <p:cNvSpPr txBox="1"/>
          <p:nvPr/>
        </p:nvSpPr>
        <p:spPr>
          <a:xfrm>
            <a:off x="9379001" y="2304288"/>
            <a:ext cx="1874520" cy="365760"/>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HAS_PROPOSAL</a:t>
            </a:r>
            <a:endParaRPr lang="en-US" sz="1400" dirty="0"/>
          </a:p>
        </p:txBody>
      </p:sp>
      <p:sp>
        <p:nvSpPr>
          <p:cNvPr id="26" name="Shape 23"/>
          <p:cNvSpPr/>
          <p:nvPr/>
        </p:nvSpPr>
        <p:spPr>
          <a:xfrm>
            <a:off x="11271809" y="2487168"/>
            <a:ext cx="91440" cy="0"/>
          </a:xfrm>
          <a:prstGeom prst="line">
            <a:avLst/>
          </a:prstGeom>
          <a:noFill/>
          <a:ln w="19050">
            <a:solidFill>
              <a:srgbClr val="4A5364"/>
            </a:solidFill>
            <a:prstDash val="solid"/>
            <a:tailEnd type="triangle"/>
          </a:ln>
        </p:spPr>
      </p:sp>
      <p:sp>
        <p:nvSpPr>
          <p:cNvPr id="27" name="Shape 24"/>
          <p:cNvSpPr/>
          <p:nvPr/>
        </p:nvSpPr>
        <p:spPr>
          <a:xfrm>
            <a:off x="11390681" y="2194560"/>
            <a:ext cx="2743200" cy="585216"/>
          </a:xfrm>
          <a:prstGeom prst="roundRect">
            <a:avLst>
              <a:gd name="adj" fmla="val 12500"/>
            </a:avLst>
          </a:prstGeom>
          <a:solidFill>
            <a:srgbClr val="EEF3FA"/>
          </a:solidFill>
          <a:ln w="12700">
            <a:solidFill>
              <a:srgbClr val="2E74C6"/>
            </a:solidFill>
            <a:prstDash val="solid"/>
          </a:ln>
        </p:spPr>
      </p:sp>
      <p:sp>
        <p:nvSpPr>
          <p:cNvPr id="28" name="Text 25"/>
          <p:cNvSpPr txBox="1"/>
          <p:nvPr/>
        </p:nvSpPr>
        <p:spPr>
          <a:xfrm>
            <a:off x="11390681" y="2194560"/>
            <a:ext cx="2743200" cy="585216"/>
          </a:xfrm>
          <a:prstGeom prst="rect">
            <a:avLst/>
          </a:prstGeom>
          <a:noFill/>
          <a:ln/>
        </p:spPr>
        <p:txBody>
          <a:bodyPr wrap="square" lIns="635" tIns="635" rIns="635" bIns="635" rtlCol="0" anchor="ctr"/>
          <a:lstStyle/>
          <a:p>
            <a:pPr algn="ctr" indent="0" marL="0">
              <a:spcAft>
                <a:spcPts val="100"/>
              </a:spcAft>
              <a:buNone/>
            </a:pPr>
            <a:r>
              <a:rPr lang="en-US" sz="1400" b="1" dirty="0">
                <a:solidFill>
                  <a:srgbClr val="1E2A5C"/>
                </a:solidFill>
                <a:latin typeface="Pretendard" pitchFamily="34" charset="0"/>
                <a:ea typeface="Pretendard" pitchFamily="34" charset="-122"/>
                <a:cs typeface="Pretendard" pitchFamily="34" charset="-120"/>
              </a:rPr>
              <a:t>Proposal</a:t>
            </a:r>
            <a:endParaRPr lang="en-US" sz="1400" dirty="0"/>
          </a:p>
          <a:p>
            <a:pPr algn="ctr" indent="0" marL="0">
              <a:spcAft>
                <a:spcPts val="100"/>
              </a:spcAft>
              <a:buNone/>
            </a:pPr>
            <a:r>
              <a:rPr lang="en-US" sz="1400" dirty="0">
                <a:solidFill>
                  <a:srgbClr val="1E2A5C"/>
                </a:solidFill>
                <a:latin typeface="Pretendard" pitchFamily="34" charset="0"/>
                <a:ea typeface="Pretendard" pitchFamily="34" charset="-122"/>
                <a:cs typeface="Pretendard" pitchFamily="34" charset="-120"/>
              </a:rPr>
              <a:t>종이 영수증 대조 (거절)</a:t>
            </a:r>
            <a:endParaRPr lang="en-US" sz="1400" dirty="0"/>
          </a:p>
        </p:txBody>
      </p:sp>
      <p:sp>
        <p:nvSpPr>
          <p:cNvPr id="29" name="Shape 26"/>
          <p:cNvSpPr/>
          <p:nvPr/>
        </p:nvSpPr>
        <p:spPr>
          <a:xfrm>
            <a:off x="6910121" y="2852928"/>
            <a:ext cx="2331720" cy="585216"/>
          </a:xfrm>
          <a:prstGeom prst="roundRect">
            <a:avLst>
              <a:gd name="adj" fmla="val 12500"/>
            </a:avLst>
          </a:prstGeom>
          <a:solidFill>
            <a:srgbClr val="FFFFFF"/>
          </a:solidFill>
          <a:ln w="12700">
            <a:solidFill>
              <a:srgbClr val="D9E0EC"/>
            </a:solidFill>
            <a:prstDash val="solid"/>
          </a:ln>
        </p:spPr>
      </p:sp>
      <p:sp>
        <p:nvSpPr>
          <p:cNvPr id="30" name="Text 27"/>
          <p:cNvSpPr txBox="1"/>
          <p:nvPr/>
        </p:nvSpPr>
        <p:spPr>
          <a:xfrm>
            <a:off x="6910121" y="2852928"/>
            <a:ext cx="2331720" cy="585216"/>
          </a:xfrm>
          <a:prstGeom prst="rect">
            <a:avLst/>
          </a:prstGeom>
          <a:noFill/>
          <a:ln/>
        </p:spPr>
        <p:txBody>
          <a:bodyPr wrap="square" lIns="635" tIns="635" rIns="635" bIns="635" rtlCol="0" anchor="ctr"/>
          <a:lstStyle/>
          <a:p>
            <a:pPr algn="ctr" indent="0" marL="0">
              <a:spcAft>
                <a:spcPts val="100"/>
              </a:spcAft>
              <a:buNone/>
            </a:pPr>
            <a:r>
              <a:rPr lang="en-US" sz="1400" b="1" dirty="0">
                <a:solidFill>
                  <a:srgbClr val="2B3242"/>
                </a:solidFill>
                <a:latin typeface="Pretendard" pitchFamily="34" charset="0"/>
                <a:ea typeface="Pretendard" pitchFamily="34" charset="-122"/>
                <a:cs typeface="Pretendard" pitchFamily="34" charset="-120"/>
              </a:rPr>
              <a:t>Consultation</a:t>
            </a:r>
            <a:endParaRPr lang="en-US" sz="1400" dirty="0"/>
          </a:p>
          <a:p>
            <a:pPr algn="ctr" indent="0" marL="0">
              <a:spcAft>
                <a:spcPts val="100"/>
              </a:spcAft>
              <a:buNone/>
            </a:pPr>
            <a:r>
              <a:rPr lang="en-US" sz="1400" dirty="0">
                <a:solidFill>
                  <a:srgbClr val="2B3242"/>
                </a:solidFill>
                <a:latin typeface="Pretendard" pitchFamily="34" charset="0"/>
                <a:ea typeface="Pretendard" pitchFamily="34" charset="-122"/>
                <a:cs typeface="Pretendard" pitchFamily="34" charset="-120"/>
              </a:rPr>
              <a:t>C-20260501-003</a:t>
            </a:r>
            <a:endParaRPr lang="en-US" sz="1400" dirty="0"/>
          </a:p>
        </p:txBody>
      </p:sp>
      <p:sp>
        <p:nvSpPr>
          <p:cNvPr id="31" name="Shape 28"/>
          <p:cNvSpPr/>
          <p:nvPr/>
        </p:nvSpPr>
        <p:spPr>
          <a:xfrm>
            <a:off x="9269273" y="3145536"/>
            <a:ext cx="82296" cy="0"/>
          </a:xfrm>
          <a:prstGeom prst="line">
            <a:avLst/>
          </a:prstGeom>
          <a:noFill/>
          <a:ln w="19050">
            <a:solidFill>
              <a:srgbClr val="4A5364"/>
            </a:solidFill>
            <a:prstDash val="solid"/>
            <a:tailEnd type="triangle"/>
          </a:ln>
        </p:spPr>
      </p:sp>
      <p:sp>
        <p:nvSpPr>
          <p:cNvPr id="32" name="Shape 29"/>
          <p:cNvSpPr/>
          <p:nvPr/>
        </p:nvSpPr>
        <p:spPr>
          <a:xfrm>
            <a:off x="9379001" y="2962656"/>
            <a:ext cx="1874520" cy="365760"/>
          </a:xfrm>
          <a:prstGeom prst="roundRect">
            <a:avLst>
              <a:gd name="adj" fmla="val 45000"/>
            </a:avLst>
          </a:prstGeom>
          <a:solidFill>
            <a:srgbClr val="EEF3FA"/>
          </a:solidFill>
          <a:ln w="12700">
            <a:solidFill>
              <a:srgbClr val="C3CEE0"/>
            </a:solidFill>
            <a:prstDash val="solid"/>
          </a:ln>
        </p:spPr>
      </p:sp>
      <p:sp>
        <p:nvSpPr>
          <p:cNvPr id="33" name="Text 30"/>
          <p:cNvSpPr txBox="1"/>
          <p:nvPr/>
        </p:nvSpPr>
        <p:spPr>
          <a:xfrm>
            <a:off x="9379001" y="2962656"/>
            <a:ext cx="1874520" cy="365760"/>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HAS_PROPOSAL</a:t>
            </a:r>
            <a:endParaRPr lang="en-US" sz="1400" dirty="0"/>
          </a:p>
        </p:txBody>
      </p:sp>
      <p:sp>
        <p:nvSpPr>
          <p:cNvPr id="34" name="Shape 31"/>
          <p:cNvSpPr/>
          <p:nvPr/>
        </p:nvSpPr>
        <p:spPr>
          <a:xfrm>
            <a:off x="11271809" y="3145536"/>
            <a:ext cx="91440" cy="0"/>
          </a:xfrm>
          <a:prstGeom prst="line">
            <a:avLst/>
          </a:prstGeom>
          <a:noFill/>
          <a:ln w="19050">
            <a:solidFill>
              <a:srgbClr val="4A5364"/>
            </a:solidFill>
            <a:prstDash val="solid"/>
            <a:tailEnd type="triangle"/>
          </a:ln>
        </p:spPr>
      </p:sp>
      <p:sp>
        <p:nvSpPr>
          <p:cNvPr id="35" name="Shape 32"/>
          <p:cNvSpPr/>
          <p:nvPr/>
        </p:nvSpPr>
        <p:spPr>
          <a:xfrm>
            <a:off x="11390681" y="2852928"/>
            <a:ext cx="2743200" cy="585216"/>
          </a:xfrm>
          <a:prstGeom prst="roundRect">
            <a:avLst>
              <a:gd name="adj" fmla="val 12500"/>
            </a:avLst>
          </a:prstGeom>
          <a:solidFill>
            <a:srgbClr val="EEF3FA"/>
          </a:solidFill>
          <a:ln w="12700">
            <a:solidFill>
              <a:srgbClr val="2E74C6"/>
            </a:solidFill>
            <a:prstDash val="solid"/>
          </a:ln>
        </p:spPr>
      </p:sp>
      <p:sp>
        <p:nvSpPr>
          <p:cNvPr id="36" name="Text 33"/>
          <p:cNvSpPr txBox="1"/>
          <p:nvPr/>
        </p:nvSpPr>
        <p:spPr>
          <a:xfrm>
            <a:off x="11390681" y="2852928"/>
            <a:ext cx="2743200" cy="585216"/>
          </a:xfrm>
          <a:prstGeom prst="rect">
            <a:avLst/>
          </a:prstGeom>
          <a:noFill/>
          <a:ln/>
        </p:spPr>
        <p:txBody>
          <a:bodyPr wrap="square" lIns="635" tIns="635" rIns="635" bIns="635" rtlCol="0" anchor="ctr"/>
          <a:lstStyle/>
          <a:p>
            <a:pPr algn="ctr" indent="0" marL="0">
              <a:spcAft>
                <a:spcPts val="100"/>
              </a:spcAft>
              <a:buNone/>
            </a:pPr>
            <a:r>
              <a:rPr lang="en-US" sz="1400" b="1" dirty="0">
                <a:solidFill>
                  <a:srgbClr val="1E2A5C"/>
                </a:solidFill>
                <a:latin typeface="Pretendard" pitchFamily="34" charset="0"/>
                <a:ea typeface="Pretendard" pitchFamily="34" charset="-122"/>
                <a:cs typeface="Pretendard" pitchFamily="34" charset="-120"/>
              </a:rPr>
              <a:t>Proposal</a:t>
            </a:r>
            <a:endParaRPr lang="en-US" sz="1400" dirty="0"/>
          </a:p>
          <a:p>
            <a:pPr algn="ctr" indent="0" marL="0">
              <a:spcAft>
                <a:spcPts val="100"/>
              </a:spcAft>
              <a:buNone/>
            </a:pPr>
            <a:r>
              <a:rPr lang="en-US" sz="1400" dirty="0">
                <a:solidFill>
                  <a:srgbClr val="1E2A5C"/>
                </a:solidFill>
                <a:latin typeface="Pretendard" pitchFamily="34" charset="0"/>
                <a:ea typeface="Pretendard" pitchFamily="34" charset="-122"/>
                <a:cs typeface="Pretendard" pitchFamily="34" charset="-120"/>
              </a:rPr>
              <a:t>주문 내역 화면 대조 (수용)</a:t>
            </a:r>
            <a:endParaRPr lang="en-US" sz="1400" dirty="0"/>
          </a:p>
        </p:txBody>
      </p:sp>
      <p:sp>
        <p:nvSpPr>
          <p:cNvPr id="37" name="Shape 34"/>
          <p:cNvSpPr/>
          <p:nvPr/>
        </p:nvSpPr>
        <p:spPr>
          <a:xfrm>
            <a:off x="6910121" y="3511296"/>
            <a:ext cx="2331720" cy="585216"/>
          </a:xfrm>
          <a:prstGeom prst="roundRect">
            <a:avLst>
              <a:gd name="adj" fmla="val 12500"/>
            </a:avLst>
          </a:prstGeom>
          <a:solidFill>
            <a:srgbClr val="FFFFFF"/>
          </a:solidFill>
          <a:ln w="12700">
            <a:solidFill>
              <a:srgbClr val="D9E0EC"/>
            </a:solidFill>
            <a:prstDash val="solid"/>
          </a:ln>
        </p:spPr>
      </p:sp>
      <p:sp>
        <p:nvSpPr>
          <p:cNvPr id="38" name="Text 35"/>
          <p:cNvSpPr txBox="1"/>
          <p:nvPr/>
        </p:nvSpPr>
        <p:spPr>
          <a:xfrm>
            <a:off x="6910121" y="3511296"/>
            <a:ext cx="2331720" cy="585216"/>
          </a:xfrm>
          <a:prstGeom prst="rect">
            <a:avLst/>
          </a:prstGeom>
          <a:noFill/>
          <a:ln/>
        </p:spPr>
        <p:txBody>
          <a:bodyPr wrap="square" lIns="635" tIns="635" rIns="635" bIns="635" rtlCol="0" anchor="ctr"/>
          <a:lstStyle/>
          <a:p>
            <a:pPr algn="ctr" indent="0" marL="0">
              <a:spcAft>
                <a:spcPts val="100"/>
              </a:spcAft>
              <a:buNone/>
            </a:pPr>
            <a:r>
              <a:rPr lang="en-US" sz="1400" b="1" dirty="0">
                <a:solidFill>
                  <a:srgbClr val="2B3242"/>
                </a:solidFill>
                <a:latin typeface="Pretendard" pitchFamily="34" charset="0"/>
                <a:ea typeface="Pretendard" pitchFamily="34" charset="-122"/>
                <a:cs typeface="Pretendard" pitchFamily="34" charset="-120"/>
              </a:rPr>
              <a:t>Proposal</a:t>
            </a:r>
            <a:endParaRPr lang="en-US" sz="1400" dirty="0"/>
          </a:p>
          <a:p>
            <a:pPr algn="ctr" indent="0" marL="0">
              <a:spcAft>
                <a:spcPts val="100"/>
              </a:spcAft>
              <a:buNone/>
            </a:pPr>
            <a:r>
              <a:rPr lang="en-US" sz="1400" dirty="0">
                <a:solidFill>
                  <a:srgbClr val="2B3242"/>
                </a:solidFill>
                <a:latin typeface="Pretendard" pitchFamily="34" charset="0"/>
                <a:ea typeface="Pretendard" pitchFamily="34" charset="-122"/>
                <a:cs typeface="Pretendard" pitchFamily="34" charset="-120"/>
              </a:rPr>
              <a:t>주문 내역 화면 대조</a:t>
            </a:r>
            <a:endParaRPr lang="en-US" sz="1400" dirty="0"/>
          </a:p>
        </p:txBody>
      </p:sp>
      <p:sp>
        <p:nvSpPr>
          <p:cNvPr id="39" name="Shape 36"/>
          <p:cNvSpPr/>
          <p:nvPr/>
        </p:nvSpPr>
        <p:spPr>
          <a:xfrm>
            <a:off x="9269273" y="3803904"/>
            <a:ext cx="82296" cy="0"/>
          </a:xfrm>
          <a:prstGeom prst="line">
            <a:avLst/>
          </a:prstGeom>
          <a:noFill/>
          <a:ln w="19050">
            <a:solidFill>
              <a:srgbClr val="4A5364"/>
            </a:solidFill>
            <a:prstDash val="solid"/>
            <a:tailEnd type="triangle"/>
          </a:ln>
        </p:spPr>
      </p:sp>
      <p:sp>
        <p:nvSpPr>
          <p:cNvPr id="40" name="Shape 37"/>
          <p:cNvSpPr/>
          <p:nvPr/>
        </p:nvSpPr>
        <p:spPr>
          <a:xfrm>
            <a:off x="9379001" y="3621024"/>
            <a:ext cx="1874520" cy="365760"/>
          </a:xfrm>
          <a:prstGeom prst="roundRect">
            <a:avLst>
              <a:gd name="adj" fmla="val 45000"/>
            </a:avLst>
          </a:prstGeom>
          <a:solidFill>
            <a:srgbClr val="EEF3FA"/>
          </a:solidFill>
          <a:ln w="12700">
            <a:solidFill>
              <a:srgbClr val="C3CEE0"/>
            </a:solidFill>
            <a:prstDash val="solid"/>
          </a:ln>
        </p:spPr>
      </p:sp>
      <p:sp>
        <p:nvSpPr>
          <p:cNvPr id="41" name="Text 38"/>
          <p:cNvSpPr txBox="1"/>
          <p:nvPr/>
        </p:nvSpPr>
        <p:spPr>
          <a:xfrm>
            <a:off x="9379001" y="3621024"/>
            <a:ext cx="1874520" cy="365760"/>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RECONSIDER_WHEN</a:t>
            </a:r>
            <a:endParaRPr lang="en-US" sz="1400" dirty="0"/>
          </a:p>
        </p:txBody>
      </p:sp>
      <p:sp>
        <p:nvSpPr>
          <p:cNvPr id="42" name="Shape 39"/>
          <p:cNvSpPr/>
          <p:nvPr/>
        </p:nvSpPr>
        <p:spPr>
          <a:xfrm>
            <a:off x="11271809" y="3803904"/>
            <a:ext cx="91440" cy="0"/>
          </a:xfrm>
          <a:prstGeom prst="line">
            <a:avLst/>
          </a:prstGeom>
          <a:noFill/>
          <a:ln w="19050">
            <a:solidFill>
              <a:srgbClr val="4A5364"/>
            </a:solidFill>
            <a:prstDash val="solid"/>
            <a:tailEnd type="triangle"/>
          </a:ln>
        </p:spPr>
      </p:sp>
      <p:sp>
        <p:nvSpPr>
          <p:cNvPr id="43" name="Shape 40"/>
          <p:cNvSpPr/>
          <p:nvPr/>
        </p:nvSpPr>
        <p:spPr>
          <a:xfrm>
            <a:off x="11390681" y="3511296"/>
            <a:ext cx="2743200" cy="585216"/>
          </a:xfrm>
          <a:prstGeom prst="roundRect">
            <a:avLst>
              <a:gd name="adj" fmla="val 12500"/>
            </a:avLst>
          </a:prstGeom>
          <a:solidFill>
            <a:srgbClr val="EEF3FA"/>
          </a:solidFill>
          <a:ln w="12700">
            <a:solidFill>
              <a:srgbClr val="2E74C6"/>
            </a:solidFill>
            <a:prstDash val="solid"/>
          </a:ln>
        </p:spPr>
      </p:sp>
      <p:sp>
        <p:nvSpPr>
          <p:cNvPr id="44" name="Text 41"/>
          <p:cNvSpPr txBox="1"/>
          <p:nvPr/>
        </p:nvSpPr>
        <p:spPr>
          <a:xfrm>
            <a:off x="11390681" y="3511296"/>
            <a:ext cx="2743200" cy="585216"/>
          </a:xfrm>
          <a:prstGeom prst="rect">
            <a:avLst/>
          </a:prstGeom>
          <a:noFill/>
          <a:ln/>
        </p:spPr>
        <p:txBody>
          <a:bodyPr wrap="square" lIns="635" tIns="635" rIns="635" bIns="635" rtlCol="0" anchor="ctr"/>
          <a:lstStyle/>
          <a:p>
            <a:pPr algn="ctr" indent="0" marL="0">
              <a:spcAft>
                <a:spcPts val="100"/>
              </a:spcAft>
              <a:buNone/>
            </a:pPr>
            <a:r>
              <a:rPr lang="en-US" sz="1400" b="1" dirty="0">
                <a:solidFill>
                  <a:srgbClr val="1E2A5C"/>
                </a:solidFill>
                <a:latin typeface="Pretendard" pitchFamily="34" charset="0"/>
                <a:ea typeface="Pretendard" pitchFamily="34" charset="-122"/>
                <a:cs typeface="Pretendard" pitchFamily="34" charset="-120"/>
              </a:rPr>
              <a:t>ReconsiderCondition</a:t>
            </a:r>
            <a:endParaRPr lang="en-US" sz="1400" dirty="0"/>
          </a:p>
          <a:p>
            <a:pPr algn="ctr" indent="0" marL="0">
              <a:spcAft>
                <a:spcPts val="100"/>
              </a:spcAft>
              <a:buNone/>
            </a:pPr>
            <a:r>
              <a:rPr lang="en-US" sz="1400" dirty="0">
                <a:solidFill>
                  <a:srgbClr val="1E2A5C"/>
                </a:solidFill>
                <a:latin typeface="Pretendard" pitchFamily="34" charset="0"/>
                <a:ea typeface="Pretendard" pitchFamily="34" charset="-122"/>
                <a:cs typeface="Pretendard" pitchFamily="34" charset="-120"/>
              </a:rPr>
              <a:t>다음 명세서 나올 때 다시 문의</a:t>
            </a:r>
            <a:endParaRPr lang="en-US" sz="1400" dirty="0"/>
          </a:p>
        </p:txBody>
      </p:sp>
      <p:sp>
        <p:nvSpPr>
          <p:cNvPr id="45" name="Shape 42"/>
          <p:cNvSpPr/>
          <p:nvPr/>
        </p:nvSpPr>
        <p:spPr>
          <a:xfrm>
            <a:off x="6910121" y="4169664"/>
            <a:ext cx="2331720" cy="585216"/>
          </a:xfrm>
          <a:prstGeom prst="roundRect">
            <a:avLst>
              <a:gd name="adj" fmla="val 12500"/>
            </a:avLst>
          </a:prstGeom>
          <a:solidFill>
            <a:srgbClr val="FFFFFF"/>
          </a:solidFill>
          <a:ln w="12700">
            <a:solidFill>
              <a:srgbClr val="D9E0EC"/>
            </a:solidFill>
            <a:prstDash val="solid"/>
          </a:ln>
        </p:spPr>
      </p:sp>
      <p:sp>
        <p:nvSpPr>
          <p:cNvPr id="46" name="Text 43"/>
          <p:cNvSpPr txBox="1"/>
          <p:nvPr/>
        </p:nvSpPr>
        <p:spPr>
          <a:xfrm>
            <a:off x="6910121" y="4169664"/>
            <a:ext cx="2331720" cy="585216"/>
          </a:xfrm>
          <a:prstGeom prst="rect">
            <a:avLst/>
          </a:prstGeom>
          <a:noFill/>
          <a:ln/>
        </p:spPr>
        <p:txBody>
          <a:bodyPr wrap="square" lIns="635" tIns="635" rIns="635" bIns="635" rtlCol="0" anchor="ctr"/>
          <a:lstStyle/>
          <a:p>
            <a:pPr algn="ctr" indent="0" marL="0">
              <a:spcAft>
                <a:spcPts val="100"/>
              </a:spcAft>
              <a:buNone/>
            </a:pPr>
            <a:r>
              <a:rPr lang="en-US" sz="1400" b="1" dirty="0">
                <a:solidFill>
                  <a:srgbClr val="2B3242"/>
                </a:solidFill>
                <a:latin typeface="Pretendard" pitchFamily="34" charset="0"/>
                <a:ea typeface="Pretendard" pitchFamily="34" charset="-122"/>
                <a:cs typeface="Pretendard" pitchFamily="34" charset="-120"/>
              </a:rPr>
              <a:t>Consultation</a:t>
            </a:r>
            <a:endParaRPr lang="en-US" sz="1400" dirty="0"/>
          </a:p>
          <a:p>
            <a:pPr algn="ctr" indent="0" marL="0">
              <a:spcAft>
                <a:spcPts val="100"/>
              </a:spcAft>
              <a:buNone/>
            </a:pPr>
            <a:r>
              <a:rPr lang="en-US" sz="1400" dirty="0">
                <a:solidFill>
                  <a:srgbClr val="2B3242"/>
                </a:solidFill>
                <a:latin typeface="Pretendard" pitchFamily="34" charset="0"/>
                <a:ea typeface="Pretendard" pitchFamily="34" charset="-122"/>
                <a:cs typeface="Pretendard" pitchFamily="34" charset="-120"/>
              </a:rPr>
              <a:t>C-20260501-003</a:t>
            </a:r>
            <a:endParaRPr lang="en-US" sz="1400" dirty="0"/>
          </a:p>
        </p:txBody>
      </p:sp>
      <p:sp>
        <p:nvSpPr>
          <p:cNvPr id="47" name="Shape 44"/>
          <p:cNvSpPr/>
          <p:nvPr/>
        </p:nvSpPr>
        <p:spPr>
          <a:xfrm>
            <a:off x="9269273" y="4462272"/>
            <a:ext cx="82296" cy="0"/>
          </a:xfrm>
          <a:prstGeom prst="line">
            <a:avLst/>
          </a:prstGeom>
          <a:noFill/>
          <a:ln w="19050">
            <a:solidFill>
              <a:srgbClr val="4A5364"/>
            </a:solidFill>
            <a:prstDash val="solid"/>
            <a:tailEnd type="triangle"/>
          </a:ln>
        </p:spPr>
      </p:sp>
      <p:sp>
        <p:nvSpPr>
          <p:cNvPr id="48" name="Shape 45"/>
          <p:cNvSpPr/>
          <p:nvPr/>
        </p:nvSpPr>
        <p:spPr>
          <a:xfrm>
            <a:off x="9379001" y="4279392"/>
            <a:ext cx="1874520" cy="365760"/>
          </a:xfrm>
          <a:prstGeom prst="roundRect">
            <a:avLst>
              <a:gd name="adj" fmla="val 45000"/>
            </a:avLst>
          </a:prstGeom>
          <a:solidFill>
            <a:srgbClr val="EEF3FA"/>
          </a:solidFill>
          <a:ln w="12700">
            <a:solidFill>
              <a:srgbClr val="C3CEE0"/>
            </a:solidFill>
            <a:prstDash val="solid"/>
          </a:ln>
        </p:spPr>
      </p:sp>
      <p:sp>
        <p:nvSpPr>
          <p:cNvPr id="49" name="Text 46"/>
          <p:cNvSpPr txBox="1"/>
          <p:nvPr/>
        </p:nvSpPr>
        <p:spPr>
          <a:xfrm>
            <a:off x="9379001" y="4279392"/>
            <a:ext cx="1874520" cy="365760"/>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FOLLOWS</a:t>
            </a:r>
            <a:endParaRPr lang="en-US" sz="1400" dirty="0"/>
          </a:p>
        </p:txBody>
      </p:sp>
      <p:sp>
        <p:nvSpPr>
          <p:cNvPr id="50" name="Shape 47"/>
          <p:cNvSpPr/>
          <p:nvPr/>
        </p:nvSpPr>
        <p:spPr>
          <a:xfrm>
            <a:off x="11271809" y="4462272"/>
            <a:ext cx="91440" cy="0"/>
          </a:xfrm>
          <a:prstGeom prst="line">
            <a:avLst/>
          </a:prstGeom>
          <a:noFill/>
          <a:ln w="19050">
            <a:solidFill>
              <a:srgbClr val="4A5364"/>
            </a:solidFill>
            <a:prstDash val="solid"/>
            <a:tailEnd type="triangle"/>
          </a:ln>
        </p:spPr>
      </p:sp>
      <p:sp>
        <p:nvSpPr>
          <p:cNvPr id="51" name="Shape 48"/>
          <p:cNvSpPr/>
          <p:nvPr/>
        </p:nvSpPr>
        <p:spPr>
          <a:xfrm>
            <a:off x="11390681" y="4169664"/>
            <a:ext cx="2743200" cy="585216"/>
          </a:xfrm>
          <a:prstGeom prst="roundRect">
            <a:avLst>
              <a:gd name="adj" fmla="val 12500"/>
            </a:avLst>
          </a:prstGeom>
          <a:solidFill>
            <a:srgbClr val="EEF3FA"/>
          </a:solidFill>
          <a:ln w="12700">
            <a:solidFill>
              <a:srgbClr val="2E74C6"/>
            </a:solidFill>
            <a:prstDash val="solid"/>
          </a:ln>
        </p:spPr>
      </p:sp>
      <p:sp>
        <p:nvSpPr>
          <p:cNvPr id="52" name="Text 49"/>
          <p:cNvSpPr txBox="1"/>
          <p:nvPr/>
        </p:nvSpPr>
        <p:spPr>
          <a:xfrm>
            <a:off x="11390681" y="4169664"/>
            <a:ext cx="2743200" cy="585216"/>
          </a:xfrm>
          <a:prstGeom prst="rect">
            <a:avLst/>
          </a:prstGeom>
          <a:noFill/>
          <a:ln/>
        </p:spPr>
        <p:txBody>
          <a:bodyPr wrap="square" lIns="635" tIns="635" rIns="635" bIns="635" rtlCol="0" anchor="ctr"/>
          <a:lstStyle/>
          <a:p>
            <a:pPr algn="ctr" indent="0" marL="0">
              <a:spcAft>
                <a:spcPts val="100"/>
              </a:spcAft>
              <a:buNone/>
            </a:pPr>
            <a:r>
              <a:rPr lang="en-US" sz="1400" b="1" dirty="0">
                <a:solidFill>
                  <a:srgbClr val="1E2A5C"/>
                </a:solidFill>
                <a:latin typeface="Pretendard" pitchFamily="34" charset="0"/>
                <a:ea typeface="Pretendard" pitchFamily="34" charset="-122"/>
                <a:cs typeface="Pretendard" pitchFamily="34" charset="-120"/>
              </a:rPr>
              <a:t>Consultation</a:t>
            </a:r>
            <a:endParaRPr lang="en-US" sz="1400" dirty="0"/>
          </a:p>
          <a:p>
            <a:pPr algn="ctr" indent="0" marL="0">
              <a:spcAft>
                <a:spcPts val="100"/>
              </a:spcAft>
              <a:buNone/>
            </a:pPr>
            <a:r>
              <a:rPr lang="en-US" sz="1400" dirty="0">
                <a:solidFill>
                  <a:srgbClr val="1E2A5C"/>
                </a:solidFill>
                <a:latin typeface="Pretendard" pitchFamily="34" charset="0"/>
                <a:ea typeface="Pretendard" pitchFamily="34" charset="-122"/>
                <a:cs typeface="Pretendard" pitchFamily="34" charset="-120"/>
              </a:rPr>
              <a:t>C-20260302-002 (앞 상담)</a:t>
            </a:r>
            <a:endParaRPr lang="en-US" sz="1400" dirty="0"/>
          </a:p>
        </p:txBody>
      </p:sp>
      <p:sp>
        <p:nvSpPr>
          <p:cNvPr id="53" name="Shape 50"/>
          <p:cNvSpPr/>
          <p:nvPr/>
        </p:nvSpPr>
        <p:spPr>
          <a:xfrm>
            <a:off x="509321" y="4937760"/>
            <a:ext cx="3268980" cy="1097280"/>
          </a:xfrm>
          <a:prstGeom prst="roundRect">
            <a:avLst>
              <a:gd name="adj" fmla="val 6667"/>
            </a:avLst>
          </a:prstGeom>
          <a:solidFill>
            <a:srgbClr val="F5F8FC"/>
          </a:solidFill>
          <a:ln w="12700">
            <a:solidFill>
              <a:srgbClr val="D9E0EC"/>
            </a:solidFill>
            <a:prstDash val="solid"/>
          </a:ln>
        </p:spPr>
      </p:sp>
      <p:sp>
        <p:nvSpPr>
          <p:cNvPr id="54" name="Shape 51"/>
          <p:cNvSpPr/>
          <p:nvPr/>
        </p:nvSpPr>
        <p:spPr>
          <a:xfrm>
            <a:off x="619049" y="5047488"/>
            <a:ext cx="329184" cy="329184"/>
          </a:xfrm>
          <a:prstGeom prst="roundRect">
            <a:avLst>
              <a:gd name="adj" fmla="val 13889"/>
            </a:avLst>
          </a:prstGeom>
          <a:solidFill>
            <a:srgbClr val="2E74C6"/>
          </a:solidFill>
          <a:ln/>
        </p:spPr>
      </p:sp>
      <p:sp>
        <p:nvSpPr>
          <p:cNvPr id="55" name="Text 52"/>
          <p:cNvSpPr txBox="1"/>
          <p:nvPr/>
        </p:nvSpPr>
        <p:spPr>
          <a:xfrm>
            <a:off x="619049" y="5047488"/>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1</a:t>
            </a:r>
            <a:endParaRPr lang="en-US" sz="1500" dirty="0"/>
          </a:p>
        </p:txBody>
      </p:sp>
      <p:sp>
        <p:nvSpPr>
          <p:cNvPr id="56" name="Text 53"/>
          <p:cNvSpPr txBox="1"/>
          <p:nvPr/>
        </p:nvSpPr>
        <p:spPr>
          <a:xfrm>
            <a:off x="1012241" y="5010912"/>
            <a:ext cx="2674620" cy="402336"/>
          </a:xfrm>
          <a:prstGeom prst="rect">
            <a:avLst/>
          </a:prstGeom>
          <a:noFill/>
          <a:ln/>
        </p:spPr>
        <p:txBody>
          <a:bodyPr wrap="square" lIns="762" tIns="762" rIns="762" bIns="762"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같은 본문은 다시 묻지 않음</a:t>
            </a:r>
            <a:endParaRPr lang="en-US" sz="1500" dirty="0"/>
          </a:p>
        </p:txBody>
      </p:sp>
      <p:sp>
        <p:nvSpPr>
          <p:cNvPr id="57" name="Text 54"/>
          <p:cNvSpPr txBox="1"/>
          <p:nvPr/>
        </p:nvSpPr>
        <p:spPr>
          <a:xfrm>
            <a:off x="646481" y="5431536"/>
            <a:ext cx="2994660" cy="548640"/>
          </a:xfrm>
          <a:prstGeom prst="rect">
            <a:avLst/>
          </a:prstGeom>
          <a:noFill/>
          <a:ln/>
        </p:spPr>
        <p:txBody>
          <a:bodyPr wrap="square" lIns="762" tIns="762" rIns="762" bIns="762" rtlCol="0" anchor="t"/>
          <a:lstStyle/>
          <a:p>
            <a:pPr algn="l" indent="0" marL="0">
              <a:buNone/>
            </a:pPr>
            <a:r>
              <a:rPr lang="en-US" sz="1400" dirty="0">
                <a:solidFill>
                  <a:srgbClr val="3B4557"/>
                </a:solidFill>
                <a:latin typeface="Pretendard" pitchFamily="34" charset="0"/>
                <a:ea typeface="Pretendard" pitchFamily="34" charset="-122"/>
                <a:cs typeface="Pretendard" pitchFamily="34" charset="-120"/>
              </a:rPr>
              <a:t>본문 해시와 스키마 지문이 같으면 앞 결과를 씀</a:t>
            </a:r>
            <a:endParaRPr lang="en-US" sz="1400" dirty="0"/>
          </a:p>
        </p:txBody>
      </p:sp>
      <p:sp>
        <p:nvSpPr>
          <p:cNvPr id="58" name="Shape 55"/>
          <p:cNvSpPr/>
          <p:nvPr/>
        </p:nvSpPr>
        <p:spPr>
          <a:xfrm>
            <a:off x="3961181" y="4937760"/>
            <a:ext cx="3268980" cy="1097280"/>
          </a:xfrm>
          <a:prstGeom prst="roundRect">
            <a:avLst>
              <a:gd name="adj" fmla="val 6667"/>
            </a:avLst>
          </a:prstGeom>
          <a:solidFill>
            <a:srgbClr val="F5F8FC"/>
          </a:solidFill>
          <a:ln w="12700">
            <a:solidFill>
              <a:srgbClr val="D9E0EC"/>
            </a:solidFill>
            <a:prstDash val="solid"/>
          </a:ln>
        </p:spPr>
      </p:sp>
      <p:sp>
        <p:nvSpPr>
          <p:cNvPr id="59" name="Shape 56"/>
          <p:cNvSpPr/>
          <p:nvPr/>
        </p:nvSpPr>
        <p:spPr>
          <a:xfrm>
            <a:off x="4070909" y="5047488"/>
            <a:ext cx="329184" cy="329184"/>
          </a:xfrm>
          <a:prstGeom prst="roundRect">
            <a:avLst>
              <a:gd name="adj" fmla="val 13889"/>
            </a:avLst>
          </a:prstGeom>
          <a:solidFill>
            <a:srgbClr val="2E74C6"/>
          </a:solidFill>
          <a:ln/>
        </p:spPr>
      </p:sp>
      <p:sp>
        <p:nvSpPr>
          <p:cNvPr id="60" name="Text 57"/>
          <p:cNvSpPr txBox="1"/>
          <p:nvPr/>
        </p:nvSpPr>
        <p:spPr>
          <a:xfrm>
            <a:off x="4070909" y="5047488"/>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2</a:t>
            </a:r>
            <a:endParaRPr lang="en-US" sz="1500" dirty="0"/>
          </a:p>
        </p:txBody>
      </p:sp>
      <p:sp>
        <p:nvSpPr>
          <p:cNvPr id="61" name="Text 58"/>
          <p:cNvSpPr txBox="1"/>
          <p:nvPr/>
        </p:nvSpPr>
        <p:spPr>
          <a:xfrm>
            <a:off x="4464101" y="5010912"/>
            <a:ext cx="2674620" cy="402336"/>
          </a:xfrm>
          <a:prstGeom prst="rect">
            <a:avLst/>
          </a:prstGeom>
          <a:noFill/>
          <a:ln/>
        </p:spPr>
        <p:txBody>
          <a:bodyPr wrap="square" lIns="762" tIns="762" rIns="762" bIns="762"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형식 오류는 다시</a:t>
            </a:r>
            <a:endParaRPr lang="en-US" sz="1500" dirty="0"/>
          </a:p>
        </p:txBody>
      </p:sp>
      <p:sp>
        <p:nvSpPr>
          <p:cNvPr id="62" name="Text 59"/>
          <p:cNvSpPr txBox="1"/>
          <p:nvPr/>
        </p:nvSpPr>
        <p:spPr>
          <a:xfrm>
            <a:off x="4098341" y="5431536"/>
            <a:ext cx="2994660" cy="548640"/>
          </a:xfrm>
          <a:prstGeom prst="rect">
            <a:avLst/>
          </a:prstGeom>
          <a:noFill/>
          <a:ln/>
        </p:spPr>
        <p:txBody>
          <a:bodyPr wrap="square" lIns="762" tIns="762" rIns="762" bIns="762" rtlCol="0" anchor="t"/>
          <a:lstStyle/>
          <a:p>
            <a:pPr algn="l" indent="0" marL="0">
              <a:buNone/>
            </a:pPr>
            <a:r>
              <a:rPr lang="en-US" sz="1400" dirty="0">
                <a:solidFill>
                  <a:srgbClr val="3B4557"/>
                </a:solidFill>
                <a:latin typeface="Pretendard" pitchFamily="34" charset="0"/>
                <a:ea typeface="Pretendard" pitchFamily="34" charset="-122"/>
                <a:cs typeface="Pretendard" pitchFamily="34" charset="-120"/>
              </a:rPr>
              <a:t>같은 입력으로 2번까지 다시 물음</a:t>
            </a:r>
            <a:endParaRPr lang="en-US" sz="1400" dirty="0"/>
          </a:p>
        </p:txBody>
      </p:sp>
      <p:sp>
        <p:nvSpPr>
          <p:cNvPr id="63" name="Shape 60"/>
          <p:cNvSpPr/>
          <p:nvPr/>
        </p:nvSpPr>
        <p:spPr>
          <a:xfrm>
            <a:off x="7413041" y="4937760"/>
            <a:ext cx="3268980" cy="1097280"/>
          </a:xfrm>
          <a:prstGeom prst="roundRect">
            <a:avLst>
              <a:gd name="adj" fmla="val 6667"/>
            </a:avLst>
          </a:prstGeom>
          <a:solidFill>
            <a:srgbClr val="F5F8FC"/>
          </a:solidFill>
          <a:ln w="12700">
            <a:solidFill>
              <a:srgbClr val="D9E0EC"/>
            </a:solidFill>
            <a:prstDash val="solid"/>
          </a:ln>
        </p:spPr>
      </p:sp>
      <p:sp>
        <p:nvSpPr>
          <p:cNvPr id="64" name="Shape 61"/>
          <p:cNvSpPr/>
          <p:nvPr/>
        </p:nvSpPr>
        <p:spPr>
          <a:xfrm>
            <a:off x="7522769" y="5047488"/>
            <a:ext cx="329184" cy="329184"/>
          </a:xfrm>
          <a:prstGeom prst="roundRect">
            <a:avLst>
              <a:gd name="adj" fmla="val 13889"/>
            </a:avLst>
          </a:prstGeom>
          <a:solidFill>
            <a:srgbClr val="2E74C6"/>
          </a:solidFill>
          <a:ln/>
        </p:spPr>
      </p:sp>
      <p:sp>
        <p:nvSpPr>
          <p:cNvPr id="65" name="Text 62"/>
          <p:cNvSpPr txBox="1"/>
          <p:nvPr/>
        </p:nvSpPr>
        <p:spPr>
          <a:xfrm>
            <a:off x="7522769" y="5047488"/>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3</a:t>
            </a:r>
            <a:endParaRPr lang="en-US" sz="1500" dirty="0"/>
          </a:p>
        </p:txBody>
      </p:sp>
      <p:sp>
        <p:nvSpPr>
          <p:cNvPr id="66" name="Text 63"/>
          <p:cNvSpPr txBox="1"/>
          <p:nvPr/>
        </p:nvSpPr>
        <p:spPr>
          <a:xfrm>
            <a:off x="7915961" y="5010912"/>
            <a:ext cx="2674620" cy="402336"/>
          </a:xfrm>
          <a:prstGeom prst="rect">
            <a:avLst/>
          </a:prstGeom>
          <a:noFill/>
          <a:ln/>
        </p:spPr>
        <p:txBody>
          <a:bodyPr wrap="square" lIns="762" tIns="762" rIns="762" bIns="762"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실패는 기록하고 계속</a:t>
            </a:r>
            <a:endParaRPr lang="en-US" sz="1500" dirty="0"/>
          </a:p>
        </p:txBody>
      </p:sp>
      <p:sp>
        <p:nvSpPr>
          <p:cNvPr id="67" name="Text 64"/>
          <p:cNvSpPr txBox="1"/>
          <p:nvPr/>
        </p:nvSpPr>
        <p:spPr>
          <a:xfrm>
            <a:off x="7550201" y="5431536"/>
            <a:ext cx="2994660" cy="548640"/>
          </a:xfrm>
          <a:prstGeom prst="rect">
            <a:avLst/>
          </a:prstGeom>
          <a:noFill/>
          <a:ln/>
        </p:spPr>
        <p:txBody>
          <a:bodyPr wrap="square" lIns="762" tIns="762" rIns="762" bIns="762" rtlCol="0" anchor="t"/>
          <a:lstStyle/>
          <a:p>
            <a:pPr algn="l" indent="0" marL="0">
              <a:buNone/>
            </a:pPr>
            <a:r>
              <a:rPr lang="en-US" sz="1400" dirty="0">
                <a:solidFill>
                  <a:srgbClr val="3B4557"/>
                </a:solidFill>
                <a:latin typeface="Pretendard" pitchFamily="34" charset="0"/>
                <a:ea typeface="Pretendard" pitchFamily="34" charset="-122"/>
                <a:cs typeface="Pretendard" pitchFamily="34" charset="-120"/>
              </a:rPr>
              <a:t>failed_units에 남기고 나머지 단위는 진행</a:t>
            </a:r>
            <a:endParaRPr lang="en-US" sz="1400" dirty="0"/>
          </a:p>
        </p:txBody>
      </p:sp>
      <p:sp>
        <p:nvSpPr>
          <p:cNvPr id="68" name="Shape 65"/>
          <p:cNvSpPr/>
          <p:nvPr/>
        </p:nvSpPr>
        <p:spPr>
          <a:xfrm>
            <a:off x="10864901" y="4937760"/>
            <a:ext cx="3268980" cy="1097280"/>
          </a:xfrm>
          <a:prstGeom prst="roundRect">
            <a:avLst>
              <a:gd name="adj" fmla="val 6667"/>
            </a:avLst>
          </a:prstGeom>
          <a:solidFill>
            <a:srgbClr val="F5F8FC"/>
          </a:solidFill>
          <a:ln w="12700">
            <a:solidFill>
              <a:srgbClr val="D9E0EC"/>
            </a:solidFill>
            <a:prstDash val="solid"/>
          </a:ln>
        </p:spPr>
      </p:sp>
      <p:sp>
        <p:nvSpPr>
          <p:cNvPr id="69" name="Shape 66"/>
          <p:cNvSpPr/>
          <p:nvPr/>
        </p:nvSpPr>
        <p:spPr>
          <a:xfrm>
            <a:off x="10974629" y="5047488"/>
            <a:ext cx="329184" cy="329184"/>
          </a:xfrm>
          <a:prstGeom prst="roundRect">
            <a:avLst>
              <a:gd name="adj" fmla="val 13889"/>
            </a:avLst>
          </a:prstGeom>
          <a:solidFill>
            <a:srgbClr val="2E74C6"/>
          </a:solidFill>
          <a:ln/>
        </p:spPr>
      </p:sp>
      <p:sp>
        <p:nvSpPr>
          <p:cNvPr id="70" name="Text 67"/>
          <p:cNvSpPr txBox="1"/>
          <p:nvPr/>
        </p:nvSpPr>
        <p:spPr>
          <a:xfrm>
            <a:off x="10974629" y="5047488"/>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4</a:t>
            </a:r>
            <a:endParaRPr lang="en-US" sz="1500" dirty="0"/>
          </a:p>
        </p:txBody>
      </p:sp>
      <p:sp>
        <p:nvSpPr>
          <p:cNvPr id="71" name="Text 68"/>
          <p:cNvSpPr txBox="1"/>
          <p:nvPr/>
        </p:nvSpPr>
        <p:spPr>
          <a:xfrm>
            <a:off x="11367821" y="5010912"/>
            <a:ext cx="2674620" cy="402336"/>
          </a:xfrm>
          <a:prstGeom prst="rect">
            <a:avLst/>
          </a:prstGeom>
          <a:noFill/>
          <a:ln/>
        </p:spPr>
        <p:txBody>
          <a:bodyPr wrap="square" lIns="762" tIns="762" rIns="762" bIns="762"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노드 ID 앞 단위 ID는 임시</a:t>
            </a:r>
            <a:endParaRPr lang="en-US" sz="1500" dirty="0"/>
          </a:p>
        </p:txBody>
      </p:sp>
      <p:sp>
        <p:nvSpPr>
          <p:cNvPr id="72" name="Text 69"/>
          <p:cNvSpPr txBox="1"/>
          <p:nvPr/>
        </p:nvSpPr>
        <p:spPr>
          <a:xfrm>
            <a:off x="11002061" y="5431536"/>
            <a:ext cx="2994660" cy="548640"/>
          </a:xfrm>
          <a:prstGeom prst="rect">
            <a:avLst/>
          </a:prstGeom>
          <a:noFill/>
          <a:ln/>
        </p:spPr>
        <p:txBody>
          <a:bodyPr wrap="square" lIns="762" tIns="762" rIns="762" bIns="762" rtlCol="0" anchor="t"/>
          <a:lstStyle/>
          <a:p>
            <a:pPr algn="l" indent="0" marL="0">
              <a:buNone/>
            </a:pPr>
            <a:r>
              <a:rPr lang="en-US" sz="1400" dirty="0">
                <a:solidFill>
                  <a:srgbClr val="3B4557"/>
                </a:solidFill>
                <a:latin typeface="Pretendard" pitchFamily="34" charset="0"/>
                <a:ea typeface="Pretendard" pitchFamily="34" charset="-122"/>
                <a:cs typeface="Pretendard" pitchFamily="34" charset="-120"/>
              </a:rPr>
              <a:t>단위끼리 ID가 겹치지 않게 함. K4 적재 중에만 씀</a:t>
            </a:r>
            <a:endParaRPr lang="en-US" sz="1400" dirty="0"/>
          </a:p>
        </p:txBody>
      </p:sp>
      <p:sp>
        <p:nvSpPr>
          <p:cNvPr id="73" name="Shape 70"/>
          <p:cNvSpPr/>
          <p:nvPr/>
        </p:nvSpPr>
        <p:spPr>
          <a:xfrm>
            <a:off x="509321" y="6172200"/>
            <a:ext cx="13624560" cy="868680"/>
          </a:xfrm>
          <a:prstGeom prst="roundRect">
            <a:avLst>
              <a:gd name="adj" fmla="val 8421"/>
            </a:avLst>
          </a:prstGeom>
          <a:solidFill>
            <a:srgbClr val="1E2A5C"/>
          </a:solidFill>
          <a:ln/>
        </p:spPr>
      </p:sp>
      <p:sp>
        <p:nvSpPr>
          <p:cNvPr id="74" name="Text 71"/>
          <p:cNvSpPr txBox="1"/>
          <p:nvPr/>
        </p:nvSpPr>
        <p:spPr>
          <a:xfrm>
            <a:off x="509321" y="6172200"/>
            <a:ext cx="13624560" cy="868680"/>
          </a:xfrm>
          <a:prstGeom prst="rect">
            <a:avLst/>
          </a:prstGeom>
          <a:noFill/>
          <a:ln/>
        </p:spPr>
        <p:txBody>
          <a:bodyPr wrap="square" lIns="635" tIns="635" rIns="635" bIns="635" rtlCol="0" anchor="ctr"/>
          <a:lstStyle/>
          <a:p>
            <a:pPr algn="ctr" indent="0" marL="0">
              <a:spcAft>
                <a:spcPts val="100"/>
              </a:spcAft>
              <a:buNone/>
            </a:pPr>
            <a:r>
              <a:rPr lang="en-US" sz="1600" b="1" dirty="0">
                <a:solidFill>
                  <a:srgbClr val="FFFFFF"/>
                </a:solidFill>
                <a:latin typeface="Pretendard" pitchFamily="34" charset="0"/>
                <a:ea typeface="Pretendard" pitchFamily="34" charset="-122"/>
                <a:cs typeface="Pretendard" pitchFamily="34" charset="-120"/>
              </a:rPr>
              <a:t>v0 표본: 전체 재색인 단위 24개, LLM 24번, 실패 0, 토큰 76,401 / 증분 색인 LLM 1번, 3개 재사용</a:t>
            </a:r>
            <a:endParaRPr lang="en-US" sz="1600" dirty="0"/>
          </a:p>
          <a:p>
            <a:pPr algn="ctr" indent="0" marL="0">
              <a:spcAft>
                <a:spcPts val="100"/>
              </a:spcAft>
              <a:buNone/>
            </a:pPr>
            <a:r>
              <a:rPr lang="en-US" sz="1500" dirty="0">
                <a:solidFill>
                  <a:srgbClr val="FFFFFF"/>
                </a:solidFill>
                <a:latin typeface="Pretendard" pitchFamily="34" charset="0"/>
                <a:ea typeface="Pretendard" pitchFamily="34" charset="-122"/>
                <a:cs typeface="Pretendard" pitchFamily="34" charset="-120"/>
              </a:rPr>
              <a:t>결과는 K3까지 마친 뒤 kg_prepared.json에 보관만 함. Neo4j에는 K4 반영 때 씀</a:t>
            </a:r>
            <a:endParaRPr lang="en-US" sz="16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K2 추출 코드 (kg_build.py)</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추출기는 한 번 만들고, 단위마다 머리줄을 붙여 부르며, K3 가지치기까지 마친 결과를 파일로 보관함</a:t>
            </a:r>
            <a:endParaRPr lang="en-US" sz="1800" dirty="0"/>
          </a:p>
        </p:txBody>
      </p:sp>
      <p:sp>
        <p:nvSpPr>
          <p:cNvPr id="5" name="Shape 2"/>
          <p:cNvSpPr/>
          <p:nvPr/>
        </p:nvSpPr>
        <p:spPr>
          <a:xfrm>
            <a:off x="509321" y="1737360"/>
            <a:ext cx="7360920" cy="5532120"/>
          </a:xfrm>
          <a:prstGeom prst="roundRect">
            <a:avLst>
              <a:gd name="adj" fmla="val 992"/>
            </a:avLst>
          </a:prstGeom>
          <a:solidFill>
            <a:srgbClr val="F5F8FC"/>
          </a:solidFill>
          <a:ln w="12700">
            <a:solidFill>
              <a:srgbClr val="D9E0EC"/>
            </a:solidFill>
            <a:prstDash val="solid"/>
          </a:ln>
        </p:spPr>
      </p:sp>
      <p:sp>
        <p:nvSpPr>
          <p:cNvPr id="6" name="Text 3"/>
          <p:cNvSpPr txBox="1"/>
          <p:nvPr/>
        </p:nvSpPr>
        <p:spPr>
          <a:xfrm>
            <a:off x="619049" y="1810512"/>
            <a:ext cx="7141464" cy="310896"/>
          </a:xfrm>
          <a:prstGeom prst="rect">
            <a:avLst/>
          </a:prstGeom>
          <a:noFill/>
          <a:ln/>
        </p:spPr>
        <p:txBody>
          <a:bodyPr wrap="square" lIns="762" tIns="762" rIns="762" bIns="762" rtlCol="0" anchor="ctr"/>
          <a:lstStyle/>
          <a:p>
            <a:pPr algn="l" indent="0" marL="0">
              <a:buNone/>
            </a:pPr>
            <a:r>
              <a:rPr lang="en-US" sz="1400" b="1" dirty="0">
                <a:solidFill>
                  <a:srgbClr val="7C8598"/>
                </a:solidFill>
                <a:latin typeface="Pretendard" pitchFamily="34" charset="0"/>
                <a:ea typeface="Pretendard" pitchFamily="34" charset="-122"/>
                <a:cs typeface="Pretendard" pitchFamily="34" charset="-120"/>
              </a:rPr>
              <a:t>추출기 만들기와 _k2_k3_one (kg_build.py 발췌)</a:t>
            </a:r>
            <a:endParaRPr lang="en-US" sz="1400" dirty="0"/>
          </a:p>
        </p:txBody>
      </p:sp>
      <p:sp>
        <p:nvSpPr>
          <p:cNvPr id="7" name="Text 4"/>
          <p:cNvSpPr txBox="1"/>
          <p:nvPr/>
        </p:nvSpPr>
        <p:spPr>
          <a:xfrm>
            <a:off x="619049" y="2139696"/>
            <a:ext cx="7141464" cy="5074920"/>
          </a:xfrm>
          <a:prstGeom prst="rect">
            <a:avLst/>
          </a:prstGeom>
          <a:noFill/>
          <a:ln/>
        </p:spPr>
        <p:txBody>
          <a:bodyPr wrap="square" lIns="254" tIns="254" rIns="254" bIns="254" rtlCol="0" anchor="t"/>
          <a:lstStyle/>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prepare() 안: 추출기와 가지치기는 한 번만 만듦</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llm = make_llm()                                  # Groq openai/gpt-oss-120b</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extractor = LLMEntityRelationExtractor(llm=llm,</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create_lexical_graph=False, on_error=OnError.RAISE)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pruner, sem = GraphPruning(), asyncio.Semaphore(config.LLM_CONCURRENCY)</a:t>
            </a:r>
            <a:endParaRPr lang="en-US" sz="1400" dirty="0"/>
          </a:p>
          <a:p>
            <a:pPr indent="0" marL="0">
              <a:lnSpc>
                <a:spcPct val="105000"/>
              </a:lnSpc>
              <a:buNone/>
            </a:pP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async def _k2_k3_one(sem, extractor, pruner, unit, spec):</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async with sem:                               # 동시 4건</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text = _head_line(unit["metadata"], spec["header"]) + unit["text"]</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for attempt in range(config.LLM_RETRIES + 1):    # 2번까지 다시</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try:</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graph = await extractor.run(chunks=TextChunks(chunks=[</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TextChunk(text=text, index=0, uid=unit["unit_id"])]),</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schema=spec["schema"])</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break</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except Exception as 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if attempt == config.LLM_RETRIES:   # 실패는 기록용으로 돌려줌</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return {"error": f"{type(e).__name__}: {str(e)[:200]}"}</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pruned = (await pruner.run(graph, spec["schema"])).graph   # K3</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return {"graph": pruned.model_dump(), …}</a:t>
            </a:r>
            <a:endParaRPr lang="en-US" sz="1400" dirty="0"/>
          </a:p>
        </p:txBody>
      </p:sp>
      <p:sp>
        <p:nvSpPr>
          <p:cNvPr id="8" name="Shape 5"/>
          <p:cNvSpPr/>
          <p:nvPr/>
        </p:nvSpPr>
        <p:spPr>
          <a:xfrm>
            <a:off x="8144561" y="1737360"/>
            <a:ext cx="5989320" cy="2880360"/>
          </a:xfrm>
          <a:prstGeom prst="roundRect">
            <a:avLst>
              <a:gd name="adj" fmla="val 1905"/>
            </a:avLst>
          </a:prstGeom>
          <a:solidFill>
            <a:srgbClr val="F5F8FC"/>
          </a:solidFill>
          <a:ln w="12700">
            <a:solidFill>
              <a:srgbClr val="D9E0EC"/>
            </a:solidFill>
            <a:prstDash val="solid"/>
          </a:ln>
        </p:spPr>
      </p:sp>
      <p:sp>
        <p:nvSpPr>
          <p:cNvPr id="9" name="Text 6"/>
          <p:cNvSpPr txBox="1"/>
          <p:nvPr/>
        </p:nvSpPr>
        <p:spPr>
          <a:xfrm>
            <a:off x="8254289" y="1810512"/>
            <a:ext cx="5769864" cy="310896"/>
          </a:xfrm>
          <a:prstGeom prst="rect">
            <a:avLst/>
          </a:prstGeom>
          <a:noFill/>
          <a:ln/>
        </p:spPr>
        <p:txBody>
          <a:bodyPr wrap="square" lIns="762" tIns="762" rIns="762" bIns="762" rtlCol="0" anchor="ctr"/>
          <a:lstStyle/>
          <a:p>
            <a:pPr algn="l" indent="0" marL="0">
              <a:buNone/>
            </a:pPr>
            <a:r>
              <a:rPr lang="en-US" sz="1400" b="1" dirty="0">
                <a:solidFill>
                  <a:srgbClr val="7C8598"/>
                </a:solidFill>
                <a:latin typeface="Pretendard" pitchFamily="34" charset="0"/>
                <a:ea typeface="Pretendard" pitchFamily="34" charset="-122"/>
                <a:cs typeface="Pretendard" pitchFamily="34" charset="-120"/>
              </a:rPr>
              <a:t>kg_prepared.json에 보관한 결과 (일부)</a:t>
            </a:r>
            <a:endParaRPr lang="en-US" sz="1400" dirty="0"/>
          </a:p>
        </p:txBody>
      </p:sp>
      <p:sp>
        <p:nvSpPr>
          <p:cNvPr id="10" name="Text 7"/>
          <p:cNvSpPr txBox="1"/>
          <p:nvPr/>
        </p:nvSpPr>
        <p:spPr>
          <a:xfrm>
            <a:off x="8254289" y="2139696"/>
            <a:ext cx="5769864" cy="2423160"/>
          </a:xfrm>
          <a:prstGeom prst="rect">
            <a:avLst/>
          </a:prstGeom>
          <a:noFill/>
          <a:ln/>
        </p:spPr>
        <p:txBody>
          <a:bodyPr wrap="square" lIns="254" tIns="254" rIns="254" bIns="254" rtlCol="0" anchor="t"/>
          <a:lstStyle/>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{"unit_id": "D3_C-20260501-003_c797…_0000",</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"text_hash": "…", "schema_signature": "…",</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"graph": {"nodes": [ …,</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{"id": "D3_C-20260501-003_c797…_0000:p1",</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"label": "Proposal",</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"properties": {"content": "그러면 주문 내역 화면으로 …",</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"decision": "수용"}}, … ],</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"relationships": [ …,</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{"type": "RECONSIDER_WHEN",</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"start_node_id": "…_0000:p1", "end_node_id": "…_0000:r0"}]}}</a:t>
            </a:r>
            <a:endParaRPr lang="en-US" sz="1400" dirty="0"/>
          </a:p>
        </p:txBody>
      </p:sp>
      <p:sp>
        <p:nvSpPr>
          <p:cNvPr id="11" name="Shape 8"/>
          <p:cNvSpPr/>
          <p:nvPr/>
        </p:nvSpPr>
        <p:spPr>
          <a:xfrm>
            <a:off x="8144561" y="4709160"/>
            <a:ext cx="5989320" cy="1691640"/>
          </a:xfrm>
          <a:prstGeom prst="roundRect">
            <a:avLst>
              <a:gd name="adj" fmla="val 3243"/>
            </a:avLst>
          </a:prstGeom>
          <a:solidFill>
            <a:srgbClr val="F5F8FC"/>
          </a:solidFill>
          <a:ln w="12700">
            <a:solidFill>
              <a:srgbClr val="D9E0EC"/>
            </a:solidFill>
            <a:prstDash val="solid"/>
          </a:ln>
        </p:spPr>
      </p:sp>
      <p:sp>
        <p:nvSpPr>
          <p:cNvPr id="12" name="Text 9"/>
          <p:cNvSpPr txBox="1"/>
          <p:nvPr/>
        </p:nvSpPr>
        <p:spPr>
          <a:xfrm>
            <a:off x="8254289" y="4782312"/>
            <a:ext cx="5769864" cy="310896"/>
          </a:xfrm>
          <a:prstGeom prst="rect">
            <a:avLst/>
          </a:prstGeom>
          <a:noFill/>
          <a:ln/>
        </p:spPr>
        <p:txBody>
          <a:bodyPr wrap="square" lIns="762" tIns="762" rIns="762" bIns="762" rtlCol="0" anchor="ctr"/>
          <a:lstStyle/>
          <a:p>
            <a:pPr algn="l" indent="0" marL="0">
              <a:buNone/>
            </a:pPr>
            <a:r>
              <a:rPr lang="en-US" sz="1400" b="1" dirty="0">
                <a:solidFill>
                  <a:srgbClr val="7C8598"/>
                </a:solidFill>
                <a:latin typeface="Pretendard" pitchFamily="34" charset="0"/>
                <a:ea typeface="Pretendard" pitchFamily="34" charset="-122"/>
                <a:cs typeface="Pretendard" pitchFamily="34" charset="-120"/>
              </a:rPr>
              <a:t>앞 세대 결과 재사용 (prepare 발췌)</a:t>
            </a:r>
            <a:endParaRPr lang="en-US" sz="1400" dirty="0"/>
          </a:p>
        </p:txBody>
      </p:sp>
      <p:sp>
        <p:nvSpPr>
          <p:cNvPr id="13" name="Text 10"/>
          <p:cNvSpPr txBox="1"/>
          <p:nvPr/>
        </p:nvSpPr>
        <p:spPr>
          <a:xfrm>
            <a:off x="8254289" y="5111496"/>
            <a:ext cx="5769864" cy="1234440"/>
          </a:xfrm>
          <a:prstGeom prst="rect">
            <a:avLst/>
          </a:prstGeom>
          <a:noFill/>
          <a:ln/>
        </p:spPr>
        <p:txBody>
          <a:bodyPr wrap="square" lIns="254" tIns="254" rIns="254" bIns="254" rtlCol="0" anchor="t"/>
          <a:lstStyle/>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hit = cache.get((u["doc_type"], u["text_hash"], u["schema_signature"]))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if hit:</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u.update(graph=hit["graph"], reused=True)   # LLM을 부르지 않음</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else: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todo.append(u)</a:t>
            </a:r>
            <a:endParaRPr lang="en-US" sz="1400" dirty="0"/>
          </a:p>
        </p:txBody>
      </p:sp>
      <p:sp>
        <p:nvSpPr>
          <p:cNvPr id="14" name="Shape 11"/>
          <p:cNvSpPr/>
          <p:nvPr/>
        </p:nvSpPr>
        <p:spPr>
          <a:xfrm>
            <a:off x="8144561" y="6492240"/>
            <a:ext cx="5989320" cy="777240"/>
          </a:xfrm>
          <a:prstGeom prst="roundRect">
            <a:avLst>
              <a:gd name="adj" fmla="val 9412"/>
            </a:avLst>
          </a:prstGeom>
          <a:solidFill>
            <a:srgbClr val="F5F8FC"/>
          </a:solidFill>
          <a:ln w="12700">
            <a:solidFill>
              <a:srgbClr val="D9E0EC"/>
            </a:solidFill>
            <a:prstDash val="solid"/>
          </a:ln>
        </p:spPr>
      </p:sp>
      <p:sp>
        <p:nvSpPr>
          <p:cNvPr id="15" name="Text 12"/>
          <p:cNvSpPr txBox="1"/>
          <p:nvPr/>
        </p:nvSpPr>
        <p:spPr>
          <a:xfrm>
            <a:off x="8144561" y="6492240"/>
            <a:ext cx="5989320" cy="777240"/>
          </a:xfrm>
          <a:prstGeom prst="rect">
            <a:avLst/>
          </a:prstGeom>
          <a:noFill/>
          <a:ln/>
        </p:spPr>
        <p:txBody>
          <a:bodyPr wrap="square" lIns="635" tIns="635" rIns="635" bIns="635" rtlCol="0" anchor="ctr"/>
          <a:lstStyle/>
          <a:p>
            <a:pPr algn="ctr" indent="0" marL="0">
              <a:spcAft>
                <a:spcPts val="100"/>
              </a:spcAft>
              <a:buNone/>
            </a:pPr>
            <a:r>
              <a:rPr lang="en-US" sz="1500" b="1" dirty="0">
                <a:solidFill>
                  <a:srgbClr val="2B3242"/>
                </a:solidFill>
                <a:latin typeface="Pretendard" pitchFamily="34" charset="0"/>
                <a:ea typeface="Pretendard" pitchFamily="34" charset="-122"/>
                <a:cs typeface="Pretendard" pitchFamily="34" charset="-120"/>
              </a:rPr>
              <a:t>응답 다듬기 (GroqLLM._clean)</a:t>
            </a:r>
            <a:endParaRPr lang="en-US" sz="1500" dirty="0"/>
          </a:p>
          <a:p>
            <a:pPr algn="ctr" indent="0" marL="0">
              <a:spcAft>
                <a:spcPts val="100"/>
              </a:spcAft>
              <a:buNone/>
            </a:pPr>
            <a:r>
              <a:rPr lang="en-US" sz="1400" dirty="0">
                <a:solidFill>
                  <a:srgbClr val="2B3242"/>
                </a:solidFill>
                <a:latin typeface="Pretendard" pitchFamily="34" charset="0"/>
                <a:ea typeface="Pretendard" pitchFamily="34" charset="-122"/>
                <a:cs typeface="Pretendard" pitchFamily="34" charset="-120"/>
              </a:rPr>
              <a:t>정해진 칸 밖 키 제거, id는 글자로, 빈 속성 제거</a:t>
            </a:r>
            <a:endParaRPr lang="en-US" sz="15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2026-10-19T12:46:42Z</dcterms:created>
  <dcterms:modified xsi:type="dcterms:W3CDTF">2026-10-19T12:46:42Z</dcterms:modified>
</cp:coreProperties>
</file>