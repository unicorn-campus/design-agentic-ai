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2"/>
    <p:sldId id="257" r:id="rId3"/>
  </p:sld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92"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436577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K2는 추출 단위 하나를 LLM에 넣어 노드와 관계를 받는 단계입니다. LLM에는 네 가지가 들어갑니다. 승인된 그래프 스키마, 메타데이터 머리줄, 추출 단위 본문, 그리고 라이브러리의 기본 추출 지시입니다. 스키마의 설명에는 해당하는 것과 해당하지 않는 것을 함께 적어서 LLM이 경계를 판단하게 합니다. 머리줄은 상담 번호나 날짜처럼 본문에 잘 드러나지 않는 키 속성을 채우려고 붙입니다.
예시 상담에서 LLM은 상담사가 권한 두 가지 방법을 제안 노드로, 고객이 말한 다시 문의할 조건을 재검토 조건 노드로 뽑고, 본문에 적힌 앞 상담 번호로 이전 상담과 이었습니다. 응답 형식이 깨지면 같은 입력으로 두 번까지 다시 묻고, 그래도 안 되면 그 단위만 실패로 기록하고 나머지를 계속합니다. 노드 ID 앞에는 단위 ID가 붙어서 K4에서 검색용 청크와 이을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추출기는 한 번만 만듭니다. LLM, 그리고 검색용 청크 노드는 만들지 않는다는 설정, 오류가 나면 예외로 올린다는 설정을 줍니다. 단위마다 머리줄을 붙인 글을 TextChunk 하나로 감싸 넣는데, 이때 uid에 단위 ID를 줍니다. 그래서 돌려받은 노드 ID 앞에 단위 ID가 붙습니다. 형식 오류는 같은 입력으로 두 번까지 다시 묻고, 받은 그래프는 다음 단계인 가지치기로 넘깁니다.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txBody>
          <a:bodyPr/>
          <a:lstStyle/>
          <a:p>
            <a:endParaRPr lang="ko-KR" altLang="en-US"/>
          </a:p>
        </p:txBody>
      </p:sp>
      <p:sp>
        <p:nvSpPr>
          <p:cNvPr id="3" name="Text 1"/>
          <p:cNvSpPr/>
          <p:nvPr/>
        </p:nvSpPr>
        <p:spPr>
          <a:xfrm>
            <a:off x="445770" y="7787945"/>
            <a:ext cx="1531620" cy="246888"/>
          </a:xfrm>
          <a:prstGeom prst="rect">
            <a:avLst/>
          </a:prstGeom>
          <a:noFill/>
          <a:ln/>
        </p:spPr>
        <p:txBody>
          <a:bodyPr wrap="square" lIns="0" tIns="0" rIns="0" bIns="0" rtlCol="0" anchor="ctr"/>
          <a:lstStyle/>
          <a:p>
            <a:pPr marL="0" indent="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a:spLocks noGrp="1"/>
          </p:cNvSpPr>
          <p:nvPr>
            <p:ph type="title"/>
          </p:nvPr>
        </p:nvSpPr>
        <p:spPr>
          <a:xfrm>
            <a:off x="509321" y="99670"/>
            <a:ext cx="13738860" cy="828446"/>
          </a:xfrm>
          <a:prstGeom prst="rect">
            <a:avLst/>
          </a:prstGeom>
          <a:noFill/>
          <a:ln/>
        </p:spPr>
        <p:txBody>
          <a:bodyPr wrap="square" rtlCol="0"/>
          <a:lstStyle>
            <a:lvl1pPr marL="0" indent="0" algn="l">
              <a:buNone/>
              <a:defRPr lang="en-US" sz="3200" b="1" dirty="0">
                <a:solidFill>
                  <a:srgbClr val="2C2926"/>
                </a:solidFill>
                <a:latin typeface="Pretendard" pitchFamily="34" charset="0"/>
                <a:ea typeface="Pretendard" pitchFamily="34" charset="-122"/>
                <a:cs typeface="Pretendard" pitchFamily="34" charset="-120"/>
              </a:defRPr>
            </a:lvl1pPr>
          </a:lstStyle>
          <a:p>
            <a:pPr marL="0" indent="0" algn="l">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KG 구축 K2 엔티티와 관계 추출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추출 단위 하나와 승인된 그래프 스키마를 LLM에 넣어, 스키마 모양대로 노드와 관계를 JSON으로 받음</a:t>
            </a:r>
            <a:endParaRPr lang="en-US" sz="1800" dirty="0"/>
          </a:p>
        </p:txBody>
      </p:sp>
      <p:sp>
        <p:nvSpPr>
          <p:cNvPr id="5" name="Shape 2"/>
          <p:cNvSpPr/>
          <p:nvPr/>
        </p:nvSpPr>
        <p:spPr>
          <a:xfrm>
            <a:off x="509321" y="1737360"/>
            <a:ext cx="4160520" cy="365760"/>
          </a:xfrm>
          <a:prstGeom prst="roundRect">
            <a:avLst>
              <a:gd name="adj" fmla="val 12500"/>
            </a:avLst>
          </a:prstGeom>
          <a:solidFill>
            <a:srgbClr val="404155"/>
          </a:solidFill>
          <a:ln/>
        </p:spPr>
        <p:txBody>
          <a:bodyPr/>
          <a:lstStyle/>
          <a:p>
            <a:endParaRPr lang="ko-KR" altLang="en-US"/>
          </a:p>
        </p:txBody>
      </p:sp>
      <p:sp>
        <p:nvSpPr>
          <p:cNvPr id="6" name="Text 3"/>
          <p:cNvSpPr txBox="1"/>
          <p:nvPr/>
        </p:nvSpPr>
        <p:spPr>
          <a:xfrm>
            <a:off x="509321" y="1737360"/>
            <a:ext cx="416052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LLM에 넣는 것</a:t>
            </a:r>
            <a:endParaRPr lang="en-US" sz="1600" dirty="0"/>
          </a:p>
        </p:txBody>
      </p:sp>
      <p:sp>
        <p:nvSpPr>
          <p:cNvPr id="7" name="Shape 4"/>
          <p:cNvSpPr/>
          <p:nvPr/>
        </p:nvSpPr>
        <p:spPr>
          <a:xfrm>
            <a:off x="509321" y="2194560"/>
            <a:ext cx="4160520" cy="585216"/>
          </a:xfrm>
          <a:prstGeom prst="roundRect">
            <a:avLst>
              <a:gd name="adj" fmla="val 12500"/>
            </a:avLst>
          </a:prstGeom>
          <a:solidFill>
            <a:srgbClr val="EEF3FA"/>
          </a:solidFill>
          <a:ln w="12700">
            <a:solidFill>
              <a:srgbClr val="2E74C6"/>
            </a:solidFill>
            <a:prstDash val="solid"/>
          </a:ln>
        </p:spPr>
        <p:txBody>
          <a:bodyPr/>
          <a:lstStyle/>
          <a:p>
            <a:endParaRPr lang="ko-KR" altLang="en-US"/>
          </a:p>
        </p:txBody>
      </p:sp>
      <p:sp>
        <p:nvSpPr>
          <p:cNvPr id="8" name="Text 5"/>
          <p:cNvSpPr txBox="1"/>
          <p:nvPr/>
        </p:nvSpPr>
        <p:spPr>
          <a:xfrm>
            <a:off x="509321" y="2194560"/>
            <a:ext cx="4160520" cy="585216"/>
          </a:xfrm>
          <a:prstGeom prst="rect">
            <a:avLst/>
          </a:prstGeom>
          <a:noFill/>
          <a:ln/>
        </p:spPr>
        <p:txBody>
          <a:bodyPr wrap="square" lIns="127000" tIns="38100" rIns="127000" bIns="38100" rtlCol="0" anchor="ctr"/>
          <a:lstStyle/>
          <a:p>
            <a:pPr marL="0" indent="0" algn="l">
              <a:spcAft>
                <a:spcPts val="100"/>
              </a:spcAft>
              <a:buNone/>
            </a:pPr>
            <a:r>
              <a:rPr lang="en-US" sz="1500" b="1" dirty="0">
                <a:solidFill>
                  <a:srgbClr val="1E2A5C"/>
                </a:solidFill>
                <a:latin typeface="Pretendard" pitchFamily="34" charset="0"/>
                <a:ea typeface="Pretendard" pitchFamily="34" charset="-122"/>
                <a:cs typeface="Pretendard" pitchFamily="34" charset="-120"/>
              </a:rPr>
              <a:t>① </a:t>
            </a:r>
            <a:r>
              <a:rPr lang="en-US" sz="1500" b="1" dirty="0" err="1">
                <a:solidFill>
                  <a:srgbClr val="1E2A5C"/>
                </a:solidFill>
                <a:latin typeface="Pretendard" pitchFamily="34" charset="0"/>
                <a:ea typeface="Pretendard" pitchFamily="34" charset="-122"/>
                <a:cs typeface="Pretendard" pitchFamily="34" charset="-120"/>
              </a:rPr>
              <a:t>그래프</a:t>
            </a:r>
            <a:r>
              <a:rPr lang="en-US" sz="1500" b="1" dirty="0">
                <a:solidFill>
                  <a:srgbClr val="1E2A5C"/>
                </a:solidFill>
                <a:latin typeface="Pretendard" pitchFamily="34" charset="0"/>
                <a:ea typeface="Pretendard" pitchFamily="34" charset="-122"/>
                <a:cs typeface="Pretendard" pitchFamily="34" charset="-120"/>
              </a:rPr>
              <a:t> </a:t>
            </a:r>
            <a:r>
              <a:rPr lang="en-US" sz="1500" b="1" dirty="0" err="1">
                <a:solidFill>
                  <a:srgbClr val="1E2A5C"/>
                </a:solidFill>
                <a:latin typeface="Pretendard" pitchFamily="34" charset="0"/>
                <a:ea typeface="Pretendard" pitchFamily="34" charset="-122"/>
                <a:cs typeface="Pretendard" pitchFamily="34" charset="-120"/>
              </a:rPr>
              <a:t>스키마</a:t>
            </a:r>
            <a:r>
              <a:rPr lang="en-US" sz="1500" b="1" dirty="0">
                <a:solidFill>
                  <a:srgbClr val="1E2A5C"/>
                </a:solidFill>
                <a:latin typeface="Pretendard" pitchFamily="34" charset="0"/>
                <a:ea typeface="Pretendard" pitchFamily="34" charset="-122"/>
                <a:cs typeface="Pretendard" pitchFamily="34" charset="-120"/>
              </a:rPr>
              <a:t> </a:t>
            </a:r>
            <a:r>
              <a:rPr lang="ko-KR" altLang="en-US" sz="1500" b="1" dirty="0">
                <a:solidFill>
                  <a:srgbClr val="1E2A5C"/>
                </a:solidFill>
                <a:latin typeface="Pretendard" pitchFamily="34" charset="0"/>
                <a:ea typeface="Pretendard" pitchFamily="34" charset="-122"/>
                <a:cs typeface="Pretendard" pitchFamily="34" charset="-120"/>
              </a:rPr>
              <a:t>설계</a:t>
            </a:r>
            <a:endParaRPr lang="en-US" sz="1500" dirty="0"/>
          </a:p>
          <a:p>
            <a:pPr marL="0" indent="0" algn="l">
              <a:spcAft>
                <a:spcPts val="100"/>
              </a:spcAft>
              <a:buNone/>
            </a:pPr>
            <a:r>
              <a:rPr lang="ko-KR" altLang="en-US" sz="1400" dirty="0">
                <a:solidFill>
                  <a:srgbClr val="1E2A5C"/>
                </a:solidFill>
                <a:latin typeface="Pretendard" pitchFamily="34" charset="0"/>
                <a:ea typeface="Pretendard" pitchFamily="34" charset="-122"/>
                <a:cs typeface="Pretendard" pitchFamily="34" charset="-120"/>
              </a:rPr>
              <a:t>문서유형별로 사전에 정의</a:t>
            </a:r>
            <a:endParaRPr lang="en-US" sz="1500" dirty="0"/>
          </a:p>
        </p:txBody>
      </p:sp>
      <p:sp>
        <p:nvSpPr>
          <p:cNvPr id="9" name="Shape 6"/>
          <p:cNvSpPr/>
          <p:nvPr/>
        </p:nvSpPr>
        <p:spPr>
          <a:xfrm>
            <a:off x="509321" y="2852928"/>
            <a:ext cx="4160520" cy="585216"/>
          </a:xfrm>
          <a:prstGeom prst="roundRect">
            <a:avLst>
              <a:gd name="adj" fmla="val 12500"/>
            </a:avLst>
          </a:prstGeom>
          <a:solidFill>
            <a:srgbClr val="F5F8FC"/>
          </a:solidFill>
          <a:ln w="12700">
            <a:solidFill>
              <a:srgbClr val="D9E0EC"/>
            </a:solidFill>
            <a:prstDash val="solid"/>
          </a:ln>
        </p:spPr>
        <p:txBody>
          <a:bodyPr/>
          <a:lstStyle/>
          <a:p>
            <a:endParaRPr lang="ko-KR" altLang="en-US"/>
          </a:p>
        </p:txBody>
      </p:sp>
      <p:sp>
        <p:nvSpPr>
          <p:cNvPr id="10" name="Text 7"/>
          <p:cNvSpPr txBox="1"/>
          <p:nvPr/>
        </p:nvSpPr>
        <p:spPr>
          <a:xfrm>
            <a:off x="509321" y="2852928"/>
            <a:ext cx="4160520" cy="585216"/>
          </a:xfrm>
          <a:prstGeom prst="rect">
            <a:avLst/>
          </a:prstGeom>
          <a:noFill/>
          <a:ln/>
        </p:spPr>
        <p:txBody>
          <a:bodyPr wrap="square" lIns="127000" tIns="38100" rIns="127000" bIns="38100" rtlCol="0" anchor="ctr"/>
          <a:lstStyle/>
          <a:p>
            <a:pPr marL="0" indent="0" algn="l">
              <a:spcAft>
                <a:spcPts val="100"/>
              </a:spcAft>
              <a:buNone/>
            </a:pPr>
            <a:r>
              <a:rPr lang="en-US" sz="1500" b="1" dirty="0">
                <a:solidFill>
                  <a:srgbClr val="2B3242"/>
                </a:solidFill>
                <a:latin typeface="Pretendard" pitchFamily="34" charset="0"/>
                <a:ea typeface="Pretendard" pitchFamily="34" charset="-122"/>
                <a:cs typeface="Pretendard" pitchFamily="34" charset="-120"/>
              </a:rPr>
              <a:t>② </a:t>
            </a:r>
            <a:r>
              <a:rPr lang="en-US" sz="1500" b="1" dirty="0" err="1">
                <a:solidFill>
                  <a:srgbClr val="2B3242"/>
                </a:solidFill>
                <a:latin typeface="Pretendard" pitchFamily="34" charset="0"/>
                <a:ea typeface="Pretendard" pitchFamily="34" charset="-122"/>
                <a:cs typeface="Pretendard" pitchFamily="34" charset="-120"/>
              </a:rPr>
              <a:t>메타데이터</a:t>
            </a:r>
            <a:endParaRPr lang="en-US" sz="1500" dirty="0"/>
          </a:p>
          <a:p>
            <a:pPr marL="0" indent="0" algn="l">
              <a:spcAft>
                <a:spcPts val="100"/>
              </a:spcAft>
              <a:buNone/>
            </a:pPr>
            <a:r>
              <a:rPr lang="ko-KR" altLang="en-US" sz="1400" dirty="0">
                <a:solidFill>
                  <a:srgbClr val="2B3242"/>
                </a:solidFill>
                <a:latin typeface="Pretendard" pitchFamily="34" charset="0"/>
                <a:ea typeface="Pretendard" pitchFamily="34" charset="-122"/>
                <a:cs typeface="Pretendard" pitchFamily="34" charset="-120"/>
              </a:rPr>
              <a:t>예</a:t>
            </a:r>
            <a:r>
              <a:rPr lang="en-US" altLang="ko-KR" sz="1400" dirty="0">
                <a:solidFill>
                  <a:srgbClr val="2B3242"/>
                </a:solidFill>
                <a:latin typeface="Pretendard" pitchFamily="34" charset="0"/>
                <a:ea typeface="Pretendard" pitchFamily="34" charset="-122"/>
                <a:cs typeface="Pretendard" pitchFamily="34" charset="-120"/>
              </a:rPr>
              <a:t>: </a:t>
            </a:r>
            <a:r>
              <a:rPr lang="en-US" sz="1400" dirty="0" err="1">
                <a:solidFill>
                  <a:srgbClr val="2B3242"/>
                </a:solidFill>
                <a:latin typeface="Pretendard" pitchFamily="34" charset="0"/>
                <a:ea typeface="Pretendard" pitchFamily="34" charset="-122"/>
                <a:cs typeface="Pretendard" pitchFamily="34" charset="-120"/>
              </a:rPr>
              <a:t>record_id</a:t>
            </a:r>
            <a:r>
              <a:rPr lang="en-US" sz="1400" dirty="0">
                <a:solidFill>
                  <a:srgbClr val="2B3242"/>
                </a:solidFill>
                <a:latin typeface="Pretendard" pitchFamily="34" charset="0"/>
                <a:ea typeface="Pretendard" pitchFamily="34" charset="-122"/>
                <a:cs typeface="Pretendard" pitchFamily="34" charset="-120"/>
              </a:rPr>
              <a:t>, 상담일, 채널, 주제, 가명 회원 키</a:t>
            </a:r>
            <a:endParaRPr lang="en-US" sz="1500" dirty="0"/>
          </a:p>
        </p:txBody>
      </p:sp>
      <p:sp>
        <p:nvSpPr>
          <p:cNvPr id="11" name="Shape 8"/>
          <p:cNvSpPr/>
          <p:nvPr/>
        </p:nvSpPr>
        <p:spPr>
          <a:xfrm>
            <a:off x="509321" y="3511296"/>
            <a:ext cx="4160520" cy="585216"/>
          </a:xfrm>
          <a:prstGeom prst="roundRect">
            <a:avLst>
              <a:gd name="adj" fmla="val 12500"/>
            </a:avLst>
          </a:prstGeom>
          <a:solidFill>
            <a:srgbClr val="F5F8FC"/>
          </a:solidFill>
          <a:ln w="12700">
            <a:solidFill>
              <a:srgbClr val="D9E0EC"/>
            </a:solidFill>
            <a:prstDash val="solid"/>
          </a:ln>
        </p:spPr>
        <p:txBody>
          <a:bodyPr/>
          <a:lstStyle/>
          <a:p>
            <a:endParaRPr lang="ko-KR" altLang="en-US"/>
          </a:p>
        </p:txBody>
      </p:sp>
      <p:sp>
        <p:nvSpPr>
          <p:cNvPr id="12" name="Text 9"/>
          <p:cNvSpPr txBox="1"/>
          <p:nvPr/>
        </p:nvSpPr>
        <p:spPr>
          <a:xfrm>
            <a:off x="509321" y="3511296"/>
            <a:ext cx="4160520" cy="585216"/>
          </a:xfrm>
          <a:prstGeom prst="rect">
            <a:avLst/>
          </a:prstGeom>
          <a:noFill/>
          <a:ln/>
        </p:spPr>
        <p:txBody>
          <a:bodyPr wrap="square" lIns="127000" tIns="38100" rIns="127000" bIns="38100" rtlCol="0" anchor="ctr"/>
          <a:lstStyle/>
          <a:p>
            <a:pPr marL="0" indent="0" algn="l">
              <a:spcAft>
                <a:spcPts val="100"/>
              </a:spcAft>
              <a:buNone/>
            </a:pPr>
            <a:r>
              <a:rPr lang="en-US" sz="1500" b="1" dirty="0">
                <a:solidFill>
                  <a:srgbClr val="2B3242"/>
                </a:solidFill>
                <a:latin typeface="Pretendard" pitchFamily="34" charset="0"/>
                <a:ea typeface="Pretendard" pitchFamily="34" charset="-122"/>
                <a:cs typeface="Pretendard" pitchFamily="34" charset="-120"/>
              </a:rPr>
              <a:t>③ 추출 단위 본문</a:t>
            </a:r>
            <a:endParaRPr lang="en-US" sz="1500" dirty="0"/>
          </a:p>
          <a:p>
            <a:pPr marL="0" indent="0" algn="l">
              <a:spcAft>
                <a:spcPts val="100"/>
              </a:spcAft>
              <a:buNone/>
            </a:pPr>
            <a:r>
              <a:rPr lang="ko-KR" altLang="en-US" sz="1400" dirty="0">
                <a:solidFill>
                  <a:srgbClr val="2B3242"/>
                </a:solidFill>
                <a:latin typeface="Pretendard" pitchFamily="34" charset="0"/>
                <a:ea typeface="Pretendard" pitchFamily="34" charset="-122"/>
                <a:cs typeface="Pretendard" pitchFamily="34" charset="-120"/>
              </a:rPr>
              <a:t>예</a:t>
            </a:r>
            <a:r>
              <a:rPr lang="en-US" altLang="ko-KR" sz="1400" dirty="0">
                <a:solidFill>
                  <a:srgbClr val="2B3242"/>
                </a:solidFill>
                <a:latin typeface="Pretendard" pitchFamily="34" charset="0"/>
                <a:ea typeface="Pretendard" pitchFamily="34" charset="-122"/>
                <a:cs typeface="Pretendard" pitchFamily="34" charset="-120"/>
              </a:rPr>
              <a:t>: </a:t>
            </a:r>
            <a:r>
              <a:rPr lang="ko-KR" altLang="en-US" sz="1400" dirty="0">
                <a:solidFill>
                  <a:srgbClr val="2B3242"/>
                </a:solidFill>
                <a:latin typeface="Pretendard" pitchFamily="34" charset="0"/>
                <a:ea typeface="Pretendard" pitchFamily="34" charset="-122"/>
                <a:cs typeface="Pretendard" pitchFamily="34" charset="-120"/>
              </a:rPr>
              <a:t>조항 </a:t>
            </a:r>
            <a:r>
              <a:rPr lang="en-US" altLang="ko-KR" sz="1400" dirty="0">
                <a:solidFill>
                  <a:srgbClr val="2B3242"/>
                </a:solidFill>
                <a:latin typeface="Pretendard" pitchFamily="34" charset="0"/>
                <a:ea typeface="Pretendard" pitchFamily="34" charset="-122"/>
                <a:cs typeface="Pretendard" pitchFamily="34" charset="-120"/>
              </a:rPr>
              <a:t>1</a:t>
            </a:r>
            <a:r>
              <a:rPr lang="ko-KR" altLang="en-US" sz="1400" dirty="0">
                <a:solidFill>
                  <a:srgbClr val="2B3242"/>
                </a:solidFill>
                <a:latin typeface="Pretendard" pitchFamily="34" charset="0"/>
                <a:ea typeface="Pretendard" pitchFamily="34" charset="-122"/>
                <a:cs typeface="Pretendard" pitchFamily="34" charset="-120"/>
              </a:rPr>
              <a:t>건</a:t>
            </a:r>
            <a:r>
              <a:rPr lang="en-US" altLang="ko-KR" sz="1400" dirty="0">
                <a:solidFill>
                  <a:srgbClr val="2B3242"/>
                </a:solidFill>
                <a:latin typeface="Pretendard" pitchFamily="34" charset="0"/>
                <a:ea typeface="Pretendard" pitchFamily="34" charset="-122"/>
                <a:cs typeface="Pretendard" pitchFamily="34" charset="-120"/>
              </a:rPr>
              <a:t>, </a:t>
            </a:r>
            <a:r>
              <a:rPr lang="en-US" sz="1400" dirty="0" err="1">
                <a:solidFill>
                  <a:srgbClr val="2B3242"/>
                </a:solidFill>
                <a:latin typeface="Pretendard" pitchFamily="34" charset="0"/>
                <a:ea typeface="Pretendard" pitchFamily="34" charset="-122"/>
                <a:cs typeface="Pretendard" pitchFamily="34" charset="-120"/>
              </a:rPr>
              <a:t>상담</a:t>
            </a:r>
            <a:r>
              <a:rPr lang="en-US" sz="1400" dirty="0">
                <a:solidFill>
                  <a:srgbClr val="2B3242"/>
                </a:solidFill>
                <a:latin typeface="Pretendard" pitchFamily="34" charset="0"/>
                <a:ea typeface="Pretendard" pitchFamily="34" charset="-122"/>
                <a:cs typeface="Pretendard" pitchFamily="34" charset="-120"/>
              </a:rPr>
              <a:t> 1건</a:t>
            </a:r>
            <a:endParaRPr lang="en-US" sz="1500" dirty="0"/>
          </a:p>
        </p:txBody>
      </p:sp>
      <p:sp>
        <p:nvSpPr>
          <p:cNvPr id="13" name="Shape 10"/>
          <p:cNvSpPr/>
          <p:nvPr/>
        </p:nvSpPr>
        <p:spPr>
          <a:xfrm>
            <a:off x="509321" y="4169664"/>
            <a:ext cx="4160520" cy="585216"/>
          </a:xfrm>
          <a:prstGeom prst="roundRect">
            <a:avLst>
              <a:gd name="adj" fmla="val 12500"/>
            </a:avLst>
          </a:prstGeom>
          <a:solidFill>
            <a:srgbClr val="F5F8FC"/>
          </a:solidFill>
          <a:ln w="12700">
            <a:solidFill>
              <a:srgbClr val="D9E0EC"/>
            </a:solidFill>
            <a:prstDash val="solid"/>
          </a:ln>
        </p:spPr>
        <p:txBody>
          <a:bodyPr/>
          <a:lstStyle/>
          <a:p>
            <a:endParaRPr lang="ko-KR" altLang="en-US"/>
          </a:p>
        </p:txBody>
      </p:sp>
      <p:sp>
        <p:nvSpPr>
          <p:cNvPr id="14" name="Text 11"/>
          <p:cNvSpPr txBox="1"/>
          <p:nvPr/>
        </p:nvSpPr>
        <p:spPr>
          <a:xfrm>
            <a:off x="509321" y="4169664"/>
            <a:ext cx="4160520" cy="585216"/>
          </a:xfrm>
          <a:prstGeom prst="rect">
            <a:avLst/>
          </a:prstGeom>
          <a:noFill/>
          <a:ln/>
        </p:spPr>
        <p:txBody>
          <a:bodyPr wrap="square" lIns="127000" tIns="38100" rIns="127000" bIns="38100" rtlCol="0" anchor="ctr"/>
          <a:lstStyle/>
          <a:p>
            <a:pPr marL="0" indent="0" algn="l">
              <a:spcAft>
                <a:spcPts val="100"/>
              </a:spcAft>
              <a:buNone/>
            </a:pPr>
            <a:r>
              <a:rPr lang="en-US" sz="1500" b="1" dirty="0">
                <a:solidFill>
                  <a:srgbClr val="2B3242"/>
                </a:solidFill>
                <a:latin typeface="Pretendard" pitchFamily="34" charset="0"/>
                <a:ea typeface="Pretendard" pitchFamily="34" charset="-122"/>
                <a:cs typeface="Pretendard" pitchFamily="34" charset="-120"/>
              </a:rPr>
              <a:t>④ </a:t>
            </a:r>
            <a:r>
              <a:rPr lang="en-US" sz="1500" b="1" dirty="0" err="1">
                <a:solidFill>
                  <a:srgbClr val="2B3242"/>
                </a:solidFill>
                <a:latin typeface="Pretendard" pitchFamily="34" charset="0"/>
                <a:ea typeface="Pretendard" pitchFamily="34" charset="-122"/>
                <a:cs typeface="Pretendard" pitchFamily="34" charset="-120"/>
              </a:rPr>
              <a:t>추출</a:t>
            </a:r>
            <a:r>
              <a:rPr lang="en-US" sz="1500" b="1" dirty="0">
                <a:solidFill>
                  <a:srgbClr val="2B3242"/>
                </a:solidFill>
                <a:latin typeface="Pretendard" pitchFamily="34" charset="0"/>
                <a:ea typeface="Pretendard" pitchFamily="34" charset="-122"/>
                <a:cs typeface="Pretendard" pitchFamily="34" charset="-120"/>
              </a:rPr>
              <a:t> </a:t>
            </a:r>
            <a:r>
              <a:rPr lang="en-US" sz="1500" b="1" dirty="0" err="1">
                <a:solidFill>
                  <a:srgbClr val="2B3242"/>
                </a:solidFill>
                <a:latin typeface="Pretendard" pitchFamily="34" charset="0"/>
                <a:ea typeface="Pretendard" pitchFamily="34" charset="-122"/>
                <a:cs typeface="Pretendard" pitchFamily="34" charset="-120"/>
              </a:rPr>
              <a:t>지시</a:t>
            </a:r>
            <a:endParaRPr lang="en-US" sz="1500" dirty="0"/>
          </a:p>
          <a:p>
            <a:pPr marL="0" indent="0" algn="l">
              <a:spcAft>
                <a:spcPts val="100"/>
              </a:spcAft>
              <a:buNone/>
            </a:pPr>
            <a:r>
              <a:rPr lang="en-US" sz="1400" dirty="0">
                <a:solidFill>
                  <a:srgbClr val="2B3242"/>
                </a:solidFill>
                <a:latin typeface="Pretendard" pitchFamily="34" charset="0"/>
                <a:ea typeface="Pretendard" pitchFamily="34" charset="-122"/>
                <a:cs typeface="Pretendard" pitchFamily="34" charset="-120"/>
              </a:rPr>
              <a:t>neo4j-graphrag</a:t>
            </a:r>
            <a:r>
              <a:rPr lang="ko-KR" altLang="en-US" sz="1400" dirty="0">
                <a:solidFill>
                  <a:srgbClr val="2B3242"/>
                </a:solidFill>
                <a:latin typeface="Pretendard" pitchFamily="34" charset="0"/>
                <a:ea typeface="Pretendard" pitchFamily="34" charset="-122"/>
                <a:cs typeface="Pretendard" pitchFamily="34" charset="-120"/>
              </a:rPr>
              <a:t>라이브러리의 프롬프트 그대로 사용</a:t>
            </a:r>
            <a:endParaRPr lang="en-US" sz="1500" dirty="0"/>
          </a:p>
        </p:txBody>
      </p:sp>
      <p:sp>
        <p:nvSpPr>
          <p:cNvPr id="15" name="Shape 12"/>
          <p:cNvSpPr/>
          <p:nvPr/>
        </p:nvSpPr>
        <p:spPr>
          <a:xfrm>
            <a:off x="4989881" y="2514600"/>
            <a:ext cx="1600200" cy="1828800"/>
          </a:xfrm>
          <a:prstGeom prst="roundRect">
            <a:avLst>
              <a:gd name="adj" fmla="val 4571"/>
            </a:avLst>
          </a:prstGeom>
          <a:solidFill>
            <a:srgbClr val="1E2A5C"/>
          </a:solidFill>
          <a:ln/>
        </p:spPr>
        <p:txBody>
          <a:bodyPr/>
          <a:lstStyle/>
          <a:p>
            <a:endParaRPr lang="ko-KR" altLang="en-US"/>
          </a:p>
        </p:txBody>
      </p:sp>
      <p:sp>
        <p:nvSpPr>
          <p:cNvPr id="16" name="Text 13"/>
          <p:cNvSpPr txBox="1"/>
          <p:nvPr/>
        </p:nvSpPr>
        <p:spPr>
          <a:xfrm>
            <a:off x="4989881" y="2514600"/>
            <a:ext cx="1600200" cy="1828800"/>
          </a:xfrm>
          <a:prstGeom prst="rect">
            <a:avLst/>
          </a:prstGeom>
          <a:noFill/>
          <a:ln/>
        </p:spPr>
        <p:txBody>
          <a:bodyPr wrap="square" lIns="635" tIns="635" rIns="635" bIns="635" rtlCol="0" anchor="ctr"/>
          <a:lstStyle/>
          <a:p>
            <a:pPr marL="0" indent="0" algn="ctr">
              <a:spcAft>
                <a:spcPts val="100"/>
              </a:spcAft>
              <a:buNone/>
            </a:pPr>
            <a:r>
              <a:rPr lang="en-US" sz="2000" b="1" dirty="0">
                <a:solidFill>
                  <a:srgbClr val="FFFFFF"/>
                </a:solidFill>
                <a:latin typeface="Pretendard" pitchFamily="34" charset="0"/>
                <a:ea typeface="Pretendard" pitchFamily="34" charset="-122"/>
                <a:cs typeface="Pretendard" pitchFamily="34" charset="-120"/>
              </a:rPr>
              <a:t>LLM</a:t>
            </a:r>
            <a:endParaRPr lang="en-US" sz="2000" dirty="0"/>
          </a:p>
          <a:p>
            <a:pPr marL="0" indent="0" algn="ctr">
              <a:spcAft>
                <a:spcPts val="100"/>
              </a:spcAft>
              <a:buNone/>
            </a:pPr>
            <a:r>
              <a:rPr lang="en-US" sz="1400" dirty="0">
                <a:solidFill>
                  <a:srgbClr val="FFFFFF"/>
                </a:solidFill>
                <a:latin typeface="Pretendard" pitchFamily="34" charset="0"/>
                <a:ea typeface="Pretendard" pitchFamily="34" charset="-122"/>
                <a:cs typeface="Pretendard" pitchFamily="34" charset="-120"/>
              </a:rPr>
              <a:t>gpt-oss-120b</a:t>
            </a:r>
            <a:endParaRPr lang="en-US" sz="2000" dirty="0"/>
          </a:p>
          <a:p>
            <a:pPr marL="0" indent="0" algn="ctr">
              <a:spcAft>
                <a:spcPts val="100"/>
              </a:spcAft>
              <a:buNone/>
            </a:pPr>
            <a:r>
              <a:rPr lang="en-US" sz="1400" dirty="0">
                <a:solidFill>
                  <a:srgbClr val="FFFFFF"/>
                </a:solidFill>
                <a:latin typeface="Pretendard" pitchFamily="34" charset="0"/>
                <a:ea typeface="Pretendard" pitchFamily="34" charset="-122"/>
                <a:cs typeface="Pretendard" pitchFamily="34" charset="-120"/>
              </a:rPr>
              <a:t>(Groq)</a:t>
            </a:r>
            <a:endParaRPr lang="en-US" sz="2000" dirty="0"/>
          </a:p>
          <a:p>
            <a:pPr marL="0" indent="0" algn="ctr">
              <a:spcAft>
                <a:spcPts val="100"/>
              </a:spcAft>
              <a:buNone/>
            </a:pPr>
            <a:r>
              <a:rPr lang="en-US" sz="1400" dirty="0">
                <a:solidFill>
                  <a:srgbClr val="FFFFFF"/>
                </a:solidFill>
                <a:latin typeface="Pretendard" pitchFamily="34" charset="0"/>
                <a:ea typeface="Pretendard" pitchFamily="34" charset="-122"/>
                <a:cs typeface="Pretendard" pitchFamily="34" charset="-120"/>
              </a:rPr>
              <a:t>단위 하나에 1번</a:t>
            </a:r>
            <a:endParaRPr lang="en-US" sz="2000" dirty="0"/>
          </a:p>
        </p:txBody>
      </p:sp>
      <p:sp>
        <p:nvSpPr>
          <p:cNvPr id="17" name="Shape 14"/>
          <p:cNvSpPr/>
          <p:nvPr/>
        </p:nvSpPr>
        <p:spPr>
          <a:xfrm>
            <a:off x="4706417" y="3429000"/>
            <a:ext cx="246888" cy="0"/>
          </a:xfrm>
          <a:prstGeom prst="line">
            <a:avLst/>
          </a:prstGeom>
          <a:noFill/>
          <a:ln w="31750">
            <a:solidFill>
              <a:srgbClr val="1E2A5C"/>
            </a:solidFill>
            <a:prstDash val="solid"/>
            <a:tailEnd type="triangle"/>
          </a:ln>
        </p:spPr>
        <p:txBody>
          <a:bodyPr/>
          <a:lstStyle/>
          <a:p>
            <a:endParaRPr lang="ko-KR" altLang="en-US"/>
          </a:p>
        </p:txBody>
      </p:sp>
      <p:sp>
        <p:nvSpPr>
          <p:cNvPr id="18" name="Shape 15"/>
          <p:cNvSpPr/>
          <p:nvPr/>
        </p:nvSpPr>
        <p:spPr>
          <a:xfrm>
            <a:off x="6626657" y="3429000"/>
            <a:ext cx="246888" cy="0"/>
          </a:xfrm>
          <a:prstGeom prst="line">
            <a:avLst/>
          </a:prstGeom>
          <a:noFill/>
          <a:ln w="31750">
            <a:solidFill>
              <a:srgbClr val="1E2A5C"/>
            </a:solidFill>
            <a:prstDash val="solid"/>
            <a:tailEnd type="triangle"/>
          </a:ln>
        </p:spPr>
        <p:txBody>
          <a:bodyPr/>
          <a:lstStyle/>
          <a:p>
            <a:endParaRPr lang="ko-KR" altLang="en-US"/>
          </a:p>
        </p:txBody>
      </p:sp>
      <p:sp>
        <p:nvSpPr>
          <p:cNvPr id="19" name="Shape 16"/>
          <p:cNvSpPr/>
          <p:nvPr/>
        </p:nvSpPr>
        <p:spPr>
          <a:xfrm>
            <a:off x="6910121" y="1737360"/>
            <a:ext cx="7223760" cy="365760"/>
          </a:xfrm>
          <a:prstGeom prst="roundRect">
            <a:avLst>
              <a:gd name="adj" fmla="val 15000"/>
            </a:avLst>
          </a:prstGeom>
          <a:solidFill>
            <a:srgbClr val="2E74C6"/>
          </a:solidFill>
          <a:ln/>
        </p:spPr>
        <p:txBody>
          <a:bodyPr/>
          <a:lstStyle/>
          <a:p>
            <a:endParaRPr lang="ko-KR" altLang="en-US"/>
          </a:p>
        </p:txBody>
      </p:sp>
      <p:sp>
        <p:nvSpPr>
          <p:cNvPr id="20" name="Text 17"/>
          <p:cNvSpPr txBox="1"/>
          <p:nvPr/>
        </p:nvSpPr>
        <p:spPr>
          <a:xfrm>
            <a:off x="6910121" y="1737360"/>
            <a:ext cx="7223760" cy="365760"/>
          </a:xfrm>
          <a:prstGeom prst="rect">
            <a:avLst/>
          </a:prstGeom>
          <a:noFill/>
          <a:ln/>
        </p:spPr>
        <p:txBody>
          <a:bodyPr wrap="square" lIns="1016" tIns="1016" rIns="1016" bIns="1016" rtlCol="0" anchor="ctr"/>
          <a:lstStyle/>
          <a:p>
            <a:pPr marL="0" indent="0" algn="ctr">
              <a:buNone/>
            </a:pPr>
            <a:r>
              <a:rPr lang="en-US" sz="1600" b="1" dirty="0">
                <a:solidFill>
                  <a:srgbClr val="FFFFFF"/>
                </a:solidFill>
                <a:latin typeface="Pretendard" pitchFamily="34" charset="0"/>
                <a:ea typeface="Pretendard" pitchFamily="34" charset="-122"/>
                <a:cs typeface="Pretendard" pitchFamily="34" charset="-120"/>
              </a:rPr>
              <a:t>나온 그래프 (상담 C-20260501-003 </a:t>
            </a:r>
            <a:r>
              <a:rPr lang="ko-KR" altLang="en-US" sz="1600" b="1" dirty="0">
                <a:solidFill>
                  <a:srgbClr val="FFFFFF"/>
                </a:solidFill>
                <a:latin typeface="Pretendard" pitchFamily="34" charset="0"/>
                <a:ea typeface="Pretendard" pitchFamily="34" charset="-122"/>
                <a:cs typeface="Pretendard" pitchFamily="34" charset="-120"/>
              </a:rPr>
              <a:t>예시</a:t>
            </a: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21" name="Shape 18"/>
          <p:cNvSpPr/>
          <p:nvPr/>
        </p:nvSpPr>
        <p:spPr>
          <a:xfrm>
            <a:off x="6910121" y="2194560"/>
            <a:ext cx="2331720" cy="585216"/>
          </a:xfrm>
          <a:prstGeom prst="roundRect">
            <a:avLst>
              <a:gd name="adj" fmla="val 12500"/>
            </a:avLst>
          </a:prstGeom>
          <a:solidFill>
            <a:srgbClr val="FFFFFF"/>
          </a:solidFill>
          <a:ln w="12700">
            <a:solidFill>
              <a:srgbClr val="D9E0EC"/>
            </a:solidFill>
            <a:prstDash val="solid"/>
          </a:ln>
        </p:spPr>
        <p:txBody>
          <a:bodyPr/>
          <a:lstStyle/>
          <a:p>
            <a:endParaRPr lang="ko-KR" altLang="en-US"/>
          </a:p>
        </p:txBody>
      </p:sp>
      <p:sp>
        <p:nvSpPr>
          <p:cNvPr id="22" name="Text 19"/>
          <p:cNvSpPr txBox="1"/>
          <p:nvPr/>
        </p:nvSpPr>
        <p:spPr>
          <a:xfrm>
            <a:off x="6910121" y="2194560"/>
            <a:ext cx="2331720" cy="585216"/>
          </a:xfrm>
          <a:prstGeom prst="rect">
            <a:avLst/>
          </a:prstGeom>
          <a:noFill/>
          <a:ln/>
        </p:spPr>
        <p:txBody>
          <a:bodyPr wrap="square" lIns="635" tIns="635" rIns="635" bIns="635" rtlCol="0" anchor="ctr"/>
          <a:lstStyle/>
          <a:p>
            <a:pPr marL="0" indent="0" algn="ctr">
              <a:spcAft>
                <a:spcPts val="100"/>
              </a:spcAft>
              <a:buNone/>
            </a:pPr>
            <a:r>
              <a:rPr lang="en-US" sz="1400" b="1" dirty="0">
                <a:solidFill>
                  <a:srgbClr val="2B3242"/>
                </a:solidFill>
                <a:latin typeface="Pretendard" pitchFamily="34" charset="0"/>
                <a:ea typeface="Pretendard" pitchFamily="34" charset="-122"/>
                <a:cs typeface="Pretendard" pitchFamily="34" charset="-120"/>
              </a:rPr>
              <a:t>Consultation</a:t>
            </a:r>
            <a:endParaRPr lang="en-US" sz="1400" dirty="0"/>
          </a:p>
          <a:p>
            <a:pPr marL="0" indent="0" algn="ctr">
              <a:spcAft>
                <a:spcPts val="100"/>
              </a:spcAft>
              <a:buNone/>
            </a:pPr>
            <a:r>
              <a:rPr lang="en-US" sz="1400" dirty="0">
                <a:solidFill>
                  <a:srgbClr val="2B3242"/>
                </a:solidFill>
                <a:latin typeface="Pretendard" pitchFamily="34" charset="0"/>
                <a:ea typeface="Pretendard" pitchFamily="34" charset="-122"/>
                <a:cs typeface="Pretendard" pitchFamily="34" charset="-120"/>
              </a:rPr>
              <a:t>C-20260501-003, 콜센터</a:t>
            </a:r>
            <a:endParaRPr lang="en-US" sz="1400" dirty="0"/>
          </a:p>
        </p:txBody>
      </p:sp>
      <p:sp>
        <p:nvSpPr>
          <p:cNvPr id="23" name="Shape 20"/>
          <p:cNvSpPr/>
          <p:nvPr/>
        </p:nvSpPr>
        <p:spPr>
          <a:xfrm>
            <a:off x="9269273" y="2487168"/>
            <a:ext cx="82296" cy="0"/>
          </a:xfrm>
          <a:prstGeom prst="line">
            <a:avLst/>
          </a:prstGeom>
          <a:noFill/>
          <a:ln w="19050">
            <a:solidFill>
              <a:srgbClr val="4A5364"/>
            </a:solidFill>
            <a:prstDash val="solid"/>
            <a:tailEnd type="triangle"/>
          </a:ln>
        </p:spPr>
        <p:txBody>
          <a:bodyPr/>
          <a:lstStyle/>
          <a:p>
            <a:endParaRPr lang="ko-KR" altLang="en-US"/>
          </a:p>
        </p:txBody>
      </p:sp>
      <p:sp>
        <p:nvSpPr>
          <p:cNvPr id="24" name="Shape 21"/>
          <p:cNvSpPr/>
          <p:nvPr/>
        </p:nvSpPr>
        <p:spPr>
          <a:xfrm>
            <a:off x="9379001" y="2304288"/>
            <a:ext cx="1874520" cy="365760"/>
          </a:xfrm>
          <a:prstGeom prst="roundRect">
            <a:avLst>
              <a:gd name="adj" fmla="val 45000"/>
            </a:avLst>
          </a:prstGeom>
          <a:solidFill>
            <a:srgbClr val="EEF3FA"/>
          </a:solidFill>
          <a:ln w="12700">
            <a:solidFill>
              <a:srgbClr val="C3CEE0"/>
            </a:solidFill>
            <a:prstDash val="solid"/>
          </a:ln>
        </p:spPr>
        <p:txBody>
          <a:bodyPr/>
          <a:lstStyle/>
          <a:p>
            <a:endParaRPr lang="ko-KR" altLang="en-US"/>
          </a:p>
        </p:txBody>
      </p:sp>
      <p:sp>
        <p:nvSpPr>
          <p:cNvPr id="25" name="Text 22"/>
          <p:cNvSpPr txBox="1"/>
          <p:nvPr/>
        </p:nvSpPr>
        <p:spPr>
          <a:xfrm>
            <a:off x="9379001" y="2304288"/>
            <a:ext cx="1874520" cy="365760"/>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HAS_PROPOSAL</a:t>
            </a:r>
            <a:endParaRPr lang="en-US" sz="1400" dirty="0"/>
          </a:p>
        </p:txBody>
      </p:sp>
      <p:sp>
        <p:nvSpPr>
          <p:cNvPr id="26" name="Shape 23"/>
          <p:cNvSpPr/>
          <p:nvPr/>
        </p:nvSpPr>
        <p:spPr>
          <a:xfrm>
            <a:off x="11271809" y="2487168"/>
            <a:ext cx="91440" cy="0"/>
          </a:xfrm>
          <a:prstGeom prst="line">
            <a:avLst/>
          </a:prstGeom>
          <a:noFill/>
          <a:ln w="19050">
            <a:solidFill>
              <a:srgbClr val="4A5364"/>
            </a:solidFill>
            <a:prstDash val="solid"/>
            <a:tailEnd type="triangle"/>
          </a:ln>
        </p:spPr>
        <p:txBody>
          <a:bodyPr/>
          <a:lstStyle/>
          <a:p>
            <a:endParaRPr lang="ko-KR" altLang="en-US"/>
          </a:p>
        </p:txBody>
      </p:sp>
      <p:sp>
        <p:nvSpPr>
          <p:cNvPr id="27" name="Shape 24"/>
          <p:cNvSpPr/>
          <p:nvPr/>
        </p:nvSpPr>
        <p:spPr>
          <a:xfrm>
            <a:off x="11390681" y="2194560"/>
            <a:ext cx="2743200" cy="585216"/>
          </a:xfrm>
          <a:prstGeom prst="roundRect">
            <a:avLst>
              <a:gd name="adj" fmla="val 12500"/>
            </a:avLst>
          </a:prstGeom>
          <a:solidFill>
            <a:srgbClr val="EEF3FA"/>
          </a:solidFill>
          <a:ln w="12700">
            <a:solidFill>
              <a:srgbClr val="2E74C6"/>
            </a:solidFill>
            <a:prstDash val="solid"/>
          </a:ln>
        </p:spPr>
        <p:txBody>
          <a:bodyPr/>
          <a:lstStyle/>
          <a:p>
            <a:endParaRPr lang="ko-KR" altLang="en-US"/>
          </a:p>
        </p:txBody>
      </p:sp>
      <p:sp>
        <p:nvSpPr>
          <p:cNvPr id="28" name="Text 25"/>
          <p:cNvSpPr txBox="1"/>
          <p:nvPr/>
        </p:nvSpPr>
        <p:spPr>
          <a:xfrm>
            <a:off x="11390681" y="2194560"/>
            <a:ext cx="2743200" cy="585216"/>
          </a:xfrm>
          <a:prstGeom prst="rect">
            <a:avLst/>
          </a:prstGeom>
          <a:noFill/>
          <a:ln/>
        </p:spPr>
        <p:txBody>
          <a:bodyPr wrap="square" lIns="635" tIns="635" rIns="635" bIns="635" rtlCol="0" anchor="ctr"/>
          <a:lstStyle/>
          <a:p>
            <a:pPr marL="0" indent="0" algn="ctr">
              <a:spcAft>
                <a:spcPts val="100"/>
              </a:spcAft>
              <a:buNone/>
            </a:pPr>
            <a:r>
              <a:rPr lang="en-US" sz="1400" b="1" dirty="0">
                <a:solidFill>
                  <a:srgbClr val="1E2A5C"/>
                </a:solidFill>
                <a:latin typeface="Pretendard" pitchFamily="34" charset="0"/>
                <a:ea typeface="Pretendard" pitchFamily="34" charset="-122"/>
                <a:cs typeface="Pretendard" pitchFamily="34" charset="-120"/>
              </a:rPr>
              <a:t>Proposal</a:t>
            </a:r>
            <a:endParaRPr lang="en-US" sz="1400" dirty="0"/>
          </a:p>
          <a:p>
            <a:pPr marL="0" indent="0" algn="ctr">
              <a:spcAft>
                <a:spcPts val="100"/>
              </a:spcAft>
              <a:buNone/>
            </a:pPr>
            <a:r>
              <a:rPr lang="en-US" sz="1400" dirty="0">
                <a:solidFill>
                  <a:srgbClr val="1E2A5C"/>
                </a:solidFill>
                <a:latin typeface="Pretendard" pitchFamily="34" charset="0"/>
                <a:ea typeface="Pretendard" pitchFamily="34" charset="-122"/>
                <a:cs typeface="Pretendard" pitchFamily="34" charset="-120"/>
              </a:rPr>
              <a:t>종이 영수증 대조 (거절)</a:t>
            </a:r>
            <a:endParaRPr lang="en-US" sz="1400" dirty="0"/>
          </a:p>
        </p:txBody>
      </p:sp>
      <p:sp>
        <p:nvSpPr>
          <p:cNvPr id="29" name="Shape 26"/>
          <p:cNvSpPr/>
          <p:nvPr/>
        </p:nvSpPr>
        <p:spPr>
          <a:xfrm>
            <a:off x="6910121" y="2852928"/>
            <a:ext cx="2331720" cy="585216"/>
          </a:xfrm>
          <a:prstGeom prst="roundRect">
            <a:avLst>
              <a:gd name="adj" fmla="val 12500"/>
            </a:avLst>
          </a:prstGeom>
          <a:solidFill>
            <a:srgbClr val="FFFFFF"/>
          </a:solidFill>
          <a:ln w="12700">
            <a:solidFill>
              <a:srgbClr val="D9E0EC"/>
            </a:solidFill>
            <a:prstDash val="solid"/>
          </a:ln>
        </p:spPr>
        <p:txBody>
          <a:bodyPr/>
          <a:lstStyle/>
          <a:p>
            <a:endParaRPr lang="ko-KR" altLang="en-US"/>
          </a:p>
        </p:txBody>
      </p:sp>
      <p:sp>
        <p:nvSpPr>
          <p:cNvPr id="30" name="Text 27"/>
          <p:cNvSpPr txBox="1"/>
          <p:nvPr/>
        </p:nvSpPr>
        <p:spPr>
          <a:xfrm>
            <a:off x="6910121" y="2852928"/>
            <a:ext cx="2331720" cy="585216"/>
          </a:xfrm>
          <a:prstGeom prst="rect">
            <a:avLst/>
          </a:prstGeom>
          <a:noFill/>
          <a:ln/>
        </p:spPr>
        <p:txBody>
          <a:bodyPr wrap="square" lIns="635" tIns="635" rIns="635" bIns="635" rtlCol="0" anchor="ctr"/>
          <a:lstStyle/>
          <a:p>
            <a:pPr marL="0" indent="0" algn="ctr">
              <a:spcAft>
                <a:spcPts val="100"/>
              </a:spcAft>
              <a:buNone/>
            </a:pPr>
            <a:r>
              <a:rPr lang="en-US" sz="1400" b="1" dirty="0">
                <a:solidFill>
                  <a:srgbClr val="2B3242"/>
                </a:solidFill>
                <a:latin typeface="Pretendard" pitchFamily="34" charset="0"/>
                <a:ea typeface="Pretendard" pitchFamily="34" charset="-122"/>
                <a:cs typeface="Pretendard" pitchFamily="34" charset="-120"/>
              </a:rPr>
              <a:t>Consultation</a:t>
            </a:r>
            <a:endParaRPr lang="en-US" sz="1400" dirty="0"/>
          </a:p>
          <a:p>
            <a:pPr marL="0" indent="0" algn="ctr">
              <a:spcAft>
                <a:spcPts val="100"/>
              </a:spcAft>
              <a:buNone/>
            </a:pPr>
            <a:r>
              <a:rPr lang="en-US" sz="1400" dirty="0">
                <a:solidFill>
                  <a:srgbClr val="2B3242"/>
                </a:solidFill>
                <a:latin typeface="Pretendard" pitchFamily="34" charset="0"/>
                <a:ea typeface="Pretendard" pitchFamily="34" charset="-122"/>
                <a:cs typeface="Pretendard" pitchFamily="34" charset="-120"/>
              </a:rPr>
              <a:t>C-20260501-003</a:t>
            </a:r>
            <a:endParaRPr lang="en-US" sz="1400" dirty="0"/>
          </a:p>
        </p:txBody>
      </p:sp>
      <p:sp>
        <p:nvSpPr>
          <p:cNvPr id="31" name="Shape 28"/>
          <p:cNvSpPr/>
          <p:nvPr/>
        </p:nvSpPr>
        <p:spPr>
          <a:xfrm>
            <a:off x="9269273" y="3145536"/>
            <a:ext cx="82296" cy="0"/>
          </a:xfrm>
          <a:prstGeom prst="line">
            <a:avLst/>
          </a:prstGeom>
          <a:noFill/>
          <a:ln w="19050">
            <a:solidFill>
              <a:srgbClr val="4A5364"/>
            </a:solidFill>
            <a:prstDash val="solid"/>
            <a:tailEnd type="triangle"/>
          </a:ln>
        </p:spPr>
        <p:txBody>
          <a:bodyPr/>
          <a:lstStyle/>
          <a:p>
            <a:endParaRPr lang="ko-KR" altLang="en-US"/>
          </a:p>
        </p:txBody>
      </p:sp>
      <p:sp>
        <p:nvSpPr>
          <p:cNvPr id="32" name="Shape 29"/>
          <p:cNvSpPr/>
          <p:nvPr/>
        </p:nvSpPr>
        <p:spPr>
          <a:xfrm>
            <a:off x="9379001" y="2962656"/>
            <a:ext cx="1874520" cy="365760"/>
          </a:xfrm>
          <a:prstGeom prst="roundRect">
            <a:avLst>
              <a:gd name="adj" fmla="val 45000"/>
            </a:avLst>
          </a:prstGeom>
          <a:solidFill>
            <a:srgbClr val="EEF3FA"/>
          </a:solidFill>
          <a:ln w="12700">
            <a:solidFill>
              <a:srgbClr val="C3CEE0"/>
            </a:solidFill>
            <a:prstDash val="solid"/>
          </a:ln>
        </p:spPr>
        <p:txBody>
          <a:bodyPr/>
          <a:lstStyle/>
          <a:p>
            <a:endParaRPr lang="ko-KR" altLang="en-US"/>
          </a:p>
        </p:txBody>
      </p:sp>
      <p:sp>
        <p:nvSpPr>
          <p:cNvPr id="33" name="Text 30"/>
          <p:cNvSpPr txBox="1"/>
          <p:nvPr/>
        </p:nvSpPr>
        <p:spPr>
          <a:xfrm>
            <a:off x="9379001" y="2962656"/>
            <a:ext cx="1874520" cy="365760"/>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HAS_PROPOSAL</a:t>
            </a:r>
            <a:endParaRPr lang="en-US" sz="1400" dirty="0"/>
          </a:p>
        </p:txBody>
      </p:sp>
      <p:sp>
        <p:nvSpPr>
          <p:cNvPr id="34" name="Shape 31"/>
          <p:cNvSpPr/>
          <p:nvPr/>
        </p:nvSpPr>
        <p:spPr>
          <a:xfrm>
            <a:off x="11271809" y="3145536"/>
            <a:ext cx="91440" cy="0"/>
          </a:xfrm>
          <a:prstGeom prst="line">
            <a:avLst/>
          </a:prstGeom>
          <a:noFill/>
          <a:ln w="19050">
            <a:solidFill>
              <a:srgbClr val="4A5364"/>
            </a:solidFill>
            <a:prstDash val="solid"/>
            <a:tailEnd type="triangle"/>
          </a:ln>
        </p:spPr>
        <p:txBody>
          <a:bodyPr/>
          <a:lstStyle/>
          <a:p>
            <a:endParaRPr lang="ko-KR" altLang="en-US"/>
          </a:p>
        </p:txBody>
      </p:sp>
      <p:sp>
        <p:nvSpPr>
          <p:cNvPr id="35" name="Shape 32"/>
          <p:cNvSpPr/>
          <p:nvPr/>
        </p:nvSpPr>
        <p:spPr>
          <a:xfrm>
            <a:off x="11390681" y="2852928"/>
            <a:ext cx="2743200" cy="585216"/>
          </a:xfrm>
          <a:prstGeom prst="roundRect">
            <a:avLst>
              <a:gd name="adj" fmla="val 12500"/>
            </a:avLst>
          </a:prstGeom>
          <a:solidFill>
            <a:srgbClr val="EEF3FA"/>
          </a:solidFill>
          <a:ln w="12700">
            <a:solidFill>
              <a:srgbClr val="2E74C6"/>
            </a:solidFill>
            <a:prstDash val="solid"/>
          </a:ln>
        </p:spPr>
        <p:txBody>
          <a:bodyPr/>
          <a:lstStyle/>
          <a:p>
            <a:endParaRPr lang="ko-KR" altLang="en-US"/>
          </a:p>
        </p:txBody>
      </p:sp>
      <p:sp>
        <p:nvSpPr>
          <p:cNvPr id="36" name="Text 33"/>
          <p:cNvSpPr txBox="1"/>
          <p:nvPr/>
        </p:nvSpPr>
        <p:spPr>
          <a:xfrm>
            <a:off x="11390681" y="2852928"/>
            <a:ext cx="2743200" cy="585216"/>
          </a:xfrm>
          <a:prstGeom prst="rect">
            <a:avLst/>
          </a:prstGeom>
          <a:noFill/>
          <a:ln/>
        </p:spPr>
        <p:txBody>
          <a:bodyPr wrap="square" lIns="635" tIns="635" rIns="635" bIns="635" rtlCol="0" anchor="ctr"/>
          <a:lstStyle/>
          <a:p>
            <a:pPr marL="0" indent="0" algn="ctr">
              <a:spcAft>
                <a:spcPts val="100"/>
              </a:spcAft>
              <a:buNone/>
            </a:pPr>
            <a:r>
              <a:rPr lang="en-US" sz="1400" b="1" dirty="0">
                <a:solidFill>
                  <a:srgbClr val="1E2A5C"/>
                </a:solidFill>
                <a:latin typeface="Pretendard" pitchFamily="34" charset="0"/>
                <a:ea typeface="Pretendard" pitchFamily="34" charset="-122"/>
                <a:cs typeface="Pretendard" pitchFamily="34" charset="-120"/>
              </a:rPr>
              <a:t>Proposal</a:t>
            </a:r>
            <a:endParaRPr lang="en-US" sz="1400" dirty="0"/>
          </a:p>
          <a:p>
            <a:pPr marL="0" indent="0" algn="ctr">
              <a:spcAft>
                <a:spcPts val="100"/>
              </a:spcAft>
              <a:buNone/>
            </a:pPr>
            <a:r>
              <a:rPr lang="en-US" sz="1400" dirty="0">
                <a:solidFill>
                  <a:srgbClr val="1E2A5C"/>
                </a:solidFill>
                <a:latin typeface="Pretendard" pitchFamily="34" charset="0"/>
                <a:ea typeface="Pretendard" pitchFamily="34" charset="-122"/>
                <a:cs typeface="Pretendard" pitchFamily="34" charset="-120"/>
              </a:rPr>
              <a:t>주문 내역 화면 대조 (수용)</a:t>
            </a:r>
            <a:endParaRPr lang="en-US" sz="1400" dirty="0"/>
          </a:p>
        </p:txBody>
      </p:sp>
      <p:sp>
        <p:nvSpPr>
          <p:cNvPr id="37" name="Shape 34"/>
          <p:cNvSpPr/>
          <p:nvPr/>
        </p:nvSpPr>
        <p:spPr>
          <a:xfrm>
            <a:off x="6910121" y="3511296"/>
            <a:ext cx="2331720" cy="585216"/>
          </a:xfrm>
          <a:prstGeom prst="roundRect">
            <a:avLst>
              <a:gd name="adj" fmla="val 12500"/>
            </a:avLst>
          </a:prstGeom>
          <a:solidFill>
            <a:srgbClr val="FFFFFF"/>
          </a:solidFill>
          <a:ln w="12700">
            <a:solidFill>
              <a:srgbClr val="D9E0EC"/>
            </a:solidFill>
            <a:prstDash val="solid"/>
          </a:ln>
        </p:spPr>
        <p:txBody>
          <a:bodyPr/>
          <a:lstStyle/>
          <a:p>
            <a:endParaRPr lang="ko-KR" altLang="en-US"/>
          </a:p>
        </p:txBody>
      </p:sp>
      <p:sp>
        <p:nvSpPr>
          <p:cNvPr id="38" name="Text 35"/>
          <p:cNvSpPr txBox="1"/>
          <p:nvPr/>
        </p:nvSpPr>
        <p:spPr>
          <a:xfrm>
            <a:off x="6910121" y="3511296"/>
            <a:ext cx="2331720" cy="585216"/>
          </a:xfrm>
          <a:prstGeom prst="rect">
            <a:avLst/>
          </a:prstGeom>
          <a:noFill/>
          <a:ln/>
        </p:spPr>
        <p:txBody>
          <a:bodyPr wrap="square" lIns="635" tIns="635" rIns="635" bIns="635" rtlCol="0" anchor="ctr"/>
          <a:lstStyle/>
          <a:p>
            <a:pPr marL="0" indent="0" algn="ctr">
              <a:spcAft>
                <a:spcPts val="100"/>
              </a:spcAft>
              <a:buNone/>
            </a:pPr>
            <a:r>
              <a:rPr lang="en-US" sz="1400" b="1" dirty="0">
                <a:solidFill>
                  <a:srgbClr val="2B3242"/>
                </a:solidFill>
                <a:latin typeface="Pretendard" pitchFamily="34" charset="0"/>
                <a:ea typeface="Pretendard" pitchFamily="34" charset="-122"/>
                <a:cs typeface="Pretendard" pitchFamily="34" charset="-120"/>
              </a:rPr>
              <a:t>Proposal</a:t>
            </a:r>
            <a:endParaRPr lang="en-US" sz="1400" dirty="0"/>
          </a:p>
          <a:p>
            <a:pPr marL="0" indent="0" algn="ctr">
              <a:spcAft>
                <a:spcPts val="100"/>
              </a:spcAft>
              <a:buNone/>
            </a:pPr>
            <a:r>
              <a:rPr lang="en-US" sz="1400" dirty="0">
                <a:solidFill>
                  <a:srgbClr val="2B3242"/>
                </a:solidFill>
                <a:latin typeface="Pretendard" pitchFamily="34" charset="0"/>
                <a:ea typeface="Pretendard" pitchFamily="34" charset="-122"/>
                <a:cs typeface="Pretendard" pitchFamily="34" charset="-120"/>
              </a:rPr>
              <a:t>주문 내역 화면 대조</a:t>
            </a:r>
            <a:endParaRPr lang="en-US" sz="1400" dirty="0"/>
          </a:p>
        </p:txBody>
      </p:sp>
      <p:sp>
        <p:nvSpPr>
          <p:cNvPr id="39" name="Shape 36"/>
          <p:cNvSpPr/>
          <p:nvPr/>
        </p:nvSpPr>
        <p:spPr>
          <a:xfrm>
            <a:off x="9269273" y="3803904"/>
            <a:ext cx="82296" cy="0"/>
          </a:xfrm>
          <a:prstGeom prst="line">
            <a:avLst/>
          </a:prstGeom>
          <a:noFill/>
          <a:ln w="19050">
            <a:solidFill>
              <a:srgbClr val="4A5364"/>
            </a:solidFill>
            <a:prstDash val="solid"/>
            <a:tailEnd type="triangle"/>
          </a:ln>
        </p:spPr>
        <p:txBody>
          <a:bodyPr/>
          <a:lstStyle/>
          <a:p>
            <a:endParaRPr lang="ko-KR" altLang="en-US"/>
          </a:p>
        </p:txBody>
      </p:sp>
      <p:sp>
        <p:nvSpPr>
          <p:cNvPr id="40" name="Shape 37"/>
          <p:cNvSpPr/>
          <p:nvPr/>
        </p:nvSpPr>
        <p:spPr>
          <a:xfrm>
            <a:off x="9379001" y="3621024"/>
            <a:ext cx="1874520" cy="365760"/>
          </a:xfrm>
          <a:prstGeom prst="roundRect">
            <a:avLst>
              <a:gd name="adj" fmla="val 45000"/>
            </a:avLst>
          </a:prstGeom>
          <a:solidFill>
            <a:srgbClr val="EEF3FA"/>
          </a:solidFill>
          <a:ln w="12700">
            <a:solidFill>
              <a:srgbClr val="C3CEE0"/>
            </a:solidFill>
            <a:prstDash val="solid"/>
          </a:ln>
        </p:spPr>
        <p:txBody>
          <a:bodyPr/>
          <a:lstStyle/>
          <a:p>
            <a:endParaRPr lang="ko-KR" altLang="en-US"/>
          </a:p>
        </p:txBody>
      </p:sp>
      <p:sp>
        <p:nvSpPr>
          <p:cNvPr id="41" name="Text 38"/>
          <p:cNvSpPr txBox="1"/>
          <p:nvPr/>
        </p:nvSpPr>
        <p:spPr>
          <a:xfrm>
            <a:off x="9379001" y="3621024"/>
            <a:ext cx="1874520" cy="365760"/>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RECONSIDER_WHEN</a:t>
            </a:r>
            <a:endParaRPr lang="en-US" sz="1400" dirty="0"/>
          </a:p>
        </p:txBody>
      </p:sp>
      <p:sp>
        <p:nvSpPr>
          <p:cNvPr id="42" name="Shape 39"/>
          <p:cNvSpPr/>
          <p:nvPr/>
        </p:nvSpPr>
        <p:spPr>
          <a:xfrm>
            <a:off x="11271809" y="3803904"/>
            <a:ext cx="91440" cy="0"/>
          </a:xfrm>
          <a:prstGeom prst="line">
            <a:avLst/>
          </a:prstGeom>
          <a:noFill/>
          <a:ln w="19050">
            <a:solidFill>
              <a:srgbClr val="4A5364"/>
            </a:solidFill>
            <a:prstDash val="solid"/>
            <a:tailEnd type="triangle"/>
          </a:ln>
        </p:spPr>
        <p:txBody>
          <a:bodyPr/>
          <a:lstStyle/>
          <a:p>
            <a:endParaRPr lang="ko-KR" altLang="en-US"/>
          </a:p>
        </p:txBody>
      </p:sp>
      <p:sp>
        <p:nvSpPr>
          <p:cNvPr id="43" name="Shape 40"/>
          <p:cNvSpPr/>
          <p:nvPr/>
        </p:nvSpPr>
        <p:spPr>
          <a:xfrm>
            <a:off x="11390681" y="3511296"/>
            <a:ext cx="2743200" cy="585216"/>
          </a:xfrm>
          <a:prstGeom prst="roundRect">
            <a:avLst>
              <a:gd name="adj" fmla="val 12500"/>
            </a:avLst>
          </a:prstGeom>
          <a:solidFill>
            <a:srgbClr val="EEF3FA"/>
          </a:solidFill>
          <a:ln w="12700">
            <a:solidFill>
              <a:srgbClr val="2E74C6"/>
            </a:solidFill>
            <a:prstDash val="solid"/>
          </a:ln>
        </p:spPr>
        <p:txBody>
          <a:bodyPr/>
          <a:lstStyle/>
          <a:p>
            <a:endParaRPr lang="ko-KR" altLang="en-US"/>
          </a:p>
        </p:txBody>
      </p:sp>
      <p:sp>
        <p:nvSpPr>
          <p:cNvPr id="44" name="Text 41"/>
          <p:cNvSpPr txBox="1"/>
          <p:nvPr/>
        </p:nvSpPr>
        <p:spPr>
          <a:xfrm>
            <a:off x="11390681" y="3511296"/>
            <a:ext cx="2743200" cy="585216"/>
          </a:xfrm>
          <a:prstGeom prst="rect">
            <a:avLst/>
          </a:prstGeom>
          <a:noFill/>
          <a:ln/>
        </p:spPr>
        <p:txBody>
          <a:bodyPr wrap="square" lIns="635" tIns="635" rIns="635" bIns="635" rtlCol="0" anchor="ctr"/>
          <a:lstStyle/>
          <a:p>
            <a:pPr marL="0" indent="0" algn="ctr">
              <a:spcAft>
                <a:spcPts val="100"/>
              </a:spcAft>
              <a:buNone/>
            </a:pPr>
            <a:r>
              <a:rPr lang="en-US" sz="1400" b="1" dirty="0">
                <a:solidFill>
                  <a:srgbClr val="1E2A5C"/>
                </a:solidFill>
                <a:latin typeface="Pretendard" pitchFamily="34" charset="0"/>
                <a:ea typeface="Pretendard" pitchFamily="34" charset="-122"/>
                <a:cs typeface="Pretendard" pitchFamily="34" charset="-120"/>
              </a:rPr>
              <a:t>ReconsiderCondition</a:t>
            </a:r>
            <a:endParaRPr lang="en-US" sz="1400" dirty="0"/>
          </a:p>
          <a:p>
            <a:pPr marL="0" indent="0" algn="ctr">
              <a:spcAft>
                <a:spcPts val="100"/>
              </a:spcAft>
              <a:buNone/>
            </a:pPr>
            <a:r>
              <a:rPr lang="en-US" sz="1400" dirty="0">
                <a:solidFill>
                  <a:srgbClr val="1E2A5C"/>
                </a:solidFill>
                <a:latin typeface="Pretendard" pitchFamily="34" charset="0"/>
                <a:ea typeface="Pretendard" pitchFamily="34" charset="-122"/>
                <a:cs typeface="Pretendard" pitchFamily="34" charset="-120"/>
              </a:rPr>
              <a:t>다음 명세서 나올 때 다시 문의</a:t>
            </a:r>
            <a:endParaRPr lang="en-US" sz="1400" dirty="0"/>
          </a:p>
        </p:txBody>
      </p:sp>
      <p:sp>
        <p:nvSpPr>
          <p:cNvPr id="45" name="Shape 42"/>
          <p:cNvSpPr/>
          <p:nvPr/>
        </p:nvSpPr>
        <p:spPr>
          <a:xfrm>
            <a:off x="6910121" y="4169664"/>
            <a:ext cx="2331720" cy="585216"/>
          </a:xfrm>
          <a:prstGeom prst="roundRect">
            <a:avLst>
              <a:gd name="adj" fmla="val 12500"/>
            </a:avLst>
          </a:prstGeom>
          <a:solidFill>
            <a:srgbClr val="FFFFFF"/>
          </a:solidFill>
          <a:ln w="12700">
            <a:solidFill>
              <a:srgbClr val="D9E0EC"/>
            </a:solidFill>
            <a:prstDash val="solid"/>
          </a:ln>
        </p:spPr>
        <p:txBody>
          <a:bodyPr/>
          <a:lstStyle/>
          <a:p>
            <a:endParaRPr lang="ko-KR" altLang="en-US"/>
          </a:p>
        </p:txBody>
      </p:sp>
      <p:sp>
        <p:nvSpPr>
          <p:cNvPr id="46" name="Text 43"/>
          <p:cNvSpPr txBox="1"/>
          <p:nvPr/>
        </p:nvSpPr>
        <p:spPr>
          <a:xfrm>
            <a:off x="6910121" y="4169664"/>
            <a:ext cx="2331720" cy="585216"/>
          </a:xfrm>
          <a:prstGeom prst="rect">
            <a:avLst/>
          </a:prstGeom>
          <a:noFill/>
          <a:ln/>
        </p:spPr>
        <p:txBody>
          <a:bodyPr wrap="square" lIns="635" tIns="635" rIns="635" bIns="635" rtlCol="0" anchor="ctr"/>
          <a:lstStyle/>
          <a:p>
            <a:pPr marL="0" indent="0" algn="ctr">
              <a:spcAft>
                <a:spcPts val="100"/>
              </a:spcAft>
              <a:buNone/>
            </a:pPr>
            <a:r>
              <a:rPr lang="en-US" sz="1400" b="1" dirty="0">
                <a:solidFill>
                  <a:srgbClr val="2B3242"/>
                </a:solidFill>
                <a:latin typeface="Pretendard" pitchFamily="34" charset="0"/>
                <a:ea typeface="Pretendard" pitchFamily="34" charset="-122"/>
                <a:cs typeface="Pretendard" pitchFamily="34" charset="-120"/>
              </a:rPr>
              <a:t>Consultation</a:t>
            </a:r>
            <a:endParaRPr lang="en-US" sz="1400" dirty="0"/>
          </a:p>
          <a:p>
            <a:pPr marL="0" indent="0" algn="ctr">
              <a:spcAft>
                <a:spcPts val="100"/>
              </a:spcAft>
              <a:buNone/>
            </a:pPr>
            <a:r>
              <a:rPr lang="en-US" sz="1400" dirty="0">
                <a:solidFill>
                  <a:srgbClr val="2B3242"/>
                </a:solidFill>
                <a:latin typeface="Pretendard" pitchFamily="34" charset="0"/>
                <a:ea typeface="Pretendard" pitchFamily="34" charset="-122"/>
                <a:cs typeface="Pretendard" pitchFamily="34" charset="-120"/>
              </a:rPr>
              <a:t>C-20260501-003</a:t>
            </a:r>
            <a:endParaRPr lang="en-US" sz="1400" dirty="0"/>
          </a:p>
        </p:txBody>
      </p:sp>
      <p:sp>
        <p:nvSpPr>
          <p:cNvPr id="47" name="Shape 44"/>
          <p:cNvSpPr/>
          <p:nvPr/>
        </p:nvSpPr>
        <p:spPr>
          <a:xfrm>
            <a:off x="9269273" y="4462272"/>
            <a:ext cx="82296" cy="0"/>
          </a:xfrm>
          <a:prstGeom prst="line">
            <a:avLst/>
          </a:prstGeom>
          <a:noFill/>
          <a:ln w="19050">
            <a:solidFill>
              <a:srgbClr val="4A5364"/>
            </a:solidFill>
            <a:prstDash val="solid"/>
            <a:tailEnd type="triangle"/>
          </a:ln>
        </p:spPr>
        <p:txBody>
          <a:bodyPr/>
          <a:lstStyle/>
          <a:p>
            <a:endParaRPr lang="ko-KR" altLang="en-US"/>
          </a:p>
        </p:txBody>
      </p:sp>
      <p:sp>
        <p:nvSpPr>
          <p:cNvPr id="48" name="Shape 45"/>
          <p:cNvSpPr/>
          <p:nvPr/>
        </p:nvSpPr>
        <p:spPr>
          <a:xfrm>
            <a:off x="9379001" y="4279392"/>
            <a:ext cx="1874520" cy="365760"/>
          </a:xfrm>
          <a:prstGeom prst="roundRect">
            <a:avLst>
              <a:gd name="adj" fmla="val 45000"/>
            </a:avLst>
          </a:prstGeom>
          <a:solidFill>
            <a:srgbClr val="EEF3FA"/>
          </a:solidFill>
          <a:ln w="12700">
            <a:solidFill>
              <a:srgbClr val="C3CEE0"/>
            </a:solidFill>
            <a:prstDash val="solid"/>
          </a:ln>
        </p:spPr>
        <p:txBody>
          <a:bodyPr/>
          <a:lstStyle/>
          <a:p>
            <a:endParaRPr lang="ko-KR" altLang="en-US"/>
          </a:p>
        </p:txBody>
      </p:sp>
      <p:sp>
        <p:nvSpPr>
          <p:cNvPr id="49" name="Text 46"/>
          <p:cNvSpPr txBox="1"/>
          <p:nvPr/>
        </p:nvSpPr>
        <p:spPr>
          <a:xfrm>
            <a:off x="9379001" y="4279392"/>
            <a:ext cx="1874520" cy="365760"/>
          </a:xfrm>
          <a:prstGeom prst="rect">
            <a:avLst/>
          </a:prstGeom>
          <a:noFill/>
          <a:ln/>
        </p:spPr>
        <p:txBody>
          <a:bodyPr wrap="square" lIns="1016" tIns="1016" rIns="1016" bIns="1016" rtlCol="0" anchor="ctr"/>
          <a:lstStyle/>
          <a:p>
            <a:pPr marL="0" indent="0" algn="ctr">
              <a:buNone/>
            </a:pPr>
            <a:r>
              <a:rPr lang="en-US" sz="1400" b="1" dirty="0">
                <a:solidFill>
                  <a:srgbClr val="1E2A5C"/>
                </a:solidFill>
                <a:latin typeface="Pretendard" pitchFamily="34" charset="0"/>
                <a:ea typeface="Pretendard" pitchFamily="34" charset="-122"/>
                <a:cs typeface="Pretendard" pitchFamily="34" charset="-120"/>
              </a:rPr>
              <a:t>FOLLOWS</a:t>
            </a:r>
            <a:endParaRPr lang="en-US" sz="1400" dirty="0"/>
          </a:p>
        </p:txBody>
      </p:sp>
      <p:sp>
        <p:nvSpPr>
          <p:cNvPr id="50" name="Shape 47"/>
          <p:cNvSpPr/>
          <p:nvPr/>
        </p:nvSpPr>
        <p:spPr>
          <a:xfrm>
            <a:off x="11271809" y="4462272"/>
            <a:ext cx="91440" cy="0"/>
          </a:xfrm>
          <a:prstGeom prst="line">
            <a:avLst/>
          </a:prstGeom>
          <a:noFill/>
          <a:ln w="19050">
            <a:solidFill>
              <a:srgbClr val="4A5364"/>
            </a:solidFill>
            <a:prstDash val="solid"/>
            <a:tailEnd type="triangle"/>
          </a:ln>
        </p:spPr>
        <p:txBody>
          <a:bodyPr/>
          <a:lstStyle/>
          <a:p>
            <a:endParaRPr lang="ko-KR" altLang="en-US"/>
          </a:p>
        </p:txBody>
      </p:sp>
      <p:sp>
        <p:nvSpPr>
          <p:cNvPr id="51" name="Shape 48"/>
          <p:cNvSpPr/>
          <p:nvPr/>
        </p:nvSpPr>
        <p:spPr>
          <a:xfrm>
            <a:off x="11390681" y="4169664"/>
            <a:ext cx="2743200" cy="585216"/>
          </a:xfrm>
          <a:prstGeom prst="roundRect">
            <a:avLst>
              <a:gd name="adj" fmla="val 12500"/>
            </a:avLst>
          </a:prstGeom>
          <a:solidFill>
            <a:srgbClr val="EEF3FA"/>
          </a:solidFill>
          <a:ln w="12700">
            <a:solidFill>
              <a:srgbClr val="2E74C6"/>
            </a:solidFill>
            <a:prstDash val="solid"/>
          </a:ln>
        </p:spPr>
        <p:txBody>
          <a:bodyPr/>
          <a:lstStyle/>
          <a:p>
            <a:endParaRPr lang="ko-KR" altLang="en-US"/>
          </a:p>
        </p:txBody>
      </p:sp>
      <p:sp>
        <p:nvSpPr>
          <p:cNvPr id="52" name="Text 49"/>
          <p:cNvSpPr txBox="1"/>
          <p:nvPr/>
        </p:nvSpPr>
        <p:spPr>
          <a:xfrm>
            <a:off x="11390681" y="4169664"/>
            <a:ext cx="2743200" cy="585216"/>
          </a:xfrm>
          <a:prstGeom prst="rect">
            <a:avLst/>
          </a:prstGeom>
          <a:noFill/>
          <a:ln/>
        </p:spPr>
        <p:txBody>
          <a:bodyPr wrap="square" lIns="635" tIns="635" rIns="635" bIns="635" rtlCol="0" anchor="ctr"/>
          <a:lstStyle/>
          <a:p>
            <a:pPr marL="0" indent="0" algn="ctr">
              <a:spcAft>
                <a:spcPts val="100"/>
              </a:spcAft>
              <a:buNone/>
            </a:pPr>
            <a:r>
              <a:rPr lang="en-US" sz="1400" b="1" dirty="0">
                <a:solidFill>
                  <a:srgbClr val="1E2A5C"/>
                </a:solidFill>
                <a:latin typeface="Pretendard" pitchFamily="34" charset="0"/>
                <a:ea typeface="Pretendard" pitchFamily="34" charset="-122"/>
                <a:cs typeface="Pretendard" pitchFamily="34" charset="-120"/>
              </a:rPr>
              <a:t>Consultation</a:t>
            </a:r>
            <a:endParaRPr lang="en-US" sz="1400" dirty="0"/>
          </a:p>
          <a:p>
            <a:pPr marL="0" indent="0" algn="ctr">
              <a:spcAft>
                <a:spcPts val="100"/>
              </a:spcAft>
              <a:buNone/>
            </a:pPr>
            <a:r>
              <a:rPr lang="en-US" sz="1400" dirty="0">
                <a:solidFill>
                  <a:srgbClr val="1E2A5C"/>
                </a:solidFill>
                <a:latin typeface="Pretendard" pitchFamily="34" charset="0"/>
                <a:ea typeface="Pretendard" pitchFamily="34" charset="-122"/>
                <a:cs typeface="Pretendard" pitchFamily="34" charset="-120"/>
              </a:rPr>
              <a:t>C-20260302-002 (앞 상담)</a:t>
            </a:r>
            <a:endParaRPr lang="en-US" sz="1400" dirty="0"/>
          </a:p>
        </p:txBody>
      </p:sp>
      <p:sp>
        <p:nvSpPr>
          <p:cNvPr id="53" name="Shape 50"/>
          <p:cNvSpPr/>
          <p:nvPr/>
        </p:nvSpPr>
        <p:spPr>
          <a:xfrm>
            <a:off x="509321" y="4937760"/>
            <a:ext cx="3268980" cy="960120"/>
          </a:xfrm>
          <a:prstGeom prst="roundRect">
            <a:avLst>
              <a:gd name="adj" fmla="val 7619"/>
            </a:avLst>
          </a:prstGeom>
          <a:solidFill>
            <a:srgbClr val="F5F8FC"/>
          </a:solidFill>
          <a:ln w="12700">
            <a:solidFill>
              <a:srgbClr val="D9E0EC"/>
            </a:solidFill>
            <a:prstDash val="solid"/>
          </a:ln>
        </p:spPr>
        <p:txBody>
          <a:bodyPr/>
          <a:lstStyle/>
          <a:p>
            <a:endParaRPr lang="ko-KR" altLang="en-US"/>
          </a:p>
        </p:txBody>
      </p:sp>
      <p:sp>
        <p:nvSpPr>
          <p:cNvPr id="54" name="Shape 51"/>
          <p:cNvSpPr/>
          <p:nvPr/>
        </p:nvSpPr>
        <p:spPr>
          <a:xfrm>
            <a:off x="619049" y="5047488"/>
            <a:ext cx="329184" cy="329184"/>
          </a:xfrm>
          <a:prstGeom prst="roundRect">
            <a:avLst>
              <a:gd name="adj" fmla="val 13889"/>
            </a:avLst>
          </a:prstGeom>
          <a:solidFill>
            <a:srgbClr val="2E74C6"/>
          </a:solidFill>
          <a:ln/>
        </p:spPr>
        <p:txBody>
          <a:bodyPr/>
          <a:lstStyle/>
          <a:p>
            <a:endParaRPr lang="ko-KR" altLang="en-US"/>
          </a:p>
        </p:txBody>
      </p:sp>
      <p:sp>
        <p:nvSpPr>
          <p:cNvPr id="55" name="Text 52"/>
          <p:cNvSpPr txBox="1"/>
          <p:nvPr/>
        </p:nvSpPr>
        <p:spPr>
          <a:xfrm>
            <a:off x="619049" y="504748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1</a:t>
            </a:r>
            <a:endParaRPr lang="en-US" sz="1500" dirty="0"/>
          </a:p>
        </p:txBody>
      </p:sp>
      <p:sp>
        <p:nvSpPr>
          <p:cNvPr id="56" name="Text 53"/>
          <p:cNvSpPr txBox="1"/>
          <p:nvPr/>
        </p:nvSpPr>
        <p:spPr>
          <a:xfrm>
            <a:off x="1012241" y="5010912"/>
            <a:ext cx="2674620" cy="402336"/>
          </a:xfrm>
          <a:prstGeom prst="rect">
            <a:avLst/>
          </a:prstGeom>
          <a:noFill/>
          <a:ln/>
        </p:spPr>
        <p:txBody>
          <a:bodyPr wrap="square" lIns="762" tIns="762" rIns="762" bIns="762"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형식 오류는 다시</a:t>
            </a:r>
            <a:endParaRPr lang="en-US" sz="1500" dirty="0"/>
          </a:p>
        </p:txBody>
      </p:sp>
      <p:sp>
        <p:nvSpPr>
          <p:cNvPr id="57" name="Text 54"/>
          <p:cNvSpPr txBox="1"/>
          <p:nvPr/>
        </p:nvSpPr>
        <p:spPr>
          <a:xfrm>
            <a:off x="646481" y="5431536"/>
            <a:ext cx="2994660" cy="420624"/>
          </a:xfrm>
          <a:prstGeom prst="rect">
            <a:avLst/>
          </a:prstGeom>
          <a:noFill/>
          <a:ln/>
        </p:spPr>
        <p:txBody>
          <a:bodyPr wrap="square" lIns="762" tIns="762" rIns="762" bIns="762" rtlCol="0" anchor="ctr"/>
          <a:lstStyle/>
          <a:p>
            <a:pPr marL="0" indent="0" algn="l">
              <a:buNone/>
            </a:pPr>
            <a:r>
              <a:rPr lang="en-US" sz="1400" dirty="0">
                <a:solidFill>
                  <a:srgbClr val="3B4557"/>
                </a:solidFill>
                <a:latin typeface="Pretendard" pitchFamily="34" charset="0"/>
                <a:ea typeface="Pretendard" pitchFamily="34" charset="-122"/>
                <a:cs typeface="Pretendard" pitchFamily="34" charset="-120"/>
              </a:rPr>
              <a:t>같은 입력으로 2번까지 다시 물음</a:t>
            </a:r>
            <a:endParaRPr lang="en-US" sz="1400" dirty="0"/>
          </a:p>
        </p:txBody>
      </p:sp>
      <p:sp>
        <p:nvSpPr>
          <p:cNvPr id="58" name="Shape 55"/>
          <p:cNvSpPr/>
          <p:nvPr/>
        </p:nvSpPr>
        <p:spPr>
          <a:xfrm>
            <a:off x="3961181" y="4937760"/>
            <a:ext cx="3268980" cy="960120"/>
          </a:xfrm>
          <a:prstGeom prst="roundRect">
            <a:avLst>
              <a:gd name="adj" fmla="val 7619"/>
            </a:avLst>
          </a:prstGeom>
          <a:solidFill>
            <a:srgbClr val="F5F8FC"/>
          </a:solidFill>
          <a:ln w="12700">
            <a:solidFill>
              <a:srgbClr val="D9E0EC"/>
            </a:solidFill>
            <a:prstDash val="solid"/>
          </a:ln>
        </p:spPr>
        <p:txBody>
          <a:bodyPr/>
          <a:lstStyle/>
          <a:p>
            <a:endParaRPr lang="ko-KR" altLang="en-US"/>
          </a:p>
        </p:txBody>
      </p:sp>
      <p:sp>
        <p:nvSpPr>
          <p:cNvPr id="59" name="Shape 56"/>
          <p:cNvSpPr/>
          <p:nvPr/>
        </p:nvSpPr>
        <p:spPr>
          <a:xfrm>
            <a:off x="4070909" y="5047488"/>
            <a:ext cx="329184" cy="329184"/>
          </a:xfrm>
          <a:prstGeom prst="roundRect">
            <a:avLst>
              <a:gd name="adj" fmla="val 13889"/>
            </a:avLst>
          </a:prstGeom>
          <a:solidFill>
            <a:srgbClr val="2E74C6"/>
          </a:solidFill>
          <a:ln/>
        </p:spPr>
        <p:txBody>
          <a:bodyPr/>
          <a:lstStyle/>
          <a:p>
            <a:endParaRPr lang="ko-KR" altLang="en-US"/>
          </a:p>
        </p:txBody>
      </p:sp>
      <p:sp>
        <p:nvSpPr>
          <p:cNvPr id="60" name="Text 57"/>
          <p:cNvSpPr txBox="1"/>
          <p:nvPr/>
        </p:nvSpPr>
        <p:spPr>
          <a:xfrm>
            <a:off x="4070909" y="504748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2</a:t>
            </a:r>
            <a:endParaRPr lang="en-US" sz="1500" dirty="0"/>
          </a:p>
        </p:txBody>
      </p:sp>
      <p:sp>
        <p:nvSpPr>
          <p:cNvPr id="61" name="Text 58"/>
          <p:cNvSpPr txBox="1"/>
          <p:nvPr/>
        </p:nvSpPr>
        <p:spPr>
          <a:xfrm>
            <a:off x="4464101" y="5010912"/>
            <a:ext cx="2674620" cy="402336"/>
          </a:xfrm>
          <a:prstGeom prst="rect">
            <a:avLst/>
          </a:prstGeom>
          <a:noFill/>
          <a:ln/>
        </p:spPr>
        <p:txBody>
          <a:bodyPr wrap="square" lIns="762" tIns="762" rIns="762" bIns="762"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한 건 실패는 기록하고 계속</a:t>
            </a:r>
            <a:endParaRPr lang="en-US" sz="1500" dirty="0"/>
          </a:p>
        </p:txBody>
      </p:sp>
      <p:sp>
        <p:nvSpPr>
          <p:cNvPr id="62" name="Text 59"/>
          <p:cNvSpPr txBox="1"/>
          <p:nvPr/>
        </p:nvSpPr>
        <p:spPr>
          <a:xfrm>
            <a:off x="4098341" y="5431536"/>
            <a:ext cx="2994660" cy="420624"/>
          </a:xfrm>
          <a:prstGeom prst="rect">
            <a:avLst/>
          </a:prstGeom>
          <a:noFill/>
          <a:ln/>
        </p:spPr>
        <p:txBody>
          <a:bodyPr wrap="square" lIns="762" tIns="762" rIns="762" bIns="762" rtlCol="0" anchor="ctr"/>
          <a:lstStyle/>
          <a:p>
            <a:pPr marL="0" indent="0" algn="l">
              <a:buNone/>
            </a:pPr>
            <a:r>
              <a:rPr lang="en-US" sz="1400" dirty="0">
                <a:solidFill>
                  <a:srgbClr val="3B4557"/>
                </a:solidFill>
                <a:latin typeface="Pretendard" pitchFamily="34" charset="0"/>
                <a:ea typeface="Pretendard" pitchFamily="34" charset="-122"/>
                <a:cs typeface="Pretendard" pitchFamily="34" charset="-120"/>
              </a:rPr>
              <a:t>나머지 단위는 그대로 진행 (동시 4건)</a:t>
            </a:r>
            <a:endParaRPr lang="en-US" sz="1400" dirty="0"/>
          </a:p>
        </p:txBody>
      </p:sp>
      <p:sp>
        <p:nvSpPr>
          <p:cNvPr id="63" name="Shape 60"/>
          <p:cNvSpPr/>
          <p:nvPr/>
        </p:nvSpPr>
        <p:spPr>
          <a:xfrm>
            <a:off x="7413041" y="4937760"/>
            <a:ext cx="3268980" cy="960120"/>
          </a:xfrm>
          <a:prstGeom prst="roundRect">
            <a:avLst>
              <a:gd name="adj" fmla="val 7619"/>
            </a:avLst>
          </a:prstGeom>
          <a:solidFill>
            <a:srgbClr val="F5F8FC"/>
          </a:solidFill>
          <a:ln w="12700">
            <a:solidFill>
              <a:srgbClr val="D9E0EC"/>
            </a:solidFill>
            <a:prstDash val="solid"/>
          </a:ln>
        </p:spPr>
        <p:txBody>
          <a:bodyPr/>
          <a:lstStyle/>
          <a:p>
            <a:endParaRPr lang="ko-KR" altLang="en-US"/>
          </a:p>
        </p:txBody>
      </p:sp>
      <p:sp>
        <p:nvSpPr>
          <p:cNvPr id="64" name="Shape 61"/>
          <p:cNvSpPr/>
          <p:nvPr/>
        </p:nvSpPr>
        <p:spPr>
          <a:xfrm>
            <a:off x="7522769" y="5047488"/>
            <a:ext cx="329184" cy="329184"/>
          </a:xfrm>
          <a:prstGeom prst="roundRect">
            <a:avLst>
              <a:gd name="adj" fmla="val 13889"/>
            </a:avLst>
          </a:prstGeom>
          <a:solidFill>
            <a:srgbClr val="2E74C6"/>
          </a:solidFill>
          <a:ln/>
        </p:spPr>
        <p:txBody>
          <a:bodyPr/>
          <a:lstStyle/>
          <a:p>
            <a:endParaRPr lang="ko-KR" altLang="en-US"/>
          </a:p>
        </p:txBody>
      </p:sp>
      <p:sp>
        <p:nvSpPr>
          <p:cNvPr id="65" name="Text 62"/>
          <p:cNvSpPr txBox="1"/>
          <p:nvPr/>
        </p:nvSpPr>
        <p:spPr>
          <a:xfrm>
            <a:off x="7522769" y="504748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3</a:t>
            </a:r>
            <a:endParaRPr lang="en-US" sz="1500" dirty="0"/>
          </a:p>
        </p:txBody>
      </p:sp>
      <p:sp>
        <p:nvSpPr>
          <p:cNvPr id="66" name="Text 63"/>
          <p:cNvSpPr txBox="1"/>
          <p:nvPr/>
        </p:nvSpPr>
        <p:spPr>
          <a:xfrm>
            <a:off x="7915961" y="5010912"/>
            <a:ext cx="2674620" cy="402336"/>
          </a:xfrm>
          <a:prstGeom prst="rect">
            <a:avLst/>
          </a:prstGeom>
          <a:noFill/>
          <a:ln/>
        </p:spPr>
        <p:txBody>
          <a:bodyPr wrap="square" lIns="762" tIns="762" rIns="762" bIns="762"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노드 </a:t>
            </a:r>
            <a:r>
              <a:rPr lang="en-US" sz="1500" b="1" dirty="0" err="1">
                <a:solidFill>
                  <a:srgbClr val="1E2A5C"/>
                </a:solidFill>
                <a:latin typeface="Pretendard" pitchFamily="34" charset="0"/>
                <a:ea typeface="Pretendard" pitchFamily="34" charset="-122"/>
                <a:cs typeface="Pretendard" pitchFamily="34" charset="-120"/>
              </a:rPr>
              <a:t>ID에</a:t>
            </a:r>
            <a:r>
              <a:rPr lang="en-US" sz="1500" b="1" dirty="0">
                <a:solidFill>
                  <a:srgbClr val="1E2A5C"/>
                </a:solidFill>
                <a:latin typeface="Pretendard" pitchFamily="34" charset="0"/>
                <a:ea typeface="Pretendard" pitchFamily="34" charset="-122"/>
                <a:cs typeface="Pretendard" pitchFamily="34" charset="-120"/>
              </a:rPr>
              <a:t> </a:t>
            </a:r>
            <a:r>
              <a:rPr lang="ko-KR" altLang="en-US" sz="1500" b="1" dirty="0">
                <a:solidFill>
                  <a:srgbClr val="1E2A5C"/>
                </a:solidFill>
                <a:latin typeface="Pretendard" pitchFamily="34" charset="0"/>
                <a:ea typeface="Pretendard" pitchFamily="34" charset="-122"/>
                <a:cs typeface="Pretendard" pitchFamily="34" charset="-120"/>
              </a:rPr>
              <a:t>추출</a:t>
            </a:r>
            <a:r>
              <a:rPr lang="en-US" sz="1500" b="1" dirty="0" err="1">
                <a:solidFill>
                  <a:srgbClr val="1E2A5C"/>
                </a:solidFill>
                <a:latin typeface="Pretendard" pitchFamily="34" charset="0"/>
                <a:ea typeface="Pretendard" pitchFamily="34" charset="-122"/>
                <a:cs typeface="Pretendard" pitchFamily="34" charset="-120"/>
              </a:rPr>
              <a:t>단위</a:t>
            </a:r>
            <a:r>
              <a:rPr lang="en-US" sz="1500" b="1" dirty="0">
                <a:solidFill>
                  <a:srgbClr val="1E2A5C"/>
                </a:solidFill>
                <a:latin typeface="Pretendard" pitchFamily="34" charset="0"/>
                <a:ea typeface="Pretendard" pitchFamily="34" charset="-122"/>
                <a:cs typeface="Pretendard" pitchFamily="34" charset="-120"/>
              </a:rPr>
              <a:t> ID가 붙음</a:t>
            </a:r>
            <a:endParaRPr lang="en-US" sz="1500" dirty="0"/>
          </a:p>
        </p:txBody>
      </p:sp>
      <p:sp>
        <p:nvSpPr>
          <p:cNvPr id="67" name="Text 64"/>
          <p:cNvSpPr txBox="1"/>
          <p:nvPr/>
        </p:nvSpPr>
        <p:spPr>
          <a:xfrm>
            <a:off x="7550201" y="5431536"/>
            <a:ext cx="2994660" cy="420624"/>
          </a:xfrm>
          <a:prstGeom prst="rect">
            <a:avLst/>
          </a:prstGeom>
          <a:noFill/>
          <a:ln/>
        </p:spPr>
        <p:txBody>
          <a:bodyPr wrap="square" lIns="762" tIns="762" rIns="762" bIns="762" rtlCol="0" anchor="ctr"/>
          <a:lstStyle/>
          <a:p>
            <a:pPr marL="0" indent="0" algn="l">
              <a:buNone/>
            </a:pPr>
            <a:r>
              <a:rPr lang="en-US" sz="1400" dirty="0">
                <a:solidFill>
                  <a:srgbClr val="3B4557"/>
                </a:solidFill>
                <a:latin typeface="Pretendard" pitchFamily="34" charset="0"/>
                <a:ea typeface="Pretendard" pitchFamily="34" charset="-122"/>
                <a:cs typeface="Pretendard" pitchFamily="34" charset="-120"/>
              </a:rPr>
              <a:t>K4에서 검색용 청크와 이을 때 씀</a:t>
            </a:r>
            <a:endParaRPr lang="en-US" sz="1400" dirty="0"/>
          </a:p>
        </p:txBody>
      </p:sp>
      <p:sp>
        <p:nvSpPr>
          <p:cNvPr id="68" name="Shape 65"/>
          <p:cNvSpPr/>
          <p:nvPr/>
        </p:nvSpPr>
        <p:spPr>
          <a:xfrm>
            <a:off x="10864901" y="4937760"/>
            <a:ext cx="3268980" cy="960120"/>
          </a:xfrm>
          <a:prstGeom prst="roundRect">
            <a:avLst>
              <a:gd name="adj" fmla="val 7619"/>
            </a:avLst>
          </a:prstGeom>
          <a:solidFill>
            <a:srgbClr val="F5F8FC"/>
          </a:solidFill>
          <a:ln w="12700">
            <a:solidFill>
              <a:srgbClr val="D9E0EC"/>
            </a:solidFill>
            <a:prstDash val="solid"/>
          </a:ln>
        </p:spPr>
        <p:txBody>
          <a:bodyPr/>
          <a:lstStyle/>
          <a:p>
            <a:endParaRPr lang="ko-KR" altLang="en-US"/>
          </a:p>
        </p:txBody>
      </p:sp>
      <p:sp>
        <p:nvSpPr>
          <p:cNvPr id="69" name="Shape 66"/>
          <p:cNvSpPr/>
          <p:nvPr/>
        </p:nvSpPr>
        <p:spPr>
          <a:xfrm>
            <a:off x="10974629" y="5047488"/>
            <a:ext cx="329184" cy="329184"/>
          </a:xfrm>
          <a:prstGeom prst="roundRect">
            <a:avLst>
              <a:gd name="adj" fmla="val 13889"/>
            </a:avLst>
          </a:prstGeom>
          <a:solidFill>
            <a:srgbClr val="2E74C6"/>
          </a:solidFill>
          <a:ln/>
        </p:spPr>
        <p:txBody>
          <a:bodyPr/>
          <a:lstStyle/>
          <a:p>
            <a:endParaRPr lang="ko-KR" altLang="en-US"/>
          </a:p>
        </p:txBody>
      </p:sp>
      <p:sp>
        <p:nvSpPr>
          <p:cNvPr id="70" name="Text 67"/>
          <p:cNvSpPr txBox="1"/>
          <p:nvPr/>
        </p:nvSpPr>
        <p:spPr>
          <a:xfrm>
            <a:off x="10974629" y="5047488"/>
            <a:ext cx="329184" cy="329184"/>
          </a:xfrm>
          <a:prstGeom prst="rect">
            <a:avLst/>
          </a:prstGeom>
          <a:noFill/>
          <a:ln/>
        </p:spPr>
        <p:txBody>
          <a:bodyPr wrap="square" lIns="1016" tIns="1016" rIns="1016" bIns="1016" rtlCol="0" anchor="ctr"/>
          <a:lstStyle/>
          <a:p>
            <a:pPr marL="0" indent="0" algn="ctr">
              <a:buNone/>
            </a:pPr>
            <a:r>
              <a:rPr lang="en-US" sz="1500" b="1" dirty="0">
                <a:solidFill>
                  <a:srgbClr val="FFFFFF"/>
                </a:solidFill>
                <a:latin typeface="Pretendard" pitchFamily="34" charset="0"/>
                <a:ea typeface="Pretendard" pitchFamily="34" charset="-122"/>
                <a:cs typeface="Pretendard" pitchFamily="34" charset="-120"/>
              </a:rPr>
              <a:t>4</a:t>
            </a:r>
            <a:endParaRPr lang="en-US" sz="1500" dirty="0"/>
          </a:p>
        </p:txBody>
      </p:sp>
      <p:sp>
        <p:nvSpPr>
          <p:cNvPr id="71" name="Text 68"/>
          <p:cNvSpPr txBox="1"/>
          <p:nvPr/>
        </p:nvSpPr>
        <p:spPr>
          <a:xfrm>
            <a:off x="11367821" y="5010912"/>
            <a:ext cx="2674620" cy="402336"/>
          </a:xfrm>
          <a:prstGeom prst="rect">
            <a:avLst/>
          </a:prstGeom>
          <a:noFill/>
          <a:ln/>
        </p:spPr>
        <p:txBody>
          <a:bodyPr wrap="square" lIns="762" tIns="762" rIns="762" bIns="762" rtlCol="0" anchor="ctr"/>
          <a:lstStyle/>
          <a:p>
            <a:pPr marL="0" indent="0" algn="l">
              <a:buNone/>
            </a:pPr>
            <a:r>
              <a:rPr lang="en-US" sz="1500" b="1" dirty="0">
                <a:solidFill>
                  <a:srgbClr val="1E2A5C"/>
                </a:solidFill>
                <a:latin typeface="Pretendard" pitchFamily="34" charset="0"/>
                <a:ea typeface="Pretendard" pitchFamily="34" charset="-122"/>
                <a:cs typeface="Pretendard" pitchFamily="34" charset="-120"/>
              </a:rPr>
              <a:t>스키마 </a:t>
            </a:r>
            <a:r>
              <a:rPr lang="en-US" sz="1500" b="1" dirty="0" err="1">
                <a:solidFill>
                  <a:srgbClr val="1E2A5C"/>
                </a:solidFill>
                <a:latin typeface="Pretendard" pitchFamily="34" charset="0"/>
                <a:ea typeface="Pretendard" pitchFamily="34" charset="-122"/>
                <a:cs typeface="Pretendard" pitchFamily="34" charset="-120"/>
              </a:rPr>
              <a:t>밖은</a:t>
            </a:r>
            <a:r>
              <a:rPr lang="en-US" sz="1500" b="1" dirty="0">
                <a:solidFill>
                  <a:srgbClr val="1E2A5C"/>
                </a:solidFill>
                <a:latin typeface="Pretendard" pitchFamily="34" charset="0"/>
                <a:ea typeface="Pretendard" pitchFamily="34" charset="-122"/>
                <a:cs typeface="Pretendard" pitchFamily="34" charset="-120"/>
              </a:rPr>
              <a:t> K3(</a:t>
            </a:r>
            <a:r>
              <a:rPr lang="ko-KR" altLang="en-US" sz="1500" b="1" dirty="0">
                <a:solidFill>
                  <a:srgbClr val="1E2A5C"/>
                </a:solidFill>
                <a:latin typeface="Pretendard" pitchFamily="34" charset="0"/>
                <a:ea typeface="Pretendard" pitchFamily="34" charset="-122"/>
                <a:cs typeface="Pretendard" pitchFamily="34" charset="-120"/>
              </a:rPr>
              <a:t>가지치기</a:t>
            </a:r>
            <a:r>
              <a:rPr lang="en-US" altLang="ko-KR" sz="1500" b="1" dirty="0">
                <a:solidFill>
                  <a:srgbClr val="1E2A5C"/>
                </a:solidFill>
                <a:latin typeface="Pretendard" pitchFamily="34" charset="0"/>
                <a:ea typeface="Pretendard" pitchFamily="34" charset="-122"/>
                <a:cs typeface="Pretendard" pitchFamily="34" charset="-120"/>
              </a:rPr>
              <a:t>)</a:t>
            </a:r>
            <a:r>
              <a:rPr lang="ko-KR" altLang="en-US" sz="1500" b="1" dirty="0">
                <a:solidFill>
                  <a:srgbClr val="1E2A5C"/>
                </a:solidFill>
                <a:latin typeface="Pretendard" pitchFamily="34" charset="0"/>
                <a:ea typeface="Pretendard" pitchFamily="34" charset="-122"/>
                <a:cs typeface="Pretendard" pitchFamily="34" charset="-120"/>
              </a:rPr>
              <a:t>단계</a:t>
            </a:r>
            <a:r>
              <a:rPr lang="en-US" sz="1500" b="1" dirty="0" err="1">
                <a:solidFill>
                  <a:srgbClr val="1E2A5C"/>
                </a:solidFill>
                <a:latin typeface="Pretendard" pitchFamily="34" charset="0"/>
                <a:ea typeface="Pretendard" pitchFamily="34" charset="-122"/>
                <a:cs typeface="Pretendard" pitchFamily="34" charset="-120"/>
              </a:rPr>
              <a:t>에서</a:t>
            </a:r>
            <a:r>
              <a:rPr lang="en-US" sz="1500" b="1" dirty="0">
                <a:solidFill>
                  <a:srgbClr val="1E2A5C"/>
                </a:solidFill>
                <a:latin typeface="Pretendard" pitchFamily="34" charset="0"/>
                <a:ea typeface="Pretendard" pitchFamily="34" charset="-122"/>
                <a:cs typeface="Pretendard" pitchFamily="34" charset="-120"/>
              </a:rPr>
              <a:t> 지움</a:t>
            </a:r>
            <a:endParaRPr lang="en-US" sz="1500" dirty="0"/>
          </a:p>
        </p:txBody>
      </p:sp>
      <p:sp>
        <p:nvSpPr>
          <p:cNvPr id="72" name="Text 69"/>
          <p:cNvSpPr txBox="1"/>
          <p:nvPr/>
        </p:nvSpPr>
        <p:spPr>
          <a:xfrm>
            <a:off x="11002061" y="5431536"/>
            <a:ext cx="2994660" cy="420624"/>
          </a:xfrm>
          <a:prstGeom prst="rect">
            <a:avLst/>
          </a:prstGeom>
          <a:noFill/>
          <a:ln/>
        </p:spPr>
        <p:txBody>
          <a:bodyPr wrap="square" lIns="762" tIns="762" rIns="762" bIns="762" rtlCol="0" anchor="ctr"/>
          <a:lstStyle/>
          <a:p>
            <a:pPr marL="0" indent="0" algn="l">
              <a:buNone/>
            </a:pPr>
            <a:r>
              <a:rPr lang="en-US" sz="1400" dirty="0">
                <a:solidFill>
                  <a:srgbClr val="3B4557"/>
                </a:solidFill>
                <a:latin typeface="Pretendard" pitchFamily="34" charset="0"/>
                <a:ea typeface="Pretendard" pitchFamily="34" charset="-122"/>
                <a:cs typeface="Pretendard" pitchFamily="34" charset="-120"/>
              </a:rPr>
              <a:t>정해진 타입이 아닌 노드와 관계는 가지치기</a:t>
            </a:r>
            <a:endParaRPr lang="en-US" sz="1400" dirty="0"/>
          </a:p>
        </p:txBody>
      </p:sp>
      <p:sp>
        <p:nvSpPr>
          <p:cNvPr id="4"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K2 엔티티와 관계 추출 코드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추출기 하나를 만들고, 단위마다 머리줄을 붙여 호출하며, 형식 오류는 다시 시도함</a:t>
            </a:r>
            <a:endParaRPr lang="en-US" sz="1800" dirty="0"/>
          </a:p>
        </p:txBody>
      </p:sp>
      <p:sp>
        <p:nvSpPr>
          <p:cNvPr id="5" name="Shape 2"/>
          <p:cNvSpPr/>
          <p:nvPr/>
        </p:nvSpPr>
        <p:spPr>
          <a:xfrm>
            <a:off x="509321" y="1737360"/>
            <a:ext cx="7360920" cy="5532120"/>
          </a:xfrm>
          <a:prstGeom prst="roundRect">
            <a:avLst>
              <a:gd name="adj" fmla="val 992"/>
            </a:avLst>
          </a:prstGeom>
          <a:solidFill>
            <a:srgbClr val="F5F8FC"/>
          </a:solidFill>
          <a:ln w="12700">
            <a:solidFill>
              <a:srgbClr val="D9E0EC"/>
            </a:solidFill>
            <a:prstDash val="solid"/>
          </a:ln>
        </p:spPr>
        <p:txBody>
          <a:bodyPr/>
          <a:lstStyle/>
          <a:p>
            <a:endParaRPr lang="ko-KR" altLang="en-US"/>
          </a:p>
        </p:txBody>
      </p:sp>
      <p:sp>
        <p:nvSpPr>
          <p:cNvPr id="6" name="Text 3"/>
          <p:cNvSpPr txBox="1"/>
          <p:nvPr/>
        </p:nvSpPr>
        <p:spPr>
          <a:xfrm>
            <a:off x="619049" y="1810512"/>
            <a:ext cx="7141464" cy="310896"/>
          </a:xfrm>
          <a:prstGeom prst="rect">
            <a:avLst/>
          </a:prstGeom>
          <a:noFill/>
          <a:ln/>
        </p:spPr>
        <p:txBody>
          <a:bodyPr wrap="square" lIns="762" tIns="762" rIns="762" bIns="762" rtlCol="0" anchor="ctr"/>
          <a:lstStyle/>
          <a:p>
            <a:pPr marL="0" indent="0" algn="l">
              <a:buNone/>
            </a:pPr>
            <a:r>
              <a:rPr lang="en-US" sz="1400" b="1" dirty="0">
                <a:solidFill>
                  <a:srgbClr val="7C8598"/>
                </a:solidFill>
                <a:latin typeface="Pretendard" pitchFamily="34" charset="0"/>
                <a:ea typeface="Pretendard" pitchFamily="34" charset="-122"/>
                <a:cs typeface="Pretendard" pitchFamily="34" charset="-120"/>
              </a:rPr>
              <a:t>추출기 만들기와 extract_one (fill_test.py 발췌)</a:t>
            </a:r>
            <a:endParaRPr lang="en-US" sz="1400" dirty="0"/>
          </a:p>
        </p:txBody>
      </p:sp>
      <p:sp>
        <p:nvSpPr>
          <p:cNvPr id="7" name="Text 4"/>
          <p:cNvSpPr txBox="1"/>
          <p:nvPr/>
        </p:nvSpPr>
        <p:spPr>
          <a:xfrm>
            <a:off x="619049" y="2139696"/>
            <a:ext cx="7141464" cy="5074920"/>
          </a:xfrm>
          <a:prstGeom prst="rect">
            <a:avLst/>
          </a:prstGeom>
          <a:noFill/>
          <a:ln/>
        </p:spPr>
        <p:txBody>
          <a:bodyPr wrap="square" lIns="254" tIns="254" rIns="254" bIns="254" rtlCol="0" anchor="t"/>
          <a:lstStyle/>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llm = make_llm(graph_safe=True)                # Groq openai/gpt-oss-120b</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extractor = LLMEntityRelationExtractor(</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llm=llm, create_lexical_graph=False, on_error=OnError.RAISE)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GraphSchema.model_validate(graph_schema)  # 승인된 스키마</a:t>
            </a:r>
            <a:endParaRPr lang="en-US" sz="1400" dirty="0"/>
          </a:p>
          <a:p>
            <a:pPr marL="0" indent="0">
              <a:lnSpc>
                <a:spcPct val="105000"/>
              </a:lnSpc>
              <a:buNone/>
            </a:pP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def head_line(md, fields):                      # 단위 본문 앞에 붙이는 머리줄</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return " | ".join(f"{f}: {md[f]}" for f in fields</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if md.get(f) not in (None, "")) + "\n"</a:t>
            </a:r>
            <a:endParaRPr lang="en-US" sz="1400" dirty="0"/>
          </a:p>
          <a:p>
            <a:pPr marL="0" indent="0">
              <a:lnSpc>
                <a:spcPct val="105000"/>
              </a:lnSpc>
              <a:buNone/>
            </a:pP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async def extract_one(sem, unit_id, text):</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async with sem:                             # 동시 4건</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for attempt in range(3):                # 형식 오류는 2번까지 다시</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try:</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graph = await extractor.run(</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chunks=TextChunks(chunks=[</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TextChunk(text=text, index=0, uid=unit_id)]),</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schema=schema)</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break</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except Exception:</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if attempt == 2:</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raise</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return graph                            # 다음: K3 가지치기</a:t>
            </a:r>
            <a:endParaRPr lang="en-US" sz="1400" dirty="0"/>
          </a:p>
        </p:txBody>
      </p:sp>
      <p:sp>
        <p:nvSpPr>
          <p:cNvPr id="8" name="Shape 5"/>
          <p:cNvSpPr/>
          <p:nvPr/>
        </p:nvSpPr>
        <p:spPr>
          <a:xfrm>
            <a:off x="8144561" y="1737360"/>
            <a:ext cx="5989320" cy="3840480"/>
          </a:xfrm>
          <a:prstGeom prst="roundRect">
            <a:avLst>
              <a:gd name="adj" fmla="val 1429"/>
            </a:avLst>
          </a:prstGeom>
          <a:solidFill>
            <a:srgbClr val="F5F8FC"/>
          </a:solidFill>
          <a:ln w="12700">
            <a:solidFill>
              <a:srgbClr val="D9E0EC"/>
            </a:solidFill>
            <a:prstDash val="solid"/>
          </a:ln>
        </p:spPr>
        <p:txBody>
          <a:bodyPr/>
          <a:lstStyle/>
          <a:p>
            <a:endParaRPr lang="ko-KR" altLang="en-US"/>
          </a:p>
        </p:txBody>
      </p:sp>
      <p:sp>
        <p:nvSpPr>
          <p:cNvPr id="9" name="Text 6"/>
          <p:cNvSpPr txBox="1"/>
          <p:nvPr/>
        </p:nvSpPr>
        <p:spPr>
          <a:xfrm>
            <a:off x="8254289" y="1810512"/>
            <a:ext cx="5769864" cy="310896"/>
          </a:xfrm>
          <a:prstGeom prst="rect">
            <a:avLst/>
          </a:prstGeom>
          <a:noFill/>
          <a:ln/>
        </p:spPr>
        <p:txBody>
          <a:bodyPr wrap="square" lIns="762" tIns="762" rIns="762" bIns="762" rtlCol="0" anchor="ctr"/>
          <a:lstStyle/>
          <a:p>
            <a:pPr marL="0" indent="0" algn="l">
              <a:buNone/>
            </a:pPr>
            <a:r>
              <a:rPr lang="en-US" sz="1400" b="1" dirty="0">
                <a:solidFill>
                  <a:srgbClr val="7C8598"/>
                </a:solidFill>
                <a:latin typeface="Pretendard" pitchFamily="34" charset="0"/>
                <a:ea typeface="Pretendard" pitchFamily="34" charset="-122"/>
                <a:cs typeface="Pretendard" pitchFamily="34" charset="-120"/>
              </a:rPr>
              <a:t>LLM이 돌려준 JSON (다듬은 뒤, 일부)</a:t>
            </a:r>
            <a:endParaRPr lang="en-US" sz="1400" dirty="0"/>
          </a:p>
        </p:txBody>
      </p:sp>
      <p:sp>
        <p:nvSpPr>
          <p:cNvPr id="10" name="Text 7"/>
          <p:cNvSpPr txBox="1"/>
          <p:nvPr/>
        </p:nvSpPr>
        <p:spPr>
          <a:xfrm>
            <a:off x="8254289" y="2139696"/>
            <a:ext cx="5769864" cy="3383280"/>
          </a:xfrm>
          <a:prstGeom prst="rect">
            <a:avLst/>
          </a:prstGeom>
          <a:noFill/>
          <a:ln/>
        </p:spPr>
        <p:txBody>
          <a:bodyPr wrap="square" lIns="254" tIns="254" rIns="254" bIns="254" rtlCol="0" anchor="t"/>
          <a:lstStyle/>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{"nodes":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{"id": "0", "label": "Consultation",</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"properties": {"record_id": "C-20260501-003",</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"channel": "콜센터",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{"id": "3", "label": "Proposal",</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"properties": {"content": "그러면 주문 내역 화면으로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"decision": "수용"}},</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{"id": "4", "label": "ReconsiderCondition",</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"properties": {"condition": "다음 명세서 나올 때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"relationships": [</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{"type": "HAS_PROPOSAL",</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"start_node_id": "0", "end_node_id": "3"},</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{"type": "RECONSIDER_WHEN",</a:t>
            </a:r>
            <a:endParaRPr lang="en-US" sz="1400" dirty="0"/>
          </a:p>
          <a:p>
            <a:pPr marL="0" indent="0">
              <a:lnSpc>
                <a:spcPct val="105000"/>
              </a:lnSpc>
              <a:buNone/>
            </a:pPr>
            <a:r>
              <a:rPr lang="en-US" sz="1400" dirty="0">
                <a:solidFill>
                  <a:srgbClr val="2B3242"/>
                </a:solidFill>
                <a:latin typeface="Pretendard" pitchFamily="34" charset="0"/>
                <a:ea typeface="Pretendard" pitchFamily="34" charset="-122"/>
                <a:cs typeface="Pretendard" pitchFamily="34" charset="-120"/>
              </a:rPr>
              <a:t>   "start_node_id": "3", "end_node_id": "4"}]}</a:t>
            </a:r>
            <a:endParaRPr lang="en-US" sz="1400" dirty="0"/>
          </a:p>
        </p:txBody>
      </p:sp>
      <p:sp>
        <p:nvSpPr>
          <p:cNvPr id="11" name="Shape 8"/>
          <p:cNvSpPr/>
          <p:nvPr/>
        </p:nvSpPr>
        <p:spPr>
          <a:xfrm>
            <a:off x="8144561" y="5669280"/>
            <a:ext cx="5989320" cy="731520"/>
          </a:xfrm>
          <a:prstGeom prst="roundRect">
            <a:avLst>
              <a:gd name="adj" fmla="val 10000"/>
            </a:avLst>
          </a:prstGeom>
          <a:solidFill>
            <a:srgbClr val="F5F8FC"/>
          </a:solidFill>
          <a:ln w="12700">
            <a:solidFill>
              <a:srgbClr val="D9E0EC"/>
            </a:solidFill>
            <a:prstDash val="solid"/>
          </a:ln>
        </p:spPr>
        <p:txBody>
          <a:bodyPr/>
          <a:lstStyle/>
          <a:p>
            <a:endParaRPr lang="ko-KR" altLang="en-US"/>
          </a:p>
        </p:txBody>
      </p:sp>
      <p:sp>
        <p:nvSpPr>
          <p:cNvPr id="12" name="Text 9"/>
          <p:cNvSpPr txBox="1"/>
          <p:nvPr/>
        </p:nvSpPr>
        <p:spPr>
          <a:xfrm>
            <a:off x="8144561" y="5669280"/>
            <a:ext cx="5989320" cy="731520"/>
          </a:xfrm>
          <a:prstGeom prst="rect">
            <a:avLst/>
          </a:prstGeom>
          <a:noFill/>
          <a:ln/>
        </p:spPr>
        <p:txBody>
          <a:bodyPr wrap="square" lIns="635" tIns="635" rIns="635" bIns="635" rtlCol="0" anchor="ctr"/>
          <a:lstStyle/>
          <a:p>
            <a:pPr marL="0" indent="0" algn="ctr">
              <a:spcAft>
                <a:spcPts val="100"/>
              </a:spcAft>
              <a:buNone/>
            </a:pPr>
            <a:r>
              <a:rPr lang="en-US" sz="1500" b="1" dirty="0">
                <a:solidFill>
                  <a:srgbClr val="2B3242"/>
                </a:solidFill>
                <a:latin typeface="Pretendard" pitchFamily="34" charset="0"/>
                <a:ea typeface="Pretendard" pitchFamily="34" charset="-122"/>
                <a:cs typeface="Pretendard" pitchFamily="34" charset="-120"/>
              </a:rPr>
              <a:t>응답 다듬기 (GraphSafeLLM)</a:t>
            </a:r>
            <a:endParaRPr lang="en-US" sz="1500" dirty="0"/>
          </a:p>
          <a:p>
            <a:pPr marL="0" indent="0" algn="ctr">
              <a:spcAft>
                <a:spcPts val="100"/>
              </a:spcAft>
              <a:buNone/>
            </a:pPr>
            <a:r>
              <a:rPr lang="en-US" sz="1400" dirty="0">
                <a:solidFill>
                  <a:srgbClr val="2B3242"/>
                </a:solidFill>
                <a:latin typeface="Pretendard" pitchFamily="34" charset="0"/>
                <a:ea typeface="Pretendard" pitchFamily="34" charset="-122"/>
                <a:cs typeface="Pretendard" pitchFamily="34" charset="-120"/>
              </a:rPr>
              <a:t>정해진 칸 밖 키 제거, id는 글자로, 빈 속성 제거</a:t>
            </a:r>
            <a:endParaRPr lang="en-US" sz="1500" dirty="0"/>
          </a:p>
        </p:txBody>
      </p:sp>
      <p:sp>
        <p:nvSpPr>
          <p:cNvPr id="13" name="Shape 10"/>
          <p:cNvSpPr/>
          <p:nvPr/>
        </p:nvSpPr>
        <p:spPr>
          <a:xfrm>
            <a:off x="8144561" y="6492240"/>
            <a:ext cx="5989320" cy="777240"/>
          </a:xfrm>
          <a:prstGeom prst="roundRect">
            <a:avLst>
              <a:gd name="adj" fmla="val 9412"/>
            </a:avLst>
          </a:prstGeom>
          <a:solidFill>
            <a:srgbClr val="2E74C6"/>
          </a:solidFill>
          <a:ln/>
        </p:spPr>
        <p:txBody>
          <a:bodyPr/>
          <a:lstStyle/>
          <a:p>
            <a:endParaRPr lang="ko-KR" altLang="en-US"/>
          </a:p>
        </p:txBody>
      </p:sp>
      <p:sp>
        <p:nvSpPr>
          <p:cNvPr id="14" name="Text 11"/>
          <p:cNvSpPr txBox="1"/>
          <p:nvPr/>
        </p:nvSpPr>
        <p:spPr>
          <a:xfrm>
            <a:off x="8144561" y="6492240"/>
            <a:ext cx="5989320" cy="777240"/>
          </a:xfrm>
          <a:prstGeom prst="rect">
            <a:avLst/>
          </a:prstGeom>
          <a:noFill/>
          <a:ln/>
        </p:spPr>
        <p:txBody>
          <a:bodyPr wrap="square" lIns="635" tIns="635" rIns="635" bIns="635" rtlCol="0" anchor="ctr"/>
          <a:lstStyle/>
          <a:p>
            <a:pPr marL="0" indent="0" algn="ctr">
              <a:spcAft>
                <a:spcPts val="100"/>
              </a:spcAft>
              <a:buNone/>
            </a:pPr>
            <a:r>
              <a:rPr lang="en-US" sz="1500" b="1" dirty="0">
                <a:solidFill>
                  <a:srgbClr val="FFFFFF"/>
                </a:solidFill>
                <a:latin typeface="Pretendard" pitchFamily="34" charset="0"/>
                <a:ea typeface="Pretendard" pitchFamily="34" charset="-122"/>
                <a:cs typeface="Pretendard" pitchFamily="34" charset="-120"/>
              </a:rPr>
              <a:t>노드 ID 앞에 단위 ID가 붙음</a:t>
            </a:r>
            <a:endParaRPr lang="en-US" sz="1500" dirty="0"/>
          </a:p>
          <a:p>
            <a:pPr marL="0" indent="0" algn="ctr">
              <a:spcAft>
                <a:spcPts val="100"/>
              </a:spcAft>
              <a:buNone/>
            </a:pPr>
            <a:r>
              <a:rPr lang="en-US" sz="1400" dirty="0">
                <a:solidFill>
                  <a:srgbClr val="FFFFFF"/>
                </a:solidFill>
                <a:latin typeface="Pretendard" pitchFamily="34" charset="0"/>
                <a:ea typeface="Pretendard" pitchFamily="34" charset="-122"/>
                <a:cs typeface="Pretendard" pitchFamily="34" charset="-120"/>
              </a:rPr>
              <a:t>"3" → D3_C-20260501-003_…_0000:3</a:t>
            </a:r>
            <a:endParaRPr lang="en-US" sz="15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841</Words>
  <Application>Microsoft Office PowerPoint</Application>
  <PresentationFormat>사용자 지정</PresentationFormat>
  <Paragraphs>98</Paragraphs>
  <Slides>2</Slides>
  <Notes>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vt:i4>
      </vt:variant>
    </vt:vector>
  </HeadingPairs>
  <TitlesOfParts>
    <vt:vector size="6" baseType="lpstr">
      <vt:lpstr>Arial</vt:lpstr>
      <vt:lpstr>Pretendard</vt:lpstr>
      <vt:lpstr>Pretendard SemiBold</vt:lpstr>
      <vt:lpstr>Office Theme</vt:lpstr>
      <vt:lpstr>KG 구축 K2 엔티티와 관계 추출</vt:lpstr>
      <vt:lpstr>K2 엔티티와 관계 추출 코드</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해경 이</cp:lastModifiedBy>
  <cp:revision>7</cp:revision>
  <dcterms:created xsi:type="dcterms:W3CDTF">2026-10-19T11:58:38Z</dcterms:created>
  <dcterms:modified xsi:type="dcterms:W3CDTF">2026-10-19T12:16:09Z</dcterms:modified>
</cp:coreProperties>
</file>