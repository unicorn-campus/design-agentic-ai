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92"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944126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오케스트레이터의 첫 단계는 이번 실행의 세대 ID를 정하는 일입니다. 세대 ID는 실행 이름과 그 해시로 만들어서, 실행이 중간에 멈춰도 같은 이름으로 다시 돌리면 같은 세대로 이어서 만듭니다. 이 세대 ID가 검색엔진 인덱스 이름과 Neo4j 세대 값의 공통 열쇠가 됩니다. 본격적으로 일하기 전에 원천 파일의 지문을 모아 활성 세대 기록과 비교합니다. 원천, 처리 정책, 문서 프로필, 토큰화, 임베딩 설정이 모두 같으면 할 일이 없으므로 여기서 끝냅니다.
두 번째 단계는 원문을 청크 파일 하나로 만드는 일입니다. 원문을 읽으면서 회원 정보를 가명 키로 바꾸고, 정제하고, 문서별 규칙으로 청크를 나눕니다. 원문은 메모리에서만 다루고 개인정보 처리가 끝난 청크만 저장합니다. 바뀌지 않은 문서는 이전 세대의 처리된 청크를 그대로 씁니다. 청크 ID는 문서 키와 본문 해시로 만들어서 본문이 같으면 ID도 같습니다. 이 파일 하나를 두 서브 워크플로우가 함께 읽기 때문에 KG와 검색엔진 인덱스의 chunk_id가 어긋나지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내용_단쪽">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8406" y="868680"/>
            <a:ext cx="13613587" cy="0"/>
          </a:xfrm>
          <a:prstGeom prst="line">
            <a:avLst/>
          </a:prstGeom>
          <a:noFill/>
          <a:ln w="19050">
            <a:solidFill>
              <a:srgbClr val="E2E8F0"/>
            </a:solidFill>
            <a:prstDash val="solid"/>
          </a:ln>
        </p:spPr>
        <p:txBody>
          <a:bodyPr/>
          <a:lstStyle/>
          <a:p>
            <a:endParaRPr lang="ko-KR" altLang="en-US"/>
          </a:p>
        </p:txBody>
      </p:sp>
      <p:sp>
        <p:nvSpPr>
          <p:cNvPr id="3" name="Text 1"/>
          <p:cNvSpPr/>
          <p:nvPr/>
        </p:nvSpPr>
        <p:spPr>
          <a:xfrm>
            <a:off x="445770" y="7787945"/>
            <a:ext cx="1531620" cy="246888"/>
          </a:xfrm>
          <a:prstGeom prst="rect">
            <a:avLst/>
          </a:prstGeom>
          <a:noFill/>
          <a:ln/>
        </p:spPr>
        <p:txBody>
          <a:bodyPr wrap="square" lIns="0" tIns="0" rIns="0" bIns="0" rtlCol="0" anchor="ctr"/>
          <a:lstStyle/>
          <a:p>
            <a:pPr marL="0" indent="0">
              <a:buNone/>
            </a:pPr>
            <a:r>
              <a:rPr lang="en-US" sz="1200" dirty="0">
                <a:solidFill>
                  <a:srgbClr val="A6A6A6"/>
                </a:solidFill>
                <a:latin typeface="Pretendard" pitchFamily="34" charset="0"/>
                <a:ea typeface="Pretendard" pitchFamily="34" charset="-122"/>
                <a:cs typeface="Pretendard" pitchFamily="34" charset="-120"/>
              </a:rPr>
              <a:t>무단전재 및 배포 금지</a:t>
            </a:r>
            <a:endParaRPr lang="en-US" sz="1200" dirty="0"/>
          </a:p>
        </p:txBody>
      </p:sp>
      <p:sp>
        <p:nvSpPr>
          <p:cNvPr id="4" name="Text 2"/>
          <p:cNvSpPr>
            <a:spLocks noGrp="1"/>
          </p:cNvSpPr>
          <p:nvPr>
            <p:ph type="title"/>
          </p:nvPr>
        </p:nvSpPr>
        <p:spPr>
          <a:xfrm>
            <a:off x="509321" y="99670"/>
            <a:ext cx="13738860" cy="828446"/>
          </a:xfrm>
          <a:prstGeom prst="rect">
            <a:avLst/>
          </a:prstGeom>
          <a:noFill/>
          <a:ln/>
        </p:spPr>
        <p:txBody>
          <a:bodyPr wrap="square" rtlCol="0"/>
          <a:lstStyle>
            <a:lvl1pPr marL="0" indent="0" algn="l">
              <a:buNone/>
              <a:defRPr lang="en-US" sz="3200" b="1" dirty="0">
                <a:solidFill>
                  <a:srgbClr val="2C2926"/>
                </a:solidFill>
                <a:latin typeface="Pretendard" pitchFamily="34" charset="0"/>
                <a:ea typeface="Pretendard" pitchFamily="34" charset="-122"/>
                <a:cs typeface="Pretendard" pitchFamily="34" charset="-120"/>
              </a:defRPr>
            </a:lvl1pPr>
          </a:lstStyle>
          <a:p>
            <a:pPr marL="0" indent="0" algn="l">
              <a:buNone/>
            </a:pPr>
            <a:endParaRPr lang="en-US" sz="3200" dirty="0"/>
          </a:p>
        </p:txBody>
      </p:sp>
      <p:sp>
        <p:nvSpPr>
          <p:cNvPr id="25"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2"/>
          <p:cNvSpPr>
            <a:spLocks noGrp="1"/>
          </p:cNvSpPr>
          <p:nvPr>
            <p:ph type="title"/>
          </p:nvPr>
        </p:nvSpPr>
        <p:spPr>
          <a:xfrm>
            <a:off x="509321" y="99670"/>
            <a:ext cx="13738860" cy="828446"/>
          </a:xfrm>
          <a:prstGeom prst="rect">
            <a:avLst/>
          </a:prstGeom>
          <a:noFill/>
          <a:ln/>
        </p:spPr>
        <p:txBody>
          <a:bodyPr wrap="square" lIns="0" tIns="0" rIns="0" bIns="0" rtlCol="0" anchor="ctr"/>
          <a:lstStyle/>
          <a:p>
            <a:pPr marL="0" indent="0" algn="l">
              <a:buNone/>
            </a:pPr>
            <a:r>
              <a:rPr lang="en-US" sz="3200" b="1" dirty="0">
                <a:solidFill>
                  <a:srgbClr val="2C2926"/>
                </a:solidFill>
                <a:latin typeface="Pretendard" pitchFamily="34" charset="0"/>
                <a:ea typeface="Pretendard" pitchFamily="34" charset="-122"/>
                <a:cs typeface="Pretendard" pitchFamily="34" charset="-120"/>
              </a:rPr>
              <a:t>오케스트레이터 ① 세대 ID 발급, ② 공통 단계</a:t>
            </a:r>
            <a:endParaRPr lang="en-US" sz="3200" dirty="0"/>
          </a:p>
        </p:txBody>
      </p:sp>
      <p:sp>
        <p:nvSpPr>
          <p:cNvPr id="3" name="Text 1"/>
          <p:cNvSpPr txBox="1"/>
          <p:nvPr/>
        </p:nvSpPr>
        <p:spPr>
          <a:xfrm>
            <a:off x="509321" y="1151230"/>
            <a:ext cx="13624560" cy="384048"/>
          </a:xfrm>
          <a:prstGeom prst="rect">
            <a:avLst/>
          </a:prstGeom>
          <a:noFill/>
          <a:ln/>
        </p:spPr>
        <p:txBody>
          <a:bodyPr wrap="square" lIns="0" tIns="0" rIns="0" bIns="0" rtlCol="0" anchor="ctr"/>
          <a:lstStyle/>
          <a:p>
            <a:pPr marL="0" indent="0">
              <a:buNone/>
            </a:pPr>
            <a:r>
              <a:rPr lang="en-US" sz="1800" dirty="0">
                <a:solidFill>
                  <a:srgbClr val="000000"/>
                </a:solidFill>
                <a:latin typeface="Pretendard SemiBold" pitchFamily="34" charset="0"/>
                <a:ea typeface="Pretendard SemiBold" pitchFamily="34" charset="-122"/>
                <a:cs typeface="Pretendard SemiBold" pitchFamily="34" charset="-120"/>
              </a:rPr>
              <a:t>실행마다 세대 ID를 정하고, 원문을 개인정보 처리된 청크 파일 하나로 만들어 두 서브 워크플로우에 넘김</a:t>
            </a:r>
            <a:endParaRPr lang="en-US" sz="1800" dirty="0"/>
          </a:p>
        </p:txBody>
      </p:sp>
      <p:sp>
        <p:nvSpPr>
          <p:cNvPr id="5" name="Shape 2"/>
          <p:cNvSpPr/>
          <p:nvPr/>
        </p:nvSpPr>
        <p:spPr>
          <a:xfrm>
            <a:off x="509321" y="1737360"/>
            <a:ext cx="6309360" cy="411480"/>
          </a:xfrm>
          <a:prstGeom prst="roundRect">
            <a:avLst>
              <a:gd name="adj" fmla="val 13333"/>
            </a:avLst>
          </a:prstGeom>
          <a:solidFill>
            <a:srgbClr val="1E2A5C"/>
          </a:solidFill>
          <a:ln/>
        </p:spPr>
        <p:txBody>
          <a:bodyPr/>
          <a:lstStyle/>
          <a:p>
            <a:endParaRPr lang="ko-KR" altLang="en-US"/>
          </a:p>
        </p:txBody>
      </p:sp>
      <p:sp>
        <p:nvSpPr>
          <p:cNvPr id="6" name="Text 3"/>
          <p:cNvSpPr txBox="1"/>
          <p:nvPr/>
        </p:nvSpPr>
        <p:spPr>
          <a:xfrm>
            <a:off x="509321" y="1737360"/>
            <a:ext cx="6309360" cy="411480"/>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① 세대 ID 발급과 사전 검사</a:t>
            </a:r>
            <a:endParaRPr lang="en-US" sz="1800" dirty="0"/>
          </a:p>
        </p:txBody>
      </p:sp>
      <p:sp>
        <p:nvSpPr>
          <p:cNvPr id="7" name="Text 4"/>
          <p:cNvSpPr txBox="1"/>
          <p:nvPr/>
        </p:nvSpPr>
        <p:spPr>
          <a:xfrm>
            <a:off x="509321" y="2240280"/>
            <a:ext cx="6309360" cy="292608"/>
          </a:xfrm>
          <a:prstGeom prst="rect">
            <a:avLst/>
          </a:prstGeom>
          <a:noFill/>
          <a:ln/>
        </p:spPr>
        <p:txBody>
          <a:bodyPr wrap="square" lIns="762" tIns="762" rIns="762" bIns="762"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세대 ID 모양</a:t>
            </a:r>
            <a:endParaRPr lang="en-US" sz="1500" dirty="0"/>
          </a:p>
        </p:txBody>
      </p:sp>
      <p:sp>
        <p:nvSpPr>
          <p:cNvPr id="8" name="Shape 5"/>
          <p:cNvSpPr/>
          <p:nvPr/>
        </p:nvSpPr>
        <p:spPr>
          <a:xfrm>
            <a:off x="509321" y="2560320"/>
            <a:ext cx="868680" cy="658368"/>
          </a:xfrm>
          <a:prstGeom prst="roundRect">
            <a:avLst>
              <a:gd name="adj" fmla="val 5556"/>
            </a:avLst>
          </a:prstGeom>
          <a:solidFill>
            <a:srgbClr val="FFFFFF"/>
          </a:solidFill>
          <a:ln w="12700">
            <a:solidFill>
              <a:srgbClr val="D9E0EC"/>
            </a:solidFill>
            <a:prstDash val="solid"/>
          </a:ln>
        </p:spPr>
        <p:txBody>
          <a:bodyPr/>
          <a:lstStyle/>
          <a:p>
            <a:endParaRPr lang="ko-KR" altLang="en-US"/>
          </a:p>
        </p:txBody>
      </p:sp>
      <p:sp>
        <p:nvSpPr>
          <p:cNvPr id="9" name="Text 6"/>
          <p:cNvSpPr txBox="1"/>
          <p:nvPr/>
        </p:nvSpPr>
        <p:spPr>
          <a:xfrm>
            <a:off x="509321" y="2560320"/>
            <a:ext cx="868680"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gen-</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접두어</a:t>
            </a:r>
            <a:endParaRPr lang="en-US" sz="1500" dirty="0"/>
          </a:p>
        </p:txBody>
      </p:sp>
      <p:sp>
        <p:nvSpPr>
          <p:cNvPr id="10" name="Shape 7"/>
          <p:cNvSpPr/>
          <p:nvPr/>
        </p:nvSpPr>
        <p:spPr>
          <a:xfrm>
            <a:off x="1414577" y="2560320"/>
            <a:ext cx="2788920" cy="658368"/>
          </a:xfrm>
          <a:prstGeom prst="roundRect">
            <a:avLst>
              <a:gd name="adj" fmla="val 5556"/>
            </a:avLst>
          </a:prstGeom>
          <a:solidFill>
            <a:srgbClr val="2E74C6"/>
          </a:solidFill>
          <a:ln/>
        </p:spPr>
        <p:txBody>
          <a:bodyPr/>
          <a:lstStyle/>
          <a:p>
            <a:endParaRPr lang="ko-KR" altLang="en-US"/>
          </a:p>
        </p:txBody>
      </p:sp>
      <p:sp>
        <p:nvSpPr>
          <p:cNvPr id="11" name="Text 8"/>
          <p:cNvSpPr txBox="1"/>
          <p:nvPr/>
        </p:nvSpPr>
        <p:spPr>
          <a:xfrm>
            <a:off x="1414577" y="2560320"/>
            <a:ext cx="2788920"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birthfix-20261018b</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실행 이름</a:t>
            </a:r>
            <a:endParaRPr lang="en-US" sz="1500" dirty="0"/>
          </a:p>
        </p:txBody>
      </p:sp>
      <p:sp>
        <p:nvSpPr>
          <p:cNvPr id="12" name="Shape 9"/>
          <p:cNvSpPr/>
          <p:nvPr/>
        </p:nvSpPr>
        <p:spPr>
          <a:xfrm>
            <a:off x="4240073" y="2560320"/>
            <a:ext cx="2578608" cy="658368"/>
          </a:xfrm>
          <a:prstGeom prst="roundRect">
            <a:avLst>
              <a:gd name="adj" fmla="val 5556"/>
            </a:avLst>
          </a:prstGeom>
          <a:solidFill>
            <a:srgbClr val="FFFFFF"/>
          </a:solidFill>
          <a:ln w="12700">
            <a:solidFill>
              <a:srgbClr val="D9E0EC"/>
            </a:solidFill>
            <a:prstDash val="solid"/>
          </a:ln>
        </p:spPr>
        <p:txBody>
          <a:bodyPr/>
          <a:lstStyle/>
          <a:p>
            <a:endParaRPr lang="ko-KR" altLang="en-US"/>
          </a:p>
        </p:txBody>
      </p:sp>
      <p:sp>
        <p:nvSpPr>
          <p:cNvPr id="13" name="Text 10"/>
          <p:cNvSpPr txBox="1"/>
          <p:nvPr/>
        </p:nvSpPr>
        <p:spPr>
          <a:xfrm>
            <a:off x="4240073" y="2560320"/>
            <a:ext cx="2578608"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-efeb65bd</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실행 이름 해시 8자리</a:t>
            </a:r>
            <a:endParaRPr lang="en-US" sz="1500" dirty="0"/>
          </a:p>
        </p:txBody>
      </p:sp>
      <p:sp>
        <p:nvSpPr>
          <p:cNvPr id="14" name="Shape 11"/>
          <p:cNvSpPr/>
          <p:nvPr/>
        </p:nvSpPr>
        <p:spPr>
          <a:xfrm>
            <a:off x="509321" y="3337560"/>
            <a:ext cx="3063240" cy="731520"/>
          </a:xfrm>
          <a:prstGeom prst="roundRect">
            <a:avLst>
              <a:gd name="adj" fmla="val 10000"/>
            </a:avLst>
          </a:prstGeom>
          <a:solidFill>
            <a:srgbClr val="EEF3FA"/>
          </a:solidFill>
          <a:ln w="12700">
            <a:solidFill>
              <a:srgbClr val="D9E0EC"/>
            </a:solidFill>
            <a:prstDash val="solid"/>
          </a:ln>
        </p:spPr>
        <p:txBody>
          <a:bodyPr/>
          <a:lstStyle/>
          <a:p>
            <a:endParaRPr lang="ko-KR" altLang="en-US"/>
          </a:p>
        </p:txBody>
      </p:sp>
      <p:sp>
        <p:nvSpPr>
          <p:cNvPr id="15" name="Text 12"/>
          <p:cNvSpPr txBox="1"/>
          <p:nvPr/>
        </p:nvSpPr>
        <p:spPr>
          <a:xfrm>
            <a:off x="509321" y="3337560"/>
            <a:ext cx="3063240" cy="73152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같은 실행 이름 = 같은 세대 ID</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중단돼도 같은 세대로 이어서 만듦</a:t>
            </a:r>
            <a:endParaRPr lang="en-US" sz="1500" dirty="0"/>
          </a:p>
        </p:txBody>
      </p:sp>
      <p:sp>
        <p:nvSpPr>
          <p:cNvPr id="16" name="Shape 13"/>
          <p:cNvSpPr/>
          <p:nvPr/>
        </p:nvSpPr>
        <p:spPr>
          <a:xfrm>
            <a:off x="3755441" y="3337560"/>
            <a:ext cx="3063240" cy="731520"/>
          </a:xfrm>
          <a:prstGeom prst="roundRect">
            <a:avLst>
              <a:gd name="adj" fmla="val 10000"/>
            </a:avLst>
          </a:prstGeom>
          <a:solidFill>
            <a:srgbClr val="EEF3FA"/>
          </a:solidFill>
          <a:ln w="12700">
            <a:solidFill>
              <a:srgbClr val="D9E0EC"/>
            </a:solidFill>
            <a:prstDash val="solid"/>
          </a:ln>
        </p:spPr>
        <p:txBody>
          <a:bodyPr/>
          <a:lstStyle/>
          <a:p>
            <a:endParaRPr lang="ko-KR" altLang="en-US"/>
          </a:p>
        </p:txBody>
      </p:sp>
      <p:sp>
        <p:nvSpPr>
          <p:cNvPr id="17" name="Text 14"/>
          <p:cNvSpPr txBox="1"/>
          <p:nvPr/>
        </p:nvSpPr>
        <p:spPr>
          <a:xfrm>
            <a:off x="3755441" y="3337560"/>
            <a:ext cx="3063240" cy="73152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두 서브 워크플로우의 공통 열쇠</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card_chunks-gen-X, Neo4j gen-X</a:t>
            </a:r>
            <a:endParaRPr lang="en-US" sz="1500" dirty="0"/>
          </a:p>
        </p:txBody>
      </p:sp>
      <p:sp>
        <p:nvSpPr>
          <p:cNvPr id="18" name="Text 15"/>
          <p:cNvSpPr txBox="1"/>
          <p:nvPr/>
        </p:nvSpPr>
        <p:spPr>
          <a:xfrm>
            <a:off x="509321" y="4251960"/>
            <a:ext cx="6309360" cy="292608"/>
          </a:xfrm>
          <a:prstGeom prst="rect">
            <a:avLst/>
          </a:prstGeom>
          <a:noFill/>
          <a:ln/>
        </p:spPr>
        <p:txBody>
          <a:bodyPr wrap="square" lIns="762" tIns="762" rIns="762" bIns="762"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사전 검사: 할 일이 있는지 먼저 확인</a:t>
            </a:r>
            <a:endParaRPr lang="en-US" sz="1500" dirty="0"/>
          </a:p>
        </p:txBody>
      </p:sp>
      <p:sp>
        <p:nvSpPr>
          <p:cNvPr id="19" name="Shape 16"/>
          <p:cNvSpPr/>
          <p:nvPr/>
        </p:nvSpPr>
        <p:spPr>
          <a:xfrm>
            <a:off x="509321" y="4937760"/>
            <a:ext cx="1691640" cy="868680"/>
          </a:xfrm>
          <a:prstGeom prst="roundRect">
            <a:avLst>
              <a:gd name="adj" fmla="val 8421"/>
            </a:avLst>
          </a:prstGeom>
          <a:solidFill>
            <a:srgbClr val="FFFFFF"/>
          </a:solidFill>
          <a:ln w="12700">
            <a:solidFill>
              <a:srgbClr val="D9E0EC"/>
            </a:solidFill>
            <a:prstDash val="solid"/>
          </a:ln>
        </p:spPr>
        <p:txBody>
          <a:bodyPr/>
          <a:lstStyle/>
          <a:p>
            <a:endParaRPr lang="ko-KR" altLang="en-US"/>
          </a:p>
        </p:txBody>
      </p:sp>
      <p:sp>
        <p:nvSpPr>
          <p:cNvPr id="20" name="Text 17"/>
          <p:cNvSpPr txBox="1"/>
          <p:nvPr/>
        </p:nvSpPr>
        <p:spPr>
          <a:xfrm>
            <a:off x="509321" y="4937760"/>
            <a:ext cx="1691640" cy="86868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원천 지문 수집</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파일 SHA-256</a:t>
            </a:r>
            <a:endParaRPr lang="en-US" sz="1500" dirty="0"/>
          </a:p>
        </p:txBody>
      </p:sp>
      <p:sp>
        <p:nvSpPr>
          <p:cNvPr id="21" name="Shape 18"/>
          <p:cNvSpPr/>
          <p:nvPr/>
        </p:nvSpPr>
        <p:spPr>
          <a:xfrm>
            <a:off x="2228393" y="5367528"/>
            <a:ext cx="219456" cy="0"/>
          </a:xfrm>
          <a:prstGeom prst="line">
            <a:avLst/>
          </a:prstGeom>
          <a:noFill/>
          <a:ln w="19050">
            <a:solidFill>
              <a:srgbClr val="4A5364"/>
            </a:solidFill>
            <a:prstDash val="solid"/>
            <a:tailEnd type="triangle"/>
          </a:ln>
        </p:spPr>
        <p:txBody>
          <a:bodyPr/>
          <a:lstStyle/>
          <a:p>
            <a:endParaRPr lang="ko-KR" altLang="en-US"/>
          </a:p>
        </p:txBody>
      </p:sp>
      <p:sp>
        <p:nvSpPr>
          <p:cNvPr id="22" name="Shape 19"/>
          <p:cNvSpPr/>
          <p:nvPr/>
        </p:nvSpPr>
        <p:spPr>
          <a:xfrm>
            <a:off x="2475281" y="4800600"/>
            <a:ext cx="2240280" cy="1143000"/>
          </a:xfrm>
          <a:prstGeom prst="roundRect">
            <a:avLst>
              <a:gd name="adj" fmla="val 6400"/>
            </a:avLst>
          </a:prstGeom>
          <a:solidFill>
            <a:srgbClr val="EEF3FA"/>
          </a:solidFill>
          <a:ln w="12700">
            <a:solidFill>
              <a:srgbClr val="2E74C6"/>
            </a:solidFill>
            <a:prstDash val="solid"/>
          </a:ln>
        </p:spPr>
        <p:txBody>
          <a:bodyPr/>
          <a:lstStyle/>
          <a:p>
            <a:endParaRPr lang="ko-KR" altLang="en-US"/>
          </a:p>
        </p:txBody>
      </p:sp>
      <p:sp>
        <p:nvSpPr>
          <p:cNvPr id="23" name="Text 20"/>
          <p:cNvSpPr txBox="1"/>
          <p:nvPr/>
        </p:nvSpPr>
        <p:spPr>
          <a:xfrm>
            <a:off x="2475281" y="4800600"/>
            <a:ext cx="2240280" cy="1143000"/>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활성 세대 기록과 비교</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원천, 처리 정책, 문서 프로필, </a:t>
            </a:r>
          </a:p>
          <a:p>
            <a:pPr marL="0" indent="0" algn="ctr">
              <a:spcAft>
                <a:spcPts val="100"/>
              </a:spcAft>
              <a:buNone/>
            </a:pPr>
            <a:r>
              <a:rPr lang="en-US" sz="1400" dirty="0" err="1">
                <a:solidFill>
                  <a:srgbClr val="1E2A5C"/>
                </a:solidFill>
                <a:latin typeface="Pretendard" pitchFamily="34" charset="0"/>
                <a:ea typeface="Pretendard" pitchFamily="34" charset="-122"/>
                <a:cs typeface="Pretendard" pitchFamily="34" charset="-120"/>
              </a:rPr>
              <a:t>토큰화</a:t>
            </a:r>
            <a:r>
              <a:rPr lang="en-US" sz="1400" dirty="0">
                <a:solidFill>
                  <a:srgbClr val="1E2A5C"/>
                </a:solidFill>
                <a:latin typeface="Pretendard" pitchFamily="34" charset="0"/>
                <a:ea typeface="Pretendard" pitchFamily="34" charset="-122"/>
                <a:cs typeface="Pretendard" pitchFamily="34" charset="-120"/>
              </a:rPr>
              <a:t>, 임베딩 설정</a:t>
            </a:r>
            <a:endParaRPr lang="en-US" sz="1500" dirty="0"/>
          </a:p>
        </p:txBody>
      </p:sp>
      <p:sp>
        <p:nvSpPr>
          <p:cNvPr id="24" name="Shape 21"/>
          <p:cNvSpPr/>
          <p:nvPr/>
        </p:nvSpPr>
        <p:spPr>
          <a:xfrm>
            <a:off x="4989881" y="4617720"/>
            <a:ext cx="1828800" cy="713232"/>
          </a:xfrm>
          <a:prstGeom prst="roundRect">
            <a:avLst>
              <a:gd name="adj" fmla="val 10256"/>
            </a:avLst>
          </a:prstGeom>
          <a:solidFill>
            <a:srgbClr val="404155"/>
          </a:solidFill>
          <a:ln/>
        </p:spPr>
        <p:txBody>
          <a:bodyPr/>
          <a:lstStyle/>
          <a:p>
            <a:endParaRPr lang="ko-KR" altLang="en-US"/>
          </a:p>
        </p:txBody>
      </p:sp>
      <p:sp>
        <p:nvSpPr>
          <p:cNvPr id="25" name="Text 22"/>
          <p:cNvSpPr txBox="1"/>
          <p:nvPr/>
        </p:nvSpPr>
        <p:spPr>
          <a:xfrm>
            <a:off x="4989881" y="4617720"/>
            <a:ext cx="1828800" cy="71323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모두 같음</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실행 종료 (할 일 없음)</a:t>
            </a:r>
            <a:endParaRPr lang="en-US" sz="1500" dirty="0"/>
          </a:p>
        </p:txBody>
      </p:sp>
      <p:sp>
        <p:nvSpPr>
          <p:cNvPr id="26" name="Shape 23"/>
          <p:cNvSpPr/>
          <p:nvPr/>
        </p:nvSpPr>
        <p:spPr>
          <a:xfrm>
            <a:off x="4989881" y="5422392"/>
            <a:ext cx="1828800" cy="713232"/>
          </a:xfrm>
          <a:prstGeom prst="roundRect">
            <a:avLst>
              <a:gd name="adj" fmla="val 10256"/>
            </a:avLst>
          </a:prstGeom>
          <a:solidFill>
            <a:srgbClr val="2E74C6"/>
          </a:solidFill>
          <a:ln/>
        </p:spPr>
        <p:txBody>
          <a:bodyPr/>
          <a:lstStyle/>
          <a:p>
            <a:endParaRPr lang="ko-KR" altLang="en-US"/>
          </a:p>
        </p:txBody>
      </p:sp>
      <p:sp>
        <p:nvSpPr>
          <p:cNvPr id="27" name="Text 24"/>
          <p:cNvSpPr txBox="1"/>
          <p:nvPr/>
        </p:nvSpPr>
        <p:spPr>
          <a:xfrm>
            <a:off x="4989881" y="5422392"/>
            <a:ext cx="1828800" cy="71323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하나라도 다름</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② 공통 단계로</a:t>
            </a:r>
            <a:endParaRPr lang="en-US" sz="1500" dirty="0"/>
          </a:p>
        </p:txBody>
      </p:sp>
      <p:sp>
        <p:nvSpPr>
          <p:cNvPr id="28" name="Shape 25"/>
          <p:cNvSpPr/>
          <p:nvPr/>
        </p:nvSpPr>
        <p:spPr>
          <a:xfrm flipV="1">
            <a:off x="4742993" y="4974336"/>
            <a:ext cx="219456" cy="192024"/>
          </a:xfrm>
          <a:prstGeom prst="line">
            <a:avLst/>
          </a:prstGeom>
          <a:noFill/>
          <a:ln w="19050">
            <a:solidFill>
              <a:srgbClr val="4A5364"/>
            </a:solidFill>
            <a:prstDash val="solid"/>
            <a:tailEnd type="triangle"/>
          </a:ln>
        </p:spPr>
        <p:txBody>
          <a:bodyPr/>
          <a:lstStyle/>
          <a:p>
            <a:endParaRPr lang="ko-KR" altLang="en-US"/>
          </a:p>
        </p:txBody>
      </p:sp>
      <p:sp>
        <p:nvSpPr>
          <p:cNvPr id="29" name="Shape 26"/>
          <p:cNvSpPr/>
          <p:nvPr/>
        </p:nvSpPr>
        <p:spPr>
          <a:xfrm>
            <a:off x="4742993" y="5577840"/>
            <a:ext cx="219456" cy="201168"/>
          </a:xfrm>
          <a:prstGeom prst="line">
            <a:avLst/>
          </a:prstGeom>
          <a:noFill/>
          <a:ln w="19050">
            <a:solidFill>
              <a:srgbClr val="4A5364"/>
            </a:solidFill>
            <a:prstDash val="solid"/>
            <a:tailEnd type="triangle"/>
          </a:ln>
        </p:spPr>
        <p:txBody>
          <a:bodyPr/>
          <a:lstStyle/>
          <a:p>
            <a:endParaRPr lang="ko-KR" altLang="en-US"/>
          </a:p>
        </p:txBody>
      </p:sp>
      <p:sp>
        <p:nvSpPr>
          <p:cNvPr id="30" name="Text 27"/>
          <p:cNvSpPr txBox="1"/>
          <p:nvPr/>
        </p:nvSpPr>
        <p:spPr>
          <a:xfrm>
            <a:off x="509321" y="6263640"/>
            <a:ext cx="6309360" cy="329184"/>
          </a:xfrm>
          <a:prstGeom prst="rect">
            <a:avLst/>
          </a:prstGeom>
          <a:noFill/>
          <a:ln/>
        </p:spPr>
        <p:txBody>
          <a:bodyPr wrap="square" lIns="762" tIns="762" rIns="762" bIns="762" rtlCol="0" anchor="ctr"/>
          <a:lstStyle/>
          <a:p>
            <a:pPr marL="0" indent="0" algn="l">
              <a:buNone/>
            </a:pPr>
            <a:r>
              <a:rPr lang="en-US" sz="1400" dirty="0">
                <a:solidFill>
                  <a:srgbClr val="7C8598"/>
                </a:solidFill>
                <a:latin typeface="Pretendard" pitchFamily="34" charset="0"/>
                <a:ea typeface="Pretendard" pitchFamily="34" charset="-122"/>
                <a:cs typeface="Pretendard" pitchFamily="34" charset="-120"/>
              </a:rPr>
              <a:t>전체 재색인을 요청하면 사전 검사를 건너뛰고 ②로 감</a:t>
            </a:r>
            <a:endParaRPr lang="en-US" sz="1400" dirty="0"/>
          </a:p>
        </p:txBody>
      </p:sp>
      <p:sp>
        <p:nvSpPr>
          <p:cNvPr id="31" name="Shape 28"/>
          <p:cNvSpPr/>
          <p:nvPr/>
        </p:nvSpPr>
        <p:spPr>
          <a:xfrm>
            <a:off x="7093001" y="1737360"/>
            <a:ext cx="7040880" cy="411480"/>
          </a:xfrm>
          <a:prstGeom prst="roundRect">
            <a:avLst>
              <a:gd name="adj" fmla="val 13333"/>
            </a:avLst>
          </a:prstGeom>
          <a:solidFill>
            <a:srgbClr val="2E74C6"/>
          </a:solidFill>
          <a:ln/>
        </p:spPr>
        <p:txBody>
          <a:bodyPr/>
          <a:lstStyle/>
          <a:p>
            <a:endParaRPr lang="ko-KR" altLang="en-US"/>
          </a:p>
        </p:txBody>
      </p:sp>
      <p:sp>
        <p:nvSpPr>
          <p:cNvPr id="32" name="Text 29"/>
          <p:cNvSpPr txBox="1"/>
          <p:nvPr/>
        </p:nvSpPr>
        <p:spPr>
          <a:xfrm>
            <a:off x="7093001" y="1737360"/>
            <a:ext cx="7040880" cy="411480"/>
          </a:xfrm>
          <a:prstGeom prst="rect">
            <a:avLst/>
          </a:prstGeom>
          <a:noFill/>
          <a:ln/>
        </p:spPr>
        <p:txBody>
          <a:bodyPr wrap="square" lIns="1016" tIns="1016" rIns="1016" bIns="1016" rtlCol="0" anchor="ctr"/>
          <a:lstStyle/>
          <a:p>
            <a:pPr marL="0" indent="0" algn="ctr">
              <a:buNone/>
            </a:pPr>
            <a:r>
              <a:rPr lang="en-US" sz="1800" b="1" dirty="0">
                <a:solidFill>
                  <a:srgbClr val="FFFFFF"/>
                </a:solidFill>
                <a:latin typeface="Pretendard" pitchFamily="34" charset="0"/>
                <a:ea typeface="Pretendard" pitchFamily="34" charset="-122"/>
                <a:cs typeface="Pretendard" pitchFamily="34" charset="-120"/>
              </a:rPr>
              <a:t>② 공통 단계: 원문 → 청크 파일</a:t>
            </a:r>
            <a:endParaRPr lang="en-US" sz="1800" dirty="0"/>
          </a:p>
        </p:txBody>
      </p:sp>
      <p:sp>
        <p:nvSpPr>
          <p:cNvPr id="33" name="Shape 30"/>
          <p:cNvSpPr/>
          <p:nvPr/>
        </p:nvSpPr>
        <p:spPr>
          <a:xfrm>
            <a:off x="7093001" y="2286000"/>
            <a:ext cx="1588770" cy="896112"/>
          </a:xfrm>
          <a:prstGeom prst="roundRect">
            <a:avLst>
              <a:gd name="adj" fmla="val 8163"/>
            </a:avLst>
          </a:prstGeom>
          <a:solidFill>
            <a:srgbClr val="F5F8FC"/>
          </a:solidFill>
          <a:ln w="12700">
            <a:solidFill>
              <a:srgbClr val="D9E0EC"/>
            </a:solidFill>
            <a:prstDash val="solid"/>
          </a:ln>
        </p:spPr>
        <p:txBody>
          <a:bodyPr/>
          <a:lstStyle/>
          <a:p>
            <a:endParaRPr lang="ko-KR" altLang="en-US"/>
          </a:p>
        </p:txBody>
      </p:sp>
      <p:sp>
        <p:nvSpPr>
          <p:cNvPr id="34" name="Text 31"/>
          <p:cNvSpPr txBox="1"/>
          <p:nvPr/>
        </p:nvSpPr>
        <p:spPr>
          <a:xfrm>
            <a:off x="7093001" y="2286000"/>
            <a:ext cx="1588770" cy="89611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원천 문서</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약관과 혜택 PDF</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상담 이력 TXT</a:t>
            </a:r>
            <a:endParaRPr lang="en-US" sz="1500" dirty="0"/>
          </a:p>
        </p:txBody>
      </p:sp>
      <p:sp>
        <p:nvSpPr>
          <p:cNvPr id="35" name="Shape 32"/>
          <p:cNvSpPr/>
          <p:nvPr/>
        </p:nvSpPr>
        <p:spPr>
          <a:xfrm>
            <a:off x="8709203" y="2734056"/>
            <a:ext cx="173736" cy="0"/>
          </a:xfrm>
          <a:prstGeom prst="line">
            <a:avLst/>
          </a:prstGeom>
          <a:noFill/>
          <a:ln w="19050">
            <a:solidFill>
              <a:srgbClr val="4A5364"/>
            </a:solidFill>
            <a:prstDash val="solid"/>
            <a:tailEnd type="triangle"/>
          </a:ln>
        </p:spPr>
        <p:txBody>
          <a:bodyPr/>
          <a:lstStyle/>
          <a:p>
            <a:endParaRPr lang="ko-KR" altLang="en-US"/>
          </a:p>
        </p:txBody>
      </p:sp>
      <p:sp>
        <p:nvSpPr>
          <p:cNvPr id="36" name="Shape 33"/>
          <p:cNvSpPr/>
          <p:nvPr/>
        </p:nvSpPr>
        <p:spPr>
          <a:xfrm>
            <a:off x="8910371" y="2286000"/>
            <a:ext cx="1588770" cy="896112"/>
          </a:xfrm>
          <a:prstGeom prst="roundRect">
            <a:avLst>
              <a:gd name="adj" fmla="val 8163"/>
            </a:avLst>
          </a:prstGeom>
          <a:solidFill>
            <a:srgbClr val="EEF3FA"/>
          </a:solidFill>
          <a:ln w="12700">
            <a:solidFill>
              <a:srgbClr val="2E74C6"/>
            </a:solidFill>
            <a:prstDash val="solid"/>
          </a:ln>
        </p:spPr>
        <p:txBody>
          <a:bodyPr/>
          <a:lstStyle/>
          <a:p>
            <a:endParaRPr lang="ko-KR" altLang="en-US"/>
          </a:p>
        </p:txBody>
      </p:sp>
      <p:sp>
        <p:nvSpPr>
          <p:cNvPr id="37" name="Text 34"/>
          <p:cNvSpPr txBox="1"/>
          <p:nvPr/>
        </p:nvSpPr>
        <p:spPr>
          <a:xfrm>
            <a:off x="8910371" y="2286000"/>
            <a:ext cx="1588770" cy="89611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1E2A5C"/>
                </a:solidFill>
                <a:latin typeface="Pretendard" pitchFamily="34" charset="0"/>
                <a:ea typeface="Pretendard" pitchFamily="34" charset="-122"/>
                <a:cs typeface="Pretendard" pitchFamily="34" charset="-120"/>
              </a:rPr>
              <a:t>로드와 가명처리</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회원 정보를</a:t>
            </a:r>
            <a:endParaRPr lang="en-US" sz="1500" dirty="0"/>
          </a:p>
          <a:p>
            <a:pPr marL="0" indent="0" algn="ctr">
              <a:spcAft>
                <a:spcPts val="100"/>
              </a:spcAft>
              <a:buNone/>
            </a:pPr>
            <a:r>
              <a:rPr lang="en-US" sz="1400" dirty="0">
                <a:solidFill>
                  <a:srgbClr val="1E2A5C"/>
                </a:solidFill>
                <a:latin typeface="Pretendard" pitchFamily="34" charset="0"/>
                <a:ea typeface="Pretendard" pitchFamily="34" charset="-122"/>
                <a:cs typeface="Pretendard" pitchFamily="34" charset="-120"/>
              </a:rPr>
              <a:t>가명 키로 바꿈</a:t>
            </a:r>
            <a:endParaRPr lang="en-US" sz="1500" dirty="0"/>
          </a:p>
        </p:txBody>
      </p:sp>
      <p:sp>
        <p:nvSpPr>
          <p:cNvPr id="38" name="Shape 35"/>
          <p:cNvSpPr/>
          <p:nvPr/>
        </p:nvSpPr>
        <p:spPr>
          <a:xfrm>
            <a:off x="10526573" y="2734056"/>
            <a:ext cx="173736" cy="0"/>
          </a:xfrm>
          <a:prstGeom prst="line">
            <a:avLst/>
          </a:prstGeom>
          <a:noFill/>
          <a:ln w="19050">
            <a:solidFill>
              <a:srgbClr val="4A5364"/>
            </a:solidFill>
            <a:prstDash val="solid"/>
            <a:tailEnd type="triangle"/>
          </a:ln>
        </p:spPr>
        <p:txBody>
          <a:bodyPr/>
          <a:lstStyle/>
          <a:p>
            <a:endParaRPr lang="ko-KR" altLang="en-US"/>
          </a:p>
        </p:txBody>
      </p:sp>
      <p:sp>
        <p:nvSpPr>
          <p:cNvPr id="39" name="Shape 36"/>
          <p:cNvSpPr/>
          <p:nvPr/>
        </p:nvSpPr>
        <p:spPr>
          <a:xfrm>
            <a:off x="10727741" y="2286000"/>
            <a:ext cx="1588770" cy="896112"/>
          </a:xfrm>
          <a:prstGeom prst="roundRect">
            <a:avLst>
              <a:gd name="adj" fmla="val 8163"/>
            </a:avLst>
          </a:prstGeom>
          <a:solidFill>
            <a:srgbClr val="FFFFFF"/>
          </a:solidFill>
          <a:ln w="12700">
            <a:solidFill>
              <a:srgbClr val="D9E0EC"/>
            </a:solidFill>
            <a:prstDash val="solid"/>
          </a:ln>
        </p:spPr>
        <p:txBody>
          <a:bodyPr/>
          <a:lstStyle/>
          <a:p>
            <a:endParaRPr lang="ko-KR" altLang="en-US"/>
          </a:p>
        </p:txBody>
      </p:sp>
      <p:sp>
        <p:nvSpPr>
          <p:cNvPr id="40" name="Text 37"/>
          <p:cNvSpPr txBox="1"/>
          <p:nvPr/>
        </p:nvSpPr>
        <p:spPr>
          <a:xfrm>
            <a:off x="10727741" y="2286000"/>
            <a:ext cx="1588770" cy="89611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정제</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표기 정리</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메타데이터 검증</a:t>
            </a:r>
            <a:endParaRPr lang="en-US" sz="1500" dirty="0"/>
          </a:p>
        </p:txBody>
      </p:sp>
      <p:sp>
        <p:nvSpPr>
          <p:cNvPr id="41" name="Shape 38"/>
          <p:cNvSpPr/>
          <p:nvPr/>
        </p:nvSpPr>
        <p:spPr>
          <a:xfrm>
            <a:off x="12343943" y="2734056"/>
            <a:ext cx="173736" cy="0"/>
          </a:xfrm>
          <a:prstGeom prst="line">
            <a:avLst/>
          </a:prstGeom>
          <a:noFill/>
          <a:ln w="19050">
            <a:solidFill>
              <a:srgbClr val="4A5364"/>
            </a:solidFill>
            <a:prstDash val="solid"/>
            <a:tailEnd type="triangle"/>
          </a:ln>
        </p:spPr>
        <p:txBody>
          <a:bodyPr/>
          <a:lstStyle/>
          <a:p>
            <a:endParaRPr lang="ko-KR" altLang="en-US"/>
          </a:p>
        </p:txBody>
      </p:sp>
      <p:sp>
        <p:nvSpPr>
          <p:cNvPr id="42" name="Shape 39"/>
          <p:cNvSpPr/>
          <p:nvPr/>
        </p:nvSpPr>
        <p:spPr>
          <a:xfrm>
            <a:off x="12545111" y="2286000"/>
            <a:ext cx="1588770" cy="896112"/>
          </a:xfrm>
          <a:prstGeom prst="roundRect">
            <a:avLst>
              <a:gd name="adj" fmla="val 8163"/>
            </a:avLst>
          </a:prstGeom>
          <a:solidFill>
            <a:srgbClr val="FFFFFF"/>
          </a:solidFill>
          <a:ln w="12700">
            <a:solidFill>
              <a:srgbClr val="D9E0EC"/>
            </a:solidFill>
            <a:prstDash val="solid"/>
          </a:ln>
        </p:spPr>
        <p:txBody>
          <a:bodyPr/>
          <a:lstStyle/>
          <a:p>
            <a:endParaRPr lang="ko-KR" altLang="en-US"/>
          </a:p>
        </p:txBody>
      </p:sp>
      <p:sp>
        <p:nvSpPr>
          <p:cNvPr id="43" name="Text 40"/>
          <p:cNvSpPr txBox="1"/>
          <p:nvPr/>
        </p:nvSpPr>
        <p:spPr>
          <a:xfrm>
            <a:off x="12545111" y="2286000"/>
            <a:ext cx="1588770" cy="896112"/>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청킹</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문서별 분할 정책</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카드 경계, 머리말</a:t>
            </a:r>
            <a:endParaRPr lang="en-US" sz="1500" dirty="0"/>
          </a:p>
        </p:txBody>
      </p:sp>
      <p:sp>
        <p:nvSpPr>
          <p:cNvPr id="44" name="Shape 41"/>
          <p:cNvSpPr/>
          <p:nvPr/>
        </p:nvSpPr>
        <p:spPr>
          <a:xfrm>
            <a:off x="7093001" y="3310128"/>
            <a:ext cx="7040880" cy="658368"/>
          </a:xfrm>
          <a:prstGeom prst="roundRect">
            <a:avLst>
              <a:gd name="adj" fmla="val 11111"/>
            </a:avLst>
          </a:prstGeom>
          <a:solidFill>
            <a:srgbClr val="1E2A5C"/>
          </a:solidFill>
          <a:ln/>
        </p:spPr>
        <p:txBody>
          <a:bodyPr/>
          <a:lstStyle/>
          <a:p>
            <a:endParaRPr lang="ko-KR" altLang="en-US"/>
          </a:p>
        </p:txBody>
      </p:sp>
      <p:sp>
        <p:nvSpPr>
          <p:cNvPr id="45" name="Text 42"/>
          <p:cNvSpPr txBox="1"/>
          <p:nvPr/>
        </p:nvSpPr>
        <p:spPr>
          <a:xfrm>
            <a:off x="7093001" y="3310128"/>
            <a:ext cx="7040880" cy="658368"/>
          </a:xfrm>
          <a:prstGeom prst="rect">
            <a:avLst/>
          </a:prstGeom>
          <a:noFill/>
          <a:ln/>
        </p:spPr>
        <p:txBody>
          <a:bodyPr wrap="square" lIns="635" tIns="635" rIns="635" bIns="635" rtlCol="0" anchor="ctr"/>
          <a:lstStyle/>
          <a:p>
            <a:pPr marL="0" indent="0" algn="ctr">
              <a:spcAft>
                <a:spcPts val="100"/>
              </a:spcAft>
              <a:buNone/>
            </a:pPr>
            <a:r>
              <a:rPr lang="en-US" sz="1600" b="1" dirty="0">
                <a:solidFill>
                  <a:srgbClr val="FFFFFF"/>
                </a:solidFill>
                <a:latin typeface="Pretendard" pitchFamily="34" charset="0"/>
                <a:ea typeface="Pretendard" pitchFamily="34" charset="-122"/>
                <a:cs typeface="Pretendard" pitchFamily="34" charset="-120"/>
              </a:rPr>
              <a:t>prepared-chunks.json + SHA-256</a:t>
            </a:r>
            <a:endParaRPr lang="en-US" sz="16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개인정보 처리된 청크만 저장 → K1, S1이 함께 읽음</a:t>
            </a:r>
            <a:endParaRPr lang="en-US" sz="1600" dirty="0"/>
          </a:p>
        </p:txBody>
      </p:sp>
      <p:sp>
        <p:nvSpPr>
          <p:cNvPr id="46" name="Shape 43"/>
          <p:cNvSpPr/>
          <p:nvPr/>
        </p:nvSpPr>
        <p:spPr>
          <a:xfrm>
            <a:off x="7093001" y="4096512"/>
            <a:ext cx="2255520" cy="1188720"/>
          </a:xfrm>
          <a:prstGeom prst="roundRect">
            <a:avLst>
              <a:gd name="adj" fmla="val 6154"/>
            </a:avLst>
          </a:prstGeom>
          <a:solidFill>
            <a:srgbClr val="F5F8FC"/>
          </a:solidFill>
          <a:ln w="12700">
            <a:solidFill>
              <a:srgbClr val="D9E0EC"/>
            </a:solidFill>
            <a:prstDash val="solid"/>
          </a:ln>
        </p:spPr>
        <p:txBody>
          <a:bodyPr/>
          <a:lstStyle/>
          <a:p>
            <a:endParaRPr lang="ko-KR" altLang="en-US"/>
          </a:p>
        </p:txBody>
      </p:sp>
      <p:sp>
        <p:nvSpPr>
          <p:cNvPr id="47" name="Text 44"/>
          <p:cNvSpPr txBox="1"/>
          <p:nvPr/>
        </p:nvSpPr>
        <p:spPr>
          <a:xfrm>
            <a:off x="7184441" y="4142232"/>
            <a:ext cx="207264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원문은 남기지 않음</a:t>
            </a:r>
            <a:endParaRPr lang="en-US" sz="1500" dirty="0"/>
          </a:p>
        </p:txBody>
      </p:sp>
      <p:sp>
        <p:nvSpPr>
          <p:cNvPr id="48" name="Text 45"/>
          <p:cNvSpPr txBox="1"/>
          <p:nvPr/>
        </p:nvSpPr>
        <p:spPr>
          <a:xfrm>
            <a:off x="7184441" y="4498848"/>
            <a:ext cx="2072640" cy="73152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가명처리 전 원문은 메모리에서만 다루고 처리된 청크만 저장</a:t>
            </a:r>
            <a:endParaRPr lang="en-US" sz="1400" dirty="0"/>
          </a:p>
        </p:txBody>
      </p:sp>
      <p:sp>
        <p:nvSpPr>
          <p:cNvPr id="49" name="Shape 46"/>
          <p:cNvSpPr/>
          <p:nvPr/>
        </p:nvSpPr>
        <p:spPr>
          <a:xfrm>
            <a:off x="9485681" y="4096512"/>
            <a:ext cx="2255520" cy="1188720"/>
          </a:xfrm>
          <a:prstGeom prst="roundRect">
            <a:avLst>
              <a:gd name="adj" fmla="val 6154"/>
            </a:avLst>
          </a:prstGeom>
          <a:solidFill>
            <a:srgbClr val="F5F8FC"/>
          </a:solidFill>
          <a:ln w="12700">
            <a:solidFill>
              <a:srgbClr val="D9E0EC"/>
            </a:solidFill>
            <a:prstDash val="solid"/>
          </a:ln>
        </p:spPr>
        <p:txBody>
          <a:bodyPr/>
          <a:lstStyle/>
          <a:p>
            <a:endParaRPr lang="ko-KR" altLang="en-US"/>
          </a:p>
        </p:txBody>
      </p:sp>
      <p:sp>
        <p:nvSpPr>
          <p:cNvPr id="50" name="Text 47"/>
          <p:cNvSpPr txBox="1"/>
          <p:nvPr/>
        </p:nvSpPr>
        <p:spPr>
          <a:xfrm>
            <a:off x="9577121" y="4142232"/>
            <a:ext cx="207264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바뀌지 않은 문서는 재사용</a:t>
            </a:r>
            <a:endParaRPr lang="en-US" sz="1500" dirty="0"/>
          </a:p>
        </p:txBody>
      </p:sp>
      <p:sp>
        <p:nvSpPr>
          <p:cNvPr id="51" name="Text 48"/>
          <p:cNvSpPr txBox="1"/>
          <p:nvPr/>
        </p:nvSpPr>
        <p:spPr>
          <a:xfrm>
            <a:off x="9577121" y="4498848"/>
            <a:ext cx="2072640" cy="73152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원천 해시와 처리 정책이 같으면 이전 세대의 처리된 청크를 씀</a:t>
            </a:r>
            <a:endParaRPr lang="en-US" sz="1400" dirty="0"/>
          </a:p>
        </p:txBody>
      </p:sp>
      <p:sp>
        <p:nvSpPr>
          <p:cNvPr id="52" name="Shape 49"/>
          <p:cNvSpPr/>
          <p:nvPr/>
        </p:nvSpPr>
        <p:spPr>
          <a:xfrm>
            <a:off x="11878361" y="4096512"/>
            <a:ext cx="2255520" cy="1188720"/>
          </a:xfrm>
          <a:prstGeom prst="roundRect">
            <a:avLst>
              <a:gd name="adj" fmla="val 6154"/>
            </a:avLst>
          </a:prstGeom>
          <a:solidFill>
            <a:srgbClr val="F5F8FC"/>
          </a:solidFill>
          <a:ln w="12700">
            <a:solidFill>
              <a:srgbClr val="D9E0EC"/>
            </a:solidFill>
            <a:prstDash val="solid"/>
          </a:ln>
        </p:spPr>
        <p:txBody>
          <a:bodyPr/>
          <a:lstStyle/>
          <a:p>
            <a:endParaRPr lang="ko-KR" altLang="en-US"/>
          </a:p>
        </p:txBody>
      </p:sp>
      <p:sp>
        <p:nvSpPr>
          <p:cNvPr id="53" name="Text 50"/>
          <p:cNvSpPr txBox="1"/>
          <p:nvPr/>
        </p:nvSpPr>
        <p:spPr>
          <a:xfrm>
            <a:off x="11969801" y="4142232"/>
            <a:ext cx="2072640" cy="347472"/>
          </a:xfrm>
          <a:prstGeom prst="rect">
            <a:avLst/>
          </a:prstGeom>
          <a:noFill/>
          <a:ln/>
        </p:spPr>
        <p:txBody>
          <a:bodyPr wrap="square" lIns="762" tIns="762" rIns="762" bIns="762" rtlCol="0" anchor="ctr"/>
          <a:lstStyle/>
          <a:p>
            <a:pPr marL="0" indent="0" algn="l">
              <a:buNone/>
            </a:pPr>
            <a:r>
              <a:rPr lang="en-US" sz="1500" b="1" dirty="0">
                <a:solidFill>
                  <a:srgbClr val="1E2A5C"/>
                </a:solidFill>
                <a:latin typeface="Pretendard" pitchFamily="34" charset="0"/>
                <a:ea typeface="Pretendard" pitchFamily="34" charset="-122"/>
                <a:cs typeface="Pretendard" pitchFamily="34" charset="-120"/>
              </a:rPr>
              <a:t>실행 중 원천이 바뀌면 중단</a:t>
            </a:r>
            <a:endParaRPr lang="en-US" sz="1500" dirty="0"/>
          </a:p>
        </p:txBody>
      </p:sp>
      <p:sp>
        <p:nvSpPr>
          <p:cNvPr id="54" name="Text 51"/>
          <p:cNvSpPr txBox="1"/>
          <p:nvPr/>
        </p:nvSpPr>
        <p:spPr>
          <a:xfrm>
            <a:off x="11969801" y="4498848"/>
            <a:ext cx="2072640" cy="731520"/>
          </a:xfrm>
          <a:prstGeom prst="rect">
            <a:avLst/>
          </a:prstGeom>
          <a:noFill/>
          <a:ln/>
        </p:spPr>
        <p:txBody>
          <a:bodyPr wrap="square" lIns="762" tIns="762" rIns="762" bIns="762" rtlCol="0" anchor="t"/>
          <a:lstStyle/>
          <a:p>
            <a:pPr marL="0" indent="0" algn="l">
              <a:buNone/>
            </a:pPr>
            <a:r>
              <a:rPr lang="en-US" sz="1400" dirty="0">
                <a:solidFill>
                  <a:srgbClr val="3B4557"/>
                </a:solidFill>
                <a:latin typeface="Pretendard" pitchFamily="34" charset="0"/>
                <a:ea typeface="Pretendard" pitchFamily="34" charset="-122"/>
                <a:cs typeface="Pretendard" pitchFamily="34" charset="-120"/>
              </a:rPr>
              <a:t>지문이 달라지면 같은 실행으로 이어 가지 않음</a:t>
            </a:r>
            <a:endParaRPr lang="en-US" sz="1400" dirty="0"/>
          </a:p>
        </p:txBody>
      </p:sp>
      <p:sp>
        <p:nvSpPr>
          <p:cNvPr id="55" name="Text 52"/>
          <p:cNvSpPr txBox="1"/>
          <p:nvPr/>
        </p:nvSpPr>
        <p:spPr>
          <a:xfrm>
            <a:off x="7093001" y="5413248"/>
            <a:ext cx="7040880" cy="292608"/>
          </a:xfrm>
          <a:prstGeom prst="rect">
            <a:avLst/>
          </a:prstGeom>
          <a:noFill/>
          <a:ln/>
        </p:spPr>
        <p:txBody>
          <a:bodyPr wrap="square" lIns="762" tIns="762" rIns="762" bIns="762" rtlCol="0" anchor="ctr"/>
          <a:lstStyle/>
          <a:p>
            <a:pPr marL="0" indent="0" algn="l">
              <a:buNone/>
            </a:pPr>
            <a:r>
              <a:rPr lang="en-US" sz="1500" b="1" dirty="0">
                <a:solidFill>
                  <a:srgbClr val="4A5364"/>
                </a:solidFill>
                <a:latin typeface="Pretendard" pitchFamily="34" charset="0"/>
                <a:ea typeface="Pretendard" pitchFamily="34" charset="-122"/>
                <a:cs typeface="Pretendard" pitchFamily="34" charset="-120"/>
              </a:rPr>
              <a:t>chunk_id 만드는 법: </a:t>
            </a:r>
            <a:r>
              <a:rPr lang="ko-KR" altLang="en-US" sz="1500" b="1" dirty="0" err="1">
                <a:solidFill>
                  <a:srgbClr val="4A5364"/>
                </a:solidFill>
                <a:latin typeface="Pretendard" pitchFamily="34" charset="0"/>
                <a:ea typeface="Pretendard" pitchFamily="34" charset="-122"/>
                <a:cs typeface="Pretendard" pitchFamily="34" charset="-120"/>
              </a:rPr>
              <a:t>문서키</a:t>
            </a:r>
            <a:r>
              <a:rPr lang="ko-KR" altLang="en-US" sz="1500" b="1" dirty="0">
                <a:solidFill>
                  <a:srgbClr val="4A5364"/>
                </a:solidFill>
                <a:latin typeface="Pretendard" pitchFamily="34" charset="0"/>
                <a:ea typeface="Pretendard" pitchFamily="34" charset="-122"/>
                <a:cs typeface="Pretendard" pitchFamily="34" charset="-120"/>
              </a:rPr>
              <a:t> </a:t>
            </a:r>
            <a:r>
              <a:rPr lang="en-US" altLang="ko-KR" sz="1500" b="1" dirty="0">
                <a:solidFill>
                  <a:srgbClr val="4A5364"/>
                </a:solidFill>
                <a:latin typeface="Pretendard" pitchFamily="34" charset="0"/>
                <a:ea typeface="Pretendard" pitchFamily="34" charset="-122"/>
                <a:cs typeface="Pretendard" pitchFamily="34" charset="-120"/>
              </a:rPr>
              <a:t>+ </a:t>
            </a:r>
            <a:r>
              <a:rPr lang="ko-KR" altLang="en-US" sz="1500" b="1" dirty="0">
                <a:solidFill>
                  <a:srgbClr val="4A5364"/>
                </a:solidFill>
                <a:latin typeface="Pretendard" pitchFamily="34" charset="0"/>
                <a:ea typeface="Pretendard" pitchFamily="34" charset="-122"/>
                <a:cs typeface="Pretendard" pitchFamily="34" charset="-120"/>
              </a:rPr>
              <a:t>본문 해시 </a:t>
            </a:r>
            <a:r>
              <a:rPr lang="en-US" altLang="ko-KR" sz="1500" b="1" dirty="0">
                <a:solidFill>
                  <a:srgbClr val="4A5364"/>
                </a:solidFill>
                <a:latin typeface="Pretendard" pitchFamily="34" charset="0"/>
                <a:ea typeface="Pretendard" pitchFamily="34" charset="-122"/>
                <a:cs typeface="Pretendard" pitchFamily="34" charset="-120"/>
              </a:rPr>
              <a:t>+ </a:t>
            </a:r>
            <a:r>
              <a:rPr lang="ko-KR" altLang="en-US" sz="1500" b="1" dirty="0">
                <a:solidFill>
                  <a:srgbClr val="4A5364"/>
                </a:solidFill>
                <a:latin typeface="Pretendard" pitchFamily="34" charset="0"/>
                <a:ea typeface="Pretendard" pitchFamily="34" charset="-122"/>
                <a:cs typeface="Pretendard" pitchFamily="34" charset="-120"/>
              </a:rPr>
              <a:t>같은 본문 </a:t>
            </a:r>
            <a:r>
              <a:rPr lang="ko-KR" altLang="en-US" sz="1500" b="1" dirty="0" err="1">
                <a:solidFill>
                  <a:srgbClr val="4A5364"/>
                </a:solidFill>
                <a:latin typeface="Pretendard" pitchFamily="34" charset="0"/>
                <a:ea typeface="Pretendard" pitchFamily="34" charset="-122"/>
                <a:cs typeface="Pretendard" pitchFamily="34" charset="-120"/>
              </a:rPr>
              <a:t>청크</a:t>
            </a:r>
            <a:r>
              <a:rPr lang="ko-KR" altLang="en-US" sz="1500" b="1" dirty="0">
                <a:solidFill>
                  <a:srgbClr val="4A5364"/>
                </a:solidFill>
                <a:latin typeface="Pretendard" pitchFamily="34" charset="0"/>
                <a:ea typeface="Pretendard" pitchFamily="34" charset="-122"/>
                <a:cs typeface="Pretendard" pitchFamily="34" charset="-120"/>
              </a:rPr>
              <a:t> 존재 시 구별 번호</a:t>
            </a:r>
            <a:endParaRPr lang="en-US" sz="1500" dirty="0"/>
          </a:p>
        </p:txBody>
      </p:sp>
      <p:sp>
        <p:nvSpPr>
          <p:cNvPr id="56" name="Shape 53"/>
          <p:cNvSpPr/>
          <p:nvPr/>
        </p:nvSpPr>
        <p:spPr>
          <a:xfrm>
            <a:off x="7093001" y="5733288"/>
            <a:ext cx="2651760" cy="658368"/>
          </a:xfrm>
          <a:prstGeom prst="roundRect">
            <a:avLst>
              <a:gd name="adj" fmla="val 5556"/>
            </a:avLst>
          </a:prstGeom>
          <a:solidFill>
            <a:srgbClr val="2E74C6"/>
          </a:solidFill>
          <a:ln/>
        </p:spPr>
        <p:txBody>
          <a:bodyPr/>
          <a:lstStyle/>
          <a:p>
            <a:endParaRPr lang="ko-KR" altLang="en-US"/>
          </a:p>
        </p:txBody>
      </p:sp>
      <p:sp>
        <p:nvSpPr>
          <p:cNvPr id="57" name="Text 54"/>
          <p:cNvSpPr txBox="1"/>
          <p:nvPr/>
        </p:nvSpPr>
        <p:spPr>
          <a:xfrm>
            <a:off x="7093001" y="5733288"/>
            <a:ext cx="2651760"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FFFFFF"/>
                </a:solidFill>
                <a:latin typeface="Pretendard" pitchFamily="34" charset="0"/>
                <a:ea typeface="Pretendard" pitchFamily="34" charset="-122"/>
                <a:cs typeface="Pretendard" pitchFamily="34" charset="-120"/>
              </a:rPr>
              <a:t>D1_27223010abe31291</a:t>
            </a:r>
            <a:endParaRPr lang="en-US" sz="1500" dirty="0"/>
          </a:p>
          <a:p>
            <a:pPr marL="0" indent="0" algn="ctr">
              <a:spcAft>
                <a:spcPts val="100"/>
              </a:spcAft>
              <a:buNone/>
            </a:pPr>
            <a:r>
              <a:rPr lang="en-US" sz="1400" dirty="0">
                <a:solidFill>
                  <a:srgbClr val="FFFFFF"/>
                </a:solidFill>
                <a:latin typeface="Pretendard" pitchFamily="34" charset="0"/>
                <a:ea typeface="Pretendard" pitchFamily="34" charset="-122"/>
                <a:cs typeface="Pretendard" pitchFamily="34" charset="-120"/>
              </a:rPr>
              <a:t>문서 키</a:t>
            </a:r>
            <a:endParaRPr lang="en-US" sz="1500" dirty="0"/>
          </a:p>
        </p:txBody>
      </p:sp>
      <p:sp>
        <p:nvSpPr>
          <p:cNvPr id="58" name="Shape 55"/>
          <p:cNvSpPr/>
          <p:nvPr/>
        </p:nvSpPr>
        <p:spPr>
          <a:xfrm>
            <a:off x="9781337" y="5733288"/>
            <a:ext cx="2468880" cy="658368"/>
          </a:xfrm>
          <a:prstGeom prst="roundRect">
            <a:avLst>
              <a:gd name="adj" fmla="val 5556"/>
            </a:avLst>
          </a:prstGeom>
          <a:solidFill>
            <a:srgbClr val="FFFFFF"/>
          </a:solidFill>
          <a:ln w="12700">
            <a:solidFill>
              <a:srgbClr val="D9E0EC"/>
            </a:solidFill>
            <a:prstDash val="solid"/>
          </a:ln>
        </p:spPr>
        <p:txBody>
          <a:bodyPr/>
          <a:lstStyle/>
          <a:p>
            <a:endParaRPr lang="ko-KR" altLang="en-US"/>
          </a:p>
        </p:txBody>
      </p:sp>
      <p:sp>
        <p:nvSpPr>
          <p:cNvPr id="59" name="Text 56"/>
          <p:cNvSpPr txBox="1"/>
          <p:nvPr/>
        </p:nvSpPr>
        <p:spPr>
          <a:xfrm>
            <a:off x="9781337" y="5733288"/>
            <a:ext cx="2468880"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_112f1e4abea05436</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본문 해시 16자리</a:t>
            </a:r>
            <a:endParaRPr lang="en-US" sz="1500" dirty="0"/>
          </a:p>
        </p:txBody>
      </p:sp>
      <p:sp>
        <p:nvSpPr>
          <p:cNvPr id="60" name="Shape 57"/>
          <p:cNvSpPr/>
          <p:nvPr/>
        </p:nvSpPr>
        <p:spPr>
          <a:xfrm>
            <a:off x="12286793" y="5733288"/>
            <a:ext cx="1847088" cy="658368"/>
          </a:xfrm>
          <a:prstGeom prst="roundRect">
            <a:avLst>
              <a:gd name="adj" fmla="val 5556"/>
            </a:avLst>
          </a:prstGeom>
          <a:solidFill>
            <a:srgbClr val="FFFFFF"/>
          </a:solidFill>
          <a:ln w="12700">
            <a:solidFill>
              <a:srgbClr val="D9E0EC"/>
            </a:solidFill>
            <a:prstDash val="solid"/>
          </a:ln>
        </p:spPr>
        <p:txBody>
          <a:bodyPr/>
          <a:lstStyle/>
          <a:p>
            <a:endParaRPr lang="ko-KR" altLang="en-US"/>
          </a:p>
        </p:txBody>
      </p:sp>
      <p:sp>
        <p:nvSpPr>
          <p:cNvPr id="61" name="Text 58"/>
          <p:cNvSpPr txBox="1"/>
          <p:nvPr/>
        </p:nvSpPr>
        <p:spPr>
          <a:xfrm>
            <a:off x="12286793" y="5733288"/>
            <a:ext cx="1847088" cy="658368"/>
          </a:xfrm>
          <a:prstGeom prst="rect">
            <a:avLst/>
          </a:prstGeom>
          <a:noFill/>
          <a:ln/>
        </p:spPr>
        <p:txBody>
          <a:bodyPr wrap="square" lIns="635" tIns="635" rIns="635" bIns="635" rtlCol="0" anchor="ctr"/>
          <a:lstStyle/>
          <a:p>
            <a:pPr marL="0" indent="0" algn="ctr">
              <a:spcAft>
                <a:spcPts val="100"/>
              </a:spcAft>
              <a:buNone/>
            </a:pPr>
            <a:r>
              <a:rPr lang="en-US" sz="1500" b="1" dirty="0">
                <a:solidFill>
                  <a:srgbClr val="2B3242"/>
                </a:solidFill>
                <a:latin typeface="Pretendard" pitchFamily="34" charset="0"/>
                <a:ea typeface="Pretendard" pitchFamily="34" charset="-122"/>
                <a:cs typeface="Pretendard" pitchFamily="34" charset="-120"/>
              </a:rPr>
              <a:t>_0000</a:t>
            </a:r>
            <a:endParaRPr lang="en-US" sz="1500" dirty="0"/>
          </a:p>
          <a:p>
            <a:pPr marL="0" indent="0" algn="ctr">
              <a:spcAft>
                <a:spcPts val="100"/>
              </a:spcAft>
              <a:buNone/>
            </a:pPr>
            <a:r>
              <a:rPr lang="en-US" sz="1400" dirty="0">
                <a:solidFill>
                  <a:srgbClr val="2B3242"/>
                </a:solidFill>
                <a:latin typeface="Pretendard" pitchFamily="34" charset="0"/>
                <a:ea typeface="Pretendard" pitchFamily="34" charset="-122"/>
                <a:cs typeface="Pretendard" pitchFamily="34" charset="-120"/>
              </a:rPr>
              <a:t>같은 본문 반복 번호</a:t>
            </a:r>
            <a:endParaRPr lang="en-US" sz="1500" dirty="0"/>
          </a:p>
        </p:txBody>
      </p:sp>
      <p:sp>
        <p:nvSpPr>
          <p:cNvPr id="62" name="Text 59"/>
          <p:cNvSpPr txBox="1"/>
          <p:nvPr/>
        </p:nvSpPr>
        <p:spPr>
          <a:xfrm>
            <a:off x="7093001" y="6510528"/>
            <a:ext cx="7040880" cy="566928"/>
          </a:xfrm>
          <a:prstGeom prst="rect">
            <a:avLst/>
          </a:prstGeom>
          <a:noFill/>
          <a:ln/>
        </p:spPr>
        <p:txBody>
          <a:bodyPr wrap="square" lIns="762" tIns="762" rIns="762" bIns="762" rtlCol="0" anchor="ctr"/>
          <a:lstStyle/>
          <a:p>
            <a:pPr marL="0" indent="0" algn="l">
              <a:buNone/>
            </a:pPr>
            <a:r>
              <a:rPr lang="en-US" sz="1400" dirty="0">
                <a:solidFill>
                  <a:srgbClr val="3B4557"/>
                </a:solidFill>
                <a:latin typeface="Pretendard" pitchFamily="34" charset="0"/>
                <a:ea typeface="Pretendard" pitchFamily="34" charset="-122"/>
                <a:cs typeface="Pretendard" pitchFamily="34" charset="-120"/>
              </a:rPr>
              <a:t>청크 한 건: chunk_id, text, index_text(머리말 포함), metadata(가명 키 포함), text_hash, token_count</a:t>
            </a:r>
            <a:endParaRPr lang="en-US" sz="1400" dirty="0"/>
          </a:p>
        </p:txBody>
      </p:sp>
      <p:sp>
        <p:nvSpPr>
          <p:cNvPr id="4" name="Slide Number Placeholder 0"/>
          <p:cNvSpPr>
            <a:spLocks noGrp="1"/>
          </p:cNvSpPr>
          <p:nvPr>
            <p:ph type="sldNum" idx="4"/>
          </p:nvPr>
        </p:nvSpPr>
        <p:spPr>
          <a:xfrm>
            <a:off x="10893247" y="7787945"/>
            <a:ext cx="3291840" cy="228600"/>
          </a:xfrm>
          <a:prstGeom prst="rect">
            <a:avLst/>
          </a:prstGeom>
          <a:extLst>
            <a:ext uri="{C572A759-6A51-4108-AA02-DFA0A04FC94B}">
              <ma14:wrappingTextBoxFlag xmlns:ma14="http://schemas.microsoft.com/office/mac/drawingml/2011/main" xmlns="" val="0"/>
            </a:ext>
          </a:extLst>
        </p:spPr>
        <p:txBody>
          <a:bodyPr/>
          <a:lstStyle>
            <a:lvl1pPr>
              <a:defRPr sz="1600">
                <a:solidFill>
                  <a:srgbClr val="6B6B7B"/>
                </a:solidFill>
                <a:latin typeface="Pretendard"/>
                <a:ea typeface="Pretendard"/>
                <a:cs typeface="Pretendard"/>
              </a:defRPr>
            </a:lvl1pPr>
          </a:lstStyle>
          <a:p>
            <a:pPr algn="r"/>
            <a:fld id="{F7021451-1387-4CA6-816F-3879F97B5CBC}" type="slidenum">
              <a:rPr lang="en-US" b="0"/>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433</Words>
  <Application>Microsoft Office PowerPoint</Application>
  <PresentationFormat>사용자 지정</PresentationFormat>
  <Paragraphs>57</Paragraphs>
  <Slides>1</Slides>
  <Notes>1</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vt:i4>
      </vt:variant>
    </vt:vector>
  </HeadingPairs>
  <TitlesOfParts>
    <vt:vector size="5" baseType="lpstr">
      <vt:lpstr>Arial</vt:lpstr>
      <vt:lpstr>Pretendard</vt:lpstr>
      <vt:lpstr>Pretendard SemiBold</vt:lpstr>
      <vt:lpstr>Office Theme</vt:lpstr>
      <vt:lpstr>오케스트레이터 ① 세대 ID 발급, ② 공통 단계</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해경 이</cp:lastModifiedBy>
  <cp:revision>2</cp:revision>
  <dcterms:created xsi:type="dcterms:W3CDTF">2026-10-19T09:00:42Z</dcterms:created>
  <dcterms:modified xsi:type="dcterms:W3CDTF">2026-10-19T09:15:39Z</dcterms:modified>
</cp:coreProperties>
</file>