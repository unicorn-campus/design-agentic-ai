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60" r:id="rId4"/>
    <p:sldId id="259" r:id="rId5"/>
    <p:sldId id="261" r:id="rId6"/>
    <p:sldId id="262" r:id="rId7"/>
    <p:sldId id="258" r:id="rId8"/>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9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852683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표를 왼쪽에서 오른쪽으로 읽으면 '무엇을 판단하나 → 언제 판단하나 → 무슨 일을 하나 → 얼마나 비싼가' 순서로 이어짐을 먼저 안내함.
Basic RAG만 판단 단계가 없음. 교재가 꼽은 Basic의 한계는 항상 검색함, 결과 품질 검증 없음, 검색 전략이 하나뿐, 질문 변환 없음 네 가지이며 뒤의 패턴들이 이 한계를 메움.
Self-RAG와 CRAG는 둘 다 품질을 검증하지만 교정 액션 유무가 갈림. Self-RAG는 낮은 점수를 돌려줄 뿐이고, CRAG는 질문 재작성·웹 검색 같은 교정을 실제로 수행함.
콜아웃을 읽고 '오늘 목표는 가장 똑똑한 패턴이 아니라 가장 작은 패턴 고르기'라고 못박음.
LLM 호출 수는 교재 값 그대로이며 우리 서비스에서 측정한 값이 아님을 분명히 말함.</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왼쪽 실선 노드만 짚으며 '우리 서비스는 이미 Basic RAG'라고 확인시킴. 새 패턴은 뼈대를 갈아엎는 게 아니라 정해진 자리에 부품을 끼우는 일임.
도식의 배지 번호와 오른쪽 카드 번호가 같음. 2번 Self-RAG는 '검색 전'과 '근거 검증' 두 자리에 걸쳐 있음.
근거 검증 자리는 우리에게 이미 있음. 다만 교재의 Self-RAG는 점수만 돌려주는 데 비해, 우리 흐름은 검증 실패 시 답변을 다시 쓰므로 교정 성격이 섞여 있음을 덧붙임.
CRAG의 '낮음' 경로가 요구하는 웹 검색은 지금 우리 시스템에 없음. 대신 '확인 필요'로 멈추는 현재 동작이 안전한 대체임을 설명함.
Vector·Hybrid·Rerank는 패턴이 아니라 '검색 부품' 칸의 선택지임. 패턴을 바꿔도 이 칸의 선택은 그대로 남음 — 검색 모드 선택과 패턴 선택은 별개의 결정임.</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패턴을 붙여도 다음 단계를 개발자가 그려 둔 분기가 정하면 워크플로우임. Agentic과의 차이는 패턴 수가 아니라 흐름의 운전대를 누가 잡았는지임.
단순 질문 「연회비 면제 조건은?」: 분류기에서 단순 → 원 질문 검색 → 채점 정확 → 답변 → 근거 검증 통과.
복합 질문 「올해 비용 면제와 포인트 적립 조건을 함께 알려주세요」: 분류기에서 복합 → 미리 분해 + 원 질문 검색 → 결과 병합 → 채점 → 답변 → 근거 검증.
분류기와 채점을 규칙·점수 기반으로 두면 이 두 자리에서는 LLM을 부르지 않음. LLM은 질문 변환·답변·재작성에만 씀.
Self-RAG의 '답변이 유용한가' 판단은 이 설계에 넣지 않음. 필요하면 근거 검증 뒤에 별도 관문으로 추가.</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패턴을 미리 그려 둔 분기로 붙이면 워크플로우이고, 다음 행동을 LLM이 실행 중에 고르면 Agentic임. 기준은 '몇 개 합쳤나'가 아니라 '흐름의 운전대를 누가 잡았나'임.
예시 「올해 비용 면제와 포인트 적립 조건을 함께 알려주세요」: 계획에서 하위 질문 2개로 분해 → ① 연회비 면제 검색, 채점 정확 → ② 포인트 적립 검색, 채점 애매 → rewrite 후 재검색, 채점 정확 → 근거 모두 확보 → 답변 생성 → 근거 검증 통과.
지금 워크플로우는 질문을 미리 쪼개 한 번에 검색하지만, Agentic은 ②의 결과를 보고 나서 재검색을 고른다는 점이 다름.
분해는 질문 문장만 보고 판단 가능하므로 계획 단계에서 미리 수행. rewrite·HyDE·step-back은 결과가 나쁠 때만 의미가 있으므로 관찰 이후에 사용.
가드레일 1번이 가장 먼저 부딪히는 제약임. 도입 전 평가셋으로 정답 수와 LLM 호출 수를 함께 비교해야 함.</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CRAG 원 논문도 채점에 큰 LLM이 아니라 경량 평가자를 쓰고, 신뢰도에 따라 행동을 나눔. 우리 재설계안은 그 평가자를 점수·문자열 신호와 규칙으로 대신하는 것임.
규칙은 위에서부터 검사함. 부정확 조건을 먼저 보는 이유는 근거가 없는데 답하는 사고를 가장 먼저 막기 위함임.
예: 「연회비 면제 조건은?」 → 관련도 1위가 상한 이상, '연회비'·'면제'가 결과에 있음 → 정확 → 답변. 질문에 상품 코드가 있는데 결과 어디에도 없으면 점수가 높아도 부정확으로 판정함.
한계: 규칙은 '주제는 맞지만 답이 없는 문서'를 못 거름. 이 빈틈은 답변 후 근거 검증(인용문 원문 대조)과 애매 구간의 LLM 평가자가 메움.
상한·하한 숫자를 슬라이드에 적지 않은 이유: 숫자는 임베딩 모델과 평가셋에 따라 달라지므로 설계서가 아니라 평가 리포트에서 정해야 함.</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CRAG 원 논문도 채점에 큰 LLM이 아니라 경량 평가자를 쓰고, 신뢰도에 따라 행동을 나눔. 재설계안은 그 평가자를 점수·문자열 신호와 규칙으로 대신하는 것임.
상한·하한을 둘 다 갖는 것은 주 점수 하나뿐임. 모드마다 주 점수를 하나만 정하고 두 점수를 섞지 않음. hybrid 융합 점수는 눈금이 또 다르므로 판정에 쓰지 않거나, 쓰려면 기준을 따로 정함.
조정할 숫자는 모드당 4개 정도(주 점수 상한·하한, 최소 격차, 최소 겹침)로 적게 유지함. 숫자가 늘수록 보정 부담과 평가셋 과적합 위험이 커짐.
평가셋에서 하한은 '이보다 낮으면 거의 다 오답', 상한은 '이보다 높으면 거의 다 정답'인 지점으로 정함. 사이 구간은 일부러 애매로 남겨 재검색·LLM 평가자에게 넘김.
한계: 규칙은 '주제는 맞지만 답이 없는 문서'를 못 거름. 이 빈틈은 답변 후 근거 검증(인용문 원문 대조)과 애매 구간의 LLM 평가자가 메움.</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 표는 교재의 복잡도 순서 그대로이며, '이럴 때 도입' 열은 교재 문구, 오른쪽 열은 우리 서비스에서 그 상황이 어떻게 보이는지를 옮긴 것임.
각 줄은 '그 신호를 실제로 겪었는가'로만 판단하도록 안내함. 겪지 않은 상황에 미리 부품을 달면 LLM 호출만 늘고 얻는 것이 없음.
오른쪽 표는 운영 중 장애 대응표로 쓰도록 안내함. 증상 한 줄을 보면 점검할 자리가 한 곳으로 좁혀짐.
2장 도식을 다시 띄워 '배지 번호 = 점검할 자리'로 연결하면 두 슬라이드가 한 세트로 기억됨.
Agentic의 ReAct(추론과 행동을 번갈아 수행)는 이후 에이전트 교재에서 LangGraph로 다룰 예정임.</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54112"/>
            <a:ext cx="13624560" cy="18288"/>
          </a:xfrm>
          <a:prstGeom prst="rect">
            <a:avLst/>
          </a:prstGeom>
          <a:solidFill>
            <a:srgbClr val="E9ECF3"/>
          </a:solidFill>
          <a:ln/>
        </p:spPr>
        <p:txBody>
          <a:bodyPr/>
          <a:lstStyle/>
          <a:p>
            <a:endParaRPr lang="ko-KR" altLang="en-US"/>
          </a:p>
        </p:txBody>
      </p:sp>
      <p:sp>
        <p:nvSpPr>
          <p:cNvPr id="3" name="Text 1"/>
          <p:cNvSpPr/>
          <p:nvPr/>
        </p:nvSpPr>
        <p:spPr>
          <a:xfrm>
            <a:off x="502920" y="7818120"/>
            <a:ext cx="7315200" cy="292608"/>
          </a:xfrm>
          <a:prstGeom prst="rect">
            <a:avLst/>
          </a:prstGeom>
          <a:noFill/>
          <a:ln/>
        </p:spPr>
        <p:txBody>
          <a:bodyPr wrap="square"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design-agentic-ai  ·  문서 검색 아키텍처 패턴</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cna-bootcamp/aistudy/blob/main/agentic-ai/textbook/10.RAG.md" TargetMode="External"/><Relationship Id="rId7" Type="http://schemas.openxmlformats.org/officeDocument/2006/relationships/hyperlink" Target="https://docs.langchain.com/oss/python/langgraph/agentic-ra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arxiv.org/abs/2403.14403" TargetMode="External"/><Relationship Id="rId5" Type="http://schemas.openxmlformats.org/officeDocument/2006/relationships/hyperlink" Target="https://arxiv.org/abs/2401.15884" TargetMode="External"/><Relationship Id="rId4" Type="http://schemas.openxmlformats.org/officeDocument/2006/relationships/hyperlink" Target="https://arxiv.org/abs/2310.11511"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cna-bootcamp/aistudy/blob/main/agentic-ai/textbook/10.RAG.md"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arxiv.org/abs/2401.15884"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marL="0" indent="0">
              <a:buNone/>
            </a:pPr>
            <a:r>
              <a:rPr lang="en-US" sz="1500" b="1" dirty="0">
                <a:solidFill>
                  <a:srgbClr val="7C8598"/>
                </a:solidFill>
                <a:latin typeface="Pretendard" pitchFamily="34" charset="0"/>
                <a:ea typeface="Pretendard" pitchFamily="34" charset="-122"/>
                <a:cs typeface="Pretendard" pitchFamily="34" charset="-120"/>
              </a:rPr>
              <a:t>Ⅲ. 문서 검색 아키텍처 › 1. 패턴 비교</a:t>
            </a:r>
            <a:endParaRPr lang="en-US" sz="1500" dirty="0"/>
          </a:p>
        </p:txBody>
      </p:sp>
      <p:sp>
        <p:nvSpPr>
          <p:cNvPr id="3" name="Text 1"/>
          <p:cNvSpPr/>
          <p:nvPr/>
        </p:nvSpPr>
        <p:spPr>
          <a:xfrm>
            <a:off x="502920" y="640080"/>
            <a:ext cx="12801600" cy="685800"/>
          </a:xfrm>
          <a:prstGeom prst="rect">
            <a:avLst/>
          </a:prstGeom>
          <a:noFill/>
          <a:ln/>
        </p:spPr>
        <p:txBody>
          <a:bodyPr wrap="square" rtlCol="0" anchor="ctr"/>
          <a:lstStyle/>
          <a:p>
            <a:pPr marL="0" indent="0">
              <a:buNone/>
            </a:pPr>
            <a:r>
              <a:rPr lang="en-US" sz="4800" b="1" dirty="0">
                <a:solidFill>
                  <a:srgbClr val="1E2A5C"/>
                </a:solidFill>
                <a:latin typeface="Pretendard" pitchFamily="34" charset="0"/>
                <a:ea typeface="Pretendard" pitchFamily="34" charset="-122"/>
                <a:cs typeface="Pretendard" pitchFamily="34" charset="-120"/>
              </a:rPr>
              <a:t>5가지 </a:t>
            </a:r>
            <a:r>
              <a:rPr lang="en-US" sz="4800" b="1" dirty="0" err="1">
                <a:solidFill>
                  <a:srgbClr val="1E2A5C"/>
                </a:solidFill>
                <a:latin typeface="Pretendard" pitchFamily="34" charset="0"/>
                <a:ea typeface="Pretendard" pitchFamily="34" charset="-122"/>
                <a:cs typeface="Pretendard" pitchFamily="34" charset="-120"/>
              </a:rPr>
              <a:t>패턴</a:t>
            </a:r>
            <a:r>
              <a:rPr lang="en-US" sz="4800" b="1" dirty="0">
                <a:solidFill>
                  <a:srgbClr val="1E2A5C"/>
                </a:solidFill>
                <a:latin typeface="Pretendard" pitchFamily="34" charset="0"/>
                <a:ea typeface="Pretendard" pitchFamily="34" charset="-122"/>
                <a:cs typeface="Pretendard" pitchFamily="34" charset="-120"/>
              </a:rPr>
              <a:t> </a:t>
            </a:r>
            <a:r>
              <a:rPr lang="en-US" sz="4800" b="1" dirty="0" err="1">
                <a:solidFill>
                  <a:srgbClr val="1E2A5C"/>
                </a:solidFill>
                <a:latin typeface="Pretendard" pitchFamily="34" charset="0"/>
                <a:ea typeface="Pretendard" pitchFamily="34" charset="-122"/>
                <a:cs typeface="Pretendard" pitchFamily="34" charset="-120"/>
              </a:rPr>
              <a:t>한눈에</a:t>
            </a:r>
            <a:endParaRPr lang="en-US" sz="4800" dirty="0"/>
          </a:p>
        </p:txBody>
      </p:sp>
      <p:sp>
        <p:nvSpPr>
          <p:cNvPr id="4" name="Shape 2"/>
          <p:cNvSpPr/>
          <p:nvPr/>
        </p:nvSpPr>
        <p:spPr>
          <a:xfrm>
            <a:off x="502920" y="1389888"/>
            <a:ext cx="13624560" cy="36576"/>
          </a:xfrm>
          <a:prstGeom prst="rect">
            <a:avLst/>
          </a:prstGeom>
          <a:solidFill>
            <a:srgbClr val="D9E0EC"/>
          </a:solidFill>
          <a:ln/>
        </p:spPr>
        <p:txBody>
          <a:bodyPr/>
          <a:lstStyle/>
          <a:p>
            <a:endParaRPr lang="ko-KR" altLang="en-US"/>
          </a:p>
        </p:txBody>
      </p:sp>
      <p:sp>
        <p:nvSpPr>
          <p:cNvPr id="5" name="Shape 3"/>
          <p:cNvSpPr/>
          <p:nvPr/>
        </p:nvSpPr>
        <p:spPr>
          <a:xfrm>
            <a:off x="502920" y="1389888"/>
            <a:ext cx="1920240" cy="36576"/>
          </a:xfrm>
          <a:prstGeom prst="rect">
            <a:avLst/>
          </a:prstGeom>
          <a:solidFill>
            <a:srgbClr val="2E74C6"/>
          </a:solidFill>
          <a:ln/>
        </p:spPr>
        <p:txBody>
          <a:bodyPr/>
          <a:lstStyle/>
          <a:p>
            <a:endParaRPr lang="ko-KR" altLang="en-US"/>
          </a:p>
        </p:txBody>
      </p:sp>
      <p:sp>
        <p:nvSpPr>
          <p:cNvPr id="6" name="Text 4"/>
          <p:cNvSpPr/>
          <p:nvPr/>
        </p:nvSpPr>
        <p:spPr>
          <a:xfrm>
            <a:off x="502920" y="1517904"/>
            <a:ext cx="13624560" cy="411480"/>
          </a:xfrm>
          <a:prstGeom prst="rect">
            <a:avLst/>
          </a:prstGeom>
          <a:noFill/>
          <a:ln/>
        </p:spPr>
        <p:txBody>
          <a:bodyPr wrap="square" rtlCol="0" anchor="ctr"/>
          <a:lstStyle/>
          <a:p>
            <a:pPr marL="0" indent="0">
              <a:buNone/>
            </a:pPr>
            <a:r>
              <a:rPr lang="en-US" sz="1800" dirty="0">
                <a:solidFill>
                  <a:srgbClr val="4A5364"/>
                </a:solidFill>
                <a:latin typeface="Pretendard" pitchFamily="34" charset="0"/>
                <a:ea typeface="Pretendard" pitchFamily="34" charset="-122"/>
                <a:cs typeface="Pretendard" pitchFamily="34" charset="-120"/>
              </a:rPr>
              <a:t>각 패턴은 "무엇을 스스로 판단하는가"로 갈림. 판단이 늘수록 똑똑해지지만 LLM 호출 수와 복잡도가 함께 올라감</a:t>
            </a:r>
            <a:endParaRPr lang="en-US" sz="1800" dirty="0"/>
          </a:p>
        </p:txBody>
      </p:sp>
      <p:sp>
        <p:nvSpPr>
          <p:cNvPr id="7" name="Shape 5"/>
          <p:cNvSpPr/>
          <p:nvPr/>
        </p:nvSpPr>
        <p:spPr>
          <a:xfrm>
            <a:off x="502920" y="2103120"/>
            <a:ext cx="5669280" cy="411480"/>
          </a:xfrm>
          <a:prstGeom prst="roundRect">
            <a:avLst>
              <a:gd name="adj" fmla="val 11111"/>
            </a:avLst>
          </a:prstGeom>
          <a:solidFill>
            <a:srgbClr val="404155"/>
          </a:solidFill>
          <a:ln/>
        </p:spPr>
        <p:txBody>
          <a:bodyPr/>
          <a:lstStyle/>
          <a:p>
            <a:endParaRPr lang="ko-KR" altLang="en-US"/>
          </a:p>
        </p:txBody>
      </p:sp>
      <p:sp>
        <p:nvSpPr>
          <p:cNvPr id="8" name="Text 6"/>
          <p:cNvSpPr/>
          <p:nvPr/>
        </p:nvSpPr>
        <p:spPr>
          <a:xfrm>
            <a:off x="640080" y="2103120"/>
            <a:ext cx="5394960" cy="411480"/>
          </a:xfrm>
          <a:prstGeom prst="rect">
            <a:avLst/>
          </a:prstGeom>
          <a:noFill/>
          <a:ln/>
        </p:spPr>
        <p:txBody>
          <a:bodyPr wrap="square" rtlCol="0" anchor="ctr"/>
          <a:lstStyle/>
          <a:p>
            <a:pPr marL="0" indent="0">
              <a:buNone/>
            </a:pPr>
            <a:r>
              <a:rPr lang="en-US" sz="1600" b="1" dirty="0">
                <a:solidFill>
                  <a:srgbClr val="FFFFFF"/>
                </a:solidFill>
                <a:latin typeface="Pretendard" pitchFamily="34" charset="0"/>
                <a:ea typeface="Pretendard" pitchFamily="34" charset="-122"/>
                <a:cs typeface="Pretendard" pitchFamily="34" charset="-120"/>
              </a:rPr>
              <a:t>패턴별 비교 — 무엇을 판단하고 얼마나 비싼가</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2570075314"/>
              </p:ext>
            </p:extLst>
          </p:nvPr>
        </p:nvGraphicFramePr>
        <p:xfrm>
          <a:off x="502920" y="2651760"/>
          <a:ext cx="13624560" cy="3833054"/>
        </p:xfrm>
        <a:graphic>
          <a:graphicData uri="http://schemas.openxmlformats.org/drawingml/2006/table">
            <a:tbl>
              <a:tblPr/>
              <a:tblGrid>
                <a:gridCol w="19202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605717">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패턴</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핵심 질문</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작동 시점</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하는 일</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700" b="1" dirty="0">
                          <a:solidFill>
                            <a:srgbClr val="1E2A5C"/>
                          </a:solidFill>
                          <a:latin typeface="Pretendard" pitchFamily="34" charset="0"/>
                          <a:ea typeface="Pretendard" pitchFamily="34" charset="-122"/>
                          <a:cs typeface="Pretendard" pitchFamily="34" charset="-120"/>
                        </a:rPr>
                        <a:t>LLM 호출</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lgn="ctr">
                        <a:buNone/>
                      </a:pPr>
                      <a:r>
                        <a:rPr lang="en-US" sz="1700" b="1" dirty="0">
                          <a:solidFill>
                            <a:srgbClr val="1E2A5C"/>
                          </a:solidFill>
                          <a:latin typeface="Pretendard" pitchFamily="34" charset="0"/>
                          <a:ea typeface="Pretendard" pitchFamily="34" charset="-122"/>
                          <a:cs typeface="Pretendard" pitchFamily="34" charset="-120"/>
                        </a:rPr>
                        <a:t>구현 복잡도</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605717">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Basic RAG</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(판단 없음)</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항상 검색</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검색 → 생성 단방향</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3B4557"/>
                          </a:solidFill>
                          <a:latin typeface="Pretendard" pitchFamily="34" charset="0"/>
                          <a:ea typeface="Pretendard" pitchFamily="34" charset="-122"/>
                          <a:cs typeface="Pretendard" pitchFamily="34" charset="-120"/>
                        </a:rPr>
                        <a:t>1회</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3B4557"/>
                          </a:solidFill>
                          <a:latin typeface="Pretendard" pitchFamily="34" charset="0"/>
                          <a:ea typeface="Pretendard" pitchFamily="34" charset="-122"/>
                          <a:cs typeface="Pretendard" pitchFamily="34" charset="-120"/>
                        </a:rPr>
                        <a:t>낮음</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5717">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Self-RAG</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검색할까?</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검색 전</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검색 필요 여부 판단 + 결과·답변 자체 검증</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lgn="ctr">
                        <a:buNone/>
                      </a:pPr>
                      <a:r>
                        <a:rPr lang="en-US" sz="1700" dirty="0">
                          <a:solidFill>
                            <a:srgbClr val="3B4557"/>
                          </a:solidFill>
                          <a:latin typeface="Pretendard" pitchFamily="34" charset="0"/>
                          <a:ea typeface="Pretendard" pitchFamily="34" charset="-122"/>
                          <a:cs typeface="Pretendard" pitchFamily="34" charset="-120"/>
                        </a:rPr>
                        <a:t>1 ~ 2회</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lgn="ctr">
                        <a:buNone/>
                      </a:pPr>
                      <a:r>
                        <a:rPr lang="en-US" sz="1700" dirty="0">
                          <a:solidFill>
                            <a:srgbClr val="3B4557"/>
                          </a:solidFill>
                          <a:latin typeface="Pretendard" pitchFamily="34" charset="0"/>
                          <a:ea typeface="Pretendard" pitchFamily="34" charset="-122"/>
                          <a:cs typeface="Pretendard" pitchFamily="34" charset="-120"/>
                        </a:rPr>
                        <a:t>중간</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605717">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CRAG</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결과 맞나?</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검색 후</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관련성 평가 후 교정(질문 재작성·웹 검색)</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3B4557"/>
                          </a:solidFill>
                          <a:latin typeface="Pretendard" pitchFamily="34" charset="0"/>
                          <a:ea typeface="Pretendard" pitchFamily="34" charset="-122"/>
                          <a:cs typeface="Pretendard" pitchFamily="34" charset="-120"/>
                        </a:rPr>
                        <a:t>2 ~ 3회</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3B4557"/>
                          </a:solidFill>
                          <a:latin typeface="Pretendard" pitchFamily="34" charset="0"/>
                          <a:ea typeface="Pretendard" pitchFamily="34" charset="-122"/>
                          <a:cs typeface="Pretendard" pitchFamily="34" charset="-120"/>
                        </a:rPr>
                        <a:t>중간</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5717">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Adaptive</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어떤 전략?</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라우팅 시</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질문 복잡도에 따라 전략 동적 선택</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lgn="ctr">
                        <a:buNone/>
                      </a:pPr>
                      <a:r>
                        <a:rPr lang="en-US" sz="1700" dirty="0">
                          <a:solidFill>
                            <a:srgbClr val="3B4557"/>
                          </a:solidFill>
                          <a:latin typeface="Pretendard" pitchFamily="34" charset="0"/>
                          <a:ea typeface="Pretendard" pitchFamily="34" charset="-122"/>
                          <a:cs typeface="Pretendard" pitchFamily="34" charset="-120"/>
                        </a:rPr>
                        <a:t>2 ~ 4회</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lgn="ctr">
                        <a:buNone/>
                      </a:pPr>
                      <a:r>
                        <a:rPr lang="en-US" sz="1700" dirty="0">
                          <a:solidFill>
                            <a:srgbClr val="3B4557"/>
                          </a:solidFill>
                          <a:latin typeface="Pretendard" pitchFamily="34" charset="0"/>
                          <a:ea typeface="Pretendard" pitchFamily="34" charset="-122"/>
                          <a:cs typeface="Pretendard" pitchFamily="34" charset="-120"/>
                        </a:rPr>
                        <a:t>높음</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804469">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Agentic</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어떻게 행동?</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전체 과정</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700" dirty="0">
                          <a:solidFill>
                            <a:srgbClr val="3B4557"/>
                          </a:solidFill>
                          <a:latin typeface="Pretendard" pitchFamily="34" charset="0"/>
                          <a:ea typeface="Pretendard" pitchFamily="34" charset="-122"/>
                          <a:cs typeface="Pretendard" pitchFamily="34" charset="-120"/>
                        </a:rPr>
                        <a:t>계획–실행–</a:t>
                      </a:r>
                      <a:r>
                        <a:rPr lang="en-US" sz="1700" dirty="0" err="1">
                          <a:solidFill>
                            <a:srgbClr val="3B4557"/>
                          </a:solidFill>
                          <a:latin typeface="Pretendard" pitchFamily="34" charset="0"/>
                          <a:ea typeface="Pretendard" pitchFamily="34" charset="-122"/>
                          <a:cs typeface="Pretendard" pitchFamily="34" charset="-120"/>
                        </a:rPr>
                        <a:t>평가</a:t>
                      </a:r>
                      <a:r>
                        <a:rPr lang="en-US" sz="1700" dirty="0">
                          <a:solidFill>
                            <a:srgbClr val="3B4557"/>
                          </a:solidFill>
                          <a:latin typeface="Pretendard" pitchFamily="34" charset="0"/>
                          <a:ea typeface="Pretendard" pitchFamily="34" charset="-122"/>
                          <a:cs typeface="Pretendard" pitchFamily="34" charset="-120"/>
                        </a:rPr>
                        <a:t> </a:t>
                      </a:r>
                      <a:r>
                        <a:rPr lang="en-US" sz="1700" dirty="0" err="1">
                          <a:solidFill>
                            <a:srgbClr val="3B4557"/>
                          </a:solidFill>
                          <a:latin typeface="Pretendard" pitchFamily="34" charset="0"/>
                          <a:ea typeface="Pretendard" pitchFamily="34" charset="-122"/>
                          <a:cs typeface="Pretendard" pitchFamily="34" charset="-120"/>
                        </a:rPr>
                        <a:t>반복</a:t>
                      </a:r>
                      <a:r>
                        <a:rPr lang="en-US" sz="1700" dirty="0">
                          <a:solidFill>
                            <a:srgbClr val="3B4557"/>
                          </a:solidFill>
                          <a:latin typeface="Pretendard" pitchFamily="34" charset="0"/>
                          <a:ea typeface="Pretendard" pitchFamily="34" charset="-122"/>
                          <a:cs typeface="Pretendard" pitchFamily="34" charset="-120"/>
                        </a:rPr>
                        <a:t>. </a:t>
                      </a:r>
                    </a:p>
                    <a:p>
                      <a:pPr marL="0" indent="0">
                        <a:buNone/>
                      </a:pPr>
                      <a:r>
                        <a:rPr lang="ko-KR" altLang="en-US" sz="1700" dirty="0">
                          <a:solidFill>
                            <a:srgbClr val="3B4557"/>
                          </a:solidFill>
                          <a:latin typeface="Pretendard" pitchFamily="34" charset="0"/>
                          <a:ea typeface="Pretendard" pitchFamily="34" charset="-122"/>
                          <a:cs typeface="Pretendard" pitchFamily="34" charset="-120"/>
                        </a:rPr>
                        <a:t>패턴을 적용한 도구 중 </a:t>
                      </a:r>
                      <a:r>
                        <a:rPr lang="en-US" altLang="ko-KR" sz="1700" dirty="0">
                          <a:solidFill>
                            <a:srgbClr val="3B4557"/>
                          </a:solidFill>
                          <a:latin typeface="Pretendard" pitchFamily="34" charset="0"/>
                          <a:ea typeface="Pretendard" pitchFamily="34" charset="-122"/>
                          <a:cs typeface="Pretendard" pitchFamily="34" charset="-120"/>
                        </a:rPr>
                        <a:t>LLM</a:t>
                      </a:r>
                      <a:r>
                        <a:rPr lang="ko-KR" altLang="en-US" sz="1700" dirty="0">
                          <a:solidFill>
                            <a:srgbClr val="3B4557"/>
                          </a:solidFill>
                          <a:latin typeface="Pretendard" pitchFamily="34" charset="0"/>
                          <a:ea typeface="Pretendard" pitchFamily="34" charset="-122"/>
                          <a:cs typeface="Pretendard" pitchFamily="34" charset="-120"/>
                        </a:rPr>
                        <a:t>이 상황에 맞는 도구를 선택하여 실행 요청  </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3B4557"/>
                          </a:solidFill>
                          <a:latin typeface="Pretendard" pitchFamily="34" charset="0"/>
                          <a:ea typeface="Pretendard" pitchFamily="34" charset="-122"/>
                          <a:cs typeface="Pretendard" pitchFamily="34" charset="-120"/>
                        </a:rPr>
                        <a:t>N회</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3B4557"/>
                          </a:solidFill>
                          <a:latin typeface="Pretendard" pitchFamily="34" charset="0"/>
                          <a:ea typeface="Pretendard" pitchFamily="34" charset="-122"/>
                          <a:cs typeface="Pretendard" pitchFamily="34" charset="-120"/>
                        </a:rPr>
                        <a:t>최고</a:t>
                      </a:r>
                      <a:endParaRPr lang="en-US" sz="17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Shape 7"/>
          <p:cNvSpPr/>
          <p:nvPr/>
        </p:nvSpPr>
        <p:spPr>
          <a:xfrm>
            <a:off x="502920" y="6662264"/>
            <a:ext cx="64008" cy="457200"/>
          </a:xfrm>
          <a:prstGeom prst="rect">
            <a:avLst/>
          </a:prstGeom>
          <a:solidFill>
            <a:srgbClr val="2E74C6"/>
          </a:solidFill>
          <a:ln/>
        </p:spPr>
        <p:txBody>
          <a:bodyPr/>
          <a:lstStyle/>
          <a:p>
            <a:endParaRPr lang="ko-KR" altLang="en-US"/>
          </a:p>
        </p:txBody>
      </p:sp>
      <p:sp>
        <p:nvSpPr>
          <p:cNvPr id="11" name="Text 8"/>
          <p:cNvSpPr/>
          <p:nvPr/>
        </p:nvSpPr>
        <p:spPr>
          <a:xfrm>
            <a:off x="685800" y="6662264"/>
            <a:ext cx="13441680" cy="457200"/>
          </a:xfrm>
          <a:prstGeom prst="rect">
            <a:avLst/>
          </a:prstGeom>
          <a:noFill/>
          <a:ln/>
        </p:spPr>
        <p:txBody>
          <a:bodyPr wrap="square" rtlCol="0" anchor="ctr"/>
          <a:lstStyle/>
          <a:p>
            <a:pPr marL="0" indent="0">
              <a:buNone/>
            </a:pPr>
            <a:r>
              <a:rPr lang="en-US" sz="1900" b="1" i="1" dirty="0">
                <a:solidFill>
                  <a:srgbClr val="1E2A5C"/>
                </a:solidFill>
                <a:latin typeface="Pretendard" pitchFamily="34" charset="0"/>
                <a:ea typeface="Pretendard" pitchFamily="34" charset="-122"/>
                <a:cs typeface="Pretendard" pitchFamily="34" charset="-120"/>
              </a:rPr>
              <a:t>모든 상황에 Agentic RAG는 과잉 설계임 — 요구사항에 맞는 최소 패턴 선택이 효율적</a:t>
            </a:r>
            <a:endParaRPr lang="en-US" sz="19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lang="en-US" b="0"/>
              <a:t>1</a:t>
            </a:fld>
            <a:endParaRPr lang="en-US"/>
          </a:p>
        </p:txBody>
      </p:sp>
      <p:sp>
        <p:nvSpPr>
          <p:cNvPr id="15" name="Text 99">
            <a:extLst>
              <a:ext uri="{FF2B5EF4-FFF2-40B4-BE49-F238E27FC236}">
                <a16:creationId xmlns:a16="http://schemas.microsoft.com/office/drawing/2014/main" id="{2C22A679-929D-BAC9-4B32-D7A45098ACC2}"/>
              </a:ext>
            </a:extLst>
          </p:cNvPr>
          <p:cNvSpPr/>
          <p:nvPr/>
        </p:nvSpPr>
        <p:spPr>
          <a:xfrm>
            <a:off x="502920" y="7296912"/>
            <a:ext cx="13624560" cy="365760"/>
          </a:xfrm>
          <a:prstGeom prst="rect">
            <a:avLst/>
          </a:prstGeom>
          <a:noFill/>
          <a:ln/>
        </p:spPr>
        <p:txBody>
          <a:bodyPr wrap="square" rtlCol="0" anchor="ctr"/>
          <a:lstStyle/>
          <a:p>
            <a:pPr marL="0" indent="0">
              <a:buNone/>
            </a:pPr>
            <a:r>
              <a:rPr lang="en-US" sz="1400" b="1" dirty="0">
                <a:solidFill>
                  <a:srgbClr val="7C8598"/>
                </a:solidFill>
                <a:latin typeface="Pretendard" pitchFamily="34" charset="0"/>
                <a:ea typeface="Pretendard" pitchFamily="34" charset="-122"/>
                <a:cs typeface="Pretendard" pitchFamily="34" charset="-120"/>
              </a:rPr>
              <a:t>출처  </a:t>
            </a:r>
            <a:r>
              <a:rPr lang="en-US" sz="1400" u="sng" dirty="0">
                <a:solidFill>
                  <a:srgbClr val="7C8598"/>
                </a:solidFill>
                <a:latin typeface="Pretendard" pitchFamily="34" charset="0"/>
                <a:ea typeface="Pretendard" pitchFamily="34" charset="-122"/>
                <a:cs typeface="Pretendard" pitchFamily="34" charset="-120"/>
                <a:hlinkClick r:id="rId3">
                  <a:extLst>
                    <a:ext uri="{A12FA001-AC4F-418D-AE19-62706E023703}">
                      <ahyp:hlinkClr xmlns:ahyp="http://schemas.microsoft.com/office/drawing/2018/hyperlinkcolor" val="tx"/>
                    </a:ext>
                  </a:extLst>
                </a:hlinkClick>
              </a:rPr>
              <a:t>교재 「10. RAG」 5절 Architecture Patterns</a:t>
            </a:r>
            <a:r>
              <a:rPr lang="en-US" sz="1400" dirty="0">
                <a:solidFill>
                  <a:srgbClr val="7C8598"/>
                </a:solidFill>
                <a:latin typeface="Pretendard" pitchFamily="34" charset="0"/>
                <a:ea typeface="Pretendard" pitchFamily="34" charset="-122"/>
                <a:cs typeface="Pretendard" pitchFamily="34" charset="-120"/>
              </a:rPr>
              <a:t>  ·  </a:t>
            </a:r>
            <a:r>
              <a:rPr lang="en-US" sz="1400" u="sng" dirty="0">
                <a:solidFill>
                  <a:srgbClr val="7C8598"/>
                </a:solidFill>
                <a:latin typeface="Pretendard" pitchFamily="34" charset="0"/>
                <a:ea typeface="Pretendard" pitchFamily="34" charset="-122"/>
                <a:cs typeface="Pretendard" pitchFamily="34" charset="-120"/>
                <a:hlinkClick r:id="rId4">
                  <a:extLst>
                    <a:ext uri="{A12FA001-AC4F-418D-AE19-62706E023703}">
                      <ahyp:hlinkClr xmlns:ahyp="http://schemas.microsoft.com/office/drawing/2018/hyperlinkcolor" val="tx"/>
                    </a:ext>
                  </a:extLst>
                </a:hlinkClick>
              </a:rPr>
              <a:t>Self-RAG, Asai et al.(2023)</a:t>
            </a:r>
            <a:r>
              <a:rPr lang="en-US" sz="1400" dirty="0">
                <a:solidFill>
                  <a:srgbClr val="7C8598"/>
                </a:solidFill>
                <a:latin typeface="Pretendard" pitchFamily="34" charset="0"/>
                <a:ea typeface="Pretendard" pitchFamily="34" charset="-122"/>
                <a:cs typeface="Pretendard" pitchFamily="34" charset="-120"/>
              </a:rPr>
              <a:t>  ·  </a:t>
            </a:r>
            <a:r>
              <a:rPr lang="en-US" sz="1400" u="sng" dirty="0">
                <a:solidFill>
                  <a:srgbClr val="7C8598"/>
                </a:solidFill>
                <a:latin typeface="Pretendard" pitchFamily="34" charset="0"/>
                <a:ea typeface="Pretendard" pitchFamily="34" charset="-122"/>
                <a:cs typeface="Pretendard" pitchFamily="34" charset="-120"/>
                <a:hlinkClick r:id="rId5">
                  <a:extLst>
                    <a:ext uri="{A12FA001-AC4F-418D-AE19-62706E023703}">
                      <ahyp:hlinkClr xmlns:ahyp="http://schemas.microsoft.com/office/drawing/2018/hyperlinkcolor" val="tx"/>
                    </a:ext>
                  </a:extLst>
                </a:hlinkClick>
              </a:rPr>
              <a:t>CRAG, Yan et al.(2024)</a:t>
            </a:r>
            <a:r>
              <a:rPr lang="en-US" sz="1400" dirty="0">
                <a:solidFill>
                  <a:srgbClr val="7C8598"/>
                </a:solidFill>
                <a:latin typeface="Pretendard" pitchFamily="34" charset="0"/>
                <a:ea typeface="Pretendard" pitchFamily="34" charset="-122"/>
                <a:cs typeface="Pretendard" pitchFamily="34" charset="-120"/>
              </a:rPr>
              <a:t>  ·  </a:t>
            </a:r>
            <a:r>
              <a:rPr lang="en-US" sz="1400" u="sng" dirty="0">
                <a:solidFill>
                  <a:srgbClr val="7C8598"/>
                </a:solidFill>
                <a:latin typeface="Pretendard" pitchFamily="34" charset="0"/>
                <a:ea typeface="Pretendard" pitchFamily="34" charset="-122"/>
                <a:cs typeface="Pretendard" pitchFamily="34" charset="-120"/>
                <a:hlinkClick r:id="rId6">
                  <a:extLst>
                    <a:ext uri="{A12FA001-AC4F-418D-AE19-62706E023703}">
                      <ahyp:hlinkClr xmlns:ahyp="http://schemas.microsoft.com/office/drawing/2018/hyperlinkcolor" val="tx"/>
                    </a:ext>
                  </a:extLst>
                </a:hlinkClick>
              </a:rPr>
              <a:t>Adaptive-RAG, Jeong et al.(2024)</a:t>
            </a:r>
            <a:r>
              <a:rPr lang="en-US" sz="1400" dirty="0">
                <a:solidFill>
                  <a:srgbClr val="7C8598"/>
                </a:solidFill>
                <a:latin typeface="Pretendard" pitchFamily="34" charset="0"/>
                <a:ea typeface="Pretendard" pitchFamily="34" charset="-122"/>
                <a:cs typeface="Pretendard" pitchFamily="34" charset="-120"/>
              </a:rPr>
              <a:t>  ·  </a:t>
            </a:r>
            <a:r>
              <a:rPr lang="en-US" sz="1400" u="sng" dirty="0">
                <a:solidFill>
                  <a:srgbClr val="7C8598"/>
                </a:solidFill>
                <a:latin typeface="Pretendard" pitchFamily="34" charset="0"/>
                <a:ea typeface="Pretendard" pitchFamily="34" charset="-122"/>
                <a:cs typeface="Pretendard" pitchFamily="34" charset="-120"/>
                <a:hlinkClick r:id="rId7">
                  <a:extLst>
                    <a:ext uri="{A12FA001-AC4F-418D-AE19-62706E023703}">
                      <ahyp:hlinkClr xmlns:ahyp="http://schemas.microsoft.com/office/drawing/2018/hyperlinkcolor" val="tx"/>
                    </a:ext>
                  </a:extLst>
                </a:hlinkClick>
              </a:rPr>
              <a:t>LangGraph Agentic RAG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marL="0" indent="0">
              <a:buNone/>
            </a:pPr>
            <a:r>
              <a:rPr lang="en-US" sz="1500" b="1" dirty="0">
                <a:solidFill>
                  <a:srgbClr val="7C8598"/>
                </a:solidFill>
                <a:latin typeface="Pretendard" pitchFamily="34" charset="0"/>
                <a:ea typeface="Pretendard" pitchFamily="34" charset="-122"/>
                <a:cs typeface="Pretendard" pitchFamily="34" charset="-120"/>
              </a:rPr>
              <a:t>Ⅲ. 문서 검색 아키텍처 › 2. 우리 시스템 적용</a:t>
            </a:r>
            <a:endParaRPr lang="en-US" sz="1500" dirty="0"/>
          </a:p>
        </p:txBody>
      </p:sp>
      <p:sp>
        <p:nvSpPr>
          <p:cNvPr id="3" name="Text 1"/>
          <p:cNvSpPr/>
          <p:nvPr/>
        </p:nvSpPr>
        <p:spPr>
          <a:xfrm>
            <a:off x="502920" y="640080"/>
            <a:ext cx="12801600" cy="685800"/>
          </a:xfrm>
          <a:prstGeom prst="rect">
            <a:avLst/>
          </a:prstGeom>
          <a:noFill/>
          <a:ln/>
        </p:spPr>
        <p:txBody>
          <a:bodyPr wrap="square" rtlCol="0" anchor="ctr"/>
          <a:lstStyle/>
          <a:p>
            <a:pPr marL="0" indent="0">
              <a:buNone/>
            </a:pPr>
            <a:r>
              <a:rPr lang="en-US" sz="4800" b="1" dirty="0">
                <a:solidFill>
                  <a:srgbClr val="1E2A5C"/>
                </a:solidFill>
                <a:latin typeface="Pretendard" pitchFamily="34" charset="0"/>
                <a:ea typeface="Pretendard" pitchFamily="34" charset="-122"/>
                <a:cs typeface="Pretendard" pitchFamily="34" charset="-120"/>
              </a:rPr>
              <a:t>우리 시스템에 적용하기</a:t>
            </a:r>
            <a:endParaRPr lang="en-US" sz="4800" dirty="0"/>
          </a:p>
        </p:txBody>
      </p:sp>
      <p:sp>
        <p:nvSpPr>
          <p:cNvPr id="4" name="Shape 2"/>
          <p:cNvSpPr/>
          <p:nvPr/>
        </p:nvSpPr>
        <p:spPr>
          <a:xfrm>
            <a:off x="502920" y="1389888"/>
            <a:ext cx="13624560" cy="36576"/>
          </a:xfrm>
          <a:prstGeom prst="rect">
            <a:avLst/>
          </a:prstGeom>
          <a:solidFill>
            <a:srgbClr val="D9E0EC"/>
          </a:solidFill>
          <a:ln/>
        </p:spPr>
        <p:txBody>
          <a:bodyPr/>
          <a:lstStyle/>
          <a:p>
            <a:endParaRPr lang="ko-KR" altLang="en-US"/>
          </a:p>
        </p:txBody>
      </p:sp>
      <p:sp>
        <p:nvSpPr>
          <p:cNvPr id="5" name="Shape 3"/>
          <p:cNvSpPr/>
          <p:nvPr/>
        </p:nvSpPr>
        <p:spPr>
          <a:xfrm>
            <a:off x="502920" y="1389888"/>
            <a:ext cx="1920240" cy="36576"/>
          </a:xfrm>
          <a:prstGeom prst="rect">
            <a:avLst/>
          </a:prstGeom>
          <a:solidFill>
            <a:srgbClr val="2E74C6"/>
          </a:solidFill>
          <a:ln/>
        </p:spPr>
        <p:txBody>
          <a:bodyPr/>
          <a:lstStyle/>
          <a:p>
            <a:endParaRPr lang="ko-KR" altLang="en-US"/>
          </a:p>
        </p:txBody>
      </p:sp>
      <p:sp>
        <p:nvSpPr>
          <p:cNvPr id="6" name="Text 4"/>
          <p:cNvSpPr/>
          <p:nvPr/>
        </p:nvSpPr>
        <p:spPr>
          <a:xfrm>
            <a:off x="502920" y="1517904"/>
            <a:ext cx="13624560" cy="411480"/>
          </a:xfrm>
          <a:prstGeom prst="rect">
            <a:avLst/>
          </a:prstGeom>
          <a:noFill/>
          <a:ln/>
        </p:spPr>
        <p:txBody>
          <a:bodyPr wrap="square" rtlCol="0" anchor="ctr"/>
          <a:lstStyle/>
          <a:p>
            <a:pPr marL="0" indent="0">
              <a:buNone/>
            </a:pPr>
            <a:r>
              <a:rPr lang="en-US" sz="1800" dirty="0">
                <a:solidFill>
                  <a:srgbClr val="4A5364"/>
                </a:solidFill>
                <a:latin typeface="Pretendard" pitchFamily="34" charset="0"/>
                <a:ea typeface="Pretendard" pitchFamily="34" charset="-122"/>
                <a:cs typeface="Pretendard" pitchFamily="34" charset="-120"/>
              </a:rPr>
              <a:t>우리 카드 상품 문서 검색 서비스의 뼈대는 이미 Basic RAG임. 패턴 적용 = 뼈대의 정해진 자리에 부품을 끼우는 일</a:t>
            </a:r>
            <a:endParaRPr lang="en-US" sz="1800" dirty="0"/>
          </a:p>
        </p:txBody>
      </p:sp>
      <p:sp>
        <p:nvSpPr>
          <p:cNvPr id="7" name="Shape 5"/>
          <p:cNvSpPr/>
          <p:nvPr/>
        </p:nvSpPr>
        <p:spPr>
          <a:xfrm>
            <a:off x="502920" y="2057400"/>
            <a:ext cx="5989320" cy="457200"/>
          </a:xfrm>
          <a:prstGeom prst="roundRect">
            <a:avLst>
              <a:gd name="adj" fmla="val 12000"/>
            </a:avLst>
          </a:prstGeom>
          <a:solidFill>
            <a:srgbClr val="1E2A5C"/>
          </a:solidFill>
          <a:ln/>
        </p:spPr>
        <p:txBody>
          <a:bodyPr/>
          <a:lstStyle/>
          <a:p>
            <a:endParaRPr lang="ko-KR" altLang="en-US"/>
          </a:p>
        </p:txBody>
      </p:sp>
      <p:sp>
        <p:nvSpPr>
          <p:cNvPr id="8" name="Text 6"/>
          <p:cNvSpPr/>
          <p:nvPr/>
        </p:nvSpPr>
        <p:spPr>
          <a:xfrm>
            <a:off x="502920" y="2057400"/>
            <a:ext cx="598932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공통 뼈대와 끼우는 자리</a:t>
            </a:r>
            <a:endParaRPr lang="en-US" sz="2000" dirty="0"/>
          </a:p>
        </p:txBody>
      </p:sp>
      <p:sp>
        <p:nvSpPr>
          <p:cNvPr id="9" name="Shape 7"/>
          <p:cNvSpPr/>
          <p:nvPr/>
        </p:nvSpPr>
        <p:spPr>
          <a:xfrm>
            <a:off x="502920" y="2606040"/>
            <a:ext cx="5989320" cy="4572000"/>
          </a:xfrm>
          <a:prstGeom prst="roundRect">
            <a:avLst>
              <a:gd name="adj" fmla="val 2000"/>
            </a:avLst>
          </a:prstGeom>
          <a:solidFill>
            <a:srgbClr val="EEF3FA"/>
          </a:solidFill>
          <a:ln w="12700">
            <a:solidFill>
              <a:srgbClr val="D9E0EC"/>
            </a:solidFill>
            <a:prstDash val="solid"/>
          </a:ln>
        </p:spPr>
        <p:txBody>
          <a:bodyPr/>
          <a:lstStyle/>
          <a:p>
            <a:endParaRPr lang="ko-KR" altLang="en-US"/>
          </a:p>
        </p:txBody>
      </p:sp>
      <p:sp>
        <p:nvSpPr>
          <p:cNvPr id="10" name="Shape 8"/>
          <p:cNvSpPr/>
          <p:nvPr/>
        </p:nvSpPr>
        <p:spPr>
          <a:xfrm>
            <a:off x="640080" y="2715768"/>
            <a:ext cx="5715000" cy="4352544"/>
          </a:xfrm>
          <a:prstGeom prst="roundRect">
            <a:avLst>
              <a:gd name="adj" fmla="val 2101"/>
            </a:avLst>
          </a:prstGeom>
          <a:solidFill>
            <a:srgbClr val="EEF3FA"/>
          </a:solidFill>
          <a:ln w="15875">
            <a:solidFill>
              <a:srgbClr val="404155"/>
            </a:solidFill>
            <a:prstDash val="dash"/>
          </a:ln>
        </p:spPr>
        <p:txBody>
          <a:bodyPr/>
          <a:lstStyle/>
          <a:p>
            <a:endParaRPr lang="ko-KR" altLang="en-US"/>
          </a:p>
        </p:txBody>
      </p:sp>
      <p:sp>
        <p:nvSpPr>
          <p:cNvPr id="11" name="Shape 9"/>
          <p:cNvSpPr/>
          <p:nvPr/>
        </p:nvSpPr>
        <p:spPr>
          <a:xfrm>
            <a:off x="758952" y="2798064"/>
            <a:ext cx="256032" cy="256032"/>
          </a:xfrm>
          <a:prstGeom prst="roundRect">
            <a:avLst>
              <a:gd name="adj" fmla="val 17857"/>
            </a:avLst>
          </a:prstGeom>
          <a:solidFill>
            <a:srgbClr val="404155"/>
          </a:solidFill>
          <a:ln/>
        </p:spPr>
        <p:txBody>
          <a:bodyPr/>
          <a:lstStyle/>
          <a:p>
            <a:endParaRPr lang="ko-KR" altLang="en-US"/>
          </a:p>
        </p:txBody>
      </p:sp>
      <p:sp>
        <p:nvSpPr>
          <p:cNvPr id="12" name="Text 10"/>
          <p:cNvSpPr/>
          <p:nvPr/>
        </p:nvSpPr>
        <p:spPr>
          <a:xfrm>
            <a:off x="758952" y="2798064"/>
            <a:ext cx="25603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5</a:t>
            </a:r>
            <a:endParaRPr lang="en-US" sz="1400" dirty="0"/>
          </a:p>
        </p:txBody>
      </p:sp>
      <p:sp>
        <p:nvSpPr>
          <p:cNvPr id="13" name="Text 11"/>
          <p:cNvSpPr/>
          <p:nvPr/>
        </p:nvSpPr>
        <p:spPr>
          <a:xfrm>
            <a:off x="1069848" y="2770632"/>
            <a:ext cx="4572000" cy="310896"/>
          </a:xfrm>
          <a:prstGeom prst="rect">
            <a:avLst/>
          </a:prstGeom>
          <a:noFill/>
          <a:ln/>
        </p:spPr>
        <p:txBody>
          <a:bodyPr wrap="square" lIns="0" tIns="0" rIns="0" bIns="0" rtlCol="0" anchor="ctr"/>
          <a:lstStyle/>
          <a:p>
            <a:pPr marL="0" indent="0">
              <a:buNone/>
            </a:pPr>
            <a:r>
              <a:rPr lang="en-US" sz="1400" b="1" dirty="0">
                <a:solidFill>
                  <a:srgbClr val="404155"/>
                </a:solidFill>
                <a:latin typeface="Pretendard" pitchFamily="34" charset="0"/>
                <a:ea typeface="Pretendard" pitchFamily="34" charset="-122"/>
                <a:cs typeface="Pretendard" pitchFamily="34" charset="-120"/>
              </a:rPr>
              <a:t>Agentic: 흐름 전체를 에이전트가 운전</a:t>
            </a:r>
            <a:endParaRPr lang="en-US" sz="1400" dirty="0"/>
          </a:p>
        </p:txBody>
      </p:sp>
      <p:sp>
        <p:nvSpPr>
          <p:cNvPr id="14" name="Shape 12"/>
          <p:cNvSpPr/>
          <p:nvPr/>
        </p:nvSpPr>
        <p:spPr>
          <a:xfrm>
            <a:off x="2354580" y="3547872"/>
            <a:ext cx="0" cy="100584"/>
          </a:xfrm>
          <a:prstGeom prst="line">
            <a:avLst/>
          </a:prstGeom>
          <a:noFill/>
          <a:ln w="19050">
            <a:solidFill>
              <a:srgbClr val="4A5364"/>
            </a:solidFill>
            <a:prstDash val="solid"/>
            <a:tailEnd type="triangle"/>
          </a:ln>
        </p:spPr>
        <p:txBody>
          <a:bodyPr/>
          <a:lstStyle/>
          <a:p>
            <a:endParaRPr lang="ko-KR" altLang="en-US"/>
          </a:p>
        </p:txBody>
      </p:sp>
      <p:sp>
        <p:nvSpPr>
          <p:cNvPr id="15" name="Shape 13"/>
          <p:cNvSpPr/>
          <p:nvPr/>
        </p:nvSpPr>
        <p:spPr>
          <a:xfrm>
            <a:off x="2354580" y="3959352"/>
            <a:ext cx="0" cy="100584"/>
          </a:xfrm>
          <a:prstGeom prst="line">
            <a:avLst/>
          </a:prstGeom>
          <a:noFill/>
          <a:ln w="19050">
            <a:solidFill>
              <a:srgbClr val="4A5364"/>
            </a:solidFill>
            <a:prstDash val="solid"/>
            <a:tailEnd type="triangle"/>
          </a:ln>
        </p:spPr>
        <p:txBody>
          <a:bodyPr/>
          <a:lstStyle/>
          <a:p>
            <a:endParaRPr lang="ko-KR" altLang="en-US"/>
          </a:p>
        </p:txBody>
      </p:sp>
      <p:sp>
        <p:nvSpPr>
          <p:cNvPr id="16" name="Shape 14"/>
          <p:cNvSpPr/>
          <p:nvPr/>
        </p:nvSpPr>
        <p:spPr>
          <a:xfrm>
            <a:off x="2354580" y="4370832"/>
            <a:ext cx="0" cy="100584"/>
          </a:xfrm>
          <a:prstGeom prst="line">
            <a:avLst/>
          </a:prstGeom>
          <a:noFill/>
          <a:ln w="19050">
            <a:solidFill>
              <a:srgbClr val="4A5364"/>
            </a:solidFill>
            <a:prstDash val="solid"/>
            <a:tailEnd type="triangle"/>
          </a:ln>
        </p:spPr>
        <p:txBody>
          <a:bodyPr/>
          <a:lstStyle/>
          <a:p>
            <a:endParaRPr lang="ko-KR" altLang="en-US"/>
          </a:p>
        </p:txBody>
      </p:sp>
      <p:sp>
        <p:nvSpPr>
          <p:cNvPr id="17" name="Shape 15"/>
          <p:cNvSpPr/>
          <p:nvPr/>
        </p:nvSpPr>
        <p:spPr>
          <a:xfrm>
            <a:off x="2354580" y="5093208"/>
            <a:ext cx="0" cy="100584"/>
          </a:xfrm>
          <a:prstGeom prst="line">
            <a:avLst/>
          </a:prstGeom>
          <a:noFill/>
          <a:ln w="19050">
            <a:solidFill>
              <a:srgbClr val="4A5364"/>
            </a:solidFill>
            <a:prstDash val="solid"/>
            <a:tailEnd type="triangle"/>
          </a:ln>
        </p:spPr>
        <p:txBody>
          <a:bodyPr/>
          <a:lstStyle/>
          <a:p>
            <a:endParaRPr lang="ko-KR" altLang="en-US"/>
          </a:p>
        </p:txBody>
      </p:sp>
      <p:sp>
        <p:nvSpPr>
          <p:cNvPr id="18" name="Shape 16"/>
          <p:cNvSpPr/>
          <p:nvPr/>
        </p:nvSpPr>
        <p:spPr>
          <a:xfrm>
            <a:off x="2354580" y="5504688"/>
            <a:ext cx="0" cy="100584"/>
          </a:xfrm>
          <a:prstGeom prst="line">
            <a:avLst/>
          </a:prstGeom>
          <a:noFill/>
          <a:ln w="19050">
            <a:solidFill>
              <a:srgbClr val="4A5364"/>
            </a:solidFill>
            <a:prstDash val="solid"/>
            <a:tailEnd type="triangle"/>
          </a:ln>
        </p:spPr>
        <p:txBody>
          <a:bodyPr/>
          <a:lstStyle/>
          <a:p>
            <a:endParaRPr lang="ko-KR" altLang="en-US"/>
          </a:p>
        </p:txBody>
      </p:sp>
      <p:sp>
        <p:nvSpPr>
          <p:cNvPr id="19" name="Shape 17"/>
          <p:cNvSpPr/>
          <p:nvPr/>
        </p:nvSpPr>
        <p:spPr>
          <a:xfrm>
            <a:off x="2354580" y="5952744"/>
            <a:ext cx="0" cy="100584"/>
          </a:xfrm>
          <a:prstGeom prst="line">
            <a:avLst/>
          </a:prstGeom>
          <a:noFill/>
          <a:ln w="19050">
            <a:solidFill>
              <a:srgbClr val="4A5364"/>
            </a:solidFill>
            <a:prstDash val="solid"/>
            <a:tailEnd type="triangle"/>
          </a:ln>
        </p:spPr>
        <p:txBody>
          <a:bodyPr/>
          <a:lstStyle/>
          <a:p>
            <a:endParaRPr lang="ko-KR" altLang="en-US"/>
          </a:p>
        </p:txBody>
      </p:sp>
      <p:sp>
        <p:nvSpPr>
          <p:cNvPr id="20" name="Shape 18"/>
          <p:cNvSpPr/>
          <p:nvPr/>
        </p:nvSpPr>
        <p:spPr>
          <a:xfrm>
            <a:off x="2354580" y="6400800"/>
            <a:ext cx="0" cy="100584"/>
          </a:xfrm>
          <a:prstGeom prst="line">
            <a:avLst/>
          </a:prstGeom>
          <a:noFill/>
          <a:ln w="19050">
            <a:solidFill>
              <a:srgbClr val="4A5364"/>
            </a:solidFill>
            <a:prstDash val="solid"/>
            <a:tailEnd type="triangle"/>
          </a:ln>
        </p:spPr>
        <p:txBody>
          <a:bodyPr/>
          <a:lstStyle/>
          <a:p>
            <a:endParaRPr lang="ko-KR" altLang="en-US"/>
          </a:p>
        </p:txBody>
      </p:sp>
      <p:sp>
        <p:nvSpPr>
          <p:cNvPr id="21" name="Shape 19"/>
          <p:cNvSpPr/>
          <p:nvPr/>
        </p:nvSpPr>
        <p:spPr>
          <a:xfrm>
            <a:off x="822960" y="3200400"/>
            <a:ext cx="3063240" cy="347472"/>
          </a:xfrm>
          <a:prstGeom prst="roundRect">
            <a:avLst>
              <a:gd name="adj" fmla="val 15789"/>
            </a:avLst>
          </a:prstGeom>
          <a:solidFill>
            <a:srgbClr val="FFFFFF"/>
          </a:solidFill>
          <a:ln w="15875">
            <a:solidFill>
              <a:srgbClr val="1E2A5C"/>
            </a:solidFill>
            <a:prstDash val="solid"/>
          </a:ln>
        </p:spPr>
        <p:txBody>
          <a:bodyPr/>
          <a:lstStyle/>
          <a:p>
            <a:endParaRPr lang="ko-KR" altLang="en-US"/>
          </a:p>
        </p:txBody>
      </p:sp>
      <p:sp>
        <p:nvSpPr>
          <p:cNvPr id="22" name="Text 20"/>
          <p:cNvSpPr/>
          <p:nvPr/>
        </p:nvSpPr>
        <p:spPr>
          <a:xfrm>
            <a:off x="822960" y="3200400"/>
            <a:ext cx="3063240" cy="347472"/>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질문</a:t>
            </a:r>
            <a:endParaRPr lang="en-US" sz="1500" dirty="0"/>
          </a:p>
        </p:txBody>
      </p:sp>
      <p:sp>
        <p:nvSpPr>
          <p:cNvPr id="23" name="Shape 21"/>
          <p:cNvSpPr/>
          <p:nvPr/>
        </p:nvSpPr>
        <p:spPr>
          <a:xfrm>
            <a:off x="822960" y="3648456"/>
            <a:ext cx="3063240" cy="310896"/>
          </a:xfrm>
          <a:prstGeom prst="roundRect">
            <a:avLst>
              <a:gd name="adj" fmla="val 17647"/>
            </a:avLst>
          </a:prstGeom>
          <a:solidFill>
            <a:srgbClr val="FFFFFF"/>
          </a:solidFill>
          <a:ln w="15875">
            <a:solidFill>
              <a:srgbClr val="2E74C6"/>
            </a:solidFill>
            <a:prstDash val="dash"/>
          </a:ln>
        </p:spPr>
        <p:txBody>
          <a:bodyPr/>
          <a:lstStyle/>
          <a:p>
            <a:endParaRPr lang="ko-KR" altLang="en-US"/>
          </a:p>
        </p:txBody>
      </p:sp>
      <p:sp>
        <p:nvSpPr>
          <p:cNvPr id="24" name="Shape 22"/>
          <p:cNvSpPr/>
          <p:nvPr/>
        </p:nvSpPr>
        <p:spPr>
          <a:xfrm>
            <a:off x="877824" y="3675888"/>
            <a:ext cx="256032" cy="256032"/>
          </a:xfrm>
          <a:prstGeom prst="roundRect">
            <a:avLst>
              <a:gd name="adj" fmla="val 17857"/>
            </a:avLst>
          </a:prstGeom>
          <a:solidFill>
            <a:srgbClr val="2E74C6"/>
          </a:solidFill>
          <a:ln/>
        </p:spPr>
        <p:txBody>
          <a:bodyPr/>
          <a:lstStyle/>
          <a:p>
            <a:endParaRPr lang="ko-KR" altLang="en-US"/>
          </a:p>
        </p:txBody>
      </p:sp>
      <p:sp>
        <p:nvSpPr>
          <p:cNvPr id="25" name="Text 23"/>
          <p:cNvSpPr/>
          <p:nvPr/>
        </p:nvSpPr>
        <p:spPr>
          <a:xfrm>
            <a:off x="877824" y="3675888"/>
            <a:ext cx="25603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26" name="Text 24"/>
          <p:cNvSpPr/>
          <p:nvPr/>
        </p:nvSpPr>
        <p:spPr>
          <a:xfrm>
            <a:off x="1170432" y="3648456"/>
            <a:ext cx="2679192" cy="310896"/>
          </a:xfrm>
          <a:prstGeom prst="rect">
            <a:avLst/>
          </a:prstGeom>
          <a:noFill/>
          <a:ln/>
        </p:spPr>
        <p:txBody>
          <a:bodyPr wrap="square" lIns="0" tIns="0" rIns="0" bIns="0" rtlCol="0" anchor="ctr"/>
          <a:lstStyle/>
          <a:p>
            <a:pPr marL="0" indent="0">
              <a:buNone/>
            </a:pPr>
            <a:r>
              <a:rPr lang="en-US" sz="1400" b="1" dirty="0">
                <a:solidFill>
                  <a:srgbClr val="2E74C6"/>
                </a:solidFill>
                <a:latin typeface="Pretendard" pitchFamily="34" charset="0"/>
                <a:ea typeface="Pretendard" pitchFamily="34" charset="-122"/>
                <a:cs typeface="Pretendard" pitchFamily="34" charset="-120"/>
              </a:rPr>
              <a:t>Adaptive · 전략 고르기</a:t>
            </a:r>
            <a:endParaRPr lang="en-US" sz="1400" dirty="0"/>
          </a:p>
        </p:txBody>
      </p:sp>
      <p:sp>
        <p:nvSpPr>
          <p:cNvPr id="27" name="Shape 25"/>
          <p:cNvSpPr/>
          <p:nvPr/>
        </p:nvSpPr>
        <p:spPr>
          <a:xfrm>
            <a:off x="822960" y="4059936"/>
            <a:ext cx="3063240" cy="310896"/>
          </a:xfrm>
          <a:prstGeom prst="roundRect">
            <a:avLst>
              <a:gd name="adj" fmla="val 17647"/>
            </a:avLst>
          </a:prstGeom>
          <a:solidFill>
            <a:srgbClr val="FFFFFF"/>
          </a:solidFill>
          <a:ln w="15875">
            <a:solidFill>
              <a:srgbClr val="2E74C6"/>
            </a:solidFill>
            <a:prstDash val="dash"/>
          </a:ln>
        </p:spPr>
        <p:txBody>
          <a:bodyPr/>
          <a:lstStyle/>
          <a:p>
            <a:endParaRPr lang="ko-KR" altLang="en-US"/>
          </a:p>
        </p:txBody>
      </p:sp>
      <p:sp>
        <p:nvSpPr>
          <p:cNvPr id="28" name="Shape 26"/>
          <p:cNvSpPr/>
          <p:nvPr/>
        </p:nvSpPr>
        <p:spPr>
          <a:xfrm>
            <a:off x="877824" y="4087368"/>
            <a:ext cx="256032" cy="256032"/>
          </a:xfrm>
          <a:prstGeom prst="roundRect">
            <a:avLst>
              <a:gd name="adj" fmla="val 17857"/>
            </a:avLst>
          </a:prstGeom>
          <a:solidFill>
            <a:srgbClr val="2E74C6"/>
          </a:solidFill>
          <a:ln/>
        </p:spPr>
        <p:txBody>
          <a:bodyPr/>
          <a:lstStyle/>
          <a:p>
            <a:endParaRPr lang="ko-KR" altLang="en-US"/>
          </a:p>
        </p:txBody>
      </p:sp>
      <p:sp>
        <p:nvSpPr>
          <p:cNvPr id="29" name="Text 27"/>
          <p:cNvSpPr/>
          <p:nvPr/>
        </p:nvSpPr>
        <p:spPr>
          <a:xfrm>
            <a:off x="877824" y="4087368"/>
            <a:ext cx="25603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30" name="Text 28"/>
          <p:cNvSpPr/>
          <p:nvPr/>
        </p:nvSpPr>
        <p:spPr>
          <a:xfrm>
            <a:off x="1170432" y="4059936"/>
            <a:ext cx="2679192" cy="310896"/>
          </a:xfrm>
          <a:prstGeom prst="rect">
            <a:avLst/>
          </a:prstGeom>
          <a:noFill/>
          <a:ln/>
        </p:spPr>
        <p:txBody>
          <a:bodyPr wrap="square" lIns="0" tIns="0" rIns="0" bIns="0" rtlCol="0" anchor="ctr"/>
          <a:lstStyle/>
          <a:p>
            <a:pPr marL="0" indent="0">
              <a:buNone/>
            </a:pPr>
            <a:r>
              <a:rPr lang="en-US" sz="1400" b="1" dirty="0">
                <a:solidFill>
                  <a:srgbClr val="2E74C6"/>
                </a:solidFill>
                <a:latin typeface="Pretendard" pitchFamily="34" charset="0"/>
                <a:ea typeface="Pretendard" pitchFamily="34" charset="-122"/>
                <a:cs typeface="Pretendard" pitchFamily="34" charset="-120"/>
              </a:rPr>
              <a:t>Self-RAG · 검색할까?</a:t>
            </a:r>
            <a:endParaRPr lang="en-US" sz="1400" dirty="0"/>
          </a:p>
        </p:txBody>
      </p:sp>
      <p:sp>
        <p:nvSpPr>
          <p:cNvPr id="31" name="Shape 29"/>
          <p:cNvSpPr/>
          <p:nvPr/>
        </p:nvSpPr>
        <p:spPr>
          <a:xfrm>
            <a:off x="822960" y="4471416"/>
            <a:ext cx="3063240" cy="621792"/>
          </a:xfrm>
          <a:prstGeom prst="roundRect">
            <a:avLst>
              <a:gd name="adj" fmla="val 8824"/>
            </a:avLst>
          </a:prstGeom>
          <a:solidFill>
            <a:srgbClr val="1E2A5C"/>
          </a:solidFill>
          <a:ln w="15875">
            <a:solidFill>
              <a:srgbClr val="1E2A5C"/>
            </a:solidFill>
            <a:prstDash val="solid"/>
          </a:ln>
        </p:spPr>
        <p:txBody>
          <a:bodyPr/>
          <a:lstStyle/>
          <a:p>
            <a:endParaRPr lang="ko-KR" altLang="en-US"/>
          </a:p>
        </p:txBody>
      </p:sp>
      <p:sp>
        <p:nvSpPr>
          <p:cNvPr id="32" name="Text 30"/>
          <p:cNvSpPr/>
          <p:nvPr/>
        </p:nvSpPr>
        <p:spPr>
          <a:xfrm>
            <a:off x="822960" y="4489704"/>
            <a:ext cx="3063240" cy="274320"/>
          </a:xfrm>
          <a:prstGeom prst="rect">
            <a:avLst/>
          </a:prstGeom>
          <a:noFill/>
          <a:ln/>
        </p:spPr>
        <p:txBody>
          <a:bodyPr wrap="square" lIns="0" tIns="0" rIns="0" bIns="0" rtlCol="0" anchor="ctr"/>
          <a:lstStyle/>
          <a:p>
            <a:pPr marL="0" indent="0" algn="ctr">
              <a:buNone/>
            </a:pPr>
            <a:r>
              <a:rPr lang="en-US" sz="1500" b="1" dirty="0" err="1">
                <a:solidFill>
                  <a:srgbClr val="FFFFFF"/>
                </a:solidFill>
                <a:latin typeface="Pretendard" pitchFamily="34" charset="0"/>
                <a:ea typeface="Pretendard" pitchFamily="34" charset="-122"/>
                <a:cs typeface="Pretendard" pitchFamily="34" charset="-120"/>
              </a:rPr>
              <a:t>검색</a:t>
            </a:r>
            <a:r>
              <a:rPr lang="en-US" sz="1500" b="1" dirty="0">
                <a:solidFill>
                  <a:srgbClr val="FFFFFF"/>
                </a:solidFill>
                <a:latin typeface="Pretendard" pitchFamily="34" charset="0"/>
                <a:ea typeface="Pretendard" pitchFamily="34" charset="-122"/>
                <a:cs typeface="Pretendard" pitchFamily="34" charset="-120"/>
              </a:rPr>
              <a:t> </a:t>
            </a:r>
            <a:r>
              <a:rPr lang="ko-KR" altLang="en-US" sz="1500" b="1" dirty="0">
                <a:solidFill>
                  <a:srgbClr val="FFFFFF"/>
                </a:solidFill>
                <a:latin typeface="Pretendard" pitchFamily="34" charset="0"/>
                <a:ea typeface="Pretendard" pitchFamily="34" charset="-122"/>
                <a:cs typeface="Pretendard" pitchFamily="34" charset="-120"/>
              </a:rPr>
              <a:t>도구</a:t>
            </a:r>
            <a:endParaRPr lang="en-US" sz="1500" dirty="0"/>
          </a:p>
        </p:txBody>
      </p:sp>
      <p:sp>
        <p:nvSpPr>
          <p:cNvPr id="33" name="Shape 31"/>
          <p:cNvSpPr/>
          <p:nvPr/>
        </p:nvSpPr>
        <p:spPr>
          <a:xfrm>
            <a:off x="918972" y="4782312"/>
            <a:ext cx="896112" cy="256032"/>
          </a:xfrm>
          <a:prstGeom prst="roundRect">
            <a:avLst>
              <a:gd name="adj" fmla="val 50000"/>
            </a:avLst>
          </a:prstGeom>
          <a:solidFill>
            <a:srgbClr val="EEF3FA"/>
          </a:solidFill>
          <a:ln w="12700">
            <a:solidFill>
              <a:srgbClr val="C3CEE0"/>
            </a:solidFill>
            <a:prstDash val="solid"/>
          </a:ln>
        </p:spPr>
        <p:txBody>
          <a:bodyPr/>
          <a:lstStyle/>
          <a:p>
            <a:endParaRPr lang="ko-KR" altLang="en-US"/>
          </a:p>
        </p:txBody>
      </p:sp>
      <p:sp>
        <p:nvSpPr>
          <p:cNvPr id="34" name="Text 32"/>
          <p:cNvSpPr/>
          <p:nvPr/>
        </p:nvSpPr>
        <p:spPr>
          <a:xfrm>
            <a:off x="918972" y="4782312"/>
            <a:ext cx="896112" cy="256032"/>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Vector</a:t>
            </a:r>
            <a:endParaRPr lang="en-US" sz="1400" dirty="0"/>
          </a:p>
        </p:txBody>
      </p:sp>
      <p:sp>
        <p:nvSpPr>
          <p:cNvPr id="35" name="Shape 33"/>
          <p:cNvSpPr/>
          <p:nvPr/>
        </p:nvSpPr>
        <p:spPr>
          <a:xfrm>
            <a:off x="1906524" y="4782312"/>
            <a:ext cx="896112" cy="256032"/>
          </a:xfrm>
          <a:prstGeom prst="roundRect">
            <a:avLst>
              <a:gd name="adj" fmla="val 50000"/>
            </a:avLst>
          </a:prstGeom>
          <a:solidFill>
            <a:srgbClr val="EEF3FA"/>
          </a:solidFill>
          <a:ln w="12700">
            <a:solidFill>
              <a:srgbClr val="C3CEE0"/>
            </a:solidFill>
            <a:prstDash val="solid"/>
          </a:ln>
        </p:spPr>
        <p:txBody>
          <a:bodyPr/>
          <a:lstStyle/>
          <a:p>
            <a:endParaRPr lang="ko-KR" altLang="en-US"/>
          </a:p>
        </p:txBody>
      </p:sp>
      <p:sp>
        <p:nvSpPr>
          <p:cNvPr id="36" name="Text 34"/>
          <p:cNvSpPr/>
          <p:nvPr/>
        </p:nvSpPr>
        <p:spPr>
          <a:xfrm>
            <a:off x="1906524" y="4782312"/>
            <a:ext cx="896112" cy="256032"/>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Hybrid</a:t>
            </a:r>
            <a:endParaRPr lang="en-US" sz="1400" dirty="0"/>
          </a:p>
        </p:txBody>
      </p:sp>
      <p:sp>
        <p:nvSpPr>
          <p:cNvPr id="37" name="Shape 35"/>
          <p:cNvSpPr/>
          <p:nvPr/>
        </p:nvSpPr>
        <p:spPr>
          <a:xfrm>
            <a:off x="2894076" y="4782312"/>
            <a:ext cx="896112" cy="256032"/>
          </a:xfrm>
          <a:prstGeom prst="roundRect">
            <a:avLst>
              <a:gd name="adj" fmla="val 50000"/>
            </a:avLst>
          </a:prstGeom>
          <a:solidFill>
            <a:srgbClr val="EEF3FA"/>
          </a:solidFill>
          <a:ln w="12700">
            <a:solidFill>
              <a:srgbClr val="C3CEE0"/>
            </a:solidFill>
            <a:prstDash val="solid"/>
          </a:ln>
        </p:spPr>
        <p:txBody>
          <a:bodyPr/>
          <a:lstStyle/>
          <a:p>
            <a:endParaRPr lang="ko-KR" altLang="en-US"/>
          </a:p>
        </p:txBody>
      </p:sp>
      <p:sp>
        <p:nvSpPr>
          <p:cNvPr id="38" name="Text 36"/>
          <p:cNvSpPr/>
          <p:nvPr/>
        </p:nvSpPr>
        <p:spPr>
          <a:xfrm>
            <a:off x="2894076" y="4782312"/>
            <a:ext cx="896112" cy="256032"/>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Rerank</a:t>
            </a:r>
            <a:endParaRPr lang="en-US" sz="1400" dirty="0"/>
          </a:p>
        </p:txBody>
      </p:sp>
      <p:sp>
        <p:nvSpPr>
          <p:cNvPr id="39" name="Shape 37"/>
          <p:cNvSpPr/>
          <p:nvPr/>
        </p:nvSpPr>
        <p:spPr>
          <a:xfrm>
            <a:off x="822960" y="5193792"/>
            <a:ext cx="3063240" cy="310896"/>
          </a:xfrm>
          <a:prstGeom prst="roundRect">
            <a:avLst>
              <a:gd name="adj" fmla="val 17647"/>
            </a:avLst>
          </a:prstGeom>
          <a:solidFill>
            <a:srgbClr val="FFFFFF"/>
          </a:solidFill>
          <a:ln w="15875">
            <a:solidFill>
              <a:srgbClr val="2E74C6"/>
            </a:solidFill>
            <a:prstDash val="dash"/>
          </a:ln>
        </p:spPr>
        <p:txBody>
          <a:bodyPr/>
          <a:lstStyle/>
          <a:p>
            <a:endParaRPr lang="ko-KR" altLang="en-US"/>
          </a:p>
        </p:txBody>
      </p:sp>
      <p:sp>
        <p:nvSpPr>
          <p:cNvPr id="40" name="Shape 38"/>
          <p:cNvSpPr/>
          <p:nvPr/>
        </p:nvSpPr>
        <p:spPr>
          <a:xfrm>
            <a:off x="877824" y="5221224"/>
            <a:ext cx="256032" cy="256032"/>
          </a:xfrm>
          <a:prstGeom prst="roundRect">
            <a:avLst>
              <a:gd name="adj" fmla="val 17857"/>
            </a:avLst>
          </a:prstGeom>
          <a:solidFill>
            <a:srgbClr val="1E2A5C"/>
          </a:solidFill>
          <a:ln/>
        </p:spPr>
        <p:txBody>
          <a:bodyPr/>
          <a:lstStyle/>
          <a:p>
            <a:endParaRPr lang="ko-KR" altLang="en-US"/>
          </a:p>
        </p:txBody>
      </p:sp>
      <p:sp>
        <p:nvSpPr>
          <p:cNvPr id="41" name="Text 39"/>
          <p:cNvSpPr/>
          <p:nvPr/>
        </p:nvSpPr>
        <p:spPr>
          <a:xfrm>
            <a:off x="877824" y="5221224"/>
            <a:ext cx="25603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42" name="Text 40"/>
          <p:cNvSpPr/>
          <p:nvPr/>
        </p:nvSpPr>
        <p:spPr>
          <a:xfrm>
            <a:off x="1170432" y="5193792"/>
            <a:ext cx="2679192" cy="310896"/>
          </a:xfrm>
          <a:prstGeom prst="rect">
            <a:avLst/>
          </a:prstGeom>
          <a:noFill/>
          <a:ln/>
        </p:spPr>
        <p:txBody>
          <a:bodyPr wrap="square" lIns="0" tIns="0" rIns="0" bIns="0" rtlCol="0" anchor="ctr"/>
          <a:lstStyle/>
          <a:p>
            <a:pPr marL="0" indent="0">
              <a:buNone/>
            </a:pPr>
            <a:r>
              <a:rPr lang="en-US" sz="1400" b="1" dirty="0">
                <a:solidFill>
                  <a:srgbClr val="2E74C6"/>
                </a:solidFill>
                <a:latin typeface="Pretendard" pitchFamily="34" charset="0"/>
                <a:ea typeface="Pretendard" pitchFamily="34" charset="-122"/>
                <a:cs typeface="Pretendard" pitchFamily="34" charset="-120"/>
              </a:rPr>
              <a:t>CRAG · 결과 채점·교정</a:t>
            </a:r>
            <a:endParaRPr lang="en-US" sz="1400" dirty="0"/>
          </a:p>
        </p:txBody>
      </p:sp>
      <p:sp>
        <p:nvSpPr>
          <p:cNvPr id="43" name="Shape 41"/>
          <p:cNvSpPr/>
          <p:nvPr/>
        </p:nvSpPr>
        <p:spPr>
          <a:xfrm>
            <a:off x="822960" y="5605272"/>
            <a:ext cx="3063240" cy="347472"/>
          </a:xfrm>
          <a:prstGeom prst="roundRect">
            <a:avLst>
              <a:gd name="adj" fmla="val 15789"/>
            </a:avLst>
          </a:prstGeom>
          <a:solidFill>
            <a:srgbClr val="FFFFFF"/>
          </a:solidFill>
          <a:ln w="15875">
            <a:solidFill>
              <a:srgbClr val="1E2A5C"/>
            </a:solidFill>
            <a:prstDash val="solid"/>
          </a:ln>
        </p:spPr>
        <p:txBody>
          <a:bodyPr/>
          <a:lstStyle/>
          <a:p>
            <a:endParaRPr lang="ko-KR" altLang="en-US"/>
          </a:p>
        </p:txBody>
      </p:sp>
      <p:sp>
        <p:nvSpPr>
          <p:cNvPr id="44" name="Text 42"/>
          <p:cNvSpPr/>
          <p:nvPr/>
        </p:nvSpPr>
        <p:spPr>
          <a:xfrm>
            <a:off x="822960" y="5605272"/>
            <a:ext cx="3063240" cy="347472"/>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답변 생성</a:t>
            </a:r>
            <a:endParaRPr lang="en-US" sz="1500" dirty="0"/>
          </a:p>
        </p:txBody>
      </p:sp>
      <p:sp>
        <p:nvSpPr>
          <p:cNvPr id="45" name="Shape 43"/>
          <p:cNvSpPr/>
          <p:nvPr/>
        </p:nvSpPr>
        <p:spPr>
          <a:xfrm>
            <a:off x="822960" y="6053328"/>
            <a:ext cx="3063240" cy="347472"/>
          </a:xfrm>
          <a:prstGeom prst="roundRect">
            <a:avLst>
              <a:gd name="adj" fmla="val 15789"/>
            </a:avLst>
          </a:prstGeom>
          <a:solidFill>
            <a:srgbClr val="FFFFFF"/>
          </a:solidFill>
          <a:ln w="15875">
            <a:solidFill>
              <a:srgbClr val="1E2A5C"/>
            </a:solidFill>
            <a:prstDash val="solid"/>
          </a:ln>
        </p:spPr>
        <p:txBody>
          <a:bodyPr/>
          <a:lstStyle/>
          <a:p>
            <a:endParaRPr lang="ko-KR" altLang="en-US"/>
          </a:p>
        </p:txBody>
      </p:sp>
      <p:sp>
        <p:nvSpPr>
          <p:cNvPr id="46" name="Text 44"/>
          <p:cNvSpPr/>
          <p:nvPr/>
        </p:nvSpPr>
        <p:spPr>
          <a:xfrm>
            <a:off x="822960" y="6053328"/>
            <a:ext cx="3063240" cy="347472"/>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근거 검증</a:t>
            </a:r>
            <a:endParaRPr lang="en-US" sz="1500" dirty="0"/>
          </a:p>
        </p:txBody>
      </p:sp>
      <p:sp>
        <p:nvSpPr>
          <p:cNvPr id="47" name="Shape 45"/>
          <p:cNvSpPr/>
          <p:nvPr/>
        </p:nvSpPr>
        <p:spPr>
          <a:xfrm>
            <a:off x="3575304" y="6099048"/>
            <a:ext cx="256032" cy="256032"/>
          </a:xfrm>
          <a:prstGeom prst="roundRect">
            <a:avLst>
              <a:gd name="adj" fmla="val 17857"/>
            </a:avLst>
          </a:prstGeom>
          <a:solidFill>
            <a:srgbClr val="2E74C6"/>
          </a:solidFill>
          <a:ln/>
        </p:spPr>
        <p:txBody>
          <a:bodyPr/>
          <a:lstStyle/>
          <a:p>
            <a:endParaRPr lang="ko-KR" altLang="en-US"/>
          </a:p>
        </p:txBody>
      </p:sp>
      <p:sp>
        <p:nvSpPr>
          <p:cNvPr id="48" name="Text 46"/>
          <p:cNvSpPr/>
          <p:nvPr/>
        </p:nvSpPr>
        <p:spPr>
          <a:xfrm>
            <a:off x="3575304" y="6099048"/>
            <a:ext cx="25603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49" name="Shape 47"/>
          <p:cNvSpPr/>
          <p:nvPr/>
        </p:nvSpPr>
        <p:spPr>
          <a:xfrm>
            <a:off x="822960" y="6501384"/>
            <a:ext cx="3063240" cy="347472"/>
          </a:xfrm>
          <a:prstGeom prst="roundRect">
            <a:avLst>
              <a:gd name="adj" fmla="val 15789"/>
            </a:avLst>
          </a:prstGeom>
          <a:solidFill>
            <a:srgbClr val="F5F8FC"/>
          </a:solidFill>
          <a:ln w="15875">
            <a:solidFill>
              <a:srgbClr val="1E2A5C"/>
            </a:solidFill>
            <a:prstDash val="solid"/>
          </a:ln>
        </p:spPr>
        <p:txBody>
          <a:bodyPr/>
          <a:lstStyle/>
          <a:p>
            <a:endParaRPr lang="ko-KR" altLang="en-US"/>
          </a:p>
        </p:txBody>
      </p:sp>
      <p:sp>
        <p:nvSpPr>
          <p:cNvPr id="50" name="Text 48"/>
          <p:cNvSpPr/>
          <p:nvPr/>
        </p:nvSpPr>
        <p:spPr>
          <a:xfrm>
            <a:off x="822960" y="6501384"/>
            <a:ext cx="3063240" cy="347472"/>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최종 답변</a:t>
            </a:r>
            <a:endParaRPr lang="en-US" sz="1500" dirty="0"/>
          </a:p>
        </p:txBody>
      </p:sp>
      <p:sp>
        <p:nvSpPr>
          <p:cNvPr id="51" name="Shape 49"/>
          <p:cNvSpPr/>
          <p:nvPr/>
        </p:nvSpPr>
        <p:spPr>
          <a:xfrm>
            <a:off x="4160520" y="3227832"/>
            <a:ext cx="384048" cy="274320"/>
          </a:xfrm>
          <a:prstGeom prst="roundRect">
            <a:avLst>
              <a:gd name="adj" fmla="val 16667"/>
            </a:avLst>
          </a:prstGeom>
          <a:solidFill>
            <a:srgbClr val="FFFFFF"/>
          </a:solidFill>
          <a:ln w="15875">
            <a:solidFill>
              <a:srgbClr val="1E2A5C"/>
            </a:solidFill>
            <a:prstDash val="solid"/>
          </a:ln>
        </p:spPr>
        <p:txBody>
          <a:bodyPr/>
          <a:lstStyle/>
          <a:p>
            <a:endParaRPr lang="ko-KR" altLang="en-US"/>
          </a:p>
        </p:txBody>
      </p:sp>
      <p:sp>
        <p:nvSpPr>
          <p:cNvPr id="52" name="Text 50"/>
          <p:cNvSpPr/>
          <p:nvPr/>
        </p:nvSpPr>
        <p:spPr>
          <a:xfrm>
            <a:off x="4617720" y="3200400"/>
            <a:ext cx="1600200" cy="329184"/>
          </a:xfrm>
          <a:prstGeom prst="rect">
            <a:avLst/>
          </a:prstGeom>
          <a:noFill/>
          <a:ln/>
        </p:spPr>
        <p:txBody>
          <a:bodyPr wrap="square" lIns="0" tIns="0" rIns="0" bIns="0" rtlCol="0" anchor="ctr"/>
          <a:lstStyle/>
          <a:p>
            <a:pPr marL="0" indent="0">
              <a:buNone/>
            </a:pPr>
            <a:r>
              <a:rPr lang="en-US" sz="1400" dirty="0">
                <a:solidFill>
                  <a:srgbClr val="2B3242"/>
                </a:solidFill>
                <a:latin typeface="Pretendard" pitchFamily="34" charset="0"/>
                <a:ea typeface="Pretendard" pitchFamily="34" charset="-122"/>
                <a:cs typeface="Pretendard" pitchFamily="34" charset="-120"/>
              </a:rPr>
              <a:t>Basic RAG</a:t>
            </a:r>
            <a:endParaRPr lang="en-US" sz="1400" dirty="0"/>
          </a:p>
        </p:txBody>
      </p:sp>
      <p:sp>
        <p:nvSpPr>
          <p:cNvPr id="53" name="Shape 51"/>
          <p:cNvSpPr/>
          <p:nvPr/>
        </p:nvSpPr>
        <p:spPr>
          <a:xfrm>
            <a:off x="4160520" y="3648456"/>
            <a:ext cx="384048" cy="274320"/>
          </a:xfrm>
          <a:prstGeom prst="roundRect">
            <a:avLst>
              <a:gd name="adj" fmla="val 16667"/>
            </a:avLst>
          </a:prstGeom>
          <a:solidFill>
            <a:srgbClr val="FFFFFF"/>
          </a:solidFill>
          <a:ln w="15875">
            <a:solidFill>
              <a:srgbClr val="2E74C6"/>
            </a:solidFill>
            <a:prstDash val="dash"/>
          </a:ln>
        </p:spPr>
        <p:txBody>
          <a:bodyPr/>
          <a:lstStyle/>
          <a:p>
            <a:endParaRPr lang="ko-KR" altLang="en-US"/>
          </a:p>
        </p:txBody>
      </p:sp>
      <p:sp>
        <p:nvSpPr>
          <p:cNvPr id="54" name="Text 52"/>
          <p:cNvSpPr/>
          <p:nvPr/>
        </p:nvSpPr>
        <p:spPr>
          <a:xfrm>
            <a:off x="4617720" y="3621024"/>
            <a:ext cx="1600200" cy="329184"/>
          </a:xfrm>
          <a:prstGeom prst="rect">
            <a:avLst/>
          </a:prstGeom>
          <a:noFill/>
          <a:ln/>
        </p:spPr>
        <p:txBody>
          <a:bodyPr wrap="square" lIns="0" tIns="0" rIns="0" bIns="0" rtlCol="0" anchor="ctr"/>
          <a:lstStyle/>
          <a:p>
            <a:pPr marL="0" indent="0">
              <a:buNone/>
            </a:pPr>
            <a:r>
              <a:rPr lang="ko-KR" altLang="en-US" sz="1400" dirty="0">
                <a:solidFill>
                  <a:srgbClr val="2B3242"/>
                </a:solidFill>
                <a:latin typeface="Pretendard" pitchFamily="34" charset="0"/>
                <a:ea typeface="Pretendard" pitchFamily="34" charset="-122"/>
                <a:cs typeface="Pretendard" pitchFamily="34" charset="-120"/>
              </a:rPr>
              <a:t>패턴 </a:t>
            </a:r>
            <a:r>
              <a:rPr lang="en-US" sz="1400" dirty="0" err="1">
                <a:solidFill>
                  <a:srgbClr val="2B3242"/>
                </a:solidFill>
                <a:latin typeface="Pretendard" pitchFamily="34" charset="0"/>
                <a:ea typeface="Pretendard" pitchFamily="34" charset="-122"/>
                <a:cs typeface="Pretendard" pitchFamily="34" charset="-120"/>
              </a:rPr>
              <a:t>끼울</a:t>
            </a:r>
            <a:r>
              <a:rPr lang="en-US" sz="1400" dirty="0">
                <a:solidFill>
                  <a:srgbClr val="2B3242"/>
                </a:solidFill>
                <a:latin typeface="Pretendard" pitchFamily="34" charset="0"/>
                <a:ea typeface="Pretendard" pitchFamily="34" charset="-122"/>
                <a:cs typeface="Pretendard" pitchFamily="34" charset="-120"/>
              </a:rPr>
              <a:t> 자리</a:t>
            </a:r>
            <a:endParaRPr lang="en-US" sz="1400" dirty="0"/>
          </a:p>
        </p:txBody>
      </p:sp>
      <p:sp>
        <p:nvSpPr>
          <p:cNvPr id="55" name="Text 53"/>
          <p:cNvSpPr/>
          <p:nvPr/>
        </p:nvSpPr>
        <p:spPr>
          <a:xfrm>
            <a:off x="4114800" y="4453128"/>
            <a:ext cx="2148840" cy="548640"/>
          </a:xfrm>
          <a:prstGeom prst="rect">
            <a:avLst/>
          </a:prstGeom>
          <a:noFill/>
          <a:ln/>
        </p:spPr>
        <p:txBody>
          <a:bodyPr wrap="square" lIns="0" tIns="0" rIns="0" bIns="0" rtlCol="0" anchor="ctr"/>
          <a:lstStyle/>
          <a:p>
            <a:pPr marL="0" indent="0">
              <a:buNone/>
            </a:pPr>
            <a:r>
              <a:rPr lang="en-US" sz="1400" dirty="0">
                <a:solidFill>
                  <a:srgbClr val="4A5364"/>
                </a:solidFill>
                <a:latin typeface="Pretendard" pitchFamily="34" charset="0"/>
                <a:ea typeface="Pretendard" pitchFamily="34" charset="-122"/>
                <a:cs typeface="Pretendard" pitchFamily="34" charset="-120"/>
              </a:rPr>
              <a:t>← 검색 방식 선택지</a:t>
            </a:r>
            <a:endParaRPr lang="en-US" sz="1400" dirty="0"/>
          </a:p>
          <a:p>
            <a:pPr marL="0" indent="0">
              <a:buNone/>
            </a:pPr>
            <a:r>
              <a:rPr lang="en-US" sz="1400" dirty="0">
                <a:solidFill>
                  <a:srgbClr val="4A5364"/>
                </a:solidFill>
                <a:latin typeface="Pretendard" pitchFamily="34" charset="0"/>
                <a:ea typeface="Pretendard" pitchFamily="34" charset="-122"/>
                <a:cs typeface="Pretendard" pitchFamily="34" charset="-120"/>
              </a:rPr>
              <a:t>    (패턴 아님)</a:t>
            </a:r>
            <a:endParaRPr lang="en-US" sz="1400" dirty="0"/>
          </a:p>
        </p:txBody>
      </p:sp>
      <p:sp>
        <p:nvSpPr>
          <p:cNvPr id="56" name="Shape 54"/>
          <p:cNvSpPr/>
          <p:nvPr/>
        </p:nvSpPr>
        <p:spPr>
          <a:xfrm>
            <a:off x="4160520" y="5102352"/>
            <a:ext cx="2057400" cy="493776"/>
          </a:xfrm>
          <a:prstGeom prst="roundRect">
            <a:avLst>
              <a:gd name="adj" fmla="val 11111"/>
            </a:avLst>
          </a:prstGeom>
          <a:solidFill>
            <a:srgbClr val="404155"/>
          </a:solidFill>
          <a:ln w="15875">
            <a:solidFill>
              <a:srgbClr val="404155"/>
            </a:solidFill>
            <a:prstDash val="solid"/>
          </a:ln>
        </p:spPr>
        <p:txBody>
          <a:bodyPr/>
          <a:lstStyle/>
          <a:p>
            <a:endParaRPr lang="ko-KR" altLang="en-US"/>
          </a:p>
        </p:txBody>
      </p:sp>
      <p:sp>
        <p:nvSpPr>
          <p:cNvPr id="57" name="Text 55"/>
          <p:cNvSpPr/>
          <p:nvPr/>
        </p:nvSpPr>
        <p:spPr>
          <a:xfrm>
            <a:off x="4160520" y="5102352"/>
            <a:ext cx="205740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확인 필요로 정지</a:t>
            </a:r>
            <a:endParaRPr lang="en-US" sz="1400" dirty="0"/>
          </a:p>
          <a:p>
            <a:pPr marL="0" indent="0" algn="ctr">
              <a:buNone/>
            </a:pPr>
            <a:r>
              <a:rPr lang="en-US" sz="1400" dirty="0">
                <a:solidFill>
                  <a:srgbClr val="FFFFFF"/>
                </a:solidFill>
                <a:latin typeface="Pretendard" pitchFamily="34" charset="0"/>
                <a:ea typeface="Pretendard" pitchFamily="34" charset="-122"/>
                <a:cs typeface="Pretendard" pitchFamily="34" charset="-120"/>
              </a:rPr>
              <a:t>(근거 부족 시)</a:t>
            </a:r>
            <a:endParaRPr lang="en-US" sz="1400" dirty="0"/>
          </a:p>
        </p:txBody>
      </p:sp>
      <p:sp>
        <p:nvSpPr>
          <p:cNvPr id="58" name="Shape 56"/>
          <p:cNvSpPr/>
          <p:nvPr/>
        </p:nvSpPr>
        <p:spPr>
          <a:xfrm>
            <a:off x="3886200" y="5349240"/>
            <a:ext cx="274320" cy="0"/>
          </a:xfrm>
          <a:prstGeom prst="line">
            <a:avLst/>
          </a:prstGeom>
          <a:noFill/>
          <a:ln w="19050">
            <a:solidFill>
              <a:srgbClr val="4A5364"/>
            </a:solidFill>
            <a:prstDash val="solid"/>
            <a:tailEnd type="triangle"/>
          </a:ln>
        </p:spPr>
        <p:txBody>
          <a:bodyPr/>
          <a:lstStyle/>
          <a:p>
            <a:endParaRPr lang="ko-KR" altLang="en-US"/>
          </a:p>
        </p:txBody>
      </p:sp>
      <p:sp>
        <p:nvSpPr>
          <p:cNvPr id="59" name="Shape 57"/>
          <p:cNvSpPr/>
          <p:nvPr/>
        </p:nvSpPr>
        <p:spPr>
          <a:xfrm>
            <a:off x="4160520" y="6053328"/>
            <a:ext cx="2057400" cy="347472"/>
          </a:xfrm>
          <a:prstGeom prst="roundRect">
            <a:avLst>
              <a:gd name="adj" fmla="val 15789"/>
            </a:avLst>
          </a:prstGeom>
          <a:solidFill>
            <a:srgbClr val="FFFFFF"/>
          </a:solidFill>
          <a:ln w="15875">
            <a:solidFill>
              <a:srgbClr val="1E2A5C"/>
            </a:solidFill>
            <a:prstDash val="solid"/>
          </a:ln>
        </p:spPr>
        <p:txBody>
          <a:bodyPr/>
          <a:lstStyle/>
          <a:p>
            <a:endParaRPr lang="ko-KR" altLang="en-US"/>
          </a:p>
        </p:txBody>
      </p:sp>
      <p:sp>
        <p:nvSpPr>
          <p:cNvPr id="60" name="Text 58"/>
          <p:cNvSpPr/>
          <p:nvPr/>
        </p:nvSpPr>
        <p:spPr>
          <a:xfrm>
            <a:off x="4160520" y="6053328"/>
            <a:ext cx="2057400" cy="347472"/>
          </a:xfrm>
          <a:prstGeom prst="rect">
            <a:avLst/>
          </a:prstGeom>
          <a:noFill/>
          <a:ln/>
        </p:spPr>
        <p:txBody>
          <a:bodyPr wrap="square" lIns="0" tIns="0" rIns="0" bIns="0" rtlCol="0" anchor="ctr"/>
          <a:lstStyle/>
          <a:p>
            <a:pPr marL="0" indent="0" algn="ctr">
              <a:buNone/>
            </a:pPr>
            <a:r>
              <a:rPr lang="en-US" sz="1500" dirty="0">
                <a:solidFill>
                  <a:srgbClr val="1E2A5C"/>
                </a:solidFill>
                <a:latin typeface="Pretendard" pitchFamily="34" charset="0"/>
                <a:ea typeface="Pretendard" pitchFamily="34" charset="-122"/>
                <a:cs typeface="Pretendard" pitchFamily="34" charset="-120"/>
              </a:rPr>
              <a:t>실패 → 답변 재작성</a:t>
            </a:r>
            <a:endParaRPr lang="en-US" sz="1500" dirty="0"/>
          </a:p>
        </p:txBody>
      </p:sp>
      <p:sp>
        <p:nvSpPr>
          <p:cNvPr id="61" name="Shape 59"/>
          <p:cNvSpPr/>
          <p:nvPr/>
        </p:nvSpPr>
        <p:spPr>
          <a:xfrm>
            <a:off x="3886200" y="6227064"/>
            <a:ext cx="274320" cy="0"/>
          </a:xfrm>
          <a:prstGeom prst="line">
            <a:avLst/>
          </a:prstGeom>
          <a:noFill/>
          <a:ln w="19050">
            <a:solidFill>
              <a:srgbClr val="4A5364"/>
            </a:solidFill>
            <a:prstDash val="solid"/>
            <a:tailEnd type="triangle"/>
          </a:ln>
        </p:spPr>
        <p:txBody>
          <a:bodyPr/>
          <a:lstStyle/>
          <a:p>
            <a:endParaRPr lang="ko-KR" altLang="en-US"/>
          </a:p>
        </p:txBody>
      </p:sp>
      <p:sp>
        <p:nvSpPr>
          <p:cNvPr id="62" name="Shape 60"/>
          <p:cNvSpPr/>
          <p:nvPr/>
        </p:nvSpPr>
        <p:spPr>
          <a:xfrm>
            <a:off x="5189220" y="5779008"/>
            <a:ext cx="0" cy="274320"/>
          </a:xfrm>
          <a:prstGeom prst="line">
            <a:avLst/>
          </a:prstGeom>
          <a:noFill/>
          <a:ln w="19050">
            <a:solidFill>
              <a:srgbClr val="4A5364"/>
            </a:solidFill>
            <a:prstDash val="dash"/>
          </a:ln>
        </p:spPr>
        <p:txBody>
          <a:bodyPr/>
          <a:lstStyle/>
          <a:p>
            <a:endParaRPr lang="ko-KR" altLang="en-US"/>
          </a:p>
        </p:txBody>
      </p:sp>
      <p:sp>
        <p:nvSpPr>
          <p:cNvPr id="63" name="Shape 61"/>
          <p:cNvSpPr/>
          <p:nvPr/>
        </p:nvSpPr>
        <p:spPr>
          <a:xfrm flipH="1">
            <a:off x="3886200" y="5779008"/>
            <a:ext cx="1303020" cy="0"/>
          </a:xfrm>
          <a:prstGeom prst="line">
            <a:avLst/>
          </a:prstGeom>
          <a:noFill/>
          <a:ln w="19050">
            <a:solidFill>
              <a:srgbClr val="4A5364"/>
            </a:solidFill>
            <a:prstDash val="dash"/>
            <a:tailEnd type="triangle"/>
          </a:ln>
        </p:spPr>
        <p:txBody>
          <a:bodyPr/>
          <a:lstStyle/>
          <a:p>
            <a:endParaRPr lang="ko-KR" altLang="en-US"/>
          </a:p>
        </p:txBody>
      </p:sp>
      <p:sp>
        <p:nvSpPr>
          <p:cNvPr id="64" name="Shape 62"/>
          <p:cNvSpPr/>
          <p:nvPr/>
        </p:nvSpPr>
        <p:spPr>
          <a:xfrm>
            <a:off x="6766560" y="2057400"/>
            <a:ext cx="7360920" cy="457200"/>
          </a:xfrm>
          <a:prstGeom prst="roundRect">
            <a:avLst>
              <a:gd name="adj" fmla="val 12000"/>
            </a:avLst>
          </a:prstGeom>
          <a:solidFill>
            <a:srgbClr val="2E74C6"/>
          </a:solidFill>
          <a:ln/>
        </p:spPr>
        <p:txBody>
          <a:bodyPr/>
          <a:lstStyle/>
          <a:p>
            <a:endParaRPr lang="ko-KR" altLang="en-US"/>
          </a:p>
        </p:txBody>
      </p:sp>
      <p:sp>
        <p:nvSpPr>
          <p:cNvPr id="65" name="Text 63"/>
          <p:cNvSpPr/>
          <p:nvPr/>
        </p:nvSpPr>
        <p:spPr>
          <a:xfrm>
            <a:off x="6766560" y="2057400"/>
            <a:ext cx="736092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패턴별로 끼우는 부품</a:t>
            </a:r>
            <a:endParaRPr lang="en-US" sz="2000" dirty="0"/>
          </a:p>
        </p:txBody>
      </p:sp>
      <p:sp>
        <p:nvSpPr>
          <p:cNvPr id="66" name="Shape 64"/>
          <p:cNvSpPr/>
          <p:nvPr/>
        </p:nvSpPr>
        <p:spPr>
          <a:xfrm>
            <a:off x="6766560" y="2606040"/>
            <a:ext cx="7360920" cy="850392"/>
          </a:xfrm>
          <a:prstGeom prst="roundRect">
            <a:avLst>
              <a:gd name="adj" fmla="val 8602"/>
            </a:avLst>
          </a:prstGeom>
          <a:solidFill>
            <a:srgbClr val="F5F8FC"/>
          </a:solidFill>
          <a:ln w="12700">
            <a:solidFill>
              <a:srgbClr val="D9E0EC"/>
            </a:solidFill>
            <a:prstDash val="solid"/>
          </a:ln>
        </p:spPr>
        <p:txBody>
          <a:bodyPr/>
          <a:lstStyle/>
          <a:p>
            <a:endParaRPr lang="ko-KR" altLang="en-US"/>
          </a:p>
        </p:txBody>
      </p:sp>
      <p:sp>
        <p:nvSpPr>
          <p:cNvPr id="67" name="Shape 65"/>
          <p:cNvSpPr/>
          <p:nvPr/>
        </p:nvSpPr>
        <p:spPr>
          <a:xfrm>
            <a:off x="6903720" y="2724912"/>
            <a:ext cx="365760" cy="365760"/>
          </a:xfrm>
          <a:prstGeom prst="roundRect">
            <a:avLst>
              <a:gd name="adj" fmla="val 12500"/>
            </a:avLst>
          </a:prstGeom>
          <a:solidFill>
            <a:srgbClr val="1E2A5C"/>
          </a:solidFill>
          <a:ln/>
        </p:spPr>
        <p:txBody>
          <a:bodyPr/>
          <a:lstStyle/>
          <a:p>
            <a:endParaRPr lang="ko-KR" altLang="en-US"/>
          </a:p>
        </p:txBody>
      </p:sp>
      <p:sp>
        <p:nvSpPr>
          <p:cNvPr id="68" name="Text 66"/>
          <p:cNvSpPr/>
          <p:nvPr/>
        </p:nvSpPr>
        <p:spPr>
          <a:xfrm>
            <a:off x="6903720" y="2724912"/>
            <a:ext cx="365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69" name="Text 67"/>
          <p:cNvSpPr/>
          <p:nvPr/>
        </p:nvSpPr>
        <p:spPr>
          <a:xfrm>
            <a:off x="7406640" y="2670048"/>
            <a:ext cx="4526280" cy="310896"/>
          </a:xfrm>
          <a:prstGeom prst="rect">
            <a:avLst/>
          </a:prstGeom>
          <a:noFill/>
          <a:ln/>
        </p:spPr>
        <p:txBody>
          <a:bodyPr wrap="square" lIns="0" tIns="0" rIns="0" bIns="0" rtlCol="0" anchor="ctr"/>
          <a:lstStyle/>
          <a:p>
            <a:pPr marL="0" indent="0">
              <a:buNone/>
            </a:pPr>
            <a:r>
              <a:rPr lang="en-US" sz="1600" b="1" dirty="0">
                <a:solidFill>
                  <a:srgbClr val="1E2A5C"/>
                </a:solidFill>
                <a:latin typeface="Pretendard" pitchFamily="34" charset="0"/>
                <a:ea typeface="Pretendard" pitchFamily="34" charset="-122"/>
                <a:cs typeface="Pretendard" pitchFamily="34" charset="-120"/>
              </a:rPr>
              <a:t>Basic RAG</a:t>
            </a:r>
            <a:endParaRPr lang="en-US" sz="1600" dirty="0"/>
          </a:p>
        </p:txBody>
      </p:sp>
      <p:sp>
        <p:nvSpPr>
          <p:cNvPr id="72" name="Text 70"/>
          <p:cNvSpPr/>
          <p:nvPr/>
        </p:nvSpPr>
        <p:spPr>
          <a:xfrm>
            <a:off x="7406640" y="2990088"/>
            <a:ext cx="6583680" cy="438912"/>
          </a:xfrm>
          <a:prstGeom prst="rect">
            <a:avLst/>
          </a:prstGeom>
          <a:noFill/>
          <a:ln/>
        </p:spPr>
        <p:txBody>
          <a:bodyPr wrap="square" lIns="0" tIns="0" rIns="0" bIns="0" rtlCol="0" anchor="t"/>
          <a:lstStyle/>
          <a:p>
            <a:pPr marL="0" indent="0">
              <a:lnSpc>
                <a:spcPct val="100000"/>
              </a:lnSpc>
              <a:buNone/>
            </a:pPr>
            <a:r>
              <a:rPr lang="ko-KR" altLang="en-US" sz="1400" dirty="0">
                <a:solidFill>
                  <a:srgbClr val="4A5364"/>
                </a:solidFill>
                <a:latin typeface="Pretendard" pitchFamily="34" charset="0"/>
                <a:ea typeface="Pretendard" pitchFamily="34" charset="-122"/>
                <a:cs typeface="Pretendard" pitchFamily="34" charset="-120"/>
              </a:rPr>
              <a:t>기본 패턴</a:t>
            </a:r>
            <a:endParaRPr lang="en-US" sz="1400" dirty="0"/>
          </a:p>
          <a:p>
            <a:pPr marL="0" indent="0">
              <a:lnSpc>
                <a:spcPct val="100000"/>
              </a:lnSpc>
              <a:buNone/>
            </a:pPr>
            <a:r>
              <a:rPr lang="en-US" sz="1400" dirty="0">
                <a:solidFill>
                  <a:srgbClr val="4A5364"/>
                </a:solidFill>
                <a:latin typeface="Pretendard" pitchFamily="34" charset="0"/>
                <a:ea typeface="Pretendard" pitchFamily="34" charset="-122"/>
                <a:cs typeface="Pretendard" pitchFamily="34" charset="-120"/>
              </a:rPr>
              <a:t>예: "</a:t>
            </a:r>
            <a:r>
              <a:rPr lang="en-US" sz="1400" dirty="0" err="1">
                <a:solidFill>
                  <a:srgbClr val="4A5364"/>
                </a:solidFill>
                <a:latin typeface="Pretendard" pitchFamily="34" charset="0"/>
                <a:ea typeface="Pretendard" pitchFamily="34" charset="-122"/>
                <a:cs typeface="Pretendard" pitchFamily="34" charset="-120"/>
              </a:rPr>
              <a:t>연회비</a:t>
            </a:r>
            <a:r>
              <a:rPr lang="en-US" sz="1400" dirty="0">
                <a:solidFill>
                  <a:srgbClr val="4A5364"/>
                </a:solidFill>
                <a:latin typeface="Pretendard" pitchFamily="34" charset="0"/>
                <a:ea typeface="Pretendard" pitchFamily="34" charset="-122"/>
                <a:cs typeface="Pretendard" pitchFamily="34" charset="-120"/>
              </a:rPr>
              <a:t> </a:t>
            </a:r>
            <a:r>
              <a:rPr lang="en-US" sz="1400" dirty="0" err="1">
                <a:solidFill>
                  <a:srgbClr val="4A5364"/>
                </a:solidFill>
                <a:latin typeface="Pretendard" pitchFamily="34" charset="0"/>
                <a:ea typeface="Pretendard" pitchFamily="34" charset="-122"/>
                <a:cs typeface="Pretendard" pitchFamily="34" charset="-120"/>
              </a:rPr>
              <a:t>면제</a:t>
            </a:r>
            <a:r>
              <a:rPr lang="en-US" sz="1400" dirty="0">
                <a:solidFill>
                  <a:srgbClr val="4A5364"/>
                </a:solidFill>
                <a:latin typeface="Pretendard" pitchFamily="34" charset="0"/>
                <a:ea typeface="Pretendard" pitchFamily="34" charset="-122"/>
                <a:cs typeface="Pretendard" pitchFamily="34" charset="-120"/>
              </a:rPr>
              <a:t> </a:t>
            </a:r>
            <a:r>
              <a:rPr lang="en-US" sz="1400" dirty="0" err="1">
                <a:solidFill>
                  <a:srgbClr val="4A5364"/>
                </a:solidFill>
                <a:latin typeface="Pretendard" pitchFamily="34" charset="0"/>
                <a:ea typeface="Pretendard" pitchFamily="34" charset="-122"/>
                <a:cs typeface="Pretendard" pitchFamily="34" charset="-120"/>
              </a:rPr>
              <a:t>조건은</a:t>
            </a:r>
            <a:r>
              <a:rPr lang="en-US" sz="1400" dirty="0">
                <a:solidFill>
                  <a:srgbClr val="4A5364"/>
                </a:solidFill>
                <a:latin typeface="Pretendard" pitchFamily="34" charset="0"/>
                <a:ea typeface="Pretendard" pitchFamily="34" charset="-122"/>
                <a:cs typeface="Pretendard" pitchFamily="34" charset="-120"/>
              </a:rPr>
              <a:t>?" → </a:t>
            </a:r>
            <a:r>
              <a:rPr lang="en-US" sz="1400" dirty="0" err="1">
                <a:solidFill>
                  <a:srgbClr val="4A5364"/>
                </a:solidFill>
                <a:latin typeface="Pretendard" pitchFamily="34" charset="0"/>
                <a:ea typeface="Pretendard" pitchFamily="34" charset="-122"/>
                <a:cs typeface="Pretendard" pitchFamily="34" charset="-120"/>
              </a:rPr>
              <a:t>검색</a:t>
            </a:r>
            <a:r>
              <a:rPr lang="en-US" sz="1400" dirty="0">
                <a:solidFill>
                  <a:srgbClr val="4A5364"/>
                </a:solidFill>
                <a:latin typeface="Pretendard" pitchFamily="34" charset="0"/>
                <a:ea typeface="Pretendard" pitchFamily="34" charset="-122"/>
                <a:cs typeface="Pretendard" pitchFamily="34" charset="-120"/>
              </a:rPr>
              <a:t> → </a:t>
            </a:r>
            <a:r>
              <a:rPr lang="en-US" sz="1400" dirty="0" err="1">
                <a:solidFill>
                  <a:srgbClr val="4A5364"/>
                </a:solidFill>
                <a:latin typeface="Pretendard" pitchFamily="34" charset="0"/>
                <a:ea typeface="Pretendard" pitchFamily="34" charset="-122"/>
                <a:cs typeface="Pretendard" pitchFamily="34" charset="-120"/>
              </a:rPr>
              <a:t>답변</a:t>
            </a:r>
            <a:r>
              <a:rPr lang="en-US" sz="1400" dirty="0">
                <a:solidFill>
                  <a:srgbClr val="4A5364"/>
                </a:solidFill>
                <a:latin typeface="Pretendard" pitchFamily="34" charset="0"/>
                <a:ea typeface="Pretendard" pitchFamily="34" charset="-122"/>
                <a:cs typeface="Pretendard" pitchFamily="34" charset="-120"/>
              </a:rPr>
              <a:t>, </a:t>
            </a:r>
            <a:r>
              <a:rPr lang="en-US" sz="1400" dirty="0" err="1">
                <a:solidFill>
                  <a:srgbClr val="4A5364"/>
                </a:solidFill>
                <a:latin typeface="Pretendard" pitchFamily="34" charset="0"/>
                <a:ea typeface="Pretendard" pitchFamily="34" charset="-122"/>
                <a:cs typeface="Pretendard" pitchFamily="34" charset="-120"/>
              </a:rPr>
              <a:t>분기</a:t>
            </a:r>
            <a:r>
              <a:rPr lang="en-US" sz="1400" dirty="0">
                <a:solidFill>
                  <a:srgbClr val="4A5364"/>
                </a:solidFill>
                <a:latin typeface="Pretendard" pitchFamily="34" charset="0"/>
                <a:ea typeface="Pretendard" pitchFamily="34" charset="-122"/>
                <a:cs typeface="Pretendard" pitchFamily="34" charset="-120"/>
              </a:rPr>
              <a:t> </a:t>
            </a:r>
            <a:r>
              <a:rPr lang="en-US" sz="1400" dirty="0" err="1">
                <a:solidFill>
                  <a:srgbClr val="4A5364"/>
                </a:solidFill>
                <a:latin typeface="Pretendard" pitchFamily="34" charset="0"/>
                <a:ea typeface="Pretendard" pitchFamily="34" charset="-122"/>
                <a:cs typeface="Pretendard" pitchFamily="34" charset="-120"/>
              </a:rPr>
              <a:t>없이</a:t>
            </a:r>
            <a:r>
              <a:rPr lang="en-US" sz="1400" dirty="0">
                <a:solidFill>
                  <a:srgbClr val="4A5364"/>
                </a:solidFill>
                <a:latin typeface="Pretendard" pitchFamily="34" charset="0"/>
                <a:ea typeface="Pretendard" pitchFamily="34" charset="-122"/>
                <a:cs typeface="Pretendard" pitchFamily="34" charset="-120"/>
              </a:rPr>
              <a:t> </a:t>
            </a:r>
            <a:r>
              <a:rPr lang="en-US" sz="1400" dirty="0" err="1">
                <a:solidFill>
                  <a:srgbClr val="4A5364"/>
                </a:solidFill>
                <a:latin typeface="Pretendard" pitchFamily="34" charset="0"/>
                <a:ea typeface="Pretendard" pitchFamily="34" charset="-122"/>
                <a:cs typeface="Pretendard" pitchFamily="34" charset="-120"/>
              </a:rPr>
              <a:t>통과</a:t>
            </a:r>
            <a:endParaRPr lang="en-US" sz="1400" dirty="0"/>
          </a:p>
        </p:txBody>
      </p:sp>
      <p:sp>
        <p:nvSpPr>
          <p:cNvPr id="73" name="Shape 71"/>
          <p:cNvSpPr/>
          <p:nvPr/>
        </p:nvSpPr>
        <p:spPr>
          <a:xfrm>
            <a:off x="6766560" y="3535985"/>
            <a:ext cx="7360920" cy="850392"/>
          </a:xfrm>
          <a:prstGeom prst="roundRect">
            <a:avLst>
              <a:gd name="adj" fmla="val 8602"/>
            </a:avLst>
          </a:prstGeom>
          <a:solidFill>
            <a:srgbClr val="F5F8FC"/>
          </a:solidFill>
          <a:ln w="12700">
            <a:solidFill>
              <a:srgbClr val="D9E0EC"/>
            </a:solidFill>
            <a:prstDash val="solid"/>
          </a:ln>
        </p:spPr>
        <p:txBody>
          <a:bodyPr/>
          <a:lstStyle/>
          <a:p>
            <a:endParaRPr lang="ko-KR" altLang="en-US"/>
          </a:p>
        </p:txBody>
      </p:sp>
      <p:sp>
        <p:nvSpPr>
          <p:cNvPr id="74" name="Shape 72"/>
          <p:cNvSpPr/>
          <p:nvPr/>
        </p:nvSpPr>
        <p:spPr>
          <a:xfrm>
            <a:off x="6903720" y="3654857"/>
            <a:ext cx="365760" cy="365760"/>
          </a:xfrm>
          <a:prstGeom prst="roundRect">
            <a:avLst>
              <a:gd name="adj" fmla="val 12500"/>
            </a:avLst>
          </a:prstGeom>
          <a:solidFill>
            <a:srgbClr val="2E74C6"/>
          </a:solidFill>
          <a:ln/>
        </p:spPr>
        <p:txBody>
          <a:bodyPr/>
          <a:lstStyle/>
          <a:p>
            <a:endParaRPr lang="ko-KR" altLang="en-US"/>
          </a:p>
        </p:txBody>
      </p:sp>
      <p:sp>
        <p:nvSpPr>
          <p:cNvPr id="75" name="Text 73"/>
          <p:cNvSpPr/>
          <p:nvPr/>
        </p:nvSpPr>
        <p:spPr>
          <a:xfrm>
            <a:off x="6903720" y="3654857"/>
            <a:ext cx="365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76" name="Text 74"/>
          <p:cNvSpPr/>
          <p:nvPr/>
        </p:nvSpPr>
        <p:spPr>
          <a:xfrm>
            <a:off x="7406640" y="3599993"/>
            <a:ext cx="4526280" cy="310896"/>
          </a:xfrm>
          <a:prstGeom prst="rect">
            <a:avLst/>
          </a:prstGeom>
          <a:noFill/>
          <a:ln/>
        </p:spPr>
        <p:txBody>
          <a:bodyPr wrap="square" lIns="0" tIns="0" rIns="0" bIns="0" rtlCol="0" anchor="ctr"/>
          <a:lstStyle/>
          <a:p>
            <a:pPr marL="0" indent="0">
              <a:buNone/>
            </a:pPr>
            <a:r>
              <a:rPr lang="en-US" sz="1600" b="1" dirty="0">
                <a:solidFill>
                  <a:srgbClr val="1E2A5C"/>
                </a:solidFill>
                <a:latin typeface="Pretendard" pitchFamily="34" charset="0"/>
                <a:ea typeface="Pretendard" pitchFamily="34" charset="-122"/>
                <a:cs typeface="Pretendard" pitchFamily="34" charset="-120"/>
              </a:rPr>
              <a:t>Self-RAG — 검색할지 먼저 묻기</a:t>
            </a:r>
            <a:endParaRPr lang="en-US" sz="1600" dirty="0"/>
          </a:p>
        </p:txBody>
      </p:sp>
      <p:sp>
        <p:nvSpPr>
          <p:cNvPr id="77" name="Shape 75"/>
          <p:cNvSpPr/>
          <p:nvPr/>
        </p:nvSpPr>
        <p:spPr>
          <a:xfrm>
            <a:off x="11932920" y="3618281"/>
            <a:ext cx="2057400" cy="274320"/>
          </a:xfrm>
          <a:prstGeom prst="roundRect">
            <a:avLst>
              <a:gd name="adj" fmla="val 50000"/>
            </a:avLst>
          </a:prstGeom>
          <a:solidFill>
            <a:srgbClr val="EEF3FA"/>
          </a:solidFill>
          <a:ln w="12700">
            <a:solidFill>
              <a:srgbClr val="C3CEE0"/>
            </a:solidFill>
            <a:prstDash val="solid"/>
          </a:ln>
        </p:spPr>
        <p:txBody>
          <a:bodyPr/>
          <a:lstStyle/>
          <a:p>
            <a:endParaRPr lang="ko-KR" altLang="en-US"/>
          </a:p>
        </p:txBody>
      </p:sp>
      <p:sp>
        <p:nvSpPr>
          <p:cNvPr id="78" name="Text 76"/>
          <p:cNvSpPr/>
          <p:nvPr/>
        </p:nvSpPr>
        <p:spPr>
          <a:xfrm>
            <a:off x="11932920" y="3618281"/>
            <a:ext cx="2057400"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위치: 검색 전 · 근거 검증</a:t>
            </a:r>
            <a:endParaRPr lang="en-US" sz="1400" dirty="0"/>
          </a:p>
        </p:txBody>
      </p:sp>
      <p:sp>
        <p:nvSpPr>
          <p:cNvPr id="79" name="Text 77"/>
          <p:cNvSpPr/>
          <p:nvPr/>
        </p:nvSpPr>
        <p:spPr>
          <a:xfrm>
            <a:off x="7406640" y="3920033"/>
            <a:ext cx="6583680" cy="438912"/>
          </a:xfrm>
          <a:prstGeom prst="rect">
            <a:avLst/>
          </a:prstGeom>
          <a:noFill/>
          <a:ln/>
        </p:spPr>
        <p:txBody>
          <a:bodyPr wrap="square" lIns="0" tIns="0" rIns="0" bIns="0" rtlCol="0" anchor="t"/>
          <a:lstStyle/>
          <a:p>
            <a:pPr marL="0" indent="0">
              <a:lnSpc>
                <a:spcPct val="100000"/>
              </a:lnSpc>
              <a:buNone/>
            </a:pPr>
            <a:r>
              <a:rPr lang="ko-KR" altLang="en-US" sz="1400" dirty="0">
                <a:solidFill>
                  <a:srgbClr val="4A5364"/>
                </a:solidFill>
                <a:latin typeface="Pretendard" pitchFamily="34" charset="0"/>
                <a:ea typeface="Pretendard" pitchFamily="34" charset="-122"/>
                <a:cs typeface="Pretendard" pitchFamily="34" charset="-120"/>
              </a:rPr>
              <a:t>추가 검색도구</a:t>
            </a:r>
            <a:r>
              <a:rPr lang="en-US" sz="1400" dirty="0">
                <a:solidFill>
                  <a:srgbClr val="4A5364"/>
                </a:solidFill>
                <a:latin typeface="Pretendard" pitchFamily="34" charset="0"/>
                <a:ea typeface="Pretendard" pitchFamily="34" charset="-122"/>
                <a:cs typeface="Pretendard" pitchFamily="34" charset="-120"/>
              </a:rPr>
              <a:t>: 검색 </a:t>
            </a:r>
            <a:r>
              <a:rPr lang="en-US" sz="1400" dirty="0" err="1">
                <a:solidFill>
                  <a:srgbClr val="4A5364"/>
                </a:solidFill>
                <a:latin typeface="Pretendard" pitchFamily="34" charset="0"/>
                <a:ea typeface="Pretendard" pitchFamily="34" charset="-122"/>
                <a:cs typeface="Pretendard" pitchFamily="34" charset="-120"/>
              </a:rPr>
              <a:t>필요</a:t>
            </a:r>
            <a:r>
              <a:rPr lang="en-US" sz="1400" dirty="0">
                <a:solidFill>
                  <a:srgbClr val="4A5364"/>
                </a:solidFill>
                <a:latin typeface="Pretendard" pitchFamily="34" charset="0"/>
                <a:ea typeface="Pretendard" pitchFamily="34" charset="-122"/>
                <a:cs typeface="Pretendard" pitchFamily="34" charset="-120"/>
              </a:rPr>
              <a:t> </a:t>
            </a:r>
            <a:r>
              <a:rPr lang="en-US" sz="1400" dirty="0" err="1">
                <a:solidFill>
                  <a:srgbClr val="4A5364"/>
                </a:solidFill>
                <a:latin typeface="Pretendard" pitchFamily="34" charset="0"/>
                <a:ea typeface="Pretendard" pitchFamily="34" charset="-122"/>
                <a:cs typeface="Pretendard" pitchFamily="34" charset="-120"/>
              </a:rPr>
              <a:t>판단기</a:t>
            </a:r>
            <a:r>
              <a:rPr lang="en-US" sz="1400" dirty="0">
                <a:solidFill>
                  <a:srgbClr val="4A5364"/>
                </a:solidFill>
                <a:latin typeface="Pretendard" pitchFamily="34" charset="0"/>
                <a:ea typeface="Pretendard" pitchFamily="34" charset="-122"/>
                <a:cs typeface="Pretendard" pitchFamily="34" charset="-120"/>
              </a:rPr>
              <a:t>, </a:t>
            </a:r>
            <a:r>
              <a:rPr lang="en-US" sz="1400" dirty="0" err="1">
                <a:solidFill>
                  <a:srgbClr val="4A5364"/>
                </a:solidFill>
                <a:latin typeface="Pretendard" pitchFamily="34" charset="0"/>
                <a:ea typeface="Pretendard" pitchFamily="34" charset="-122"/>
                <a:cs typeface="Pretendard" pitchFamily="34" charset="-120"/>
              </a:rPr>
              <a:t>근거</a:t>
            </a:r>
            <a:r>
              <a:rPr lang="en-US" sz="1400" dirty="0">
                <a:solidFill>
                  <a:srgbClr val="4A5364"/>
                </a:solidFill>
                <a:latin typeface="Pretendard" pitchFamily="34" charset="0"/>
                <a:ea typeface="Pretendard" pitchFamily="34" charset="-122"/>
                <a:cs typeface="Pretendard" pitchFamily="34" charset="-120"/>
              </a:rPr>
              <a:t> </a:t>
            </a:r>
            <a:r>
              <a:rPr lang="en-US" sz="1400" dirty="0" err="1">
                <a:solidFill>
                  <a:srgbClr val="4A5364"/>
                </a:solidFill>
                <a:latin typeface="Pretendard" pitchFamily="34" charset="0"/>
                <a:ea typeface="Pretendard" pitchFamily="34" charset="-122"/>
                <a:cs typeface="Pretendard" pitchFamily="34" charset="-120"/>
              </a:rPr>
              <a:t>검증</a:t>
            </a:r>
            <a:r>
              <a:rPr lang="ko-KR" altLang="en-US" sz="1400" dirty="0">
                <a:solidFill>
                  <a:srgbClr val="4A5364"/>
                </a:solidFill>
                <a:latin typeface="Pretendard" pitchFamily="34" charset="0"/>
                <a:ea typeface="Pretendard" pitchFamily="34" charset="-122"/>
                <a:cs typeface="Pretendard" pitchFamily="34" charset="-120"/>
              </a:rPr>
              <a:t>기</a:t>
            </a:r>
            <a:endParaRPr lang="en-US" sz="1400" dirty="0"/>
          </a:p>
          <a:p>
            <a:pPr marL="0" indent="0">
              <a:lnSpc>
                <a:spcPct val="100000"/>
              </a:lnSpc>
              <a:buNone/>
            </a:pPr>
            <a:r>
              <a:rPr lang="en-US" sz="1400" dirty="0">
                <a:solidFill>
                  <a:srgbClr val="4A5364"/>
                </a:solidFill>
                <a:latin typeface="Pretendard" pitchFamily="34" charset="0"/>
                <a:ea typeface="Pretendard" pitchFamily="34" charset="-122"/>
                <a:cs typeface="Pretendard" pitchFamily="34" charset="-120"/>
              </a:rPr>
              <a:t>예: 인사·잡담은 검색 생략, "연회비 면제 조건은?"은 검색</a:t>
            </a:r>
            <a:endParaRPr lang="en-US" sz="1400" dirty="0"/>
          </a:p>
        </p:txBody>
      </p:sp>
      <p:sp>
        <p:nvSpPr>
          <p:cNvPr id="80" name="Shape 78"/>
          <p:cNvSpPr/>
          <p:nvPr/>
        </p:nvSpPr>
        <p:spPr>
          <a:xfrm>
            <a:off x="6766560" y="4465930"/>
            <a:ext cx="7360920" cy="850392"/>
          </a:xfrm>
          <a:prstGeom prst="roundRect">
            <a:avLst>
              <a:gd name="adj" fmla="val 8602"/>
            </a:avLst>
          </a:prstGeom>
          <a:solidFill>
            <a:srgbClr val="F5F8FC"/>
          </a:solidFill>
          <a:ln w="12700">
            <a:solidFill>
              <a:srgbClr val="D9E0EC"/>
            </a:solidFill>
            <a:prstDash val="solid"/>
          </a:ln>
        </p:spPr>
        <p:txBody>
          <a:bodyPr/>
          <a:lstStyle/>
          <a:p>
            <a:endParaRPr lang="ko-KR" altLang="en-US"/>
          </a:p>
        </p:txBody>
      </p:sp>
      <p:sp>
        <p:nvSpPr>
          <p:cNvPr id="81" name="Shape 79"/>
          <p:cNvSpPr/>
          <p:nvPr/>
        </p:nvSpPr>
        <p:spPr>
          <a:xfrm>
            <a:off x="6903720" y="4584802"/>
            <a:ext cx="365760" cy="365760"/>
          </a:xfrm>
          <a:prstGeom prst="roundRect">
            <a:avLst>
              <a:gd name="adj" fmla="val 12500"/>
            </a:avLst>
          </a:prstGeom>
          <a:solidFill>
            <a:srgbClr val="1E2A5C"/>
          </a:solidFill>
          <a:ln/>
        </p:spPr>
        <p:txBody>
          <a:bodyPr/>
          <a:lstStyle/>
          <a:p>
            <a:endParaRPr lang="ko-KR" altLang="en-US"/>
          </a:p>
        </p:txBody>
      </p:sp>
      <p:sp>
        <p:nvSpPr>
          <p:cNvPr id="82" name="Text 80"/>
          <p:cNvSpPr/>
          <p:nvPr/>
        </p:nvSpPr>
        <p:spPr>
          <a:xfrm>
            <a:off x="6903720" y="4584802"/>
            <a:ext cx="365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83" name="Text 81"/>
          <p:cNvSpPr/>
          <p:nvPr/>
        </p:nvSpPr>
        <p:spPr>
          <a:xfrm>
            <a:off x="7406640" y="4529938"/>
            <a:ext cx="4526280" cy="310896"/>
          </a:xfrm>
          <a:prstGeom prst="rect">
            <a:avLst/>
          </a:prstGeom>
          <a:noFill/>
          <a:ln/>
        </p:spPr>
        <p:txBody>
          <a:bodyPr wrap="square" lIns="0" tIns="0" rIns="0" bIns="0" rtlCol="0" anchor="ctr"/>
          <a:lstStyle/>
          <a:p>
            <a:pPr marL="0" indent="0">
              <a:buNone/>
            </a:pPr>
            <a:r>
              <a:rPr lang="en-US" sz="1600" b="1" dirty="0">
                <a:solidFill>
                  <a:srgbClr val="1E2A5C"/>
                </a:solidFill>
                <a:latin typeface="Pretendard" pitchFamily="34" charset="0"/>
                <a:ea typeface="Pretendard" pitchFamily="34" charset="-122"/>
                <a:cs typeface="Pretendard" pitchFamily="34" charset="-120"/>
              </a:rPr>
              <a:t>CRAG — 검색 결과를 채점하고 고침</a:t>
            </a:r>
            <a:endParaRPr lang="en-US" sz="1600" dirty="0"/>
          </a:p>
        </p:txBody>
      </p:sp>
      <p:sp>
        <p:nvSpPr>
          <p:cNvPr id="84" name="Shape 82"/>
          <p:cNvSpPr/>
          <p:nvPr/>
        </p:nvSpPr>
        <p:spPr>
          <a:xfrm>
            <a:off x="11932920" y="4548226"/>
            <a:ext cx="2057400" cy="274320"/>
          </a:xfrm>
          <a:prstGeom prst="roundRect">
            <a:avLst>
              <a:gd name="adj" fmla="val 50000"/>
            </a:avLst>
          </a:prstGeom>
          <a:solidFill>
            <a:srgbClr val="EEF3FA"/>
          </a:solidFill>
          <a:ln w="12700">
            <a:solidFill>
              <a:srgbClr val="C3CEE0"/>
            </a:solidFill>
            <a:prstDash val="solid"/>
          </a:ln>
        </p:spPr>
        <p:txBody>
          <a:bodyPr/>
          <a:lstStyle/>
          <a:p>
            <a:endParaRPr lang="ko-KR" altLang="en-US"/>
          </a:p>
        </p:txBody>
      </p:sp>
      <p:sp>
        <p:nvSpPr>
          <p:cNvPr id="85" name="Text 83"/>
          <p:cNvSpPr/>
          <p:nvPr/>
        </p:nvSpPr>
        <p:spPr>
          <a:xfrm>
            <a:off x="11932920" y="4548226"/>
            <a:ext cx="2057400"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위치: 검색 직후</a:t>
            </a:r>
            <a:endParaRPr lang="en-US" sz="1400" dirty="0"/>
          </a:p>
        </p:txBody>
      </p:sp>
      <p:sp>
        <p:nvSpPr>
          <p:cNvPr id="86" name="Text 84"/>
          <p:cNvSpPr/>
          <p:nvPr/>
        </p:nvSpPr>
        <p:spPr>
          <a:xfrm>
            <a:off x="7406640" y="4849978"/>
            <a:ext cx="6583680" cy="438912"/>
          </a:xfrm>
          <a:prstGeom prst="rect">
            <a:avLst/>
          </a:prstGeom>
          <a:noFill/>
          <a:ln/>
        </p:spPr>
        <p:txBody>
          <a:bodyPr wrap="square" lIns="0" tIns="0" rIns="0" bIns="0" rtlCol="0" anchor="t"/>
          <a:lstStyle/>
          <a:p>
            <a:pPr marL="0" indent="0">
              <a:lnSpc>
                <a:spcPct val="100000"/>
              </a:lnSpc>
              <a:buNone/>
            </a:pPr>
            <a:r>
              <a:rPr lang="ko-KR" altLang="en-US" sz="1400" dirty="0">
                <a:solidFill>
                  <a:srgbClr val="4A5364"/>
                </a:solidFill>
                <a:latin typeface="Pretendard" pitchFamily="34" charset="0"/>
                <a:ea typeface="Pretendard" pitchFamily="34" charset="-122"/>
                <a:cs typeface="Pretendard" pitchFamily="34" charset="-120"/>
              </a:rPr>
              <a:t>추가 검색도구</a:t>
            </a:r>
            <a:r>
              <a:rPr lang="en-US" sz="1400" dirty="0">
                <a:solidFill>
                  <a:srgbClr val="4A5364"/>
                </a:solidFill>
                <a:latin typeface="Pretendard" pitchFamily="34" charset="0"/>
                <a:ea typeface="Pretendard" pitchFamily="34" charset="-122"/>
                <a:cs typeface="Pretendard" pitchFamily="34" charset="-120"/>
              </a:rPr>
              <a:t>: 관련성 평가자 + 대체 검색(웹 </a:t>
            </a:r>
            <a:r>
              <a:rPr lang="en-US" sz="1400" dirty="0" err="1">
                <a:solidFill>
                  <a:srgbClr val="4A5364"/>
                </a:solidFill>
                <a:latin typeface="Pretendard" pitchFamily="34" charset="0"/>
                <a:ea typeface="Pretendard" pitchFamily="34" charset="-122"/>
                <a:cs typeface="Pretendard" pitchFamily="34" charset="-120"/>
              </a:rPr>
              <a:t>검색</a:t>
            </a:r>
            <a:r>
              <a:rPr lang="en-US" sz="1400" dirty="0">
                <a:solidFill>
                  <a:srgbClr val="4A5364"/>
                </a:solidFill>
                <a:latin typeface="Pretendard" pitchFamily="34" charset="0"/>
                <a:ea typeface="Pretendard" pitchFamily="34" charset="-122"/>
                <a:cs typeface="Pretendard" pitchFamily="34" charset="-120"/>
              </a:rPr>
              <a:t> </a:t>
            </a:r>
            <a:r>
              <a:rPr lang="ko-KR" altLang="en-US" sz="1400" dirty="0">
                <a:solidFill>
                  <a:srgbClr val="4A5364"/>
                </a:solidFill>
                <a:latin typeface="Pretendard" pitchFamily="34" charset="0"/>
                <a:ea typeface="Pretendard" pitchFamily="34" charset="-122"/>
                <a:cs typeface="Pretendard" pitchFamily="34" charset="-120"/>
              </a:rPr>
              <a:t>등</a:t>
            </a:r>
            <a:r>
              <a:rPr lang="en-US" sz="1400" dirty="0">
                <a:solidFill>
                  <a:srgbClr val="4A5364"/>
                </a:solidFill>
                <a:latin typeface="Pretendard" pitchFamily="34" charset="0"/>
                <a:ea typeface="Pretendard" pitchFamily="34" charset="-122"/>
                <a:cs typeface="Pretendard" pitchFamily="34" charset="-120"/>
              </a:rPr>
              <a:t>)</a:t>
            </a:r>
            <a:endParaRPr lang="en-US" sz="1400" dirty="0"/>
          </a:p>
          <a:p>
            <a:pPr marL="0" indent="0">
              <a:lnSpc>
                <a:spcPct val="100000"/>
              </a:lnSpc>
              <a:buNone/>
            </a:pPr>
            <a:r>
              <a:rPr lang="en-US" sz="1400" dirty="0">
                <a:solidFill>
                  <a:srgbClr val="4A5364"/>
                </a:solidFill>
                <a:latin typeface="Pretendard" pitchFamily="34" charset="0"/>
                <a:ea typeface="Pretendard" pitchFamily="34" charset="-122"/>
                <a:cs typeface="Pretendard" pitchFamily="34" charset="-120"/>
              </a:rPr>
              <a:t>예: 높음 → 답변 · 애매 → 질문 재작성 후 재검색 · 낮음 → 대체 검색/정지</a:t>
            </a:r>
            <a:endParaRPr lang="en-US" sz="1400" dirty="0"/>
          </a:p>
        </p:txBody>
      </p:sp>
      <p:sp>
        <p:nvSpPr>
          <p:cNvPr id="87" name="Shape 85"/>
          <p:cNvSpPr/>
          <p:nvPr/>
        </p:nvSpPr>
        <p:spPr>
          <a:xfrm>
            <a:off x="6766560" y="5395874"/>
            <a:ext cx="7360920" cy="850392"/>
          </a:xfrm>
          <a:prstGeom prst="roundRect">
            <a:avLst>
              <a:gd name="adj" fmla="val 8602"/>
            </a:avLst>
          </a:prstGeom>
          <a:solidFill>
            <a:srgbClr val="F5F8FC"/>
          </a:solidFill>
          <a:ln w="12700">
            <a:solidFill>
              <a:srgbClr val="D9E0EC"/>
            </a:solidFill>
            <a:prstDash val="solid"/>
          </a:ln>
        </p:spPr>
        <p:txBody>
          <a:bodyPr/>
          <a:lstStyle/>
          <a:p>
            <a:endParaRPr lang="ko-KR" altLang="en-US"/>
          </a:p>
        </p:txBody>
      </p:sp>
      <p:sp>
        <p:nvSpPr>
          <p:cNvPr id="88" name="Shape 86"/>
          <p:cNvSpPr/>
          <p:nvPr/>
        </p:nvSpPr>
        <p:spPr>
          <a:xfrm>
            <a:off x="6903720" y="5514746"/>
            <a:ext cx="365760" cy="365760"/>
          </a:xfrm>
          <a:prstGeom prst="roundRect">
            <a:avLst>
              <a:gd name="adj" fmla="val 12500"/>
            </a:avLst>
          </a:prstGeom>
          <a:solidFill>
            <a:srgbClr val="2E74C6"/>
          </a:solidFill>
          <a:ln/>
        </p:spPr>
        <p:txBody>
          <a:bodyPr/>
          <a:lstStyle/>
          <a:p>
            <a:endParaRPr lang="ko-KR" altLang="en-US"/>
          </a:p>
        </p:txBody>
      </p:sp>
      <p:sp>
        <p:nvSpPr>
          <p:cNvPr id="89" name="Text 87"/>
          <p:cNvSpPr/>
          <p:nvPr/>
        </p:nvSpPr>
        <p:spPr>
          <a:xfrm>
            <a:off x="6903720" y="5514746"/>
            <a:ext cx="365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90" name="Text 88"/>
          <p:cNvSpPr/>
          <p:nvPr/>
        </p:nvSpPr>
        <p:spPr>
          <a:xfrm>
            <a:off x="7406640" y="5459882"/>
            <a:ext cx="4526280" cy="310896"/>
          </a:xfrm>
          <a:prstGeom prst="rect">
            <a:avLst/>
          </a:prstGeom>
          <a:noFill/>
          <a:ln/>
        </p:spPr>
        <p:txBody>
          <a:bodyPr wrap="square" lIns="0" tIns="0" rIns="0" bIns="0" rtlCol="0" anchor="ctr"/>
          <a:lstStyle/>
          <a:p>
            <a:pPr marL="0" indent="0">
              <a:buNone/>
            </a:pPr>
            <a:r>
              <a:rPr lang="en-US" sz="1600" b="1" dirty="0">
                <a:solidFill>
                  <a:srgbClr val="1E2A5C"/>
                </a:solidFill>
                <a:latin typeface="Pretendard" pitchFamily="34" charset="0"/>
                <a:ea typeface="Pretendard" pitchFamily="34" charset="-122"/>
                <a:cs typeface="Pretendard" pitchFamily="34" charset="-120"/>
              </a:rPr>
              <a:t>Adaptive RAG — 질문 난이도별로 길 가르기</a:t>
            </a:r>
            <a:endParaRPr lang="en-US" sz="1600" dirty="0"/>
          </a:p>
        </p:txBody>
      </p:sp>
      <p:sp>
        <p:nvSpPr>
          <p:cNvPr id="91" name="Shape 89"/>
          <p:cNvSpPr/>
          <p:nvPr/>
        </p:nvSpPr>
        <p:spPr>
          <a:xfrm>
            <a:off x="11932920" y="5478170"/>
            <a:ext cx="2057400" cy="274320"/>
          </a:xfrm>
          <a:prstGeom prst="roundRect">
            <a:avLst>
              <a:gd name="adj" fmla="val 50000"/>
            </a:avLst>
          </a:prstGeom>
          <a:solidFill>
            <a:srgbClr val="EEF3FA"/>
          </a:solidFill>
          <a:ln w="12700">
            <a:solidFill>
              <a:srgbClr val="C3CEE0"/>
            </a:solidFill>
            <a:prstDash val="solid"/>
          </a:ln>
        </p:spPr>
        <p:txBody>
          <a:bodyPr/>
          <a:lstStyle/>
          <a:p>
            <a:endParaRPr lang="ko-KR" altLang="en-US"/>
          </a:p>
        </p:txBody>
      </p:sp>
      <p:sp>
        <p:nvSpPr>
          <p:cNvPr id="92" name="Text 90"/>
          <p:cNvSpPr/>
          <p:nvPr/>
        </p:nvSpPr>
        <p:spPr>
          <a:xfrm>
            <a:off x="11932920" y="5478170"/>
            <a:ext cx="2057400"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위치: 질문 직후(맨 앞)</a:t>
            </a:r>
            <a:endParaRPr lang="en-US" sz="1400" dirty="0"/>
          </a:p>
        </p:txBody>
      </p:sp>
      <p:sp>
        <p:nvSpPr>
          <p:cNvPr id="93" name="Text 91"/>
          <p:cNvSpPr/>
          <p:nvPr/>
        </p:nvSpPr>
        <p:spPr>
          <a:xfrm>
            <a:off x="7406640" y="5779922"/>
            <a:ext cx="6583680" cy="438912"/>
          </a:xfrm>
          <a:prstGeom prst="rect">
            <a:avLst/>
          </a:prstGeom>
          <a:noFill/>
          <a:ln/>
        </p:spPr>
        <p:txBody>
          <a:bodyPr wrap="square" lIns="0" tIns="0" rIns="0" bIns="0" rtlCol="0" anchor="t"/>
          <a:lstStyle/>
          <a:p>
            <a:pPr marL="0" indent="0">
              <a:lnSpc>
                <a:spcPct val="100000"/>
              </a:lnSpc>
              <a:buNone/>
            </a:pPr>
            <a:r>
              <a:rPr lang="ko-KR" altLang="en-US" sz="1400" dirty="0">
                <a:solidFill>
                  <a:srgbClr val="4A5364"/>
                </a:solidFill>
                <a:latin typeface="Pretendard" pitchFamily="34" charset="0"/>
                <a:ea typeface="Pretendard" pitchFamily="34" charset="-122"/>
                <a:cs typeface="Pretendard" pitchFamily="34" charset="-120"/>
              </a:rPr>
              <a:t>추가 검색도구</a:t>
            </a:r>
            <a:r>
              <a:rPr lang="en-US" sz="1400" dirty="0">
                <a:solidFill>
                  <a:srgbClr val="4A5364"/>
                </a:solidFill>
                <a:latin typeface="Pretendard" pitchFamily="34" charset="0"/>
                <a:ea typeface="Pretendard" pitchFamily="34" charset="-122"/>
                <a:cs typeface="Pretendard" pitchFamily="34" charset="-120"/>
              </a:rPr>
              <a:t>: 질문 복잡도 분류기</a:t>
            </a:r>
            <a:endParaRPr lang="en-US" sz="1400" dirty="0"/>
          </a:p>
          <a:p>
            <a:pPr marL="0" indent="0">
              <a:lnSpc>
                <a:spcPct val="100000"/>
              </a:lnSpc>
              <a:buNone/>
            </a:pPr>
            <a:r>
              <a:rPr lang="en-US" sz="1400" dirty="0">
                <a:solidFill>
                  <a:srgbClr val="4A5364"/>
                </a:solidFill>
                <a:latin typeface="Pretendard" pitchFamily="34" charset="0"/>
                <a:ea typeface="Pretendard" pitchFamily="34" charset="-122"/>
                <a:cs typeface="Pretendard" pitchFamily="34" charset="-120"/>
              </a:rPr>
              <a:t>예: 단순 질문은 검색 1회, "면제 + 적립" 복합 질문은 분해 후 여러 번</a:t>
            </a:r>
            <a:endParaRPr lang="en-US" sz="1400" dirty="0"/>
          </a:p>
        </p:txBody>
      </p:sp>
      <p:sp>
        <p:nvSpPr>
          <p:cNvPr id="94" name="Shape 92"/>
          <p:cNvSpPr/>
          <p:nvPr/>
        </p:nvSpPr>
        <p:spPr>
          <a:xfrm>
            <a:off x="6766560" y="6325819"/>
            <a:ext cx="7360920" cy="850392"/>
          </a:xfrm>
          <a:prstGeom prst="roundRect">
            <a:avLst>
              <a:gd name="adj" fmla="val 8602"/>
            </a:avLst>
          </a:prstGeom>
          <a:solidFill>
            <a:srgbClr val="F5F8FC"/>
          </a:solidFill>
          <a:ln w="12700">
            <a:solidFill>
              <a:srgbClr val="D9E0EC"/>
            </a:solidFill>
            <a:prstDash val="solid"/>
          </a:ln>
        </p:spPr>
        <p:txBody>
          <a:bodyPr/>
          <a:lstStyle/>
          <a:p>
            <a:endParaRPr lang="ko-KR" altLang="en-US"/>
          </a:p>
        </p:txBody>
      </p:sp>
      <p:sp>
        <p:nvSpPr>
          <p:cNvPr id="95" name="Shape 93"/>
          <p:cNvSpPr/>
          <p:nvPr/>
        </p:nvSpPr>
        <p:spPr>
          <a:xfrm>
            <a:off x="6903720" y="6444691"/>
            <a:ext cx="365760" cy="365760"/>
          </a:xfrm>
          <a:prstGeom prst="roundRect">
            <a:avLst>
              <a:gd name="adj" fmla="val 12500"/>
            </a:avLst>
          </a:prstGeom>
          <a:solidFill>
            <a:srgbClr val="404155"/>
          </a:solidFill>
          <a:ln/>
        </p:spPr>
        <p:txBody>
          <a:bodyPr/>
          <a:lstStyle/>
          <a:p>
            <a:endParaRPr lang="ko-KR" altLang="en-US"/>
          </a:p>
        </p:txBody>
      </p:sp>
      <p:sp>
        <p:nvSpPr>
          <p:cNvPr id="96" name="Text 94"/>
          <p:cNvSpPr/>
          <p:nvPr/>
        </p:nvSpPr>
        <p:spPr>
          <a:xfrm>
            <a:off x="6903720" y="6444691"/>
            <a:ext cx="365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p:txBody>
      </p:sp>
      <p:sp>
        <p:nvSpPr>
          <p:cNvPr id="97" name="Text 95"/>
          <p:cNvSpPr/>
          <p:nvPr/>
        </p:nvSpPr>
        <p:spPr>
          <a:xfrm>
            <a:off x="7406640" y="6389827"/>
            <a:ext cx="4526280" cy="310896"/>
          </a:xfrm>
          <a:prstGeom prst="rect">
            <a:avLst/>
          </a:prstGeom>
          <a:noFill/>
          <a:ln/>
        </p:spPr>
        <p:txBody>
          <a:bodyPr wrap="square" lIns="0" tIns="0" rIns="0" bIns="0" rtlCol="0" anchor="ctr"/>
          <a:lstStyle/>
          <a:p>
            <a:pPr marL="0" indent="0">
              <a:buNone/>
            </a:pPr>
            <a:r>
              <a:rPr lang="en-US" sz="1600" b="1" dirty="0">
                <a:solidFill>
                  <a:srgbClr val="1E2A5C"/>
                </a:solidFill>
                <a:latin typeface="Pretendard" pitchFamily="34" charset="0"/>
                <a:ea typeface="Pretendard" pitchFamily="34" charset="-122"/>
                <a:cs typeface="Pretendard" pitchFamily="34" charset="-120"/>
              </a:rPr>
              <a:t>Agentic RAG — 흐름 자체를 에이전트가 운전</a:t>
            </a:r>
            <a:endParaRPr lang="en-US" sz="1600" dirty="0"/>
          </a:p>
        </p:txBody>
      </p:sp>
      <p:sp>
        <p:nvSpPr>
          <p:cNvPr id="98" name="Shape 96"/>
          <p:cNvSpPr/>
          <p:nvPr/>
        </p:nvSpPr>
        <p:spPr>
          <a:xfrm>
            <a:off x="11932920" y="6408115"/>
            <a:ext cx="2057400" cy="274320"/>
          </a:xfrm>
          <a:prstGeom prst="roundRect">
            <a:avLst>
              <a:gd name="adj" fmla="val 50000"/>
            </a:avLst>
          </a:prstGeom>
          <a:solidFill>
            <a:srgbClr val="EEF3FA"/>
          </a:solidFill>
          <a:ln w="12700">
            <a:solidFill>
              <a:srgbClr val="C3CEE0"/>
            </a:solidFill>
            <a:prstDash val="solid"/>
          </a:ln>
        </p:spPr>
        <p:txBody>
          <a:bodyPr/>
          <a:lstStyle/>
          <a:p>
            <a:endParaRPr lang="ko-KR" altLang="en-US"/>
          </a:p>
        </p:txBody>
      </p:sp>
      <p:sp>
        <p:nvSpPr>
          <p:cNvPr id="99" name="Text 97"/>
          <p:cNvSpPr/>
          <p:nvPr/>
        </p:nvSpPr>
        <p:spPr>
          <a:xfrm>
            <a:off x="11932920" y="6408115"/>
            <a:ext cx="2057400"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위치: 흐름 전체</a:t>
            </a:r>
            <a:endParaRPr lang="en-US" sz="1400" dirty="0"/>
          </a:p>
        </p:txBody>
      </p:sp>
      <p:sp>
        <p:nvSpPr>
          <p:cNvPr id="100" name="Text 98"/>
          <p:cNvSpPr/>
          <p:nvPr/>
        </p:nvSpPr>
        <p:spPr>
          <a:xfrm>
            <a:off x="7406640" y="6709867"/>
            <a:ext cx="6583680" cy="438912"/>
          </a:xfrm>
          <a:prstGeom prst="rect">
            <a:avLst/>
          </a:prstGeom>
          <a:noFill/>
          <a:ln/>
        </p:spPr>
        <p:txBody>
          <a:bodyPr wrap="square" lIns="0" tIns="0" rIns="0" bIns="0" rtlCol="0" anchor="t"/>
          <a:lstStyle/>
          <a:p>
            <a:pPr marL="0" indent="0">
              <a:lnSpc>
                <a:spcPct val="100000"/>
              </a:lnSpc>
              <a:buNone/>
            </a:pPr>
            <a:r>
              <a:rPr lang="en-US" sz="1400" dirty="0" err="1">
                <a:solidFill>
                  <a:srgbClr val="4A5364"/>
                </a:solidFill>
                <a:latin typeface="Pretendard" pitchFamily="34" charset="0"/>
                <a:ea typeface="Pretendard" pitchFamily="34" charset="-122"/>
                <a:cs typeface="Pretendard" pitchFamily="34" charset="-120"/>
              </a:rPr>
              <a:t>추가</a:t>
            </a:r>
            <a:r>
              <a:rPr lang="en-US" sz="1400" dirty="0">
                <a:solidFill>
                  <a:srgbClr val="4A5364"/>
                </a:solidFill>
                <a:latin typeface="Pretendard" pitchFamily="34" charset="0"/>
                <a:ea typeface="Pretendard" pitchFamily="34" charset="-122"/>
                <a:cs typeface="Pretendard" pitchFamily="34" charset="-120"/>
              </a:rPr>
              <a:t> </a:t>
            </a:r>
            <a:r>
              <a:rPr lang="ko-KR" altLang="en-US" sz="1400" dirty="0">
                <a:solidFill>
                  <a:srgbClr val="4A5364"/>
                </a:solidFill>
                <a:latin typeface="Pretendard" pitchFamily="34" charset="0"/>
                <a:ea typeface="Pretendard" pitchFamily="34" charset="-122"/>
                <a:cs typeface="Pretendard" pitchFamily="34" charset="-120"/>
              </a:rPr>
              <a:t>검색도구</a:t>
            </a:r>
            <a:r>
              <a:rPr lang="en-US" sz="1400" dirty="0">
                <a:solidFill>
                  <a:srgbClr val="4A5364"/>
                </a:solidFill>
                <a:latin typeface="Pretendard" pitchFamily="34" charset="0"/>
                <a:ea typeface="Pretendard" pitchFamily="34" charset="-122"/>
                <a:cs typeface="Pretendard" pitchFamily="34" charset="-120"/>
              </a:rPr>
              <a:t>: 계획–실행–평가 에이전트 + 도구 호출(추가 필요)</a:t>
            </a:r>
            <a:endParaRPr lang="en-US" sz="1400" dirty="0"/>
          </a:p>
          <a:p>
            <a:pPr marL="0" indent="0">
              <a:lnSpc>
                <a:spcPct val="100000"/>
              </a:lnSpc>
              <a:buNone/>
            </a:pPr>
            <a:r>
              <a:rPr lang="en-US" sz="1400" dirty="0">
                <a:solidFill>
                  <a:srgbClr val="4A5364"/>
                </a:solidFill>
                <a:latin typeface="Pretendard" pitchFamily="34" charset="0"/>
                <a:ea typeface="Pretendard" pitchFamily="34" charset="-122"/>
                <a:cs typeface="Pretendard" pitchFamily="34" charset="-120"/>
              </a:rPr>
              <a:t>예: 검색·질문 변환·2~4번 판단을 도구로 두고 스스로 반복 실행</a:t>
            </a:r>
            <a:endParaRPr lang="en-US" sz="1400" dirty="0"/>
          </a:p>
        </p:txBody>
      </p:sp>
      <p:sp>
        <p:nvSpPr>
          <p:cNvPr id="102"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marL="0" indent="0">
              <a:buNone/>
            </a:pPr>
            <a:r>
              <a:rPr lang="en-US" sz="1500" b="1" dirty="0">
                <a:solidFill>
                  <a:srgbClr val="7C8598"/>
                </a:solidFill>
                <a:latin typeface="Pretendard" pitchFamily="34" charset="0"/>
                <a:ea typeface="Pretendard" pitchFamily="34" charset="-122"/>
                <a:cs typeface="Pretendard" pitchFamily="34" charset="-120"/>
              </a:rPr>
              <a:t>Ⅲ. 문서 검색 아키텍처 › 5. 세 패턴 결합(워크플로우)</a:t>
            </a:r>
            <a:endParaRPr lang="en-US" sz="1500" dirty="0"/>
          </a:p>
        </p:txBody>
      </p:sp>
      <p:sp>
        <p:nvSpPr>
          <p:cNvPr id="3" name="Text 1"/>
          <p:cNvSpPr/>
          <p:nvPr/>
        </p:nvSpPr>
        <p:spPr>
          <a:xfrm>
            <a:off x="502920" y="640080"/>
            <a:ext cx="12801600" cy="685800"/>
          </a:xfrm>
          <a:prstGeom prst="rect">
            <a:avLst/>
          </a:prstGeom>
          <a:noFill/>
          <a:ln/>
        </p:spPr>
        <p:txBody>
          <a:bodyPr wrap="square" rtlCol="0" anchor="ctr"/>
          <a:lstStyle/>
          <a:p>
            <a:pPr marL="0" indent="0">
              <a:buNone/>
            </a:pPr>
            <a:r>
              <a:rPr lang="en-US" sz="4800" b="1" dirty="0">
                <a:solidFill>
                  <a:srgbClr val="1E2A5C"/>
                </a:solidFill>
                <a:latin typeface="Pretendard" pitchFamily="34" charset="0"/>
                <a:ea typeface="Pretendard" pitchFamily="34" charset="-122"/>
                <a:cs typeface="Pretendard" pitchFamily="34" charset="-120"/>
              </a:rPr>
              <a:t>Self-RAG + Adaptive + CRAG 결합</a:t>
            </a:r>
            <a:endParaRPr lang="en-US" sz="4800" dirty="0"/>
          </a:p>
        </p:txBody>
      </p:sp>
      <p:sp>
        <p:nvSpPr>
          <p:cNvPr id="4" name="Shape 2"/>
          <p:cNvSpPr/>
          <p:nvPr/>
        </p:nvSpPr>
        <p:spPr>
          <a:xfrm>
            <a:off x="502920" y="1389888"/>
            <a:ext cx="13624560" cy="36576"/>
          </a:xfrm>
          <a:prstGeom prst="rect">
            <a:avLst/>
          </a:prstGeom>
          <a:solidFill>
            <a:srgbClr val="D9E0EC"/>
          </a:solidFill>
          <a:ln/>
        </p:spPr>
        <p:txBody>
          <a:bodyPr/>
          <a:lstStyle/>
          <a:p>
            <a:endParaRPr lang="ko-KR" altLang="en-US"/>
          </a:p>
        </p:txBody>
      </p:sp>
      <p:sp>
        <p:nvSpPr>
          <p:cNvPr id="5" name="Shape 3"/>
          <p:cNvSpPr/>
          <p:nvPr/>
        </p:nvSpPr>
        <p:spPr>
          <a:xfrm>
            <a:off x="502920" y="1389888"/>
            <a:ext cx="1920240" cy="36576"/>
          </a:xfrm>
          <a:prstGeom prst="rect">
            <a:avLst/>
          </a:prstGeom>
          <a:solidFill>
            <a:srgbClr val="2E74C6"/>
          </a:solidFill>
          <a:ln/>
        </p:spPr>
        <p:txBody>
          <a:bodyPr/>
          <a:lstStyle/>
          <a:p>
            <a:endParaRPr lang="ko-KR" altLang="en-US"/>
          </a:p>
        </p:txBody>
      </p:sp>
      <p:sp>
        <p:nvSpPr>
          <p:cNvPr id="6" name="Text 4"/>
          <p:cNvSpPr/>
          <p:nvPr/>
        </p:nvSpPr>
        <p:spPr>
          <a:xfrm>
            <a:off x="502920" y="1499616"/>
            <a:ext cx="13624560" cy="438912"/>
          </a:xfrm>
          <a:prstGeom prst="rect">
            <a:avLst/>
          </a:prstGeom>
          <a:noFill/>
          <a:ln/>
        </p:spPr>
        <p:txBody>
          <a:bodyPr wrap="square" rtlCol="0" anchor="ctr"/>
          <a:lstStyle/>
          <a:p>
            <a:pPr marL="0" indent="0">
              <a:buNone/>
            </a:pPr>
            <a:r>
              <a:rPr lang="en-US" sz="1800" dirty="0">
                <a:solidFill>
                  <a:srgbClr val="4A5364"/>
                </a:solidFill>
                <a:latin typeface="Pretendard" pitchFamily="34" charset="0"/>
                <a:ea typeface="Pretendard" pitchFamily="34" charset="-122"/>
                <a:cs typeface="Pretendard" pitchFamily="34" charset="-120"/>
              </a:rPr>
              <a:t>판단 자리 3곳(검색 전·검색 후·답변 후)을 미리 그린 분기로 잇는 워크플로우 — LLM이 흐름을 고르지 않아 비용·동작 예측 가능</a:t>
            </a:r>
            <a:endParaRPr lang="en-US" sz="1800" dirty="0"/>
          </a:p>
        </p:txBody>
      </p:sp>
      <p:sp>
        <p:nvSpPr>
          <p:cNvPr id="7" name="Shape 5"/>
          <p:cNvSpPr/>
          <p:nvPr/>
        </p:nvSpPr>
        <p:spPr>
          <a:xfrm>
            <a:off x="502920" y="2057400"/>
            <a:ext cx="7589520" cy="457200"/>
          </a:xfrm>
          <a:prstGeom prst="roundRect">
            <a:avLst>
              <a:gd name="adj" fmla="val 12000"/>
            </a:avLst>
          </a:prstGeom>
          <a:solidFill>
            <a:srgbClr val="1E2A5C"/>
          </a:solidFill>
          <a:ln/>
        </p:spPr>
        <p:txBody>
          <a:bodyPr/>
          <a:lstStyle/>
          <a:p>
            <a:endParaRPr lang="ko-KR" altLang="en-US"/>
          </a:p>
        </p:txBody>
      </p:sp>
      <p:sp>
        <p:nvSpPr>
          <p:cNvPr id="8" name="Text 6"/>
          <p:cNvSpPr/>
          <p:nvPr/>
        </p:nvSpPr>
        <p:spPr>
          <a:xfrm>
            <a:off x="502920" y="2057400"/>
            <a:ext cx="758952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워크플로우 흐름</a:t>
            </a:r>
            <a:endParaRPr lang="en-US" sz="2000" dirty="0"/>
          </a:p>
        </p:txBody>
      </p:sp>
      <p:sp>
        <p:nvSpPr>
          <p:cNvPr id="9" name="Shape 7"/>
          <p:cNvSpPr/>
          <p:nvPr/>
        </p:nvSpPr>
        <p:spPr>
          <a:xfrm>
            <a:off x="502920" y="2606040"/>
            <a:ext cx="7589520" cy="4590288"/>
          </a:xfrm>
          <a:prstGeom prst="roundRect">
            <a:avLst>
              <a:gd name="adj" fmla="val 1992"/>
            </a:avLst>
          </a:prstGeom>
          <a:solidFill>
            <a:srgbClr val="EEF3FA"/>
          </a:solidFill>
          <a:ln w="12700">
            <a:solidFill>
              <a:srgbClr val="D9E0EC"/>
            </a:solidFill>
            <a:prstDash val="solid"/>
          </a:ln>
        </p:spPr>
        <p:txBody>
          <a:bodyPr/>
          <a:lstStyle/>
          <a:p>
            <a:endParaRPr lang="ko-KR" altLang="en-US"/>
          </a:p>
        </p:txBody>
      </p:sp>
      <p:sp>
        <p:nvSpPr>
          <p:cNvPr id="10" name="Shape 8"/>
          <p:cNvSpPr/>
          <p:nvPr/>
        </p:nvSpPr>
        <p:spPr>
          <a:xfrm>
            <a:off x="2446020" y="3127248"/>
            <a:ext cx="0" cy="128016"/>
          </a:xfrm>
          <a:prstGeom prst="line">
            <a:avLst/>
          </a:prstGeom>
          <a:noFill/>
          <a:ln w="19050">
            <a:solidFill>
              <a:srgbClr val="4A5364"/>
            </a:solidFill>
            <a:prstDash val="solid"/>
            <a:tailEnd type="triangle"/>
          </a:ln>
        </p:spPr>
        <p:txBody>
          <a:bodyPr/>
          <a:lstStyle/>
          <a:p>
            <a:endParaRPr lang="ko-KR" altLang="en-US"/>
          </a:p>
        </p:txBody>
      </p:sp>
      <p:sp>
        <p:nvSpPr>
          <p:cNvPr id="11" name="Shape 9"/>
          <p:cNvSpPr/>
          <p:nvPr/>
        </p:nvSpPr>
        <p:spPr>
          <a:xfrm>
            <a:off x="2446020" y="3822192"/>
            <a:ext cx="0" cy="182880"/>
          </a:xfrm>
          <a:prstGeom prst="line">
            <a:avLst/>
          </a:prstGeom>
          <a:noFill/>
          <a:ln w="19050">
            <a:solidFill>
              <a:srgbClr val="4A5364"/>
            </a:solidFill>
            <a:prstDash val="solid"/>
            <a:tailEnd type="triangle"/>
          </a:ln>
        </p:spPr>
        <p:txBody>
          <a:bodyPr/>
          <a:lstStyle/>
          <a:p>
            <a:endParaRPr lang="ko-KR" altLang="en-US"/>
          </a:p>
        </p:txBody>
      </p:sp>
      <p:sp>
        <p:nvSpPr>
          <p:cNvPr id="12" name="Shape 10"/>
          <p:cNvSpPr/>
          <p:nvPr/>
        </p:nvSpPr>
        <p:spPr>
          <a:xfrm>
            <a:off x="2446020" y="4462272"/>
            <a:ext cx="0" cy="256032"/>
          </a:xfrm>
          <a:prstGeom prst="line">
            <a:avLst/>
          </a:prstGeom>
          <a:noFill/>
          <a:ln w="19050">
            <a:solidFill>
              <a:srgbClr val="4A5364"/>
            </a:solidFill>
            <a:prstDash val="solid"/>
            <a:tailEnd type="triangle"/>
          </a:ln>
        </p:spPr>
        <p:txBody>
          <a:bodyPr/>
          <a:lstStyle/>
          <a:p>
            <a:endParaRPr lang="ko-KR" altLang="en-US"/>
          </a:p>
        </p:txBody>
      </p:sp>
      <p:sp>
        <p:nvSpPr>
          <p:cNvPr id="13" name="Shape 11"/>
          <p:cNvSpPr/>
          <p:nvPr/>
        </p:nvSpPr>
        <p:spPr>
          <a:xfrm>
            <a:off x="2446020" y="5175504"/>
            <a:ext cx="0" cy="292608"/>
          </a:xfrm>
          <a:prstGeom prst="line">
            <a:avLst/>
          </a:prstGeom>
          <a:noFill/>
          <a:ln w="19050">
            <a:solidFill>
              <a:srgbClr val="4A5364"/>
            </a:solidFill>
            <a:prstDash val="solid"/>
            <a:tailEnd type="triangle"/>
          </a:ln>
        </p:spPr>
        <p:txBody>
          <a:bodyPr/>
          <a:lstStyle/>
          <a:p>
            <a:endParaRPr lang="ko-KR" altLang="en-US"/>
          </a:p>
        </p:txBody>
      </p:sp>
      <p:sp>
        <p:nvSpPr>
          <p:cNvPr id="14" name="Shape 12"/>
          <p:cNvSpPr/>
          <p:nvPr/>
        </p:nvSpPr>
        <p:spPr>
          <a:xfrm>
            <a:off x="2446020" y="5833872"/>
            <a:ext cx="0" cy="164592"/>
          </a:xfrm>
          <a:prstGeom prst="line">
            <a:avLst/>
          </a:prstGeom>
          <a:noFill/>
          <a:ln w="19050">
            <a:solidFill>
              <a:srgbClr val="4A5364"/>
            </a:solidFill>
            <a:prstDash val="solid"/>
            <a:tailEnd type="triangle"/>
          </a:ln>
        </p:spPr>
        <p:txBody>
          <a:bodyPr/>
          <a:lstStyle/>
          <a:p>
            <a:endParaRPr lang="ko-KR" altLang="en-US"/>
          </a:p>
        </p:txBody>
      </p:sp>
      <p:sp>
        <p:nvSpPr>
          <p:cNvPr id="15" name="Shape 13"/>
          <p:cNvSpPr/>
          <p:nvPr/>
        </p:nvSpPr>
        <p:spPr>
          <a:xfrm>
            <a:off x="960120" y="2761488"/>
            <a:ext cx="2971800" cy="365760"/>
          </a:xfrm>
          <a:prstGeom prst="roundRect">
            <a:avLst>
              <a:gd name="adj" fmla="val 15000"/>
            </a:avLst>
          </a:prstGeom>
          <a:solidFill>
            <a:srgbClr val="FFFFFF"/>
          </a:solidFill>
          <a:ln w="15875">
            <a:solidFill>
              <a:srgbClr val="1E2A5C"/>
            </a:solidFill>
            <a:prstDash val="solid"/>
          </a:ln>
        </p:spPr>
        <p:txBody>
          <a:bodyPr/>
          <a:lstStyle/>
          <a:p>
            <a:endParaRPr lang="ko-KR" altLang="en-US"/>
          </a:p>
        </p:txBody>
      </p:sp>
      <p:sp>
        <p:nvSpPr>
          <p:cNvPr id="16" name="Text 14"/>
          <p:cNvSpPr/>
          <p:nvPr/>
        </p:nvSpPr>
        <p:spPr>
          <a:xfrm>
            <a:off x="1033272" y="2761488"/>
            <a:ext cx="2825496" cy="365760"/>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질문 + 역할(agent/auditor)</a:t>
            </a:r>
            <a:endParaRPr lang="en-US" sz="1500" dirty="0"/>
          </a:p>
        </p:txBody>
      </p:sp>
      <p:sp>
        <p:nvSpPr>
          <p:cNvPr id="17" name="Shape 15"/>
          <p:cNvSpPr/>
          <p:nvPr/>
        </p:nvSpPr>
        <p:spPr>
          <a:xfrm>
            <a:off x="960120" y="3255264"/>
            <a:ext cx="2971800" cy="566928"/>
          </a:xfrm>
          <a:prstGeom prst="roundRect">
            <a:avLst>
              <a:gd name="adj" fmla="val 9677"/>
            </a:avLst>
          </a:prstGeom>
          <a:solidFill>
            <a:srgbClr val="1E2A5C"/>
          </a:solidFill>
          <a:ln w="15875">
            <a:solidFill>
              <a:srgbClr val="1E2A5C"/>
            </a:solidFill>
            <a:prstDash val="solid"/>
          </a:ln>
        </p:spPr>
        <p:txBody>
          <a:bodyPr/>
          <a:lstStyle/>
          <a:p>
            <a:endParaRPr lang="ko-KR" altLang="en-US"/>
          </a:p>
        </p:txBody>
      </p:sp>
      <p:sp>
        <p:nvSpPr>
          <p:cNvPr id="18" name="Text 16"/>
          <p:cNvSpPr/>
          <p:nvPr/>
        </p:nvSpPr>
        <p:spPr>
          <a:xfrm>
            <a:off x="1033272" y="3255264"/>
            <a:ext cx="2825496"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Adaptive 분류기</a:t>
            </a:r>
            <a:endParaRPr lang="en-US" sz="1500" dirty="0"/>
          </a:p>
          <a:p>
            <a:pPr marL="0" indent="0" algn="ctr">
              <a:buNone/>
            </a:pPr>
            <a:r>
              <a:rPr lang="en-US" sz="1500" dirty="0">
                <a:solidFill>
                  <a:srgbClr val="FFFFFF"/>
                </a:solidFill>
                <a:latin typeface="Pretendard" pitchFamily="34" charset="0"/>
                <a:ea typeface="Pretendard" pitchFamily="34" charset="-122"/>
                <a:cs typeface="Pretendard" pitchFamily="34" charset="-120"/>
              </a:rPr>
              <a:t>질문 문장만 보고 판단</a:t>
            </a:r>
            <a:endParaRPr lang="en-US" sz="1500" dirty="0"/>
          </a:p>
        </p:txBody>
      </p:sp>
      <p:sp>
        <p:nvSpPr>
          <p:cNvPr id="19" name="Shape 17"/>
          <p:cNvSpPr/>
          <p:nvPr/>
        </p:nvSpPr>
        <p:spPr>
          <a:xfrm>
            <a:off x="960120" y="4005072"/>
            <a:ext cx="2971800" cy="457200"/>
          </a:xfrm>
          <a:prstGeom prst="roundRect">
            <a:avLst>
              <a:gd name="adj" fmla="val 12000"/>
            </a:avLst>
          </a:prstGeom>
          <a:solidFill>
            <a:srgbClr val="FFFFFF"/>
          </a:solidFill>
          <a:ln w="15875">
            <a:solidFill>
              <a:srgbClr val="1E2A5C"/>
            </a:solidFill>
            <a:prstDash val="solid"/>
          </a:ln>
        </p:spPr>
        <p:txBody>
          <a:bodyPr/>
          <a:lstStyle/>
          <a:p>
            <a:endParaRPr lang="ko-KR" altLang="en-US"/>
          </a:p>
        </p:txBody>
      </p:sp>
      <p:sp>
        <p:nvSpPr>
          <p:cNvPr id="20" name="Text 18"/>
          <p:cNvSpPr/>
          <p:nvPr/>
        </p:nvSpPr>
        <p:spPr>
          <a:xfrm>
            <a:off x="1033272" y="4005072"/>
            <a:ext cx="2825496" cy="457200"/>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검색 </a:t>
            </a:r>
            <a:r>
              <a:rPr lang="en-US" sz="1500" dirty="0">
                <a:solidFill>
                  <a:srgbClr val="1E2A5C"/>
                </a:solidFill>
                <a:latin typeface="Pretendard" pitchFamily="34" charset="0"/>
                <a:ea typeface="Pretendard" pitchFamily="34" charset="-122"/>
                <a:cs typeface="Pretendard" pitchFamily="34" charset="-120"/>
              </a:rPr>
              <a:t>Vector·Hybrid·Rerank</a:t>
            </a:r>
            <a:endParaRPr lang="en-US" sz="1500" dirty="0"/>
          </a:p>
        </p:txBody>
      </p:sp>
      <p:sp>
        <p:nvSpPr>
          <p:cNvPr id="21" name="Shape 19"/>
          <p:cNvSpPr/>
          <p:nvPr/>
        </p:nvSpPr>
        <p:spPr>
          <a:xfrm>
            <a:off x="960120" y="4718304"/>
            <a:ext cx="2971800" cy="457200"/>
          </a:xfrm>
          <a:prstGeom prst="roundRect">
            <a:avLst>
              <a:gd name="adj" fmla="val 12000"/>
            </a:avLst>
          </a:prstGeom>
          <a:solidFill>
            <a:srgbClr val="FFFFFF"/>
          </a:solidFill>
          <a:ln w="15875">
            <a:solidFill>
              <a:srgbClr val="1E2A5C"/>
            </a:solidFill>
            <a:prstDash val="solid"/>
          </a:ln>
        </p:spPr>
        <p:txBody>
          <a:bodyPr/>
          <a:lstStyle/>
          <a:p>
            <a:endParaRPr lang="ko-KR" altLang="en-US"/>
          </a:p>
        </p:txBody>
      </p:sp>
      <p:sp>
        <p:nvSpPr>
          <p:cNvPr id="22" name="Text 20"/>
          <p:cNvSpPr/>
          <p:nvPr/>
        </p:nvSpPr>
        <p:spPr>
          <a:xfrm>
            <a:off x="1033272" y="4718304"/>
            <a:ext cx="2825496" cy="457200"/>
          </a:xfrm>
          <a:prstGeom prst="rect">
            <a:avLst/>
          </a:prstGeom>
          <a:noFill/>
          <a:ln/>
        </p:spPr>
        <p:txBody>
          <a:bodyPr wrap="square" lIns="0" tIns="0" rIns="0" bIns="0" rtlCol="0" anchor="ctr"/>
          <a:lstStyle/>
          <a:p>
            <a:pPr marL="0" indent="0" algn="ctr">
              <a:buNone/>
            </a:pPr>
            <a:r>
              <a:rPr lang="en-US" sz="1500" b="1" dirty="0">
                <a:solidFill>
                  <a:srgbClr val="2E74C6"/>
                </a:solidFill>
                <a:latin typeface="Pretendard" pitchFamily="34" charset="0"/>
                <a:ea typeface="Pretendard" pitchFamily="34" charset="-122"/>
                <a:cs typeface="Pretendard" pitchFamily="34" charset="-120"/>
              </a:rPr>
              <a:t>CRAG  </a:t>
            </a:r>
            <a:r>
              <a:rPr lang="en-US" sz="1500" b="1" dirty="0">
                <a:solidFill>
                  <a:srgbClr val="1E2A5C"/>
                </a:solidFill>
                <a:latin typeface="Pretendard" pitchFamily="34" charset="0"/>
                <a:ea typeface="Pretendard" pitchFamily="34" charset="-122"/>
                <a:cs typeface="Pretendard" pitchFamily="34" charset="-120"/>
              </a:rPr>
              <a:t>채점</a:t>
            </a:r>
            <a:r>
              <a:rPr lang="en-US" sz="1500" dirty="0">
                <a:solidFill>
                  <a:srgbClr val="1E2A5C"/>
                </a:solidFill>
                <a:latin typeface="Pretendard" pitchFamily="34" charset="0"/>
                <a:ea typeface="Pretendard" pitchFamily="34" charset="-122"/>
                <a:cs typeface="Pretendard" pitchFamily="34" charset="-120"/>
              </a:rPr>
              <a:t> (점수 기준)</a:t>
            </a:r>
            <a:endParaRPr lang="en-US" sz="1500" dirty="0"/>
          </a:p>
        </p:txBody>
      </p:sp>
      <p:sp>
        <p:nvSpPr>
          <p:cNvPr id="23" name="Shape 21"/>
          <p:cNvSpPr/>
          <p:nvPr/>
        </p:nvSpPr>
        <p:spPr>
          <a:xfrm>
            <a:off x="960120" y="5468112"/>
            <a:ext cx="2971800" cy="365760"/>
          </a:xfrm>
          <a:prstGeom prst="roundRect">
            <a:avLst>
              <a:gd name="adj" fmla="val 15000"/>
            </a:avLst>
          </a:prstGeom>
          <a:solidFill>
            <a:srgbClr val="FFFFFF"/>
          </a:solidFill>
          <a:ln w="15875">
            <a:solidFill>
              <a:srgbClr val="1E2A5C"/>
            </a:solidFill>
            <a:prstDash val="solid"/>
          </a:ln>
        </p:spPr>
        <p:txBody>
          <a:bodyPr/>
          <a:lstStyle/>
          <a:p>
            <a:endParaRPr lang="ko-KR" altLang="en-US"/>
          </a:p>
        </p:txBody>
      </p:sp>
      <p:sp>
        <p:nvSpPr>
          <p:cNvPr id="24" name="Text 22"/>
          <p:cNvSpPr/>
          <p:nvPr/>
        </p:nvSpPr>
        <p:spPr>
          <a:xfrm>
            <a:off x="1033272" y="5468112"/>
            <a:ext cx="2825496" cy="365760"/>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답변 생성</a:t>
            </a:r>
            <a:endParaRPr lang="en-US" sz="1500" dirty="0"/>
          </a:p>
        </p:txBody>
      </p:sp>
      <p:sp>
        <p:nvSpPr>
          <p:cNvPr id="25" name="Shape 23"/>
          <p:cNvSpPr/>
          <p:nvPr/>
        </p:nvSpPr>
        <p:spPr>
          <a:xfrm>
            <a:off x="960120" y="5998464"/>
            <a:ext cx="2971800" cy="420624"/>
          </a:xfrm>
          <a:prstGeom prst="roundRect">
            <a:avLst>
              <a:gd name="adj" fmla="val 13043"/>
            </a:avLst>
          </a:prstGeom>
          <a:solidFill>
            <a:srgbClr val="FFFFFF"/>
          </a:solidFill>
          <a:ln w="15875">
            <a:solidFill>
              <a:srgbClr val="1E2A5C"/>
            </a:solidFill>
            <a:prstDash val="solid"/>
          </a:ln>
        </p:spPr>
        <p:txBody>
          <a:bodyPr/>
          <a:lstStyle/>
          <a:p>
            <a:endParaRPr lang="ko-KR" altLang="en-US"/>
          </a:p>
        </p:txBody>
      </p:sp>
      <p:sp>
        <p:nvSpPr>
          <p:cNvPr id="26" name="Text 24"/>
          <p:cNvSpPr/>
          <p:nvPr/>
        </p:nvSpPr>
        <p:spPr>
          <a:xfrm>
            <a:off x="1033272" y="5998464"/>
            <a:ext cx="2825496" cy="420624"/>
          </a:xfrm>
          <a:prstGeom prst="rect">
            <a:avLst/>
          </a:prstGeom>
          <a:noFill/>
          <a:ln/>
        </p:spPr>
        <p:txBody>
          <a:bodyPr wrap="square" lIns="0" tIns="0" rIns="0" bIns="0" rtlCol="0" anchor="ctr"/>
          <a:lstStyle/>
          <a:p>
            <a:pPr marL="0" indent="0" algn="ctr">
              <a:buNone/>
            </a:pPr>
            <a:r>
              <a:rPr lang="en-US" sz="1500" b="1" dirty="0">
                <a:solidFill>
                  <a:srgbClr val="2E74C6"/>
                </a:solidFill>
                <a:latin typeface="Pretendard" pitchFamily="34" charset="0"/>
                <a:ea typeface="Pretendard" pitchFamily="34" charset="-122"/>
                <a:cs typeface="Pretendard" pitchFamily="34" charset="-120"/>
              </a:rPr>
              <a:t>Self-RAG  </a:t>
            </a:r>
            <a:r>
              <a:rPr lang="en-US" sz="1500" b="1" dirty="0">
                <a:solidFill>
                  <a:srgbClr val="1E2A5C"/>
                </a:solidFill>
                <a:latin typeface="Pretendard" pitchFamily="34" charset="0"/>
                <a:ea typeface="Pretendard" pitchFamily="34" charset="-122"/>
                <a:cs typeface="Pretendard" pitchFamily="34" charset="-120"/>
              </a:rPr>
              <a:t>근거 검증</a:t>
            </a:r>
            <a:endParaRPr lang="en-US" sz="1500" dirty="0"/>
          </a:p>
        </p:txBody>
      </p:sp>
      <p:sp>
        <p:nvSpPr>
          <p:cNvPr id="27" name="Shape 25"/>
          <p:cNvSpPr/>
          <p:nvPr/>
        </p:nvSpPr>
        <p:spPr>
          <a:xfrm flipH="1">
            <a:off x="758952" y="4946904"/>
            <a:ext cx="201168" cy="0"/>
          </a:xfrm>
          <a:prstGeom prst="line">
            <a:avLst/>
          </a:prstGeom>
          <a:noFill/>
          <a:ln w="19050">
            <a:solidFill>
              <a:srgbClr val="4A5364"/>
            </a:solidFill>
            <a:prstDash val="dash"/>
          </a:ln>
        </p:spPr>
        <p:txBody>
          <a:bodyPr/>
          <a:lstStyle/>
          <a:p>
            <a:endParaRPr lang="ko-KR" altLang="en-US"/>
          </a:p>
        </p:txBody>
      </p:sp>
      <p:sp>
        <p:nvSpPr>
          <p:cNvPr id="28" name="Shape 26"/>
          <p:cNvSpPr/>
          <p:nvPr/>
        </p:nvSpPr>
        <p:spPr>
          <a:xfrm flipV="1">
            <a:off x="758952" y="4233672"/>
            <a:ext cx="0" cy="713232"/>
          </a:xfrm>
          <a:prstGeom prst="line">
            <a:avLst/>
          </a:prstGeom>
          <a:noFill/>
          <a:ln w="19050">
            <a:solidFill>
              <a:srgbClr val="4A5364"/>
            </a:solidFill>
            <a:prstDash val="dash"/>
          </a:ln>
        </p:spPr>
        <p:txBody>
          <a:bodyPr/>
          <a:lstStyle/>
          <a:p>
            <a:endParaRPr lang="ko-KR" altLang="en-US"/>
          </a:p>
        </p:txBody>
      </p:sp>
      <p:sp>
        <p:nvSpPr>
          <p:cNvPr id="29" name="Shape 27"/>
          <p:cNvSpPr/>
          <p:nvPr/>
        </p:nvSpPr>
        <p:spPr>
          <a:xfrm>
            <a:off x="758952" y="4233672"/>
            <a:ext cx="201168" cy="0"/>
          </a:xfrm>
          <a:prstGeom prst="line">
            <a:avLst/>
          </a:prstGeom>
          <a:noFill/>
          <a:ln w="19050">
            <a:solidFill>
              <a:srgbClr val="4A5364"/>
            </a:solidFill>
            <a:prstDash val="dash"/>
            <a:tailEnd type="triangle"/>
          </a:ln>
        </p:spPr>
        <p:txBody>
          <a:bodyPr/>
          <a:lstStyle/>
          <a:p>
            <a:endParaRPr lang="ko-KR" altLang="en-US"/>
          </a:p>
        </p:txBody>
      </p:sp>
      <p:sp>
        <p:nvSpPr>
          <p:cNvPr id="30" name="Shape 28"/>
          <p:cNvSpPr/>
          <p:nvPr/>
        </p:nvSpPr>
        <p:spPr>
          <a:xfrm flipH="1">
            <a:off x="758952" y="6208776"/>
            <a:ext cx="201168" cy="0"/>
          </a:xfrm>
          <a:prstGeom prst="line">
            <a:avLst/>
          </a:prstGeom>
          <a:noFill/>
          <a:ln w="19050">
            <a:solidFill>
              <a:srgbClr val="4A5364"/>
            </a:solidFill>
            <a:prstDash val="dash"/>
          </a:ln>
        </p:spPr>
        <p:txBody>
          <a:bodyPr/>
          <a:lstStyle/>
          <a:p>
            <a:endParaRPr lang="ko-KR" altLang="en-US"/>
          </a:p>
        </p:txBody>
      </p:sp>
      <p:sp>
        <p:nvSpPr>
          <p:cNvPr id="31" name="Shape 29"/>
          <p:cNvSpPr/>
          <p:nvPr/>
        </p:nvSpPr>
        <p:spPr>
          <a:xfrm flipV="1">
            <a:off x="758952" y="5650992"/>
            <a:ext cx="0" cy="557784"/>
          </a:xfrm>
          <a:prstGeom prst="line">
            <a:avLst/>
          </a:prstGeom>
          <a:noFill/>
          <a:ln w="19050">
            <a:solidFill>
              <a:srgbClr val="4A5364"/>
            </a:solidFill>
            <a:prstDash val="dash"/>
          </a:ln>
        </p:spPr>
        <p:txBody>
          <a:bodyPr/>
          <a:lstStyle/>
          <a:p>
            <a:endParaRPr lang="ko-KR" altLang="en-US"/>
          </a:p>
        </p:txBody>
      </p:sp>
      <p:sp>
        <p:nvSpPr>
          <p:cNvPr id="32" name="Shape 30"/>
          <p:cNvSpPr/>
          <p:nvPr/>
        </p:nvSpPr>
        <p:spPr>
          <a:xfrm>
            <a:off x="758952" y="5650992"/>
            <a:ext cx="201168" cy="0"/>
          </a:xfrm>
          <a:prstGeom prst="line">
            <a:avLst/>
          </a:prstGeom>
          <a:noFill/>
          <a:ln w="19050">
            <a:solidFill>
              <a:srgbClr val="4A5364"/>
            </a:solidFill>
            <a:prstDash val="dash"/>
            <a:tailEnd type="triangle"/>
          </a:ln>
        </p:spPr>
        <p:txBody>
          <a:bodyPr/>
          <a:lstStyle/>
          <a:p>
            <a:endParaRPr lang="ko-KR" altLang="en-US"/>
          </a:p>
        </p:txBody>
      </p:sp>
      <p:sp>
        <p:nvSpPr>
          <p:cNvPr id="33" name="Shape 31"/>
          <p:cNvSpPr/>
          <p:nvPr/>
        </p:nvSpPr>
        <p:spPr>
          <a:xfrm>
            <a:off x="4251960" y="3108960"/>
            <a:ext cx="3657600" cy="877824"/>
          </a:xfrm>
          <a:prstGeom prst="roundRect">
            <a:avLst>
              <a:gd name="adj" fmla="val 6250"/>
            </a:avLst>
          </a:prstGeom>
          <a:solidFill>
            <a:srgbClr val="FFFFFF"/>
          </a:solidFill>
          <a:ln w="15875">
            <a:solidFill>
              <a:srgbClr val="C3CEE0"/>
            </a:solidFill>
            <a:prstDash val="solid"/>
          </a:ln>
        </p:spPr>
        <p:txBody>
          <a:bodyPr/>
          <a:lstStyle/>
          <a:p>
            <a:endParaRPr lang="ko-KR" altLang="en-US"/>
          </a:p>
        </p:txBody>
      </p:sp>
      <p:sp>
        <p:nvSpPr>
          <p:cNvPr id="34" name="Text 32"/>
          <p:cNvSpPr/>
          <p:nvPr/>
        </p:nvSpPr>
        <p:spPr>
          <a:xfrm>
            <a:off x="4325112" y="3108960"/>
            <a:ext cx="3511296" cy="87782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Self-RAG  </a:t>
            </a:r>
            <a:r>
              <a:rPr lang="en-US" sz="1500" dirty="0">
                <a:solidFill>
                  <a:srgbClr val="2B3242"/>
                </a:solidFill>
                <a:latin typeface="Pretendard" pitchFamily="34" charset="0"/>
                <a:ea typeface="Pretendard" pitchFamily="34" charset="-122"/>
                <a:cs typeface="Pretendard" pitchFamily="34" charset="-120"/>
              </a:rPr>
              <a:t>인사·잡담은 검색 없이 답변</a:t>
            </a:r>
            <a:endParaRPr lang="en-US" sz="1500" dirty="0"/>
          </a:p>
          <a:p>
            <a:pPr marL="0" indent="0" algn="l">
              <a:buNone/>
            </a:pPr>
            <a:r>
              <a:rPr lang="en-US" sz="1500" b="1" dirty="0">
                <a:solidFill>
                  <a:srgbClr val="2E74C6"/>
                </a:solidFill>
                <a:latin typeface="Pretendard" pitchFamily="34" charset="0"/>
                <a:ea typeface="Pretendard" pitchFamily="34" charset="-122"/>
                <a:cs typeface="Pretendard" pitchFamily="34" charset="-120"/>
              </a:rPr>
              <a:t>Adaptive  </a:t>
            </a:r>
            <a:r>
              <a:rPr lang="en-US" sz="1500" dirty="0">
                <a:solidFill>
                  <a:srgbClr val="2B3242"/>
                </a:solidFill>
                <a:latin typeface="Pretendard" pitchFamily="34" charset="0"/>
                <a:ea typeface="Pretendard" pitchFamily="34" charset="-122"/>
                <a:cs typeface="Pretendard" pitchFamily="34" charset="-120"/>
              </a:rPr>
              <a:t>단순 → 원 질문 검색</a:t>
            </a:r>
            <a:endParaRPr lang="en-US" sz="1500" dirty="0"/>
          </a:p>
          <a:p>
            <a:pPr marL="0" indent="0" algn="l">
              <a:buNone/>
            </a:pPr>
            <a:r>
              <a:rPr lang="en-US" sz="1500" b="1" dirty="0">
                <a:solidFill>
                  <a:srgbClr val="2E74C6"/>
                </a:solidFill>
                <a:latin typeface="Pretendard" pitchFamily="34" charset="0"/>
                <a:ea typeface="Pretendard" pitchFamily="34" charset="-122"/>
                <a:cs typeface="Pretendard" pitchFamily="34" charset="-120"/>
              </a:rPr>
              <a:t>Adaptive  </a:t>
            </a:r>
            <a:r>
              <a:rPr lang="en-US" sz="1500" dirty="0">
                <a:solidFill>
                  <a:srgbClr val="2B3242"/>
                </a:solidFill>
                <a:latin typeface="Pretendard" pitchFamily="34" charset="0"/>
                <a:ea typeface="Pretendard" pitchFamily="34" charset="-122"/>
                <a:cs typeface="Pretendard" pitchFamily="34" charset="-120"/>
              </a:rPr>
              <a:t>복합 → 미리 분해(+원 질문)</a:t>
            </a:r>
            <a:endParaRPr lang="en-US" sz="1500" dirty="0"/>
          </a:p>
        </p:txBody>
      </p:sp>
      <p:sp>
        <p:nvSpPr>
          <p:cNvPr id="35" name="Shape 33"/>
          <p:cNvSpPr/>
          <p:nvPr/>
        </p:nvSpPr>
        <p:spPr>
          <a:xfrm>
            <a:off x="3931920" y="3538728"/>
            <a:ext cx="320040" cy="0"/>
          </a:xfrm>
          <a:prstGeom prst="line">
            <a:avLst/>
          </a:prstGeom>
          <a:noFill/>
          <a:ln w="19050">
            <a:solidFill>
              <a:srgbClr val="4A5364"/>
            </a:solidFill>
            <a:prstDash val="solid"/>
            <a:tailEnd type="triangle"/>
          </a:ln>
        </p:spPr>
        <p:txBody>
          <a:bodyPr/>
          <a:lstStyle/>
          <a:p>
            <a:endParaRPr lang="ko-KR" altLang="en-US"/>
          </a:p>
        </p:txBody>
      </p:sp>
      <p:sp>
        <p:nvSpPr>
          <p:cNvPr id="36" name="Shape 34"/>
          <p:cNvSpPr/>
          <p:nvPr/>
        </p:nvSpPr>
        <p:spPr>
          <a:xfrm>
            <a:off x="4251960" y="4535424"/>
            <a:ext cx="3657600" cy="822960"/>
          </a:xfrm>
          <a:prstGeom prst="roundRect">
            <a:avLst>
              <a:gd name="adj" fmla="val 6667"/>
            </a:avLst>
          </a:prstGeom>
          <a:solidFill>
            <a:srgbClr val="FFFFFF"/>
          </a:solidFill>
          <a:ln w="15875">
            <a:solidFill>
              <a:srgbClr val="C3CEE0"/>
            </a:solidFill>
            <a:prstDash val="solid"/>
          </a:ln>
        </p:spPr>
        <p:txBody>
          <a:bodyPr/>
          <a:lstStyle/>
          <a:p>
            <a:endParaRPr lang="ko-KR" altLang="en-US"/>
          </a:p>
        </p:txBody>
      </p:sp>
      <p:sp>
        <p:nvSpPr>
          <p:cNvPr id="37" name="Text 35"/>
          <p:cNvSpPr/>
          <p:nvPr/>
        </p:nvSpPr>
        <p:spPr>
          <a:xfrm>
            <a:off x="4325112" y="4535424"/>
            <a:ext cx="3511296" cy="82296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정확 → 답변으로</a:t>
            </a:r>
            <a:endParaRPr lang="en-US" sz="1500" dirty="0"/>
          </a:p>
          <a:p>
            <a:pPr marL="0" indent="0" algn="l">
              <a:buNone/>
            </a:pPr>
            <a:r>
              <a:rPr lang="en-US" sz="1500" dirty="0">
                <a:solidFill>
                  <a:srgbClr val="2B3242"/>
                </a:solidFill>
                <a:latin typeface="Pretendard" pitchFamily="34" charset="0"/>
                <a:ea typeface="Pretendard" pitchFamily="34" charset="-122"/>
                <a:cs typeface="Pretendard" pitchFamily="34" charset="-120"/>
              </a:rPr>
              <a:t>애매 → 질문 바꿔 재검색(상한 있음)</a:t>
            </a:r>
            <a:endParaRPr lang="en-US" sz="1500" dirty="0"/>
          </a:p>
          <a:p>
            <a:pPr marL="0" indent="0" algn="l">
              <a:buNone/>
            </a:pPr>
            <a:r>
              <a:rPr lang="en-US" sz="1500" dirty="0">
                <a:solidFill>
                  <a:srgbClr val="2B3242"/>
                </a:solidFill>
                <a:latin typeface="Pretendard" pitchFamily="34" charset="0"/>
                <a:ea typeface="Pretendard" pitchFamily="34" charset="-122"/>
                <a:cs typeface="Pretendard" pitchFamily="34" charset="-120"/>
              </a:rPr>
              <a:t>부정확 → web_search(선택) / 확인 필요</a:t>
            </a:r>
            <a:endParaRPr lang="en-US" sz="1500" dirty="0"/>
          </a:p>
        </p:txBody>
      </p:sp>
      <p:sp>
        <p:nvSpPr>
          <p:cNvPr id="38" name="Shape 36"/>
          <p:cNvSpPr/>
          <p:nvPr/>
        </p:nvSpPr>
        <p:spPr>
          <a:xfrm>
            <a:off x="3931920" y="4946904"/>
            <a:ext cx="320040" cy="0"/>
          </a:xfrm>
          <a:prstGeom prst="line">
            <a:avLst/>
          </a:prstGeom>
          <a:noFill/>
          <a:ln w="19050">
            <a:solidFill>
              <a:srgbClr val="4A5364"/>
            </a:solidFill>
            <a:prstDash val="solid"/>
            <a:tailEnd type="triangle"/>
          </a:ln>
        </p:spPr>
        <p:txBody>
          <a:bodyPr/>
          <a:lstStyle/>
          <a:p>
            <a:endParaRPr lang="ko-KR" altLang="en-US"/>
          </a:p>
        </p:txBody>
      </p:sp>
      <p:sp>
        <p:nvSpPr>
          <p:cNvPr id="39" name="Shape 37"/>
          <p:cNvSpPr/>
          <p:nvPr/>
        </p:nvSpPr>
        <p:spPr>
          <a:xfrm>
            <a:off x="4251960" y="5998464"/>
            <a:ext cx="2011680" cy="420624"/>
          </a:xfrm>
          <a:prstGeom prst="roundRect">
            <a:avLst>
              <a:gd name="adj" fmla="val 13043"/>
            </a:avLst>
          </a:prstGeom>
          <a:solidFill>
            <a:srgbClr val="F5F8FC"/>
          </a:solidFill>
          <a:ln w="15875">
            <a:solidFill>
              <a:srgbClr val="1E2A5C"/>
            </a:solidFill>
            <a:prstDash val="solid"/>
          </a:ln>
        </p:spPr>
        <p:txBody>
          <a:bodyPr/>
          <a:lstStyle/>
          <a:p>
            <a:endParaRPr lang="ko-KR" altLang="en-US"/>
          </a:p>
        </p:txBody>
      </p:sp>
      <p:sp>
        <p:nvSpPr>
          <p:cNvPr id="40" name="Text 38"/>
          <p:cNvSpPr/>
          <p:nvPr/>
        </p:nvSpPr>
        <p:spPr>
          <a:xfrm>
            <a:off x="4325112" y="5998464"/>
            <a:ext cx="1865376" cy="420624"/>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최종 답변</a:t>
            </a:r>
            <a:endParaRPr lang="en-US" sz="1500" dirty="0"/>
          </a:p>
        </p:txBody>
      </p:sp>
      <p:sp>
        <p:nvSpPr>
          <p:cNvPr id="41" name="Shape 39"/>
          <p:cNvSpPr/>
          <p:nvPr/>
        </p:nvSpPr>
        <p:spPr>
          <a:xfrm>
            <a:off x="3931920" y="6208776"/>
            <a:ext cx="320040" cy="0"/>
          </a:xfrm>
          <a:prstGeom prst="line">
            <a:avLst/>
          </a:prstGeom>
          <a:noFill/>
          <a:ln w="19050">
            <a:solidFill>
              <a:srgbClr val="4A5364"/>
            </a:solidFill>
            <a:prstDash val="solid"/>
            <a:tailEnd type="triangle"/>
          </a:ln>
        </p:spPr>
        <p:txBody>
          <a:bodyPr/>
          <a:lstStyle/>
          <a:p>
            <a:endParaRPr lang="ko-KR" altLang="en-US"/>
          </a:p>
        </p:txBody>
      </p:sp>
      <p:sp>
        <p:nvSpPr>
          <p:cNvPr id="42" name="Text 40"/>
          <p:cNvSpPr/>
          <p:nvPr/>
        </p:nvSpPr>
        <p:spPr>
          <a:xfrm>
            <a:off x="3950208" y="5779008"/>
            <a:ext cx="548640" cy="219456"/>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통과</a:t>
            </a:r>
            <a:endParaRPr lang="en-US" sz="1400" dirty="0"/>
          </a:p>
        </p:txBody>
      </p:sp>
      <p:sp>
        <p:nvSpPr>
          <p:cNvPr id="43" name="Text 41"/>
          <p:cNvSpPr/>
          <p:nvPr/>
        </p:nvSpPr>
        <p:spPr>
          <a:xfrm>
            <a:off x="4251960" y="5468112"/>
            <a:ext cx="3657600" cy="365760"/>
          </a:xfrm>
          <a:prstGeom prst="rect">
            <a:avLst/>
          </a:prstGeom>
          <a:noFill/>
          <a:ln/>
        </p:spPr>
        <p:txBody>
          <a:bodyPr wrap="square" lIns="0" tIns="0" rIns="0" bIns="0" rtlCol="0" anchor="ctr"/>
          <a:lstStyle/>
          <a:p>
            <a:pPr marL="0" indent="0">
              <a:buNone/>
            </a:pPr>
            <a:r>
              <a:rPr lang="en-US" sz="1400" dirty="0">
                <a:solidFill>
                  <a:srgbClr val="4A5364"/>
                </a:solidFill>
                <a:latin typeface="Pretendard" pitchFamily="34" charset="0"/>
                <a:ea typeface="Pretendard" pitchFamily="34" charset="-122"/>
                <a:cs typeface="Pretendard" pitchFamily="34" charset="-120"/>
              </a:rPr>
              <a:t>실패 → 재작성(최대 2회)</a:t>
            </a:r>
            <a:endParaRPr lang="en-US" sz="1400" dirty="0"/>
          </a:p>
        </p:txBody>
      </p:sp>
      <p:sp>
        <p:nvSpPr>
          <p:cNvPr id="44" name="Text 42"/>
          <p:cNvSpPr/>
          <p:nvPr/>
        </p:nvSpPr>
        <p:spPr>
          <a:xfrm>
            <a:off x="685800" y="6675120"/>
            <a:ext cx="7223760" cy="384048"/>
          </a:xfrm>
          <a:prstGeom prst="rect">
            <a:avLst/>
          </a:prstGeom>
          <a:noFill/>
          <a:ln/>
        </p:spPr>
        <p:txBody>
          <a:bodyPr wrap="square" lIns="0" tIns="0" rIns="0" bIns="0" rtlCol="0" anchor="ctr"/>
          <a:lstStyle/>
          <a:p>
            <a:pPr marL="0" indent="0">
              <a:buNone/>
            </a:pPr>
            <a:r>
              <a:rPr lang="en-US" sz="1400" dirty="0">
                <a:solidFill>
                  <a:srgbClr val="4A5364"/>
                </a:solidFill>
                <a:latin typeface="Pretendard" pitchFamily="34" charset="0"/>
                <a:ea typeface="Pretendard" pitchFamily="34" charset="-122"/>
                <a:cs typeface="Pretendard" pitchFamily="34" charset="-120"/>
              </a:rPr>
              <a:t>↺ 분기는 모두 개발자가 미리 그린 조건부 엣지 · 반복은 고정 상한 · 끝내 부족하면 </a:t>
            </a:r>
            <a:r>
              <a:rPr lang="en-US" sz="1400" b="1" dirty="0">
                <a:solidFill>
                  <a:srgbClr val="1E2A5C"/>
                </a:solidFill>
                <a:latin typeface="Pretendard" pitchFamily="34" charset="0"/>
                <a:ea typeface="Pretendard" pitchFamily="34" charset="-122"/>
                <a:cs typeface="Pretendard" pitchFamily="34" charset="-120"/>
              </a:rPr>
              <a:t>「확인 필요」로 종료</a:t>
            </a:r>
            <a:endParaRPr lang="en-US" sz="1400" dirty="0"/>
          </a:p>
        </p:txBody>
      </p:sp>
      <p:sp>
        <p:nvSpPr>
          <p:cNvPr id="45" name="Shape 43"/>
          <p:cNvSpPr/>
          <p:nvPr/>
        </p:nvSpPr>
        <p:spPr>
          <a:xfrm>
            <a:off x="8366760" y="2057400"/>
            <a:ext cx="5760720" cy="457200"/>
          </a:xfrm>
          <a:prstGeom prst="roundRect">
            <a:avLst>
              <a:gd name="adj" fmla="val 12000"/>
            </a:avLst>
          </a:prstGeom>
          <a:solidFill>
            <a:srgbClr val="2E74C6"/>
          </a:solidFill>
          <a:ln/>
        </p:spPr>
        <p:txBody>
          <a:bodyPr/>
          <a:lstStyle/>
          <a:p>
            <a:endParaRPr lang="ko-KR" altLang="en-US"/>
          </a:p>
        </p:txBody>
      </p:sp>
      <p:sp>
        <p:nvSpPr>
          <p:cNvPr id="46" name="Text 44"/>
          <p:cNvSpPr/>
          <p:nvPr/>
        </p:nvSpPr>
        <p:spPr>
          <a:xfrm>
            <a:off x="8366760" y="2057400"/>
            <a:ext cx="576072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패턴별 자리와 Agentic과의 차이</a:t>
            </a:r>
            <a:endParaRPr lang="en-US" sz="2000" dirty="0"/>
          </a:p>
        </p:txBody>
      </p:sp>
      <p:sp>
        <p:nvSpPr>
          <p:cNvPr id="47" name="Shape 45"/>
          <p:cNvSpPr/>
          <p:nvPr/>
        </p:nvSpPr>
        <p:spPr>
          <a:xfrm>
            <a:off x="8366760" y="2633472"/>
            <a:ext cx="5760720" cy="384048"/>
          </a:xfrm>
          <a:prstGeom prst="roundRect">
            <a:avLst>
              <a:gd name="adj" fmla="val 11905"/>
            </a:avLst>
          </a:prstGeom>
          <a:solidFill>
            <a:srgbClr val="404155"/>
          </a:solidFill>
          <a:ln/>
        </p:spPr>
        <p:txBody>
          <a:bodyPr/>
          <a:lstStyle/>
          <a:p>
            <a:endParaRPr lang="ko-KR" altLang="en-US"/>
          </a:p>
        </p:txBody>
      </p:sp>
      <p:sp>
        <p:nvSpPr>
          <p:cNvPr id="48" name="Text 46"/>
          <p:cNvSpPr/>
          <p:nvPr/>
        </p:nvSpPr>
        <p:spPr>
          <a:xfrm>
            <a:off x="8503920" y="2633472"/>
            <a:ext cx="5486400" cy="384048"/>
          </a:xfrm>
          <a:prstGeom prst="rect">
            <a:avLst/>
          </a:prstGeom>
          <a:noFill/>
          <a:ln/>
        </p:spPr>
        <p:txBody>
          <a:bodyPr wrap="square" lIns="0" tIns="0" rIns="0" bIns="0" rtlCol="0" anchor="ctr"/>
          <a:lstStyle/>
          <a:p>
            <a:pPr marL="0" indent="0">
              <a:buNone/>
            </a:pPr>
            <a:r>
              <a:rPr lang="en-US" sz="1500" b="1" dirty="0">
                <a:solidFill>
                  <a:srgbClr val="FFFFFF"/>
                </a:solidFill>
                <a:latin typeface="Pretendard" pitchFamily="34" charset="0"/>
                <a:ea typeface="Pretendard" pitchFamily="34" charset="-122"/>
                <a:cs typeface="Pretendard" pitchFamily="34" charset="-120"/>
              </a:rPr>
              <a:t>패턴별 자리와 판단 방식</a:t>
            </a:r>
            <a:endParaRPr lang="en-US" sz="1500" dirty="0"/>
          </a:p>
        </p:txBody>
      </p:sp>
      <p:graphicFrame>
        <p:nvGraphicFramePr>
          <p:cNvPr id="49" name="Table 0"/>
          <p:cNvGraphicFramePr>
            <a:graphicFrameLocks noGrp="1"/>
          </p:cNvGraphicFramePr>
          <p:nvPr>
            <p:extLst>
              <p:ext uri="{D42A27DB-BD31-4B8C-83A1-F6EECF244321}">
                <p14:modId xmlns:p14="http://schemas.microsoft.com/office/powerpoint/2010/main" val="2623951392"/>
              </p:ext>
            </p:extLst>
          </p:nvPr>
        </p:nvGraphicFramePr>
        <p:xfrm>
          <a:off x="8366760" y="3090672"/>
          <a:ext cx="5760721" cy="2103120"/>
        </p:xfrm>
        <a:graphic>
          <a:graphicData uri="http://schemas.openxmlformats.org/drawingml/2006/table">
            <a:tbl>
              <a:tblPr/>
              <a:tblGrid>
                <a:gridCol w="1478415">
                  <a:extLst>
                    <a:ext uri="{9D8B030D-6E8A-4147-A177-3AD203B41FA5}">
                      <a16:colId xmlns:a16="http://schemas.microsoft.com/office/drawing/2014/main" val="20000"/>
                    </a:ext>
                  </a:extLst>
                </a:gridCol>
                <a:gridCol w="1580375">
                  <a:extLst>
                    <a:ext uri="{9D8B030D-6E8A-4147-A177-3AD203B41FA5}">
                      <a16:colId xmlns:a16="http://schemas.microsoft.com/office/drawing/2014/main" val="20001"/>
                    </a:ext>
                  </a:extLst>
                </a:gridCol>
                <a:gridCol w="2701931">
                  <a:extLst>
                    <a:ext uri="{9D8B030D-6E8A-4147-A177-3AD203B41FA5}">
                      <a16:colId xmlns:a16="http://schemas.microsoft.com/office/drawing/2014/main" val="20002"/>
                    </a:ext>
                  </a:extLst>
                </a:gridCol>
              </a:tblGrid>
              <a:tr h="42062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패턴</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자리</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판단 방식</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42062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Adaptive</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검색 전(맨 앞)</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질문 문장 기반 가벼운 분류</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Self-RAG ①</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분류기 안</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검색 필요 없는 질문 걸러 냄</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2062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CRAG</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검색 직후</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점수 채점 → 재작성·대체 검색</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Self-RAG ②</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답변 후</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인용문 원문 대조</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bl>
          </a:graphicData>
        </a:graphic>
      </p:graphicFrame>
      <p:sp>
        <p:nvSpPr>
          <p:cNvPr id="50" name="Text 47"/>
          <p:cNvSpPr/>
          <p:nvPr/>
        </p:nvSpPr>
        <p:spPr>
          <a:xfrm>
            <a:off x="8366760" y="5230368"/>
            <a:ext cx="5760720" cy="274320"/>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일부 = 점수 미달 시 질문 변환·확인 필요 정지는 있음, 웹 검색 경로는 없음</a:t>
            </a:r>
            <a:endParaRPr lang="en-US" sz="1400" dirty="0"/>
          </a:p>
        </p:txBody>
      </p:sp>
      <p:sp>
        <p:nvSpPr>
          <p:cNvPr id="51" name="Shape 48"/>
          <p:cNvSpPr/>
          <p:nvPr/>
        </p:nvSpPr>
        <p:spPr>
          <a:xfrm>
            <a:off x="8366760" y="5577840"/>
            <a:ext cx="5760720" cy="384048"/>
          </a:xfrm>
          <a:prstGeom prst="roundRect">
            <a:avLst>
              <a:gd name="adj" fmla="val 11905"/>
            </a:avLst>
          </a:prstGeom>
          <a:solidFill>
            <a:srgbClr val="404155"/>
          </a:solidFill>
          <a:ln/>
        </p:spPr>
        <p:txBody>
          <a:bodyPr/>
          <a:lstStyle/>
          <a:p>
            <a:endParaRPr lang="ko-KR" altLang="en-US"/>
          </a:p>
        </p:txBody>
      </p:sp>
      <p:sp>
        <p:nvSpPr>
          <p:cNvPr id="52" name="Text 49"/>
          <p:cNvSpPr/>
          <p:nvPr/>
        </p:nvSpPr>
        <p:spPr>
          <a:xfrm>
            <a:off x="8503920" y="5577840"/>
            <a:ext cx="5486400" cy="384048"/>
          </a:xfrm>
          <a:prstGeom prst="rect">
            <a:avLst/>
          </a:prstGeom>
          <a:noFill/>
          <a:ln/>
        </p:spPr>
        <p:txBody>
          <a:bodyPr wrap="square" lIns="0" tIns="0" rIns="0" bIns="0" rtlCol="0" anchor="ctr"/>
          <a:lstStyle/>
          <a:p>
            <a:pPr marL="0" indent="0">
              <a:buNone/>
            </a:pPr>
            <a:r>
              <a:rPr lang="en-US" sz="1500" b="1" dirty="0">
                <a:solidFill>
                  <a:srgbClr val="FFFFFF"/>
                </a:solidFill>
                <a:latin typeface="Pretendard" pitchFamily="34" charset="0"/>
                <a:ea typeface="Pretendard" pitchFamily="34" charset="-122"/>
                <a:cs typeface="Pretendard" pitchFamily="34" charset="-120"/>
              </a:rPr>
              <a:t>Agentic과 차이 — Workflow</a:t>
            </a:r>
            <a:r>
              <a:rPr lang="ko-KR" altLang="en-US" sz="1500" b="1" dirty="0">
                <a:solidFill>
                  <a:srgbClr val="FFFFFF"/>
                </a:solidFill>
                <a:latin typeface="Pretendard" pitchFamily="34" charset="0"/>
                <a:ea typeface="Pretendard" pitchFamily="34" charset="-122"/>
                <a:cs typeface="Pretendard" pitchFamily="34" charset="-120"/>
              </a:rPr>
              <a:t>는</a:t>
            </a:r>
            <a:r>
              <a:rPr lang="en-US" sz="1500" b="1" dirty="0">
                <a:solidFill>
                  <a:srgbClr val="FFFFFF"/>
                </a:solidFill>
                <a:latin typeface="Pretendard" pitchFamily="34" charset="0"/>
                <a:ea typeface="Pretendard" pitchFamily="34" charset="-122"/>
                <a:cs typeface="Pretendard" pitchFamily="34" charset="-120"/>
              </a:rPr>
              <a:t> </a:t>
            </a:r>
            <a:r>
              <a:rPr lang="en-US" sz="1500" b="1" dirty="0" err="1">
                <a:solidFill>
                  <a:srgbClr val="FFFFFF"/>
                </a:solidFill>
                <a:latin typeface="Pretendard" pitchFamily="34" charset="0"/>
                <a:ea typeface="Pretendard" pitchFamily="34" charset="-122"/>
                <a:cs typeface="Pretendard" pitchFamily="34" charset="-120"/>
              </a:rPr>
              <a:t>개발자</a:t>
            </a:r>
            <a:r>
              <a:rPr lang="ko-KR" altLang="en-US" sz="1500" b="1" dirty="0">
                <a:solidFill>
                  <a:srgbClr val="FFFFFF"/>
                </a:solidFill>
                <a:latin typeface="Pretendard" pitchFamily="34" charset="0"/>
                <a:ea typeface="Pretendard" pitchFamily="34" charset="-122"/>
                <a:cs typeface="Pretendard" pitchFamily="34" charset="-120"/>
              </a:rPr>
              <a:t>가 설계한대로 수행</a:t>
            </a:r>
            <a:endParaRPr lang="en-US" sz="1500" dirty="0"/>
          </a:p>
        </p:txBody>
      </p:sp>
      <p:sp>
        <p:nvSpPr>
          <p:cNvPr id="53" name="Shape 50"/>
          <p:cNvSpPr/>
          <p:nvPr/>
        </p:nvSpPr>
        <p:spPr>
          <a:xfrm>
            <a:off x="8385048" y="6062472"/>
            <a:ext cx="246888" cy="246888"/>
          </a:xfrm>
          <a:prstGeom prst="roundRect">
            <a:avLst>
              <a:gd name="adj" fmla="val 18519"/>
            </a:avLst>
          </a:prstGeom>
          <a:solidFill>
            <a:srgbClr val="2E74C6"/>
          </a:solidFill>
          <a:ln/>
        </p:spPr>
        <p:txBody>
          <a:bodyPr/>
          <a:lstStyle/>
          <a:p>
            <a:endParaRPr lang="ko-KR" altLang="en-US"/>
          </a:p>
        </p:txBody>
      </p:sp>
      <p:sp>
        <p:nvSpPr>
          <p:cNvPr id="54" name="Text 51"/>
          <p:cNvSpPr/>
          <p:nvPr/>
        </p:nvSpPr>
        <p:spPr>
          <a:xfrm>
            <a:off x="8385048" y="6062472"/>
            <a:ext cx="246888"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55" name="Text 52"/>
          <p:cNvSpPr/>
          <p:nvPr/>
        </p:nvSpPr>
        <p:spPr>
          <a:xfrm>
            <a:off x="8714232" y="6035040"/>
            <a:ext cx="5413248" cy="30175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다음 단계  </a:t>
            </a:r>
            <a:r>
              <a:rPr lang="en-US" sz="1400" dirty="0">
                <a:solidFill>
                  <a:srgbClr val="2B3242"/>
                </a:solidFill>
                <a:latin typeface="Pretendard" pitchFamily="34" charset="0"/>
                <a:ea typeface="Pretendard" pitchFamily="34" charset="-122"/>
                <a:cs typeface="Pretendard" pitchFamily="34" charset="-120"/>
              </a:rPr>
              <a:t>미리 그린 분기</a:t>
            </a:r>
            <a:r>
              <a:rPr lang="en-US" sz="1400" dirty="0">
                <a:solidFill>
                  <a:srgbClr val="7C8598"/>
                </a:solidFill>
                <a:latin typeface="Pretendard" pitchFamily="34" charset="0"/>
                <a:ea typeface="Pretendard" pitchFamily="34" charset="-122"/>
                <a:cs typeface="Pretendard" pitchFamily="34" charset="-120"/>
              </a:rPr>
              <a:t>   (Agentic: LLM이 실행 중 선택)</a:t>
            </a:r>
            <a:endParaRPr lang="en-US" sz="1400" dirty="0"/>
          </a:p>
        </p:txBody>
      </p:sp>
      <p:sp>
        <p:nvSpPr>
          <p:cNvPr id="56" name="Shape 53"/>
          <p:cNvSpPr/>
          <p:nvPr/>
        </p:nvSpPr>
        <p:spPr>
          <a:xfrm>
            <a:off x="8385048" y="6428232"/>
            <a:ext cx="246888" cy="246888"/>
          </a:xfrm>
          <a:prstGeom prst="roundRect">
            <a:avLst>
              <a:gd name="adj" fmla="val 18519"/>
            </a:avLst>
          </a:prstGeom>
          <a:solidFill>
            <a:srgbClr val="2E74C6"/>
          </a:solidFill>
          <a:ln/>
        </p:spPr>
        <p:txBody>
          <a:bodyPr/>
          <a:lstStyle/>
          <a:p>
            <a:endParaRPr lang="ko-KR" altLang="en-US"/>
          </a:p>
        </p:txBody>
      </p:sp>
      <p:sp>
        <p:nvSpPr>
          <p:cNvPr id="57" name="Text 54"/>
          <p:cNvSpPr/>
          <p:nvPr/>
        </p:nvSpPr>
        <p:spPr>
          <a:xfrm>
            <a:off x="8385048" y="6428232"/>
            <a:ext cx="246888"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58" name="Text 55"/>
          <p:cNvSpPr/>
          <p:nvPr/>
        </p:nvSpPr>
        <p:spPr>
          <a:xfrm>
            <a:off x="8714232" y="6400800"/>
            <a:ext cx="5413248" cy="30175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반복  </a:t>
            </a:r>
            <a:r>
              <a:rPr lang="en-US" sz="1400" dirty="0">
                <a:solidFill>
                  <a:srgbClr val="2B3242"/>
                </a:solidFill>
                <a:latin typeface="Pretendard" pitchFamily="34" charset="0"/>
                <a:ea typeface="Pretendard" pitchFamily="34" charset="-122"/>
                <a:cs typeface="Pretendard" pitchFamily="34" charset="-120"/>
              </a:rPr>
              <a:t>고정 횟수</a:t>
            </a:r>
            <a:r>
              <a:rPr lang="en-US" sz="1400" dirty="0">
                <a:solidFill>
                  <a:srgbClr val="7C8598"/>
                </a:solidFill>
                <a:latin typeface="Pretendard" pitchFamily="34" charset="0"/>
                <a:ea typeface="Pretendard" pitchFamily="34" charset="-122"/>
                <a:cs typeface="Pretendard" pitchFamily="34" charset="-120"/>
              </a:rPr>
              <a:t>   (Agentic: 목표 달성까지 판단)</a:t>
            </a:r>
            <a:endParaRPr lang="en-US" sz="1400" dirty="0"/>
          </a:p>
        </p:txBody>
      </p:sp>
      <p:sp>
        <p:nvSpPr>
          <p:cNvPr id="59" name="Shape 56"/>
          <p:cNvSpPr/>
          <p:nvPr/>
        </p:nvSpPr>
        <p:spPr>
          <a:xfrm>
            <a:off x="8385048" y="6793992"/>
            <a:ext cx="246888" cy="246888"/>
          </a:xfrm>
          <a:prstGeom prst="roundRect">
            <a:avLst>
              <a:gd name="adj" fmla="val 18519"/>
            </a:avLst>
          </a:prstGeom>
          <a:solidFill>
            <a:srgbClr val="2E74C6"/>
          </a:solidFill>
          <a:ln/>
        </p:spPr>
        <p:txBody>
          <a:bodyPr/>
          <a:lstStyle/>
          <a:p>
            <a:endParaRPr lang="ko-KR" altLang="en-US"/>
          </a:p>
        </p:txBody>
      </p:sp>
      <p:sp>
        <p:nvSpPr>
          <p:cNvPr id="60" name="Text 57"/>
          <p:cNvSpPr/>
          <p:nvPr/>
        </p:nvSpPr>
        <p:spPr>
          <a:xfrm>
            <a:off x="8385048" y="6793992"/>
            <a:ext cx="246888"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61" name="Text 58"/>
          <p:cNvSpPr/>
          <p:nvPr/>
        </p:nvSpPr>
        <p:spPr>
          <a:xfrm>
            <a:off x="8714232" y="6766560"/>
            <a:ext cx="5413248" cy="30175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다단계 검색  </a:t>
            </a:r>
            <a:r>
              <a:rPr lang="en-US" sz="1400" dirty="0">
                <a:solidFill>
                  <a:srgbClr val="2B3242"/>
                </a:solidFill>
                <a:latin typeface="Pretendard" pitchFamily="34" charset="0"/>
                <a:ea typeface="Pretendard" pitchFamily="34" charset="-122"/>
                <a:cs typeface="Pretendard" pitchFamily="34" charset="-120"/>
              </a:rPr>
              <a:t>미리 분해 후 한 번에</a:t>
            </a:r>
            <a:r>
              <a:rPr lang="en-US" sz="1400" dirty="0">
                <a:solidFill>
                  <a:srgbClr val="7C8598"/>
                </a:solidFill>
                <a:latin typeface="Pretendard" pitchFamily="34" charset="0"/>
                <a:ea typeface="Pretendard" pitchFamily="34" charset="-122"/>
                <a:cs typeface="Pretendard" pitchFamily="34" charset="-120"/>
              </a:rPr>
              <a:t>   (Agentic: 앞 결과 보고 다음 질문)</a:t>
            </a:r>
            <a:endParaRPr lang="en-US" sz="1400" dirty="0"/>
          </a:p>
        </p:txBody>
      </p:sp>
      <p:sp>
        <p:nvSpPr>
          <p:cNvPr id="63"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marL="0" indent="0">
              <a:buNone/>
            </a:pPr>
            <a:r>
              <a:rPr lang="en-US" sz="1500" b="1" dirty="0">
                <a:solidFill>
                  <a:srgbClr val="7C8598"/>
                </a:solidFill>
                <a:latin typeface="Pretendard" pitchFamily="34" charset="0"/>
                <a:ea typeface="Pretendard" pitchFamily="34" charset="-122"/>
                <a:cs typeface="Pretendard" pitchFamily="34" charset="-120"/>
              </a:rPr>
              <a:t>Ⅲ. 문서 검색 아키텍처 › 4. Agentic RAG 적용</a:t>
            </a:r>
            <a:endParaRPr lang="en-US" sz="1500" dirty="0"/>
          </a:p>
        </p:txBody>
      </p:sp>
      <p:sp>
        <p:nvSpPr>
          <p:cNvPr id="3" name="Text 1"/>
          <p:cNvSpPr/>
          <p:nvPr/>
        </p:nvSpPr>
        <p:spPr>
          <a:xfrm>
            <a:off x="502920" y="640080"/>
            <a:ext cx="12801600" cy="685800"/>
          </a:xfrm>
          <a:prstGeom prst="rect">
            <a:avLst/>
          </a:prstGeom>
          <a:noFill/>
          <a:ln/>
        </p:spPr>
        <p:txBody>
          <a:bodyPr wrap="square" rtlCol="0" anchor="ctr"/>
          <a:lstStyle/>
          <a:p>
            <a:pPr marL="0" indent="0">
              <a:buNone/>
            </a:pPr>
            <a:r>
              <a:rPr lang="en-US" sz="4800" b="1" dirty="0">
                <a:solidFill>
                  <a:srgbClr val="1E2A5C"/>
                </a:solidFill>
                <a:latin typeface="Pretendard" pitchFamily="34" charset="0"/>
                <a:ea typeface="Pretendard" pitchFamily="34" charset="-122"/>
                <a:cs typeface="Pretendard" pitchFamily="34" charset="-120"/>
              </a:rPr>
              <a:t>Agentic RAG 적용 방안</a:t>
            </a:r>
            <a:endParaRPr lang="en-US" sz="4800" dirty="0"/>
          </a:p>
        </p:txBody>
      </p:sp>
      <p:sp>
        <p:nvSpPr>
          <p:cNvPr id="4" name="Shape 2"/>
          <p:cNvSpPr/>
          <p:nvPr/>
        </p:nvSpPr>
        <p:spPr>
          <a:xfrm>
            <a:off x="502920" y="1389888"/>
            <a:ext cx="13624560" cy="36576"/>
          </a:xfrm>
          <a:prstGeom prst="rect">
            <a:avLst/>
          </a:prstGeom>
          <a:solidFill>
            <a:srgbClr val="D9E0EC"/>
          </a:solidFill>
          <a:ln/>
        </p:spPr>
        <p:txBody>
          <a:bodyPr/>
          <a:lstStyle/>
          <a:p>
            <a:endParaRPr lang="ko-KR" altLang="en-US"/>
          </a:p>
        </p:txBody>
      </p:sp>
      <p:sp>
        <p:nvSpPr>
          <p:cNvPr id="5" name="Shape 3"/>
          <p:cNvSpPr/>
          <p:nvPr/>
        </p:nvSpPr>
        <p:spPr>
          <a:xfrm>
            <a:off x="502920" y="1389888"/>
            <a:ext cx="1920240" cy="36576"/>
          </a:xfrm>
          <a:prstGeom prst="rect">
            <a:avLst/>
          </a:prstGeom>
          <a:solidFill>
            <a:srgbClr val="2E74C6"/>
          </a:solidFill>
          <a:ln/>
        </p:spPr>
        <p:txBody>
          <a:bodyPr/>
          <a:lstStyle/>
          <a:p>
            <a:endParaRPr lang="ko-KR" altLang="en-US"/>
          </a:p>
        </p:txBody>
      </p:sp>
      <p:sp>
        <p:nvSpPr>
          <p:cNvPr id="6" name="Text 4"/>
          <p:cNvSpPr/>
          <p:nvPr/>
        </p:nvSpPr>
        <p:spPr>
          <a:xfrm>
            <a:off x="502920" y="1499616"/>
            <a:ext cx="13624560" cy="438912"/>
          </a:xfrm>
          <a:prstGeom prst="rect">
            <a:avLst/>
          </a:prstGeom>
          <a:noFill/>
          <a:ln/>
        </p:spPr>
        <p:txBody>
          <a:bodyPr wrap="square" rtlCol="0" anchor="ctr"/>
          <a:lstStyle/>
          <a:p>
            <a:pPr marL="0" indent="0">
              <a:buNone/>
            </a:pPr>
            <a:r>
              <a:rPr lang="ko-KR" altLang="en-US" dirty="0">
                <a:solidFill>
                  <a:srgbClr val="4A5364"/>
                </a:solidFill>
                <a:latin typeface="Pretendard" pitchFamily="34" charset="0"/>
                <a:ea typeface="Pretendard" pitchFamily="34" charset="-122"/>
                <a:cs typeface="Pretendard" pitchFamily="34" charset="-120"/>
              </a:rPr>
              <a:t>검색 도구</a:t>
            </a:r>
            <a:r>
              <a:rPr lang="en-US" sz="1800" dirty="0">
                <a:solidFill>
                  <a:srgbClr val="4A5364"/>
                </a:solidFill>
                <a:latin typeface="Pretendard" pitchFamily="34" charset="0"/>
                <a:ea typeface="Pretendard" pitchFamily="34" charset="-122"/>
                <a:cs typeface="Pretendard" pitchFamily="34" charset="-120"/>
              </a:rPr>
              <a:t>(검색·질문 변환·근거 </a:t>
            </a:r>
            <a:r>
              <a:rPr lang="en-US" sz="1800" dirty="0" err="1">
                <a:solidFill>
                  <a:srgbClr val="4A5364"/>
                </a:solidFill>
                <a:latin typeface="Pretendard" pitchFamily="34" charset="0"/>
                <a:ea typeface="Pretendard" pitchFamily="34" charset="-122"/>
                <a:cs typeface="Pretendard" pitchFamily="34" charset="-120"/>
              </a:rPr>
              <a:t>검증</a:t>
            </a:r>
            <a:r>
              <a:rPr lang="en-US" sz="1800" dirty="0">
                <a:solidFill>
                  <a:srgbClr val="4A5364"/>
                </a:solidFill>
                <a:latin typeface="Pretendard" pitchFamily="34" charset="0"/>
                <a:ea typeface="Pretendard" pitchFamily="34" charset="-122"/>
                <a:cs typeface="Pretendard" pitchFamily="34" charset="-120"/>
              </a:rPr>
              <a:t>)</a:t>
            </a:r>
            <a:r>
              <a:rPr lang="ko-KR" altLang="en-US" sz="1800" dirty="0">
                <a:solidFill>
                  <a:srgbClr val="4A5364"/>
                </a:solidFill>
                <a:latin typeface="Pretendard" pitchFamily="34" charset="0"/>
                <a:ea typeface="Pretendard" pitchFamily="34" charset="-122"/>
                <a:cs typeface="Pretendard" pitchFamily="34" charset="-120"/>
              </a:rPr>
              <a:t>를 작성하고</a:t>
            </a:r>
            <a:r>
              <a:rPr lang="en-US" sz="1800" dirty="0">
                <a:solidFill>
                  <a:srgbClr val="4A5364"/>
                </a:solidFill>
                <a:latin typeface="Pretendard" pitchFamily="34" charset="0"/>
                <a:ea typeface="Pretendard" pitchFamily="34" charset="-122"/>
                <a:cs typeface="Pretendard" pitchFamily="34" charset="-120"/>
              </a:rPr>
              <a:t> 에이전트가 골라 </a:t>
            </a:r>
            <a:r>
              <a:rPr lang="en-US" sz="1800" dirty="0" err="1">
                <a:solidFill>
                  <a:srgbClr val="4A5364"/>
                </a:solidFill>
                <a:latin typeface="Pretendard" pitchFamily="34" charset="0"/>
                <a:ea typeface="Pretendard" pitchFamily="34" charset="-122"/>
                <a:cs typeface="Pretendard" pitchFamily="34" charset="-120"/>
              </a:rPr>
              <a:t>쓰게</a:t>
            </a:r>
            <a:r>
              <a:rPr lang="en-US" sz="1800" dirty="0">
                <a:solidFill>
                  <a:srgbClr val="4A5364"/>
                </a:solidFill>
                <a:latin typeface="Pretendard" pitchFamily="34" charset="0"/>
                <a:ea typeface="Pretendard" pitchFamily="34" charset="-122"/>
                <a:cs typeface="Pretendard" pitchFamily="34" charset="-120"/>
              </a:rPr>
              <a:t> 함. Self-RAG·Adaptive·CRAG는 판단과 도구 안으로 들어감</a:t>
            </a:r>
            <a:endParaRPr lang="en-US" sz="1800" dirty="0"/>
          </a:p>
        </p:txBody>
      </p:sp>
      <p:sp>
        <p:nvSpPr>
          <p:cNvPr id="7" name="Shape 5"/>
          <p:cNvSpPr/>
          <p:nvPr/>
        </p:nvSpPr>
        <p:spPr>
          <a:xfrm>
            <a:off x="502920" y="2057400"/>
            <a:ext cx="7589520" cy="457200"/>
          </a:xfrm>
          <a:prstGeom prst="roundRect">
            <a:avLst>
              <a:gd name="adj" fmla="val 12000"/>
            </a:avLst>
          </a:prstGeom>
          <a:solidFill>
            <a:srgbClr val="1E2A5C"/>
          </a:solidFill>
          <a:ln/>
        </p:spPr>
        <p:txBody>
          <a:bodyPr/>
          <a:lstStyle/>
          <a:p>
            <a:endParaRPr lang="ko-KR" altLang="en-US"/>
          </a:p>
        </p:txBody>
      </p:sp>
      <p:sp>
        <p:nvSpPr>
          <p:cNvPr id="8" name="Text 6"/>
          <p:cNvSpPr/>
          <p:nvPr/>
        </p:nvSpPr>
        <p:spPr>
          <a:xfrm>
            <a:off x="502920" y="2057400"/>
            <a:ext cx="758952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에이전트 흐름</a:t>
            </a:r>
            <a:endParaRPr lang="en-US" sz="2000" dirty="0"/>
          </a:p>
        </p:txBody>
      </p:sp>
      <p:sp>
        <p:nvSpPr>
          <p:cNvPr id="9" name="Shape 7"/>
          <p:cNvSpPr/>
          <p:nvPr/>
        </p:nvSpPr>
        <p:spPr>
          <a:xfrm>
            <a:off x="502920" y="2606040"/>
            <a:ext cx="7589520" cy="4590288"/>
          </a:xfrm>
          <a:prstGeom prst="roundRect">
            <a:avLst>
              <a:gd name="adj" fmla="val 1992"/>
            </a:avLst>
          </a:prstGeom>
          <a:solidFill>
            <a:srgbClr val="EEF3FA"/>
          </a:solidFill>
          <a:ln w="12700">
            <a:solidFill>
              <a:srgbClr val="D9E0EC"/>
            </a:solidFill>
            <a:prstDash val="solid"/>
          </a:ln>
        </p:spPr>
        <p:txBody>
          <a:bodyPr/>
          <a:lstStyle/>
          <a:p>
            <a:endParaRPr lang="ko-KR" altLang="en-US"/>
          </a:p>
        </p:txBody>
      </p:sp>
      <p:sp>
        <p:nvSpPr>
          <p:cNvPr id="10" name="Shape 8"/>
          <p:cNvSpPr/>
          <p:nvPr/>
        </p:nvSpPr>
        <p:spPr>
          <a:xfrm>
            <a:off x="640080" y="3886200"/>
            <a:ext cx="3383280" cy="1801368"/>
          </a:xfrm>
          <a:prstGeom prst="roundRect">
            <a:avLst>
              <a:gd name="adj" fmla="val 4061"/>
            </a:avLst>
          </a:prstGeom>
          <a:solidFill>
            <a:srgbClr val="FFFFFF"/>
          </a:solidFill>
          <a:ln w="15875">
            <a:solidFill>
              <a:srgbClr val="404155"/>
            </a:solidFill>
            <a:prstDash val="dash"/>
          </a:ln>
        </p:spPr>
        <p:txBody>
          <a:bodyPr/>
          <a:lstStyle/>
          <a:p>
            <a:endParaRPr lang="ko-KR" altLang="en-US"/>
          </a:p>
        </p:txBody>
      </p:sp>
      <p:sp>
        <p:nvSpPr>
          <p:cNvPr id="11" name="Text 9"/>
          <p:cNvSpPr/>
          <p:nvPr/>
        </p:nvSpPr>
        <p:spPr>
          <a:xfrm>
            <a:off x="777240" y="3922776"/>
            <a:ext cx="2377440" cy="292608"/>
          </a:xfrm>
          <a:prstGeom prst="rect">
            <a:avLst/>
          </a:prstGeom>
          <a:noFill/>
          <a:ln/>
        </p:spPr>
        <p:txBody>
          <a:bodyPr wrap="square" lIns="0" tIns="0" rIns="0" bIns="0" rtlCol="0" anchor="ctr"/>
          <a:lstStyle/>
          <a:p>
            <a:pPr marL="0" indent="0">
              <a:buNone/>
            </a:pPr>
            <a:r>
              <a:rPr lang="en-US" sz="1400" b="1" dirty="0">
                <a:solidFill>
                  <a:srgbClr val="404155"/>
                </a:solidFill>
                <a:latin typeface="Pretendard" pitchFamily="34" charset="0"/>
                <a:ea typeface="Pretendard" pitchFamily="34" charset="-122"/>
                <a:cs typeface="Pretendard" pitchFamily="34" charset="-120"/>
              </a:rPr>
              <a:t>반복 (상한 있음)</a:t>
            </a:r>
            <a:endParaRPr lang="en-US" sz="1400" dirty="0"/>
          </a:p>
        </p:txBody>
      </p:sp>
      <p:sp>
        <p:nvSpPr>
          <p:cNvPr id="12" name="Shape 10"/>
          <p:cNvSpPr/>
          <p:nvPr/>
        </p:nvSpPr>
        <p:spPr>
          <a:xfrm>
            <a:off x="2468880" y="3108960"/>
            <a:ext cx="0" cy="146304"/>
          </a:xfrm>
          <a:prstGeom prst="line">
            <a:avLst/>
          </a:prstGeom>
          <a:noFill/>
          <a:ln w="19050">
            <a:solidFill>
              <a:srgbClr val="4A5364"/>
            </a:solidFill>
            <a:prstDash val="solid"/>
            <a:tailEnd type="triangle"/>
          </a:ln>
        </p:spPr>
        <p:txBody>
          <a:bodyPr/>
          <a:lstStyle/>
          <a:p>
            <a:endParaRPr lang="ko-KR" altLang="en-US"/>
          </a:p>
        </p:txBody>
      </p:sp>
      <p:sp>
        <p:nvSpPr>
          <p:cNvPr id="13" name="Shape 11"/>
          <p:cNvSpPr/>
          <p:nvPr/>
        </p:nvSpPr>
        <p:spPr>
          <a:xfrm>
            <a:off x="2468880" y="3712464"/>
            <a:ext cx="0" cy="548640"/>
          </a:xfrm>
          <a:prstGeom prst="line">
            <a:avLst/>
          </a:prstGeom>
          <a:noFill/>
          <a:ln w="19050">
            <a:solidFill>
              <a:srgbClr val="4A5364"/>
            </a:solidFill>
            <a:prstDash val="solid"/>
            <a:tailEnd type="triangle"/>
          </a:ln>
        </p:spPr>
        <p:txBody>
          <a:bodyPr/>
          <a:lstStyle/>
          <a:p>
            <a:endParaRPr lang="ko-KR" altLang="en-US"/>
          </a:p>
        </p:txBody>
      </p:sp>
      <p:sp>
        <p:nvSpPr>
          <p:cNvPr id="14" name="Shape 12"/>
          <p:cNvSpPr/>
          <p:nvPr/>
        </p:nvSpPr>
        <p:spPr>
          <a:xfrm>
            <a:off x="2468880" y="4626864"/>
            <a:ext cx="0" cy="109728"/>
          </a:xfrm>
          <a:prstGeom prst="line">
            <a:avLst/>
          </a:prstGeom>
          <a:noFill/>
          <a:ln w="19050">
            <a:solidFill>
              <a:srgbClr val="4A5364"/>
            </a:solidFill>
            <a:prstDash val="solid"/>
            <a:tailEnd type="triangle"/>
          </a:ln>
        </p:spPr>
        <p:txBody>
          <a:bodyPr/>
          <a:lstStyle/>
          <a:p>
            <a:endParaRPr lang="ko-KR" altLang="en-US"/>
          </a:p>
        </p:txBody>
      </p:sp>
      <p:sp>
        <p:nvSpPr>
          <p:cNvPr id="15" name="Shape 13"/>
          <p:cNvSpPr/>
          <p:nvPr/>
        </p:nvSpPr>
        <p:spPr>
          <a:xfrm>
            <a:off x="2468880" y="5102352"/>
            <a:ext cx="0" cy="109728"/>
          </a:xfrm>
          <a:prstGeom prst="line">
            <a:avLst/>
          </a:prstGeom>
          <a:noFill/>
          <a:ln w="19050">
            <a:solidFill>
              <a:srgbClr val="4A5364"/>
            </a:solidFill>
            <a:prstDash val="solid"/>
            <a:tailEnd type="triangle"/>
          </a:ln>
        </p:spPr>
        <p:txBody>
          <a:bodyPr/>
          <a:lstStyle/>
          <a:p>
            <a:endParaRPr lang="ko-KR" altLang="en-US"/>
          </a:p>
        </p:txBody>
      </p:sp>
      <p:sp>
        <p:nvSpPr>
          <p:cNvPr id="16" name="Shape 14"/>
          <p:cNvSpPr/>
          <p:nvPr/>
        </p:nvSpPr>
        <p:spPr>
          <a:xfrm>
            <a:off x="2468880" y="5577840"/>
            <a:ext cx="0" cy="274320"/>
          </a:xfrm>
          <a:prstGeom prst="line">
            <a:avLst/>
          </a:prstGeom>
          <a:noFill/>
          <a:ln w="19050">
            <a:solidFill>
              <a:srgbClr val="4A5364"/>
            </a:solidFill>
            <a:prstDash val="solid"/>
            <a:tailEnd type="triangle"/>
          </a:ln>
        </p:spPr>
        <p:txBody>
          <a:bodyPr/>
          <a:lstStyle/>
          <a:p>
            <a:endParaRPr lang="ko-KR" altLang="en-US"/>
          </a:p>
        </p:txBody>
      </p:sp>
      <p:sp>
        <p:nvSpPr>
          <p:cNvPr id="17" name="Shape 15"/>
          <p:cNvSpPr/>
          <p:nvPr/>
        </p:nvSpPr>
        <p:spPr>
          <a:xfrm>
            <a:off x="2468880" y="6217920"/>
            <a:ext cx="0" cy="128016"/>
          </a:xfrm>
          <a:prstGeom prst="line">
            <a:avLst/>
          </a:prstGeom>
          <a:noFill/>
          <a:ln w="19050">
            <a:solidFill>
              <a:srgbClr val="4A5364"/>
            </a:solidFill>
            <a:prstDash val="solid"/>
            <a:tailEnd type="triangle"/>
          </a:ln>
        </p:spPr>
        <p:txBody>
          <a:bodyPr/>
          <a:lstStyle/>
          <a:p>
            <a:endParaRPr lang="ko-KR" altLang="en-US"/>
          </a:p>
        </p:txBody>
      </p:sp>
      <p:sp>
        <p:nvSpPr>
          <p:cNvPr id="18" name="Shape 16"/>
          <p:cNvSpPr/>
          <p:nvPr/>
        </p:nvSpPr>
        <p:spPr>
          <a:xfrm>
            <a:off x="1051560" y="2743200"/>
            <a:ext cx="2834640" cy="365760"/>
          </a:xfrm>
          <a:prstGeom prst="roundRect">
            <a:avLst>
              <a:gd name="adj" fmla="val 15000"/>
            </a:avLst>
          </a:prstGeom>
          <a:solidFill>
            <a:srgbClr val="FFFFFF"/>
          </a:solidFill>
          <a:ln w="15875">
            <a:solidFill>
              <a:srgbClr val="1E2A5C"/>
            </a:solidFill>
            <a:prstDash val="solid"/>
          </a:ln>
        </p:spPr>
        <p:txBody>
          <a:bodyPr/>
          <a:lstStyle/>
          <a:p>
            <a:endParaRPr lang="ko-KR" altLang="en-US"/>
          </a:p>
        </p:txBody>
      </p:sp>
      <p:sp>
        <p:nvSpPr>
          <p:cNvPr id="19" name="Text 17"/>
          <p:cNvSpPr/>
          <p:nvPr/>
        </p:nvSpPr>
        <p:spPr>
          <a:xfrm>
            <a:off x="1124712" y="2743200"/>
            <a:ext cx="2688336" cy="365760"/>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질문 + 역할(agent/auditor)</a:t>
            </a:r>
            <a:endParaRPr lang="en-US" sz="1500" dirty="0"/>
          </a:p>
        </p:txBody>
      </p:sp>
      <p:sp>
        <p:nvSpPr>
          <p:cNvPr id="20" name="Shape 18"/>
          <p:cNvSpPr/>
          <p:nvPr/>
        </p:nvSpPr>
        <p:spPr>
          <a:xfrm>
            <a:off x="1051560" y="3255264"/>
            <a:ext cx="2834640" cy="457200"/>
          </a:xfrm>
          <a:prstGeom prst="roundRect">
            <a:avLst>
              <a:gd name="adj" fmla="val 12000"/>
            </a:avLst>
          </a:prstGeom>
          <a:solidFill>
            <a:srgbClr val="1E2A5C"/>
          </a:solidFill>
          <a:ln w="15875">
            <a:solidFill>
              <a:srgbClr val="1E2A5C"/>
            </a:solidFill>
            <a:prstDash val="solid"/>
          </a:ln>
        </p:spPr>
        <p:txBody>
          <a:bodyPr/>
          <a:lstStyle/>
          <a:p>
            <a:endParaRPr lang="ko-KR" altLang="en-US"/>
          </a:p>
        </p:txBody>
      </p:sp>
      <p:sp>
        <p:nvSpPr>
          <p:cNvPr id="21" name="Text 19"/>
          <p:cNvSpPr/>
          <p:nvPr/>
        </p:nvSpPr>
        <p:spPr>
          <a:xfrm>
            <a:off x="1124712" y="3255264"/>
            <a:ext cx="2688336"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계획 — 질문 분석</a:t>
            </a:r>
            <a:endParaRPr lang="en-US" sz="1500" dirty="0"/>
          </a:p>
        </p:txBody>
      </p:sp>
      <p:sp>
        <p:nvSpPr>
          <p:cNvPr id="22" name="Shape 20"/>
          <p:cNvSpPr/>
          <p:nvPr/>
        </p:nvSpPr>
        <p:spPr>
          <a:xfrm>
            <a:off x="1051560" y="4261104"/>
            <a:ext cx="2834640" cy="365760"/>
          </a:xfrm>
          <a:prstGeom prst="roundRect">
            <a:avLst>
              <a:gd name="adj" fmla="val 15000"/>
            </a:avLst>
          </a:prstGeom>
          <a:solidFill>
            <a:srgbClr val="FFFFFF"/>
          </a:solidFill>
          <a:ln w="15875">
            <a:solidFill>
              <a:srgbClr val="1E2A5C"/>
            </a:solidFill>
            <a:prstDash val="solid"/>
          </a:ln>
        </p:spPr>
        <p:txBody>
          <a:bodyPr/>
          <a:lstStyle/>
          <a:p>
            <a:endParaRPr lang="ko-KR" altLang="en-US"/>
          </a:p>
        </p:txBody>
      </p:sp>
      <p:sp>
        <p:nvSpPr>
          <p:cNvPr id="23" name="Text 21"/>
          <p:cNvSpPr/>
          <p:nvPr/>
        </p:nvSpPr>
        <p:spPr>
          <a:xfrm>
            <a:off x="1124712" y="4261104"/>
            <a:ext cx="2688336" cy="365760"/>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행동 </a:t>
            </a:r>
            <a:r>
              <a:rPr lang="en-US" sz="1500" dirty="0">
                <a:solidFill>
                  <a:srgbClr val="1E2A5C"/>
                </a:solidFill>
                <a:latin typeface="Pretendard" pitchFamily="34" charset="0"/>
                <a:ea typeface="Pretendard" pitchFamily="34" charset="-122"/>
                <a:cs typeface="Pretendard" pitchFamily="34" charset="-120"/>
              </a:rPr>
              <a:t>search_docs 호출</a:t>
            </a:r>
            <a:endParaRPr lang="en-US" sz="1500" dirty="0"/>
          </a:p>
        </p:txBody>
      </p:sp>
      <p:sp>
        <p:nvSpPr>
          <p:cNvPr id="24" name="Shape 22"/>
          <p:cNvSpPr/>
          <p:nvPr/>
        </p:nvSpPr>
        <p:spPr>
          <a:xfrm>
            <a:off x="1051560" y="4736592"/>
            <a:ext cx="2834640" cy="365760"/>
          </a:xfrm>
          <a:prstGeom prst="roundRect">
            <a:avLst>
              <a:gd name="adj" fmla="val 15000"/>
            </a:avLst>
          </a:prstGeom>
          <a:solidFill>
            <a:srgbClr val="FFFFFF"/>
          </a:solidFill>
          <a:ln w="15875">
            <a:solidFill>
              <a:srgbClr val="1E2A5C"/>
            </a:solidFill>
            <a:prstDash val="solid"/>
          </a:ln>
        </p:spPr>
        <p:txBody>
          <a:bodyPr/>
          <a:lstStyle/>
          <a:p>
            <a:endParaRPr lang="ko-KR" altLang="en-US"/>
          </a:p>
        </p:txBody>
      </p:sp>
      <p:sp>
        <p:nvSpPr>
          <p:cNvPr id="25" name="Text 23"/>
          <p:cNvSpPr/>
          <p:nvPr/>
        </p:nvSpPr>
        <p:spPr>
          <a:xfrm>
            <a:off x="1124712" y="4736592"/>
            <a:ext cx="2688336" cy="365760"/>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관찰 </a:t>
            </a:r>
            <a:r>
              <a:rPr lang="en-US" sz="1500" dirty="0">
                <a:solidFill>
                  <a:srgbClr val="1E2A5C"/>
                </a:solidFill>
                <a:latin typeface="Pretendard" pitchFamily="34" charset="0"/>
                <a:ea typeface="Pretendard" pitchFamily="34" charset="-122"/>
                <a:cs typeface="Pretendard" pitchFamily="34" charset="-120"/>
              </a:rPr>
              <a:t>grade_results 채점</a:t>
            </a:r>
            <a:endParaRPr lang="en-US" sz="1500" dirty="0"/>
          </a:p>
        </p:txBody>
      </p:sp>
      <p:sp>
        <p:nvSpPr>
          <p:cNvPr id="26" name="Shape 24"/>
          <p:cNvSpPr/>
          <p:nvPr/>
        </p:nvSpPr>
        <p:spPr>
          <a:xfrm>
            <a:off x="1051560" y="5212080"/>
            <a:ext cx="2834640" cy="365760"/>
          </a:xfrm>
          <a:prstGeom prst="roundRect">
            <a:avLst>
              <a:gd name="adj" fmla="val 15000"/>
            </a:avLst>
          </a:prstGeom>
          <a:solidFill>
            <a:srgbClr val="FFFFFF"/>
          </a:solidFill>
          <a:ln w="15875">
            <a:solidFill>
              <a:srgbClr val="1E2A5C"/>
            </a:solidFill>
            <a:prstDash val="solid"/>
          </a:ln>
        </p:spPr>
        <p:txBody>
          <a:bodyPr/>
          <a:lstStyle/>
          <a:p>
            <a:endParaRPr lang="ko-KR" altLang="en-US"/>
          </a:p>
        </p:txBody>
      </p:sp>
      <p:sp>
        <p:nvSpPr>
          <p:cNvPr id="27" name="Text 25"/>
          <p:cNvSpPr/>
          <p:nvPr/>
        </p:nvSpPr>
        <p:spPr>
          <a:xfrm>
            <a:off x="1124712" y="5212080"/>
            <a:ext cx="2688336" cy="365760"/>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평가 </a:t>
            </a:r>
            <a:r>
              <a:rPr lang="en-US" sz="1500" dirty="0">
                <a:solidFill>
                  <a:srgbClr val="1E2A5C"/>
                </a:solidFill>
                <a:latin typeface="Pretendard" pitchFamily="34" charset="0"/>
                <a:ea typeface="Pretendard" pitchFamily="34" charset="-122"/>
                <a:cs typeface="Pretendard" pitchFamily="34" charset="-120"/>
              </a:rPr>
              <a:t>근거를 다 모았나?</a:t>
            </a:r>
            <a:endParaRPr lang="en-US" sz="1500" dirty="0"/>
          </a:p>
        </p:txBody>
      </p:sp>
      <p:sp>
        <p:nvSpPr>
          <p:cNvPr id="28" name="Shape 26"/>
          <p:cNvSpPr/>
          <p:nvPr/>
        </p:nvSpPr>
        <p:spPr>
          <a:xfrm>
            <a:off x="1051560" y="5852160"/>
            <a:ext cx="2834640" cy="365760"/>
          </a:xfrm>
          <a:prstGeom prst="roundRect">
            <a:avLst>
              <a:gd name="adj" fmla="val 15000"/>
            </a:avLst>
          </a:prstGeom>
          <a:solidFill>
            <a:srgbClr val="FFFFFF"/>
          </a:solidFill>
          <a:ln w="15875">
            <a:solidFill>
              <a:srgbClr val="1E2A5C"/>
            </a:solidFill>
            <a:prstDash val="solid"/>
          </a:ln>
        </p:spPr>
        <p:txBody>
          <a:bodyPr/>
          <a:lstStyle/>
          <a:p>
            <a:endParaRPr lang="ko-KR" altLang="en-US"/>
          </a:p>
        </p:txBody>
      </p:sp>
      <p:sp>
        <p:nvSpPr>
          <p:cNvPr id="29" name="Text 27"/>
          <p:cNvSpPr/>
          <p:nvPr/>
        </p:nvSpPr>
        <p:spPr>
          <a:xfrm>
            <a:off x="1124712" y="5852160"/>
            <a:ext cx="2688336" cy="365760"/>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답변 생성</a:t>
            </a:r>
            <a:endParaRPr lang="en-US" sz="1500" dirty="0"/>
          </a:p>
        </p:txBody>
      </p:sp>
      <p:sp>
        <p:nvSpPr>
          <p:cNvPr id="30" name="Shape 28"/>
          <p:cNvSpPr/>
          <p:nvPr/>
        </p:nvSpPr>
        <p:spPr>
          <a:xfrm>
            <a:off x="1051560" y="6345936"/>
            <a:ext cx="2834640" cy="365760"/>
          </a:xfrm>
          <a:prstGeom prst="roundRect">
            <a:avLst>
              <a:gd name="adj" fmla="val 15000"/>
            </a:avLst>
          </a:prstGeom>
          <a:solidFill>
            <a:srgbClr val="FFFFFF"/>
          </a:solidFill>
          <a:ln w="15875">
            <a:solidFill>
              <a:srgbClr val="1E2A5C"/>
            </a:solidFill>
            <a:prstDash val="solid"/>
          </a:ln>
        </p:spPr>
        <p:txBody>
          <a:bodyPr/>
          <a:lstStyle/>
          <a:p>
            <a:endParaRPr lang="ko-KR" altLang="en-US"/>
          </a:p>
        </p:txBody>
      </p:sp>
      <p:sp>
        <p:nvSpPr>
          <p:cNvPr id="31" name="Text 29"/>
          <p:cNvSpPr/>
          <p:nvPr/>
        </p:nvSpPr>
        <p:spPr>
          <a:xfrm>
            <a:off x="1124712" y="6345936"/>
            <a:ext cx="2688336" cy="365760"/>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근거 검증 </a:t>
            </a:r>
            <a:r>
              <a:rPr lang="en-US" sz="1500" dirty="0">
                <a:solidFill>
                  <a:srgbClr val="1E2A5C"/>
                </a:solidFill>
                <a:latin typeface="Pretendard" pitchFamily="34" charset="0"/>
                <a:ea typeface="Pretendard" pitchFamily="34" charset="-122"/>
                <a:cs typeface="Pretendard" pitchFamily="34" charset="-120"/>
              </a:rPr>
              <a:t>verify_evidence</a:t>
            </a:r>
            <a:endParaRPr lang="en-US" sz="1500" dirty="0"/>
          </a:p>
        </p:txBody>
      </p:sp>
      <p:sp>
        <p:nvSpPr>
          <p:cNvPr id="32" name="Shape 30"/>
          <p:cNvSpPr/>
          <p:nvPr/>
        </p:nvSpPr>
        <p:spPr>
          <a:xfrm flipH="1">
            <a:off x="850392" y="5394960"/>
            <a:ext cx="201168" cy="0"/>
          </a:xfrm>
          <a:prstGeom prst="line">
            <a:avLst/>
          </a:prstGeom>
          <a:noFill/>
          <a:ln w="19050">
            <a:solidFill>
              <a:srgbClr val="4A5364"/>
            </a:solidFill>
            <a:prstDash val="solid"/>
          </a:ln>
        </p:spPr>
        <p:txBody>
          <a:bodyPr/>
          <a:lstStyle/>
          <a:p>
            <a:endParaRPr lang="ko-KR" altLang="en-US"/>
          </a:p>
        </p:txBody>
      </p:sp>
      <p:sp>
        <p:nvSpPr>
          <p:cNvPr id="33" name="Shape 31"/>
          <p:cNvSpPr/>
          <p:nvPr/>
        </p:nvSpPr>
        <p:spPr>
          <a:xfrm flipV="1">
            <a:off x="850392" y="4443984"/>
            <a:ext cx="0" cy="950976"/>
          </a:xfrm>
          <a:prstGeom prst="line">
            <a:avLst/>
          </a:prstGeom>
          <a:noFill/>
          <a:ln w="19050">
            <a:solidFill>
              <a:srgbClr val="4A5364"/>
            </a:solidFill>
            <a:prstDash val="solid"/>
          </a:ln>
        </p:spPr>
        <p:txBody>
          <a:bodyPr/>
          <a:lstStyle/>
          <a:p>
            <a:endParaRPr lang="ko-KR" altLang="en-US"/>
          </a:p>
        </p:txBody>
      </p:sp>
      <p:sp>
        <p:nvSpPr>
          <p:cNvPr id="34" name="Shape 32"/>
          <p:cNvSpPr/>
          <p:nvPr/>
        </p:nvSpPr>
        <p:spPr>
          <a:xfrm>
            <a:off x="850392" y="4443984"/>
            <a:ext cx="201168" cy="0"/>
          </a:xfrm>
          <a:prstGeom prst="line">
            <a:avLst/>
          </a:prstGeom>
          <a:noFill/>
          <a:ln w="19050">
            <a:solidFill>
              <a:srgbClr val="4A5364"/>
            </a:solidFill>
            <a:prstDash val="solid"/>
            <a:tailEnd type="triangle"/>
          </a:ln>
        </p:spPr>
        <p:txBody>
          <a:bodyPr/>
          <a:lstStyle/>
          <a:p>
            <a:endParaRPr lang="ko-KR" altLang="en-US"/>
          </a:p>
        </p:txBody>
      </p:sp>
      <p:sp>
        <p:nvSpPr>
          <p:cNvPr id="35" name="Shape 33"/>
          <p:cNvSpPr/>
          <p:nvPr/>
        </p:nvSpPr>
        <p:spPr>
          <a:xfrm flipH="1">
            <a:off x="850392" y="6528816"/>
            <a:ext cx="201168" cy="0"/>
          </a:xfrm>
          <a:prstGeom prst="line">
            <a:avLst/>
          </a:prstGeom>
          <a:noFill/>
          <a:ln w="19050">
            <a:solidFill>
              <a:srgbClr val="4A5364"/>
            </a:solidFill>
            <a:prstDash val="dash"/>
          </a:ln>
        </p:spPr>
        <p:txBody>
          <a:bodyPr/>
          <a:lstStyle/>
          <a:p>
            <a:endParaRPr lang="ko-KR" altLang="en-US"/>
          </a:p>
        </p:txBody>
      </p:sp>
      <p:sp>
        <p:nvSpPr>
          <p:cNvPr id="36" name="Shape 34"/>
          <p:cNvSpPr/>
          <p:nvPr/>
        </p:nvSpPr>
        <p:spPr>
          <a:xfrm flipV="1">
            <a:off x="850392" y="6035040"/>
            <a:ext cx="0" cy="493776"/>
          </a:xfrm>
          <a:prstGeom prst="line">
            <a:avLst/>
          </a:prstGeom>
          <a:noFill/>
          <a:ln w="19050">
            <a:solidFill>
              <a:srgbClr val="4A5364"/>
            </a:solidFill>
            <a:prstDash val="dash"/>
          </a:ln>
        </p:spPr>
        <p:txBody>
          <a:bodyPr/>
          <a:lstStyle/>
          <a:p>
            <a:endParaRPr lang="ko-KR" altLang="en-US"/>
          </a:p>
        </p:txBody>
      </p:sp>
      <p:sp>
        <p:nvSpPr>
          <p:cNvPr id="37" name="Shape 35"/>
          <p:cNvSpPr/>
          <p:nvPr/>
        </p:nvSpPr>
        <p:spPr>
          <a:xfrm>
            <a:off x="850392" y="6035040"/>
            <a:ext cx="201168" cy="0"/>
          </a:xfrm>
          <a:prstGeom prst="line">
            <a:avLst/>
          </a:prstGeom>
          <a:noFill/>
          <a:ln w="19050">
            <a:solidFill>
              <a:srgbClr val="4A5364"/>
            </a:solidFill>
            <a:prstDash val="dash"/>
            <a:tailEnd type="triangle"/>
          </a:ln>
        </p:spPr>
        <p:txBody>
          <a:bodyPr/>
          <a:lstStyle/>
          <a:p>
            <a:endParaRPr lang="ko-KR" altLang="en-US"/>
          </a:p>
        </p:txBody>
      </p:sp>
      <p:sp>
        <p:nvSpPr>
          <p:cNvPr id="38" name="Shape 36"/>
          <p:cNvSpPr/>
          <p:nvPr/>
        </p:nvSpPr>
        <p:spPr>
          <a:xfrm>
            <a:off x="4206240" y="3090672"/>
            <a:ext cx="3703320" cy="768096"/>
          </a:xfrm>
          <a:prstGeom prst="roundRect">
            <a:avLst>
              <a:gd name="adj" fmla="val 7143"/>
            </a:avLst>
          </a:prstGeom>
          <a:solidFill>
            <a:srgbClr val="FFFFFF"/>
          </a:solidFill>
          <a:ln w="15875">
            <a:solidFill>
              <a:srgbClr val="C3CEE0"/>
            </a:solidFill>
            <a:prstDash val="solid"/>
          </a:ln>
        </p:spPr>
        <p:txBody>
          <a:bodyPr/>
          <a:lstStyle/>
          <a:p>
            <a:endParaRPr lang="ko-KR" altLang="en-US"/>
          </a:p>
        </p:txBody>
      </p:sp>
      <p:sp>
        <p:nvSpPr>
          <p:cNvPr id="39" name="Text 37"/>
          <p:cNvSpPr/>
          <p:nvPr/>
        </p:nvSpPr>
        <p:spPr>
          <a:xfrm>
            <a:off x="4279392" y="3090672"/>
            <a:ext cx="3557016" cy="768096"/>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Self-RAG  </a:t>
            </a:r>
            <a:r>
              <a:rPr lang="en-US" sz="1500" dirty="0">
                <a:solidFill>
                  <a:srgbClr val="2B3242"/>
                </a:solidFill>
                <a:latin typeface="Pretendard" pitchFamily="34" charset="0"/>
                <a:ea typeface="Pretendard" pitchFamily="34" charset="-122"/>
                <a:cs typeface="Pretendard" pitchFamily="34" charset="-120"/>
              </a:rPr>
              <a:t>인사·잡담은 검색 없이 답변</a:t>
            </a:r>
            <a:endParaRPr lang="en-US" sz="1500" dirty="0"/>
          </a:p>
          <a:p>
            <a:pPr marL="0" indent="0" algn="l">
              <a:buNone/>
            </a:pPr>
            <a:r>
              <a:rPr lang="en-US" sz="1500" b="1" dirty="0">
                <a:solidFill>
                  <a:srgbClr val="2E74C6"/>
                </a:solidFill>
                <a:latin typeface="Pretendard" pitchFamily="34" charset="0"/>
                <a:ea typeface="Pretendard" pitchFamily="34" charset="-122"/>
                <a:cs typeface="Pretendard" pitchFamily="34" charset="-120"/>
              </a:rPr>
              <a:t>Adaptive  </a:t>
            </a:r>
            <a:r>
              <a:rPr lang="en-US" sz="1500" dirty="0">
                <a:solidFill>
                  <a:srgbClr val="2B3242"/>
                </a:solidFill>
                <a:latin typeface="Pretendard" pitchFamily="34" charset="0"/>
                <a:ea typeface="Pretendard" pitchFamily="34" charset="-122"/>
                <a:cs typeface="Pretendard" pitchFamily="34" charset="-120"/>
              </a:rPr>
              <a:t>복합 질문 → 미리 분해(+원 질문)</a:t>
            </a:r>
            <a:endParaRPr lang="en-US" sz="1500" dirty="0"/>
          </a:p>
        </p:txBody>
      </p:sp>
      <p:sp>
        <p:nvSpPr>
          <p:cNvPr id="40" name="Shape 38"/>
          <p:cNvSpPr/>
          <p:nvPr/>
        </p:nvSpPr>
        <p:spPr>
          <a:xfrm>
            <a:off x="3886200" y="3483864"/>
            <a:ext cx="320040" cy="0"/>
          </a:xfrm>
          <a:prstGeom prst="line">
            <a:avLst/>
          </a:prstGeom>
          <a:noFill/>
          <a:ln w="19050">
            <a:solidFill>
              <a:srgbClr val="4A5364"/>
            </a:solidFill>
            <a:prstDash val="solid"/>
            <a:tailEnd type="triangle"/>
          </a:ln>
        </p:spPr>
        <p:txBody>
          <a:bodyPr/>
          <a:lstStyle/>
          <a:p>
            <a:endParaRPr lang="ko-KR" altLang="en-US"/>
          </a:p>
        </p:txBody>
      </p:sp>
      <p:sp>
        <p:nvSpPr>
          <p:cNvPr id="41" name="Shape 39"/>
          <p:cNvSpPr/>
          <p:nvPr/>
        </p:nvSpPr>
        <p:spPr>
          <a:xfrm>
            <a:off x="4206240" y="4206240"/>
            <a:ext cx="3703320" cy="1060704"/>
          </a:xfrm>
          <a:prstGeom prst="roundRect">
            <a:avLst>
              <a:gd name="adj" fmla="val 5172"/>
            </a:avLst>
          </a:prstGeom>
          <a:solidFill>
            <a:srgbClr val="FFFFFF"/>
          </a:solidFill>
          <a:ln w="15875">
            <a:solidFill>
              <a:srgbClr val="C3CEE0"/>
            </a:solidFill>
            <a:prstDash val="solid"/>
          </a:ln>
        </p:spPr>
        <p:txBody>
          <a:bodyPr/>
          <a:lstStyle/>
          <a:p>
            <a:endParaRPr lang="ko-KR" altLang="en-US"/>
          </a:p>
        </p:txBody>
      </p:sp>
      <p:sp>
        <p:nvSpPr>
          <p:cNvPr id="42" name="Text 40"/>
          <p:cNvSpPr/>
          <p:nvPr/>
        </p:nvSpPr>
        <p:spPr>
          <a:xfrm>
            <a:off x="4279392" y="4206240"/>
            <a:ext cx="3557016" cy="106070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CRAG  </a:t>
            </a:r>
            <a:r>
              <a:rPr lang="en-US" sz="1500" dirty="0">
                <a:solidFill>
                  <a:srgbClr val="2B3242"/>
                </a:solidFill>
                <a:latin typeface="Pretendard" pitchFamily="34" charset="0"/>
                <a:ea typeface="Pretendard" pitchFamily="34" charset="-122"/>
                <a:cs typeface="Pretendard" pitchFamily="34" charset="-120"/>
              </a:rPr>
              <a:t>채점 결과에 따라</a:t>
            </a:r>
            <a:endParaRPr lang="en-US" sz="1500" dirty="0"/>
          </a:p>
          <a:p>
            <a:pPr marL="0" indent="0" algn="l">
              <a:buNone/>
            </a:pPr>
            <a:r>
              <a:rPr lang="en-US" sz="1500" dirty="0">
                <a:solidFill>
                  <a:srgbClr val="2B3242"/>
                </a:solidFill>
                <a:latin typeface="Pretendard" pitchFamily="34" charset="0"/>
                <a:ea typeface="Pretendard" pitchFamily="34" charset="-122"/>
                <a:cs typeface="Pretendard" pitchFamily="34" charset="-120"/>
              </a:rPr>
              <a:t>정확 → </a:t>
            </a:r>
            <a:r>
              <a:rPr lang="ko-KR" altLang="en-US" sz="1500" dirty="0">
                <a:solidFill>
                  <a:srgbClr val="2B3242"/>
                </a:solidFill>
                <a:latin typeface="Pretendard" pitchFamily="34" charset="0"/>
                <a:ea typeface="Pretendard" pitchFamily="34" charset="-122"/>
                <a:cs typeface="Pretendard" pitchFamily="34" charset="-120"/>
              </a:rPr>
              <a:t>검색 결과에 추가</a:t>
            </a:r>
            <a:endParaRPr lang="en-US" sz="1500" dirty="0"/>
          </a:p>
          <a:p>
            <a:pPr marL="0" indent="0" algn="l">
              <a:buNone/>
            </a:pPr>
            <a:r>
              <a:rPr lang="en-US" sz="1500" dirty="0">
                <a:solidFill>
                  <a:srgbClr val="2B3242"/>
                </a:solidFill>
                <a:latin typeface="Pretendard" pitchFamily="34" charset="0"/>
                <a:ea typeface="Pretendard" pitchFamily="34" charset="-122"/>
                <a:cs typeface="Pretendard" pitchFamily="34" charset="-120"/>
              </a:rPr>
              <a:t>애매 → transform_query(rewrite) 후 재검색</a:t>
            </a:r>
            <a:endParaRPr lang="en-US" sz="1500" dirty="0"/>
          </a:p>
          <a:p>
            <a:pPr marL="0" indent="0" algn="l">
              <a:buNone/>
            </a:pPr>
            <a:r>
              <a:rPr lang="en-US" sz="1500" dirty="0">
                <a:solidFill>
                  <a:srgbClr val="2B3242"/>
                </a:solidFill>
                <a:latin typeface="Pretendard" pitchFamily="34" charset="0"/>
                <a:ea typeface="Pretendard" pitchFamily="34" charset="-122"/>
                <a:cs typeface="Pretendard" pitchFamily="34" charset="-120"/>
              </a:rPr>
              <a:t>부정확 → web_search(선택) / 근거 부족 표시</a:t>
            </a:r>
            <a:endParaRPr lang="en-US" sz="1500" dirty="0"/>
          </a:p>
        </p:txBody>
      </p:sp>
      <p:sp>
        <p:nvSpPr>
          <p:cNvPr id="43" name="Shape 41"/>
          <p:cNvSpPr/>
          <p:nvPr/>
        </p:nvSpPr>
        <p:spPr>
          <a:xfrm>
            <a:off x="3886200" y="4919472"/>
            <a:ext cx="320040" cy="0"/>
          </a:xfrm>
          <a:prstGeom prst="line">
            <a:avLst/>
          </a:prstGeom>
          <a:noFill/>
          <a:ln w="19050">
            <a:solidFill>
              <a:srgbClr val="4A5364"/>
            </a:solidFill>
            <a:prstDash val="solid"/>
            <a:tailEnd type="triangle"/>
          </a:ln>
        </p:spPr>
        <p:txBody>
          <a:bodyPr/>
          <a:lstStyle/>
          <a:p>
            <a:endParaRPr lang="ko-KR" altLang="en-US"/>
          </a:p>
        </p:txBody>
      </p:sp>
      <p:sp>
        <p:nvSpPr>
          <p:cNvPr id="44" name="Shape 42"/>
          <p:cNvSpPr/>
          <p:nvPr/>
        </p:nvSpPr>
        <p:spPr>
          <a:xfrm>
            <a:off x="4206240" y="5358384"/>
            <a:ext cx="3703320" cy="329184"/>
          </a:xfrm>
          <a:prstGeom prst="roundRect">
            <a:avLst>
              <a:gd name="adj" fmla="val 16667"/>
            </a:avLst>
          </a:prstGeom>
          <a:solidFill>
            <a:srgbClr val="F5F8FC"/>
          </a:solidFill>
          <a:ln w="15875">
            <a:solidFill>
              <a:srgbClr val="D9E0EC"/>
            </a:solidFill>
            <a:prstDash val="solid"/>
          </a:ln>
        </p:spPr>
        <p:txBody>
          <a:bodyPr/>
          <a:lstStyle/>
          <a:p>
            <a:endParaRPr lang="ko-KR" altLang="en-US"/>
          </a:p>
        </p:txBody>
      </p:sp>
      <p:sp>
        <p:nvSpPr>
          <p:cNvPr id="45" name="Text 43"/>
          <p:cNvSpPr/>
          <p:nvPr/>
        </p:nvSpPr>
        <p:spPr>
          <a:xfrm>
            <a:off x="4279392" y="5358384"/>
            <a:ext cx="3557016" cy="32918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아니오 </a:t>
            </a:r>
            <a:r>
              <a:rPr lang="en-US" sz="1500" dirty="0">
                <a:solidFill>
                  <a:srgbClr val="2B3242"/>
                </a:solidFill>
                <a:latin typeface="Pretendard" pitchFamily="34" charset="0"/>
                <a:ea typeface="Pretendard" pitchFamily="34" charset="-122"/>
                <a:cs typeface="Pretendard" pitchFamily="34" charset="-120"/>
              </a:rPr>
              <a:t>→ 다음 질문(Multi-hop)  ·  </a:t>
            </a:r>
            <a:r>
              <a:rPr lang="en-US" sz="1500" b="1" dirty="0">
                <a:solidFill>
                  <a:srgbClr val="1E2A5C"/>
                </a:solidFill>
                <a:latin typeface="Pretendard" pitchFamily="34" charset="0"/>
                <a:ea typeface="Pretendard" pitchFamily="34" charset="-122"/>
                <a:cs typeface="Pretendard" pitchFamily="34" charset="-120"/>
              </a:rPr>
              <a:t>예 </a:t>
            </a:r>
            <a:r>
              <a:rPr lang="en-US" sz="1500" dirty="0">
                <a:solidFill>
                  <a:srgbClr val="2B3242"/>
                </a:solidFill>
                <a:latin typeface="Pretendard" pitchFamily="34" charset="0"/>
                <a:ea typeface="Pretendard" pitchFamily="34" charset="-122"/>
                <a:cs typeface="Pretendard" pitchFamily="34" charset="-120"/>
              </a:rPr>
              <a:t>→ 답변</a:t>
            </a:r>
            <a:endParaRPr lang="en-US" sz="1500" dirty="0"/>
          </a:p>
        </p:txBody>
      </p:sp>
      <p:sp>
        <p:nvSpPr>
          <p:cNvPr id="46" name="Shape 44"/>
          <p:cNvSpPr/>
          <p:nvPr/>
        </p:nvSpPr>
        <p:spPr>
          <a:xfrm>
            <a:off x="4206240" y="6345936"/>
            <a:ext cx="2036826" cy="365760"/>
          </a:xfrm>
          <a:prstGeom prst="roundRect">
            <a:avLst>
              <a:gd name="adj" fmla="val 15000"/>
            </a:avLst>
          </a:prstGeom>
          <a:solidFill>
            <a:srgbClr val="F5F8FC"/>
          </a:solidFill>
          <a:ln w="15875">
            <a:solidFill>
              <a:srgbClr val="1E2A5C"/>
            </a:solidFill>
            <a:prstDash val="solid"/>
          </a:ln>
        </p:spPr>
        <p:txBody>
          <a:bodyPr/>
          <a:lstStyle/>
          <a:p>
            <a:endParaRPr lang="ko-KR" altLang="en-US"/>
          </a:p>
        </p:txBody>
      </p:sp>
      <p:sp>
        <p:nvSpPr>
          <p:cNvPr id="47" name="Text 45"/>
          <p:cNvSpPr/>
          <p:nvPr/>
        </p:nvSpPr>
        <p:spPr>
          <a:xfrm>
            <a:off x="4279392" y="6345936"/>
            <a:ext cx="1890522" cy="365760"/>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최종 답변</a:t>
            </a:r>
            <a:endParaRPr lang="en-US" sz="1500" dirty="0"/>
          </a:p>
        </p:txBody>
      </p:sp>
      <p:sp>
        <p:nvSpPr>
          <p:cNvPr id="48" name="Shape 46"/>
          <p:cNvSpPr/>
          <p:nvPr/>
        </p:nvSpPr>
        <p:spPr>
          <a:xfrm>
            <a:off x="3886200" y="6528816"/>
            <a:ext cx="320040" cy="0"/>
          </a:xfrm>
          <a:prstGeom prst="line">
            <a:avLst/>
          </a:prstGeom>
          <a:noFill/>
          <a:ln w="19050">
            <a:solidFill>
              <a:srgbClr val="4A5364"/>
            </a:solidFill>
            <a:prstDash val="solid"/>
            <a:tailEnd type="triangle"/>
          </a:ln>
        </p:spPr>
        <p:txBody>
          <a:bodyPr/>
          <a:lstStyle/>
          <a:p>
            <a:endParaRPr lang="ko-KR" altLang="en-US"/>
          </a:p>
        </p:txBody>
      </p:sp>
      <p:sp>
        <p:nvSpPr>
          <p:cNvPr id="49" name="Text 47"/>
          <p:cNvSpPr/>
          <p:nvPr/>
        </p:nvSpPr>
        <p:spPr>
          <a:xfrm>
            <a:off x="3904488" y="6126480"/>
            <a:ext cx="548640" cy="219456"/>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통과</a:t>
            </a:r>
            <a:endParaRPr lang="en-US" sz="1400" dirty="0"/>
          </a:p>
        </p:txBody>
      </p:sp>
      <p:sp>
        <p:nvSpPr>
          <p:cNvPr id="50" name="Text 48"/>
          <p:cNvSpPr/>
          <p:nvPr/>
        </p:nvSpPr>
        <p:spPr>
          <a:xfrm>
            <a:off x="685800" y="6784848"/>
            <a:ext cx="7223760" cy="329184"/>
          </a:xfrm>
          <a:prstGeom prst="rect">
            <a:avLst/>
          </a:prstGeom>
          <a:noFill/>
          <a:ln/>
        </p:spPr>
        <p:txBody>
          <a:bodyPr wrap="square" lIns="0" tIns="0" rIns="0" bIns="0" rtlCol="0" anchor="ctr"/>
          <a:lstStyle/>
          <a:p>
            <a:pPr marL="0" indent="0">
              <a:buNone/>
            </a:pPr>
            <a:r>
              <a:rPr lang="en-US" sz="1400" dirty="0">
                <a:solidFill>
                  <a:srgbClr val="4A5364"/>
                </a:solidFill>
                <a:latin typeface="Pretendard" pitchFamily="34" charset="0"/>
                <a:ea typeface="Pretendard" pitchFamily="34" charset="-122"/>
                <a:cs typeface="Pretendard" pitchFamily="34" charset="-120"/>
              </a:rPr>
              <a:t>↺ 실패 시 답변 재작성(최대 2회)  ·  끝내 근거가 부족하면 </a:t>
            </a:r>
            <a:r>
              <a:rPr lang="en-US" sz="1400" b="1" dirty="0">
                <a:solidFill>
                  <a:srgbClr val="1E2A5C"/>
                </a:solidFill>
                <a:latin typeface="Pretendard" pitchFamily="34" charset="0"/>
                <a:ea typeface="Pretendard" pitchFamily="34" charset="-122"/>
                <a:cs typeface="Pretendard" pitchFamily="34" charset="-120"/>
              </a:rPr>
              <a:t>「확인 필요」로 종료</a:t>
            </a:r>
            <a:endParaRPr lang="en-US" sz="1400" dirty="0"/>
          </a:p>
        </p:txBody>
      </p:sp>
      <p:sp>
        <p:nvSpPr>
          <p:cNvPr id="51" name="Shape 49"/>
          <p:cNvSpPr/>
          <p:nvPr/>
        </p:nvSpPr>
        <p:spPr>
          <a:xfrm>
            <a:off x="8366760" y="2057400"/>
            <a:ext cx="5760720" cy="457200"/>
          </a:xfrm>
          <a:prstGeom prst="roundRect">
            <a:avLst>
              <a:gd name="adj" fmla="val 12000"/>
            </a:avLst>
          </a:prstGeom>
          <a:solidFill>
            <a:srgbClr val="2E74C6"/>
          </a:solidFill>
          <a:ln/>
        </p:spPr>
        <p:txBody>
          <a:bodyPr/>
          <a:lstStyle/>
          <a:p>
            <a:endParaRPr lang="ko-KR" altLang="en-US"/>
          </a:p>
        </p:txBody>
      </p:sp>
      <p:sp>
        <p:nvSpPr>
          <p:cNvPr id="52" name="Text 50"/>
          <p:cNvSpPr/>
          <p:nvPr/>
        </p:nvSpPr>
        <p:spPr>
          <a:xfrm>
            <a:off x="8366760" y="2057400"/>
            <a:ext cx="576072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도구와 가드레일</a:t>
            </a:r>
            <a:endParaRPr lang="en-US" sz="2000" dirty="0"/>
          </a:p>
        </p:txBody>
      </p:sp>
      <p:sp>
        <p:nvSpPr>
          <p:cNvPr id="53" name="Shape 51"/>
          <p:cNvSpPr/>
          <p:nvPr/>
        </p:nvSpPr>
        <p:spPr>
          <a:xfrm>
            <a:off x="8366760" y="2633472"/>
            <a:ext cx="5760720" cy="384048"/>
          </a:xfrm>
          <a:prstGeom prst="roundRect">
            <a:avLst>
              <a:gd name="adj" fmla="val 11905"/>
            </a:avLst>
          </a:prstGeom>
          <a:solidFill>
            <a:srgbClr val="404155"/>
          </a:solidFill>
          <a:ln/>
        </p:spPr>
        <p:txBody>
          <a:bodyPr/>
          <a:lstStyle/>
          <a:p>
            <a:endParaRPr lang="ko-KR" altLang="en-US"/>
          </a:p>
        </p:txBody>
      </p:sp>
      <p:sp>
        <p:nvSpPr>
          <p:cNvPr id="54" name="Text 52"/>
          <p:cNvSpPr/>
          <p:nvPr/>
        </p:nvSpPr>
        <p:spPr>
          <a:xfrm>
            <a:off x="8503920" y="2633472"/>
            <a:ext cx="5486400" cy="384048"/>
          </a:xfrm>
          <a:prstGeom prst="rect">
            <a:avLst/>
          </a:prstGeom>
          <a:noFill/>
          <a:ln/>
        </p:spPr>
        <p:txBody>
          <a:bodyPr wrap="square" lIns="0" tIns="0" rIns="0" bIns="0" rtlCol="0" anchor="ctr"/>
          <a:lstStyle/>
          <a:p>
            <a:pPr marL="0" indent="0">
              <a:buNone/>
            </a:pPr>
            <a:r>
              <a:rPr lang="ko-KR" altLang="en-US" sz="1500" b="1" dirty="0">
                <a:solidFill>
                  <a:srgbClr val="FFFFFF"/>
                </a:solidFill>
                <a:latin typeface="Pretendard" pitchFamily="34" charset="0"/>
                <a:ea typeface="Pretendard" pitchFamily="34" charset="-122"/>
                <a:cs typeface="Pretendard" pitchFamily="34" charset="-120"/>
              </a:rPr>
              <a:t>검색 </a:t>
            </a:r>
            <a:r>
              <a:rPr lang="en-US" sz="1500" b="1" dirty="0" err="1">
                <a:solidFill>
                  <a:srgbClr val="FFFFFF"/>
                </a:solidFill>
                <a:latin typeface="Pretendard" pitchFamily="34" charset="0"/>
                <a:ea typeface="Pretendard" pitchFamily="34" charset="-122"/>
                <a:cs typeface="Pretendard" pitchFamily="34" charset="-120"/>
              </a:rPr>
              <a:t>도구</a:t>
            </a:r>
            <a:endParaRPr lang="en-US" sz="1500" dirty="0"/>
          </a:p>
        </p:txBody>
      </p:sp>
      <p:graphicFrame>
        <p:nvGraphicFramePr>
          <p:cNvPr id="55" name="Table 0"/>
          <p:cNvGraphicFramePr>
            <a:graphicFrameLocks noGrp="1"/>
          </p:cNvGraphicFramePr>
          <p:nvPr>
            <p:extLst>
              <p:ext uri="{D42A27DB-BD31-4B8C-83A1-F6EECF244321}">
                <p14:modId xmlns:p14="http://schemas.microsoft.com/office/powerpoint/2010/main" val="644658974"/>
              </p:ext>
            </p:extLst>
          </p:nvPr>
        </p:nvGraphicFramePr>
        <p:xfrm>
          <a:off x="8366760" y="3090672"/>
          <a:ext cx="5760719" cy="2414016"/>
        </p:xfrm>
        <a:graphic>
          <a:graphicData uri="http://schemas.openxmlformats.org/drawingml/2006/table">
            <a:tbl>
              <a:tblPr/>
              <a:tblGrid>
                <a:gridCol w="1816443">
                  <a:extLst>
                    <a:ext uri="{9D8B030D-6E8A-4147-A177-3AD203B41FA5}">
                      <a16:colId xmlns:a16="http://schemas.microsoft.com/office/drawing/2014/main" val="20000"/>
                    </a:ext>
                  </a:extLst>
                </a:gridCol>
                <a:gridCol w="2387325">
                  <a:extLst>
                    <a:ext uri="{9D8B030D-6E8A-4147-A177-3AD203B41FA5}">
                      <a16:colId xmlns:a16="http://schemas.microsoft.com/office/drawing/2014/main" val="20001"/>
                    </a:ext>
                  </a:extLst>
                </a:gridCol>
                <a:gridCol w="1556951">
                  <a:extLst>
                    <a:ext uri="{9D8B030D-6E8A-4147-A177-3AD203B41FA5}">
                      <a16:colId xmlns:a16="http://schemas.microsoft.com/office/drawing/2014/main" val="20002"/>
                    </a:ext>
                  </a:extLst>
                </a:gridCol>
              </a:tblGrid>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도구</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하는 일</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담당 패턴</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search_docs</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Vector·Hybrid·Rerank</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검색 부품</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transform_query</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재작성·분해 등 5종</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CRAG·Adaptive</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grade_results</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정확·애매·부정확 채점</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CRAG</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verify_evidence</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인용문 원문 대조</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Self-RAG</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web_search</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문서 밖 정보 보충</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CRAG</a:t>
                      </a:r>
                      <a:endParaRPr lang="en-US" sz="1400" dirty="0">
                        <a:latin typeface="Pretendard" charset="0"/>
                        <a:ea typeface="Pretendard" charset="0"/>
                        <a:cs typeface="Pretendard" charset="0"/>
                      </a:endParaRPr>
                    </a:p>
                  </a:txBody>
                  <a:tcPr marL="64008" marR="64008"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6" name="Shape 53"/>
          <p:cNvSpPr/>
          <p:nvPr/>
        </p:nvSpPr>
        <p:spPr>
          <a:xfrm>
            <a:off x="8366760" y="5559552"/>
            <a:ext cx="5760720" cy="384048"/>
          </a:xfrm>
          <a:prstGeom prst="roundRect">
            <a:avLst>
              <a:gd name="adj" fmla="val 11905"/>
            </a:avLst>
          </a:prstGeom>
          <a:solidFill>
            <a:srgbClr val="404155"/>
          </a:solidFill>
          <a:ln/>
        </p:spPr>
        <p:txBody>
          <a:bodyPr/>
          <a:lstStyle/>
          <a:p>
            <a:endParaRPr lang="ko-KR" altLang="en-US"/>
          </a:p>
        </p:txBody>
      </p:sp>
      <p:sp>
        <p:nvSpPr>
          <p:cNvPr id="57" name="Text 54"/>
          <p:cNvSpPr/>
          <p:nvPr/>
        </p:nvSpPr>
        <p:spPr>
          <a:xfrm>
            <a:off x="8503920" y="5559552"/>
            <a:ext cx="5486400" cy="384048"/>
          </a:xfrm>
          <a:prstGeom prst="rect">
            <a:avLst/>
          </a:prstGeom>
          <a:noFill/>
          <a:ln/>
        </p:spPr>
        <p:txBody>
          <a:bodyPr wrap="square" lIns="0" tIns="0" rIns="0" bIns="0" rtlCol="0" anchor="ctr"/>
          <a:lstStyle/>
          <a:p>
            <a:pPr marL="0" indent="0">
              <a:buNone/>
            </a:pPr>
            <a:r>
              <a:rPr lang="en-US" sz="1500" b="1" dirty="0">
                <a:solidFill>
                  <a:srgbClr val="FFFFFF"/>
                </a:solidFill>
                <a:latin typeface="Pretendard" pitchFamily="34" charset="0"/>
                <a:ea typeface="Pretendard" pitchFamily="34" charset="-122"/>
                <a:cs typeface="Pretendard" pitchFamily="34" charset="-120"/>
              </a:rPr>
              <a:t>적용 시 반드시 붙일 가드레일</a:t>
            </a:r>
            <a:endParaRPr lang="en-US" sz="1500" dirty="0"/>
          </a:p>
        </p:txBody>
      </p:sp>
      <p:sp>
        <p:nvSpPr>
          <p:cNvPr id="58" name="Shape 55"/>
          <p:cNvSpPr/>
          <p:nvPr/>
        </p:nvSpPr>
        <p:spPr>
          <a:xfrm>
            <a:off x="8385048" y="6016752"/>
            <a:ext cx="246888" cy="246888"/>
          </a:xfrm>
          <a:prstGeom prst="roundRect">
            <a:avLst>
              <a:gd name="adj" fmla="val 18519"/>
            </a:avLst>
          </a:prstGeom>
          <a:solidFill>
            <a:srgbClr val="1E2A5C"/>
          </a:solidFill>
          <a:ln/>
        </p:spPr>
        <p:txBody>
          <a:bodyPr/>
          <a:lstStyle/>
          <a:p>
            <a:endParaRPr lang="ko-KR" altLang="en-US"/>
          </a:p>
        </p:txBody>
      </p:sp>
      <p:sp>
        <p:nvSpPr>
          <p:cNvPr id="59" name="Text 56"/>
          <p:cNvSpPr/>
          <p:nvPr/>
        </p:nvSpPr>
        <p:spPr>
          <a:xfrm>
            <a:off x="8385048" y="6016752"/>
            <a:ext cx="246888"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60" name="Text 57"/>
          <p:cNvSpPr/>
          <p:nvPr/>
        </p:nvSpPr>
        <p:spPr>
          <a:xfrm>
            <a:off x="8714232" y="5998464"/>
            <a:ext cx="5413248" cy="283464"/>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LLM 호출 </a:t>
            </a:r>
            <a:r>
              <a:rPr lang="en-US" sz="1400" b="1" dirty="0" err="1">
                <a:solidFill>
                  <a:srgbClr val="1E2A5C"/>
                </a:solidFill>
                <a:latin typeface="Pretendard" pitchFamily="34" charset="0"/>
                <a:ea typeface="Pretendard" pitchFamily="34" charset="-122"/>
                <a:cs typeface="Pretendard" pitchFamily="34" charset="-120"/>
              </a:rPr>
              <a:t>상한</a:t>
            </a:r>
            <a:r>
              <a:rPr lang="en-US" sz="1400" b="1" dirty="0">
                <a:solidFill>
                  <a:srgbClr val="1E2A5C"/>
                </a:solidFill>
                <a:latin typeface="Pretendard" pitchFamily="34" charset="0"/>
                <a:ea typeface="Pretendard" pitchFamily="34" charset="-122"/>
                <a:cs typeface="Pretendard" pitchFamily="34" charset="-120"/>
              </a:rPr>
              <a:t> </a:t>
            </a:r>
            <a:r>
              <a:rPr lang="en-US" sz="1400" b="1" dirty="0" err="1">
                <a:solidFill>
                  <a:srgbClr val="1E2A5C"/>
                </a:solidFill>
                <a:latin typeface="Pretendard" pitchFamily="34" charset="0"/>
                <a:ea typeface="Pretendard" pitchFamily="34" charset="-122"/>
                <a:cs typeface="Pretendard" pitchFamily="34" charset="-120"/>
              </a:rPr>
              <a:t>설정</a:t>
            </a:r>
            <a:r>
              <a:rPr lang="en-US" sz="1400" dirty="0">
                <a:solidFill>
                  <a:srgbClr val="4A5364"/>
                </a:solidFill>
                <a:latin typeface="Pretendard" pitchFamily="34" charset="0"/>
                <a:ea typeface="Pretendard" pitchFamily="34" charset="-122"/>
                <a:cs typeface="Pretendard" pitchFamily="34" charset="-120"/>
              </a:rPr>
              <a:t>  </a:t>
            </a:r>
            <a:r>
              <a:rPr lang="en-US" sz="1400" dirty="0" err="1">
                <a:solidFill>
                  <a:srgbClr val="4A5364"/>
                </a:solidFill>
                <a:latin typeface="Pretendard" pitchFamily="34" charset="0"/>
                <a:ea typeface="Pretendard" pitchFamily="34" charset="-122"/>
                <a:cs typeface="Pretendard" pitchFamily="34" charset="-120"/>
              </a:rPr>
              <a:t>요청당</a:t>
            </a:r>
            <a:r>
              <a:rPr lang="en-US" sz="1400" dirty="0">
                <a:solidFill>
                  <a:srgbClr val="4A5364"/>
                </a:solidFill>
                <a:latin typeface="Pretendard" pitchFamily="34" charset="0"/>
                <a:ea typeface="Pretendard" pitchFamily="34" charset="-122"/>
                <a:cs typeface="Pretendard" pitchFamily="34" charset="-120"/>
              </a:rPr>
              <a:t> </a:t>
            </a:r>
            <a:r>
              <a:rPr lang="ko-KR" altLang="en-US" sz="1400" dirty="0">
                <a:solidFill>
                  <a:srgbClr val="4A5364"/>
                </a:solidFill>
                <a:latin typeface="Pretendard" pitchFamily="34" charset="0"/>
                <a:ea typeface="Pretendard" pitchFamily="34" charset="-122"/>
                <a:cs typeface="Pretendard" pitchFamily="34" charset="-120"/>
              </a:rPr>
              <a:t>최대 </a:t>
            </a:r>
            <a:r>
              <a:rPr lang="en-US" altLang="ko-KR" sz="1400" dirty="0">
                <a:solidFill>
                  <a:srgbClr val="4A5364"/>
                </a:solidFill>
                <a:latin typeface="Pretendard" pitchFamily="34" charset="0"/>
                <a:ea typeface="Pretendard" pitchFamily="34" charset="-122"/>
                <a:cs typeface="Pretendard" pitchFamily="34" charset="-120"/>
              </a:rPr>
              <a:t>LLM </a:t>
            </a:r>
            <a:r>
              <a:rPr lang="ko-KR" altLang="en-US" sz="1400" dirty="0">
                <a:solidFill>
                  <a:srgbClr val="4A5364"/>
                </a:solidFill>
                <a:latin typeface="Pretendard" pitchFamily="34" charset="0"/>
                <a:ea typeface="Pretendard" pitchFamily="34" charset="-122"/>
                <a:cs typeface="Pretendard" pitchFamily="34" charset="-120"/>
              </a:rPr>
              <a:t>호출 횟수 상한</a:t>
            </a:r>
            <a:endParaRPr lang="en-US" sz="1400" dirty="0"/>
          </a:p>
        </p:txBody>
      </p:sp>
      <p:sp>
        <p:nvSpPr>
          <p:cNvPr id="61" name="Shape 58"/>
          <p:cNvSpPr/>
          <p:nvPr/>
        </p:nvSpPr>
        <p:spPr>
          <a:xfrm>
            <a:off x="8385048" y="6318504"/>
            <a:ext cx="246888" cy="246888"/>
          </a:xfrm>
          <a:prstGeom prst="roundRect">
            <a:avLst>
              <a:gd name="adj" fmla="val 18519"/>
            </a:avLst>
          </a:prstGeom>
          <a:solidFill>
            <a:srgbClr val="2E74C6"/>
          </a:solidFill>
          <a:ln/>
        </p:spPr>
        <p:txBody>
          <a:bodyPr/>
          <a:lstStyle/>
          <a:p>
            <a:endParaRPr lang="ko-KR" altLang="en-US"/>
          </a:p>
        </p:txBody>
      </p:sp>
      <p:sp>
        <p:nvSpPr>
          <p:cNvPr id="62" name="Text 59"/>
          <p:cNvSpPr/>
          <p:nvPr/>
        </p:nvSpPr>
        <p:spPr>
          <a:xfrm>
            <a:off x="8385048" y="6318504"/>
            <a:ext cx="246888"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63" name="Text 60"/>
          <p:cNvSpPr/>
          <p:nvPr/>
        </p:nvSpPr>
        <p:spPr>
          <a:xfrm>
            <a:off x="8714232" y="6300216"/>
            <a:ext cx="5413248" cy="283464"/>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권한은 도구 안에서 </a:t>
            </a:r>
            <a:r>
              <a:rPr lang="en-US" sz="1400" b="1" dirty="0" err="1">
                <a:solidFill>
                  <a:srgbClr val="1E2A5C"/>
                </a:solidFill>
                <a:latin typeface="Pretendard" pitchFamily="34" charset="0"/>
                <a:ea typeface="Pretendard" pitchFamily="34" charset="-122"/>
                <a:cs typeface="Pretendard" pitchFamily="34" charset="-120"/>
              </a:rPr>
              <a:t>강제</a:t>
            </a:r>
            <a:r>
              <a:rPr lang="en-US" sz="1400" dirty="0">
                <a:solidFill>
                  <a:srgbClr val="4A5364"/>
                </a:solidFill>
                <a:latin typeface="Pretendard" pitchFamily="34" charset="0"/>
                <a:ea typeface="Pretendard" pitchFamily="34" charset="-122"/>
                <a:cs typeface="Pretendard" pitchFamily="34" charset="-120"/>
              </a:rPr>
              <a:t>  LLM</a:t>
            </a:r>
            <a:r>
              <a:rPr lang="ko-KR" altLang="en-US" sz="1400" dirty="0">
                <a:solidFill>
                  <a:srgbClr val="4A5364"/>
                </a:solidFill>
                <a:latin typeface="Pretendard" pitchFamily="34" charset="0"/>
                <a:ea typeface="Pretendard" pitchFamily="34" charset="-122"/>
                <a:cs typeface="Pretendard" pitchFamily="34" charset="-120"/>
              </a:rPr>
              <a:t>이 판단하지 않고 서버</a:t>
            </a:r>
            <a:r>
              <a:rPr lang="en-US" altLang="ko-KR" sz="1400" dirty="0">
                <a:solidFill>
                  <a:srgbClr val="4A5364"/>
                </a:solidFill>
                <a:latin typeface="Pretendard" pitchFamily="34" charset="0"/>
                <a:ea typeface="Pretendard" pitchFamily="34" charset="-122"/>
                <a:cs typeface="Pretendard" pitchFamily="34" charset="-120"/>
              </a:rPr>
              <a:t>(</a:t>
            </a:r>
            <a:r>
              <a:rPr lang="ko-KR" altLang="en-US" sz="1400" dirty="0" err="1">
                <a:solidFill>
                  <a:srgbClr val="4A5364"/>
                </a:solidFill>
                <a:latin typeface="Pretendard" pitchFamily="34" charset="0"/>
                <a:ea typeface="Pretendard" pitchFamily="34" charset="-122"/>
                <a:cs typeface="Pretendard" pitchFamily="34" charset="-120"/>
              </a:rPr>
              <a:t>인증값</a:t>
            </a:r>
            <a:r>
              <a:rPr lang="en-US" altLang="ko-KR" sz="1400" dirty="0">
                <a:solidFill>
                  <a:srgbClr val="4A5364"/>
                </a:solidFill>
                <a:latin typeface="Pretendard" pitchFamily="34" charset="0"/>
                <a:ea typeface="Pretendard" pitchFamily="34" charset="-122"/>
                <a:cs typeface="Pretendard" pitchFamily="34" charset="-120"/>
              </a:rPr>
              <a:t>)</a:t>
            </a:r>
            <a:r>
              <a:rPr lang="ko-KR" altLang="en-US" sz="1400" dirty="0">
                <a:solidFill>
                  <a:srgbClr val="4A5364"/>
                </a:solidFill>
                <a:latin typeface="Pretendard" pitchFamily="34" charset="0"/>
                <a:ea typeface="Pretendard" pitchFamily="34" charset="-122"/>
                <a:cs typeface="Pretendard" pitchFamily="34" charset="-120"/>
              </a:rPr>
              <a:t>가</a:t>
            </a:r>
            <a:r>
              <a:rPr lang="en-US" sz="1400" dirty="0">
                <a:solidFill>
                  <a:srgbClr val="4A5364"/>
                </a:solidFill>
                <a:latin typeface="Pretendard" pitchFamily="34" charset="0"/>
                <a:ea typeface="Pretendard" pitchFamily="34" charset="-122"/>
                <a:cs typeface="Pretendard" pitchFamily="34" charset="-120"/>
              </a:rPr>
              <a:t> </a:t>
            </a:r>
            <a:r>
              <a:rPr lang="ko-KR" altLang="en-US" sz="1400" dirty="0">
                <a:solidFill>
                  <a:srgbClr val="4A5364"/>
                </a:solidFill>
                <a:latin typeface="Pretendard" pitchFamily="34" charset="0"/>
                <a:ea typeface="Pretendard" pitchFamily="34" charset="-122"/>
                <a:cs typeface="Pretendard" pitchFamily="34" charset="-120"/>
              </a:rPr>
              <a:t>권한 </a:t>
            </a:r>
            <a:r>
              <a:rPr lang="en-US" sz="1400" dirty="0" err="1">
                <a:solidFill>
                  <a:srgbClr val="4A5364"/>
                </a:solidFill>
                <a:latin typeface="Pretendard" pitchFamily="34" charset="0"/>
                <a:ea typeface="Pretendard" pitchFamily="34" charset="-122"/>
                <a:cs typeface="Pretendard" pitchFamily="34" charset="-120"/>
              </a:rPr>
              <a:t>주입</a:t>
            </a:r>
            <a:endParaRPr lang="en-US" sz="1400" dirty="0"/>
          </a:p>
        </p:txBody>
      </p:sp>
      <p:sp>
        <p:nvSpPr>
          <p:cNvPr id="64" name="Shape 61"/>
          <p:cNvSpPr/>
          <p:nvPr/>
        </p:nvSpPr>
        <p:spPr>
          <a:xfrm>
            <a:off x="8385048" y="6620256"/>
            <a:ext cx="246888" cy="246888"/>
          </a:xfrm>
          <a:prstGeom prst="roundRect">
            <a:avLst>
              <a:gd name="adj" fmla="val 18519"/>
            </a:avLst>
          </a:prstGeom>
          <a:solidFill>
            <a:srgbClr val="2E74C6"/>
          </a:solidFill>
          <a:ln/>
        </p:spPr>
        <p:txBody>
          <a:bodyPr/>
          <a:lstStyle/>
          <a:p>
            <a:endParaRPr lang="ko-KR" altLang="en-US"/>
          </a:p>
        </p:txBody>
      </p:sp>
      <p:sp>
        <p:nvSpPr>
          <p:cNvPr id="65" name="Text 62"/>
          <p:cNvSpPr/>
          <p:nvPr/>
        </p:nvSpPr>
        <p:spPr>
          <a:xfrm>
            <a:off x="8385048" y="6620256"/>
            <a:ext cx="246888"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66" name="Text 63"/>
          <p:cNvSpPr/>
          <p:nvPr/>
        </p:nvSpPr>
        <p:spPr>
          <a:xfrm>
            <a:off x="8714232" y="6601968"/>
            <a:ext cx="5413248" cy="283464"/>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결정적 관문 </a:t>
            </a:r>
            <a:r>
              <a:rPr lang="en-US" sz="1400" b="1" dirty="0" err="1">
                <a:solidFill>
                  <a:srgbClr val="1E2A5C"/>
                </a:solidFill>
                <a:latin typeface="Pretendard" pitchFamily="34" charset="0"/>
                <a:ea typeface="Pretendard" pitchFamily="34" charset="-122"/>
                <a:cs typeface="Pretendard" pitchFamily="34" charset="-120"/>
              </a:rPr>
              <a:t>유지</a:t>
            </a:r>
            <a:r>
              <a:rPr lang="en-US" sz="1400" dirty="0">
                <a:solidFill>
                  <a:srgbClr val="4A5364"/>
                </a:solidFill>
                <a:latin typeface="Pretendard" pitchFamily="34" charset="0"/>
                <a:ea typeface="Pretendard" pitchFamily="34" charset="-122"/>
                <a:cs typeface="Pretendard" pitchFamily="34" charset="-120"/>
              </a:rPr>
              <a:t>  </a:t>
            </a:r>
            <a:r>
              <a:rPr lang="ko-KR" altLang="en-US" sz="1400" dirty="0">
                <a:solidFill>
                  <a:srgbClr val="4A5364"/>
                </a:solidFill>
                <a:latin typeface="Pretendard" pitchFamily="34" charset="0"/>
                <a:ea typeface="Pretendard" pitchFamily="34" charset="-122"/>
                <a:cs typeface="Pretendard" pitchFamily="34" charset="-120"/>
              </a:rPr>
              <a:t>검색 결과 채점</a:t>
            </a:r>
            <a:r>
              <a:rPr lang="en-US" sz="1400" dirty="0">
                <a:solidFill>
                  <a:srgbClr val="4A5364"/>
                </a:solidFill>
                <a:latin typeface="Pretendard" pitchFamily="34" charset="0"/>
                <a:ea typeface="Pretendard" pitchFamily="34" charset="-122"/>
                <a:cs typeface="Pretendard" pitchFamily="34" charset="-120"/>
              </a:rPr>
              <a:t>·</a:t>
            </a:r>
            <a:r>
              <a:rPr lang="ko-KR" altLang="en-US" sz="1400" dirty="0">
                <a:solidFill>
                  <a:srgbClr val="4A5364"/>
                </a:solidFill>
                <a:latin typeface="Pretendard" pitchFamily="34" charset="0"/>
                <a:ea typeface="Pretendard" pitchFamily="34" charset="-122"/>
                <a:cs typeface="Pretendard" pitchFamily="34" charset="-120"/>
              </a:rPr>
              <a:t>근거 검증은</a:t>
            </a:r>
            <a:r>
              <a:rPr lang="en-US" sz="1400" dirty="0">
                <a:solidFill>
                  <a:srgbClr val="4A5364"/>
                </a:solidFill>
                <a:latin typeface="Pretendard" pitchFamily="34" charset="0"/>
                <a:ea typeface="Pretendard" pitchFamily="34" charset="-122"/>
                <a:cs typeface="Pretendard" pitchFamily="34" charset="-120"/>
              </a:rPr>
              <a:t> 규칙으로</a:t>
            </a:r>
            <a:endParaRPr lang="en-US" sz="1400" dirty="0"/>
          </a:p>
        </p:txBody>
      </p:sp>
      <p:sp>
        <p:nvSpPr>
          <p:cNvPr id="67" name="Shape 64"/>
          <p:cNvSpPr/>
          <p:nvPr/>
        </p:nvSpPr>
        <p:spPr>
          <a:xfrm>
            <a:off x="8385048" y="6922008"/>
            <a:ext cx="246888" cy="246888"/>
          </a:xfrm>
          <a:prstGeom prst="roundRect">
            <a:avLst>
              <a:gd name="adj" fmla="val 18519"/>
            </a:avLst>
          </a:prstGeom>
          <a:solidFill>
            <a:srgbClr val="2E74C6"/>
          </a:solidFill>
          <a:ln/>
        </p:spPr>
        <p:txBody>
          <a:bodyPr/>
          <a:lstStyle/>
          <a:p>
            <a:endParaRPr lang="ko-KR" altLang="en-US"/>
          </a:p>
        </p:txBody>
      </p:sp>
      <p:sp>
        <p:nvSpPr>
          <p:cNvPr id="68" name="Text 65"/>
          <p:cNvSpPr/>
          <p:nvPr/>
        </p:nvSpPr>
        <p:spPr>
          <a:xfrm>
            <a:off x="8385048" y="6922008"/>
            <a:ext cx="246888"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69" name="Text 66"/>
          <p:cNvSpPr/>
          <p:nvPr/>
        </p:nvSpPr>
        <p:spPr>
          <a:xfrm>
            <a:off x="8714232" y="6903720"/>
            <a:ext cx="5413248" cy="283464"/>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근거 부족 시 「확인 필요」 종료</a:t>
            </a:r>
            <a:r>
              <a:rPr lang="en-US" sz="1400" dirty="0">
                <a:solidFill>
                  <a:srgbClr val="4A5364"/>
                </a:solidFill>
                <a:latin typeface="Pretendard" pitchFamily="34" charset="0"/>
                <a:ea typeface="Pretendard" pitchFamily="34" charset="-122"/>
                <a:cs typeface="Pretendard" pitchFamily="34" charset="-120"/>
              </a:rPr>
              <a:t>  답을 지어내지 않음</a:t>
            </a:r>
            <a:endParaRPr lang="en-US" sz="1400" dirty="0"/>
          </a:p>
        </p:txBody>
      </p:sp>
      <p:sp>
        <p:nvSpPr>
          <p:cNvPr id="71"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marL="0" indent="0">
              <a:buNone/>
            </a:pPr>
            <a:r>
              <a:rPr lang="en-US" sz="1500" b="1" dirty="0">
                <a:solidFill>
                  <a:srgbClr val="7C8598"/>
                </a:solidFill>
                <a:latin typeface="Pretendard" pitchFamily="34" charset="0"/>
                <a:ea typeface="Pretendard" pitchFamily="34" charset="-122"/>
                <a:cs typeface="Pretendard" pitchFamily="34" charset="-120"/>
              </a:rPr>
              <a:t>Ⅲ. 문서 검색 아키텍처 › 6. 규칙 기반 채점</a:t>
            </a:r>
            <a:endParaRPr lang="en-US" sz="1500" dirty="0"/>
          </a:p>
        </p:txBody>
      </p:sp>
      <p:sp>
        <p:nvSpPr>
          <p:cNvPr id="3" name="Text 1"/>
          <p:cNvSpPr/>
          <p:nvPr/>
        </p:nvSpPr>
        <p:spPr>
          <a:xfrm>
            <a:off x="502920" y="640080"/>
            <a:ext cx="12801600" cy="685800"/>
          </a:xfrm>
          <a:prstGeom prst="rect">
            <a:avLst/>
          </a:prstGeom>
          <a:noFill/>
          <a:ln/>
        </p:spPr>
        <p:txBody>
          <a:bodyPr wrap="square" rtlCol="0" anchor="ctr"/>
          <a:lstStyle/>
          <a:p>
            <a:pPr marL="0" indent="0">
              <a:buNone/>
            </a:pPr>
            <a:r>
              <a:rPr lang="en-US" sz="4800" b="1" dirty="0">
                <a:solidFill>
                  <a:srgbClr val="1E2A5C"/>
                </a:solidFill>
                <a:latin typeface="Pretendard" pitchFamily="34" charset="0"/>
                <a:ea typeface="Pretendard" pitchFamily="34" charset="-122"/>
                <a:cs typeface="Pretendard" pitchFamily="34" charset="-120"/>
              </a:rPr>
              <a:t>검색 결과 규칙 기반 채점</a:t>
            </a:r>
            <a:endParaRPr lang="en-US" sz="4800" dirty="0"/>
          </a:p>
        </p:txBody>
      </p:sp>
      <p:sp>
        <p:nvSpPr>
          <p:cNvPr id="4" name="Shape 2"/>
          <p:cNvSpPr/>
          <p:nvPr/>
        </p:nvSpPr>
        <p:spPr>
          <a:xfrm>
            <a:off x="502920" y="1389888"/>
            <a:ext cx="13624560" cy="36576"/>
          </a:xfrm>
          <a:prstGeom prst="rect">
            <a:avLst/>
          </a:prstGeom>
          <a:solidFill>
            <a:srgbClr val="D9E0EC"/>
          </a:solidFill>
          <a:ln/>
        </p:spPr>
        <p:txBody>
          <a:bodyPr/>
          <a:lstStyle/>
          <a:p>
            <a:endParaRPr lang="ko-KR" altLang="en-US"/>
          </a:p>
        </p:txBody>
      </p:sp>
      <p:sp>
        <p:nvSpPr>
          <p:cNvPr id="5" name="Shape 3"/>
          <p:cNvSpPr/>
          <p:nvPr/>
        </p:nvSpPr>
        <p:spPr>
          <a:xfrm>
            <a:off x="502920" y="1389888"/>
            <a:ext cx="1920240" cy="36576"/>
          </a:xfrm>
          <a:prstGeom prst="rect">
            <a:avLst/>
          </a:prstGeom>
          <a:solidFill>
            <a:srgbClr val="2E74C6"/>
          </a:solidFill>
          <a:ln/>
        </p:spPr>
        <p:txBody>
          <a:bodyPr/>
          <a:lstStyle/>
          <a:p>
            <a:endParaRPr lang="ko-KR" altLang="en-US"/>
          </a:p>
        </p:txBody>
      </p:sp>
      <p:sp>
        <p:nvSpPr>
          <p:cNvPr id="6" name="Text 4"/>
          <p:cNvSpPr/>
          <p:nvPr/>
        </p:nvSpPr>
        <p:spPr>
          <a:xfrm>
            <a:off x="502920" y="1499616"/>
            <a:ext cx="13624560" cy="438912"/>
          </a:xfrm>
          <a:prstGeom prst="rect">
            <a:avLst/>
          </a:prstGeom>
          <a:noFill/>
          <a:ln/>
        </p:spPr>
        <p:txBody>
          <a:bodyPr wrap="square" rtlCol="0" anchor="ctr"/>
          <a:lstStyle/>
          <a:p>
            <a:pPr marL="0" indent="0">
              <a:buNone/>
            </a:pPr>
            <a:r>
              <a:rPr lang="en-US" sz="1800" dirty="0">
                <a:solidFill>
                  <a:srgbClr val="4A5364"/>
                </a:solidFill>
                <a:latin typeface="Pretendard" pitchFamily="34" charset="0"/>
                <a:ea typeface="Pretendard" pitchFamily="34" charset="-122"/>
                <a:cs typeface="Pretendard" pitchFamily="34" charset="-120"/>
              </a:rPr>
              <a:t>신호 계산 → 판정 규칙 → 행동 3단계로 LLM 없이 채점함 — 규칙으로 가르지 못한 「애매」만 재검색·LLM으로 넘김</a:t>
            </a:r>
            <a:endParaRPr lang="en-US" sz="1800" dirty="0"/>
          </a:p>
        </p:txBody>
      </p:sp>
      <p:sp>
        <p:nvSpPr>
          <p:cNvPr id="7" name="Shape 5"/>
          <p:cNvSpPr/>
          <p:nvPr/>
        </p:nvSpPr>
        <p:spPr>
          <a:xfrm>
            <a:off x="502920" y="2057400"/>
            <a:ext cx="4572000" cy="457200"/>
          </a:xfrm>
          <a:prstGeom prst="roundRect">
            <a:avLst>
              <a:gd name="adj" fmla="val 12000"/>
            </a:avLst>
          </a:prstGeom>
          <a:solidFill>
            <a:srgbClr val="1E2A5C"/>
          </a:solidFill>
          <a:ln/>
        </p:spPr>
        <p:txBody>
          <a:bodyPr/>
          <a:lstStyle/>
          <a:p>
            <a:endParaRPr lang="ko-KR" altLang="en-US"/>
          </a:p>
        </p:txBody>
      </p:sp>
      <p:sp>
        <p:nvSpPr>
          <p:cNvPr id="8" name="Text 6"/>
          <p:cNvSpPr/>
          <p:nvPr/>
        </p:nvSpPr>
        <p:spPr>
          <a:xfrm>
            <a:off x="502920" y="2057400"/>
            <a:ext cx="457200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① 신호 계산</a:t>
            </a:r>
            <a:endParaRPr lang="en-US" sz="2000" dirty="0"/>
          </a:p>
        </p:txBody>
      </p:sp>
      <p:sp>
        <p:nvSpPr>
          <p:cNvPr id="9" name="Shape 7"/>
          <p:cNvSpPr/>
          <p:nvPr/>
        </p:nvSpPr>
        <p:spPr>
          <a:xfrm>
            <a:off x="5394960" y="2057400"/>
            <a:ext cx="4663440" cy="457200"/>
          </a:xfrm>
          <a:prstGeom prst="roundRect">
            <a:avLst>
              <a:gd name="adj" fmla="val 12000"/>
            </a:avLst>
          </a:prstGeom>
          <a:solidFill>
            <a:srgbClr val="1E2A5C"/>
          </a:solidFill>
          <a:ln/>
        </p:spPr>
        <p:txBody>
          <a:bodyPr/>
          <a:lstStyle/>
          <a:p>
            <a:endParaRPr lang="ko-KR" altLang="en-US"/>
          </a:p>
        </p:txBody>
      </p:sp>
      <p:sp>
        <p:nvSpPr>
          <p:cNvPr id="10" name="Text 8"/>
          <p:cNvSpPr/>
          <p:nvPr/>
        </p:nvSpPr>
        <p:spPr>
          <a:xfrm>
            <a:off x="5394960" y="2057400"/>
            <a:ext cx="466344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② 판정 규칙</a:t>
            </a:r>
            <a:endParaRPr lang="en-US" sz="2000" dirty="0"/>
          </a:p>
        </p:txBody>
      </p:sp>
      <p:sp>
        <p:nvSpPr>
          <p:cNvPr id="11" name="Shape 9"/>
          <p:cNvSpPr/>
          <p:nvPr/>
        </p:nvSpPr>
        <p:spPr>
          <a:xfrm>
            <a:off x="10378440" y="2057400"/>
            <a:ext cx="3749040" cy="457200"/>
          </a:xfrm>
          <a:prstGeom prst="roundRect">
            <a:avLst>
              <a:gd name="adj" fmla="val 12000"/>
            </a:avLst>
          </a:prstGeom>
          <a:solidFill>
            <a:srgbClr val="2E74C6"/>
          </a:solidFill>
          <a:ln/>
        </p:spPr>
        <p:txBody>
          <a:bodyPr/>
          <a:lstStyle/>
          <a:p>
            <a:endParaRPr lang="ko-KR" altLang="en-US"/>
          </a:p>
        </p:txBody>
      </p:sp>
      <p:sp>
        <p:nvSpPr>
          <p:cNvPr id="12" name="Text 10"/>
          <p:cNvSpPr/>
          <p:nvPr/>
        </p:nvSpPr>
        <p:spPr>
          <a:xfrm>
            <a:off x="10378440" y="2057400"/>
            <a:ext cx="374904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③ 행동</a:t>
            </a:r>
            <a:endParaRPr lang="en-US" sz="2000" dirty="0"/>
          </a:p>
        </p:txBody>
      </p:sp>
      <p:graphicFrame>
        <p:nvGraphicFramePr>
          <p:cNvPr id="13" name="Table 0"/>
          <p:cNvGraphicFramePr>
            <a:graphicFrameLocks noGrp="1"/>
          </p:cNvGraphicFramePr>
          <p:nvPr/>
        </p:nvGraphicFramePr>
        <p:xfrm>
          <a:off x="502920" y="2606040"/>
          <a:ext cx="4572000" cy="2816352"/>
        </p:xfrm>
        <a:graphic>
          <a:graphicData uri="http://schemas.openxmlformats.org/drawingml/2006/table">
            <a:tbl>
              <a:tblPr/>
              <a:tblGrid>
                <a:gridCol w="14630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신호</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보는 것</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관련도 점수</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1위 문서가 질문과 가까운가</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Rerank 점수</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질문·문서를 함께 읽은 정밀 관련도</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점수 격차</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1위가 2위보다 확실히 앞서나</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핵심어 일치</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상품명·코드·숫자가 결과에 있나</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검색기 합의</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Vector·BM25가 같은 문서를 올렸나</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하위 질문 충족</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쪼갠 질문마다 근거가 있나</a:t>
                      </a:r>
                      <a:endParaRPr lang="en-US" sz="1400" dirty="0">
                        <a:latin typeface="Pretendard" charset="0"/>
                        <a:ea typeface="Pretendard" charset="0"/>
                        <a:cs typeface="Pretendard" charset="0"/>
                      </a:endParaRPr>
                    </a:p>
                  </a:txBody>
                  <a:tcPr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6"/>
                  </a:ext>
                </a:extLst>
              </a:tr>
            </a:tbl>
          </a:graphicData>
        </a:graphic>
      </p:graphicFrame>
      <p:sp>
        <p:nvSpPr>
          <p:cNvPr id="14" name="Shape 11"/>
          <p:cNvSpPr/>
          <p:nvPr/>
        </p:nvSpPr>
        <p:spPr>
          <a:xfrm>
            <a:off x="5111496" y="4005072"/>
            <a:ext cx="246888" cy="0"/>
          </a:xfrm>
          <a:prstGeom prst="line">
            <a:avLst/>
          </a:prstGeom>
          <a:noFill/>
          <a:ln w="19050">
            <a:solidFill>
              <a:srgbClr val="2E74C6"/>
            </a:solidFill>
            <a:prstDash val="solid"/>
            <a:tailEnd type="triangle"/>
          </a:ln>
        </p:spPr>
        <p:txBody>
          <a:bodyPr/>
          <a:lstStyle/>
          <a:p>
            <a:endParaRPr lang="ko-KR" altLang="en-US"/>
          </a:p>
        </p:txBody>
      </p:sp>
      <p:sp>
        <p:nvSpPr>
          <p:cNvPr id="15" name="Shape 12"/>
          <p:cNvSpPr/>
          <p:nvPr/>
        </p:nvSpPr>
        <p:spPr>
          <a:xfrm>
            <a:off x="5394960" y="2606040"/>
            <a:ext cx="4663440" cy="877824"/>
          </a:xfrm>
          <a:prstGeom prst="roundRect">
            <a:avLst>
              <a:gd name="adj" fmla="val 8333"/>
            </a:avLst>
          </a:prstGeom>
          <a:solidFill>
            <a:srgbClr val="F5F8FC"/>
          </a:solidFill>
          <a:ln w="12700">
            <a:solidFill>
              <a:srgbClr val="D9E0EC"/>
            </a:solidFill>
            <a:prstDash val="solid"/>
          </a:ln>
        </p:spPr>
        <p:txBody>
          <a:bodyPr/>
          <a:lstStyle/>
          <a:p>
            <a:endParaRPr lang="ko-KR" altLang="en-US"/>
          </a:p>
        </p:txBody>
      </p:sp>
      <p:sp>
        <p:nvSpPr>
          <p:cNvPr id="16" name="Shape 13"/>
          <p:cNvSpPr/>
          <p:nvPr/>
        </p:nvSpPr>
        <p:spPr>
          <a:xfrm>
            <a:off x="5394960" y="2606040"/>
            <a:ext cx="868680" cy="877824"/>
          </a:xfrm>
          <a:prstGeom prst="roundRect">
            <a:avLst>
              <a:gd name="adj" fmla="val 8421"/>
            </a:avLst>
          </a:prstGeom>
          <a:solidFill>
            <a:srgbClr val="404155"/>
          </a:solidFill>
          <a:ln/>
        </p:spPr>
        <p:txBody>
          <a:bodyPr/>
          <a:lstStyle/>
          <a:p>
            <a:endParaRPr lang="ko-KR" altLang="en-US"/>
          </a:p>
        </p:txBody>
      </p:sp>
      <p:sp>
        <p:nvSpPr>
          <p:cNvPr id="17" name="Text 14"/>
          <p:cNvSpPr/>
          <p:nvPr/>
        </p:nvSpPr>
        <p:spPr>
          <a:xfrm>
            <a:off x="5394960" y="2606040"/>
            <a:ext cx="868680" cy="877824"/>
          </a:xfrm>
          <a:prstGeom prst="rect">
            <a:avLst/>
          </a:prstGeom>
          <a:noFill/>
          <a:ln/>
        </p:spPr>
        <p:txBody>
          <a:bodyPr wrap="square" lIns="0" tIns="0" rIns="0" bIns="0"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부정확</a:t>
            </a:r>
            <a:endParaRPr lang="en-US" sz="1700" dirty="0"/>
          </a:p>
          <a:p>
            <a:pPr marL="0" indent="0" algn="ctr">
              <a:buNone/>
            </a:pPr>
            <a:r>
              <a:rPr lang="en-US" sz="1400" dirty="0">
                <a:solidFill>
                  <a:srgbClr val="FFFFFF"/>
                </a:solidFill>
                <a:latin typeface="Pretendard" pitchFamily="34" charset="0"/>
                <a:ea typeface="Pretendard" pitchFamily="34" charset="-122"/>
                <a:cs typeface="Pretendard" pitchFamily="34" charset="-120"/>
              </a:rPr>
              <a:t>하나라도</a:t>
            </a:r>
            <a:endParaRPr lang="en-US" sz="1700" dirty="0"/>
          </a:p>
        </p:txBody>
      </p:sp>
      <p:sp>
        <p:nvSpPr>
          <p:cNvPr id="18" name="Text 15"/>
          <p:cNvSpPr/>
          <p:nvPr/>
        </p:nvSpPr>
        <p:spPr>
          <a:xfrm>
            <a:off x="6373368" y="2606040"/>
            <a:ext cx="3611880" cy="877824"/>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권한 필터 후 결과 0건 · 관련도 1위 &lt; 하한</a:t>
            </a:r>
            <a:endParaRPr lang="en-US" sz="1400" dirty="0"/>
          </a:p>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질문의 상품 코드·상품명이 결과에 없음</a:t>
            </a:r>
            <a:endParaRPr lang="en-US" sz="1400" dirty="0"/>
          </a:p>
        </p:txBody>
      </p:sp>
      <p:sp>
        <p:nvSpPr>
          <p:cNvPr id="19" name="Shape 16"/>
          <p:cNvSpPr/>
          <p:nvPr/>
        </p:nvSpPr>
        <p:spPr>
          <a:xfrm>
            <a:off x="10094976" y="3044952"/>
            <a:ext cx="246888" cy="0"/>
          </a:xfrm>
          <a:prstGeom prst="line">
            <a:avLst/>
          </a:prstGeom>
          <a:noFill/>
          <a:ln w="19050">
            <a:solidFill>
              <a:srgbClr val="404155"/>
            </a:solidFill>
            <a:prstDash val="solid"/>
            <a:tailEnd type="triangle"/>
          </a:ln>
        </p:spPr>
        <p:txBody>
          <a:bodyPr/>
          <a:lstStyle/>
          <a:p>
            <a:endParaRPr lang="ko-KR" altLang="en-US"/>
          </a:p>
        </p:txBody>
      </p:sp>
      <p:sp>
        <p:nvSpPr>
          <p:cNvPr id="20" name="Shape 17"/>
          <p:cNvSpPr/>
          <p:nvPr/>
        </p:nvSpPr>
        <p:spPr>
          <a:xfrm>
            <a:off x="10378440" y="2606040"/>
            <a:ext cx="3749040" cy="877824"/>
          </a:xfrm>
          <a:prstGeom prst="roundRect">
            <a:avLst>
              <a:gd name="adj" fmla="val 8333"/>
            </a:avLst>
          </a:prstGeom>
          <a:solidFill>
            <a:srgbClr val="FFFFFF"/>
          </a:solidFill>
          <a:ln w="15875">
            <a:solidFill>
              <a:srgbClr val="404155"/>
            </a:solidFill>
            <a:prstDash val="solid"/>
          </a:ln>
        </p:spPr>
        <p:txBody>
          <a:bodyPr/>
          <a:lstStyle/>
          <a:p>
            <a:endParaRPr lang="ko-KR" altLang="en-US"/>
          </a:p>
        </p:txBody>
      </p:sp>
      <p:sp>
        <p:nvSpPr>
          <p:cNvPr id="21" name="Text 18"/>
          <p:cNvSpPr/>
          <p:nvPr/>
        </p:nvSpPr>
        <p:spPr>
          <a:xfrm>
            <a:off x="10515600" y="2606040"/>
            <a:ext cx="3520440" cy="877824"/>
          </a:xfrm>
          <a:prstGeom prst="rect">
            <a:avLst/>
          </a:prstGeom>
          <a:noFill/>
          <a:ln/>
        </p:spPr>
        <p:txBody>
          <a:bodyPr wrap="square" lIns="0" tIns="0" rIns="0" bIns="0" rtlCol="0" anchor="ctr"/>
          <a:lstStyle/>
          <a:p>
            <a:pPr marL="0" indent="0">
              <a:spcAft>
                <a:spcPts val="300"/>
              </a:spcAft>
              <a:buNone/>
            </a:pPr>
            <a:r>
              <a:rPr lang="en-US" sz="1400" b="1" dirty="0">
                <a:solidFill>
                  <a:srgbClr val="1E2A5C"/>
                </a:solidFill>
                <a:latin typeface="Pretendard" pitchFamily="34" charset="0"/>
                <a:ea typeface="Pretendard" pitchFamily="34" charset="-122"/>
                <a:cs typeface="Pretendard" pitchFamily="34" charset="-120"/>
              </a:rPr>
              <a:t>대체 검색(웹 등)이 있으면 실행</a:t>
            </a:r>
            <a:endParaRPr lang="en-US" sz="1400" dirty="0"/>
          </a:p>
          <a:p>
            <a:pPr marL="0" indent="0">
              <a:spcAft>
                <a:spcPts val="300"/>
              </a:spcAft>
              <a:buNone/>
            </a:pPr>
            <a:r>
              <a:rPr lang="en-US" sz="1400" dirty="0">
                <a:solidFill>
                  <a:srgbClr val="4A5364"/>
                </a:solidFill>
                <a:latin typeface="Pretendard" pitchFamily="34" charset="0"/>
                <a:ea typeface="Pretendard" pitchFamily="34" charset="-122"/>
                <a:cs typeface="Pretendard" pitchFamily="34" charset="-120"/>
              </a:rPr>
              <a:t>없으면 「확인 필요」로 종료</a:t>
            </a:r>
            <a:endParaRPr lang="en-US" sz="1400" dirty="0"/>
          </a:p>
        </p:txBody>
      </p:sp>
      <p:sp>
        <p:nvSpPr>
          <p:cNvPr id="22" name="Shape 19"/>
          <p:cNvSpPr/>
          <p:nvPr/>
        </p:nvSpPr>
        <p:spPr>
          <a:xfrm>
            <a:off x="5394960" y="3566160"/>
            <a:ext cx="4663440" cy="877824"/>
          </a:xfrm>
          <a:prstGeom prst="roundRect">
            <a:avLst>
              <a:gd name="adj" fmla="val 8333"/>
            </a:avLst>
          </a:prstGeom>
          <a:solidFill>
            <a:srgbClr val="F5F8FC"/>
          </a:solidFill>
          <a:ln w="12700">
            <a:solidFill>
              <a:srgbClr val="D9E0EC"/>
            </a:solidFill>
            <a:prstDash val="solid"/>
          </a:ln>
        </p:spPr>
        <p:txBody>
          <a:bodyPr/>
          <a:lstStyle/>
          <a:p>
            <a:endParaRPr lang="ko-KR" altLang="en-US"/>
          </a:p>
        </p:txBody>
      </p:sp>
      <p:sp>
        <p:nvSpPr>
          <p:cNvPr id="23" name="Shape 20"/>
          <p:cNvSpPr/>
          <p:nvPr/>
        </p:nvSpPr>
        <p:spPr>
          <a:xfrm>
            <a:off x="5394960" y="3566160"/>
            <a:ext cx="868680" cy="877824"/>
          </a:xfrm>
          <a:prstGeom prst="roundRect">
            <a:avLst>
              <a:gd name="adj" fmla="val 8421"/>
            </a:avLst>
          </a:prstGeom>
          <a:solidFill>
            <a:srgbClr val="1E2A5C"/>
          </a:solidFill>
          <a:ln/>
        </p:spPr>
        <p:txBody>
          <a:bodyPr/>
          <a:lstStyle/>
          <a:p>
            <a:endParaRPr lang="ko-KR" altLang="en-US"/>
          </a:p>
        </p:txBody>
      </p:sp>
      <p:sp>
        <p:nvSpPr>
          <p:cNvPr id="24" name="Text 21"/>
          <p:cNvSpPr/>
          <p:nvPr/>
        </p:nvSpPr>
        <p:spPr>
          <a:xfrm>
            <a:off x="5394960" y="3566160"/>
            <a:ext cx="868680" cy="877824"/>
          </a:xfrm>
          <a:prstGeom prst="rect">
            <a:avLst/>
          </a:prstGeom>
          <a:noFill/>
          <a:ln/>
        </p:spPr>
        <p:txBody>
          <a:bodyPr wrap="square" lIns="0" tIns="0" rIns="0" bIns="0"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정확</a:t>
            </a:r>
            <a:endParaRPr lang="en-US" sz="1700" dirty="0"/>
          </a:p>
          <a:p>
            <a:pPr marL="0" indent="0" algn="ctr">
              <a:buNone/>
            </a:pPr>
            <a:r>
              <a:rPr lang="en-US" sz="1400" dirty="0">
                <a:solidFill>
                  <a:srgbClr val="FFFFFF"/>
                </a:solidFill>
                <a:latin typeface="Pretendard" pitchFamily="34" charset="0"/>
                <a:ea typeface="Pretendard" pitchFamily="34" charset="-122"/>
                <a:cs typeface="Pretendard" pitchFamily="34" charset="-120"/>
              </a:rPr>
              <a:t>모두</a:t>
            </a:r>
            <a:endParaRPr lang="en-US" sz="1700" dirty="0"/>
          </a:p>
        </p:txBody>
      </p:sp>
      <p:sp>
        <p:nvSpPr>
          <p:cNvPr id="25" name="Text 22"/>
          <p:cNvSpPr/>
          <p:nvPr/>
        </p:nvSpPr>
        <p:spPr>
          <a:xfrm>
            <a:off x="6373368" y="3566160"/>
            <a:ext cx="3611880" cy="877824"/>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관련도 또는 Rerank 1위 ≥ 상한</a:t>
            </a:r>
            <a:endParaRPr lang="en-US" sz="1400" dirty="0"/>
          </a:p>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핵심어 포함 · 하위 질문 모두 충족</a:t>
            </a:r>
            <a:endParaRPr lang="en-US" sz="1400" dirty="0"/>
          </a:p>
        </p:txBody>
      </p:sp>
      <p:sp>
        <p:nvSpPr>
          <p:cNvPr id="26" name="Shape 23"/>
          <p:cNvSpPr/>
          <p:nvPr/>
        </p:nvSpPr>
        <p:spPr>
          <a:xfrm>
            <a:off x="10094976" y="4005072"/>
            <a:ext cx="246888" cy="0"/>
          </a:xfrm>
          <a:prstGeom prst="line">
            <a:avLst/>
          </a:prstGeom>
          <a:noFill/>
          <a:ln w="19050">
            <a:solidFill>
              <a:srgbClr val="1E2A5C"/>
            </a:solidFill>
            <a:prstDash val="solid"/>
            <a:tailEnd type="triangle"/>
          </a:ln>
        </p:spPr>
        <p:txBody>
          <a:bodyPr/>
          <a:lstStyle/>
          <a:p>
            <a:endParaRPr lang="ko-KR" altLang="en-US"/>
          </a:p>
        </p:txBody>
      </p:sp>
      <p:sp>
        <p:nvSpPr>
          <p:cNvPr id="27" name="Shape 24"/>
          <p:cNvSpPr/>
          <p:nvPr/>
        </p:nvSpPr>
        <p:spPr>
          <a:xfrm>
            <a:off x="10378440" y="3566160"/>
            <a:ext cx="3749040" cy="877824"/>
          </a:xfrm>
          <a:prstGeom prst="roundRect">
            <a:avLst>
              <a:gd name="adj" fmla="val 8333"/>
            </a:avLst>
          </a:prstGeom>
          <a:solidFill>
            <a:srgbClr val="FFFFFF"/>
          </a:solidFill>
          <a:ln w="15875">
            <a:solidFill>
              <a:srgbClr val="1E2A5C"/>
            </a:solidFill>
            <a:prstDash val="solid"/>
          </a:ln>
        </p:spPr>
        <p:txBody>
          <a:bodyPr/>
          <a:lstStyle/>
          <a:p>
            <a:endParaRPr lang="ko-KR" altLang="en-US"/>
          </a:p>
        </p:txBody>
      </p:sp>
      <p:sp>
        <p:nvSpPr>
          <p:cNvPr id="28" name="Text 25"/>
          <p:cNvSpPr/>
          <p:nvPr/>
        </p:nvSpPr>
        <p:spPr>
          <a:xfrm>
            <a:off x="10515600" y="3566160"/>
            <a:ext cx="3520440" cy="877824"/>
          </a:xfrm>
          <a:prstGeom prst="rect">
            <a:avLst/>
          </a:prstGeom>
          <a:noFill/>
          <a:ln/>
        </p:spPr>
        <p:txBody>
          <a:bodyPr wrap="square" lIns="0" tIns="0" rIns="0" bIns="0" rtlCol="0" anchor="ctr"/>
          <a:lstStyle/>
          <a:p>
            <a:pPr marL="0" indent="0">
              <a:spcAft>
                <a:spcPts val="300"/>
              </a:spcAft>
              <a:buNone/>
            </a:pPr>
            <a:r>
              <a:rPr lang="en-US" sz="1400" b="1" dirty="0">
                <a:solidFill>
                  <a:srgbClr val="1E2A5C"/>
                </a:solidFill>
                <a:latin typeface="Pretendard" pitchFamily="34" charset="0"/>
                <a:ea typeface="Pretendard" pitchFamily="34" charset="-122"/>
                <a:cs typeface="Pretendard" pitchFamily="34" charset="-120"/>
              </a:rPr>
              <a:t>답변 생성으로 진행</a:t>
            </a:r>
            <a:endParaRPr lang="en-US" sz="1400" dirty="0"/>
          </a:p>
          <a:p>
            <a:pPr marL="0" indent="0">
              <a:spcAft>
                <a:spcPts val="300"/>
              </a:spcAft>
              <a:buNone/>
            </a:pPr>
            <a:r>
              <a:rPr lang="en-US" sz="1400" dirty="0">
                <a:solidFill>
                  <a:srgbClr val="4A5364"/>
                </a:solidFill>
                <a:latin typeface="Pretendard" pitchFamily="34" charset="0"/>
                <a:ea typeface="Pretendard" pitchFamily="34" charset="-122"/>
                <a:cs typeface="Pretendard" pitchFamily="34" charset="-120"/>
              </a:rPr>
              <a:t>판정 근거(신호값)는 로그로 남김</a:t>
            </a:r>
            <a:endParaRPr lang="en-US" sz="1400" dirty="0"/>
          </a:p>
        </p:txBody>
      </p:sp>
      <p:sp>
        <p:nvSpPr>
          <p:cNvPr id="29" name="Shape 26"/>
          <p:cNvSpPr/>
          <p:nvPr/>
        </p:nvSpPr>
        <p:spPr>
          <a:xfrm>
            <a:off x="5394960" y="4526280"/>
            <a:ext cx="4663440" cy="877824"/>
          </a:xfrm>
          <a:prstGeom prst="roundRect">
            <a:avLst>
              <a:gd name="adj" fmla="val 8333"/>
            </a:avLst>
          </a:prstGeom>
          <a:solidFill>
            <a:srgbClr val="F5F8FC"/>
          </a:solidFill>
          <a:ln w="12700">
            <a:solidFill>
              <a:srgbClr val="D9E0EC"/>
            </a:solidFill>
            <a:prstDash val="solid"/>
          </a:ln>
        </p:spPr>
        <p:txBody>
          <a:bodyPr/>
          <a:lstStyle/>
          <a:p>
            <a:endParaRPr lang="ko-KR" altLang="en-US"/>
          </a:p>
        </p:txBody>
      </p:sp>
      <p:sp>
        <p:nvSpPr>
          <p:cNvPr id="30" name="Shape 27"/>
          <p:cNvSpPr/>
          <p:nvPr/>
        </p:nvSpPr>
        <p:spPr>
          <a:xfrm>
            <a:off x="5394960" y="4526280"/>
            <a:ext cx="868680" cy="877824"/>
          </a:xfrm>
          <a:prstGeom prst="roundRect">
            <a:avLst>
              <a:gd name="adj" fmla="val 8421"/>
            </a:avLst>
          </a:prstGeom>
          <a:solidFill>
            <a:srgbClr val="2E74C6"/>
          </a:solidFill>
          <a:ln/>
        </p:spPr>
        <p:txBody>
          <a:bodyPr/>
          <a:lstStyle/>
          <a:p>
            <a:endParaRPr lang="ko-KR" altLang="en-US"/>
          </a:p>
        </p:txBody>
      </p:sp>
      <p:sp>
        <p:nvSpPr>
          <p:cNvPr id="31" name="Text 28"/>
          <p:cNvSpPr/>
          <p:nvPr/>
        </p:nvSpPr>
        <p:spPr>
          <a:xfrm>
            <a:off x="5394960" y="4526280"/>
            <a:ext cx="868680" cy="877824"/>
          </a:xfrm>
          <a:prstGeom prst="rect">
            <a:avLst/>
          </a:prstGeom>
          <a:noFill/>
          <a:ln/>
        </p:spPr>
        <p:txBody>
          <a:bodyPr wrap="square" lIns="0" tIns="0" rIns="0" bIns="0"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애매</a:t>
            </a:r>
            <a:endParaRPr lang="en-US" sz="1700" dirty="0"/>
          </a:p>
          <a:p>
            <a:pPr marL="0" indent="0" algn="ctr">
              <a:buNone/>
            </a:pPr>
            <a:r>
              <a:rPr lang="en-US" sz="1400" dirty="0">
                <a:solidFill>
                  <a:srgbClr val="FFFFFF"/>
                </a:solidFill>
                <a:latin typeface="Pretendard" pitchFamily="34" charset="0"/>
                <a:ea typeface="Pretendard" pitchFamily="34" charset="-122"/>
                <a:cs typeface="Pretendard" pitchFamily="34" charset="-120"/>
              </a:rPr>
              <a:t>나머지</a:t>
            </a:r>
            <a:endParaRPr lang="en-US" sz="1700" dirty="0"/>
          </a:p>
        </p:txBody>
      </p:sp>
      <p:sp>
        <p:nvSpPr>
          <p:cNvPr id="32" name="Text 29"/>
          <p:cNvSpPr/>
          <p:nvPr/>
        </p:nvSpPr>
        <p:spPr>
          <a:xfrm>
            <a:off x="6373368" y="4526280"/>
            <a:ext cx="3611880" cy="877824"/>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상한과 하한 사이 · 하위 질문 일부만 충족</a:t>
            </a:r>
            <a:endParaRPr lang="en-US" sz="1400" dirty="0"/>
          </a:p>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격차 작음·검색기 불일치면 정확→애매 강등</a:t>
            </a:r>
            <a:endParaRPr lang="en-US" sz="1400" dirty="0"/>
          </a:p>
        </p:txBody>
      </p:sp>
      <p:sp>
        <p:nvSpPr>
          <p:cNvPr id="33" name="Shape 30"/>
          <p:cNvSpPr/>
          <p:nvPr/>
        </p:nvSpPr>
        <p:spPr>
          <a:xfrm>
            <a:off x="10094976" y="4965192"/>
            <a:ext cx="246888" cy="0"/>
          </a:xfrm>
          <a:prstGeom prst="line">
            <a:avLst/>
          </a:prstGeom>
          <a:noFill/>
          <a:ln w="19050">
            <a:solidFill>
              <a:srgbClr val="2E74C6"/>
            </a:solidFill>
            <a:prstDash val="solid"/>
            <a:tailEnd type="triangle"/>
          </a:ln>
        </p:spPr>
        <p:txBody>
          <a:bodyPr/>
          <a:lstStyle/>
          <a:p>
            <a:endParaRPr lang="ko-KR" altLang="en-US"/>
          </a:p>
        </p:txBody>
      </p:sp>
      <p:sp>
        <p:nvSpPr>
          <p:cNvPr id="34" name="Shape 31"/>
          <p:cNvSpPr/>
          <p:nvPr/>
        </p:nvSpPr>
        <p:spPr>
          <a:xfrm>
            <a:off x="10378440" y="4526280"/>
            <a:ext cx="3749040" cy="877824"/>
          </a:xfrm>
          <a:prstGeom prst="roundRect">
            <a:avLst>
              <a:gd name="adj" fmla="val 8333"/>
            </a:avLst>
          </a:prstGeom>
          <a:solidFill>
            <a:srgbClr val="FFFFFF"/>
          </a:solidFill>
          <a:ln w="15875">
            <a:solidFill>
              <a:srgbClr val="2E74C6"/>
            </a:solidFill>
            <a:prstDash val="solid"/>
          </a:ln>
        </p:spPr>
        <p:txBody>
          <a:bodyPr/>
          <a:lstStyle/>
          <a:p>
            <a:endParaRPr lang="ko-KR" altLang="en-US"/>
          </a:p>
        </p:txBody>
      </p:sp>
      <p:sp>
        <p:nvSpPr>
          <p:cNvPr id="35" name="Text 32"/>
          <p:cNvSpPr/>
          <p:nvPr/>
        </p:nvSpPr>
        <p:spPr>
          <a:xfrm>
            <a:off x="10515600" y="4526280"/>
            <a:ext cx="3520440" cy="877824"/>
          </a:xfrm>
          <a:prstGeom prst="rect">
            <a:avLst/>
          </a:prstGeom>
          <a:noFill/>
          <a:ln/>
        </p:spPr>
        <p:txBody>
          <a:bodyPr wrap="square" lIns="0" tIns="0" rIns="0" bIns="0" rtlCol="0" anchor="ctr"/>
          <a:lstStyle/>
          <a:p>
            <a:pPr marL="0" indent="0">
              <a:spcAft>
                <a:spcPts val="300"/>
              </a:spcAft>
              <a:buNone/>
            </a:pPr>
            <a:r>
              <a:rPr lang="en-US" sz="1400" b="1" dirty="0">
                <a:solidFill>
                  <a:srgbClr val="1E2A5C"/>
                </a:solidFill>
                <a:latin typeface="Pretendard" pitchFamily="34" charset="0"/>
                <a:ea typeface="Pretendard" pitchFamily="34" charset="-122"/>
                <a:cs typeface="Pretendard" pitchFamily="34" charset="-120"/>
              </a:rPr>
              <a:t>질문 재작성 후 재검색(상한 있음)</a:t>
            </a:r>
            <a:endParaRPr lang="en-US" sz="1400" dirty="0"/>
          </a:p>
          <a:p>
            <a:pPr marL="0" indent="0">
              <a:spcAft>
                <a:spcPts val="300"/>
              </a:spcAft>
              <a:buNone/>
            </a:pPr>
            <a:r>
              <a:rPr lang="en-US" sz="1400" dirty="0">
                <a:solidFill>
                  <a:srgbClr val="4A5364"/>
                </a:solidFill>
                <a:latin typeface="Pretendard" pitchFamily="34" charset="0"/>
                <a:ea typeface="Pretendard" pitchFamily="34" charset="-122"/>
                <a:cs typeface="Pretendard" pitchFamily="34" charset="-120"/>
              </a:rPr>
              <a:t>여전히 애매 → LLM 평가자(선택)</a:t>
            </a:r>
            <a:endParaRPr lang="en-US" sz="1400" dirty="0"/>
          </a:p>
        </p:txBody>
      </p:sp>
      <p:sp>
        <p:nvSpPr>
          <p:cNvPr id="36" name="Text 33"/>
          <p:cNvSpPr/>
          <p:nvPr/>
        </p:nvSpPr>
        <p:spPr>
          <a:xfrm>
            <a:off x="5394960" y="5431536"/>
            <a:ext cx="4663440" cy="256032"/>
          </a:xfrm>
          <a:prstGeom prst="rect">
            <a:avLst/>
          </a:prstGeom>
          <a:noFill/>
          <a:ln/>
        </p:spPr>
        <p:txBody>
          <a:bodyPr wrap="square" lIns="0" tIns="0" rIns="0" bIns="0" rtlCol="0" anchor="ctr"/>
          <a:lstStyle/>
          <a:p>
            <a:pPr marL="0" indent="0" algn="r">
              <a:buNone/>
            </a:pPr>
            <a:r>
              <a:rPr lang="en-US" sz="1400" dirty="0">
                <a:solidFill>
                  <a:srgbClr val="7C8598"/>
                </a:solidFill>
                <a:latin typeface="Pretendard" pitchFamily="34" charset="0"/>
                <a:ea typeface="Pretendard" pitchFamily="34" charset="-122"/>
                <a:cs typeface="Pretendard" pitchFamily="34" charset="-120"/>
              </a:rPr>
              <a:t>위에서부터 차례로 검사</a:t>
            </a:r>
            <a:endParaRPr lang="en-US" sz="1400" dirty="0"/>
          </a:p>
        </p:txBody>
      </p:sp>
      <p:sp>
        <p:nvSpPr>
          <p:cNvPr id="37" name="Shape 34"/>
          <p:cNvSpPr/>
          <p:nvPr/>
        </p:nvSpPr>
        <p:spPr>
          <a:xfrm>
            <a:off x="502920" y="5760720"/>
            <a:ext cx="13624560" cy="384048"/>
          </a:xfrm>
          <a:prstGeom prst="roundRect">
            <a:avLst>
              <a:gd name="adj" fmla="val 11905"/>
            </a:avLst>
          </a:prstGeom>
          <a:solidFill>
            <a:srgbClr val="404155"/>
          </a:solidFill>
          <a:ln/>
        </p:spPr>
        <p:txBody>
          <a:bodyPr/>
          <a:lstStyle/>
          <a:p>
            <a:endParaRPr lang="ko-KR" altLang="en-US"/>
          </a:p>
        </p:txBody>
      </p:sp>
      <p:sp>
        <p:nvSpPr>
          <p:cNvPr id="38" name="Text 35"/>
          <p:cNvSpPr/>
          <p:nvPr/>
        </p:nvSpPr>
        <p:spPr>
          <a:xfrm>
            <a:off x="640080" y="5760720"/>
            <a:ext cx="13350240" cy="384048"/>
          </a:xfrm>
          <a:prstGeom prst="rect">
            <a:avLst/>
          </a:prstGeom>
          <a:noFill/>
          <a:ln/>
        </p:spPr>
        <p:txBody>
          <a:bodyPr wrap="square" lIns="0" tIns="0" rIns="0" bIns="0" rtlCol="0" anchor="ctr"/>
          <a:lstStyle/>
          <a:p>
            <a:pPr marL="0" indent="0">
              <a:buNone/>
            </a:pPr>
            <a:r>
              <a:rPr lang="en-US" sz="1500" b="1" dirty="0">
                <a:solidFill>
                  <a:srgbClr val="FFFFFF"/>
                </a:solidFill>
                <a:latin typeface="Pretendard" pitchFamily="34" charset="0"/>
                <a:ea typeface="Pretendard" pitchFamily="34" charset="-122"/>
                <a:cs typeface="Pretendard" pitchFamily="34" charset="-120"/>
              </a:rPr>
              <a:t>재설계 기준 — 숫자는 코드가 아니라 평가셋이 정함</a:t>
            </a:r>
            <a:endParaRPr lang="en-US" sz="1500" dirty="0"/>
          </a:p>
        </p:txBody>
      </p:sp>
      <p:sp>
        <p:nvSpPr>
          <p:cNvPr id="39" name="Shape 36"/>
          <p:cNvSpPr/>
          <p:nvPr/>
        </p:nvSpPr>
        <p:spPr>
          <a:xfrm>
            <a:off x="502920" y="6291072"/>
            <a:ext cx="274320" cy="274320"/>
          </a:xfrm>
          <a:prstGeom prst="roundRect">
            <a:avLst>
              <a:gd name="adj" fmla="val 16667"/>
            </a:avLst>
          </a:prstGeom>
          <a:solidFill>
            <a:srgbClr val="2E74C6"/>
          </a:solidFill>
          <a:ln/>
        </p:spPr>
        <p:txBody>
          <a:bodyPr/>
          <a:lstStyle/>
          <a:p>
            <a:endParaRPr lang="ko-KR" altLang="en-US"/>
          </a:p>
        </p:txBody>
      </p:sp>
      <p:sp>
        <p:nvSpPr>
          <p:cNvPr id="40" name="Text 37"/>
          <p:cNvSpPr/>
          <p:nvPr/>
        </p:nvSpPr>
        <p:spPr>
          <a:xfrm>
            <a:off x="502920" y="629107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41" name="Text 38"/>
          <p:cNvSpPr/>
          <p:nvPr/>
        </p:nvSpPr>
        <p:spPr>
          <a:xfrm>
            <a:off x="886968" y="6263640"/>
            <a:ext cx="6291072" cy="329184"/>
          </a:xfrm>
          <a:prstGeom prst="rect">
            <a:avLst/>
          </a:prstGeom>
          <a:noFill/>
          <a:ln/>
        </p:spPr>
        <p:txBody>
          <a:bodyPr wrap="square" lIns="0" tIns="0" rIns="0" bIns="0"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기준값은 평가셋으로 결정</a:t>
            </a:r>
            <a:r>
              <a:rPr lang="en-US" sz="1500" dirty="0">
                <a:solidFill>
                  <a:srgbClr val="4A5364"/>
                </a:solidFill>
                <a:latin typeface="Pretendard" pitchFamily="34" charset="0"/>
                <a:ea typeface="Pretendard" pitchFamily="34" charset="-122"/>
                <a:cs typeface="Pretendard" pitchFamily="34" charset="-120"/>
              </a:rPr>
              <a:t>   정답·오답 문서의 점수 분포 경계로 상한·하한 설정</a:t>
            </a:r>
            <a:endParaRPr lang="en-US" sz="1500" dirty="0"/>
          </a:p>
        </p:txBody>
      </p:sp>
      <p:sp>
        <p:nvSpPr>
          <p:cNvPr id="42" name="Shape 39"/>
          <p:cNvSpPr/>
          <p:nvPr/>
        </p:nvSpPr>
        <p:spPr>
          <a:xfrm>
            <a:off x="7452360" y="6291072"/>
            <a:ext cx="274320" cy="274320"/>
          </a:xfrm>
          <a:prstGeom prst="roundRect">
            <a:avLst>
              <a:gd name="adj" fmla="val 16667"/>
            </a:avLst>
          </a:prstGeom>
          <a:solidFill>
            <a:srgbClr val="2E74C6"/>
          </a:solidFill>
          <a:ln/>
        </p:spPr>
        <p:txBody>
          <a:bodyPr/>
          <a:lstStyle/>
          <a:p>
            <a:endParaRPr lang="ko-KR" altLang="en-US"/>
          </a:p>
        </p:txBody>
      </p:sp>
      <p:sp>
        <p:nvSpPr>
          <p:cNvPr id="43" name="Text 40"/>
          <p:cNvSpPr/>
          <p:nvPr/>
        </p:nvSpPr>
        <p:spPr>
          <a:xfrm>
            <a:off x="7452360" y="629107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44" name="Text 41"/>
          <p:cNvSpPr/>
          <p:nvPr/>
        </p:nvSpPr>
        <p:spPr>
          <a:xfrm>
            <a:off x="7836408" y="6263640"/>
            <a:ext cx="6291072" cy="329184"/>
          </a:xfrm>
          <a:prstGeom prst="rect">
            <a:avLst/>
          </a:prstGeom>
          <a:noFill/>
          <a:ln/>
        </p:spPr>
        <p:txBody>
          <a:bodyPr wrap="square" lIns="0" tIns="0" rIns="0" bIns="0"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검색기별 눈금 분리</a:t>
            </a:r>
            <a:r>
              <a:rPr lang="en-US" sz="1500" dirty="0">
                <a:solidFill>
                  <a:srgbClr val="4A5364"/>
                </a:solidFill>
                <a:latin typeface="Pretendard" pitchFamily="34" charset="0"/>
                <a:ea typeface="Pretendard" pitchFamily="34" charset="-122"/>
                <a:cs typeface="Pretendard" pitchFamily="34" charset="-120"/>
              </a:rPr>
              <a:t>   Vector·Rerank·BM25 점수를 섞지 않고 각자 기준</a:t>
            </a:r>
            <a:endParaRPr lang="en-US" sz="1500" dirty="0"/>
          </a:p>
        </p:txBody>
      </p:sp>
      <p:sp>
        <p:nvSpPr>
          <p:cNvPr id="45" name="Shape 42"/>
          <p:cNvSpPr/>
          <p:nvPr/>
        </p:nvSpPr>
        <p:spPr>
          <a:xfrm>
            <a:off x="502920" y="6748272"/>
            <a:ext cx="274320" cy="274320"/>
          </a:xfrm>
          <a:prstGeom prst="roundRect">
            <a:avLst>
              <a:gd name="adj" fmla="val 16667"/>
            </a:avLst>
          </a:prstGeom>
          <a:solidFill>
            <a:srgbClr val="2E74C6"/>
          </a:solidFill>
          <a:ln/>
        </p:spPr>
        <p:txBody>
          <a:bodyPr/>
          <a:lstStyle/>
          <a:p>
            <a:endParaRPr lang="ko-KR" altLang="en-US"/>
          </a:p>
        </p:txBody>
      </p:sp>
      <p:sp>
        <p:nvSpPr>
          <p:cNvPr id="46" name="Text 43"/>
          <p:cNvSpPr/>
          <p:nvPr/>
        </p:nvSpPr>
        <p:spPr>
          <a:xfrm>
            <a:off x="502920" y="674827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47" name="Text 44"/>
          <p:cNvSpPr/>
          <p:nvPr/>
        </p:nvSpPr>
        <p:spPr>
          <a:xfrm>
            <a:off x="886968" y="6720840"/>
            <a:ext cx="6291072" cy="329184"/>
          </a:xfrm>
          <a:prstGeom prst="rect">
            <a:avLst/>
          </a:prstGeom>
          <a:noFill/>
          <a:ln/>
        </p:spPr>
        <p:txBody>
          <a:bodyPr wrap="square" lIns="0" tIns="0" rIns="0" bIns="0"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모델 교체 시 재보정</a:t>
            </a:r>
            <a:r>
              <a:rPr lang="en-US" sz="1500" dirty="0">
                <a:solidFill>
                  <a:srgbClr val="4A5364"/>
                </a:solidFill>
                <a:latin typeface="Pretendard" pitchFamily="34" charset="0"/>
                <a:ea typeface="Pretendard" pitchFamily="34" charset="-122"/>
                <a:cs typeface="Pretendard" pitchFamily="34" charset="-120"/>
              </a:rPr>
              <a:t>   임베딩·Reranker가 바뀌면 점수 분포도 바뀜</a:t>
            </a:r>
            <a:endParaRPr lang="en-US" sz="1500" dirty="0"/>
          </a:p>
        </p:txBody>
      </p:sp>
      <p:sp>
        <p:nvSpPr>
          <p:cNvPr id="48" name="Shape 45"/>
          <p:cNvSpPr/>
          <p:nvPr/>
        </p:nvSpPr>
        <p:spPr>
          <a:xfrm>
            <a:off x="7452360" y="6748272"/>
            <a:ext cx="274320" cy="274320"/>
          </a:xfrm>
          <a:prstGeom prst="roundRect">
            <a:avLst>
              <a:gd name="adj" fmla="val 16667"/>
            </a:avLst>
          </a:prstGeom>
          <a:solidFill>
            <a:srgbClr val="2E74C6"/>
          </a:solidFill>
          <a:ln/>
        </p:spPr>
        <p:txBody>
          <a:bodyPr/>
          <a:lstStyle/>
          <a:p>
            <a:endParaRPr lang="ko-KR" altLang="en-US"/>
          </a:p>
        </p:txBody>
      </p:sp>
      <p:sp>
        <p:nvSpPr>
          <p:cNvPr id="49" name="Text 46"/>
          <p:cNvSpPr/>
          <p:nvPr/>
        </p:nvSpPr>
        <p:spPr>
          <a:xfrm>
            <a:off x="7452360" y="674827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50" name="Text 47"/>
          <p:cNvSpPr/>
          <p:nvPr/>
        </p:nvSpPr>
        <p:spPr>
          <a:xfrm>
            <a:off x="7836408" y="6720840"/>
            <a:ext cx="6291072" cy="329184"/>
          </a:xfrm>
          <a:prstGeom prst="rect">
            <a:avLst/>
          </a:prstGeom>
          <a:noFill/>
          <a:ln/>
        </p:spPr>
        <p:txBody>
          <a:bodyPr wrap="square" lIns="0" tIns="0" rIns="0" bIns="0"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기준은 설정·로그로 관리</a:t>
            </a:r>
            <a:r>
              <a:rPr lang="en-US" sz="1500" dirty="0">
                <a:solidFill>
                  <a:srgbClr val="4A5364"/>
                </a:solidFill>
                <a:latin typeface="Pretendard" pitchFamily="34" charset="0"/>
                <a:ea typeface="Pretendard" pitchFamily="34" charset="-122"/>
                <a:cs typeface="Pretendard" pitchFamily="34" charset="-120"/>
              </a:rPr>
              <a:t>   코드 상수 금지, 판정마다 신호값 기록</a:t>
            </a:r>
            <a:endParaRPr lang="en-US" sz="1500" dirty="0"/>
          </a:p>
        </p:txBody>
      </p:sp>
      <p:sp>
        <p:nvSpPr>
          <p:cNvPr id="51" name="Text 48"/>
          <p:cNvSpPr/>
          <p:nvPr/>
        </p:nvSpPr>
        <p:spPr>
          <a:xfrm>
            <a:off x="502920" y="7296912"/>
            <a:ext cx="13624560" cy="365760"/>
          </a:xfrm>
          <a:prstGeom prst="rect">
            <a:avLst/>
          </a:prstGeom>
          <a:noFill/>
          <a:ln/>
        </p:spPr>
        <p:txBody>
          <a:bodyPr wrap="square" rtlCol="0" anchor="ctr"/>
          <a:lstStyle/>
          <a:p>
            <a:pPr marL="0" indent="0">
              <a:buNone/>
            </a:pPr>
            <a:r>
              <a:rPr lang="en-US" sz="1400" b="1" dirty="0">
                <a:solidFill>
                  <a:srgbClr val="7C8598"/>
                </a:solidFill>
                <a:latin typeface="Pretendard" pitchFamily="34" charset="0"/>
                <a:ea typeface="Pretendard" pitchFamily="34" charset="-122"/>
                <a:cs typeface="Pretendard" pitchFamily="34" charset="-120"/>
              </a:rPr>
              <a:t>출처  </a:t>
            </a:r>
            <a:r>
              <a:rPr lang="en-US" sz="1400" u="sng" dirty="0">
                <a:solidFill>
                  <a:srgbClr val="7C8598"/>
                </a:solidFill>
                <a:latin typeface="Pretendard" pitchFamily="34" charset="0"/>
                <a:ea typeface="Pretendard" pitchFamily="34" charset="-122"/>
                <a:cs typeface="Pretendard" pitchFamily="34" charset="-120"/>
                <a:hlinkClick r:id="rId3">
                  <a:extLst>
                    <a:ext uri="{A12FA001-AC4F-418D-AE19-62706E023703}">
                      <ahyp:hlinkClr xmlns:ahyp="http://schemas.microsoft.com/office/drawing/2018/hyperlinkcolor" val="tx"/>
                    </a:ext>
                  </a:extLst>
                </a:hlinkClick>
              </a:rPr>
              <a:t>교재 「10. RAG」 4.3 Post-Retrieval·5.3 CRAG</a:t>
            </a:r>
            <a:r>
              <a:rPr lang="en-US" sz="1400" dirty="0">
                <a:solidFill>
                  <a:srgbClr val="7C8598"/>
                </a:solidFill>
                <a:latin typeface="Pretendard" pitchFamily="34" charset="0"/>
                <a:ea typeface="Pretendard" pitchFamily="34" charset="-122"/>
                <a:cs typeface="Pretendard" pitchFamily="34" charset="-120"/>
              </a:rPr>
              <a:t>  ·  </a:t>
            </a:r>
            <a:r>
              <a:rPr lang="en-US" sz="1400" u="sng" dirty="0">
                <a:solidFill>
                  <a:srgbClr val="7C8598"/>
                </a:solidFill>
                <a:latin typeface="Pretendard" pitchFamily="34" charset="0"/>
                <a:ea typeface="Pretendard" pitchFamily="34" charset="-122"/>
                <a:cs typeface="Pretendard" pitchFamily="34" charset="-120"/>
                <a:hlinkClick r:id="rId4">
                  <a:extLst>
                    <a:ext uri="{A12FA001-AC4F-418D-AE19-62706E023703}">
                      <ahyp:hlinkClr xmlns:ahyp="http://schemas.microsoft.com/office/drawing/2018/hyperlinkcolor" val="tx"/>
                    </a:ext>
                  </a:extLst>
                </a:hlinkClick>
              </a:rPr>
              <a:t>CRAG, Yan et al.(2024) — 경량 평가자의 신뢰도로 행동 분기</a:t>
            </a:r>
            <a:endParaRPr lang="en-US" sz="1400" dirty="0"/>
          </a:p>
        </p:txBody>
      </p:sp>
      <p:sp>
        <p:nvSpPr>
          <p:cNvPr id="52"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marL="0" indent="0">
              <a:buNone/>
            </a:pPr>
            <a:r>
              <a:rPr lang="en-US" sz="1500" b="1" dirty="0">
                <a:solidFill>
                  <a:srgbClr val="7C8598"/>
                </a:solidFill>
                <a:latin typeface="Pretendard" pitchFamily="34" charset="0"/>
                <a:ea typeface="Pretendard" pitchFamily="34" charset="-122"/>
                <a:cs typeface="Pretendard" pitchFamily="34" charset="-120"/>
              </a:rPr>
              <a:t>Ⅲ. 문서 검색 아키텍처 › 6. 규칙 기반 채점</a:t>
            </a:r>
            <a:endParaRPr lang="en-US" sz="1500" dirty="0"/>
          </a:p>
        </p:txBody>
      </p:sp>
      <p:sp>
        <p:nvSpPr>
          <p:cNvPr id="3" name="Text 1"/>
          <p:cNvSpPr/>
          <p:nvPr/>
        </p:nvSpPr>
        <p:spPr>
          <a:xfrm>
            <a:off x="502920" y="640080"/>
            <a:ext cx="12801600" cy="685800"/>
          </a:xfrm>
          <a:prstGeom prst="rect">
            <a:avLst/>
          </a:prstGeom>
          <a:noFill/>
          <a:ln/>
        </p:spPr>
        <p:txBody>
          <a:bodyPr wrap="square" rtlCol="0" anchor="ctr"/>
          <a:lstStyle/>
          <a:p>
            <a:pPr marL="0" indent="0">
              <a:buNone/>
            </a:pPr>
            <a:r>
              <a:rPr lang="en-US" sz="4800" b="1" dirty="0">
                <a:solidFill>
                  <a:srgbClr val="1E2A5C"/>
                </a:solidFill>
                <a:latin typeface="Pretendard" pitchFamily="34" charset="0"/>
                <a:ea typeface="Pretendard" pitchFamily="34" charset="-122"/>
                <a:cs typeface="Pretendard" pitchFamily="34" charset="-120"/>
              </a:rPr>
              <a:t>검색 결과 규칙 기반 채점</a:t>
            </a:r>
            <a:endParaRPr lang="en-US" sz="4800" dirty="0"/>
          </a:p>
        </p:txBody>
      </p:sp>
      <p:sp>
        <p:nvSpPr>
          <p:cNvPr id="4" name="Shape 2"/>
          <p:cNvSpPr/>
          <p:nvPr/>
        </p:nvSpPr>
        <p:spPr>
          <a:xfrm>
            <a:off x="502920" y="1389888"/>
            <a:ext cx="13624560" cy="36576"/>
          </a:xfrm>
          <a:prstGeom prst="rect">
            <a:avLst/>
          </a:prstGeom>
          <a:solidFill>
            <a:srgbClr val="D9E0EC"/>
          </a:solidFill>
          <a:ln/>
        </p:spPr>
        <p:txBody>
          <a:bodyPr/>
          <a:lstStyle/>
          <a:p>
            <a:endParaRPr lang="ko-KR" altLang="en-US"/>
          </a:p>
        </p:txBody>
      </p:sp>
      <p:sp>
        <p:nvSpPr>
          <p:cNvPr id="5" name="Shape 3"/>
          <p:cNvSpPr/>
          <p:nvPr/>
        </p:nvSpPr>
        <p:spPr>
          <a:xfrm>
            <a:off x="502920" y="1389888"/>
            <a:ext cx="1920240" cy="36576"/>
          </a:xfrm>
          <a:prstGeom prst="rect">
            <a:avLst/>
          </a:prstGeom>
          <a:solidFill>
            <a:srgbClr val="2E74C6"/>
          </a:solidFill>
          <a:ln/>
        </p:spPr>
        <p:txBody>
          <a:bodyPr/>
          <a:lstStyle/>
          <a:p>
            <a:endParaRPr lang="ko-KR" altLang="en-US"/>
          </a:p>
        </p:txBody>
      </p:sp>
      <p:sp>
        <p:nvSpPr>
          <p:cNvPr id="6" name="Text 4"/>
          <p:cNvSpPr/>
          <p:nvPr/>
        </p:nvSpPr>
        <p:spPr>
          <a:xfrm>
            <a:off x="502920" y="1499616"/>
            <a:ext cx="13624560" cy="438912"/>
          </a:xfrm>
          <a:prstGeom prst="rect">
            <a:avLst/>
          </a:prstGeom>
          <a:noFill/>
          <a:ln/>
        </p:spPr>
        <p:txBody>
          <a:bodyPr wrap="square" rtlCol="0" anchor="ctr"/>
          <a:lstStyle/>
          <a:p>
            <a:pPr marL="0" indent="0">
              <a:buNone/>
            </a:pPr>
            <a:r>
              <a:rPr lang="en-US" sz="1800" dirty="0">
                <a:solidFill>
                  <a:srgbClr val="4A5364"/>
                </a:solidFill>
                <a:latin typeface="Pretendard" pitchFamily="34" charset="0"/>
                <a:ea typeface="Pretendard" pitchFamily="34" charset="-122"/>
                <a:cs typeface="Pretendard" pitchFamily="34" charset="-120"/>
              </a:rPr>
              <a:t>신호 계산 → 판정 규칙 → 행동 3단계로 LLM 없이 채점함 — 규칙으로 가르지 못한 「애매」만 재검색·LLM으로 넘김</a:t>
            </a:r>
            <a:endParaRPr lang="en-US" sz="1800" dirty="0"/>
          </a:p>
        </p:txBody>
      </p:sp>
      <p:sp>
        <p:nvSpPr>
          <p:cNvPr id="7" name="Shape 5"/>
          <p:cNvSpPr/>
          <p:nvPr/>
        </p:nvSpPr>
        <p:spPr>
          <a:xfrm>
            <a:off x="502920" y="2057400"/>
            <a:ext cx="6172200" cy="457200"/>
          </a:xfrm>
          <a:prstGeom prst="roundRect">
            <a:avLst>
              <a:gd name="adj" fmla="val 12000"/>
            </a:avLst>
          </a:prstGeom>
          <a:solidFill>
            <a:srgbClr val="1E2A5C"/>
          </a:solidFill>
          <a:ln/>
        </p:spPr>
        <p:txBody>
          <a:bodyPr/>
          <a:lstStyle/>
          <a:p>
            <a:endParaRPr lang="ko-KR" altLang="en-US"/>
          </a:p>
        </p:txBody>
      </p:sp>
      <p:sp>
        <p:nvSpPr>
          <p:cNvPr id="8" name="Text 6"/>
          <p:cNvSpPr/>
          <p:nvPr/>
        </p:nvSpPr>
        <p:spPr>
          <a:xfrm>
            <a:off x="502920" y="2057400"/>
            <a:ext cx="617220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① 신호별 기준</a:t>
            </a:r>
            <a:endParaRPr lang="en-US" sz="2000" dirty="0"/>
          </a:p>
        </p:txBody>
      </p:sp>
      <p:sp>
        <p:nvSpPr>
          <p:cNvPr id="9" name="Shape 7"/>
          <p:cNvSpPr/>
          <p:nvPr/>
        </p:nvSpPr>
        <p:spPr>
          <a:xfrm>
            <a:off x="6967728" y="2057400"/>
            <a:ext cx="4114800" cy="457200"/>
          </a:xfrm>
          <a:prstGeom prst="roundRect">
            <a:avLst>
              <a:gd name="adj" fmla="val 12000"/>
            </a:avLst>
          </a:prstGeom>
          <a:solidFill>
            <a:srgbClr val="1E2A5C"/>
          </a:solidFill>
          <a:ln/>
        </p:spPr>
        <p:txBody>
          <a:bodyPr/>
          <a:lstStyle/>
          <a:p>
            <a:endParaRPr lang="ko-KR" altLang="en-US"/>
          </a:p>
        </p:txBody>
      </p:sp>
      <p:sp>
        <p:nvSpPr>
          <p:cNvPr id="10" name="Text 8"/>
          <p:cNvSpPr/>
          <p:nvPr/>
        </p:nvSpPr>
        <p:spPr>
          <a:xfrm>
            <a:off x="6967728" y="2057400"/>
            <a:ext cx="4114800"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② 판정 규칙</a:t>
            </a:r>
            <a:endParaRPr lang="en-US" sz="2000" dirty="0"/>
          </a:p>
        </p:txBody>
      </p:sp>
      <p:sp>
        <p:nvSpPr>
          <p:cNvPr id="11" name="Shape 9"/>
          <p:cNvSpPr/>
          <p:nvPr/>
        </p:nvSpPr>
        <p:spPr>
          <a:xfrm>
            <a:off x="11375136" y="2057400"/>
            <a:ext cx="2752344" cy="457200"/>
          </a:xfrm>
          <a:prstGeom prst="roundRect">
            <a:avLst>
              <a:gd name="adj" fmla="val 12000"/>
            </a:avLst>
          </a:prstGeom>
          <a:solidFill>
            <a:srgbClr val="2E74C6"/>
          </a:solidFill>
          <a:ln/>
        </p:spPr>
        <p:txBody>
          <a:bodyPr/>
          <a:lstStyle/>
          <a:p>
            <a:endParaRPr lang="ko-KR" altLang="en-US"/>
          </a:p>
        </p:txBody>
      </p:sp>
      <p:sp>
        <p:nvSpPr>
          <p:cNvPr id="12" name="Text 10"/>
          <p:cNvSpPr/>
          <p:nvPr/>
        </p:nvSpPr>
        <p:spPr>
          <a:xfrm>
            <a:off x="11375136" y="2057400"/>
            <a:ext cx="2752344" cy="457200"/>
          </a:xfrm>
          <a:prstGeom prst="rect">
            <a:avLst/>
          </a:prstGeom>
          <a:noFill/>
          <a:ln/>
        </p:spPr>
        <p:txBody>
          <a:bodyPr wrap="square" rtlCol="0" anchor="ctr"/>
          <a:lstStyle/>
          <a:p>
            <a:pPr marL="0" indent="0" algn="ctr">
              <a:buNone/>
            </a:pPr>
            <a:r>
              <a:rPr lang="en-US" sz="2000" b="1" dirty="0">
                <a:solidFill>
                  <a:srgbClr val="FFFFFF"/>
                </a:solidFill>
                <a:latin typeface="Pretendard" pitchFamily="34" charset="0"/>
                <a:ea typeface="Pretendard" pitchFamily="34" charset="-122"/>
                <a:cs typeface="Pretendard" pitchFamily="34" charset="-120"/>
              </a:rPr>
              <a:t>③ 행동</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662931375"/>
              </p:ext>
            </p:extLst>
          </p:nvPr>
        </p:nvGraphicFramePr>
        <p:xfrm>
          <a:off x="502920" y="2606040"/>
          <a:ext cx="6172200" cy="3669792"/>
        </p:xfrm>
        <a:graphic>
          <a:graphicData uri="http://schemas.openxmlformats.org/drawingml/2006/table">
            <a:tbl>
              <a:tblPr/>
              <a:tblGrid>
                <a:gridCol w="14630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tblGrid>
              <a:tr h="457200">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신호</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값의 형태</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기준</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판정 역할</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관련도(Vector)</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연속 점수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상한 + 하한</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3구간(</a:t>
                      </a:r>
                      <a:r>
                        <a:rPr lang="ko-KR" altLang="en-US" sz="1400" dirty="0">
                          <a:solidFill>
                            <a:srgbClr val="3B4557"/>
                          </a:solidFill>
                          <a:latin typeface="Pretendard" pitchFamily="34" charset="0"/>
                          <a:ea typeface="Pretendard" pitchFamily="34" charset="-122"/>
                          <a:cs typeface="Pretendard" pitchFamily="34" charset="-120"/>
                        </a:rPr>
                        <a:t>부정확</a:t>
                      </a:r>
                      <a:r>
                        <a:rPr lang="en-US" altLang="ko-KR" sz="1400" dirty="0">
                          <a:solidFill>
                            <a:srgbClr val="3B4557"/>
                          </a:solidFill>
                          <a:latin typeface="Pretendard" pitchFamily="34" charset="0"/>
                          <a:ea typeface="Pretendard" pitchFamily="34" charset="-122"/>
                          <a:cs typeface="Pretendard" pitchFamily="34" charset="-120"/>
                        </a:rPr>
                        <a:t>, </a:t>
                      </a:r>
                      <a:r>
                        <a:rPr lang="ko-KR" altLang="en-US" sz="1400" dirty="0">
                          <a:solidFill>
                            <a:srgbClr val="3B4557"/>
                          </a:solidFill>
                          <a:latin typeface="Pretendard" pitchFamily="34" charset="0"/>
                          <a:ea typeface="Pretendard" pitchFamily="34" charset="-122"/>
                          <a:cs typeface="Pretendard" pitchFamily="34" charset="-120"/>
                        </a:rPr>
                        <a:t>정확</a:t>
                      </a:r>
                      <a:r>
                        <a:rPr lang="en-US" altLang="ko-KR" sz="1400" dirty="0">
                          <a:solidFill>
                            <a:srgbClr val="3B4557"/>
                          </a:solidFill>
                          <a:latin typeface="Pretendard" pitchFamily="34" charset="0"/>
                          <a:ea typeface="Pretendard" pitchFamily="34" charset="-122"/>
                          <a:cs typeface="Pretendard" pitchFamily="34" charset="-120"/>
                        </a:rPr>
                        <a:t>, </a:t>
                      </a:r>
                      <a:r>
                        <a:rPr lang="ko-KR" altLang="en-US" sz="1400" dirty="0">
                          <a:solidFill>
                            <a:srgbClr val="3B4557"/>
                          </a:solidFill>
                          <a:latin typeface="Pretendard" pitchFamily="34" charset="0"/>
                          <a:ea typeface="Pretendard" pitchFamily="34" charset="-122"/>
                          <a:cs typeface="Pretendard" pitchFamily="34" charset="-120"/>
                        </a:rPr>
                        <a:t>애매</a:t>
                      </a:r>
                      <a:r>
                        <a:rPr lang="en-US" altLang="ko-KR" sz="1400" dirty="0">
                          <a:solidFill>
                            <a:srgbClr val="3B4557"/>
                          </a:solidFill>
                          <a:latin typeface="Pretendard" pitchFamily="34" charset="0"/>
                          <a:ea typeface="Pretendard" pitchFamily="34" charset="-122"/>
                          <a:cs typeface="Pretendard" pitchFamily="34" charset="-120"/>
                        </a:rPr>
                        <a:t>)</a:t>
                      </a:r>
                      <a:r>
                        <a:rPr lang="en-US" sz="1400" dirty="0">
                          <a:solidFill>
                            <a:srgbClr val="3B4557"/>
                          </a:solidFill>
                          <a:latin typeface="Pretendard" pitchFamily="34" charset="0"/>
                          <a:ea typeface="Pretendard" pitchFamily="34" charset="-122"/>
                          <a:cs typeface="Pretendard" pitchFamily="34" charset="-120"/>
                        </a:rPr>
                        <a:t> 분할</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Rerank</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연속 점수(다른 눈금)</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상한 + 하한(별도)</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rerank 모드 3구간</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점수 격차</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1위 − 2위</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최소 격차</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미달 시 애매 강등</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핵심어 일치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예 / 아니오</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없으면 부정확</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검색기 합의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altLang="ko-KR" sz="1400" dirty="0">
                          <a:solidFill>
                            <a:srgbClr val="3B4557"/>
                          </a:solidFill>
                          <a:latin typeface="Pretendard" pitchFamily="34" charset="0"/>
                          <a:ea typeface="Pretendard" pitchFamily="34" charset="-122"/>
                          <a:cs typeface="Pretendard" pitchFamily="34" charset="-120"/>
                        </a:rPr>
                        <a:t>Vector·BM25</a:t>
                      </a:r>
                      <a:r>
                        <a:rPr lang="ko-KR" altLang="en-US" sz="1400" dirty="0">
                          <a:solidFill>
                            <a:srgbClr val="3B4557"/>
                          </a:solidFill>
                          <a:latin typeface="Pretendard" pitchFamily="34" charset="0"/>
                          <a:ea typeface="Pretendard" pitchFamily="34" charset="-122"/>
                          <a:cs typeface="Pretendard" pitchFamily="34" charset="-120"/>
                        </a:rPr>
                        <a:t>의 </a:t>
                      </a:r>
                      <a:endParaRPr lang="en-US" sz="1400" dirty="0">
                        <a:solidFill>
                          <a:srgbClr val="3B4557"/>
                        </a:solidFill>
                        <a:latin typeface="Pretendard" pitchFamily="34" charset="0"/>
                        <a:ea typeface="Pretendard" pitchFamily="34" charset="-122"/>
                        <a:cs typeface="Pretendard" pitchFamily="34" charset="-120"/>
                      </a:endParaRPr>
                    </a:p>
                    <a:p>
                      <a:pPr marL="0" indent="0">
                        <a:buNone/>
                      </a:pPr>
                      <a:r>
                        <a:rPr lang="en-US" sz="1400" dirty="0" err="1">
                          <a:solidFill>
                            <a:srgbClr val="3B4557"/>
                          </a:solidFill>
                          <a:latin typeface="Pretendard" pitchFamily="34" charset="0"/>
                          <a:ea typeface="Pretendard" pitchFamily="34" charset="-122"/>
                          <a:cs typeface="Pretendard" pitchFamily="34" charset="-120"/>
                        </a:rPr>
                        <a:t>상위</a:t>
                      </a:r>
                      <a:r>
                        <a:rPr lang="en-US" sz="1400" dirty="0">
                          <a:solidFill>
                            <a:srgbClr val="3B4557"/>
                          </a:solidFill>
                          <a:latin typeface="Pretendard" pitchFamily="34" charset="0"/>
                          <a:ea typeface="Pretendard" pitchFamily="34" charset="-122"/>
                          <a:cs typeface="Pretendard" pitchFamily="34" charset="-120"/>
                        </a:rPr>
                        <a:t> k 겹침 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최소 겹침</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미달 시 애매 강등</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하위 질문 충족</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하위 질문별 판정</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주 점수 기준 재사용</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일부 충족 시 애매</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6"/>
                  </a:ext>
                </a:extLst>
              </a:tr>
              <a:tr h="457200">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결과 건수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개수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0건 여부</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3B4557"/>
                          </a:solidFill>
                          <a:latin typeface="Pretendard" pitchFamily="34" charset="0"/>
                          <a:ea typeface="Pretendard" pitchFamily="34" charset="-122"/>
                          <a:cs typeface="Pretendard" pitchFamily="34" charset="-120"/>
                        </a:rPr>
                        <a:t>0건이면 부정확</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5" name="Shape 12"/>
          <p:cNvSpPr/>
          <p:nvPr/>
        </p:nvSpPr>
        <p:spPr>
          <a:xfrm>
            <a:off x="6711696" y="4457700"/>
            <a:ext cx="219456" cy="0"/>
          </a:xfrm>
          <a:prstGeom prst="line">
            <a:avLst/>
          </a:prstGeom>
          <a:noFill/>
          <a:ln w="19050">
            <a:solidFill>
              <a:srgbClr val="2E74C6"/>
            </a:solidFill>
            <a:prstDash val="solid"/>
            <a:tailEnd type="triangle"/>
          </a:ln>
        </p:spPr>
        <p:txBody>
          <a:bodyPr/>
          <a:lstStyle/>
          <a:p>
            <a:endParaRPr lang="ko-KR" altLang="en-US"/>
          </a:p>
        </p:txBody>
      </p:sp>
      <p:sp>
        <p:nvSpPr>
          <p:cNvPr id="16" name="Shape 13"/>
          <p:cNvSpPr/>
          <p:nvPr/>
        </p:nvSpPr>
        <p:spPr>
          <a:xfrm>
            <a:off x="6967728" y="2606040"/>
            <a:ext cx="4114800" cy="1161288"/>
          </a:xfrm>
          <a:prstGeom prst="roundRect">
            <a:avLst>
              <a:gd name="adj" fmla="val 6299"/>
            </a:avLst>
          </a:prstGeom>
          <a:solidFill>
            <a:srgbClr val="F5F8FC"/>
          </a:solidFill>
          <a:ln w="12700">
            <a:solidFill>
              <a:srgbClr val="D9E0EC"/>
            </a:solidFill>
            <a:prstDash val="solid"/>
          </a:ln>
        </p:spPr>
        <p:txBody>
          <a:bodyPr/>
          <a:lstStyle/>
          <a:p>
            <a:endParaRPr lang="ko-KR" altLang="en-US"/>
          </a:p>
        </p:txBody>
      </p:sp>
      <p:sp>
        <p:nvSpPr>
          <p:cNvPr id="17" name="Shape 14"/>
          <p:cNvSpPr/>
          <p:nvPr/>
        </p:nvSpPr>
        <p:spPr>
          <a:xfrm>
            <a:off x="6967728" y="2606040"/>
            <a:ext cx="868680" cy="1161288"/>
          </a:xfrm>
          <a:prstGeom prst="roundRect">
            <a:avLst>
              <a:gd name="adj" fmla="val 8421"/>
            </a:avLst>
          </a:prstGeom>
          <a:solidFill>
            <a:srgbClr val="404155"/>
          </a:solidFill>
          <a:ln/>
        </p:spPr>
        <p:txBody>
          <a:bodyPr/>
          <a:lstStyle/>
          <a:p>
            <a:endParaRPr lang="ko-KR" altLang="en-US"/>
          </a:p>
        </p:txBody>
      </p:sp>
      <p:sp>
        <p:nvSpPr>
          <p:cNvPr id="18" name="Text 15"/>
          <p:cNvSpPr/>
          <p:nvPr/>
        </p:nvSpPr>
        <p:spPr>
          <a:xfrm>
            <a:off x="6967728" y="2606040"/>
            <a:ext cx="868680" cy="1161288"/>
          </a:xfrm>
          <a:prstGeom prst="rect">
            <a:avLst/>
          </a:prstGeom>
          <a:noFill/>
          <a:ln/>
        </p:spPr>
        <p:txBody>
          <a:bodyPr wrap="square" lIns="0" tIns="0" rIns="0" bIns="0"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부정확</a:t>
            </a:r>
            <a:endParaRPr lang="en-US" sz="1700" dirty="0"/>
          </a:p>
          <a:p>
            <a:pPr marL="0" indent="0" algn="ctr">
              <a:buNone/>
            </a:pPr>
            <a:r>
              <a:rPr lang="en-US" sz="1400" dirty="0">
                <a:solidFill>
                  <a:srgbClr val="FFFFFF"/>
                </a:solidFill>
                <a:latin typeface="Pretendard" pitchFamily="34" charset="0"/>
                <a:ea typeface="Pretendard" pitchFamily="34" charset="-122"/>
                <a:cs typeface="Pretendard" pitchFamily="34" charset="-120"/>
              </a:rPr>
              <a:t>하나라도</a:t>
            </a:r>
            <a:endParaRPr lang="en-US" sz="1700" dirty="0"/>
          </a:p>
        </p:txBody>
      </p:sp>
      <p:sp>
        <p:nvSpPr>
          <p:cNvPr id="19" name="Text 16"/>
          <p:cNvSpPr/>
          <p:nvPr/>
        </p:nvSpPr>
        <p:spPr>
          <a:xfrm>
            <a:off x="7973568" y="2606040"/>
            <a:ext cx="3044952" cy="1161288"/>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 결과 0건</a:t>
            </a:r>
            <a:endParaRPr lang="en-US" sz="1400" dirty="0"/>
          </a:p>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 주 점수 1위 &lt; 하한</a:t>
            </a:r>
            <a:endParaRPr lang="en-US" sz="1400" dirty="0"/>
          </a:p>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 핵심어(코드·상품명) 불일치</a:t>
            </a:r>
            <a:endParaRPr lang="en-US" sz="1400" dirty="0"/>
          </a:p>
        </p:txBody>
      </p:sp>
      <p:sp>
        <p:nvSpPr>
          <p:cNvPr id="20" name="Shape 17"/>
          <p:cNvSpPr/>
          <p:nvPr/>
        </p:nvSpPr>
        <p:spPr>
          <a:xfrm>
            <a:off x="11119104" y="3186684"/>
            <a:ext cx="219456" cy="0"/>
          </a:xfrm>
          <a:prstGeom prst="line">
            <a:avLst/>
          </a:prstGeom>
          <a:noFill/>
          <a:ln w="19050">
            <a:solidFill>
              <a:srgbClr val="404155"/>
            </a:solidFill>
            <a:prstDash val="solid"/>
            <a:tailEnd type="triangle"/>
          </a:ln>
        </p:spPr>
        <p:txBody>
          <a:bodyPr/>
          <a:lstStyle/>
          <a:p>
            <a:endParaRPr lang="ko-KR" altLang="en-US"/>
          </a:p>
        </p:txBody>
      </p:sp>
      <p:sp>
        <p:nvSpPr>
          <p:cNvPr id="21" name="Shape 18"/>
          <p:cNvSpPr/>
          <p:nvPr/>
        </p:nvSpPr>
        <p:spPr>
          <a:xfrm>
            <a:off x="11375136" y="2606040"/>
            <a:ext cx="2752344" cy="1161288"/>
          </a:xfrm>
          <a:prstGeom prst="roundRect">
            <a:avLst>
              <a:gd name="adj" fmla="val 6299"/>
            </a:avLst>
          </a:prstGeom>
          <a:solidFill>
            <a:srgbClr val="FFFFFF"/>
          </a:solidFill>
          <a:ln w="15875">
            <a:solidFill>
              <a:srgbClr val="404155"/>
            </a:solidFill>
            <a:prstDash val="solid"/>
          </a:ln>
        </p:spPr>
        <p:txBody>
          <a:bodyPr/>
          <a:lstStyle/>
          <a:p>
            <a:endParaRPr lang="ko-KR" altLang="en-US"/>
          </a:p>
        </p:txBody>
      </p:sp>
      <p:sp>
        <p:nvSpPr>
          <p:cNvPr id="22" name="Text 19"/>
          <p:cNvSpPr/>
          <p:nvPr/>
        </p:nvSpPr>
        <p:spPr>
          <a:xfrm>
            <a:off x="11512296" y="2606040"/>
            <a:ext cx="2523744" cy="1161288"/>
          </a:xfrm>
          <a:prstGeom prst="rect">
            <a:avLst/>
          </a:prstGeom>
          <a:noFill/>
          <a:ln/>
        </p:spPr>
        <p:txBody>
          <a:bodyPr wrap="square" lIns="0" tIns="0" rIns="0" bIns="0" rtlCol="0" anchor="ctr"/>
          <a:lstStyle/>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대체 검색(웹 등)이 있으면 실행</a:t>
            </a:r>
            <a:endParaRPr lang="en-US" sz="1400" dirty="0"/>
          </a:p>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없으면 「확인 필요」로 종료</a:t>
            </a:r>
            <a:endParaRPr lang="en-US" sz="1400" dirty="0"/>
          </a:p>
        </p:txBody>
      </p:sp>
      <p:sp>
        <p:nvSpPr>
          <p:cNvPr id="23" name="Shape 20"/>
          <p:cNvSpPr/>
          <p:nvPr/>
        </p:nvSpPr>
        <p:spPr>
          <a:xfrm>
            <a:off x="6967728" y="3877056"/>
            <a:ext cx="4114800" cy="1161288"/>
          </a:xfrm>
          <a:prstGeom prst="roundRect">
            <a:avLst>
              <a:gd name="adj" fmla="val 6299"/>
            </a:avLst>
          </a:prstGeom>
          <a:solidFill>
            <a:srgbClr val="F5F8FC"/>
          </a:solidFill>
          <a:ln w="12700">
            <a:solidFill>
              <a:srgbClr val="D9E0EC"/>
            </a:solidFill>
            <a:prstDash val="solid"/>
          </a:ln>
        </p:spPr>
        <p:txBody>
          <a:bodyPr/>
          <a:lstStyle/>
          <a:p>
            <a:endParaRPr lang="ko-KR" altLang="en-US"/>
          </a:p>
        </p:txBody>
      </p:sp>
      <p:sp>
        <p:nvSpPr>
          <p:cNvPr id="24" name="Shape 21"/>
          <p:cNvSpPr/>
          <p:nvPr/>
        </p:nvSpPr>
        <p:spPr>
          <a:xfrm>
            <a:off x="6967728" y="3877056"/>
            <a:ext cx="868680" cy="1161288"/>
          </a:xfrm>
          <a:prstGeom prst="roundRect">
            <a:avLst>
              <a:gd name="adj" fmla="val 8421"/>
            </a:avLst>
          </a:prstGeom>
          <a:solidFill>
            <a:srgbClr val="1E2A5C"/>
          </a:solidFill>
          <a:ln/>
        </p:spPr>
        <p:txBody>
          <a:bodyPr/>
          <a:lstStyle/>
          <a:p>
            <a:endParaRPr lang="ko-KR" altLang="en-US"/>
          </a:p>
        </p:txBody>
      </p:sp>
      <p:sp>
        <p:nvSpPr>
          <p:cNvPr id="25" name="Text 22"/>
          <p:cNvSpPr/>
          <p:nvPr/>
        </p:nvSpPr>
        <p:spPr>
          <a:xfrm>
            <a:off x="6967728" y="3877056"/>
            <a:ext cx="868680" cy="1161288"/>
          </a:xfrm>
          <a:prstGeom prst="rect">
            <a:avLst/>
          </a:prstGeom>
          <a:noFill/>
          <a:ln/>
        </p:spPr>
        <p:txBody>
          <a:bodyPr wrap="square" lIns="0" tIns="0" rIns="0" bIns="0"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정확</a:t>
            </a:r>
            <a:endParaRPr lang="en-US" sz="1700" dirty="0"/>
          </a:p>
          <a:p>
            <a:pPr marL="0" indent="0" algn="ctr">
              <a:buNone/>
            </a:pPr>
            <a:r>
              <a:rPr lang="en-US" sz="1400" dirty="0">
                <a:solidFill>
                  <a:srgbClr val="FFFFFF"/>
                </a:solidFill>
                <a:latin typeface="Pretendard" pitchFamily="34" charset="0"/>
                <a:ea typeface="Pretendard" pitchFamily="34" charset="-122"/>
                <a:cs typeface="Pretendard" pitchFamily="34" charset="-120"/>
              </a:rPr>
              <a:t>모두</a:t>
            </a:r>
            <a:endParaRPr lang="en-US" sz="1700" dirty="0"/>
          </a:p>
        </p:txBody>
      </p:sp>
      <p:sp>
        <p:nvSpPr>
          <p:cNvPr id="26" name="Text 23"/>
          <p:cNvSpPr/>
          <p:nvPr/>
        </p:nvSpPr>
        <p:spPr>
          <a:xfrm>
            <a:off x="7973568" y="3877056"/>
            <a:ext cx="3044952" cy="1161288"/>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 주 점수 1위 ≥ 상한</a:t>
            </a:r>
            <a:endParaRPr lang="en-US" sz="1400" dirty="0"/>
          </a:p>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 핵심어 포함 · 하위 질문 모두 충족</a:t>
            </a:r>
            <a:endParaRPr lang="en-US" sz="1400" dirty="0"/>
          </a:p>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 격차·합의 기준 충족</a:t>
            </a:r>
            <a:endParaRPr lang="en-US" sz="1400" dirty="0"/>
          </a:p>
        </p:txBody>
      </p:sp>
      <p:sp>
        <p:nvSpPr>
          <p:cNvPr id="27" name="Shape 24"/>
          <p:cNvSpPr/>
          <p:nvPr/>
        </p:nvSpPr>
        <p:spPr>
          <a:xfrm>
            <a:off x="11119104" y="4457700"/>
            <a:ext cx="219456" cy="0"/>
          </a:xfrm>
          <a:prstGeom prst="line">
            <a:avLst/>
          </a:prstGeom>
          <a:noFill/>
          <a:ln w="19050">
            <a:solidFill>
              <a:srgbClr val="1E2A5C"/>
            </a:solidFill>
            <a:prstDash val="solid"/>
            <a:tailEnd type="triangle"/>
          </a:ln>
        </p:spPr>
        <p:txBody>
          <a:bodyPr/>
          <a:lstStyle/>
          <a:p>
            <a:endParaRPr lang="ko-KR" altLang="en-US"/>
          </a:p>
        </p:txBody>
      </p:sp>
      <p:sp>
        <p:nvSpPr>
          <p:cNvPr id="28" name="Shape 25"/>
          <p:cNvSpPr/>
          <p:nvPr/>
        </p:nvSpPr>
        <p:spPr>
          <a:xfrm>
            <a:off x="11375136" y="3877056"/>
            <a:ext cx="2752344" cy="1161288"/>
          </a:xfrm>
          <a:prstGeom prst="roundRect">
            <a:avLst>
              <a:gd name="adj" fmla="val 6299"/>
            </a:avLst>
          </a:prstGeom>
          <a:solidFill>
            <a:srgbClr val="FFFFFF"/>
          </a:solidFill>
          <a:ln w="15875">
            <a:solidFill>
              <a:srgbClr val="1E2A5C"/>
            </a:solidFill>
            <a:prstDash val="solid"/>
          </a:ln>
        </p:spPr>
        <p:txBody>
          <a:bodyPr/>
          <a:lstStyle/>
          <a:p>
            <a:endParaRPr lang="ko-KR" altLang="en-US"/>
          </a:p>
        </p:txBody>
      </p:sp>
      <p:sp>
        <p:nvSpPr>
          <p:cNvPr id="29" name="Text 26"/>
          <p:cNvSpPr/>
          <p:nvPr/>
        </p:nvSpPr>
        <p:spPr>
          <a:xfrm>
            <a:off x="11512296" y="3877056"/>
            <a:ext cx="2523744" cy="1161288"/>
          </a:xfrm>
          <a:prstGeom prst="rect">
            <a:avLst/>
          </a:prstGeom>
          <a:noFill/>
          <a:ln/>
        </p:spPr>
        <p:txBody>
          <a:bodyPr wrap="square" lIns="0" tIns="0" rIns="0" bIns="0" rtlCol="0" anchor="ctr"/>
          <a:lstStyle/>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답변 생성으로 진행</a:t>
            </a:r>
            <a:endParaRPr lang="en-US" sz="1400" dirty="0"/>
          </a:p>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판정 근거(신호값)는 로그로 남김</a:t>
            </a:r>
            <a:endParaRPr lang="en-US" sz="1400" dirty="0"/>
          </a:p>
        </p:txBody>
      </p:sp>
      <p:sp>
        <p:nvSpPr>
          <p:cNvPr id="30" name="Shape 27"/>
          <p:cNvSpPr/>
          <p:nvPr/>
        </p:nvSpPr>
        <p:spPr>
          <a:xfrm>
            <a:off x="6967728" y="5148072"/>
            <a:ext cx="4114800" cy="1161288"/>
          </a:xfrm>
          <a:prstGeom prst="roundRect">
            <a:avLst>
              <a:gd name="adj" fmla="val 6299"/>
            </a:avLst>
          </a:prstGeom>
          <a:solidFill>
            <a:srgbClr val="F5F8FC"/>
          </a:solidFill>
          <a:ln w="12700">
            <a:solidFill>
              <a:srgbClr val="D9E0EC"/>
            </a:solidFill>
            <a:prstDash val="solid"/>
          </a:ln>
        </p:spPr>
        <p:txBody>
          <a:bodyPr/>
          <a:lstStyle/>
          <a:p>
            <a:endParaRPr lang="ko-KR" altLang="en-US"/>
          </a:p>
        </p:txBody>
      </p:sp>
      <p:sp>
        <p:nvSpPr>
          <p:cNvPr id="31" name="Shape 28"/>
          <p:cNvSpPr/>
          <p:nvPr/>
        </p:nvSpPr>
        <p:spPr>
          <a:xfrm>
            <a:off x="6967728" y="5148072"/>
            <a:ext cx="868680" cy="1161288"/>
          </a:xfrm>
          <a:prstGeom prst="roundRect">
            <a:avLst>
              <a:gd name="adj" fmla="val 8421"/>
            </a:avLst>
          </a:prstGeom>
          <a:solidFill>
            <a:srgbClr val="2E74C6"/>
          </a:solidFill>
          <a:ln/>
        </p:spPr>
        <p:txBody>
          <a:bodyPr/>
          <a:lstStyle/>
          <a:p>
            <a:endParaRPr lang="ko-KR" altLang="en-US"/>
          </a:p>
        </p:txBody>
      </p:sp>
      <p:sp>
        <p:nvSpPr>
          <p:cNvPr id="32" name="Text 29"/>
          <p:cNvSpPr/>
          <p:nvPr/>
        </p:nvSpPr>
        <p:spPr>
          <a:xfrm>
            <a:off x="6967728" y="5148072"/>
            <a:ext cx="868680" cy="1161288"/>
          </a:xfrm>
          <a:prstGeom prst="rect">
            <a:avLst/>
          </a:prstGeom>
          <a:noFill/>
          <a:ln/>
        </p:spPr>
        <p:txBody>
          <a:bodyPr wrap="square" lIns="0" tIns="0" rIns="0" bIns="0" rtlCol="0" anchor="ctr"/>
          <a:lstStyle/>
          <a:p>
            <a:pPr marL="0" indent="0" algn="ctr">
              <a:buNone/>
            </a:pPr>
            <a:r>
              <a:rPr lang="en-US" sz="1700" b="1" dirty="0">
                <a:solidFill>
                  <a:srgbClr val="FFFFFF"/>
                </a:solidFill>
                <a:latin typeface="Pretendard" pitchFamily="34" charset="0"/>
                <a:ea typeface="Pretendard" pitchFamily="34" charset="-122"/>
                <a:cs typeface="Pretendard" pitchFamily="34" charset="-120"/>
              </a:rPr>
              <a:t>애매</a:t>
            </a:r>
            <a:endParaRPr lang="en-US" sz="1700" dirty="0"/>
          </a:p>
          <a:p>
            <a:pPr marL="0" indent="0" algn="ctr">
              <a:buNone/>
            </a:pPr>
            <a:r>
              <a:rPr lang="en-US" sz="1400" dirty="0">
                <a:solidFill>
                  <a:srgbClr val="FFFFFF"/>
                </a:solidFill>
                <a:latin typeface="Pretendard" pitchFamily="34" charset="0"/>
                <a:ea typeface="Pretendard" pitchFamily="34" charset="-122"/>
                <a:cs typeface="Pretendard" pitchFamily="34" charset="-120"/>
              </a:rPr>
              <a:t>나머지</a:t>
            </a:r>
            <a:endParaRPr lang="en-US" sz="1700" dirty="0"/>
          </a:p>
        </p:txBody>
      </p:sp>
      <p:sp>
        <p:nvSpPr>
          <p:cNvPr id="33" name="Text 30"/>
          <p:cNvSpPr/>
          <p:nvPr/>
        </p:nvSpPr>
        <p:spPr>
          <a:xfrm>
            <a:off x="7973568" y="5148072"/>
            <a:ext cx="3044952" cy="1161288"/>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 주 점수가 상한과 하한 사이</a:t>
            </a:r>
            <a:endParaRPr lang="en-US" sz="1400" dirty="0"/>
          </a:p>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 하위 질문 일부만 충족</a:t>
            </a:r>
            <a:endParaRPr lang="en-US" sz="1400" dirty="0"/>
          </a:p>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 격차·합의 미달로 강등</a:t>
            </a:r>
            <a:endParaRPr lang="en-US" sz="1400" dirty="0"/>
          </a:p>
        </p:txBody>
      </p:sp>
      <p:sp>
        <p:nvSpPr>
          <p:cNvPr id="34" name="Shape 31"/>
          <p:cNvSpPr/>
          <p:nvPr/>
        </p:nvSpPr>
        <p:spPr>
          <a:xfrm>
            <a:off x="11119104" y="5728716"/>
            <a:ext cx="219456" cy="0"/>
          </a:xfrm>
          <a:prstGeom prst="line">
            <a:avLst/>
          </a:prstGeom>
          <a:noFill/>
          <a:ln w="19050">
            <a:solidFill>
              <a:srgbClr val="2E74C6"/>
            </a:solidFill>
            <a:prstDash val="solid"/>
            <a:tailEnd type="triangle"/>
          </a:ln>
        </p:spPr>
        <p:txBody>
          <a:bodyPr/>
          <a:lstStyle/>
          <a:p>
            <a:endParaRPr lang="ko-KR" altLang="en-US"/>
          </a:p>
        </p:txBody>
      </p:sp>
      <p:sp>
        <p:nvSpPr>
          <p:cNvPr id="35" name="Shape 32"/>
          <p:cNvSpPr/>
          <p:nvPr/>
        </p:nvSpPr>
        <p:spPr>
          <a:xfrm>
            <a:off x="11375136" y="5148072"/>
            <a:ext cx="2752344" cy="1161288"/>
          </a:xfrm>
          <a:prstGeom prst="roundRect">
            <a:avLst>
              <a:gd name="adj" fmla="val 6299"/>
            </a:avLst>
          </a:prstGeom>
          <a:solidFill>
            <a:srgbClr val="FFFFFF"/>
          </a:solidFill>
          <a:ln w="15875">
            <a:solidFill>
              <a:srgbClr val="2E74C6"/>
            </a:solidFill>
            <a:prstDash val="solid"/>
          </a:ln>
        </p:spPr>
        <p:txBody>
          <a:bodyPr/>
          <a:lstStyle/>
          <a:p>
            <a:endParaRPr lang="ko-KR" altLang="en-US"/>
          </a:p>
        </p:txBody>
      </p:sp>
      <p:sp>
        <p:nvSpPr>
          <p:cNvPr id="36" name="Text 33"/>
          <p:cNvSpPr/>
          <p:nvPr/>
        </p:nvSpPr>
        <p:spPr>
          <a:xfrm>
            <a:off x="11512296" y="5148072"/>
            <a:ext cx="2523744" cy="1161288"/>
          </a:xfrm>
          <a:prstGeom prst="rect">
            <a:avLst/>
          </a:prstGeom>
          <a:noFill/>
          <a:ln/>
        </p:spPr>
        <p:txBody>
          <a:bodyPr wrap="square" lIns="0" tIns="0" rIns="0" bIns="0" rtlCol="0" anchor="ctr"/>
          <a:lstStyle/>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질문 재작성 후 재검색(상한 있음)</a:t>
            </a:r>
            <a:endParaRPr lang="en-US" sz="1400" dirty="0"/>
          </a:p>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여전히 애매 → LLM 평가자(선택)</a:t>
            </a:r>
            <a:endParaRPr lang="en-US" sz="1400" dirty="0"/>
          </a:p>
        </p:txBody>
      </p:sp>
      <p:sp>
        <p:nvSpPr>
          <p:cNvPr id="37" name="Text 34"/>
          <p:cNvSpPr/>
          <p:nvPr/>
        </p:nvSpPr>
        <p:spPr>
          <a:xfrm>
            <a:off x="534924" y="6378800"/>
            <a:ext cx="1015270" cy="557781"/>
          </a:xfrm>
          <a:prstGeom prst="rect">
            <a:avLst/>
          </a:prstGeom>
          <a:solidFill>
            <a:schemeClr val="accent5">
              <a:lumMod val="20000"/>
              <a:lumOff val="80000"/>
            </a:schemeClr>
          </a:solidFill>
          <a:ln>
            <a:solidFill>
              <a:schemeClr val="bg1">
                <a:lumMod val="50000"/>
              </a:schemeClr>
            </a:solidFill>
          </a:ln>
        </p:spPr>
        <p:txBody>
          <a:bodyPr wrap="square" lIns="0" tIns="0" rIns="0" bIns="0" rtlCol="0" anchor="ctr"/>
          <a:lstStyle/>
          <a:p>
            <a:pPr marL="0" indent="0" algn="ctr">
              <a:buNone/>
            </a:pPr>
            <a:r>
              <a:rPr lang="en-US" sz="1400" b="1" dirty="0">
                <a:latin typeface="Pretendard" pitchFamily="34" charset="0"/>
                <a:ea typeface="Pretendard" pitchFamily="34" charset="-122"/>
                <a:cs typeface="Pretendard" pitchFamily="34" charset="-120"/>
              </a:rPr>
              <a:t>주 </a:t>
            </a:r>
            <a:r>
              <a:rPr lang="en-US" sz="1400" b="1" dirty="0" err="1">
                <a:latin typeface="Pretendard" pitchFamily="34" charset="0"/>
                <a:ea typeface="Pretendard" pitchFamily="34" charset="-122"/>
                <a:cs typeface="Pretendard" pitchFamily="34" charset="-120"/>
              </a:rPr>
              <a:t>점수</a:t>
            </a:r>
            <a:r>
              <a:rPr lang="en-US" sz="1400" b="1" dirty="0">
                <a:latin typeface="Pretendard" pitchFamily="34" charset="0"/>
                <a:ea typeface="Pretendard" pitchFamily="34" charset="-122"/>
                <a:cs typeface="Pretendard" pitchFamily="34" charset="-120"/>
              </a:rPr>
              <a:t> </a:t>
            </a:r>
            <a:r>
              <a:rPr lang="ko-KR" altLang="en-US" sz="1400" b="1" dirty="0">
                <a:latin typeface="Pretendard" pitchFamily="34" charset="0"/>
                <a:ea typeface="Pretendard" pitchFamily="34" charset="-122"/>
                <a:cs typeface="Pretendard" pitchFamily="34" charset="-120"/>
              </a:rPr>
              <a:t>결정</a:t>
            </a:r>
            <a:endParaRPr lang="en-US" sz="1400" b="1" dirty="0"/>
          </a:p>
        </p:txBody>
      </p:sp>
      <p:sp>
        <p:nvSpPr>
          <p:cNvPr id="38" name="Shape 35"/>
          <p:cNvSpPr/>
          <p:nvPr/>
        </p:nvSpPr>
        <p:spPr>
          <a:xfrm>
            <a:off x="502920" y="7206334"/>
            <a:ext cx="64008" cy="411480"/>
          </a:xfrm>
          <a:prstGeom prst="rect">
            <a:avLst/>
          </a:prstGeom>
          <a:solidFill>
            <a:srgbClr val="2E74C6"/>
          </a:solidFill>
          <a:ln/>
        </p:spPr>
        <p:txBody>
          <a:bodyPr/>
          <a:lstStyle/>
          <a:p>
            <a:endParaRPr lang="ko-KR" altLang="en-US"/>
          </a:p>
        </p:txBody>
      </p:sp>
      <p:sp>
        <p:nvSpPr>
          <p:cNvPr id="39" name="Text 36"/>
          <p:cNvSpPr/>
          <p:nvPr/>
        </p:nvSpPr>
        <p:spPr>
          <a:xfrm>
            <a:off x="685800" y="7206334"/>
            <a:ext cx="13441680" cy="411480"/>
          </a:xfrm>
          <a:prstGeom prst="rect">
            <a:avLst/>
          </a:prstGeom>
          <a:noFill/>
          <a:ln/>
        </p:spPr>
        <p:txBody>
          <a:bodyPr wrap="square" lIns="0" tIns="0" rIns="0" bIns="0" rtlCol="0" anchor="ctr"/>
          <a:lstStyle/>
          <a:p>
            <a:pPr marL="0" indent="0">
              <a:buNone/>
            </a:pPr>
            <a:r>
              <a:rPr lang="en-US" sz="1900" b="1" i="1" dirty="0">
                <a:solidFill>
                  <a:srgbClr val="1E2A5C"/>
                </a:solidFill>
                <a:latin typeface="Pretendard" pitchFamily="34" charset="0"/>
                <a:ea typeface="Pretendard" pitchFamily="34" charset="-122"/>
                <a:cs typeface="Pretendard" pitchFamily="34" charset="-120"/>
              </a:rPr>
              <a:t>기준값은 평가셋으로 결정</a:t>
            </a:r>
            <a:endParaRPr lang="en-US" sz="1900" dirty="0"/>
          </a:p>
        </p:txBody>
      </p:sp>
      <p:sp>
        <p:nvSpPr>
          <p:cNvPr id="41"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lang="en-US" b="0"/>
              <a:t>6</a:t>
            </a:fld>
            <a:endParaRPr lang="en-US"/>
          </a:p>
        </p:txBody>
      </p:sp>
      <p:sp>
        <p:nvSpPr>
          <p:cNvPr id="43" name="Shape 18">
            <a:extLst>
              <a:ext uri="{FF2B5EF4-FFF2-40B4-BE49-F238E27FC236}">
                <a16:creationId xmlns:a16="http://schemas.microsoft.com/office/drawing/2014/main" id="{3BB8C334-A240-D098-9E9E-0C9157947F64}"/>
              </a:ext>
            </a:extLst>
          </p:cNvPr>
          <p:cNvSpPr/>
          <p:nvPr/>
        </p:nvSpPr>
        <p:spPr>
          <a:xfrm>
            <a:off x="1790604" y="6378800"/>
            <a:ext cx="12336875" cy="557781"/>
          </a:xfrm>
          <a:prstGeom prst="roundRect">
            <a:avLst>
              <a:gd name="adj" fmla="val 6299"/>
            </a:avLst>
          </a:prstGeom>
          <a:solidFill>
            <a:srgbClr val="FFFFFF"/>
          </a:solidFill>
          <a:ln w="15875">
            <a:solidFill>
              <a:srgbClr val="404155"/>
            </a:solidFill>
            <a:prstDash val="solid"/>
          </a:ln>
        </p:spPr>
        <p:txBody>
          <a:bodyPr anchor="ctr"/>
          <a:lstStyle/>
          <a:p>
            <a:r>
              <a:rPr lang="ko-KR" altLang="en-US" sz="1600" dirty="0">
                <a:latin typeface="Pretendard" panose="02000503000000020004" pitchFamily="50" charset="-127"/>
                <a:ea typeface="Pretendard" panose="02000503000000020004" pitchFamily="50" charset="-127"/>
                <a:cs typeface="Pretendard" panose="02000503000000020004" pitchFamily="50" charset="-127"/>
              </a:rPr>
              <a:t>최종순위를 정한 점수로 함 </a:t>
            </a:r>
            <a:r>
              <a:rPr lang="en-US" altLang="ko-KR" sz="1600" dirty="0">
                <a:latin typeface="Pretendard" panose="02000503000000020004" pitchFamily="50" charset="-127"/>
                <a:ea typeface="Pretendard" panose="02000503000000020004" pitchFamily="50" charset="-127"/>
                <a:cs typeface="Pretendard" panose="02000503000000020004" pitchFamily="50" charset="-127"/>
                <a:sym typeface="Wingdings" panose="05000000000000000000" pitchFamily="2" charset="2"/>
              </a:rPr>
              <a:t> </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Vector Only: Vector </a:t>
            </a: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점수</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 | </a:t>
            </a:r>
            <a:r>
              <a:rPr lang="en-US" altLang="ko-KR" sz="1600" dirty="0" err="1">
                <a:latin typeface="Pretendard" panose="02000503000000020004" pitchFamily="50" charset="-127"/>
                <a:ea typeface="Pretendard" panose="02000503000000020004" pitchFamily="50" charset="-127"/>
                <a:cs typeface="Pretendard" panose="02000503000000020004" pitchFamily="50" charset="-127"/>
              </a:rPr>
              <a:t>Vector+Rerank</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600" dirty="0" err="1">
                <a:latin typeface="Pretendard" panose="02000503000000020004" pitchFamily="50" charset="-127"/>
                <a:ea typeface="Pretendard" panose="02000503000000020004" pitchFamily="50" charset="-127"/>
                <a:cs typeface="Pretendard" panose="02000503000000020004" pitchFamily="50" charset="-127"/>
              </a:rPr>
              <a:t>Rerank</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점수</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 | Hybrid: Vector </a:t>
            </a: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점수</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 | </a:t>
            </a:r>
            <a:r>
              <a:rPr lang="en-US" altLang="ko-KR" sz="1600" dirty="0" err="1">
                <a:latin typeface="Pretendard" panose="02000503000000020004" pitchFamily="50" charset="-127"/>
                <a:ea typeface="Pretendard" panose="02000503000000020004" pitchFamily="50" charset="-127"/>
                <a:cs typeface="Pretendard" panose="02000503000000020004" pitchFamily="50" charset="-127"/>
              </a:rPr>
              <a:t>Hybrid+Rerank</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600" dirty="0" err="1">
                <a:latin typeface="Pretendard" panose="02000503000000020004" pitchFamily="50" charset="-127"/>
                <a:ea typeface="Pretendard" panose="02000503000000020004" pitchFamily="50" charset="-127"/>
                <a:cs typeface="Pretendard" panose="02000503000000020004" pitchFamily="50" charset="-127"/>
              </a:rPr>
              <a:t>Rerank</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점수</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marL="0" indent="0">
              <a:buNone/>
            </a:pPr>
            <a:r>
              <a:rPr lang="en-US" sz="1500" b="1" dirty="0">
                <a:solidFill>
                  <a:srgbClr val="7C8598"/>
                </a:solidFill>
                <a:latin typeface="Pretendard" pitchFamily="34" charset="0"/>
                <a:ea typeface="Pretendard" pitchFamily="34" charset="-122"/>
                <a:cs typeface="Pretendard" pitchFamily="34" charset="-120"/>
              </a:rPr>
              <a:t>Ⅲ. 문서 검색 아키텍처 › 3. 도입 로드맵</a:t>
            </a:r>
            <a:endParaRPr lang="en-US" sz="1500" dirty="0"/>
          </a:p>
        </p:txBody>
      </p:sp>
      <p:sp>
        <p:nvSpPr>
          <p:cNvPr id="3" name="Text 1"/>
          <p:cNvSpPr/>
          <p:nvPr/>
        </p:nvSpPr>
        <p:spPr>
          <a:xfrm>
            <a:off x="502920" y="640080"/>
            <a:ext cx="12801600" cy="685800"/>
          </a:xfrm>
          <a:prstGeom prst="rect">
            <a:avLst/>
          </a:prstGeom>
          <a:noFill/>
          <a:ln/>
        </p:spPr>
        <p:txBody>
          <a:bodyPr wrap="square" rtlCol="0" anchor="ctr"/>
          <a:lstStyle/>
          <a:p>
            <a:pPr marL="0" indent="0">
              <a:buNone/>
            </a:pPr>
            <a:r>
              <a:rPr lang="en-US" sz="4800" b="1" dirty="0">
                <a:solidFill>
                  <a:srgbClr val="1E2A5C"/>
                </a:solidFill>
                <a:latin typeface="Pretendard" pitchFamily="34" charset="0"/>
                <a:ea typeface="Pretendard" pitchFamily="34" charset="-122"/>
                <a:cs typeface="Pretendard" pitchFamily="34" charset="-120"/>
              </a:rPr>
              <a:t>단계적으로 쌓기</a:t>
            </a:r>
            <a:endParaRPr lang="en-US" sz="4800" dirty="0"/>
          </a:p>
        </p:txBody>
      </p:sp>
      <p:sp>
        <p:nvSpPr>
          <p:cNvPr id="4" name="Shape 2"/>
          <p:cNvSpPr/>
          <p:nvPr/>
        </p:nvSpPr>
        <p:spPr>
          <a:xfrm>
            <a:off x="502920" y="1389888"/>
            <a:ext cx="13624560" cy="36576"/>
          </a:xfrm>
          <a:prstGeom prst="rect">
            <a:avLst/>
          </a:prstGeom>
          <a:solidFill>
            <a:srgbClr val="D9E0EC"/>
          </a:solidFill>
          <a:ln/>
        </p:spPr>
        <p:txBody>
          <a:bodyPr/>
          <a:lstStyle/>
          <a:p>
            <a:endParaRPr lang="ko-KR" altLang="en-US"/>
          </a:p>
        </p:txBody>
      </p:sp>
      <p:sp>
        <p:nvSpPr>
          <p:cNvPr id="5" name="Shape 3"/>
          <p:cNvSpPr/>
          <p:nvPr/>
        </p:nvSpPr>
        <p:spPr>
          <a:xfrm>
            <a:off x="502920" y="1389888"/>
            <a:ext cx="1920240" cy="36576"/>
          </a:xfrm>
          <a:prstGeom prst="rect">
            <a:avLst/>
          </a:prstGeom>
          <a:solidFill>
            <a:srgbClr val="2E74C6"/>
          </a:solidFill>
          <a:ln/>
        </p:spPr>
        <p:txBody>
          <a:bodyPr/>
          <a:lstStyle/>
          <a:p>
            <a:endParaRPr lang="ko-KR" altLang="en-US"/>
          </a:p>
        </p:txBody>
      </p:sp>
      <p:sp>
        <p:nvSpPr>
          <p:cNvPr id="6" name="Text 4"/>
          <p:cNvSpPr/>
          <p:nvPr/>
        </p:nvSpPr>
        <p:spPr>
          <a:xfrm>
            <a:off x="502920" y="1517904"/>
            <a:ext cx="13624560" cy="411480"/>
          </a:xfrm>
          <a:prstGeom prst="rect">
            <a:avLst/>
          </a:prstGeom>
          <a:noFill/>
          <a:ln/>
        </p:spPr>
        <p:txBody>
          <a:bodyPr wrap="square" rtlCol="0" anchor="ctr"/>
          <a:lstStyle/>
          <a:p>
            <a:pPr marL="0" indent="0">
              <a:buNone/>
            </a:pPr>
            <a:r>
              <a:rPr lang="en-US" sz="1800" dirty="0">
                <a:solidFill>
                  <a:srgbClr val="4A5364"/>
                </a:solidFill>
                <a:latin typeface="Pretendard" pitchFamily="34" charset="0"/>
                <a:ea typeface="Pretendard" pitchFamily="34" charset="-122"/>
                <a:cs typeface="Pretendard" pitchFamily="34" charset="-120"/>
              </a:rPr>
              <a:t>패턴은 한 번에 다 올리는 것이 아니라, 그 패턴이 필요한 신호가 보일 때 하나씩 얹는 것임</a:t>
            </a:r>
            <a:endParaRPr lang="en-US" sz="1800" dirty="0"/>
          </a:p>
        </p:txBody>
      </p:sp>
      <p:sp>
        <p:nvSpPr>
          <p:cNvPr id="7" name="Shape 5"/>
          <p:cNvSpPr/>
          <p:nvPr/>
        </p:nvSpPr>
        <p:spPr>
          <a:xfrm>
            <a:off x="502920" y="2103120"/>
            <a:ext cx="8229600" cy="411480"/>
          </a:xfrm>
          <a:prstGeom prst="roundRect">
            <a:avLst>
              <a:gd name="adj" fmla="val 11111"/>
            </a:avLst>
          </a:prstGeom>
          <a:solidFill>
            <a:srgbClr val="404155"/>
          </a:solidFill>
          <a:ln/>
        </p:spPr>
        <p:txBody>
          <a:bodyPr/>
          <a:lstStyle/>
          <a:p>
            <a:endParaRPr lang="ko-KR" altLang="en-US"/>
          </a:p>
        </p:txBody>
      </p:sp>
      <p:sp>
        <p:nvSpPr>
          <p:cNvPr id="8" name="Text 6"/>
          <p:cNvSpPr/>
          <p:nvPr/>
        </p:nvSpPr>
        <p:spPr>
          <a:xfrm>
            <a:off x="640080" y="2103120"/>
            <a:ext cx="7955280" cy="411480"/>
          </a:xfrm>
          <a:prstGeom prst="rect">
            <a:avLst/>
          </a:prstGeom>
          <a:noFill/>
          <a:ln/>
        </p:spPr>
        <p:txBody>
          <a:bodyPr wrap="square" rtlCol="0" anchor="ctr"/>
          <a:lstStyle/>
          <a:p>
            <a:pPr marL="0" indent="0">
              <a:buNone/>
            </a:pPr>
            <a:r>
              <a:rPr lang="en-US" sz="1600" b="1" dirty="0">
                <a:solidFill>
                  <a:srgbClr val="FFFFFF"/>
                </a:solidFill>
                <a:latin typeface="Pretendard" pitchFamily="34" charset="0"/>
                <a:ea typeface="Pretendard" pitchFamily="34" charset="-122"/>
                <a:cs typeface="Pretendard" pitchFamily="34" charset="-120"/>
              </a:rPr>
              <a:t>도입 로드맵 — 위에서 아래로, 신호가 보일 때만</a:t>
            </a:r>
            <a:endParaRPr lang="en-US" sz="1600" dirty="0"/>
          </a:p>
        </p:txBody>
      </p:sp>
      <p:sp>
        <p:nvSpPr>
          <p:cNvPr id="9" name="Shape 7"/>
          <p:cNvSpPr/>
          <p:nvPr/>
        </p:nvSpPr>
        <p:spPr>
          <a:xfrm>
            <a:off x="8961120" y="2103120"/>
            <a:ext cx="5166360" cy="411480"/>
          </a:xfrm>
          <a:prstGeom prst="roundRect">
            <a:avLst>
              <a:gd name="adj" fmla="val 11111"/>
            </a:avLst>
          </a:prstGeom>
          <a:solidFill>
            <a:srgbClr val="404155"/>
          </a:solidFill>
          <a:ln/>
        </p:spPr>
        <p:txBody>
          <a:bodyPr/>
          <a:lstStyle/>
          <a:p>
            <a:endParaRPr lang="ko-KR" altLang="en-US"/>
          </a:p>
        </p:txBody>
      </p:sp>
      <p:sp>
        <p:nvSpPr>
          <p:cNvPr id="10" name="Text 8"/>
          <p:cNvSpPr/>
          <p:nvPr/>
        </p:nvSpPr>
        <p:spPr>
          <a:xfrm>
            <a:off x="9098280" y="2103120"/>
            <a:ext cx="4892040" cy="411480"/>
          </a:xfrm>
          <a:prstGeom prst="rect">
            <a:avLst/>
          </a:prstGeom>
          <a:noFill/>
          <a:ln/>
        </p:spPr>
        <p:txBody>
          <a:bodyPr wrap="square" rtlCol="0" anchor="ctr"/>
          <a:lstStyle/>
          <a:p>
            <a:pPr marL="0" indent="0">
              <a:buNone/>
            </a:pPr>
            <a:r>
              <a:rPr lang="en-US" sz="1600" b="1" dirty="0">
                <a:solidFill>
                  <a:srgbClr val="FFFFFF"/>
                </a:solidFill>
                <a:latin typeface="Pretendard" pitchFamily="34" charset="0"/>
                <a:ea typeface="Pretendard" pitchFamily="34" charset="-122"/>
                <a:cs typeface="Pretendard" pitchFamily="34" charset="-120"/>
              </a:rPr>
              <a:t>증상 → 점검할 패턴</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2651760"/>
          <a:ext cx="8229600" cy="3730752"/>
        </p:xfrm>
        <a:graphic>
          <a:graphicData uri="http://schemas.openxmlformats.org/drawingml/2006/table">
            <a:tbl>
              <a:tblPr/>
              <a:tblGrid>
                <a:gridCol w="14173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21792">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패턴</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이럴 때 도입(교재)</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우리 서비스에서 보이는 신호</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621792">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Basic</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단순 Q&amp;A, PoC</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"연회비 면제 조건은?" 한 번 검색으로 충분</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Self-RAG</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검색 필요 여부가 다양, 결과 품질은 대체로 양호</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인사·잡담에도 매번 검색함</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621792">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CRAG</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검색 품질 불안정, 재검색·웹 검색 등 교정 필요</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찾아온 문서가 질문과 어긋나는 일이 잦음</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Adaptive</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쿼리 복잡도가 다양</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단순 질문과 "면제 + 적립" 복합 질문이 섞임</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621792">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Agentic</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복잡한 멀티스텝 태스크</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여러 단계 조사·외부 도구가 필요한 질문</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9"/>
          <p:cNvSpPr/>
          <p:nvPr/>
        </p:nvSpPr>
        <p:spPr>
          <a:xfrm>
            <a:off x="502920" y="6400800"/>
            <a:ext cx="8229600" cy="292608"/>
          </a:xfrm>
          <a:prstGeom prst="rect">
            <a:avLst/>
          </a:prstGeom>
          <a:noFill/>
          <a:ln/>
        </p:spPr>
        <p:txBody>
          <a:bodyPr wrap="square"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아래로 갈수록 LLM 호출 수와 구현 복잡도가 커짐(1장 표 참고)</a:t>
            </a:r>
            <a:endParaRPr lang="en-US" sz="14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8961120" y="2651760"/>
          <a:ext cx="5166360" cy="2487168"/>
        </p:xfrm>
        <a:graphic>
          <a:graphicData uri="http://schemas.openxmlformats.org/drawingml/2006/table">
            <a:tbl>
              <a:tblPr/>
              <a:tblGrid>
                <a:gridCol w="27889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621792">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증상</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점검할 패턴</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621792">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검색 결과가 나쁨</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CRAG 교정 로직</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불필요한 검색이 일어남</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Self-RAG 판단 로직</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621792">
                <a:tc>
                  <a:txBody>
                    <a:bodyPr/>
                    <a:lstStyle/>
                    <a:p>
                      <a:pPr marL="0" indent="0">
                        <a:buNone/>
                      </a:pPr>
                      <a:r>
                        <a:rPr lang="en-US" sz="1500" b="1" dirty="0">
                          <a:solidFill>
                            <a:srgbClr val="1E2A5C"/>
                          </a:solidFill>
                          <a:latin typeface="Pretendard" pitchFamily="34" charset="0"/>
                          <a:ea typeface="Pretendard" pitchFamily="34" charset="-122"/>
                          <a:cs typeface="Pretendard" pitchFamily="34" charset="-120"/>
                        </a:rPr>
                        <a:t>전략 선택이 틀림</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500" dirty="0">
                          <a:solidFill>
                            <a:srgbClr val="3B4557"/>
                          </a:solidFill>
                          <a:latin typeface="Pretendard" pitchFamily="34" charset="0"/>
                          <a:ea typeface="Pretendard" pitchFamily="34" charset="-122"/>
                          <a:cs typeface="Pretendard" pitchFamily="34" charset="-120"/>
                        </a:rPr>
                        <a:t>Adaptive 라우터</a:t>
                      </a:r>
                      <a:endParaRPr lang="en-US" sz="1500" dirty="0">
                        <a:latin typeface="Pretendard" charset="0"/>
                        <a:ea typeface="Pretendard" charset="0"/>
                        <a:cs typeface="Pretendard" charset="0"/>
                      </a:endParaRPr>
                    </a:p>
                  </a:txBody>
                  <a:tcPr marL="109728" marR="109728" marT="0" marB="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4" name="Shape 10"/>
          <p:cNvSpPr/>
          <p:nvPr/>
        </p:nvSpPr>
        <p:spPr>
          <a:xfrm>
            <a:off x="8961120" y="5321808"/>
            <a:ext cx="5166360" cy="1060704"/>
          </a:xfrm>
          <a:prstGeom prst="roundRect">
            <a:avLst>
              <a:gd name="adj" fmla="val 8621"/>
            </a:avLst>
          </a:prstGeom>
          <a:solidFill>
            <a:srgbClr val="EEF3FA"/>
          </a:solidFill>
          <a:ln w="12700">
            <a:solidFill>
              <a:srgbClr val="D9E0EC"/>
            </a:solidFill>
            <a:prstDash val="solid"/>
          </a:ln>
        </p:spPr>
        <p:txBody>
          <a:bodyPr/>
          <a:lstStyle/>
          <a:p>
            <a:endParaRPr lang="ko-KR" altLang="en-US"/>
          </a:p>
        </p:txBody>
      </p:sp>
      <p:sp>
        <p:nvSpPr>
          <p:cNvPr id="15" name="Text 11"/>
          <p:cNvSpPr/>
          <p:nvPr/>
        </p:nvSpPr>
        <p:spPr>
          <a:xfrm>
            <a:off x="9144000" y="5321808"/>
            <a:ext cx="4800600" cy="1060704"/>
          </a:xfrm>
          <a:prstGeom prst="rect">
            <a:avLst/>
          </a:prstGeom>
          <a:noFill/>
          <a:ln/>
        </p:spPr>
        <p:txBody>
          <a:bodyPr wrap="square" lIns="0" tIns="0" rIns="0" bIns="0" rtlCol="0" anchor="ctr"/>
          <a:lstStyle/>
          <a:p>
            <a:pPr marL="0" indent="0">
              <a:buNone/>
            </a:pPr>
            <a:r>
              <a:rPr lang="en-US" sz="1500" b="1" dirty="0">
                <a:solidFill>
                  <a:srgbClr val="1E2A5C"/>
                </a:solidFill>
                <a:latin typeface="Pretendard" pitchFamily="34" charset="0"/>
                <a:ea typeface="Pretendard" pitchFamily="34" charset="-122"/>
                <a:cs typeface="Pretendard" pitchFamily="34" charset="-120"/>
              </a:rPr>
              <a:t>패턴 구분 = 부품 카탈로그</a:t>
            </a:r>
            <a:endParaRPr lang="en-US" sz="1500" dirty="0"/>
          </a:p>
          <a:p>
            <a:pPr marL="0" indent="0">
              <a:buNone/>
            </a:pPr>
            <a:r>
              <a:rPr lang="en-US" sz="1500" dirty="0">
                <a:solidFill>
                  <a:srgbClr val="3B4557"/>
                </a:solidFill>
                <a:latin typeface="Pretendard" pitchFamily="34" charset="0"/>
                <a:ea typeface="Pretendard" pitchFamily="34" charset="-122"/>
                <a:cs typeface="Pretendard" pitchFamily="34" charset="-120"/>
              </a:rPr>
              <a:t>패턴을 나눠 두면 문제가 생겼을 때 어느 자리에서 틀렸는지 바로 짚을 수 있음</a:t>
            </a:r>
            <a:endParaRPr lang="en-US" sz="1500" dirty="0"/>
          </a:p>
        </p:txBody>
      </p:sp>
      <p:sp>
        <p:nvSpPr>
          <p:cNvPr id="16" name="Shape 12"/>
          <p:cNvSpPr/>
          <p:nvPr/>
        </p:nvSpPr>
        <p:spPr>
          <a:xfrm>
            <a:off x="502920" y="6748272"/>
            <a:ext cx="64008" cy="457200"/>
          </a:xfrm>
          <a:prstGeom prst="rect">
            <a:avLst/>
          </a:prstGeom>
          <a:solidFill>
            <a:srgbClr val="2E74C6"/>
          </a:solidFill>
          <a:ln/>
        </p:spPr>
        <p:txBody>
          <a:bodyPr/>
          <a:lstStyle/>
          <a:p>
            <a:endParaRPr lang="ko-KR" altLang="en-US"/>
          </a:p>
        </p:txBody>
      </p:sp>
      <p:sp>
        <p:nvSpPr>
          <p:cNvPr id="17" name="Text 13"/>
          <p:cNvSpPr/>
          <p:nvPr/>
        </p:nvSpPr>
        <p:spPr>
          <a:xfrm>
            <a:off x="685800" y="6748272"/>
            <a:ext cx="13441680" cy="457200"/>
          </a:xfrm>
          <a:prstGeom prst="rect">
            <a:avLst/>
          </a:prstGeom>
          <a:noFill/>
          <a:ln/>
        </p:spPr>
        <p:txBody>
          <a:bodyPr wrap="square" rtlCol="0" anchor="ctr"/>
          <a:lstStyle/>
          <a:p>
            <a:pPr marL="0" indent="0">
              <a:buNone/>
            </a:pPr>
            <a:r>
              <a:rPr lang="en-US" sz="1900" b="1" i="1" dirty="0">
                <a:solidFill>
                  <a:srgbClr val="1E2A5C"/>
                </a:solidFill>
                <a:latin typeface="Pretendard" pitchFamily="34" charset="0"/>
                <a:ea typeface="Pretendard" pitchFamily="34" charset="-122"/>
                <a:cs typeface="Pretendard" pitchFamily="34" charset="-120"/>
              </a:rPr>
              <a:t>필요한 부품만 조합해서 적정 복잡도의 시스템을 설계 — 신호 없는 패턴은 비용만 늘림</a:t>
            </a:r>
            <a:endParaRPr lang="en-US" sz="19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2827</Words>
  <Application>Microsoft Office PowerPoint</Application>
  <PresentationFormat>사용자 지정</PresentationFormat>
  <Paragraphs>361</Paragraphs>
  <Slides>7</Slides>
  <Notes>7</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7</vt:i4>
      </vt:variant>
    </vt:vector>
  </HeadingPairs>
  <TitlesOfParts>
    <vt:vector size="10" baseType="lpstr">
      <vt:lpstr>Arial</vt:lpstr>
      <vt:lpstr>Pretendard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문서 검색 아키텍처 패턴</dc:title>
  <dc:subject>PptxGenJS Presentation</dc:subject>
  <dc:creator>PptxGenJS</dc:creator>
  <cp:lastModifiedBy>해경 이</cp:lastModifiedBy>
  <cp:revision>9</cp:revision>
  <dcterms:created xsi:type="dcterms:W3CDTF">2026-10-02T07:08:50Z</dcterms:created>
  <dcterms:modified xsi:type="dcterms:W3CDTF">2026-10-02T08:32:12Z</dcterms:modified>
</cp:coreProperties>
</file>