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원문에서 만들어진 실제 청크 두 개의 메타데이터를 비교합니다. 원문은 교육용 합성 약관이며 금융기관의 실제 약관을 의미하지 않습니다. 공통 출처는 D1_개인회원표준약관_합성.pdf입니다. 문서 전체에 같은 값인 doc_type=regulation, version="1.2", access_level=public은 두 청크에 그대로 복사됩니다. 숫자처럼 보이는 버전도 문자열로 설계합니다. 페이지 값은 문서 전체의 공통값으로 복사하면 안 됩니다. 청크 A가 겹친 페이지는 6쪽과 7쪽이므로 page=6, page_end=7입니다. 청크 B는 10쪽과 11쪽에 걸쳐 page=10, page_end=11입니다. 이 두 값은 문서와 청크의 페이지 구간 교집합에서 최솟값과 최댓값을 계산한 결과입니다. 페이지 번호는 이 로더가 부여한 PDF 페이지 번호를 기준으로 합니다. 여러 조항에 걸친 경우도 같은 원리로 해당 조항 목록을 구성합니다. 현재 코드의 clause_no는 대표값이고 clause_no_all은 여러 조항의 목록입니다. 페이지 구간을 계산하는 내부 좌표와 결과 메타데이터에 문자 좌표를 저장하는 것은 별개입니다. 화면은 구조 설계의 핵심 차이를 보여주기 위해 실제 메타데이터의 일부 필드만 발췌했습니다. 전체 스키마는 필요한 필드와 자료형, 필수 여부, 허용값을 함께 정의합니다. 이 예시는 기존 evaluation 결과를 읽은 것이며 이 슬라이드 작업에서 새 인덱싱을 실행한 결과는 아닙니다.
근거 파일: hybrid-ai-lab/indexer/vector-bm25/evaluation/results/comparison.json
구현: hybrid-ai-lab/indexer/vector-bm25/app/domain/text_rules.py, chunk_metadata 및 _merge_contexts
문서 프로필: hybrid-ai-lab/indexer/vector-bm25/config/document_profiles.json
메타데이터 스키마: hybrid-ai-lab/indexer/vector-bm25/config/metadata_schema.json
선택한 청크 상세 및 실제 발췌:
{
  "provenance": {
    "result_file": "hybrid-ai-lab/indexer/vector-bm25/evaluation/results/comparison.json",
    "result_index": "new",
    "note": "교육용 합성 PDF를 실제 인덱싱한 결과"
  },
  "source": "D1_개인회원표준약관_합성.pdf",
  "inherited_fields": {
    "doc_type": "regulation",
    "version": "1.2",
    "access_level": "public"
  },
  "chunks": [
    {
      "label": "청크 A",
      "chunk_id": "D1_27223010abe31291_7eff716a1b891ed4_0000",
      "page": 6,
      "page_end": 7,
      "speaker_note": {
        "clause_no": "제6조",
        "clause_no_all": [
          "제6조",
          "제6조의2",
          "제7조",
          "제8조",
          "제9조"
        ],
        "text_excerpt": "제6조(발급 신청과 심사) ① 신청인은 이름, 연락 수단, 결제계좌 및 실습 시나리오에서 요구한 정보를 제출합니다."
      }
    },
    {
      "label": "청크 B",
      "chunk_id": "D1_27223010abe31291_05c02c084c93d0b4_0000",
      "page": 10,
      "page_end": 11,
      "speaker_note": {
        "clause_no": "제20조",
        "clause_no_all": [
          "제20조",
          "제21조",
          "제22조",
          "제22조의2",
          "제22조의3",
          "제22조의4",
          "제23조",
          "제24조",
          "제25조"
        ],
        "text_excerpt": "제20조(이용대금 명세) ① 명세서에는 카드 식별값 일부, 승인일, 매입일, 가맹점 범주, 금액, 수수료, 혜택 및 취소 상태를 항목별로 표시합니다."
      }
    }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12064" y="320040"/>
            <a:ext cx="11887200" cy="237744"/>
          </a:xfrm>
          <a:prstGeom prst="rect">
            <a:avLst/>
          </a:prstGeom>
          <a:noFill/>
          <a:ln/>
        </p:spPr>
        <p:txBody>
          <a:bodyPr wrap="square" lIns="0" tIns="0" rIns="0" bIns="0" rtlCol="0" anchor="ctr"/>
          <a:lstStyle/>
          <a:p>
            <a:pPr algn="l" indent="0" marL="0">
              <a:buNone/>
            </a:pPr>
            <a:r>
              <a:rPr lang="en-US" sz="1500" dirty="0">
                <a:solidFill>
                  <a:srgbClr val="7C8598"/>
                </a:solidFill>
                <a:latin typeface="Pretendard" pitchFamily="34" charset="0"/>
                <a:ea typeface="Pretendard" pitchFamily="34" charset="-122"/>
                <a:cs typeface="Pretendard" pitchFamily="34" charset="-120"/>
              </a:rPr>
              <a:t>문서 인덱싱  ›  청킹</a:t>
            </a:r>
            <a:endParaRPr lang="en-US" sz="1500" dirty="0"/>
          </a:p>
        </p:txBody>
      </p:sp>
      <p:sp>
        <p:nvSpPr>
          <p:cNvPr id="3" name="Text 1"/>
          <p:cNvSpPr/>
          <p:nvPr/>
        </p:nvSpPr>
        <p:spPr>
          <a:xfrm>
            <a:off x="512064" y="704088"/>
            <a:ext cx="13606272" cy="640080"/>
          </a:xfrm>
          <a:prstGeom prst="rect">
            <a:avLst/>
          </a:prstGeom>
          <a:noFill/>
          <a:ln/>
        </p:spPr>
        <p:txBody>
          <a:bodyPr wrap="square" lIns="0" tIns="0" rIns="0" bIns="0" rtlCol="0" anchor="ctr"/>
          <a:lstStyle/>
          <a:p>
            <a:pPr algn="l" indent="0" marL="0">
              <a:buNone/>
            </a:pPr>
            <a:r>
              <a:rPr lang="en-US" sz="4800" b="1" dirty="0">
                <a:solidFill>
                  <a:srgbClr val="1E2A5C"/>
                </a:solidFill>
                <a:latin typeface="Pretendard" pitchFamily="34" charset="0"/>
                <a:ea typeface="Pretendard" pitchFamily="34" charset="-122"/>
                <a:cs typeface="Pretendard" pitchFamily="34" charset="-120"/>
              </a:rPr>
              <a:t>메타데이터 구조 설계</a:t>
            </a:r>
            <a:endParaRPr lang="en-US" sz="4800" dirty="0"/>
          </a:p>
        </p:txBody>
      </p:sp>
      <p:sp>
        <p:nvSpPr>
          <p:cNvPr id="4" name="Shape 2"/>
          <p:cNvSpPr/>
          <p:nvPr/>
        </p:nvSpPr>
        <p:spPr>
          <a:xfrm>
            <a:off x="512064" y="1472184"/>
            <a:ext cx="13606272" cy="32004"/>
          </a:xfrm>
          <a:prstGeom prst="rect">
            <a:avLst/>
          </a:prstGeom>
          <a:solidFill>
            <a:srgbClr val="D9E0EC"/>
          </a:solidFill>
          <a:ln w="12700">
            <a:solidFill>
              <a:srgbClr val="D9E0EC"/>
            </a:solidFill>
            <a:prstDash val="solid"/>
          </a:ln>
        </p:spPr>
      </p:sp>
      <p:sp>
        <p:nvSpPr>
          <p:cNvPr id="5" name="Shape 3"/>
          <p:cNvSpPr/>
          <p:nvPr/>
        </p:nvSpPr>
        <p:spPr>
          <a:xfrm>
            <a:off x="512064" y="1472184"/>
            <a:ext cx="1901952" cy="32004"/>
          </a:xfrm>
          <a:prstGeom prst="rect">
            <a:avLst/>
          </a:prstGeom>
          <a:solidFill>
            <a:srgbClr val="2E74C6"/>
          </a:solidFill>
          <a:ln w="12700">
            <a:solidFill>
              <a:srgbClr val="2E74C6"/>
            </a:solidFill>
            <a:prstDash val="solid"/>
          </a:ln>
        </p:spPr>
      </p:sp>
      <p:sp>
        <p:nvSpPr>
          <p:cNvPr id="6" name="Text 4"/>
          <p:cNvSpPr/>
          <p:nvPr/>
        </p:nvSpPr>
        <p:spPr>
          <a:xfrm>
            <a:off x="512064" y="1673352"/>
            <a:ext cx="13606272" cy="475488"/>
          </a:xfrm>
          <a:prstGeom prst="rect">
            <a:avLst/>
          </a:prstGeom>
          <a:noFill/>
          <a:ln/>
        </p:spPr>
        <p:txBody>
          <a:bodyPr wrap="square" lIns="0" tIns="0" rIns="0" bIns="0" rtlCol="0" anchor="ctr"/>
          <a:lstStyle/>
          <a:p>
            <a:pPr algn="l" indent="0" marL="0">
              <a:buNone/>
            </a:pPr>
            <a:r>
              <a:rPr lang="en-US" sz="2200" dirty="0">
                <a:solidFill>
                  <a:srgbClr val="4A5364"/>
                </a:solidFill>
                <a:latin typeface="Pretendard" pitchFamily="34" charset="0"/>
                <a:ea typeface="Pretendard" pitchFamily="34" charset="-122"/>
                <a:cs typeface="Pretendard" pitchFamily="34" charset="-120"/>
              </a:rPr>
              <a:t>문서에 공통인 값은 물려주고, 청크마다 달라지는 값은 포함 범위를 보고 계산합니다.</a:t>
            </a:r>
            <a:endParaRPr lang="en-US" sz="2200" dirty="0"/>
          </a:p>
        </p:txBody>
      </p:sp>
      <p:sp>
        <p:nvSpPr>
          <p:cNvPr id="7" name="Text 5"/>
          <p:cNvSpPr/>
          <p:nvPr/>
        </p:nvSpPr>
        <p:spPr>
          <a:xfrm>
            <a:off x="512064" y="2267712"/>
            <a:ext cx="13606272" cy="356616"/>
          </a:xfrm>
          <a:prstGeom prst="rect">
            <a:avLst/>
          </a:prstGeom>
          <a:noFill/>
          <a:ln/>
        </p:spPr>
        <p:txBody>
          <a:bodyPr wrap="square" lIns="0" tIns="0" rIns="0" bIns="0" rtlCol="0" anchor="ctr"/>
          <a:lstStyle/>
          <a:p>
            <a:pPr algn="l" indent="0" marL="0">
              <a:buNone/>
            </a:pPr>
            <a:r>
              <a:rPr lang="en-US" sz="2300" b="1" dirty="0">
                <a:solidFill>
                  <a:srgbClr val="1E2A5C"/>
                </a:solidFill>
                <a:latin typeface="Pretendard" pitchFamily="34" charset="0"/>
                <a:ea typeface="Pretendard" pitchFamily="34" charset="-122"/>
                <a:cs typeface="Pretendard" pitchFamily="34" charset="-120"/>
              </a:rPr>
              <a:t>공통 출처  source = D1_개인회원표준약관_합성.pdf</a:t>
            </a:r>
            <a:endParaRPr lang="en-US" sz="2300" dirty="0"/>
          </a:p>
        </p:txBody>
      </p:sp>
      <p:sp>
        <p:nvSpPr>
          <p:cNvPr id="8" name="Text 6"/>
          <p:cNvSpPr/>
          <p:nvPr/>
        </p:nvSpPr>
        <p:spPr>
          <a:xfrm>
            <a:off x="512064" y="2862072"/>
            <a:ext cx="5029200" cy="429768"/>
          </a:xfrm>
          <a:prstGeom prst="rect">
            <a:avLst/>
          </a:prstGeom>
          <a:noFill/>
          <a:ln/>
        </p:spPr>
        <p:txBody>
          <a:bodyPr wrap="square" lIns="0" tIns="0" rIns="0" bIns="0" rtlCol="0" anchor="ctr"/>
          <a:lstStyle/>
          <a:p>
            <a:pPr algn="l" indent="0" marL="0">
              <a:buNone/>
            </a:pPr>
            <a:r>
              <a:rPr lang="en-US" sz="2900" b="1" dirty="0">
                <a:solidFill>
                  <a:srgbClr val="1E2A5C"/>
                </a:solidFill>
                <a:latin typeface="Pretendard" pitchFamily="34" charset="0"/>
                <a:ea typeface="Pretendard" pitchFamily="34" charset="-122"/>
                <a:cs typeface="Pretendard" pitchFamily="34" charset="-120"/>
              </a:rPr>
              <a:t>공통값 상속</a:t>
            </a:r>
            <a:endParaRPr lang="en-US" sz="2900" dirty="0"/>
          </a:p>
        </p:txBody>
      </p:sp>
      <p:sp>
        <p:nvSpPr>
          <p:cNvPr id="9" name="Shape 7"/>
          <p:cNvSpPr/>
          <p:nvPr/>
        </p:nvSpPr>
        <p:spPr>
          <a:xfrm>
            <a:off x="512064" y="3465576"/>
            <a:ext cx="5102352" cy="1453896"/>
          </a:xfrm>
          <a:prstGeom prst="rect">
            <a:avLst/>
          </a:prstGeom>
          <a:solidFill>
            <a:srgbClr val="EEF3FA"/>
          </a:solidFill>
          <a:ln w="12700">
            <a:solidFill>
              <a:srgbClr val="D9E0EC"/>
            </a:solidFill>
            <a:prstDash val="solid"/>
          </a:ln>
        </p:spPr>
      </p:sp>
      <p:sp>
        <p:nvSpPr>
          <p:cNvPr id="10" name="Text 8"/>
          <p:cNvSpPr/>
          <p:nvPr/>
        </p:nvSpPr>
        <p:spPr>
          <a:xfrm>
            <a:off x="731520" y="3648456"/>
            <a:ext cx="4636008" cy="1069848"/>
          </a:xfrm>
          <a:prstGeom prst="rect">
            <a:avLst/>
          </a:prstGeom>
          <a:noFill/>
          <a:ln/>
        </p:spPr>
        <p:txBody>
          <a:bodyPr wrap="square" lIns="0" tIns="0" rIns="0" bIns="0" rtlCol="0" anchor="ctr"/>
          <a:lstStyle/>
          <a:p>
            <a:pPr algn="l" indent="0" marL="0">
              <a:buNone/>
            </a:pPr>
            <a:r>
              <a:rPr lang="en-US" sz="2300" dirty="0">
                <a:solidFill>
                  <a:srgbClr val="2B3242"/>
                </a:solidFill>
                <a:latin typeface="Pretendard" pitchFamily="34" charset="0"/>
                <a:ea typeface="Pretendard" pitchFamily="34" charset="-122"/>
                <a:cs typeface="Pretendard" pitchFamily="34" charset="-120"/>
              </a:rPr>
              <a:t>문서 유형  regulation</a:t>
            </a:r>
            <a:endParaRPr lang="en-US" sz="2300" dirty="0"/>
          </a:p>
          <a:p>
            <a:pPr algn="l" indent="0" marL="0">
              <a:buNone/>
            </a:pPr>
            <a:r>
              <a:rPr lang="en-US" sz="2300" dirty="0">
                <a:solidFill>
                  <a:srgbClr val="2B3242"/>
                </a:solidFill>
                <a:latin typeface="Pretendard" pitchFamily="34" charset="0"/>
                <a:ea typeface="Pretendard" pitchFamily="34" charset="-122"/>
                <a:cs typeface="Pretendard" pitchFamily="34" charset="-120"/>
              </a:rPr>
              <a:t>버전  "1.2"</a:t>
            </a:r>
            <a:endParaRPr lang="en-US" sz="2300" dirty="0"/>
          </a:p>
          <a:p>
            <a:pPr algn="l" indent="0" marL="0">
              <a:buNone/>
            </a:pPr>
            <a:r>
              <a:rPr lang="en-US" sz="2300" dirty="0">
                <a:solidFill>
                  <a:srgbClr val="2B3242"/>
                </a:solidFill>
                <a:latin typeface="Pretendard" pitchFamily="34" charset="0"/>
                <a:ea typeface="Pretendard" pitchFamily="34" charset="-122"/>
                <a:cs typeface="Pretendard" pitchFamily="34" charset="-120"/>
              </a:rPr>
              <a:t>공개 등급  public</a:t>
            </a:r>
            <a:endParaRPr lang="en-US" sz="2300" dirty="0"/>
          </a:p>
        </p:txBody>
      </p:sp>
      <p:sp>
        <p:nvSpPr>
          <p:cNvPr id="11" name="Text 9"/>
          <p:cNvSpPr/>
          <p:nvPr/>
        </p:nvSpPr>
        <p:spPr>
          <a:xfrm>
            <a:off x="512064" y="5038344"/>
            <a:ext cx="5102352" cy="329184"/>
          </a:xfrm>
          <a:prstGeom prst="rect">
            <a:avLst/>
          </a:prstGeom>
          <a:noFill/>
          <a:ln/>
        </p:spPr>
        <p:txBody>
          <a:bodyPr wrap="square" lIns="0" tIns="0" rIns="0" bIns="0" rtlCol="0" anchor="ctr"/>
          <a:lstStyle/>
          <a:p>
            <a:pPr algn="l" indent="0" marL="0">
              <a:buNone/>
            </a:pPr>
            <a:r>
              <a:rPr lang="en-US" sz="2000" b="1" dirty="0">
                <a:solidFill>
                  <a:srgbClr val="1E2A5C"/>
                </a:solidFill>
                <a:latin typeface="Pretendard" pitchFamily="34" charset="0"/>
                <a:ea typeface="Pretendard" pitchFamily="34" charset="-122"/>
                <a:cs typeface="Pretendard" pitchFamily="34" charset="-120"/>
              </a:rPr>
              <a:t>두 청크에 같은 값을 복사</a:t>
            </a:r>
            <a:endParaRPr lang="en-US" sz="2000" dirty="0"/>
          </a:p>
        </p:txBody>
      </p:sp>
      <p:sp>
        <p:nvSpPr>
          <p:cNvPr id="12" name="Shape 10"/>
          <p:cNvSpPr/>
          <p:nvPr/>
        </p:nvSpPr>
        <p:spPr>
          <a:xfrm>
            <a:off x="5724144" y="4270248"/>
            <a:ext cx="457200" cy="0"/>
          </a:xfrm>
          <a:prstGeom prst="line">
            <a:avLst/>
          </a:prstGeom>
          <a:noFill/>
          <a:ln w="24130">
            <a:solidFill>
              <a:srgbClr val="1E2A5C"/>
            </a:solidFill>
            <a:prstDash val="solid"/>
            <a:tailEnd type="triangle"/>
          </a:ln>
        </p:spPr>
      </p:sp>
      <p:sp>
        <p:nvSpPr>
          <p:cNvPr id="13" name="Text 11"/>
          <p:cNvSpPr/>
          <p:nvPr/>
        </p:nvSpPr>
        <p:spPr>
          <a:xfrm>
            <a:off x="512064" y="5541264"/>
            <a:ext cx="5102352" cy="402336"/>
          </a:xfrm>
          <a:prstGeom prst="rect">
            <a:avLst/>
          </a:prstGeom>
          <a:noFill/>
          <a:ln/>
        </p:spPr>
        <p:txBody>
          <a:bodyPr wrap="square" lIns="0" tIns="0" rIns="0" bIns="0" rtlCol="0" anchor="ctr"/>
          <a:lstStyle/>
          <a:p>
            <a:pPr algn="l" indent="0" marL="0">
              <a:buNone/>
            </a:pPr>
            <a:r>
              <a:rPr lang="en-US" sz="2900" b="1" dirty="0">
                <a:solidFill>
                  <a:srgbClr val="2E74C6"/>
                </a:solidFill>
                <a:latin typeface="Pretendard" pitchFamily="34" charset="0"/>
                <a:ea typeface="Pretendard" pitchFamily="34" charset="-122"/>
                <a:cs typeface="Pretendard" pitchFamily="34" charset="-120"/>
              </a:rPr>
              <a:t>범위별 값 계산</a:t>
            </a:r>
            <a:endParaRPr lang="en-US" sz="2900" dirty="0"/>
          </a:p>
        </p:txBody>
      </p:sp>
      <p:sp>
        <p:nvSpPr>
          <p:cNvPr id="14" name="Text 12"/>
          <p:cNvSpPr/>
          <p:nvPr/>
        </p:nvSpPr>
        <p:spPr>
          <a:xfrm>
            <a:off x="512064" y="6117336"/>
            <a:ext cx="2240280" cy="283464"/>
          </a:xfrm>
          <a:prstGeom prst="rect">
            <a:avLst/>
          </a:prstGeom>
          <a:noFill/>
          <a:ln/>
        </p:spPr>
        <p:txBody>
          <a:bodyPr wrap="square" lIns="0" tIns="0" rIns="0" bIns="0" rtlCol="0" anchor="ctr"/>
          <a:lstStyle/>
          <a:p>
            <a:pPr algn="l" indent="0" marL="0">
              <a:buNone/>
            </a:pPr>
            <a:r>
              <a:rPr lang="en-US" sz="2000" b="1" dirty="0">
                <a:solidFill>
                  <a:srgbClr val="1E2A5C"/>
                </a:solidFill>
                <a:latin typeface="Pretendard" pitchFamily="34" charset="0"/>
                <a:ea typeface="Pretendard" pitchFamily="34" charset="-122"/>
                <a:cs typeface="Pretendard" pitchFamily="34" charset="-120"/>
              </a:rPr>
              <a:t>청크 A</a:t>
            </a:r>
            <a:endParaRPr lang="en-US" sz="2000" dirty="0"/>
          </a:p>
        </p:txBody>
      </p:sp>
      <p:sp>
        <p:nvSpPr>
          <p:cNvPr id="15" name="Shape 13"/>
          <p:cNvSpPr/>
          <p:nvPr/>
        </p:nvSpPr>
        <p:spPr>
          <a:xfrm>
            <a:off x="512064" y="6537960"/>
            <a:ext cx="1051560" cy="512064"/>
          </a:xfrm>
          <a:prstGeom prst="rect">
            <a:avLst/>
          </a:prstGeom>
          <a:solidFill>
            <a:srgbClr val="E2EEF9"/>
          </a:solidFill>
          <a:ln w="10160">
            <a:solidFill>
              <a:srgbClr val="2E74C6"/>
            </a:solidFill>
            <a:prstDash val="solid"/>
          </a:ln>
        </p:spPr>
      </p:sp>
      <p:sp>
        <p:nvSpPr>
          <p:cNvPr id="16" name="Shape 14"/>
          <p:cNvSpPr/>
          <p:nvPr/>
        </p:nvSpPr>
        <p:spPr>
          <a:xfrm>
            <a:off x="1563624" y="6537960"/>
            <a:ext cx="1051560" cy="512064"/>
          </a:xfrm>
          <a:prstGeom prst="rect">
            <a:avLst/>
          </a:prstGeom>
          <a:solidFill>
            <a:srgbClr val="E2EEF9"/>
          </a:solidFill>
          <a:ln w="10160">
            <a:solidFill>
              <a:srgbClr val="2E74C6"/>
            </a:solidFill>
            <a:prstDash val="solid"/>
          </a:ln>
        </p:spPr>
      </p:sp>
      <p:sp>
        <p:nvSpPr>
          <p:cNvPr id="17" name="Text 15"/>
          <p:cNvSpPr/>
          <p:nvPr/>
        </p:nvSpPr>
        <p:spPr>
          <a:xfrm>
            <a:off x="512064" y="6620256"/>
            <a:ext cx="1051560" cy="329184"/>
          </a:xfrm>
          <a:prstGeom prst="rect">
            <a:avLst/>
          </a:prstGeom>
          <a:noFill/>
          <a:ln/>
        </p:spPr>
        <p:txBody>
          <a:bodyPr wrap="square" lIns="0" tIns="0" rIns="0" bIns="0" rtlCol="0" anchor="ctr"/>
          <a:lstStyle/>
          <a:p>
            <a:pPr algn="ctr" indent="0" marL="0">
              <a:buNone/>
            </a:pPr>
            <a:r>
              <a:rPr lang="en-US" sz="2200" b="1" dirty="0">
                <a:solidFill>
                  <a:srgbClr val="2E74C6"/>
                </a:solidFill>
                <a:latin typeface="Pretendard" pitchFamily="34" charset="0"/>
                <a:ea typeface="Pretendard" pitchFamily="34" charset="-122"/>
                <a:cs typeface="Pretendard" pitchFamily="34" charset="-120"/>
              </a:rPr>
              <a:t>6쪽</a:t>
            </a:r>
            <a:endParaRPr lang="en-US" sz="2200" dirty="0"/>
          </a:p>
        </p:txBody>
      </p:sp>
      <p:sp>
        <p:nvSpPr>
          <p:cNvPr id="18" name="Text 16"/>
          <p:cNvSpPr/>
          <p:nvPr/>
        </p:nvSpPr>
        <p:spPr>
          <a:xfrm>
            <a:off x="1563624" y="6620256"/>
            <a:ext cx="1051560" cy="329184"/>
          </a:xfrm>
          <a:prstGeom prst="rect">
            <a:avLst/>
          </a:prstGeom>
          <a:noFill/>
          <a:ln/>
        </p:spPr>
        <p:txBody>
          <a:bodyPr wrap="square" lIns="0" tIns="0" rIns="0" bIns="0" rtlCol="0" anchor="ctr"/>
          <a:lstStyle/>
          <a:p>
            <a:pPr algn="ctr" indent="0" marL="0">
              <a:buNone/>
            </a:pPr>
            <a:r>
              <a:rPr lang="en-US" sz="2200" b="1" dirty="0">
                <a:solidFill>
                  <a:srgbClr val="2E74C6"/>
                </a:solidFill>
                <a:latin typeface="Pretendard" pitchFamily="34" charset="0"/>
                <a:ea typeface="Pretendard" pitchFamily="34" charset="-122"/>
                <a:cs typeface="Pretendard" pitchFamily="34" charset="-120"/>
              </a:rPr>
              <a:t>7쪽</a:t>
            </a:r>
            <a:endParaRPr lang="en-US" sz="2200" dirty="0"/>
          </a:p>
        </p:txBody>
      </p:sp>
      <p:sp>
        <p:nvSpPr>
          <p:cNvPr id="19" name="Text 17"/>
          <p:cNvSpPr/>
          <p:nvPr/>
        </p:nvSpPr>
        <p:spPr>
          <a:xfrm>
            <a:off x="512064" y="7196328"/>
            <a:ext cx="2286000" cy="310896"/>
          </a:xfrm>
          <a:prstGeom prst="rect">
            <a:avLst/>
          </a:prstGeom>
          <a:noFill/>
          <a:ln/>
        </p:spPr>
        <p:txBody>
          <a:bodyPr wrap="square" lIns="0" tIns="0" rIns="0" bIns="0" rtlCol="0" anchor="ctr"/>
          <a:lstStyle/>
          <a:p>
            <a:pPr algn="l" indent="0" marL="0">
              <a:buNone/>
            </a:pPr>
            <a:r>
              <a:rPr lang="en-US" sz="1700" dirty="0">
                <a:solidFill>
                  <a:srgbClr val="4A5364"/>
                </a:solidFill>
                <a:latin typeface="Pretendard" pitchFamily="34" charset="0"/>
                <a:ea typeface="Pretendard" pitchFamily="34" charset="-122"/>
                <a:cs typeface="Pretendard" pitchFamily="34" charset="-120"/>
              </a:rPr>
              <a:t>최솟값 6  /  최댓값 7</a:t>
            </a:r>
            <a:endParaRPr lang="en-US" sz="1700" dirty="0"/>
          </a:p>
        </p:txBody>
      </p:sp>
      <p:sp>
        <p:nvSpPr>
          <p:cNvPr id="20" name="Text 18"/>
          <p:cNvSpPr/>
          <p:nvPr/>
        </p:nvSpPr>
        <p:spPr>
          <a:xfrm>
            <a:off x="3264408" y="6117336"/>
            <a:ext cx="2240280" cy="283464"/>
          </a:xfrm>
          <a:prstGeom prst="rect">
            <a:avLst/>
          </a:prstGeom>
          <a:noFill/>
          <a:ln/>
        </p:spPr>
        <p:txBody>
          <a:bodyPr wrap="square" lIns="0" tIns="0" rIns="0" bIns="0" rtlCol="0" anchor="ctr"/>
          <a:lstStyle/>
          <a:p>
            <a:pPr algn="l" indent="0" marL="0">
              <a:buNone/>
            </a:pPr>
            <a:r>
              <a:rPr lang="en-US" sz="2000" b="1" dirty="0">
                <a:solidFill>
                  <a:srgbClr val="1E2A5C"/>
                </a:solidFill>
                <a:latin typeface="Pretendard" pitchFamily="34" charset="0"/>
                <a:ea typeface="Pretendard" pitchFamily="34" charset="-122"/>
                <a:cs typeface="Pretendard" pitchFamily="34" charset="-120"/>
              </a:rPr>
              <a:t>청크 B</a:t>
            </a:r>
            <a:endParaRPr lang="en-US" sz="2000" dirty="0"/>
          </a:p>
        </p:txBody>
      </p:sp>
      <p:sp>
        <p:nvSpPr>
          <p:cNvPr id="21" name="Shape 19"/>
          <p:cNvSpPr/>
          <p:nvPr/>
        </p:nvSpPr>
        <p:spPr>
          <a:xfrm>
            <a:off x="3264408" y="6537960"/>
            <a:ext cx="1051560" cy="512064"/>
          </a:xfrm>
          <a:prstGeom prst="rect">
            <a:avLst/>
          </a:prstGeom>
          <a:solidFill>
            <a:srgbClr val="E2EEF9"/>
          </a:solidFill>
          <a:ln w="10160">
            <a:solidFill>
              <a:srgbClr val="2E74C6"/>
            </a:solidFill>
            <a:prstDash val="solid"/>
          </a:ln>
        </p:spPr>
      </p:sp>
      <p:sp>
        <p:nvSpPr>
          <p:cNvPr id="22" name="Shape 20"/>
          <p:cNvSpPr/>
          <p:nvPr/>
        </p:nvSpPr>
        <p:spPr>
          <a:xfrm>
            <a:off x="4315968" y="6537960"/>
            <a:ext cx="1051560" cy="512064"/>
          </a:xfrm>
          <a:prstGeom prst="rect">
            <a:avLst/>
          </a:prstGeom>
          <a:solidFill>
            <a:srgbClr val="E2EEF9"/>
          </a:solidFill>
          <a:ln w="10160">
            <a:solidFill>
              <a:srgbClr val="2E74C6"/>
            </a:solidFill>
            <a:prstDash val="solid"/>
          </a:ln>
        </p:spPr>
      </p:sp>
      <p:sp>
        <p:nvSpPr>
          <p:cNvPr id="23" name="Text 21"/>
          <p:cNvSpPr/>
          <p:nvPr/>
        </p:nvSpPr>
        <p:spPr>
          <a:xfrm>
            <a:off x="3264408" y="6620256"/>
            <a:ext cx="1051560" cy="329184"/>
          </a:xfrm>
          <a:prstGeom prst="rect">
            <a:avLst/>
          </a:prstGeom>
          <a:noFill/>
          <a:ln/>
        </p:spPr>
        <p:txBody>
          <a:bodyPr wrap="square" lIns="0" tIns="0" rIns="0" bIns="0" rtlCol="0" anchor="ctr"/>
          <a:lstStyle/>
          <a:p>
            <a:pPr algn="ctr" indent="0" marL="0">
              <a:buNone/>
            </a:pPr>
            <a:r>
              <a:rPr lang="en-US" sz="2200" b="1" dirty="0">
                <a:solidFill>
                  <a:srgbClr val="2E74C6"/>
                </a:solidFill>
                <a:latin typeface="Pretendard" pitchFamily="34" charset="0"/>
                <a:ea typeface="Pretendard" pitchFamily="34" charset="-122"/>
                <a:cs typeface="Pretendard" pitchFamily="34" charset="-120"/>
              </a:rPr>
              <a:t>10쪽</a:t>
            </a:r>
            <a:endParaRPr lang="en-US" sz="2200" dirty="0"/>
          </a:p>
        </p:txBody>
      </p:sp>
      <p:sp>
        <p:nvSpPr>
          <p:cNvPr id="24" name="Text 22"/>
          <p:cNvSpPr/>
          <p:nvPr/>
        </p:nvSpPr>
        <p:spPr>
          <a:xfrm>
            <a:off x="4315968" y="6620256"/>
            <a:ext cx="1051560" cy="329184"/>
          </a:xfrm>
          <a:prstGeom prst="rect">
            <a:avLst/>
          </a:prstGeom>
          <a:noFill/>
          <a:ln/>
        </p:spPr>
        <p:txBody>
          <a:bodyPr wrap="square" lIns="0" tIns="0" rIns="0" bIns="0" rtlCol="0" anchor="ctr"/>
          <a:lstStyle/>
          <a:p>
            <a:pPr algn="ctr" indent="0" marL="0">
              <a:buNone/>
            </a:pPr>
            <a:r>
              <a:rPr lang="en-US" sz="2200" b="1" dirty="0">
                <a:solidFill>
                  <a:srgbClr val="2E74C6"/>
                </a:solidFill>
                <a:latin typeface="Pretendard" pitchFamily="34" charset="0"/>
                <a:ea typeface="Pretendard" pitchFamily="34" charset="-122"/>
                <a:cs typeface="Pretendard" pitchFamily="34" charset="-120"/>
              </a:rPr>
              <a:t>11쪽</a:t>
            </a:r>
            <a:endParaRPr lang="en-US" sz="2200" dirty="0"/>
          </a:p>
        </p:txBody>
      </p:sp>
      <p:sp>
        <p:nvSpPr>
          <p:cNvPr id="25" name="Text 23"/>
          <p:cNvSpPr/>
          <p:nvPr/>
        </p:nvSpPr>
        <p:spPr>
          <a:xfrm>
            <a:off x="3264408" y="7196328"/>
            <a:ext cx="2286000" cy="310896"/>
          </a:xfrm>
          <a:prstGeom prst="rect">
            <a:avLst/>
          </a:prstGeom>
          <a:noFill/>
          <a:ln/>
        </p:spPr>
        <p:txBody>
          <a:bodyPr wrap="square" lIns="0" tIns="0" rIns="0" bIns="0" rtlCol="0" anchor="ctr"/>
          <a:lstStyle/>
          <a:p>
            <a:pPr algn="l" indent="0" marL="0">
              <a:buNone/>
            </a:pPr>
            <a:r>
              <a:rPr lang="en-US" sz="1700" dirty="0">
                <a:solidFill>
                  <a:srgbClr val="4A5364"/>
                </a:solidFill>
                <a:latin typeface="Pretendard" pitchFamily="34" charset="0"/>
                <a:ea typeface="Pretendard" pitchFamily="34" charset="-122"/>
                <a:cs typeface="Pretendard" pitchFamily="34" charset="-120"/>
              </a:rPr>
              <a:t>최솟값 10  /  최댓값 11</a:t>
            </a:r>
            <a:endParaRPr lang="en-US" sz="1700" dirty="0"/>
          </a:p>
        </p:txBody>
      </p:sp>
      <p:sp>
        <p:nvSpPr>
          <p:cNvPr id="26" name="Shape 24"/>
          <p:cNvSpPr/>
          <p:nvPr/>
        </p:nvSpPr>
        <p:spPr>
          <a:xfrm>
            <a:off x="5724144" y="6766560"/>
            <a:ext cx="457200" cy="0"/>
          </a:xfrm>
          <a:prstGeom prst="line">
            <a:avLst/>
          </a:prstGeom>
          <a:noFill/>
          <a:ln w="24130">
            <a:solidFill>
              <a:srgbClr val="2E74C6"/>
            </a:solidFill>
            <a:prstDash val="solid"/>
            <a:tailEnd type="triangle"/>
          </a:ln>
        </p:spPr>
      </p:sp>
      <p:sp>
        <p:nvSpPr>
          <p:cNvPr id="27" name="Text 25"/>
          <p:cNvSpPr/>
          <p:nvPr/>
        </p:nvSpPr>
        <p:spPr>
          <a:xfrm>
            <a:off x="6419088" y="2862072"/>
            <a:ext cx="7699248" cy="429768"/>
          </a:xfrm>
          <a:prstGeom prst="rect">
            <a:avLst/>
          </a:prstGeom>
          <a:noFill/>
          <a:ln/>
        </p:spPr>
        <p:txBody>
          <a:bodyPr wrap="square" lIns="0" tIns="0" rIns="0" bIns="0" rtlCol="0" anchor="ctr"/>
          <a:lstStyle/>
          <a:p>
            <a:pPr algn="l" indent="0" marL="0">
              <a:buNone/>
            </a:pPr>
            <a:r>
              <a:rPr lang="en-US" sz="2900" b="1" dirty="0">
                <a:solidFill>
                  <a:srgbClr val="1E2A5C"/>
                </a:solidFill>
                <a:latin typeface="Pretendard" pitchFamily="34" charset="0"/>
                <a:ea typeface="Pretendard" pitchFamily="34" charset="-122"/>
                <a:cs typeface="Pretendard" pitchFamily="34" charset="-120"/>
              </a:rPr>
              <a:t>두 청크의 저장 메타데이터</a:t>
            </a:r>
            <a:endParaRPr lang="en-US" sz="29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6419088" y="3465576"/>
          <a:ext cx="7699248" cy="914400"/>
        </p:xfrm>
        <a:graphic>
          <a:graphicData uri="http://schemas.openxmlformats.org/drawingml/2006/table">
            <a:tbl>
              <a:tblPr/>
              <a:tblGrid>
                <a:gridCol w="3767328"/>
                <a:gridCol w="1965960"/>
                <a:gridCol w="1965960"/>
              </a:tblGrid>
              <a:tr h="502920">
                <a:tc>
                  <a:txBody>
                    <a:bodyPr/>
                    <a:lstStyle/>
                    <a:p>
                      <a:pPr algn="l" indent="0" marL="0">
                        <a:buNone/>
                      </a:pPr>
                      <a:r>
                        <a:rPr lang="en-US" sz="2100" b="1" dirty="0">
                          <a:solidFill>
                            <a:srgbClr val="1E2A5C"/>
                          </a:solidFill>
                          <a:latin typeface="Pretendard" pitchFamily="34" charset="0"/>
                          <a:ea typeface="Pretendard" pitchFamily="34" charset="-122"/>
                          <a:cs typeface="Pretendard" pitchFamily="34" charset="-120"/>
                        </a:rPr>
                        <a:t>필드 (자료형)</a:t>
                      </a:r>
                      <a:endParaRPr lang="en-US" sz="2100" dirty="0">
                        <a:latin typeface="Pretendard" charset="0"/>
                        <a:ea typeface="Pretendard" charset="0"/>
                        <a:cs typeface="Pretendard" charset="0"/>
                      </a:endParaRPr>
                    </a:p>
                  </a:txBody>
                  <a:tcPr marL="164592" marR="164592" marT="91440" marB="91440"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E2EEF9"/>
                    </a:solidFill>
                  </a:tcPr>
                </a:tc>
                <a:tc>
                  <a:txBody>
                    <a:bodyPr/>
                    <a:lstStyle/>
                    <a:p>
                      <a:pPr algn="ctr" indent="0" marL="0">
                        <a:buNone/>
                      </a:pPr>
                      <a:r>
                        <a:rPr lang="en-US" sz="2100" b="1" dirty="0">
                          <a:solidFill>
                            <a:srgbClr val="1E2A5C"/>
                          </a:solidFill>
                          <a:latin typeface="Pretendard" pitchFamily="34" charset="0"/>
                          <a:ea typeface="Pretendard" pitchFamily="34" charset="-122"/>
                          <a:cs typeface="Pretendard" pitchFamily="34" charset="-120"/>
                        </a:rPr>
                        <a:t>청크 A</a:t>
                      </a:r>
                      <a:endParaRPr lang="en-US" sz="2100" dirty="0">
                        <a:latin typeface="Pretendard" charset="0"/>
                        <a:ea typeface="Pretendard" charset="0"/>
                        <a:cs typeface="Pretendard" charset="0"/>
                      </a:endParaRPr>
                    </a:p>
                  </a:txBody>
                  <a:tcPr marL="164592" marR="164592" marT="91440" marB="91440"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E2EEF9"/>
                    </a:solidFill>
                  </a:tcPr>
                </a:tc>
                <a:tc>
                  <a:txBody>
                    <a:bodyPr/>
                    <a:lstStyle/>
                    <a:p>
                      <a:pPr algn="ctr" indent="0" marL="0">
                        <a:buNone/>
                      </a:pPr>
                      <a:r>
                        <a:rPr lang="en-US" sz="2100" b="1" dirty="0">
                          <a:solidFill>
                            <a:srgbClr val="1E2A5C"/>
                          </a:solidFill>
                          <a:latin typeface="Pretendard" pitchFamily="34" charset="0"/>
                          <a:ea typeface="Pretendard" pitchFamily="34" charset="-122"/>
                          <a:cs typeface="Pretendard" pitchFamily="34" charset="-120"/>
                        </a:rPr>
                        <a:t>청크 B</a:t>
                      </a:r>
                      <a:endParaRPr lang="en-US" sz="2100" dirty="0">
                        <a:latin typeface="Pretendard" charset="0"/>
                        <a:ea typeface="Pretendard" charset="0"/>
                        <a:cs typeface="Pretendard" charset="0"/>
                      </a:endParaRPr>
                    </a:p>
                  </a:txBody>
                  <a:tcPr marL="164592" marR="164592" marT="91440" marB="91440"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E2EEF9"/>
                    </a:solidFill>
                  </a:tcPr>
                </a:tc>
              </a:tr>
              <a:tr h="557784">
                <a:tc>
                  <a:txBody>
                    <a:bodyPr/>
                    <a:lstStyle/>
                    <a:p>
                      <a:pPr algn="l" indent="0" marL="0">
                        <a:buNone/>
                      </a:pPr>
                      <a:r>
                        <a:rPr lang="en-US" sz="2100" dirty="0">
                          <a:solidFill>
                            <a:srgbClr val="2B3242"/>
                          </a:solidFill>
                          <a:latin typeface="Pretendard" pitchFamily="34" charset="0"/>
                          <a:ea typeface="Pretendard" pitchFamily="34" charset="-122"/>
                          <a:cs typeface="Pretendard" pitchFamily="34" charset="-120"/>
                        </a:rPr>
                        <a:t>doc_type (문자열)</a:t>
                      </a:r>
                      <a:endParaRPr lang="en-US" sz="2100" dirty="0">
                        <a:latin typeface="Pretendard" charset="0"/>
                        <a:ea typeface="Pretendard" charset="0"/>
                        <a:cs typeface="Pretendard" charset="0"/>
                      </a:endParaRPr>
                    </a:p>
                  </a:txBody>
                  <a:tcPr marL="164592" marR="164592" marT="91440" marB="91440"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2B3242"/>
                          </a:solidFill>
                          <a:latin typeface="Pretendard" pitchFamily="34" charset="0"/>
                          <a:ea typeface="Pretendard" pitchFamily="34" charset="-122"/>
                          <a:cs typeface="Pretendard" pitchFamily="34" charset="-120"/>
                        </a:rPr>
                        <a:t>regulation</a:t>
                      </a:r>
                      <a:endParaRPr lang="en-US" sz="2100" dirty="0">
                        <a:latin typeface="Pretendard" charset="0"/>
                        <a:ea typeface="Pretendard" charset="0"/>
                        <a:cs typeface="Pretendard" charset="0"/>
                      </a:endParaRPr>
                    </a:p>
                  </a:txBody>
                  <a:tcPr marL="164592" marR="164592" marT="91440" marB="91440"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2B3242"/>
                          </a:solidFill>
                          <a:latin typeface="Pretendard" pitchFamily="34" charset="0"/>
                          <a:ea typeface="Pretendard" pitchFamily="34" charset="-122"/>
                          <a:cs typeface="Pretendard" pitchFamily="34" charset="-120"/>
                        </a:rPr>
                        <a:t>regulation</a:t>
                      </a:r>
                      <a:endParaRPr lang="en-US" sz="2100" dirty="0">
                        <a:latin typeface="Pretendard" charset="0"/>
                        <a:ea typeface="Pretendard" charset="0"/>
                        <a:cs typeface="Pretendard" charset="0"/>
                      </a:endParaRPr>
                    </a:p>
                  </a:txBody>
                  <a:tcPr marL="164592" marR="164592" marT="91440" marB="91440"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FFFFF"/>
                    </a:solidFill>
                  </a:tcPr>
                </a:tc>
              </a:tr>
              <a:tr h="557784">
                <a:tc>
                  <a:txBody>
                    <a:bodyPr/>
                    <a:lstStyle/>
                    <a:p>
                      <a:pPr algn="l" indent="0" marL="0">
                        <a:buNone/>
                      </a:pPr>
                      <a:r>
                        <a:rPr lang="en-US" sz="2100" dirty="0">
                          <a:solidFill>
                            <a:srgbClr val="2B3242"/>
                          </a:solidFill>
                          <a:latin typeface="Pretendard" pitchFamily="34" charset="0"/>
                          <a:ea typeface="Pretendard" pitchFamily="34" charset="-122"/>
                          <a:cs typeface="Pretendard" pitchFamily="34" charset="-120"/>
                        </a:rPr>
                        <a:t>version (문자열)</a:t>
                      </a:r>
                      <a:endParaRPr lang="en-US" sz="2100" dirty="0">
                        <a:latin typeface="Pretendard" charset="0"/>
                        <a:ea typeface="Pretendard" charset="0"/>
                        <a:cs typeface="Pretendard" charset="0"/>
                      </a:endParaRPr>
                    </a:p>
                  </a:txBody>
                  <a:tcPr marL="164592" marR="164592" marT="91440" marB="91440"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2B3242"/>
                          </a:solidFill>
                          <a:latin typeface="Pretendard" pitchFamily="34" charset="0"/>
                          <a:ea typeface="Pretendard" pitchFamily="34" charset="-122"/>
                          <a:cs typeface="Pretendard" pitchFamily="34" charset="-120"/>
                        </a:rPr>
                        <a:t>"1.2"</a:t>
                      </a:r>
                      <a:endParaRPr lang="en-US" sz="2100" dirty="0">
                        <a:latin typeface="Pretendard" charset="0"/>
                        <a:ea typeface="Pretendard" charset="0"/>
                        <a:cs typeface="Pretendard" charset="0"/>
                      </a:endParaRPr>
                    </a:p>
                  </a:txBody>
                  <a:tcPr marL="164592" marR="164592" marT="91440" marB="91440"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2B3242"/>
                          </a:solidFill>
                          <a:latin typeface="Pretendard" pitchFamily="34" charset="0"/>
                          <a:ea typeface="Pretendard" pitchFamily="34" charset="-122"/>
                          <a:cs typeface="Pretendard" pitchFamily="34" charset="-120"/>
                        </a:rPr>
                        <a:t>"1.2"</a:t>
                      </a:r>
                      <a:endParaRPr lang="en-US" sz="2100" dirty="0">
                        <a:latin typeface="Pretendard" charset="0"/>
                        <a:ea typeface="Pretendard" charset="0"/>
                        <a:cs typeface="Pretendard" charset="0"/>
                      </a:endParaRPr>
                    </a:p>
                  </a:txBody>
                  <a:tcPr marL="164592" marR="164592" marT="91440" marB="91440"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FFFFF"/>
                    </a:solidFill>
                  </a:tcPr>
                </a:tc>
              </a:tr>
              <a:tr h="557784">
                <a:tc>
                  <a:txBody>
                    <a:bodyPr/>
                    <a:lstStyle/>
                    <a:p>
                      <a:pPr algn="l" indent="0" marL="0">
                        <a:buNone/>
                      </a:pPr>
                      <a:r>
                        <a:rPr lang="en-US" sz="2100" dirty="0">
                          <a:solidFill>
                            <a:srgbClr val="2B3242"/>
                          </a:solidFill>
                          <a:latin typeface="Pretendard" pitchFamily="34" charset="0"/>
                          <a:ea typeface="Pretendard" pitchFamily="34" charset="-122"/>
                          <a:cs typeface="Pretendard" pitchFamily="34" charset="-120"/>
                        </a:rPr>
                        <a:t>access_level (문자열)</a:t>
                      </a:r>
                      <a:endParaRPr lang="en-US" sz="2100" dirty="0">
                        <a:latin typeface="Pretendard" charset="0"/>
                        <a:ea typeface="Pretendard" charset="0"/>
                        <a:cs typeface="Pretendard" charset="0"/>
                      </a:endParaRPr>
                    </a:p>
                  </a:txBody>
                  <a:tcPr marL="164592" marR="164592" marT="91440" marB="91440"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2B3242"/>
                          </a:solidFill>
                          <a:latin typeface="Pretendard" pitchFamily="34" charset="0"/>
                          <a:ea typeface="Pretendard" pitchFamily="34" charset="-122"/>
                          <a:cs typeface="Pretendard" pitchFamily="34" charset="-120"/>
                        </a:rPr>
                        <a:t>public</a:t>
                      </a:r>
                      <a:endParaRPr lang="en-US" sz="2100" dirty="0">
                        <a:latin typeface="Pretendard" charset="0"/>
                        <a:ea typeface="Pretendard" charset="0"/>
                        <a:cs typeface="Pretendard" charset="0"/>
                      </a:endParaRPr>
                    </a:p>
                  </a:txBody>
                  <a:tcPr marL="164592" marR="164592" marT="91440" marB="91440"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2B3242"/>
                          </a:solidFill>
                          <a:latin typeface="Pretendard" pitchFamily="34" charset="0"/>
                          <a:ea typeface="Pretendard" pitchFamily="34" charset="-122"/>
                          <a:cs typeface="Pretendard" pitchFamily="34" charset="-120"/>
                        </a:rPr>
                        <a:t>public</a:t>
                      </a:r>
                      <a:endParaRPr lang="en-US" sz="2100" dirty="0">
                        <a:latin typeface="Pretendard" charset="0"/>
                        <a:ea typeface="Pretendard" charset="0"/>
                        <a:cs typeface="Pretendard" charset="0"/>
                      </a:endParaRPr>
                    </a:p>
                  </a:txBody>
                  <a:tcPr marL="164592" marR="164592" marT="91440" marB="91440"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FFFFF"/>
                    </a:solidFill>
                  </a:tcPr>
                </a:tc>
              </a:tr>
              <a:tr h="557784">
                <a:tc>
                  <a:txBody>
                    <a:bodyPr/>
                    <a:lstStyle/>
                    <a:p>
                      <a:pPr algn="l" indent="0" marL="0">
                        <a:buNone/>
                      </a:pPr>
                      <a:r>
                        <a:rPr lang="en-US" sz="2100" dirty="0">
                          <a:solidFill>
                            <a:srgbClr val="2E74C6"/>
                          </a:solidFill>
                          <a:latin typeface="Pretendard" pitchFamily="34" charset="0"/>
                          <a:ea typeface="Pretendard" pitchFamily="34" charset="-122"/>
                          <a:cs typeface="Pretendard" pitchFamily="34" charset="-120"/>
                        </a:rPr>
                        <a:t>page (정수)</a:t>
                      </a:r>
                      <a:endParaRPr lang="en-US" sz="2100" dirty="0">
                        <a:latin typeface="Pretendard" charset="0"/>
                        <a:ea typeface="Pretendard" charset="0"/>
                        <a:cs typeface="Pretendard" charset="0"/>
                      </a:endParaRPr>
                    </a:p>
                  </a:txBody>
                  <a:tcPr marL="164592" marR="164592" marT="91440" marB="91440"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EEF3FA"/>
                    </a:solidFill>
                  </a:tcPr>
                </a:tc>
                <a:tc>
                  <a:txBody>
                    <a:bodyPr/>
                    <a:lstStyle/>
                    <a:p>
                      <a:pPr algn="ctr" indent="0" marL="0">
                        <a:buNone/>
                      </a:pPr>
                      <a:r>
                        <a:rPr lang="en-US" sz="2100" b="1" dirty="0">
                          <a:solidFill>
                            <a:srgbClr val="2E74C6"/>
                          </a:solidFill>
                          <a:latin typeface="Pretendard" pitchFamily="34" charset="0"/>
                          <a:ea typeface="Pretendard" pitchFamily="34" charset="-122"/>
                          <a:cs typeface="Pretendard" pitchFamily="34" charset="-120"/>
                        </a:rPr>
                        <a:t>6</a:t>
                      </a:r>
                      <a:endParaRPr lang="en-US" sz="2100" dirty="0">
                        <a:latin typeface="Pretendard" charset="0"/>
                        <a:ea typeface="Pretendard" charset="0"/>
                        <a:cs typeface="Pretendard" charset="0"/>
                      </a:endParaRPr>
                    </a:p>
                  </a:txBody>
                  <a:tcPr marL="164592" marR="164592" marT="91440" marB="91440"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EEF3FA"/>
                    </a:solidFill>
                  </a:tcPr>
                </a:tc>
                <a:tc>
                  <a:txBody>
                    <a:bodyPr/>
                    <a:lstStyle/>
                    <a:p>
                      <a:pPr algn="ctr" indent="0" marL="0">
                        <a:buNone/>
                      </a:pPr>
                      <a:r>
                        <a:rPr lang="en-US" sz="2100" b="1" dirty="0">
                          <a:solidFill>
                            <a:srgbClr val="2E74C6"/>
                          </a:solidFill>
                          <a:latin typeface="Pretendard" pitchFamily="34" charset="0"/>
                          <a:ea typeface="Pretendard" pitchFamily="34" charset="-122"/>
                          <a:cs typeface="Pretendard" pitchFamily="34" charset="-120"/>
                        </a:rPr>
                        <a:t>10</a:t>
                      </a:r>
                      <a:endParaRPr lang="en-US" sz="2100" dirty="0">
                        <a:latin typeface="Pretendard" charset="0"/>
                        <a:ea typeface="Pretendard" charset="0"/>
                        <a:cs typeface="Pretendard" charset="0"/>
                      </a:endParaRPr>
                    </a:p>
                  </a:txBody>
                  <a:tcPr marL="164592" marR="164592" marT="91440" marB="91440"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EEF3FA"/>
                    </a:solidFill>
                  </a:tcPr>
                </a:tc>
              </a:tr>
              <a:tr h="557784">
                <a:tc>
                  <a:txBody>
                    <a:bodyPr/>
                    <a:lstStyle/>
                    <a:p>
                      <a:pPr algn="l" indent="0" marL="0">
                        <a:buNone/>
                      </a:pPr>
                      <a:r>
                        <a:rPr lang="en-US" sz="2100" dirty="0">
                          <a:solidFill>
                            <a:srgbClr val="2E74C6"/>
                          </a:solidFill>
                          <a:latin typeface="Pretendard" pitchFamily="34" charset="0"/>
                          <a:ea typeface="Pretendard" pitchFamily="34" charset="-122"/>
                          <a:cs typeface="Pretendard" pitchFamily="34" charset="-120"/>
                        </a:rPr>
                        <a:t>page_end (정수)</a:t>
                      </a:r>
                      <a:endParaRPr lang="en-US" sz="2100" dirty="0">
                        <a:latin typeface="Pretendard" charset="0"/>
                        <a:ea typeface="Pretendard" charset="0"/>
                        <a:cs typeface="Pretendard" charset="0"/>
                      </a:endParaRPr>
                    </a:p>
                  </a:txBody>
                  <a:tcPr marL="164592" marR="164592" marT="91440" marB="91440"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EEF3FA"/>
                    </a:solidFill>
                  </a:tcPr>
                </a:tc>
                <a:tc>
                  <a:txBody>
                    <a:bodyPr/>
                    <a:lstStyle/>
                    <a:p>
                      <a:pPr algn="ctr" indent="0" marL="0">
                        <a:buNone/>
                      </a:pPr>
                      <a:r>
                        <a:rPr lang="en-US" sz="2100" b="1" dirty="0">
                          <a:solidFill>
                            <a:srgbClr val="2E74C6"/>
                          </a:solidFill>
                          <a:latin typeface="Pretendard" pitchFamily="34" charset="0"/>
                          <a:ea typeface="Pretendard" pitchFamily="34" charset="-122"/>
                          <a:cs typeface="Pretendard" pitchFamily="34" charset="-120"/>
                        </a:rPr>
                        <a:t>7</a:t>
                      </a:r>
                      <a:endParaRPr lang="en-US" sz="2100" dirty="0">
                        <a:latin typeface="Pretendard" charset="0"/>
                        <a:ea typeface="Pretendard" charset="0"/>
                        <a:cs typeface="Pretendard" charset="0"/>
                      </a:endParaRPr>
                    </a:p>
                  </a:txBody>
                  <a:tcPr marL="164592" marR="164592" marT="91440" marB="91440"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EEF3FA"/>
                    </a:solidFill>
                  </a:tcPr>
                </a:tc>
                <a:tc>
                  <a:txBody>
                    <a:bodyPr/>
                    <a:lstStyle/>
                    <a:p>
                      <a:pPr algn="ctr" indent="0" marL="0">
                        <a:buNone/>
                      </a:pPr>
                      <a:r>
                        <a:rPr lang="en-US" sz="2100" b="1" dirty="0">
                          <a:solidFill>
                            <a:srgbClr val="2E74C6"/>
                          </a:solidFill>
                          <a:latin typeface="Pretendard" pitchFamily="34" charset="0"/>
                          <a:ea typeface="Pretendard" pitchFamily="34" charset="-122"/>
                          <a:cs typeface="Pretendard" pitchFamily="34" charset="-120"/>
                        </a:rPr>
                        <a:t>11</a:t>
                      </a:r>
                      <a:endParaRPr lang="en-US" sz="2100" dirty="0">
                        <a:latin typeface="Pretendard" charset="0"/>
                        <a:ea typeface="Pretendard" charset="0"/>
                        <a:cs typeface="Pretendard" charset="0"/>
                      </a:endParaRPr>
                    </a:p>
                  </a:txBody>
                  <a:tcPr marL="164592" marR="164592" marT="91440" marB="91440"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EEF3FA"/>
                    </a:solidFill>
                  </a:tcPr>
                </a:tc>
              </a:tr>
            </a:tbl>
          </a:graphicData>
        </a:graphic>
      </p:graphicFrame>
      <p:sp>
        <p:nvSpPr>
          <p:cNvPr id="29" name="Text 26"/>
          <p:cNvSpPr/>
          <p:nvPr/>
        </p:nvSpPr>
        <p:spPr>
          <a:xfrm>
            <a:off x="6419088" y="7022592"/>
            <a:ext cx="7699248" cy="594360"/>
          </a:xfrm>
          <a:prstGeom prst="rect">
            <a:avLst/>
          </a:prstGeom>
          <a:noFill/>
          <a:ln/>
        </p:spPr>
        <p:txBody>
          <a:bodyPr wrap="square" lIns="0" tIns="0" rIns="0" bIns="0" rtlCol="0" anchor="ctr"/>
          <a:lstStyle/>
          <a:p>
            <a:pPr algn="l" indent="0" marL="0">
              <a:buNone/>
            </a:pPr>
            <a:r>
              <a:rPr lang="en-US" sz="1900" b="1" dirty="0">
                <a:solidFill>
                  <a:srgbClr val="2E74C6"/>
                </a:solidFill>
                <a:latin typeface="Pretendard" pitchFamily="34" charset="0"/>
                <a:ea typeface="Pretendard" pitchFamily="34" charset="-122"/>
                <a:cs typeface="Pretendard" pitchFamily="34" charset="-120"/>
              </a:rPr>
              <a:t>page = 겹친 쪽의 최솟값</a:t>
            </a:r>
            <a:endParaRPr lang="en-US" sz="1900" dirty="0"/>
          </a:p>
          <a:p>
            <a:pPr algn="l" indent="0" marL="0">
              <a:buNone/>
            </a:pPr>
            <a:r>
              <a:rPr lang="en-US" sz="1900" b="1" dirty="0">
                <a:solidFill>
                  <a:srgbClr val="2E74C6"/>
                </a:solidFill>
                <a:latin typeface="Pretendard" pitchFamily="34" charset="0"/>
                <a:ea typeface="Pretendard" pitchFamily="34" charset="-122"/>
                <a:cs typeface="Pretendard" pitchFamily="34" charset="-120"/>
              </a:rPr>
              <a:t>page_end = 겹친 쪽의 최댓값</a:t>
            </a:r>
            <a:endParaRPr lang="en-US" sz="1900" dirty="0"/>
          </a:p>
        </p:txBody>
      </p:sp>
      <p:sp>
        <p:nvSpPr>
          <p:cNvPr id="30" name="Shape 27"/>
          <p:cNvSpPr/>
          <p:nvPr/>
        </p:nvSpPr>
        <p:spPr>
          <a:xfrm>
            <a:off x="512064" y="7790688"/>
            <a:ext cx="13606272" cy="0"/>
          </a:xfrm>
          <a:prstGeom prst="line">
            <a:avLst/>
          </a:prstGeom>
          <a:noFill/>
          <a:ln w="12700">
            <a:solidFill>
              <a:srgbClr val="E9ECF3"/>
            </a:solidFill>
            <a:prstDash val="solid"/>
          </a:ln>
        </p:spPr>
      </p:sp>
      <p:sp>
        <p:nvSpPr>
          <p:cNvPr id="31" name="Text 28"/>
          <p:cNvSpPr/>
          <p:nvPr/>
        </p:nvSpPr>
        <p:spPr>
          <a:xfrm>
            <a:off x="512064" y="7900416"/>
            <a:ext cx="12664440" cy="210312"/>
          </a:xfrm>
          <a:prstGeom prst="rect">
            <a:avLst/>
          </a:prstGeom>
          <a:noFill/>
          <a:ln/>
        </p:spPr>
        <p:txBody>
          <a:bodyPr wrap="square" lIns="0" tIns="0" rIns="0" bIns="0" rtlCol="0" anchor="ctr"/>
          <a:lstStyle/>
          <a:p>
            <a:pPr algn="l" indent="0" marL="0">
              <a:buNone/>
            </a:pPr>
            <a:r>
              <a:rPr lang="en-US" sz="1400" dirty="0">
                <a:solidFill>
                  <a:srgbClr val="7C8598"/>
                </a:solidFill>
                <a:latin typeface="Pretendard" pitchFamily="34" charset="0"/>
                <a:ea typeface="Pretendard" pitchFamily="34" charset="-122"/>
                <a:cs typeface="Pretendard" pitchFamily="34" charset="-120"/>
              </a:rPr>
              <a:t>교육용 합성 문서의 실제 인덱싱 결과 · 출처와 청크 ID는 발표자 노트에 수록</a:t>
            </a:r>
            <a:endParaRPr lang="en-US" sz="1400" dirty="0"/>
          </a:p>
        </p:txBody>
      </p:sp>
      <p:sp>
        <p:nvSpPr>
          <p:cNvPr id="32" name="Text 29"/>
          <p:cNvSpPr/>
          <p:nvPr/>
        </p:nvSpPr>
        <p:spPr>
          <a:xfrm>
            <a:off x="13368528" y="7882128"/>
            <a:ext cx="749808" cy="246888"/>
          </a:xfrm>
          <a:prstGeom prst="rect">
            <a:avLst/>
          </a:prstGeom>
          <a:noFill/>
          <a:ln/>
        </p:spPr>
        <p:txBody>
          <a:bodyPr wrap="square" lIns="0" tIns="0" rIns="0" bIns="0" rtlCol="0" anchor="ctr"/>
          <a:lstStyle/>
          <a:p>
            <a:pPr algn="r" indent="0" marL="0">
              <a:buNone/>
            </a:pPr>
            <a:r>
              <a:rPr lang="en-US" sz="1500" dirty="0">
                <a:solidFill>
                  <a:srgbClr val="1E2A5C"/>
                </a:solidFill>
                <a:latin typeface="Pretendard" pitchFamily="34" charset="0"/>
                <a:ea typeface="Pretendard" pitchFamily="34" charset="-122"/>
                <a:cs typeface="Pretendard" pitchFamily="34" charset="-120"/>
              </a:rPr>
              <a:t>01</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메타데이터 구조 설계</dc:title>
  <dc:subject>공통값 상속과 범위별 값 계산</dc:subject>
  <dc:creator>design-agentic-ai</dc:creator>
  <cp:lastModifiedBy>design-agentic-ai</cp:lastModifiedBy>
  <cp:revision>1</cp:revision>
  <dcterms:created xsi:type="dcterms:W3CDTF">2026-10-01T12:08:23Z</dcterms:created>
  <dcterms:modified xsi:type="dcterms:W3CDTF">2026-10-01T12:08:23Z</dcterms:modified>
</cp:coreProperties>
</file>