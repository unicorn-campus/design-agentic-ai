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검색과 답변 품질을 재는 평가셋입니다. 문항마다 정답과 정답 출처가 있습니다. 출처는 정답이 적힌 원문 위치이고, 그 위치의 원문 조각이 색인 본문에 글자 그대로 있는지 다섯 가지 검사로 확인한 뒤에만 저장합니다. 이번에 25문항 모두 통과했습니다. 검색 품질은 검색 결과에 이 출처가 들어 있는지로, 답변 품질은 답이 정답과 맞고 출처에 근거하는지로 잽니다.
약관 문항의 출처는 조항, 카드 혜택 문항의 출처는 혜택 블록, 상담 문항의 출처는 상담 ID입니다. 답 없음 다섯 문항은 출처 대신 답이 없음을 확인한 기준이 있고, 「확인 필요」로 끝나야 정답입니다.
새로 더한 거시 질문 세 문항은 출처가 여러 곳입니다. 고객군별 불만은 상담 6건, 받아들여진 제안의 공통점은 상담 5건에 근거합니다. Q25는 불만 주제를 찾은 뒤 주제마다 약관 조항과 카드 혜택을 잇는 3단계 질문이라 상담 6건, 혜택 블록 3개, 약관 6개 조항에 근거합니다. 관련 혜택이 없는 주제는 「없음」이 정답이라, 지어낸 카드를 답하면 감점됩니다. Q23과 맞대어 보면 어느 단계에서 막혔는지 알 수 있습니다. 커뮤니티 요약 없이 지금 구조가 이 질문들을 얼마나 놓치는지 먼저 재고, 많이 놓치면 커뮤니티 요약 단계를 붙일지 정합니다.
표의 정답은 요점만 줄인 것이고, 실제 채점은 원문 정답 문장으로 합니다. 출처가 여럿인 문항은 표에 「외 1」처럼 줄여 적었습니다.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sp>
      <p:sp>
        <p:nvSpPr>
          <p:cNvPr id="3" name="Text 1"/>
          <p:cNvSpPr/>
          <p:nvPr/>
        </p:nvSpPr>
        <p:spPr>
          <a:xfrm>
            <a:off x="445770" y="7787945"/>
            <a:ext cx="1531620" cy="246888"/>
          </a:xfrm>
          <a:prstGeom prst="rect">
            <a:avLst/>
          </a:prstGeom>
          <a:noFill/>
          <a:ln/>
        </p:spPr>
        <p:txBody>
          <a:bodyPr wrap="square" lIns="0" tIns="0" rIns="0" bIns="0" rtlCol="0" anchor="ctr"/>
          <a:lstStyle/>
          <a:p>
            <a:pPr indent="0" marL="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p:nvPr>
            <p:ph type="title"/>
          </p:nvPr>
        </p:nvSpPr>
        <p:spPr>
          <a:xfrm>
            <a:off x="509321" y="99670"/>
            <a:ext cx="13738860" cy="828446"/>
          </a:xfrm>
          <a:prstGeom prst="rect">
            <a:avLst/>
          </a:prstGeom>
          <a:noFill/>
          <a:ln/>
        </p:spPr>
        <p:txBody>
          <a:bodyPr wrap="square" rtlCol="0"/>
          <a:lstStyle>
            <a:lvl1pPr algn="l" indent="0" marL="0">
              <a:buNone/>
              <a:defRPr lang="en-US" sz="3200" b="1" dirty="0">
                <a:solidFill>
                  <a:srgbClr val="2C2926"/>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평가셋 25문항: 질문, 정답, 출처</a:t>
            </a:r>
            <a:endParaRPr lang="en-US" sz="3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9321" y="1097280"/>
          <a:ext cx="13624560" cy="914400"/>
        </p:xfrm>
        <a:graphic>
          <a:graphicData uri="http://schemas.openxmlformats.org/drawingml/2006/table">
            <a:tbl>
              <a:tblPr/>
              <a:tblGrid>
                <a:gridCol w="960120"/>
                <a:gridCol w="3108960"/>
                <a:gridCol w="7178040"/>
                <a:gridCol w="2377440"/>
              </a:tblGrid>
              <a:tr h="274320">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번호</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질문</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정답 요점</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정답 출처</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265176">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Q01</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연회비 면제 기준</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직전 12개월 300만 원 이상, 연체 없으면 기본 연회비 면제</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약관 제10조①</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265176">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Q02</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할부 상품 철회 기한</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상품이나 계약서를 받은 날 중 늦은 날부터 7일 이내</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약관 제16조의2①</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265176">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Q03</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명세서 이의 기한과 결과 통지</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게시일부터 45일 이내 제기, 15영업일 이내 1차 결과</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약관 제34조</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265176">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Q04</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약관 변경 사전 안내 시점</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적용일 30일 전부터 이유, 적용일, 바뀌는 조항 안내</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약관 제38조①</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265176">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Q05</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결제일이 휴일일 때 출금</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다음 영업일에 출금</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약관 제21조①</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265176">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Q06</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휴면카드 처리</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신규 승인 정지 후 선택 안내, 의사 없으면 계약 종료</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약관 제12조의3</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265176">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Q07</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모아생활 포인트 적립률과 한도</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1.2% 적립, 월 8,000원 상당까지</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혜택 D2-C001-B01</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265176">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Q08</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모아생활 포인트 리필 조건</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달빛상점 한 번에 7,000P 이상 쓰면 700P, 월 1건</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혜택 D2-C001-B02</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265176">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Q09</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가족돌봄 바우처 금액과 기간</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연 1회 90,000원, 발급일부터 180일</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혜택 D2-C021-B01</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265176">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Q10</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자유여행 라운지 횟수와 기한</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연 2회, 발급 후 30일 이내 본인만</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혜택 D2-C024-B04</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265176">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Q11</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전기길 충전 캐시백</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2.5%, 월 8,000원 상당까지 다음 달 18일 지급</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혜택 D2-C008-B01</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265176">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Q12</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반려동행 동물병원 할인</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4% 할인, 월 8,000원 상당까지</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혜택 D2-C058-B01</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265176">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Q13</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청소년생활 결제 한도</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건별 25,000원, 월 150,000원 (보호자가 낮출 수 있음)</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혜택 D2-C055-B04</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265176">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Q14</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M-1042 비교 기준과 해지 진행</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추가 소비 없는 부담 비교, 해지는 신청 전 확인 단계</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상담 C-20260302-001 외 1</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265176">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Q15</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M-1042가 생활비 이전을 꺼린 이유</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결제일이 달라 예산을 다시 짜야 하고 방식을 바꾸기 싫음</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상담 C-20260531-002</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265176">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Q16</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M-3001 비교 항목과 전환 조건</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신청 절차를 비교, 반복 신청이 없으면 전환 검토 (미신청)</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상담 C-20260310-008 외 1</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265176">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Q17</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M-3001에게 피할 설명과 제안</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「무조건 편하다」 설명, 매달 알림 설정, 추가 적립 제안</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상담 C-20260626-011 외 2</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265176">
                <a:tc>
                  <a:txBody>
                    <a:bodyP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Q18 ~ 22</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2B3242"/>
                          </a:solidFill>
                          <a:latin typeface="Pretendard" pitchFamily="34" charset="0"/>
                          <a:ea typeface="Pretendard" pitchFamily="34" charset="-122"/>
                          <a:cs typeface="Pretendard" pitchFamily="34" charset="-120"/>
                        </a:rPr>
                        <a:t>답이 없는 5문항</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모두 「확인 필요」 (포인트 납부, 해외 수수료, 옛 약관, 회원 2건)</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없음 (낱말 묶음 부재 확인)</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512064">
                <a:tc>
                  <a:txBody>
                    <a:bodyP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Q23</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indent="0" marL="0">
                        <a:buNone/>
                      </a:pPr>
                      <a:r>
                        <a:rPr lang="en-US" sz="1400" b="1" dirty="0">
                          <a:solidFill>
                            <a:srgbClr val="2B3242"/>
                          </a:solidFill>
                          <a:latin typeface="Pretendard" pitchFamily="34" charset="0"/>
                          <a:ea typeface="Pretendard" pitchFamily="34" charset="-122"/>
                          <a:cs typeface="Pretendard" pitchFamily="34" charset="-120"/>
                        </a:rPr>
                        <a:t>고객군별 불만을 주제로 나누기</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indent="0" marL="0">
                        <a:buNone/>
                      </a:pPr>
                      <a:r>
                        <a:rPr lang="en-US" sz="1400" dirty="0">
                          <a:solidFill>
                            <a:srgbClr val="1E2A5C"/>
                          </a:solidFill>
                          <a:latin typeface="Pretendard" pitchFamily="34" charset="0"/>
                          <a:ea typeface="Pretendard" pitchFamily="34" charset="-122"/>
                          <a:cs typeface="Pretendard" pitchFamily="34" charset="-120"/>
                        </a:rPr>
                        <a:t>장기보유, 연회비부담: 비용 대비 가치 / 신규가입, VIP: 절차 반복</a:t>
                      </a:r>
                      <a:endParaRPr lang="en-US" sz="1400" dirty="0">
                        <a:latin typeface="Pretendard" charset="0"/>
                        <a:ea typeface="Pretendard" charset="0"/>
                        <a:cs typeface="Pretendard" charset="0"/>
                      </a:endParaRPr>
                    </a:p>
                    <a:p>
                      <a:pPr indent="0" marL="0">
                        <a:buNone/>
                      </a:pPr>
                      <a:r>
                        <a:rPr lang="en-US" sz="1400" dirty="0">
                          <a:solidFill>
                            <a:srgbClr val="1E2A5C"/>
                          </a:solidFill>
                          <a:latin typeface="Pretendard" pitchFamily="34" charset="0"/>
                          <a:ea typeface="Pretendard" pitchFamily="34" charset="-122"/>
                          <a:cs typeface="Pretendard" pitchFamily="34" charset="-120"/>
                        </a:rPr>
                        <a:t>장기보유, 휴면직전: 안내 부족 / 다중카드: 불만 없음</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상담 6건 (고객군별 불만 발화)</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r>
              <a:tr h="265176">
                <a:tc>
                  <a:txBody>
                    <a:bodyP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Q24</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indent="0" marL="0">
                        <a:buNone/>
                      </a:pPr>
                      <a:r>
                        <a:rPr lang="en-US" sz="1400" b="1" dirty="0">
                          <a:solidFill>
                            <a:srgbClr val="2B3242"/>
                          </a:solidFill>
                          <a:latin typeface="Pretendard" pitchFamily="34" charset="0"/>
                          <a:ea typeface="Pretendard" pitchFamily="34" charset="-122"/>
                          <a:cs typeface="Pretendard" pitchFamily="34" charset="-120"/>
                        </a:rPr>
                        <a:t>받아들여진 제안의 공통점</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indent="0" marL="0">
                        <a:buNone/>
                      </a:pPr>
                      <a:r>
                        <a:rPr lang="en-US" sz="1400" dirty="0">
                          <a:solidFill>
                            <a:srgbClr val="1E2A5C"/>
                          </a:solidFill>
                          <a:latin typeface="Pretendard" pitchFamily="34" charset="0"/>
                          <a:ea typeface="Pretendard" pitchFamily="34" charset="-122"/>
                          <a:cs typeface="Pretendard" pitchFamily="34" charset="-120"/>
                        </a:rPr>
                        <a:t>할 일이나 소비가 늘지 않음, 글로 남는 안내, 원한 방식에 맞춤</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상담 5건 (수용, 거절 이유)</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r>
              <a:tr h="512064">
                <a:tc>
                  <a:txBody>
                    <a:bodyP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Q25</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indent="0" marL="0">
                        <a:buNone/>
                      </a:pPr>
                      <a:r>
                        <a:rPr lang="en-US" sz="1400" b="1" dirty="0">
                          <a:solidFill>
                            <a:srgbClr val="2B3242"/>
                          </a:solidFill>
                          <a:latin typeface="Pretendard" pitchFamily="34" charset="0"/>
                          <a:ea typeface="Pretendard" pitchFamily="34" charset="-122"/>
                          <a:cs typeface="Pretendard" pitchFamily="34" charset="-120"/>
                        </a:rPr>
                        <a:t>불만 주제별 약관 조항과 카드 혜택</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indent="0" marL="0">
                        <a:buNone/>
                      </a:pPr>
                      <a:r>
                        <a:rPr lang="en-US" sz="1400" dirty="0">
                          <a:solidFill>
                            <a:srgbClr val="1E2A5C"/>
                          </a:solidFill>
                          <a:latin typeface="Pretendard" pitchFamily="34" charset="0"/>
                          <a:ea typeface="Pretendard" pitchFamily="34" charset="-122"/>
                          <a:cs typeface="Pretendard" pitchFamily="34" charset="-120"/>
                        </a:rPr>
                        <a:t>장보기 할인: 제17조, 장보기와 간편생활 카드 / 신청 반복: 제17조, 자동맞춤 카드</a:t>
                      </a:r>
                      <a:endParaRPr lang="en-US" sz="1400" dirty="0">
                        <a:latin typeface="Pretendard" charset="0"/>
                        <a:ea typeface="Pretendard" charset="0"/>
                        <a:cs typeface="Pretendard" charset="0"/>
                      </a:endParaRPr>
                    </a:p>
                    <a:p>
                      <a:pPr indent="0" marL="0">
                        <a:buNone/>
                      </a:pPr>
                      <a:r>
                        <a:rPr lang="en-US" sz="1400" dirty="0">
                          <a:solidFill>
                            <a:srgbClr val="1E2A5C"/>
                          </a:solidFill>
                          <a:latin typeface="Pretendard" pitchFamily="34" charset="0"/>
                          <a:ea typeface="Pretendard" pitchFamily="34" charset="-122"/>
                          <a:cs typeface="Pretendard" pitchFamily="34" charset="-120"/>
                        </a:rPr>
                        <a:t>연회비 제9, 10조 / 인증 제29조 / 민원 제34조 / 알림 제5조: 관련 혜택 없음</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indent="0" marL="0">
                        <a:buNone/>
                      </a:pPr>
                      <a:r>
                        <a:rPr lang="en-US" sz="1400" dirty="0">
                          <a:solidFill>
                            <a:srgbClr val="4A5364"/>
                          </a:solidFill>
                          <a:latin typeface="Pretendard" pitchFamily="34" charset="0"/>
                          <a:ea typeface="Pretendard" pitchFamily="34" charset="-122"/>
                          <a:cs typeface="Pretendard" pitchFamily="34" charset="-120"/>
                        </a:rPr>
                        <a:t>상담 6, 혜택 3, 약관 6</a:t>
                      </a:r>
                      <a:endParaRPr lang="en-US" sz="14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2026-10-23T08:11:09Z</dcterms:created>
  <dcterms:modified xsi:type="dcterms:W3CDTF">2026-10-23T08:11:09Z</dcterms:modified>
</cp:coreProperties>
</file>