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Neo4j 도구 중 RDB에 직접 연결해 테이블 구조를 분석하는 것은 Aura Import와 apoc.model.jdbc 두 가지임(2026-10-14 기준, 같은 일을 하던 Neo4j ETL Tool은 2022-11 이후 멈춤). Data Importer는 CSV 머리글만 읽고, Arrows.app은 그림 도구, Data Modeling MCP는 DB에 붙지 않음. Aura Import는 테이블의 PK와 FK로 관계를 추론해 후보 모델을 만들고, 키 정의가 없으면 Generate with AI로 키를 추정함. AI 모델은 의도와 맞는지 검토하라고 Neo4j가 안내함. 다만 적재 대상이 Aura 클라우드라 로컬 Community에서는 쓸 수 없음. apoc.model.jdbc는 JDBC 메타데이터로 테이블, 열, FK를 읽어 nodes와 relationships로 돌려주는 원본 구조이며, 조회 대상 판정과 조인 테이블 흡수 같은 변환 규칙 ①~④는 직접 적용해야 함. APOC Extended라 기본 Neo4j 이미지의 APOC Core에는 없고, JDBC 드라이버도 plugins 폴더에 넣어야 함. 결과 모양(라벨, 관계 이름)은 문서에 그림으로만 있어 실제 실행으로 확인이 필요함.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neo4j.com/docs/aura/import/introduction/" TargetMode="External"/><Relationship Id="rId2" Type="http://schemas.openxmlformats.org/officeDocument/2006/relationships/hyperlink" Target="https://neo4j.com/blog/auradb/auradb-direct-import/" TargetMode="External"/><Relationship Id="rId3" Type="http://schemas.openxmlformats.org/officeDocument/2006/relationships/hyperlink" Target="https://neo4j.com/apoc/2026/database-integration/database-modeling/" TargetMode="External"/><Relationship Id="rId4" Type="http://schemas.openxmlformats.org/officeDocument/2006/relationships/hyperlink" Target="https://github.com/neo4j-contrib/neo4j-apoc-procedures" TargetMode="Externa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스키마 도출: RDB에 연결해 스키마를 설계하는 도구 2종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RDB 테이블을 직접 분석하는 도구는 둘뿐 — Aura Import는 후보 모델까지, apoc.model.jdbc는 원본 구조까지 만들어 줌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37360"/>
            <a:ext cx="669798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9321" y="1737360"/>
            <a:ext cx="669798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6481" y="1737360"/>
            <a:ext cx="3680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Aura Import</a:t>
            </a:r>
            <a:pPr indent="0" marL="0">
              <a:buNone/>
            </a:pPr>
            <a:r>
              <a:rPr lang="en-US" sz="1400" dirty="0">
                <a:solidFill>
                  <a:srgbClr val="D9E3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Aura 콘솔의 가져오기 서비스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372661" y="1819656"/>
            <a:ext cx="1325880" cy="292608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372661" y="1819656"/>
            <a:ext cx="132588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있음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789981" y="1819656"/>
            <a:ext cx="1325880" cy="292608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7C8598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5789981" y="1819656"/>
            <a:ext cx="132588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CE 불가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6481" y="2304288"/>
            <a:ext cx="1153058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6481" y="2304288"/>
            <a:ext cx="1153058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원천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817827" y="2560320"/>
            <a:ext cx="12801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1964131" y="2304288"/>
            <a:ext cx="1153058" cy="512064"/>
          </a:xfrm>
          <a:prstGeom prst="roundRect">
            <a:avLst>
              <a:gd name="adj" fmla="val 14286"/>
            </a:avLst>
          </a:prstGeom>
          <a:solidFill>
            <a:srgbClr val="2E74C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964131" y="2304288"/>
            <a:ext cx="1153058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생성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(자동 또는 AI)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135478" y="2560320"/>
            <a:ext cx="12801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3281782" y="2304288"/>
            <a:ext cx="1153058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281782" y="2304288"/>
            <a:ext cx="1153058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검토, 수정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453128" y="2560320"/>
            <a:ext cx="12801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4599432" y="2304288"/>
            <a:ext cx="1153058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99432" y="2304288"/>
            <a:ext cx="1153058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매핑, 인덱스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 제약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770778" y="2560320"/>
            <a:ext cx="12801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5917082" y="2304288"/>
            <a:ext cx="1153058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917082" y="2304288"/>
            <a:ext cx="1153058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가져오기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46481" y="296265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방법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1698041" y="2962656"/>
            <a:ext cx="54178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테이블의 PK와 FK로 관계를 추론해 모델 자동 생성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키가 없으면 'Generate with AI'가 키를 추정해 모델 생성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46481" y="35112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698041" y="3511296"/>
            <a:ext cx="5417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그래프 모델(노드, 관계) → 화면에서 고친 뒤 바로 적재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46481" y="38587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대상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1698041" y="3858768"/>
            <a:ext cx="5417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PostgreSQL, MySQL, SQL Server, Oracle, Snowflake 등 12종과 CSV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46481" y="4206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Neo4j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1698041" y="4206240"/>
            <a:ext cx="5417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못 씀 — 적재 대상이 Aura 인스턴스(클라우드)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46481" y="45537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1698041" y="4553712"/>
            <a:ext cx="5417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만든 모델은 의도와 맞는지 반드시 검토(Neo4j 안내)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646481" y="49011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1698041" y="4901184"/>
            <a:ext cx="5417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중. AI 모델 생성은 2025-03 공식 블로그 기준(현행 문서엔 언급 없음)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646481" y="60167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1698041" y="6016752"/>
            <a:ext cx="5417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u="sng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https://neo4j.com/docs/aura/import/introduction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Aura Import 문서</a:t>
            </a:r>
            <a:pPr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 </a:t>
            </a:r>
            <a:pPr indent="0" marL="0">
              <a:buNone/>
            </a:pPr>
            <a:r>
              <a:rPr lang="en-US" sz="1400" u="sng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2" invalidUrl="" action="" tgtFrame="" tooltip="https://neo4j.com/blog/auradb/auradb-direct-import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공식 블로그(모델 자동 생성)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7435901" y="1737360"/>
            <a:ext cx="669798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435901" y="1737360"/>
            <a:ext cx="669798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7573061" y="1737360"/>
            <a:ext cx="3680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apoc.model.jdbc</a:t>
            </a:r>
            <a:pPr indent="0" marL="0">
              <a:buNone/>
            </a:pPr>
            <a:r>
              <a:rPr lang="en-US" sz="1400" dirty="0">
                <a:solidFill>
                  <a:srgbClr val="D9E3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APOC Extended</a:t>
            </a:r>
            <a:endParaRPr lang="en-US" sz="1900" dirty="0"/>
          </a:p>
        </p:txBody>
      </p:sp>
      <p:sp>
        <p:nvSpPr>
          <p:cNvPr id="43" name="Shape 40"/>
          <p:cNvSpPr/>
          <p:nvPr/>
        </p:nvSpPr>
        <p:spPr>
          <a:xfrm>
            <a:off x="11299241" y="1819656"/>
            <a:ext cx="1325880" cy="292608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1299241" y="1819656"/>
            <a:ext cx="132588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없음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12716561" y="1819656"/>
            <a:ext cx="1325880" cy="292608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12716561" y="1819656"/>
            <a:ext cx="132588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CE 가능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7573061" y="2304288"/>
            <a:ext cx="1153058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7573061" y="2304288"/>
            <a:ext cx="1153058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JDBC로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RDB 연결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8744407" y="2560320"/>
            <a:ext cx="12801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50" name="Shape 47"/>
          <p:cNvSpPr/>
          <p:nvPr/>
        </p:nvSpPr>
        <p:spPr>
          <a:xfrm>
            <a:off x="8890711" y="2304288"/>
            <a:ext cx="1153058" cy="512064"/>
          </a:xfrm>
          <a:prstGeom prst="roundRect">
            <a:avLst>
              <a:gd name="adj" fmla="val 14286"/>
            </a:avLst>
          </a:prstGeom>
          <a:solidFill>
            <a:srgbClr val="2E74C6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8890711" y="2304288"/>
            <a:ext cx="1153058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테이블, 열,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FK 읽기</a:t>
            </a:r>
            <a:endParaRPr lang="en-US" sz="1400" dirty="0"/>
          </a:p>
        </p:txBody>
      </p:sp>
      <p:sp>
        <p:nvSpPr>
          <p:cNvPr id="52" name="Shape 49"/>
          <p:cNvSpPr/>
          <p:nvPr/>
        </p:nvSpPr>
        <p:spPr>
          <a:xfrm>
            <a:off x="10062058" y="2560320"/>
            <a:ext cx="12801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53" name="Shape 50"/>
          <p:cNvSpPr/>
          <p:nvPr/>
        </p:nvSpPr>
        <p:spPr>
          <a:xfrm>
            <a:off x="10208362" y="2304288"/>
            <a:ext cx="1153058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0208362" y="2304288"/>
            <a:ext cx="1153058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nodes,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relationships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11379708" y="2560320"/>
            <a:ext cx="12801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56" name="Shape 53"/>
          <p:cNvSpPr/>
          <p:nvPr/>
        </p:nvSpPr>
        <p:spPr>
          <a:xfrm>
            <a:off x="11526012" y="2304288"/>
            <a:ext cx="1153058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1526012" y="2304288"/>
            <a:ext cx="1153058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변환 규칙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①~④ 적용</a:t>
            </a:r>
            <a:endParaRPr lang="en-US" sz="1400" dirty="0"/>
          </a:p>
        </p:txBody>
      </p:sp>
      <p:sp>
        <p:nvSpPr>
          <p:cNvPr id="58" name="Shape 55"/>
          <p:cNvSpPr/>
          <p:nvPr/>
        </p:nvSpPr>
        <p:spPr>
          <a:xfrm>
            <a:off x="12697358" y="2560320"/>
            <a:ext cx="12801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59" name="Shape 56"/>
          <p:cNvSpPr/>
          <p:nvPr/>
        </p:nvSpPr>
        <p:spPr>
          <a:xfrm>
            <a:off x="12843662" y="2304288"/>
            <a:ext cx="1153058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2843662" y="2304288"/>
            <a:ext cx="1153058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</a:t>
            </a:r>
            <a:endParaRPr lang="en-US" sz="1400" dirty="0"/>
          </a:p>
        </p:txBody>
      </p:sp>
      <p:sp>
        <p:nvSpPr>
          <p:cNvPr id="61" name="Text 58"/>
          <p:cNvSpPr txBox="1"/>
          <p:nvPr/>
        </p:nvSpPr>
        <p:spPr>
          <a:xfrm>
            <a:off x="7573061" y="296265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방법</a:t>
            </a:r>
            <a:endParaRPr lang="en-US" sz="1400" dirty="0"/>
          </a:p>
        </p:txBody>
      </p:sp>
      <p:sp>
        <p:nvSpPr>
          <p:cNvPr id="62" name="Text 59"/>
          <p:cNvSpPr txBox="1"/>
          <p:nvPr/>
        </p:nvSpPr>
        <p:spPr>
          <a:xfrm>
            <a:off x="8624621" y="2962656"/>
            <a:ext cx="54178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JDBC 메타데이터로 테이블, 열, FK 구조를 읽어 그래프로 돌려줌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filters의 정규식으로 테이블, 뷰, 열을 뺄 수 있음</a:t>
            </a:r>
            <a:endParaRPr lang="en-US" sz="1400" dirty="0"/>
          </a:p>
        </p:txBody>
      </p:sp>
      <p:sp>
        <p:nvSpPr>
          <p:cNvPr id="63" name="Text 60"/>
          <p:cNvSpPr txBox="1"/>
          <p:nvPr/>
        </p:nvSpPr>
        <p:spPr>
          <a:xfrm>
            <a:off x="7573061" y="351129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</a:t>
            </a:r>
            <a:endParaRPr lang="en-US" sz="1400" dirty="0"/>
          </a:p>
        </p:txBody>
      </p:sp>
      <p:sp>
        <p:nvSpPr>
          <p:cNvPr id="64" name="Text 61"/>
          <p:cNvSpPr txBox="1"/>
          <p:nvPr/>
        </p:nvSpPr>
        <p:spPr>
          <a:xfrm>
            <a:off x="8624621" y="3511296"/>
            <a:ext cx="54178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원본 구조(최종 모델 아님) → 규칙 적용과 이름 짓기는 직접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write: true면 그 구조를 Neo4j에 저장</a:t>
            </a:r>
            <a:endParaRPr lang="en-US" sz="1400" dirty="0"/>
          </a:p>
        </p:txBody>
      </p:sp>
      <p:sp>
        <p:nvSpPr>
          <p:cNvPr id="65" name="Text 62"/>
          <p:cNvSpPr txBox="1"/>
          <p:nvPr/>
        </p:nvSpPr>
        <p:spPr>
          <a:xfrm>
            <a:off x="7573061" y="40599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대상</a:t>
            </a:r>
            <a:endParaRPr lang="en-US" sz="1400" dirty="0"/>
          </a:p>
        </p:txBody>
      </p:sp>
      <p:sp>
        <p:nvSpPr>
          <p:cNvPr id="66" name="Text 63"/>
          <p:cNvSpPr txBox="1"/>
          <p:nvPr/>
        </p:nvSpPr>
        <p:spPr>
          <a:xfrm>
            <a:off x="8624621" y="4059936"/>
            <a:ext cx="5417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JDBC를 지원하는 RDB(드라이버를 plugins 폴더에 넣음)</a:t>
            </a:r>
            <a:endParaRPr lang="en-US" sz="1400" dirty="0"/>
          </a:p>
        </p:txBody>
      </p:sp>
      <p:sp>
        <p:nvSpPr>
          <p:cNvPr id="67" name="Text 64"/>
          <p:cNvSpPr txBox="1"/>
          <p:nvPr/>
        </p:nvSpPr>
        <p:spPr>
          <a:xfrm>
            <a:off x="7573061" y="44074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Neo4j</a:t>
            </a:r>
            <a:endParaRPr lang="en-US" sz="1400" dirty="0"/>
          </a:p>
        </p:txBody>
      </p:sp>
      <p:sp>
        <p:nvSpPr>
          <p:cNvPr id="68" name="Text 65"/>
          <p:cNvSpPr txBox="1"/>
          <p:nvPr/>
        </p:nvSpPr>
        <p:spPr>
          <a:xfrm>
            <a:off x="8624621" y="4407408"/>
            <a:ext cx="5417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됨 — APOC Extended를 따로 설치(기본 이미지에는 APOC Core만)</a:t>
            </a:r>
            <a:endParaRPr lang="en-US" sz="1400" dirty="0"/>
          </a:p>
        </p:txBody>
      </p:sp>
      <p:sp>
        <p:nvSpPr>
          <p:cNvPr id="69" name="Text 66"/>
          <p:cNvSpPr txBox="1"/>
          <p:nvPr/>
        </p:nvSpPr>
        <p:spPr>
          <a:xfrm>
            <a:off x="7573061" y="4754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</a:t>
            </a:r>
            <a:endParaRPr lang="en-US" sz="1400" dirty="0"/>
          </a:p>
        </p:txBody>
      </p:sp>
      <p:sp>
        <p:nvSpPr>
          <p:cNvPr id="70" name="Text 67"/>
          <p:cNvSpPr txBox="1"/>
          <p:nvPr/>
        </p:nvSpPr>
        <p:spPr>
          <a:xfrm>
            <a:off x="8624621" y="4754880"/>
            <a:ext cx="5417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유지 중(APOC 2026 문서, Apache-2.0). 결과 모양은 실행으로 확인 필요</a:t>
            </a:r>
            <a:endParaRPr lang="en-US" sz="1400" dirty="0"/>
          </a:p>
        </p:txBody>
      </p:sp>
      <p:sp>
        <p:nvSpPr>
          <p:cNvPr id="71" name="Shape 68"/>
          <p:cNvSpPr/>
          <p:nvPr/>
        </p:nvSpPr>
        <p:spPr>
          <a:xfrm>
            <a:off x="7573061" y="5102352"/>
            <a:ext cx="6423660" cy="786384"/>
          </a:xfrm>
          <a:prstGeom prst="roundRect">
            <a:avLst>
              <a:gd name="adj" fmla="val 6977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7682789" y="5175504"/>
            <a:ext cx="620420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CALL apoc.model.jdbc('jdbc:postgresql://localhost:5432/app',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{schema: 'public', credentials: {user: $user, password: $pw},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filters: {tables: ['^tmp_.*']}}) YIELD nodes, relationships</a:t>
            </a:r>
            <a:endParaRPr lang="en-US" sz="1400" dirty="0"/>
          </a:p>
        </p:txBody>
      </p:sp>
      <p:sp>
        <p:nvSpPr>
          <p:cNvPr id="73" name="Text 70"/>
          <p:cNvSpPr txBox="1"/>
          <p:nvPr/>
        </p:nvSpPr>
        <p:spPr>
          <a:xfrm>
            <a:off x="7573061" y="60167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</a:t>
            </a:r>
            <a:endParaRPr lang="en-US" sz="1400" dirty="0"/>
          </a:p>
        </p:txBody>
      </p:sp>
      <p:sp>
        <p:nvSpPr>
          <p:cNvPr id="74" name="Text 71"/>
          <p:cNvSpPr txBox="1"/>
          <p:nvPr/>
        </p:nvSpPr>
        <p:spPr>
          <a:xfrm>
            <a:off x="8624621" y="6016752"/>
            <a:ext cx="5417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u="sng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3" invalidUrl="" action="" tgtFrame="" tooltip="https://neo4j.com/apoc/2026/database-integration/database-modeling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APOC 문서(Database Modeling)</a:t>
            </a:r>
            <a:pPr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 </a:t>
            </a:r>
            <a:pPr indent="0" marL="0">
              <a:buNone/>
            </a:pPr>
            <a:r>
              <a:rPr lang="en-US" sz="1400" u="sng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4" invalidUrl="" action="" tgtFrame="" tooltip="https://github.com/neo4j-contrib/neo4j-apoc-procedure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neo4j-apoc-procedures</a:t>
            </a:r>
            <a:endParaRPr lang="en-US" sz="1400" dirty="0"/>
          </a:p>
        </p:txBody>
      </p:sp>
      <p:sp>
        <p:nvSpPr>
          <p:cNvPr id="75" name="Shape 72"/>
          <p:cNvSpPr/>
          <p:nvPr/>
        </p:nvSpPr>
        <p:spPr>
          <a:xfrm>
            <a:off x="509321" y="6510528"/>
            <a:ext cx="13624560" cy="73152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2E74C6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646481" y="651052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환경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(CE 로컬)</a:t>
            </a:r>
            <a:endParaRPr lang="en-US" sz="1500" dirty="0"/>
          </a:p>
        </p:txBody>
      </p:sp>
      <p:sp>
        <p:nvSpPr>
          <p:cNvPr id="77" name="Shape 74"/>
          <p:cNvSpPr/>
          <p:nvPr/>
        </p:nvSpPr>
        <p:spPr>
          <a:xfrm>
            <a:off x="1972361" y="6620256"/>
            <a:ext cx="2214677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7C8598"/>
            </a:solidFill>
            <a:prstDash val="dash"/>
          </a:ln>
        </p:spPr>
      </p:sp>
      <p:sp>
        <p:nvSpPr>
          <p:cNvPr id="78" name="Text 75"/>
          <p:cNvSpPr txBox="1"/>
          <p:nvPr/>
        </p:nvSpPr>
        <p:spPr>
          <a:xfrm>
            <a:off x="1972361" y="6620256"/>
            <a:ext cx="2214677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Aura Import는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쓸 수 없음</a:t>
            </a:r>
            <a:endParaRPr lang="en-US" sz="1400" dirty="0"/>
          </a:p>
        </p:txBody>
      </p:sp>
      <p:sp>
        <p:nvSpPr>
          <p:cNvPr id="79" name="Shape 76"/>
          <p:cNvSpPr/>
          <p:nvPr/>
        </p:nvSpPr>
        <p:spPr>
          <a:xfrm>
            <a:off x="4424782" y="6620256"/>
            <a:ext cx="2214677" cy="512064"/>
          </a:xfrm>
          <a:prstGeom prst="roundRect">
            <a:avLst>
              <a:gd name="adj" fmla="val 14286"/>
            </a:avLst>
          </a:prstGeom>
          <a:solidFill>
            <a:srgbClr val="1E2A5C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4424782" y="6620256"/>
            <a:ext cx="2214677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apoc.model.jdbc로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 읽기</a:t>
            </a:r>
            <a:endParaRPr lang="en-US" sz="1400" dirty="0"/>
          </a:p>
        </p:txBody>
      </p:sp>
      <p:sp>
        <p:nvSpPr>
          <p:cNvPr id="81" name="Shape 78"/>
          <p:cNvSpPr/>
          <p:nvPr/>
        </p:nvSpPr>
        <p:spPr>
          <a:xfrm>
            <a:off x="6666890" y="6876288"/>
            <a:ext cx="182880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82" name="Shape 79"/>
          <p:cNvSpPr/>
          <p:nvPr/>
        </p:nvSpPr>
        <p:spPr>
          <a:xfrm>
            <a:off x="6877202" y="6620256"/>
            <a:ext cx="2214677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6877202" y="6620256"/>
            <a:ext cx="2214677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변환 규칙 ①~④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스크립트로 초안</a:t>
            </a:r>
            <a:endParaRPr lang="en-US" sz="1400" dirty="0"/>
          </a:p>
        </p:txBody>
      </p:sp>
      <p:sp>
        <p:nvSpPr>
          <p:cNvPr id="84" name="Shape 81"/>
          <p:cNvSpPr/>
          <p:nvPr/>
        </p:nvSpPr>
        <p:spPr>
          <a:xfrm>
            <a:off x="9119311" y="6876288"/>
            <a:ext cx="182880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85" name="Shape 82"/>
          <p:cNvSpPr/>
          <p:nvPr/>
        </p:nvSpPr>
        <p:spPr>
          <a:xfrm>
            <a:off x="9329623" y="6620256"/>
            <a:ext cx="2214677" cy="512064"/>
          </a:xfrm>
          <a:prstGeom prst="roundRect">
            <a:avLst>
              <a:gd name="adj" fmla="val 14286"/>
            </a:avLst>
          </a:prstGeom>
          <a:solidFill>
            <a:srgbClr val="2E74C6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9329623" y="6620256"/>
            <a:ext cx="2214677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 확정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(조회 대상, 이름)</a:t>
            </a:r>
            <a:endParaRPr lang="en-US" sz="1400" dirty="0"/>
          </a:p>
        </p:txBody>
      </p:sp>
      <p:sp>
        <p:nvSpPr>
          <p:cNvPr id="87" name="Shape 84"/>
          <p:cNvSpPr/>
          <p:nvPr/>
        </p:nvSpPr>
        <p:spPr>
          <a:xfrm>
            <a:off x="11571732" y="6876288"/>
            <a:ext cx="182880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88" name="Shape 85"/>
          <p:cNvSpPr/>
          <p:nvPr/>
        </p:nvSpPr>
        <p:spPr>
          <a:xfrm>
            <a:off x="11782044" y="6620256"/>
            <a:ext cx="2214677" cy="512064"/>
          </a:xfrm>
          <a:prstGeom prst="roundRect">
            <a:avLst>
              <a:gd name="adj" fmla="val 14286"/>
            </a:avLst>
          </a:prstGeom>
          <a:solidFill>
            <a:srgbClr val="1E2A5C"/>
          </a:solidFill>
          <a:ln/>
        </p:spPr>
      </p:sp>
      <p:sp>
        <p:nvSpPr>
          <p:cNvPr id="89" name="Text 86"/>
          <p:cNvSpPr txBox="1"/>
          <p:nvPr/>
        </p:nvSpPr>
        <p:spPr>
          <a:xfrm>
            <a:off x="11782044" y="6620256"/>
            <a:ext cx="2214677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GraphSchema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파일로 고정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2026-10-14T07:11:15Z</dcterms:created>
  <dcterms:modified xsi:type="dcterms:W3CDTF">2026-10-14T07:11:15Z</dcterms:modified>
</cp:coreProperties>
</file>