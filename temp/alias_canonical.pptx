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별칭 사전은 처음부터 사람이 쓰는 것이 아님. 정식명 목록이 이미 문서 메타데이터에 있으므로 규칙으로 후보를 만들고, 걸러 내기 검사에 걸린 것만 사람이 봄.
가장 위험한 것은 일반 명사와 겹치는 별칭임. '대중교통'을 카드명으로 등록하면 문서의 일반 문장까지 카드명으로 바뀜.
오른쪽 그림이 핵심임. 사용자 사전만 있으면 '모아생활'이 깨지지는 않지만, 문서 토큰 '한빛모아생활'과 다른 단어로 셈. 실제 검증에서 핵심어는 잘 뽑혔는데 검색이 실패한 이유임.
치환은 질문과 문서 양쪽에 같게 적용해야 함. 상담 로그처럼 별칭만 적힌 문서도 정식명 토큰으로 색인돼야 같은 카드로 검색됨.
치환 과정: ① Kiwi 사용자 사전에 정식명과 별칭을 모두 등록해 쪼개지지 않게 함 ② 토큰마다 역방향 대응표를 한 번 조회해 별칭만 정식명으로 바꿈 ③ 붙여 쓴 복합어는 조각과 원형이 함께 나오므로, 바꾼 결과가 같은 위치 조각과 겹치면 하나만 남김.
역방향 대응표의 key는 카드마다 별칭 2~3개임(모아생활·모아생활카드·한빛모아생활카드). 띄어 쓴 「모아생활 카드」는 「모아생활」만 바뀌면 되므로 key가 따로 필요 없음. 「역색인」은 BM25의 단어→문서 표를 가리키므로 이 표와 구분함.
바꾸기와 덧붙이기 중 바꾸기를 권장함. 둘 다 남기면 같은 대상을 두 번 세어 점수가 부풀 수 있음. 정식 토큰 자리에 대상 ID를 쓰면 이름 표기가 바뀌어도 흔들리지 않음.
SKOS 용어로 정식명은 prefLabel, 별칭은 altLabel임. 이 대응표가 이후 시소러스의 출발점이 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sp>
      <p:sp>
        <p:nvSpPr>
          <p:cNvPr id="3" name="Text 1"/>
          <p:cNvSpPr/>
          <p:nvPr/>
        </p:nvSpPr>
        <p:spPr>
          <a:xfrm>
            <a:off x="502920" y="7818120"/>
            <a:ext cx="7315200" cy="292608"/>
          </a:xfrm>
          <a:prstGeom prst="rect">
            <a:avLst/>
          </a:prstGeom>
          <a:noFill/>
          <a:ln/>
        </p:spPr>
        <p:txBody>
          <a:bodyPr wrap="square"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  ·  별칭 자동 생성과 정식명 치환</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w3.org/TR/skos-reference/"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indent="0" marL="0">
              <a:buNone/>
            </a:pPr>
            <a:r>
              <a:rPr lang="en-US" sz="1500" b="1" dirty="0">
                <a:solidFill>
                  <a:srgbClr val="7C8598"/>
                </a:solidFill>
                <a:latin typeface="Pretendard" pitchFamily="34" charset="0"/>
                <a:ea typeface="Pretendard" pitchFamily="34" charset="-122"/>
                <a:cs typeface="Pretendard" pitchFamily="34" charset="-120"/>
              </a:rPr>
              <a:t>Ⅲ. 문서 검색 아키텍처 › Pre-Retrieval › 7. 별칭 처리</a:t>
            </a:r>
            <a:endParaRPr lang="en-US" sz="1500" dirty="0"/>
          </a:p>
        </p:txBody>
      </p:sp>
      <p:sp>
        <p:nvSpPr>
          <p:cNvPr id="3" name="Text 1"/>
          <p:cNvSpPr/>
          <p:nvPr/>
        </p:nvSpPr>
        <p:spPr>
          <a:xfrm>
            <a:off x="502920" y="640080"/>
            <a:ext cx="13258800" cy="685800"/>
          </a:xfrm>
          <a:prstGeom prst="rect">
            <a:avLst/>
          </a:prstGeom>
          <a:noFill/>
          <a:ln/>
        </p:spPr>
        <p:txBody>
          <a:bodyPr wrap="square"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별칭 자동 생성과 정식명 치환</a:t>
            </a:r>
            <a:endParaRPr lang="en-US" sz="4800" dirty="0"/>
          </a:p>
        </p:txBody>
      </p:sp>
      <p:sp>
        <p:nvSpPr>
          <p:cNvPr id="4" name="Shape 2"/>
          <p:cNvSpPr/>
          <p:nvPr/>
        </p:nvSpPr>
        <p:spPr>
          <a:xfrm>
            <a:off x="502920" y="1389888"/>
            <a:ext cx="13624560" cy="36576"/>
          </a:xfrm>
          <a:prstGeom prst="rect">
            <a:avLst/>
          </a:prstGeom>
          <a:solidFill>
            <a:srgbClr val="D9E0EC"/>
          </a:solidFill>
          <a:ln/>
        </p:spPr>
      </p:sp>
      <p:sp>
        <p:nvSpPr>
          <p:cNvPr id="5" name="Shape 3"/>
          <p:cNvSpPr/>
          <p:nvPr/>
        </p:nvSpPr>
        <p:spPr>
          <a:xfrm>
            <a:off x="502920" y="1389888"/>
            <a:ext cx="1920240" cy="36576"/>
          </a:xfrm>
          <a:prstGeom prst="rect">
            <a:avLst/>
          </a:prstGeom>
          <a:solidFill>
            <a:srgbClr val="2E74C6"/>
          </a:solidFill>
          <a:ln/>
        </p:spPr>
      </p:sp>
      <p:sp>
        <p:nvSpPr>
          <p:cNvPr id="6" name="Text 4"/>
          <p:cNvSpPr/>
          <p:nvPr/>
        </p:nvSpPr>
        <p:spPr>
          <a:xfrm>
            <a:off x="502920" y="1499616"/>
            <a:ext cx="13624560" cy="438912"/>
          </a:xfrm>
          <a:prstGeom prst="rect">
            <a:avLst/>
          </a:prstGeom>
          <a:noFill/>
          <a:ln/>
        </p:spPr>
        <p:txBody>
          <a:bodyPr wrap="square"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별칭은 정식명 목록에서 규칙으로 만들고 위험한 후보만 사람이 검수함 — 별칭 토큰을 정식명 토큰으로 바꿔야 BM25가 같은 단어로 셈</a:t>
            </a:r>
            <a:endParaRPr lang="en-US" sz="1800" dirty="0"/>
          </a:p>
        </p:txBody>
      </p:sp>
      <p:sp>
        <p:nvSpPr>
          <p:cNvPr id="7" name="Text 5"/>
          <p:cNvSpPr/>
          <p:nvPr/>
        </p:nvSpPr>
        <p:spPr>
          <a:xfrm>
            <a:off x="502920" y="2011680"/>
            <a:ext cx="6675120"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① 별칭 자동 생성</a:t>
            </a:r>
            <a:endParaRPr lang="en-US" sz="2000" dirty="0"/>
          </a:p>
        </p:txBody>
      </p:sp>
      <p:sp>
        <p:nvSpPr>
          <p:cNvPr id="8" name="Shape 6"/>
          <p:cNvSpPr/>
          <p:nvPr/>
        </p:nvSpPr>
        <p:spPr>
          <a:xfrm>
            <a:off x="502920" y="2542032"/>
            <a:ext cx="6675120" cy="4242816"/>
          </a:xfrm>
          <a:prstGeom prst="roundRect">
            <a:avLst>
              <a:gd name="adj" fmla="val 2155"/>
            </a:avLst>
          </a:prstGeom>
          <a:solidFill>
            <a:srgbClr val="EEF3FA"/>
          </a:solidFill>
          <a:ln w="12700">
            <a:solidFill>
              <a:srgbClr val="D9E0EC"/>
            </a:solidFill>
            <a:prstDash val="solid"/>
          </a:ln>
        </p:spPr>
      </p:sp>
      <p:sp>
        <p:nvSpPr>
          <p:cNvPr id="9" name="Text 7"/>
          <p:cNvSpPr/>
          <p:nvPr/>
        </p:nvSpPr>
        <p:spPr>
          <a:xfrm>
            <a:off x="685800" y="2724912"/>
            <a:ext cx="2103120" cy="868680"/>
          </a:xfrm>
          <a:prstGeom prst="flowChartDocument">
            <a:avLst/>
          </a:prstGeom>
          <a:solidFill>
            <a:srgbClr val="FFFFFF"/>
          </a:solidFill>
          <a:ln w="15875">
            <a:solidFill>
              <a:srgbClr val="1E2A5C"/>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정식명 목록</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(문서 메타데이터에서 자동)</a:t>
            </a:r>
            <a:endParaRPr lang="en-US" sz="1400" dirty="0"/>
          </a:p>
        </p:txBody>
      </p:sp>
      <p:sp>
        <p:nvSpPr>
          <p:cNvPr id="10" name="Shape 8"/>
          <p:cNvSpPr/>
          <p:nvPr/>
        </p:nvSpPr>
        <p:spPr>
          <a:xfrm>
            <a:off x="2788920" y="3108960"/>
            <a:ext cx="228600" cy="0"/>
          </a:xfrm>
          <a:prstGeom prst="line">
            <a:avLst/>
          </a:prstGeom>
          <a:noFill/>
          <a:ln w="19050">
            <a:solidFill>
              <a:srgbClr val="4A5364"/>
            </a:solidFill>
            <a:prstDash val="solid"/>
            <a:tailEnd type="triangle"/>
          </a:ln>
        </p:spPr>
      </p:sp>
      <p:sp>
        <p:nvSpPr>
          <p:cNvPr id="11" name="Shape 9"/>
          <p:cNvSpPr/>
          <p:nvPr/>
        </p:nvSpPr>
        <p:spPr>
          <a:xfrm>
            <a:off x="3017520" y="2651760"/>
            <a:ext cx="4023360" cy="1691640"/>
          </a:xfrm>
          <a:prstGeom prst="roundRect">
            <a:avLst>
              <a:gd name="adj" fmla="val 5405"/>
            </a:avLst>
          </a:prstGeom>
          <a:solidFill>
            <a:srgbClr val="FFFFFF"/>
          </a:solidFill>
          <a:ln w="12700">
            <a:solidFill>
              <a:srgbClr val="D9E0EC"/>
            </a:solidFill>
            <a:prstDash val="solid"/>
          </a:ln>
        </p:spPr>
      </p:sp>
      <p:sp>
        <p:nvSpPr>
          <p:cNvPr id="12" name="Text 10"/>
          <p:cNvSpPr/>
          <p:nvPr/>
        </p:nvSpPr>
        <p:spPr>
          <a:xfrm>
            <a:off x="3154680" y="2688336"/>
            <a:ext cx="3749040" cy="274320"/>
          </a:xfrm>
          <a:prstGeom prst="rect">
            <a:avLst/>
          </a:prstGeom>
          <a:noFill/>
          <a:ln/>
        </p:spPr>
        <p:txBody>
          <a:bodyPr wrap="square" lIns="0" tIns="0" rIns="0" bIns="0"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별칭 후보 만들기(정식명 ⇒ 별칭)</a:t>
            </a:r>
            <a:endParaRPr lang="en-US" sz="1500" dirty="0"/>
          </a:p>
        </p:txBody>
      </p:sp>
      <p:sp>
        <p:nvSpPr>
          <p:cNvPr id="13" name="Text 11"/>
          <p:cNvSpPr/>
          <p:nvPr/>
        </p:nvSpPr>
        <p:spPr>
          <a:xfrm>
            <a:off x="3154680" y="2990088"/>
            <a:ext cx="1280160" cy="274320"/>
          </a:xfrm>
          <a:prstGeom prst="roundRect">
            <a:avLst>
              <a:gd name="adj" fmla="val 20000"/>
            </a:avLst>
          </a:prstGeom>
          <a:solidFill>
            <a:srgbClr val="EEF3FA"/>
          </a:solidFill>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접두어 떼기</a:t>
            </a:r>
            <a:endParaRPr lang="en-US" sz="1400" dirty="0"/>
          </a:p>
        </p:txBody>
      </p:sp>
      <p:sp>
        <p:nvSpPr>
          <p:cNvPr id="14" name="Text 12"/>
          <p:cNvSpPr/>
          <p:nvPr/>
        </p:nvSpPr>
        <p:spPr>
          <a:xfrm>
            <a:off x="4526280" y="2990088"/>
            <a:ext cx="242316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모아생활</a:t>
            </a:r>
            <a:endParaRPr lang="en-US" sz="1400" dirty="0"/>
          </a:p>
        </p:txBody>
      </p:sp>
      <p:sp>
        <p:nvSpPr>
          <p:cNvPr id="15" name="Text 13"/>
          <p:cNvSpPr/>
          <p:nvPr/>
        </p:nvSpPr>
        <p:spPr>
          <a:xfrm>
            <a:off x="3154680" y="3319272"/>
            <a:ext cx="1280160" cy="274320"/>
          </a:xfrm>
          <a:prstGeom prst="roundRect">
            <a:avLst>
              <a:gd name="adj" fmla="val 20000"/>
            </a:avLst>
          </a:prstGeom>
          <a:solidFill>
            <a:srgbClr val="EEF3FA"/>
          </a:solidFill>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띄어쓰기 없애기</a:t>
            </a:r>
            <a:endParaRPr lang="en-US" sz="1400" dirty="0"/>
          </a:p>
        </p:txBody>
      </p:sp>
      <p:sp>
        <p:nvSpPr>
          <p:cNvPr id="16" name="Text 14"/>
          <p:cNvSpPr/>
          <p:nvPr/>
        </p:nvSpPr>
        <p:spPr>
          <a:xfrm>
            <a:off x="4526280" y="3319272"/>
            <a:ext cx="242316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한빛모아생활</a:t>
            </a:r>
            <a:endParaRPr lang="en-US" sz="1400" dirty="0"/>
          </a:p>
        </p:txBody>
      </p:sp>
      <p:sp>
        <p:nvSpPr>
          <p:cNvPr id="17" name="Text 15"/>
          <p:cNvSpPr/>
          <p:nvPr/>
        </p:nvSpPr>
        <p:spPr>
          <a:xfrm>
            <a:off x="3154680" y="3648456"/>
            <a:ext cx="1280160" cy="274320"/>
          </a:xfrm>
          <a:prstGeom prst="roundRect">
            <a:avLst>
              <a:gd name="adj" fmla="val 20000"/>
            </a:avLst>
          </a:prstGeom>
          <a:solidFill>
            <a:srgbClr val="EEF3FA"/>
          </a:solidFill>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카드 붙이기</a:t>
            </a:r>
            <a:endParaRPr lang="en-US" sz="1400" dirty="0"/>
          </a:p>
        </p:txBody>
      </p:sp>
      <p:sp>
        <p:nvSpPr>
          <p:cNvPr id="18" name="Text 16"/>
          <p:cNvSpPr/>
          <p:nvPr/>
        </p:nvSpPr>
        <p:spPr>
          <a:xfrm>
            <a:off x="4526280" y="3648456"/>
            <a:ext cx="242316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모아생활카드 · 한빛모아생활카드</a:t>
            </a:r>
            <a:endParaRPr lang="en-US" sz="1400" dirty="0"/>
          </a:p>
        </p:txBody>
      </p:sp>
      <p:sp>
        <p:nvSpPr>
          <p:cNvPr id="19" name="Text 17"/>
          <p:cNvSpPr/>
          <p:nvPr/>
        </p:nvSpPr>
        <p:spPr>
          <a:xfrm>
            <a:off x="3154680" y="3977640"/>
            <a:ext cx="1280160" cy="274320"/>
          </a:xfrm>
          <a:prstGeom prst="roundRect">
            <a:avLst>
              <a:gd name="adj" fmla="val 20000"/>
            </a:avLst>
          </a:prstGeom>
          <a:solidFill>
            <a:srgbClr val="EEF3FA"/>
          </a:solidFill>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등급 접미어</a:t>
            </a:r>
            <a:endParaRPr lang="en-US" sz="1400" dirty="0"/>
          </a:p>
        </p:txBody>
      </p:sp>
      <p:sp>
        <p:nvSpPr>
          <p:cNvPr id="20" name="Text 18"/>
          <p:cNvSpPr/>
          <p:nvPr/>
        </p:nvSpPr>
        <p:spPr>
          <a:xfrm>
            <a:off x="4526280" y="3977640"/>
            <a:ext cx="242316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가게모음프리미엄</a:t>
            </a:r>
            <a:endParaRPr lang="en-US" sz="1400" dirty="0"/>
          </a:p>
        </p:txBody>
      </p:sp>
      <p:sp>
        <p:nvSpPr>
          <p:cNvPr id="21" name="Shape 19"/>
          <p:cNvSpPr/>
          <p:nvPr/>
        </p:nvSpPr>
        <p:spPr>
          <a:xfrm flipH="1">
            <a:off x="4572000" y="4343400"/>
            <a:ext cx="457200" cy="182880"/>
          </a:xfrm>
          <a:prstGeom prst="line">
            <a:avLst/>
          </a:prstGeom>
          <a:noFill/>
          <a:ln w="19050">
            <a:solidFill>
              <a:srgbClr val="4A5364"/>
            </a:solidFill>
            <a:prstDash val="solid"/>
            <a:tailEnd type="triangle"/>
          </a:ln>
        </p:spPr>
      </p:sp>
      <p:sp>
        <p:nvSpPr>
          <p:cNvPr id="22" name="Text 20"/>
          <p:cNvSpPr/>
          <p:nvPr/>
        </p:nvSpPr>
        <p:spPr>
          <a:xfrm>
            <a:off x="685800" y="4526280"/>
            <a:ext cx="2743200" cy="1188720"/>
          </a:xfrm>
          <a:prstGeom prst="roundRect">
            <a:avLst>
              <a:gd name="adj" fmla="val 4615"/>
            </a:avLst>
          </a:prstGeom>
          <a:solidFill>
            <a:srgbClr val="FFFFFF"/>
          </a:solidFill>
          <a:ln w="15875">
            <a:solidFill>
              <a:srgbClr val="404155"/>
            </a:solidFill>
            <a:prstDash val="dash"/>
          </a:ln>
        </p:spPr>
        <p:txBody>
          <a:bodyPr wrap="square" lIns="76200" tIns="76200" rIns="76200" bIns="7620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걸러 내기 검사</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 일반 명사와 겹침(예: 대중교통)</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 정식명 여러 개를 가리킴</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 두 글자 이하</a:t>
            </a:r>
            <a:endParaRPr lang="en-US" sz="1400" dirty="0"/>
          </a:p>
        </p:txBody>
      </p:sp>
      <p:sp>
        <p:nvSpPr>
          <p:cNvPr id="23" name="Shape 21"/>
          <p:cNvSpPr/>
          <p:nvPr/>
        </p:nvSpPr>
        <p:spPr>
          <a:xfrm>
            <a:off x="3429000" y="4956048"/>
            <a:ext cx="228600" cy="4572"/>
          </a:xfrm>
          <a:prstGeom prst="line">
            <a:avLst/>
          </a:prstGeom>
          <a:noFill/>
          <a:ln w="19050">
            <a:solidFill>
              <a:srgbClr val="404155"/>
            </a:solidFill>
            <a:prstDash val="dash"/>
          </a:ln>
        </p:spPr>
      </p:sp>
      <p:sp>
        <p:nvSpPr>
          <p:cNvPr id="24" name="Text 22"/>
          <p:cNvSpPr/>
          <p:nvPr/>
        </p:nvSpPr>
        <p:spPr>
          <a:xfrm>
            <a:off x="3657600" y="4526280"/>
            <a:ext cx="1828800" cy="868680"/>
          </a:xfrm>
          <a:prstGeom prst="flowChartDecision">
            <a:avLst/>
          </a:prstGeom>
          <a:solidFill>
            <a:srgbClr val="FFFFFF"/>
          </a:solidFill>
          <a:ln w="25400">
            <a:solidFill>
              <a:srgbClr val="2E74C6"/>
            </a:solidFill>
            <a:prstDash val="solid"/>
          </a:ln>
        </p:spPr>
        <p:txBody>
          <a:bodyPr wrap="square" lIns="76200" tIns="76200" rIns="76200" bIns="762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검사</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통과?</a:t>
            </a:r>
            <a:endParaRPr lang="en-US" sz="1400" dirty="0"/>
          </a:p>
        </p:txBody>
      </p:sp>
      <p:sp>
        <p:nvSpPr>
          <p:cNvPr id="25" name="Shape 23"/>
          <p:cNvSpPr/>
          <p:nvPr/>
        </p:nvSpPr>
        <p:spPr>
          <a:xfrm>
            <a:off x="5486400" y="4960620"/>
            <a:ext cx="274320" cy="0"/>
          </a:xfrm>
          <a:prstGeom prst="line">
            <a:avLst/>
          </a:prstGeom>
          <a:noFill/>
          <a:ln w="19050">
            <a:solidFill>
              <a:srgbClr val="4A5364"/>
            </a:solidFill>
            <a:prstDash val="solid"/>
            <a:tailEnd type="triangle"/>
          </a:ln>
        </p:spPr>
      </p:sp>
      <p:sp>
        <p:nvSpPr>
          <p:cNvPr id="26" name="Text 24"/>
          <p:cNvSpPr/>
          <p:nvPr/>
        </p:nvSpPr>
        <p:spPr>
          <a:xfrm>
            <a:off x="5504688" y="4636008"/>
            <a:ext cx="274320" cy="22860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예</a:t>
            </a:r>
            <a:endParaRPr lang="en-US" sz="1400" dirty="0"/>
          </a:p>
        </p:txBody>
      </p:sp>
      <p:sp>
        <p:nvSpPr>
          <p:cNvPr id="27" name="Text 25"/>
          <p:cNvSpPr/>
          <p:nvPr/>
        </p:nvSpPr>
        <p:spPr>
          <a:xfrm>
            <a:off x="5760720" y="4434840"/>
            <a:ext cx="1280160" cy="1097280"/>
          </a:xfrm>
          <a:prstGeom prst="can">
            <a:avLst/>
          </a:prstGeom>
          <a:solidFill>
            <a:srgbClr val="EEF3FA"/>
          </a:solidFill>
          <a:ln w="15875">
            <a:solidFill>
              <a:srgbClr val="1E2A5C"/>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별칭 사전</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정식명 ⇒ 별칭</a:t>
            </a:r>
            <a:endParaRPr lang="en-US" sz="1400" dirty="0"/>
          </a:p>
        </p:txBody>
      </p:sp>
      <p:sp>
        <p:nvSpPr>
          <p:cNvPr id="28" name="Shape 26"/>
          <p:cNvSpPr/>
          <p:nvPr/>
        </p:nvSpPr>
        <p:spPr>
          <a:xfrm>
            <a:off x="4572000" y="5394960"/>
            <a:ext cx="0" cy="201168"/>
          </a:xfrm>
          <a:prstGeom prst="line">
            <a:avLst/>
          </a:prstGeom>
          <a:noFill/>
          <a:ln w="19050">
            <a:solidFill>
              <a:srgbClr val="4A5364"/>
            </a:solidFill>
            <a:prstDash val="solid"/>
            <a:tailEnd type="triangle"/>
          </a:ln>
        </p:spPr>
      </p:sp>
      <p:sp>
        <p:nvSpPr>
          <p:cNvPr id="29" name="Text 27"/>
          <p:cNvSpPr/>
          <p:nvPr/>
        </p:nvSpPr>
        <p:spPr>
          <a:xfrm>
            <a:off x="4626864" y="5394960"/>
            <a:ext cx="640080" cy="201168"/>
          </a:xfrm>
          <a:prstGeom prst="rect">
            <a:avLst/>
          </a:prstGeom>
          <a:noFill/>
          <a:ln/>
        </p:spPr>
        <p:txBody>
          <a:bodyPr wrap="square" lIns="0" tIns="0" rIns="0" bIns="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아니오</a:t>
            </a:r>
            <a:endParaRPr lang="en-US" sz="1400" dirty="0"/>
          </a:p>
        </p:txBody>
      </p:sp>
      <p:sp>
        <p:nvSpPr>
          <p:cNvPr id="30" name="Text 28"/>
          <p:cNvSpPr/>
          <p:nvPr/>
        </p:nvSpPr>
        <p:spPr>
          <a:xfrm>
            <a:off x="3931920" y="5596128"/>
            <a:ext cx="1280160" cy="384048"/>
          </a:xfrm>
          <a:prstGeom prst="roundRect">
            <a:avLst>
              <a:gd name="adj" fmla="val 14286"/>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사람 검수</a:t>
            </a:r>
            <a:endParaRPr lang="en-US" sz="1400" dirty="0"/>
          </a:p>
        </p:txBody>
      </p:sp>
      <p:sp>
        <p:nvSpPr>
          <p:cNvPr id="31" name="Shape 29"/>
          <p:cNvSpPr/>
          <p:nvPr/>
        </p:nvSpPr>
        <p:spPr>
          <a:xfrm>
            <a:off x="5212080" y="5788152"/>
            <a:ext cx="1188720" cy="0"/>
          </a:xfrm>
          <a:prstGeom prst="line">
            <a:avLst/>
          </a:prstGeom>
          <a:noFill/>
          <a:ln w="19050">
            <a:solidFill>
              <a:srgbClr val="404155"/>
            </a:solidFill>
            <a:prstDash val="dash"/>
          </a:ln>
        </p:spPr>
      </p:sp>
      <p:sp>
        <p:nvSpPr>
          <p:cNvPr id="32" name="Shape 30"/>
          <p:cNvSpPr/>
          <p:nvPr/>
        </p:nvSpPr>
        <p:spPr>
          <a:xfrm flipV="1">
            <a:off x="6400800" y="5532120"/>
            <a:ext cx="0" cy="256032"/>
          </a:xfrm>
          <a:prstGeom prst="line">
            <a:avLst/>
          </a:prstGeom>
          <a:noFill/>
          <a:ln w="19050">
            <a:solidFill>
              <a:srgbClr val="404155"/>
            </a:solidFill>
            <a:prstDash val="dash"/>
            <a:tailEnd type="triangle"/>
          </a:ln>
        </p:spPr>
      </p:sp>
      <p:sp>
        <p:nvSpPr>
          <p:cNvPr id="33" name="Text 31"/>
          <p:cNvSpPr/>
          <p:nvPr/>
        </p:nvSpPr>
        <p:spPr>
          <a:xfrm>
            <a:off x="5669280" y="5833872"/>
            <a:ext cx="1463040" cy="228600"/>
          </a:xfrm>
          <a:prstGeom prst="rect">
            <a:avLst/>
          </a:prstGeom>
          <a:noFill/>
          <a:ln/>
        </p:spPr>
        <p:txBody>
          <a:bodyPr wrap="square" lIns="0" tIns="0" rIns="0" bIns="0" rtlCol="0" anchor="ctr"/>
          <a:lstStyle/>
          <a:p>
            <a:pPr algn="ctr" indent="0" marL="0">
              <a:buNone/>
            </a:pPr>
            <a:r>
              <a:rPr lang="en-US" sz="1400" dirty="0">
                <a:solidFill>
                  <a:srgbClr val="404155"/>
                </a:solidFill>
                <a:latin typeface="Pretendard" pitchFamily="34" charset="0"/>
                <a:ea typeface="Pretendard" pitchFamily="34" charset="-122"/>
                <a:cs typeface="Pretendard" pitchFamily="34" charset="-120"/>
              </a:rPr>
              <a:t>승인분 추가</a:t>
            </a:r>
            <a:endParaRPr lang="en-US" sz="1400" dirty="0"/>
          </a:p>
        </p:txBody>
      </p:sp>
      <p:sp>
        <p:nvSpPr>
          <p:cNvPr id="34" name="Text 32"/>
          <p:cNvSpPr/>
          <p:nvPr/>
        </p:nvSpPr>
        <p:spPr>
          <a:xfrm>
            <a:off x="685800" y="6089904"/>
            <a:ext cx="630936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애칭(예: 모생)은 규칙으로 못 만듦 → 질문 로그에서 찾아 추가</a:t>
            </a:r>
            <a:endParaRPr lang="en-US" sz="1400" dirty="0"/>
          </a:p>
        </p:txBody>
      </p:sp>
      <p:sp>
        <p:nvSpPr>
          <p:cNvPr id="35" name="Text 33"/>
          <p:cNvSpPr/>
          <p:nvPr/>
        </p:nvSpPr>
        <p:spPr>
          <a:xfrm>
            <a:off x="685800" y="6400800"/>
            <a:ext cx="630936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생성 결과를 뒤집어 ②의 역방향 대응표(별칭 → 정식명)로 사용 ▶</a:t>
            </a:r>
            <a:endParaRPr lang="en-US" sz="1400" dirty="0"/>
          </a:p>
        </p:txBody>
      </p:sp>
      <p:sp>
        <p:nvSpPr>
          <p:cNvPr id="36" name="Text 34"/>
          <p:cNvSpPr/>
          <p:nvPr/>
        </p:nvSpPr>
        <p:spPr>
          <a:xfrm>
            <a:off x="7452360" y="2011680"/>
            <a:ext cx="6675120" cy="457200"/>
          </a:xfrm>
          <a:prstGeom prst="roundRect">
            <a:avLst>
              <a:gd name="adj" fmla="val 12000"/>
            </a:avLst>
          </a:prstGeom>
          <a:solidFill>
            <a:srgbClr val="2E74C6"/>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② 정식명 치환</a:t>
            </a:r>
            <a:endParaRPr lang="en-US" sz="2000" dirty="0"/>
          </a:p>
        </p:txBody>
      </p:sp>
      <p:sp>
        <p:nvSpPr>
          <p:cNvPr id="37" name="Shape 35"/>
          <p:cNvSpPr/>
          <p:nvPr/>
        </p:nvSpPr>
        <p:spPr>
          <a:xfrm>
            <a:off x="7452360" y="2542032"/>
            <a:ext cx="6675120" cy="4242816"/>
          </a:xfrm>
          <a:prstGeom prst="roundRect">
            <a:avLst>
              <a:gd name="adj" fmla="val 2155"/>
            </a:avLst>
          </a:prstGeom>
          <a:solidFill>
            <a:srgbClr val="EEF3FA"/>
          </a:solidFill>
          <a:ln w="12700">
            <a:solidFill>
              <a:srgbClr val="D9E0EC"/>
            </a:solidFill>
            <a:prstDash val="solid"/>
          </a:ln>
        </p:spPr>
      </p:sp>
      <p:sp>
        <p:nvSpPr>
          <p:cNvPr id="38" name="Text 36"/>
          <p:cNvSpPr/>
          <p:nvPr/>
        </p:nvSpPr>
        <p:spPr>
          <a:xfrm>
            <a:off x="7635240" y="2651760"/>
            <a:ext cx="731520" cy="274320"/>
          </a:xfrm>
          <a:prstGeom prst="roundRect">
            <a:avLst>
              <a:gd name="adj" fmla="val 50000"/>
            </a:avLst>
          </a:prstGeom>
          <a:solidFill>
            <a:srgbClr val="EEF3FA"/>
          </a:solidFill>
          <a:ln w="12700">
            <a:solidFill>
              <a:srgbClr val="C3CEE0"/>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문서</a:t>
            </a:r>
            <a:endParaRPr lang="en-US" sz="1400" dirty="0"/>
          </a:p>
        </p:txBody>
      </p:sp>
      <p:sp>
        <p:nvSpPr>
          <p:cNvPr id="39" name="Text 37"/>
          <p:cNvSpPr/>
          <p:nvPr/>
        </p:nvSpPr>
        <p:spPr>
          <a:xfrm>
            <a:off x="7635240" y="2962656"/>
            <a:ext cx="2788920" cy="658368"/>
          </a:xfrm>
          <a:prstGeom prst="flowChartDocument">
            <a:avLst/>
          </a:prstGeom>
          <a:solidFill>
            <a:srgbClr val="FFFFFF"/>
          </a:solidFill>
          <a:ln w="15875">
            <a:solidFill>
              <a:srgbClr val="1E2A5C"/>
            </a:solidFill>
            <a:prstDash val="solid"/>
          </a:ln>
        </p:spPr>
        <p:txBody>
          <a:bodyPr wrap="square" lIns="50800" tIns="50800" rIns="50800" bIns="508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"한빛 모아생활 카드의 생활 포인트…"</a:t>
            </a:r>
            <a:endParaRPr lang="en-US" sz="1400" dirty="0"/>
          </a:p>
        </p:txBody>
      </p:sp>
      <p:sp>
        <p:nvSpPr>
          <p:cNvPr id="40" name="Shape 38"/>
          <p:cNvSpPr/>
          <p:nvPr/>
        </p:nvSpPr>
        <p:spPr>
          <a:xfrm>
            <a:off x="10424160" y="3246120"/>
            <a:ext cx="365760" cy="0"/>
          </a:xfrm>
          <a:prstGeom prst="line">
            <a:avLst/>
          </a:prstGeom>
          <a:noFill/>
          <a:ln w="19050">
            <a:solidFill>
              <a:srgbClr val="4A5364"/>
            </a:solidFill>
            <a:prstDash val="solid"/>
            <a:tailEnd type="triangle"/>
          </a:ln>
        </p:spPr>
      </p:sp>
      <p:sp>
        <p:nvSpPr>
          <p:cNvPr id="41" name="Text 39"/>
          <p:cNvSpPr/>
          <p:nvPr/>
        </p:nvSpPr>
        <p:spPr>
          <a:xfrm>
            <a:off x="10835640" y="3072384"/>
            <a:ext cx="1188720" cy="347472"/>
          </a:xfrm>
          <a:prstGeom prst="roundRect">
            <a:avLst>
              <a:gd name="adj" fmla="val 15789"/>
            </a:avLst>
          </a:prstGeom>
          <a:solidFill>
            <a:srgbClr val="1E2A5C"/>
          </a:solidFill>
          <a:ln/>
        </p:spPr>
        <p:txBody>
          <a:bodyPr wrap="square" lIns="25400" tIns="25400" rIns="25400" bIns="254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한빛모아생활</a:t>
            </a:r>
            <a:endParaRPr lang="en-US" sz="1400" dirty="0"/>
          </a:p>
        </p:txBody>
      </p:sp>
      <p:sp>
        <p:nvSpPr>
          <p:cNvPr id="42" name="Text 40"/>
          <p:cNvSpPr/>
          <p:nvPr/>
        </p:nvSpPr>
        <p:spPr>
          <a:xfrm>
            <a:off x="12079224" y="3072384"/>
            <a:ext cx="54864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카드</a:t>
            </a:r>
            <a:endParaRPr lang="en-US" sz="1400" dirty="0"/>
          </a:p>
        </p:txBody>
      </p:sp>
      <p:sp>
        <p:nvSpPr>
          <p:cNvPr id="43" name="Text 41"/>
          <p:cNvSpPr/>
          <p:nvPr/>
        </p:nvSpPr>
        <p:spPr>
          <a:xfrm>
            <a:off x="12682728" y="3072384"/>
            <a:ext cx="54864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생활</a:t>
            </a:r>
            <a:endParaRPr lang="en-US" sz="1400" dirty="0"/>
          </a:p>
        </p:txBody>
      </p:sp>
      <p:sp>
        <p:nvSpPr>
          <p:cNvPr id="44" name="Text 42"/>
          <p:cNvSpPr/>
          <p:nvPr/>
        </p:nvSpPr>
        <p:spPr>
          <a:xfrm>
            <a:off x="13286232" y="3072384"/>
            <a:ext cx="713232"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포인트</a:t>
            </a:r>
            <a:endParaRPr lang="en-US" sz="1400" dirty="0"/>
          </a:p>
        </p:txBody>
      </p:sp>
      <p:sp>
        <p:nvSpPr>
          <p:cNvPr id="45" name="Text 43"/>
          <p:cNvSpPr/>
          <p:nvPr/>
        </p:nvSpPr>
        <p:spPr>
          <a:xfrm>
            <a:off x="7635240" y="3648456"/>
            <a:ext cx="6309360" cy="219456"/>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정식명 = 메타데이터 카드명(「카드」 제외) · 붙여 쓴 형태도 별칭으로 정식명에 맞춤</a:t>
            </a:r>
            <a:endParaRPr lang="en-US" sz="1400" dirty="0"/>
          </a:p>
        </p:txBody>
      </p:sp>
      <p:sp>
        <p:nvSpPr>
          <p:cNvPr id="46" name="Text 44"/>
          <p:cNvSpPr/>
          <p:nvPr/>
        </p:nvSpPr>
        <p:spPr>
          <a:xfrm>
            <a:off x="7635240" y="3904488"/>
            <a:ext cx="731520" cy="274320"/>
          </a:xfrm>
          <a:prstGeom prst="roundRect">
            <a:avLst>
              <a:gd name="adj" fmla="val 50000"/>
            </a:avLst>
          </a:prstGeom>
          <a:solidFill>
            <a:srgbClr val="EEF3FA"/>
          </a:solidFill>
          <a:ln w="12700">
            <a:solidFill>
              <a:srgbClr val="C3CEE0"/>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p>
        </p:txBody>
      </p:sp>
      <p:sp>
        <p:nvSpPr>
          <p:cNvPr id="47" name="Text 45"/>
          <p:cNvSpPr/>
          <p:nvPr/>
        </p:nvSpPr>
        <p:spPr>
          <a:xfrm>
            <a:off x="7635240" y="4206240"/>
            <a:ext cx="2788920" cy="658368"/>
          </a:xfrm>
          <a:prstGeom prst="wedgeRoundRectCallout">
            <a:avLst/>
          </a:prstGeom>
          <a:solidFill>
            <a:srgbClr val="FFFFFF"/>
          </a:solidFill>
          <a:ln w="15875">
            <a:solidFill>
              <a:srgbClr val="4A5364"/>
            </a:solidFill>
            <a:prstDash val="solid"/>
          </a:ln>
        </p:spPr>
        <p:txBody>
          <a:bodyPr wrap="square" lIns="50800" tIns="50800" rIns="50800" bIns="508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"모아생활 연회비 안 내려면?"</a:t>
            </a:r>
            <a:endParaRPr lang="en-US" sz="1400" dirty="0"/>
          </a:p>
        </p:txBody>
      </p:sp>
      <p:sp>
        <p:nvSpPr>
          <p:cNvPr id="48" name="Text 46"/>
          <p:cNvSpPr/>
          <p:nvPr/>
        </p:nvSpPr>
        <p:spPr>
          <a:xfrm>
            <a:off x="10835640" y="3931920"/>
            <a:ext cx="1280160" cy="228600"/>
          </a:xfrm>
          <a:prstGeom prst="rect">
            <a:avLst/>
          </a:prstGeom>
          <a:noFill/>
          <a:ln/>
        </p:spPr>
        <p:txBody>
          <a:bodyPr wrap="square" lIns="0" tIns="0" rIns="0" bIns="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치환 없음</a:t>
            </a:r>
            <a:endParaRPr lang="en-US" sz="1400" dirty="0"/>
          </a:p>
        </p:txBody>
      </p:sp>
      <p:sp>
        <p:nvSpPr>
          <p:cNvPr id="49" name="Shape 47"/>
          <p:cNvSpPr/>
          <p:nvPr/>
        </p:nvSpPr>
        <p:spPr>
          <a:xfrm flipV="1">
            <a:off x="10424160" y="4352544"/>
            <a:ext cx="365760" cy="146304"/>
          </a:xfrm>
          <a:prstGeom prst="line">
            <a:avLst/>
          </a:prstGeom>
          <a:noFill/>
          <a:ln w="19050">
            <a:solidFill>
              <a:srgbClr val="404155"/>
            </a:solidFill>
            <a:prstDash val="solid"/>
            <a:tailEnd type="triangle"/>
          </a:ln>
        </p:spPr>
      </p:sp>
      <p:sp>
        <p:nvSpPr>
          <p:cNvPr id="50" name="Text 48"/>
          <p:cNvSpPr/>
          <p:nvPr/>
        </p:nvSpPr>
        <p:spPr>
          <a:xfrm>
            <a:off x="10835640" y="4178808"/>
            <a:ext cx="100584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모아생활</a:t>
            </a:r>
            <a:endParaRPr lang="en-US" sz="1400" dirty="0"/>
          </a:p>
        </p:txBody>
      </p:sp>
      <p:sp>
        <p:nvSpPr>
          <p:cNvPr id="51" name="Text 49"/>
          <p:cNvSpPr/>
          <p:nvPr/>
        </p:nvSpPr>
        <p:spPr>
          <a:xfrm>
            <a:off x="11896344" y="4178808"/>
            <a:ext cx="68580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연회비</a:t>
            </a:r>
            <a:endParaRPr lang="en-US" sz="1400" dirty="0"/>
          </a:p>
        </p:txBody>
      </p:sp>
      <p:sp>
        <p:nvSpPr>
          <p:cNvPr id="52" name="Text 50"/>
          <p:cNvSpPr/>
          <p:nvPr/>
        </p:nvSpPr>
        <p:spPr>
          <a:xfrm>
            <a:off x="12710160" y="4178808"/>
            <a:ext cx="822960" cy="347472"/>
          </a:xfrm>
          <a:prstGeom prst="rect">
            <a:avLst/>
          </a:prstGeom>
          <a:noFill/>
          <a:ln/>
        </p:spPr>
        <p:txBody>
          <a:bodyPr wrap="square" lIns="0" tIns="0" rIns="0" bIns="0" rtlCol="0" anchor="ctr"/>
          <a:lstStyle/>
          <a:p>
            <a:pPr algn="l" indent="0" marL="0">
              <a:buNone/>
            </a:pPr>
            <a:r>
              <a:rPr lang="en-US" sz="1500" b="1" dirty="0">
                <a:solidFill>
                  <a:srgbClr val="404155"/>
                </a:solidFill>
                <a:latin typeface="Pretendard" pitchFamily="34" charset="0"/>
                <a:ea typeface="Pretendard" pitchFamily="34" charset="-122"/>
                <a:cs typeface="Pretendard" pitchFamily="34" charset="-120"/>
              </a:rPr>
              <a:t>✗ 다름</a:t>
            </a:r>
            <a:endParaRPr lang="en-US" sz="1500" dirty="0"/>
          </a:p>
        </p:txBody>
      </p:sp>
      <p:sp>
        <p:nvSpPr>
          <p:cNvPr id="53" name="Text 51"/>
          <p:cNvSpPr/>
          <p:nvPr/>
        </p:nvSpPr>
        <p:spPr>
          <a:xfrm>
            <a:off x="10835640" y="4617720"/>
            <a:ext cx="1280160" cy="22860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치환 있음</a:t>
            </a:r>
            <a:endParaRPr lang="en-US" sz="1400" dirty="0"/>
          </a:p>
        </p:txBody>
      </p:sp>
      <p:sp>
        <p:nvSpPr>
          <p:cNvPr id="54" name="Shape 52"/>
          <p:cNvSpPr/>
          <p:nvPr/>
        </p:nvSpPr>
        <p:spPr>
          <a:xfrm>
            <a:off x="10424160" y="4498848"/>
            <a:ext cx="365760" cy="539496"/>
          </a:xfrm>
          <a:prstGeom prst="line">
            <a:avLst/>
          </a:prstGeom>
          <a:noFill/>
          <a:ln w="19050">
            <a:solidFill>
              <a:srgbClr val="2E74C6"/>
            </a:solidFill>
            <a:prstDash val="solid"/>
            <a:tailEnd type="triangle"/>
          </a:ln>
        </p:spPr>
      </p:sp>
      <p:sp>
        <p:nvSpPr>
          <p:cNvPr id="55" name="Text 53"/>
          <p:cNvSpPr/>
          <p:nvPr/>
        </p:nvSpPr>
        <p:spPr>
          <a:xfrm>
            <a:off x="10835640" y="4864608"/>
            <a:ext cx="1188720" cy="347472"/>
          </a:xfrm>
          <a:prstGeom prst="roundRect">
            <a:avLst>
              <a:gd name="adj" fmla="val 15789"/>
            </a:avLst>
          </a:prstGeom>
          <a:solidFill>
            <a:srgbClr val="1E2A5C"/>
          </a:solidFill>
          <a:ln/>
        </p:spPr>
        <p:txBody>
          <a:bodyPr wrap="square" lIns="25400" tIns="25400" rIns="25400" bIns="254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한빛모아생활</a:t>
            </a:r>
            <a:endParaRPr lang="en-US" sz="1400" dirty="0"/>
          </a:p>
        </p:txBody>
      </p:sp>
      <p:sp>
        <p:nvSpPr>
          <p:cNvPr id="56" name="Text 54"/>
          <p:cNvSpPr/>
          <p:nvPr/>
        </p:nvSpPr>
        <p:spPr>
          <a:xfrm>
            <a:off x="12079224" y="4864608"/>
            <a:ext cx="68580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연회비</a:t>
            </a:r>
            <a:endParaRPr lang="en-US" sz="1400" dirty="0"/>
          </a:p>
        </p:txBody>
      </p:sp>
      <p:sp>
        <p:nvSpPr>
          <p:cNvPr id="57" name="Text 55"/>
          <p:cNvSpPr/>
          <p:nvPr/>
        </p:nvSpPr>
        <p:spPr>
          <a:xfrm>
            <a:off x="12893040" y="4864608"/>
            <a:ext cx="822960" cy="347472"/>
          </a:xfrm>
          <a:prstGeom prst="rect">
            <a:avLst/>
          </a:prstGeom>
          <a:noFill/>
          <a:ln/>
        </p:spPr>
        <p:txBody>
          <a:bodyPr wrap="square" lIns="0" tIns="0" rIns="0" bIns="0" rtlCol="0" anchor="ctr"/>
          <a:lstStyle/>
          <a:p>
            <a:pPr algn="l" indent="0" marL="0">
              <a:buNone/>
            </a:pPr>
            <a:r>
              <a:rPr lang="en-US" sz="1500" b="1" dirty="0">
                <a:solidFill>
                  <a:srgbClr val="2E74C6"/>
                </a:solidFill>
                <a:latin typeface="Pretendard" pitchFamily="34" charset="0"/>
                <a:ea typeface="Pretendard" pitchFamily="34" charset="-122"/>
                <a:cs typeface="Pretendard" pitchFamily="34" charset="-120"/>
              </a:rPr>
              <a:t>✓ 일치</a:t>
            </a:r>
            <a:endParaRPr lang="en-US" sz="1500" dirty="0"/>
          </a:p>
        </p:txBody>
      </p:sp>
      <p:sp>
        <p:nvSpPr>
          <p:cNvPr id="58" name="Text 56"/>
          <p:cNvSpPr/>
          <p:nvPr/>
        </p:nvSpPr>
        <p:spPr>
          <a:xfrm>
            <a:off x="7635240" y="5321808"/>
            <a:ext cx="2176272"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① Kiwi 분석</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정식명+별칭 등록</a:t>
            </a:r>
            <a:endParaRPr lang="en-US" sz="1400" dirty="0"/>
          </a:p>
        </p:txBody>
      </p:sp>
      <p:sp>
        <p:nvSpPr>
          <p:cNvPr id="59" name="Text 57"/>
          <p:cNvSpPr/>
          <p:nvPr/>
        </p:nvSpPr>
        <p:spPr>
          <a:xfrm>
            <a:off x="9701784" y="5321808"/>
            <a:ext cx="2176272" cy="548640"/>
          </a:xfrm>
          <a:prstGeom prst="chevron">
            <a:avLst/>
          </a:prstGeom>
          <a:solidFill>
            <a:srgbClr val="EEF3FA"/>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② 대응표 조회</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별칭만 정식명으로</a:t>
            </a:r>
            <a:endParaRPr lang="en-US" sz="1400" dirty="0"/>
          </a:p>
        </p:txBody>
      </p:sp>
      <p:sp>
        <p:nvSpPr>
          <p:cNvPr id="60" name="Text 58"/>
          <p:cNvSpPr/>
          <p:nvPr/>
        </p:nvSpPr>
        <p:spPr>
          <a:xfrm>
            <a:off x="11768328" y="5321808"/>
            <a:ext cx="2176272"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③ 겹친 토큰 정리</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중복은 1개만 남김</a:t>
            </a:r>
            <a:endParaRPr lang="en-US" sz="1400" dirty="0"/>
          </a:p>
        </p:txBody>
      </p:sp>
      <p:sp>
        <p:nvSpPr>
          <p:cNvPr id="61" name="Text 59"/>
          <p:cNvSpPr/>
          <p:nvPr/>
        </p:nvSpPr>
        <p:spPr>
          <a:xfrm>
            <a:off x="7635240" y="5925312"/>
            <a:ext cx="6309360" cy="237744"/>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역방향 대응표: key(별칭) → 정식명 · 정식명은 key가 아니라 그대로 유지</a:t>
            </a:r>
            <a:endParaRPr lang="en-US" sz="1400" dirty="0"/>
          </a:p>
        </p:txBody>
      </p:sp>
      <p:sp>
        <p:nvSpPr>
          <p:cNvPr id="62" name="Text 60"/>
          <p:cNvSpPr/>
          <p:nvPr/>
        </p:nvSpPr>
        <p:spPr>
          <a:xfrm>
            <a:off x="7635240" y="6199632"/>
            <a:ext cx="96012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모아생활</a:t>
            </a:r>
            <a:endParaRPr lang="en-US" sz="1400" dirty="0"/>
          </a:p>
        </p:txBody>
      </p:sp>
      <p:sp>
        <p:nvSpPr>
          <p:cNvPr id="63" name="Text 61"/>
          <p:cNvSpPr/>
          <p:nvPr/>
        </p:nvSpPr>
        <p:spPr>
          <a:xfrm>
            <a:off x="8650224" y="6199632"/>
            <a:ext cx="118872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모아생활카드</a:t>
            </a:r>
            <a:endParaRPr lang="en-US" sz="1400" dirty="0"/>
          </a:p>
        </p:txBody>
      </p:sp>
      <p:sp>
        <p:nvSpPr>
          <p:cNvPr id="64" name="Text 62"/>
          <p:cNvSpPr/>
          <p:nvPr/>
        </p:nvSpPr>
        <p:spPr>
          <a:xfrm>
            <a:off x="9893808" y="6199632"/>
            <a:ext cx="1463040" cy="347472"/>
          </a:xfrm>
          <a:prstGeom prst="roundRect">
            <a:avLst>
              <a:gd name="adj" fmla="val 15789"/>
            </a:avLst>
          </a:prstGeom>
          <a:solidFill>
            <a:srgbClr val="FFFFFF"/>
          </a:solidFill>
          <a:ln w="15875">
            <a:solidFill>
              <a:srgbClr val="4A5364"/>
            </a:solidFill>
            <a:prstDash val="solid"/>
          </a:ln>
        </p:spPr>
        <p:txBody>
          <a:bodyPr wrap="square" lIns="25400" tIns="25400" rIns="25400" bIns="254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한빛모아생활카드</a:t>
            </a:r>
            <a:endParaRPr lang="en-US" sz="1400" dirty="0"/>
          </a:p>
        </p:txBody>
      </p:sp>
      <p:sp>
        <p:nvSpPr>
          <p:cNvPr id="65" name="Shape 63"/>
          <p:cNvSpPr/>
          <p:nvPr/>
        </p:nvSpPr>
        <p:spPr>
          <a:xfrm>
            <a:off x="11430000" y="6373368"/>
            <a:ext cx="310896" cy="0"/>
          </a:xfrm>
          <a:prstGeom prst="line">
            <a:avLst/>
          </a:prstGeom>
          <a:noFill/>
          <a:ln w="19050">
            <a:solidFill>
              <a:srgbClr val="2E74C6"/>
            </a:solidFill>
            <a:prstDash val="solid"/>
            <a:tailEnd type="triangle"/>
          </a:ln>
        </p:spPr>
      </p:sp>
      <p:sp>
        <p:nvSpPr>
          <p:cNvPr id="66" name="Text 64"/>
          <p:cNvSpPr/>
          <p:nvPr/>
        </p:nvSpPr>
        <p:spPr>
          <a:xfrm>
            <a:off x="11777472" y="6199632"/>
            <a:ext cx="1188720" cy="347472"/>
          </a:xfrm>
          <a:prstGeom prst="roundRect">
            <a:avLst>
              <a:gd name="adj" fmla="val 15789"/>
            </a:avLst>
          </a:prstGeom>
          <a:solidFill>
            <a:srgbClr val="1E2A5C"/>
          </a:solidFill>
          <a:ln/>
        </p:spPr>
        <p:txBody>
          <a:bodyPr wrap="square" lIns="25400" tIns="25400" rIns="25400" bIns="254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한빛모아생활</a:t>
            </a:r>
            <a:endParaRPr lang="en-US" sz="1400" dirty="0"/>
          </a:p>
        </p:txBody>
      </p:sp>
      <p:sp>
        <p:nvSpPr>
          <p:cNvPr id="67" name="Text 65"/>
          <p:cNvSpPr/>
          <p:nvPr/>
        </p:nvSpPr>
        <p:spPr>
          <a:xfrm>
            <a:off x="7635240" y="6556248"/>
            <a:ext cx="6309360" cy="219456"/>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문서 쪽에도 같은 치환 · 색인과 질문의 토크나이저를 똑같이</a:t>
            </a:r>
            <a:endParaRPr lang="en-US" sz="1400" dirty="0"/>
          </a:p>
        </p:txBody>
      </p:sp>
      <p:sp>
        <p:nvSpPr>
          <p:cNvPr id="68" name="Shape 66"/>
          <p:cNvSpPr/>
          <p:nvPr/>
        </p:nvSpPr>
        <p:spPr>
          <a:xfrm>
            <a:off x="502920" y="6858000"/>
            <a:ext cx="64008" cy="384048"/>
          </a:xfrm>
          <a:prstGeom prst="rect">
            <a:avLst/>
          </a:prstGeom>
          <a:solidFill>
            <a:srgbClr val="2E74C6"/>
          </a:solidFill>
          <a:ln/>
        </p:spPr>
      </p:sp>
      <p:sp>
        <p:nvSpPr>
          <p:cNvPr id="69" name="Text 67"/>
          <p:cNvSpPr/>
          <p:nvPr/>
        </p:nvSpPr>
        <p:spPr>
          <a:xfrm>
            <a:off x="685800" y="6858000"/>
            <a:ext cx="13441680" cy="384048"/>
          </a:xfrm>
          <a:prstGeom prst="rect">
            <a:avLst/>
          </a:prstGeom>
          <a:noFill/>
          <a:ln/>
        </p:spPr>
        <p:txBody>
          <a:bodyPr wrap="square" lIns="0" tIns="0" rIns="0" bIns="0" rtlCol="0" anchor="ctr"/>
          <a:lstStyle/>
          <a:p>
            <a:pPr indent="0" marL="0">
              <a:buNone/>
            </a:pPr>
            <a:r>
              <a:rPr lang="en-US" sz="1900" b="1" i="1" dirty="0">
                <a:solidFill>
                  <a:srgbClr val="1E2A5C"/>
                </a:solidFill>
                <a:latin typeface="Pretendard" pitchFamily="34" charset="0"/>
                <a:ea typeface="Pretendard" pitchFamily="34" charset="-122"/>
                <a:cs typeface="Pretendard" pitchFamily="34" charset="-120"/>
              </a:rPr>
              <a:t>사용자 사전은 「쪼개지 않게」, 별칭 사전은 「같은 이름으로」 — 둘 다 있어야 BM25가 맞춤</a:t>
            </a:r>
            <a:endParaRPr lang="en-US" sz="1900" dirty="0"/>
          </a:p>
        </p:txBody>
      </p:sp>
      <p:sp>
        <p:nvSpPr>
          <p:cNvPr id="70" name="Text 68"/>
          <p:cNvSpPr/>
          <p:nvPr/>
        </p:nvSpPr>
        <p:spPr>
          <a:xfrm>
            <a:off x="502920" y="7296912"/>
            <a:ext cx="13624560" cy="365760"/>
          </a:xfrm>
          <a:prstGeom prst="rect">
            <a:avLst/>
          </a:prstGeom>
          <a:noFill/>
          <a:ln/>
        </p:spPr>
        <p:txBody>
          <a:bodyPr wrap="square" rtlCol="0" anchor="ctr"/>
          <a:lstStyle/>
          <a:p>
            <a:pPr indent="0" marL="0">
              <a:buNone/>
            </a:pPr>
            <a:r>
              <a:rPr lang="en-US" sz="1400" b="1" dirty="0">
                <a:solidFill>
                  <a:srgbClr val="7C8598"/>
                </a:solidFill>
                <a:latin typeface="Pretendard" pitchFamily="34" charset="0"/>
                <a:ea typeface="Pretendard" pitchFamily="34" charset="-122"/>
                <a:cs typeface="Pretendard" pitchFamily="34" charset="-120"/>
              </a:rPr>
              <a:t>출처  </a:t>
            </a:r>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W3C SKOS(prefLabel · altLabel)</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별칭만 사전 등록 시 검색 미반영: 2026-10-02 실측(우리 시스템)</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생성·치환 규칙: 설계 가이드(교재 외)</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별칭 자동 생성과 정식명 치환</dc:title>
  <dc:subject>PptxGenJS Presentation</dc:subject>
  <dc:creator>PptxGenJS</dc:creator>
  <cp:lastModifiedBy>PptxGenJS</cp:lastModifiedBy>
  <cp:revision>1</cp:revision>
  <dcterms:created xsi:type="dcterms:W3CDTF">2026-10-02T14:50:30Z</dcterms:created>
  <dcterms:modified xsi:type="dcterms:W3CDTF">2026-10-02T14:50:30Z</dcterms:modified>
</cp:coreProperties>
</file>