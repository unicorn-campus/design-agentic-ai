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실무에서는 기법 선택을 LLM에 맡기는 방식이 일반적임. 교재도 라우터를 LLM Router와 Semantic Router로 나누며, LangGraph 예제도 채점·재작성을 LLM 노드로 둠.
코드가 계산한 사실(점수 구간·격차·핵심어 유무·검색기 일치)과 결과 조각을 함께 줘서 LLM이 짐작하지 않게 함.
핵심어는 시소러스 없이 형태소 분석 + 색인 IDF로 계산함. 형태소 분석기와 색인 통계는 BM25를 쓰는 시스템이면 대부분 이미 있음.
핵심어 유무는 관문이 아니라 LLM에게 주는 참고 사실임. 동의어를 놓쳐 '없음'이 나와도 그 자체가 단어 불일치 신호이며, LLM이 결과 조각을 읽고 바로잡음.
규칙은 금지만 함. 평가셋에서 LLM 선택이 자주 틀리는 유형이 보이면 그 유형에만 규칙을 추가하고, 필요한 범위만큼 시소러스를 만듦.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불확실 판정 시 LLM이 기법 선택</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0.RAG.md" TargetMode="External"/><Relationship Id="rId2" Type="http://schemas.openxmlformats.org/officeDocument/2006/relationships/hyperlink" Target="https://docs.langchain.com/oss/python/langgraph/agentic-rag" TargetMode="External"/><Relationship Id="rId3" Type="http://schemas.openxmlformats.org/officeDocument/2006/relationships/hyperlink" Target="https://arxiv.org/abs/2401.15884"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Pre-Retrieval › 6. 불확실 판정 후 변환</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불확실 판정 시 LLM이 기법 선택</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코드는 판정 근거를 사실로 계산하고, LLM이 정보를 보고 기법을 골라 질문을 변환함 — 규칙은 금지 조건만 검사</a:t>
            </a:r>
            <a:endParaRPr lang="en-US" sz="1800" dirty="0"/>
          </a:p>
        </p:txBody>
      </p:sp>
      <p:sp>
        <p:nvSpPr>
          <p:cNvPr id="7" name="Text 5"/>
          <p:cNvSpPr/>
          <p:nvPr/>
        </p:nvSpPr>
        <p:spPr>
          <a:xfrm>
            <a:off x="502920" y="2011680"/>
            <a:ext cx="832104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LLM에 무엇을 함께 주나</a:t>
            </a:r>
            <a:endParaRPr lang="en-US" sz="2000" dirty="0"/>
          </a:p>
        </p:txBody>
      </p:sp>
      <p:sp>
        <p:nvSpPr>
          <p:cNvPr id="8" name="Shape 6"/>
          <p:cNvSpPr/>
          <p:nvPr/>
        </p:nvSpPr>
        <p:spPr>
          <a:xfrm>
            <a:off x="502920" y="2542032"/>
            <a:ext cx="8321040" cy="3236976"/>
          </a:xfrm>
          <a:prstGeom prst="roundRect">
            <a:avLst>
              <a:gd name="adj" fmla="val 2825"/>
            </a:avLst>
          </a:prstGeom>
          <a:solidFill>
            <a:srgbClr val="EEF3FA"/>
          </a:solidFill>
          <a:ln w="12700">
            <a:solidFill>
              <a:srgbClr val="D9E0EC"/>
            </a:solidFill>
            <a:prstDash val="solid"/>
          </a:ln>
        </p:spPr>
      </p:sp>
      <p:sp>
        <p:nvSpPr>
          <p:cNvPr id="9" name="Text 7"/>
          <p:cNvSpPr/>
          <p:nvPr/>
        </p:nvSpPr>
        <p:spPr>
          <a:xfrm>
            <a:off x="612648" y="2615184"/>
            <a:ext cx="2377440" cy="713232"/>
          </a:xfrm>
          <a:prstGeom prst="flowChartDecision">
            <a:avLst/>
          </a:prstGeom>
          <a:solidFill>
            <a:srgbClr val="FFFFFF"/>
          </a:solidFill>
          <a:ln w="25400">
            <a:solidFill>
              <a:srgbClr val="2E74C6"/>
            </a:solidFill>
            <a:prstDash val="solid"/>
          </a:ln>
        </p:spPr>
        <p:txBody>
          <a:bodyPr wrap="square" lIns="127000" tIns="127000" rIns="127000" bIns="1270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CRAG 채점: 불확실</a:t>
            </a:r>
            <a:endParaRPr lang="en-US" sz="1400" dirty="0"/>
          </a:p>
        </p:txBody>
      </p:sp>
      <p:sp>
        <p:nvSpPr>
          <p:cNvPr id="10" name="Shape 8"/>
          <p:cNvSpPr/>
          <p:nvPr/>
        </p:nvSpPr>
        <p:spPr>
          <a:xfrm>
            <a:off x="2990088" y="2971800"/>
            <a:ext cx="301752" cy="0"/>
          </a:xfrm>
          <a:prstGeom prst="line">
            <a:avLst/>
          </a:prstGeom>
          <a:noFill/>
          <a:ln w="19050">
            <a:solidFill>
              <a:srgbClr val="4A5364"/>
            </a:solidFill>
            <a:prstDash val="solid"/>
            <a:tailEnd type="triangle"/>
          </a:ln>
        </p:spPr>
      </p:sp>
      <p:sp>
        <p:nvSpPr>
          <p:cNvPr id="11" name="Text 9"/>
          <p:cNvSpPr/>
          <p:nvPr/>
        </p:nvSpPr>
        <p:spPr>
          <a:xfrm>
            <a:off x="3291840" y="2651760"/>
            <a:ext cx="3611880" cy="640080"/>
          </a:xfrm>
          <a:prstGeom prst="roundRect">
            <a:avLst>
              <a:gd name="adj" fmla="val 8571"/>
            </a:avLst>
          </a:prstGeom>
          <a:solidFill>
            <a:srgbClr val="1E2A5C"/>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코드: 판정 근거 계산</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점수 구간 · 1·2위 격차 · 핵심어 유무 · 검색기 일치</a:t>
            </a:r>
            <a:endParaRPr lang="en-US" sz="1400" dirty="0"/>
          </a:p>
        </p:txBody>
      </p:sp>
      <p:sp>
        <p:nvSpPr>
          <p:cNvPr id="12" name="Shape 10"/>
          <p:cNvSpPr/>
          <p:nvPr/>
        </p:nvSpPr>
        <p:spPr>
          <a:xfrm>
            <a:off x="5440680" y="3291840"/>
            <a:ext cx="0" cy="365760"/>
          </a:xfrm>
          <a:prstGeom prst="line">
            <a:avLst/>
          </a:prstGeom>
          <a:noFill/>
          <a:ln w="19050">
            <a:solidFill>
              <a:srgbClr val="1E2A5C"/>
            </a:solidFill>
            <a:prstDash val="solid"/>
            <a:tailEnd type="triangle"/>
          </a:ln>
        </p:spPr>
      </p:sp>
      <p:sp>
        <p:nvSpPr>
          <p:cNvPr id="13" name="Text 11"/>
          <p:cNvSpPr/>
          <p:nvPr/>
        </p:nvSpPr>
        <p:spPr>
          <a:xfrm>
            <a:off x="5513832" y="3328416"/>
            <a:ext cx="164592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판정 근거(사실)</a:t>
            </a:r>
            <a:endParaRPr lang="en-US" sz="1400" dirty="0"/>
          </a:p>
        </p:txBody>
      </p:sp>
      <p:sp>
        <p:nvSpPr>
          <p:cNvPr id="14" name="Text 12"/>
          <p:cNvSpPr/>
          <p:nvPr/>
        </p:nvSpPr>
        <p:spPr>
          <a:xfrm>
            <a:off x="4297680" y="3657600"/>
            <a:ext cx="2286000" cy="868680"/>
          </a:xfrm>
          <a:prstGeom prst="hexagon">
            <a:avLst/>
          </a:prstGeom>
          <a:solidFill>
            <a:srgbClr val="2E74C6"/>
          </a:solidFill>
          <a:ln/>
        </p:spPr>
        <p:txBody>
          <a:bodyPr wrap="square" lIns="76200" tIns="76200" rIns="76200" bIns="762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기법 선택 · 질의 작성</a:t>
            </a:r>
            <a:endParaRPr lang="en-US" sz="1400" dirty="0"/>
          </a:p>
        </p:txBody>
      </p:sp>
      <p:sp>
        <p:nvSpPr>
          <p:cNvPr id="15" name="Text 13"/>
          <p:cNvSpPr/>
          <p:nvPr/>
        </p:nvSpPr>
        <p:spPr>
          <a:xfrm>
            <a:off x="640080" y="340156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원 질문</a:t>
            </a:r>
            <a:endParaRPr lang="en-US" sz="1400" dirty="0"/>
          </a:p>
        </p:txBody>
      </p:sp>
      <p:sp>
        <p:nvSpPr>
          <p:cNvPr id="16" name="Shape 14"/>
          <p:cNvSpPr/>
          <p:nvPr/>
        </p:nvSpPr>
        <p:spPr>
          <a:xfrm>
            <a:off x="3931920" y="3611880"/>
            <a:ext cx="475488" cy="480060"/>
          </a:xfrm>
          <a:prstGeom prst="line">
            <a:avLst/>
          </a:prstGeom>
          <a:noFill/>
          <a:ln w="19050">
            <a:solidFill>
              <a:srgbClr val="4A5364"/>
            </a:solidFill>
            <a:prstDash val="solid"/>
            <a:tailEnd type="triangle"/>
          </a:ln>
        </p:spPr>
      </p:sp>
      <p:sp>
        <p:nvSpPr>
          <p:cNvPr id="17" name="Text 15"/>
          <p:cNvSpPr/>
          <p:nvPr/>
        </p:nvSpPr>
        <p:spPr>
          <a:xfrm>
            <a:off x="640080" y="390448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검색 결과 조각 + 제목</a:t>
            </a:r>
            <a:endParaRPr lang="en-US" sz="1400" dirty="0"/>
          </a:p>
        </p:txBody>
      </p:sp>
      <p:sp>
        <p:nvSpPr>
          <p:cNvPr id="18" name="Shape 16"/>
          <p:cNvSpPr/>
          <p:nvPr/>
        </p:nvSpPr>
        <p:spPr>
          <a:xfrm flipV="1">
            <a:off x="3931920" y="4091940"/>
            <a:ext cx="475488" cy="22860"/>
          </a:xfrm>
          <a:prstGeom prst="line">
            <a:avLst/>
          </a:prstGeom>
          <a:noFill/>
          <a:ln w="19050">
            <a:solidFill>
              <a:srgbClr val="4A5364"/>
            </a:solidFill>
            <a:prstDash val="solid"/>
            <a:tailEnd type="triangle"/>
          </a:ln>
        </p:spPr>
      </p:sp>
      <p:sp>
        <p:nvSpPr>
          <p:cNvPr id="19" name="Text 17"/>
          <p:cNvSpPr/>
          <p:nvPr/>
        </p:nvSpPr>
        <p:spPr>
          <a:xfrm>
            <a:off x="640080" y="440740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이전 시도 기록: 같은 변환 반복 방지</a:t>
            </a:r>
            <a:endParaRPr lang="en-US" sz="1400" dirty="0"/>
          </a:p>
        </p:txBody>
      </p:sp>
      <p:sp>
        <p:nvSpPr>
          <p:cNvPr id="20" name="Shape 18"/>
          <p:cNvSpPr/>
          <p:nvPr/>
        </p:nvSpPr>
        <p:spPr>
          <a:xfrm flipV="1">
            <a:off x="3931920" y="4091940"/>
            <a:ext cx="475488" cy="525780"/>
          </a:xfrm>
          <a:prstGeom prst="line">
            <a:avLst/>
          </a:prstGeom>
          <a:noFill/>
          <a:ln w="19050">
            <a:solidFill>
              <a:srgbClr val="4A5364"/>
            </a:solidFill>
            <a:prstDash val="solid"/>
            <a:tailEnd type="triangle"/>
          </a:ln>
        </p:spPr>
      </p:sp>
      <p:sp>
        <p:nvSpPr>
          <p:cNvPr id="21" name="Text 19"/>
          <p:cNvSpPr/>
          <p:nvPr/>
        </p:nvSpPr>
        <p:spPr>
          <a:xfrm>
            <a:off x="640080" y="4910328"/>
            <a:ext cx="3291840" cy="420624"/>
          </a:xfrm>
          <a:prstGeom prst="roundRect">
            <a:avLst>
              <a:gd name="adj" fmla="val 13043"/>
            </a:avLst>
          </a:prstGeom>
          <a:solidFill>
            <a:srgbClr val="FFFFFF"/>
          </a:solidFill>
          <a:ln w="25400">
            <a:solidFill>
              <a:srgbClr val="2E74C6"/>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기법 가이드 · 허용 선택지</a:t>
            </a:r>
            <a:endParaRPr lang="en-US" sz="1400" dirty="0"/>
          </a:p>
        </p:txBody>
      </p:sp>
      <p:sp>
        <p:nvSpPr>
          <p:cNvPr id="22" name="Shape 20"/>
          <p:cNvSpPr/>
          <p:nvPr/>
        </p:nvSpPr>
        <p:spPr>
          <a:xfrm flipV="1">
            <a:off x="3931920" y="4091940"/>
            <a:ext cx="475488" cy="1028700"/>
          </a:xfrm>
          <a:prstGeom prst="line">
            <a:avLst/>
          </a:prstGeom>
          <a:noFill/>
          <a:ln w="19050">
            <a:solidFill>
              <a:srgbClr val="4A5364"/>
            </a:solidFill>
            <a:prstDash val="solid"/>
            <a:tailEnd type="triangle"/>
          </a:ln>
        </p:spPr>
      </p:sp>
      <p:sp>
        <p:nvSpPr>
          <p:cNvPr id="23" name="Text 21"/>
          <p:cNvSpPr/>
          <p:nvPr/>
        </p:nvSpPr>
        <p:spPr>
          <a:xfrm>
            <a:off x="640080" y="5376672"/>
            <a:ext cx="32918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허용 선택지 = 5기법 전체 + keep + clarify</a:t>
            </a:r>
            <a:endParaRPr lang="en-US" sz="1400" dirty="0"/>
          </a:p>
        </p:txBody>
      </p:sp>
      <p:sp>
        <p:nvSpPr>
          <p:cNvPr id="24" name="Shape 22"/>
          <p:cNvSpPr/>
          <p:nvPr/>
        </p:nvSpPr>
        <p:spPr>
          <a:xfrm flipV="1">
            <a:off x="6583680" y="4087368"/>
            <a:ext cx="274320" cy="4572"/>
          </a:xfrm>
          <a:prstGeom prst="line">
            <a:avLst/>
          </a:prstGeom>
          <a:noFill/>
          <a:ln w="19050">
            <a:solidFill>
              <a:srgbClr val="4A5364"/>
            </a:solidFill>
            <a:prstDash val="solid"/>
            <a:tailEnd type="triangle"/>
          </a:ln>
        </p:spPr>
      </p:sp>
      <p:sp>
        <p:nvSpPr>
          <p:cNvPr id="25" name="Text 23"/>
          <p:cNvSpPr/>
          <p:nvPr/>
        </p:nvSpPr>
        <p:spPr>
          <a:xfrm>
            <a:off x="6858000" y="3630168"/>
            <a:ext cx="1828800" cy="914400"/>
          </a:xfrm>
          <a:prstGeom prst="flowChartDecision">
            <a:avLst/>
          </a:prstGeom>
          <a:solidFill>
            <a:srgbClr val="FFFFFF"/>
          </a:solidFill>
          <a:ln w="25400">
            <a:solidFill>
              <a:srgbClr val="404155"/>
            </a:solidFill>
            <a:prstDash val="solid"/>
          </a:ln>
        </p:spPr>
        <p:txBody>
          <a:bodyPr wrap="square" lIns="101600" tIns="101600" rIns="101600" bIns="1016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금지 규칙</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검사</a:t>
            </a:r>
            <a:endParaRPr lang="en-US" sz="1400" dirty="0"/>
          </a:p>
        </p:txBody>
      </p:sp>
      <p:sp>
        <p:nvSpPr>
          <p:cNvPr id="26" name="Shape 24"/>
          <p:cNvSpPr/>
          <p:nvPr/>
        </p:nvSpPr>
        <p:spPr>
          <a:xfrm flipV="1">
            <a:off x="7772400" y="3310128"/>
            <a:ext cx="0" cy="320040"/>
          </a:xfrm>
          <a:prstGeom prst="line">
            <a:avLst/>
          </a:prstGeom>
          <a:noFill/>
          <a:ln w="19050">
            <a:solidFill>
              <a:srgbClr val="4A5364"/>
            </a:solidFill>
            <a:prstDash val="solid"/>
            <a:tailEnd type="triangle"/>
          </a:ln>
        </p:spPr>
      </p:sp>
      <p:sp>
        <p:nvSpPr>
          <p:cNvPr id="27" name="Text 25"/>
          <p:cNvSpPr/>
          <p:nvPr/>
        </p:nvSpPr>
        <p:spPr>
          <a:xfrm>
            <a:off x="7827264" y="3328416"/>
            <a:ext cx="548640" cy="274320"/>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위반</a:t>
            </a:r>
            <a:endParaRPr lang="en-US" sz="1400" dirty="0"/>
          </a:p>
        </p:txBody>
      </p:sp>
      <p:sp>
        <p:nvSpPr>
          <p:cNvPr id="28" name="Text 26"/>
          <p:cNvSpPr/>
          <p:nvPr/>
        </p:nvSpPr>
        <p:spPr>
          <a:xfrm>
            <a:off x="6949440" y="2834640"/>
            <a:ext cx="1645920" cy="457200"/>
          </a:xfrm>
          <a:prstGeom prst="roundRect">
            <a:avLst>
              <a:gd name="adj" fmla="val 12000"/>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keep · clarify</a:t>
            </a:r>
            <a:endParaRPr lang="en-US" sz="1400" dirty="0"/>
          </a:p>
        </p:txBody>
      </p:sp>
      <p:sp>
        <p:nvSpPr>
          <p:cNvPr id="29" name="Shape 27"/>
          <p:cNvSpPr/>
          <p:nvPr/>
        </p:nvSpPr>
        <p:spPr>
          <a:xfrm>
            <a:off x="7772400" y="4544568"/>
            <a:ext cx="0" cy="301752"/>
          </a:xfrm>
          <a:prstGeom prst="line">
            <a:avLst/>
          </a:prstGeom>
          <a:noFill/>
          <a:ln w="19050">
            <a:solidFill>
              <a:srgbClr val="4A5364"/>
            </a:solidFill>
            <a:prstDash val="solid"/>
            <a:tailEnd type="triangle"/>
          </a:ln>
        </p:spPr>
      </p:sp>
      <p:sp>
        <p:nvSpPr>
          <p:cNvPr id="30" name="Text 28"/>
          <p:cNvSpPr/>
          <p:nvPr/>
        </p:nvSpPr>
        <p:spPr>
          <a:xfrm>
            <a:off x="7827264" y="4562856"/>
            <a:ext cx="5486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통과</a:t>
            </a:r>
            <a:endParaRPr lang="en-US" sz="1400" dirty="0"/>
          </a:p>
        </p:txBody>
      </p:sp>
      <p:sp>
        <p:nvSpPr>
          <p:cNvPr id="31" name="Text 29"/>
          <p:cNvSpPr/>
          <p:nvPr/>
        </p:nvSpPr>
        <p:spPr>
          <a:xfrm>
            <a:off x="6967728" y="4846320"/>
            <a:ext cx="1609344" cy="731520"/>
          </a:xfrm>
          <a:prstGeom prst="can">
            <a:avLst/>
          </a:prstGeom>
          <a:solidFill>
            <a:srgbClr val="EEF3FA"/>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재검색</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(상한)</a:t>
            </a:r>
            <a:endParaRPr lang="en-US" sz="1400" dirty="0"/>
          </a:p>
        </p:txBody>
      </p:sp>
      <p:sp>
        <p:nvSpPr>
          <p:cNvPr id="32" name="Text 30"/>
          <p:cNvSpPr/>
          <p:nvPr/>
        </p:nvSpPr>
        <p:spPr>
          <a:xfrm>
            <a:off x="4251960" y="4663440"/>
            <a:ext cx="2514600" cy="1005840"/>
          </a:xfrm>
          <a:prstGeom prst="roundRect">
            <a:avLst>
              <a:gd name="adj" fmla="val 5455"/>
            </a:avLst>
          </a:prstGeom>
          <a:solidFill>
            <a:srgbClr val="FFFFFF"/>
          </a:solidFill>
          <a:ln w="15875">
            <a:solidFill>
              <a:srgbClr val="404155"/>
            </a:solidFill>
            <a:prstDash val="dash"/>
          </a:ln>
        </p:spPr>
        <p:txBody>
          <a:bodyPr wrap="square" lIns="76200" tIns="76200" rIns="76200" bIns="7620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금지 규칙</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대상명 없음+대상 섞임 → clarify</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같은 기법·질의 반복 금지</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상한 도달 → keep</a:t>
            </a:r>
            <a:endParaRPr lang="en-US" sz="1400" dirty="0"/>
          </a:p>
        </p:txBody>
      </p:sp>
      <p:sp>
        <p:nvSpPr>
          <p:cNvPr id="33" name="Shape 31"/>
          <p:cNvSpPr/>
          <p:nvPr/>
        </p:nvSpPr>
        <p:spPr>
          <a:xfrm flipV="1">
            <a:off x="6766560" y="4343400"/>
            <a:ext cx="502920" cy="822960"/>
          </a:xfrm>
          <a:prstGeom prst="line">
            <a:avLst/>
          </a:prstGeom>
          <a:noFill/>
          <a:ln w="19050">
            <a:solidFill>
              <a:srgbClr val="404155"/>
            </a:solidFill>
            <a:prstDash val="dash"/>
          </a:ln>
        </p:spPr>
      </p:sp>
      <p:sp>
        <p:nvSpPr>
          <p:cNvPr id="34" name="Text 32"/>
          <p:cNvSpPr/>
          <p:nvPr/>
        </p:nvSpPr>
        <p:spPr>
          <a:xfrm>
            <a:off x="9098280" y="2011680"/>
            <a:ext cx="502920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원인별 기법 가이드 (LLM 참고용)</a:t>
            </a:r>
            <a:endParaRPr lang="en-US" sz="2000" dirty="0"/>
          </a:p>
        </p:txBody>
      </p:sp>
      <p:sp>
        <p:nvSpPr>
          <p:cNvPr id="35" name="Text 33"/>
          <p:cNvSpPr/>
          <p:nvPr/>
        </p:nvSpPr>
        <p:spPr>
          <a:xfrm>
            <a:off x="9098280" y="2596896"/>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하나도 없음</a:t>
            </a:r>
            <a:endParaRPr lang="en-US" sz="1400" dirty="0"/>
          </a:p>
        </p:txBody>
      </p:sp>
      <p:sp>
        <p:nvSpPr>
          <p:cNvPr id="36" name="Shape 34"/>
          <p:cNvSpPr/>
          <p:nvPr/>
        </p:nvSpPr>
        <p:spPr>
          <a:xfrm>
            <a:off x="11878056" y="2907792"/>
            <a:ext cx="219456" cy="0"/>
          </a:xfrm>
          <a:prstGeom prst="line">
            <a:avLst/>
          </a:prstGeom>
          <a:noFill/>
          <a:ln w="19050">
            <a:solidFill>
              <a:srgbClr val="2E74C6"/>
            </a:solidFill>
            <a:prstDash val="solid"/>
            <a:tailEnd type="triangle"/>
          </a:ln>
        </p:spPr>
      </p:sp>
      <p:sp>
        <p:nvSpPr>
          <p:cNvPr id="37" name="Text 35"/>
          <p:cNvSpPr/>
          <p:nvPr/>
        </p:nvSpPr>
        <p:spPr>
          <a:xfrm>
            <a:off x="12115800" y="2633472"/>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Multi-Query · Rewriting</a:t>
            </a:r>
            <a:endParaRPr lang="en-US" sz="1400" dirty="0"/>
          </a:p>
        </p:txBody>
      </p:sp>
      <p:sp>
        <p:nvSpPr>
          <p:cNvPr id="38" name="Text 36"/>
          <p:cNvSpPr/>
          <p:nvPr/>
        </p:nvSpPr>
        <p:spPr>
          <a:xfrm>
            <a:off x="9098280" y="3310128"/>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있는데 점수가 상한 미달. 질문이 상대적으로 짧음</a:t>
            </a:r>
            <a:endParaRPr lang="en-US" sz="1400" dirty="0"/>
          </a:p>
        </p:txBody>
      </p:sp>
      <p:sp>
        <p:nvSpPr>
          <p:cNvPr id="39" name="Shape 37"/>
          <p:cNvSpPr/>
          <p:nvPr/>
        </p:nvSpPr>
        <p:spPr>
          <a:xfrm>
            <a:off x="11878056" y="3621024"/>
            <a:ext cx="219456" cy="0"/>
          </a:xfrm>
          <a:prstGeom prst="line">
            <a:avLst/>
          </a:prstGeom>
          <a:noFill/>
          <a:ln w="19050">
            <a:solidFill>
              <a:srgbClr val="2E74C6"/>
            </a:solidFill>
            <a:prstDash val="solid"/>
            <a:tailEnd type="triangle"/>
          </a:ln>
        </p:spPr>
      </p:sp>
      <p:sp>
        <p:nvSpPr>
          <p:cNvPr id="40" name="Text 38"/>
          <p:cNvSpPr/>
          <p:nvPr/>
        </p:nvSpPr>
        <p:spPr>
          <a:xfrm>
            <a:off x="12115800" y="3346704"/>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HyDE</a:t>
            </a:r>
            <a:endParaRPr lang="en-US" sz="1400" dirty="0"/>
          </a:p>
        </p:txBody>
      </p:sp>
      <p:sp>
        <p:nvSpPr>
          <p:cNvPr id="41" name="Text 39"/>
          <p:cNvSpPr/>
          <p:nvPr/>
        </p:nvSpPr>
        <p:spPr>
          <a:xfrm>
            <a:off x="9098280" y="4023360"/>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구체 사례를 묻는데 상위 주제 문서만 걸림</a:t>
            </a:r>
            <a:endParaRPr lang="en-US" sz="1400" dirty="0"/>
          </a:p>
        </p:txBody>
      </p:sp>
      <p:sp>
        <p:nvSpPr>
          <p:cNvPr id="42" name="Shape 40"/>
          <p:cNvSpPr/>
          <p:nvPr/>
        </p:nvSpPr>
        <p:spPr>
          <a:xfrm>
            <a:off x="11878056" y="4334256"/>
            <a:ext cx="219456" cy="0"/>
          </a:xfrm>
          <a:prstGeom prst="line">
            <a:avLst/>
          </a:prstGeom>
          <a:noFill/>
          <a:ln w="19050">
            <a:solidFill>
              <a:srgbClr val="2E74C6"/>
            </a:solidFill>
            <a:prstDash val="solid"/>
            <a:tailEnd type="triangle"/>
          </a:ln>
        </p:spPr>
      </p:sp>
      <p:sp>
        <p:nvSpPr>
          <p:cNvPr id="43" name="Text 41"/>
          <p:cNvSpPr/>
          <p:nvPr/>
        </p:nvSpPr>
        <p:spPr>
          <a:xfrm>
            <a:off x="12115800" y="4059936"/>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Step-Back</a:t>
            </a:r>
            <a:endParaRPr lang="en-US" sz="1400" dirty="0"/>
          </a:p>
        </p:txBody>
      </p:sp>
      <p:sp>
        <p:nvSpPr>
          <p:cNvPr id="44" name="Text 42"/>
          <p:cNvSpPr/>
          <p:nvPr/>
        </p:nvSpPr>
        <p:spPr>
          <a:xfrm>
            <a:off x="9098280" y="4736592"/>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1·2위 격차 작음(비슷한 대상끼리 경쟁)</a:t>
            </a:r>
            <a:endParaRPr lang="en-US" sz="1400" dirty="0"/>
          </a:p>
        </p:txBody>
      </p:sp>
      <p:sp>
        <p:nvSpPr>
          <p:cNvPr id="45" name="Shape 43"/>
          <p:cNvSpPr/>
          <p:nvPr/>
        </p:nvSpPr>
        <p:spPr>
          <a:xfrm>
            <a:off x="11878056" y="5047488"/>
            <a:ext cx="219456" cy="0"/>
          </a:xfrm>
          <a:prstGeom prst="line">
            <a:avLst/>
          </a:prstGeom>
          <a:noFill/>
          <a:ln w="19050">
            <a:solidFill>
              <a:srgbClr val="2E74C6"/>
            </a:solidFill>
            <a:prstDash val="solid"/>
            <a:tailEnd type="triangle"/>
          </a:ln>
        </p:spPr>
      </p:sp>
      <p:sp>
        <p:nvSpPr>
          <p:cNvPr id="46" name="Text 44"/>
          <p:cNvSpPr/>
          <p:nvPr/>
        </p:nvSpPr>
        <p:spPr>
          <a:xfrm>
            <a:off x="12115800" y="4773168"/>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Rewriting</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(대상명 없으면 clarify)</a:t>
            </a:r>
            <a:endParaRPr lang="en-US" sz="1400" dirty="0"/>
          </a:p>
        </p:txBody>
      </p:sp>
      <p:sp>
        <p:nvSpPr>
          <p:cNvPr id="47" name="Text 45"/>
          <p:cNvSpPr/>
          <p:nvPr/>
        </p:nvSpPr>
        <p:spPr>
          <a:xfrm>
            <a:off x="9098280" y="5449824"/>
            <a:ext cx="502920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가이드는 참고용 — 맞지 않으면 다른 선택 + 이유 기록</a:t>
            </a:r>
            <a:endParaRPr lang="en-US" sz="1400" dirty="0"/>
          </a:p>
        </p:txBody>
      </p:sp>
      <p:sp>
        <p:nvSpPr>
          <p:cNvPr id="48" name="Text 46"/>
          <p:cNvSpPr/>
          <p:nvPr/>
        </p:nvSpPr>
        <p:spPr>
          <a:xfrm>
            <a:off x="502920" y="5888736"/>
            <a:ext cx="1600200" cy="603504"/>
          </a:xfrm>
          <a:prstGeom prst="roundRect">
            <a:avLst>
              <a:gd name="adj" fmla="val 9091"/>
            </a:avLst>
          </a:prstGeom>
          <a:solidFill>
            <a:srgbClr val="404155"/>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핵심어</a:t>
            </a:r>
            <a:endParaRPr lang="en-US" sz="1500" dirty="0"/>
          </a:p>
          <a:p>
            <a:pPr algn="ctr" indent="0" marL="0">
              <a:buNone/>
            </a:pPr>
            <a:r>
              <a:rPr lang="en-US" sz="1500" b="1" dirty="0">
                <a:solidFill>
                  <a:srgbClr val="FFFFFF"/>
                </a:solidFill>
                <a:latin typeface="Pretendard" pitchFamily="34" charset="0"/>
                <a:ea typeface="Pretendard" pitchFamily="34" charset="-122"/>
                <a:cs typeface="Pretendard" pitchFamily="34" charset="-120"/>
              </a:rPr>
              <a:t>뽑는 법</a:t>
            </a:r>
            <a:endParaRPr lang="en-US" sz="1500" dirty="0"/>
          </a:p>
        </p:txBody>
      </p:sp>
      <p:sp>
        <p:nvSpPr>
          <p:cNvPr id="49" name="Text 47"/>
          <p:cNvSpPr/>
          <p:nvPr/>
        </p:nvSpPr>
        <p:spPr>
          <a:xfrm>
            <a:off x="2194560" y="5888736"/>
            <a:ext cx="2474366" cy="603504"/>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① 형태소 분석</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명사·숫자·코드만</a:t>
            </a:r>
            <a:endParaRPr lang="en-US" sz="1400" dirty="0"/>
          </a:p>
        </p:txBody>
      </p:sp>
      <p:sp>
        <p:nvSpPr>
          <p:cNvPr id="50" name="Text 48"/>
          <p:cNvSpPr/>
          <p:nvPr/>
        </p:nvSpPr>
        <p:spPr>
          <a:xfrm>
            <a:off x="4559198" y="5888736"/>
            <a:ext cx="2474366" cy="603504"/>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② 대상명 묶기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엔터티·사용자 사전</a:t>
            </a:r>
            <a:endParaRPr lang="en-US" sz="1400" dirty="0"/>
          </a:p>
        </p:txBody>
      </p:sp>
      <p:sp>
        <p:nvSpPr>
          <p:cNvPr id="51" name="Text 49"/>
          <p:cNvSpPr/>
          <p:nvPr/>
        </p:nvSpPr>
        <p:spPr>
          <a:xfrm>
            <a:off x="6923837" y="5888736"/>
            <a:ext cx="2474366" cy="603504"/>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③ 불용어 제거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질문 상투어 빼기</a:t>
            </a:r>
            <a:endParaRPr lang="en-US" sz="1400" dirty="0"/>
          </a:p>
        </p:txBody>
      </p:sp>
      <p:sp>
        <p:nvSpPr>
          <p:cNvPr id="52" name="Text 50"/>
          <p:cNvSpPr/>
          <p:nvPr/>
        </p:nvSpPr>
        <p:spPr>
          <a:xfrm>
            <a:off x="9288475" y="5888736"/>
            <a:ext cx="2474366" cy="603504"/>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④ 중요도 순</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색인 IDF 높은 단어</a:t>
            </a:r>
            <a:endParaRPr lang="en-US" sz="1400" dirty="0"/>
          </a:p>
        </p:txBody>
      </p:sp>
      <p:sp>
        <p:nvSpPr>
          <p:cNvPr id="53" name="Text 51"/>
          <p:cNvSpPr/>
          <p:nvPr/>
        </p:nvSpPr>
        <p:spPr>
          <a:xfrm>
            <a:off x="11653114" y="5888736"/>
            <a:ext cx="2474366" cy="603504"/>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⑤ 결과와 대조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같은 분석기로 비교</a:t>
            </a:r>
            <a:endParaRPr lang="en-US" sz="1400" dirty="0"/>
          </a:p>
        </p:txBody>
      </p:sp>
      <p:sp>
        <p:nvSpPr>
          <p:cNvPr id="54" name="Shape 52"/>
          <p:cNvSpPr/>
          <p:nvPr/>
        </p:nvSpPr>
        <p:spPr>
          <a:xfrm>
            <a:off x="502920" y="6583680"/>
            <a:ext cx="3303270" cy="603504"/>
          </a:xfrm>
          <a:prstGeom prst="roundRect">
            <a:avLst>
              <a:gd name="adj" fmla="val 15152"/>
            </a:avLst>
          </a:prstGeom>
          <a:solidFill>
            <a:srgbClr val="F5F8FC"/>
          </a:solidFill>
          <a:ln w="12700">
            <a:solidFill>
              <a:srgbClr val="D9E0EC"/>
            </a:solidFill>
            <a:prstDash val="solid"/>
          </a:ln>
        </p:spPr>
      </p:sp>
      <p:sp>
        <p:nvSpPr>
          <p:cNvPr id="55" name="Text 53"/>
          <p:cNvSpPr/>
          <p:nvPr/>
        </p:nvSpPr>
        <p:spPr>
          <a:xfrm>
            <a:off x="594360" y="6739128"/>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6" name="Text 54"/>
          <p:cNvSpPr/>
          <p:nvPr/>
        </p:nvSpPr>
        <p:spPr>
          <a:xfrm>
            <a:off x="960120" y="6583680"/>
            <a:ext cx="2800350" cy="603504"/>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권한 필터 후 결과만</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권한 밖 조각 유출 방지</a:t>
            </a:r>
            <a:endParaRPr lang="en-US" sz="1400" dirty="0"/>
          </a:p>
        </p:txBody>
      </p:sp>
      <p:sp>
        <p:nvSpPr>
          <p:cNvPr id="57" name="Shape 55"/>
          <p:cNvSpPr/>
          <p:nvPr/>
        </p:nvSpPr>
        <p:spPr>
          <a:xfrm>
            <a:off x="3943350" y="6583680"/>
            <a:ext cx="3303270" cy="603504"/>
          </a:xfrm>
          <a:prstGeom prst="roundRect">
            <a:avLst>
              <a:gd name="adj" fmla="val 15152"/>
            </a:avLst>
          </a:prstGeom>
          <a:solidFill>
            <a:srgbClr val="F5F8FC"/>
          </a:solidFill>
          <a:ln w="12700">
            <a:solidFill>
              <a:srgbClr val="D9E0EC"/>
            </a:solidFill>
            <a:prstDash val="solid"/>
          </a:ln>
        </p:spPr>
      </p:sp>
      <p:sp>
        <p:nvSpPr>
          <p:cNvPr id="58" name="Text 56"/>
          <p:cNvSpPr/>
          <p:nvPr/>
        </p:nvSpPr>
        <p:spPr>
          <a:xfrm>
            <a:off x="4034790" y="6739128"/>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9" name="Text 57"/>
          <p:cNvSpPr/>
          <p:nvPr/>
        </p:nvSpPr>
        <p:spPr>
          <a:xfrm>
            <a:off x="4400550" y="6583680"/>
            <a:ext cx="2800350" cy="603504"/>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결과 조각은 데이터로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XML 태그로 지시 차단</a:t>
            </a:r>
            <a:endParaRPr lang="en-US" sz="1400" dirty="0"/>
          </a:p>
        </p:txBody>
      </p:sp>
      <p:sp>
        <p:nvSpPr>
          <p:cNvPr id="60" name="Shape 58"/>
          <p:cNvSpPr/>
          <p:nvPr/>
        </p:nvSpPr>
        <p:spPr>
          <a:xfrm>
            <a:off x="7383780" y="6583680"/>
            <a:ext cx="3303270" cy="603504"/>
          </a:xfrm>
          <a:prstGeom prst="roundRect">
            <a:avLst>
              <a:gd name="adj" fmla="val 15152"/>
            </a:avLst>
          </a:prstGeom>
          <a:solidFill>
            <a:srgbClr val="F5F8FC"/>
          </a:solidFill>
          <a:ln w="12700">
            <a:solidFill>
              <a:srgbClr val="D9E0EC"/>
            </a:solidFill>
            <a:prstDash val="solid"/>
          </a:ln>
        </p:spPr>
      </p:sp>
      <p:sp>
        <p:nvSpPr>
          <p:cNvPr id="61" name="Text 59"/>
          <p:cNvSpPr/>
          <p:nvPr/>
        </p:nvSpPr>
        <p:spPr>
          <a:xfrm>
            <a:off x="7475220" y="6739128"/>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62" name="Text 60"/>
          <p:cNvSpPr/>
          <p:nvPr/>
        </p:nvSpPr>
        <p:spPr>
          <a:xfrm>
            <a:off x="7840980" y="6583680"/>
            <a:ext cx="2800350" cy="603504"/>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조각 수·길이 상한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토큰·비용·지연 억제</a:t>
            </a:r>
            <a:endParaRPr lang="en-US" sz="1400" dirty="0"/>
          </a:p>
        </p:txBody>
      </p:sp>
      <p:sp>
        <p:nvSpPr>
          <p:cNvPr id="63" name="Shape 61"/>
          <p:cNvSpPr/>
          <p:nvPr/>
        </p:nvSpPr>
        <p:spPr>
          <a:xfrm>
            <a:off x="10824210" y="6583680"/>
            <a:ext cx="3303270" cy="603504"/>
          </a:xfrm>
          <a:prstGeom prst="roundRect">
            <a:avLst>
              <a:gd name="adj" fmla="val 15152"/>
            </a:avLst>
          </a:prstGeom>
          <a:solidFill>
            <a:srgbClr val="F5F8FC"/>
          </a:solidFill>
          <a:ln w="12700">
            <a:solidFill>
              <a:srgbClr val="D9E0EC"/>
            </a:solidFill>
            <a:prstDash val="solid"/>
          </a:ln>
        </p:spPr>
      </p:sp>
      <p:sp>
        <p:nvSpPr>
          <p:cNvPr id="64" name="Text 62"/>
          <p:cNvSpPr/>
          <p:nvPr/>
        </p:nvSpPr>
        <p:spPr>
          <a:xfrm>
            <a:off x="10915650" y="6739128"/>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65" name="Text 63"/>
          <p:cNvSpPr/>
          <p:nvPr/>
        </p:nvSpPr>
        <p:spPr>
          <a:xfrm>
            <a:off x="11281410" y="6583680"/>
            <a:ext cx="2800350" cy="603504"/>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원 질문 보존</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상관없는 변환 금지</a:t>
            </a:r>
            <a:endParaRPr lang="en-US" sz="1400" dirty="0"/>
          </a:p>
        </p:txBody>
      </p:sp>
      <p:sp>
        <p:nvSpPr>
          <p:cNvPr id="66" name="Text 64"/>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교재 「10. RAG」 5.5 Router</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LangGraph Agentic RAG</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CRAG, Yan et al.(2024)</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IDF: Spärck Jones(1972)</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역할 분담·핵심어 계산: 설계 가이드(교재 외)</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불확실 판정 시 LLM이 기법 선택(범용)</dc:title>
  <dc:subject>PptxGenJS Presentation</dc:subject>
  <dc:creator>PptxGenJS</dc:creator>
  <cp:lastModifiedBy>PptxGenJS</cp:lastModifiedBy>
  <cp:revision>1</cp:revision>
  <dcterms:created xsi:type="dcterms:W3CDTF">2026-10-02T13:47:44Z</dcterms:created>
  <dcterms:modified xsi:type="dcterms:W3CDTF">2026-10-02T13:47:44Z</dcterms:modified>
</cp:coreProperties>
</file>