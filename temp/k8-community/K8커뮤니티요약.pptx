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K8은 선택 단계입니다. 지금까지의 그래프는 사실 하나를 찾는 질문에 강합니다. 할부로 산 물건을 며칠 안에 철회하는지 물으면 기한 엔티티 하나로 답할 수 있습니다. 그런데 고객군별로 불만을 주제별로 나눠 달라는 질문은 여러 상담을 한꺼번에 훑어 묶어야 답할 수 있습니다. 이런 질문을 거시 질문이라고 합니다.
K8은 거시 질문에 답할 재료를 미리 만들어 둡니다. 엔티티 그래프에서 서로 촘촘히 이어진 엔티티 묶음, 즉 커뮤니티를 Leiden 알고리즘으로 찾고, 묶음마다 LLM이 제목, 요약, 핵심 사실을 담은 보고서를 씁니다. 보고서는 임베딩해 두어 질문과 가까운 보고서를 찾을 수 있게 합니다. Microsoft GraphRAG의 커뮤니티 보고서와 같은 생각입니다.
묶는 대상은 엔티티와 그 사이 관계뿐입니다. 청크 노드를 넣으면 같은 청크에서 나온 엔티티끼리만 뭉쳐 문서 요약과 다를 바가 없어지기 때문입니다. 엔티티가 3개 이상인 묶음만 요약하고, 구성원이 그대로인 묶음은 지난 보고서를 다시 씁니다. 전체 재색인에서는 K6 다음, 증분 색인에서는 K7 다음에 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좋은 나누기의 기준은 모듈성입니다. 묶음 안의 연결이 우연히 이어질 때보다 얼마나 더 많은지를 잰 점수입니다. 묶음 안은 촘촘하고 묶음 사이는 성길수록 점수가 높습니다.
Leiden은 세 단계를 반복합니다. 첫째 옮기기입니다. 점 하나씩 이웃 묶음으로 옮겨 보고, 점수가 오르면 옮깁니다. 둘째 다듬기입니다. 묶음 안을 다시 살펴, 안에서 서로 끊어진 조각이 있으면 떼어 냅니다. 이 단계가 이전 방법인 Louvain에 없던 부분이라, Leiden은 묶음 안이 끊어진 채로 남지 않습니다. 셋째 합치기입니다. 묶음 하나를 점 하나로 보고 묶음 사이 연결을 굵은 선 하나로 합친 뒤, 첫째 단계부터 다시 합니다. 점수가 더 오르지 않으면 끝납니다.
Leiden은 옮겨 보는 순서에 따라 결과가 조금 달라질 수 있습니다. 그래서 씨앗을 고정하고 병렬 처리를 하나로 두어, 같은 그래프에서는 늘 같은 묶음이 나오게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코드는 community.py의 detect 함수입니다. GDS 알고리즘은 저장된 그래프를 바로 쓰지 않고, 필요한 노드와 관계만 메모리에 복사한 투영 그래프에서 돕니다. 첫째 줄 묶음이 투영입니다. 엔티티만 넣고, 엔티티 사이 관계만 잇습니다. 관계 방향은 묶음에 상관없으므로 무방향으로 투영합니다.
둘째 줄 묶음이 Leiden입니다. stream 방식은 그래프를 고치지 않고 엔티티마다 묶음 번호만 돌려줍니다. 씨앗을 고정하고 병렬 처리를 하나로 두어 결과가 매번 같게 했습니다. 마지막으로 투영 그래프는 메모리를 차지하므로 반드시 지웁니다.
v0 전체 재색인에서는 엔티티 1,663개, 관계 1,527개를 투영했고, 묶음 144개가 나왔습니다. 그중 엔티티가 3개 이상인 78개를 요약했습니다. GDS는 Community Edition으로도 무료로 쓸 수 있고, 병렬 처리는 4코어까지입니다.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보고서 입력은 묶음 안 엔티티의 설명 글과 그 사이 관계입니다. 엔티티마다 e1, e2 같은 번호를 붙여 넣고, LLM에게는 제목, 요약, 핵심 사실을 JSON으로 쓰게 합니다. 핵심 사실마다 근거 엔티티 번호를 적게 해서, 보고서가 그래프에 없는 사실을 지어내지 않았는지 되짚을 수 있게 했습니다. 번호는 저장할 때 엔티티 이름으로 바꾸고, 본문에 남은 번호는 지웁니다.
큰 묶음은 관계가 많은 엔티티부터 120개까지만 넣습니다. 묶음 지문은 보고서 판, 구성원, 묶음 안 관계로 만들고, 지문이 지난번과 같으면 LLM을 부르지 않고 지난 보고서를 다시 씁니다.
보고서는 제목, 요약, 핵심 사실을 이어 KURE-v2로 임베딩하고, Community 노드로 저장합니다. 묶음의 엔티티마다 IN_COMMUNITY 관계를 잇고, 보고서 벡터 인덱스를 따로 만듭니다. Community 노드는 엔티티가 아니라서 엔티티 라벨을 붙이지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거시 검색은 엔티티 하나가 아니라 보고서 여러 개에서 답을 모읍니다. 먼저 질문을 KURE-v2로 임베딩해 커뮤니티 보고서 벡터 인덱스에서 가까운 보고서 다섯 개를 찾습니다. 그다음 그 보고서들만 근거로 LLM이 답을 씁니다. 보고서에 없는 내용은 지어내지 말고 없다고 쓰게 합니다. Microsoft GraphRAG의 Global Search와 같은 생각이고, 원래는 보고서마다 부분 답을 낸 뒤 합치는 두 단계로 합니다.
평가셋의 거시 질문 세 개로 v0 전체 재색인 결과를 쟀습니다. 표의 세 숫자는 정답 요점이 보고서 전체 어딘가에 있는 수, 질문으로 찾은 상위 다섯 보고서에 있는 수, LLM 답에 들어간 수입니다. 보고서 전체에는 있는데 상위 다섯에 없으면 찾기 문제이고, 보고서 전체에도 없으면 묶음이나 요약 문제입니다.
v0 검색기에는 아직 이 거시 검색 단계가 없습니다. 여기 결과는 시험 스크립트로 잰 것입니다. 요점 판정은 낱말로 자동으로 했고, 같은 질문을 두 번 물었을 때 Q24 답은 4개 중 2개와 0개로 달랐습니다. 그래서 답 칸은 대략의 경향으로만 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2. 인덱싱: KG 구축 – K8. 커뮤니티 요약 (선택)</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서로 촘촘히 이어진 엔티티를 Leiden으로 묶고, 묶음마다 LLM이 요약 보고서를 써서 거시 질문에 답할 재료를 만듦</a:t>
            </a:r>
            <a:endParaRPr lang="en-US" sz="1800" dirty="0"/>
          </a:p>
        </p:txBody>
      </p:sp>
      <p:sp>
        <p:nvSpPr>
          <p:cNvPr id="5" name="Shape 2"/>
          <p:cNvSpPr/>
          <p:nvPr/>
        </p:nvSpPr>
        <p:spPr>
          <a:xfrm>
            <a:off x="509321" y="1737360"/>
            <a:ext cx="6675120" cy="1143000"/>
          </a:xfrm>
          <a:prstGeom prst="roundRect">
            <a:avLst>
              <a:gd name="adj" fmla="val 6400"/>
            </a:avLst>
          </a:prstGeom>
          <a:solidFill>
            <a:srgbClr val="FFFFFF"/>
          </a:solidFill>
          <a:ln w="12700">
            <a:solidFill>
              <a:srgbClr val="D9E0EC"/>
            </a:solidFill>
            <a:prstDash val="solid"/>
          </a:ln>
        </p:spPr>
      </p:sp>
      <p:sp>
        <p:nvSpPr>
          <p:cNvPr id="6" name="Text 3"/>
          <p:cNvSpPr txBox="1"/>
          <p:nvPr/>
        </p:nvSpPr>
        <p:spPr>
          <a:xfrm>
            <a:off x="509321" y="1737360"/>
            <a:ext cx="6675120" cy="1143000"/>
          </a:xfrm>
          <a:prstGeom prst="rect">
            <a:avLst/>
          </a:prstGeom>
          <a:noFill/>
          <a:ln/>
        </p:spPr>
        <p:txBody>
          <a:bodyPr wrap="square" lIns="127000" tIns="50800" rIns="127000" bIns="50800" rtlCol="0" anchor="ctr"/>
          <a:lstStyle/>
          <a:p>
            <a:pPr algn="l"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사실 질문: 엔티티 하나로 답함</a:t>
            </a:r>
            <a:endParaRPr lang="en-US" sz="1500" dirty="0"/>
          </a:p>
          <a:p>
            <a:pPr algn="l"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「할부로 산 물건은 며칠 안에 철회하나요?」</a:t>
            </a:r>
            <a:endParaRPr lang="en-US" sz="1500" dirty="0"/>
          </a:p>
          <a:p>
            <a:pPr algn="l"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 기한 엔티티 「7일 이내 철회」</a:t>
            </a:r>
            <a:endParaRPr lang="en-US" sz="1500" dirty="0"/>
          </a:p>
        </p:txBody>
      </p:sp>
      <p:sp>
        <p:nvSpPr>
          <p:cNvPr id="7" name="Shape 4"/>
          <p:cNvSpPr/>
          <p:nvPr/>
        </p:nvSpPr>
        <p:spPr>
          <a:xfrm>
            <a:off x="7458761" y="1737360"/>
            <a:ext cx="6675120" cy="1143000"/>
          </a:xfrm>
          <a:prstGeom prst="roundRect">
            <a:avLst>
              <a:gd name="adj" fmla="val 6400"/>
            </a:avLst>
          </a:prstGeom>
          <a:solidFill>
            <a:srgbClr val="EEF3FA"/>
          </a:solidFill>
          <a:ln w="12700">
            <a:solidFill>
              <a:srgbClr val="2E74C6"/>
            </a:solidFill>
            <a:prstDash val="solid"/>
          </a:ln>
        </p:spPr>
      </p:sp>
      <p:sp>
        <p:nvSpPr>
          <p:cNvPr id="8" name="Text 5"/>
          <p:cNvSpPr txBox="1"/>
          <p:nvPr/>
        </p:nvSpPr>
        <p:spPr>
          <a:xfrm>
            <a:off x="7458761" y="1737360"/>
            <a:ext cx="6675120" cy="1143000"/>
          </a:xfrm>
          <a:prstGeom prst="rect">
            <a:avLst/>
          </a:prstGeom>
          <a:noFill/>
          <a:ln/>
        </p:spPr>
        <p:txBody>
          <a:bodyPr wrap="square" lIns="127000" tIns="50800" rIns="127000" bIns="50800" rtlCol="0" anchor="ctr"/>
          <a:lstStyle/>
          <a:p>
            <a:pPr algn="l" indent="0" marL="0">
              <a:spcAft>
                <a:spcPts val="100"/>
              </a:spcAft>
              <a:buNone/>
            </a:pPr>
            <a:r>
              <a:rPr lang="en-US" sz="1500" b="1" dirty="0">
                <a:solidFill>
                  <a:srgbClr val="1E2A5C"/>
                </a:solidFill>
                <a:latin typeface="Pretendard" pitchFamily="34" charset="0"/>
                <a:ea typeface="Pretendard" pitchFamily="34" charset="-122"/>
                <a:cs typeface="Pretendard" pitchFamily="34" charset="-120"/>
              </a:rPr>
              <a:t>거시 질문: 여러 문서를 훑어 묶어야 답함</a:t>
            </a:r>
            <a:endParaRPr lang="en-US" sz="1500" dirty="0"/>
          </a:p>
          <a:p>
            <a:pPr algn="l" indent="0" marL="0">
              <a:spcAft>
                <a:spcPts val="100"/>
              </a:spcAft>
              <a:buNone/>
            </a:pPr>
            <a:r>
              <a:rPr lang="en-US" sz="1400" dirty="0">
                <a:solidFill>
                  <a:srgbClr val="1E2A5C"/>
                </a:solidFill>
                <a:latin typeface="Pretendard" pitchFamily="34" charset="0"/>
                <a:ea typeface="Pretendard" pitchFamily="34" charset="-122"/>
                <a:cs typeface="Pretendard" pitchFamily="34" charset="-120"/>
              </a:rPr>
              <a:t>「고객군별로 고객 불만을 주제별로 나눠 주세요」</a:t>
            </a:r>
            <a:endParaRPr lang="en-US" sz="1500" dirty="0"/>
          </a:p>
          <a:p>
            <a:pPr algn="l" indent="0" marL="0">
              <a:spcAft>
                <a:spcPts val="100"/>
              </a:spcAft>
              <a:buNone/>
            </a:pPr>
            <a:r>
              <a:rPr lang="en-US" sz="1400" dirty="0">
                <a:solidFill>
                  <a:srgbClr val="1E2A5C"/>
                </a:solidFill>
                <a:latin typeface="Pretendard" pitchFamily="34" charset="0"/>
                <a:ea typeface="Pretendard" pitchFamily="34" charset="-122"/>
                <a:cs typeface="Pretendard" pitchFamily="34" charset="-120"/>
              </a:rPr>
              <a:t>→ 미리 만들어 둔 커뮤니티 보고서로 답함 (K8)</a:t>
            </a:r>
            <a:endParaRPr lang="en-US" sz="1500" dirty="0"/>
          </a:p>
        </p:txBody>
      </p:sp>
      <p:sp>
        <p:nvSpPr>
          <p:cNvPr id="9" name="Shape 6"/>
          <p:cNvSpPr/>
          <p:nvPr/>
        </p:nvSpPr>
        <p:spPr>
          <a:xfrm>
            <a:off x="509321" y="3154680"/>
            <a:ext cx="2563978" cy="384048"/>
          </a:xfrm>
          <a:prstGeom prst="roundRect">
            <a:avLst>
              <a:gd name="adj" fmla="val 11905"/>
            </a:avLst>
          </a:prstGeom>
          <a:solidFill>
            <a:srgbClr val="1E2A5C"/>
          </a:solidFill>
          <a:ln/>
        </p:spPr>
      </p:sp>
      <p:sp>
        <p:nvSpPr>
          <p:cNvPr id="10" name="Text 7"/>
          <p:cNvSpPr txBox="1"/>
          <p:nvPr/>
        </p:nvSpPr>
        <p:spPr>
          <a:xfrm>
            <a:off x="509321" y="3154680"/>
            <a:ext cx="2563978"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① 그래프 읽기</a:t>
            </a:r>
            <a:endParaRPr lang="en-US" sz="1500" dirty="0"/>
          </a:p>
        </p:txBody>
      </p:sp>
      <p:sp>
        <p:nvSpPr>
          <p:cNvPr id="11" name="Shape 8"/>
          <p:cNvSpPr/>
          <p:nvPr/>
        </p:nvSpPr>
        <p:spPr>
          <a:xfrm>
            <a:off x="509321" y="3593592"/>
            <a:ext cx="2563978" cy="914400"/>
          </a:xfrm>
          <a:prstGeom prst="roundRect">
            <a:avLst>
              <a:gd name="adj" fmla="val 8000"/>
            </a:avLst>
          </a:prstGeom>
          <a:solidFill>
            <a:srgbClr val="FFFFFF"/>
          </a:solidFill>
          <a:ln w="12700">
            <a:solidFill>
              <a:srgbClr val="D9E0EC"/>
            </a:solidFill>
            <a:prstDash val="solid"/>
          </a:ln>
        </p:spPr>
      </p:sp>
      <p:sp>
        <p:nvSpPr>
          <p:cNvPr id="12" name="Text 9"/>
          <p:cNvSpPr txBox="1"/>
          <p:nvPr/>
        </p:nvSpPr>
        <p:spPr>
          <a:xfrm>
            <a:off x="509321" y="3593592"/>
            <a:ext cx="2563978" cy="914400"/>
          </a:xfrm>
          <a:prstGeom prst="rect">
            <a:avLst/>
          </a:prstGeom>
          <a:noFill/>
          <a:ln/>
        </p:spPr>
        <p:txBody>
          <a:bodyPr wrap="square" lIns="635" tIns="635" rIns="635" bIns="635" rtlCol="0" anchor="ctr"/>
          <a:lstStyle/>
          <a:p>
            <a:pPr algn="ctr" indent="0" marL="0">
              <a:spcAft>
                <a:spcPts val="100"/>
              </a:spcAft>
              <a:buNone/>
            </a:pPr>
            <a:r>
              <a:rPr lang="en-US" sz="1400" b="1" dirty="0">
                <a:solidFill>
                  <a:srgbClr val="2B3242"/>
                </a:solidFill>
                <a:latin typeface="Pretendard" pitchFamily="34" charset="0"/>
                <a:ea typeface="Pretendard" pitchFamily="34" charset="-122"/>
                <a:cs typeface="Pretendard" pitchFamily="34" charset="-120"/>
              </a:rPr>
              <a:t>엔티티와 관계만</a:t>
            </a:r>
            <a:endParaRPr lang="en-US" sz="1400" dirty="0"/>
          </a:p>
          <a:p>
            <a:pPr algn="ctr"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청크 노드는 뺌</a:t>
            </a:r>
            <a:endParaRPr lang="en-US" sz="1400" dirty="0"/>
          </a:p>
        </p:txBody>
      </p:sp>
      <p:sp>
        <p:nvSpPr>
          <p:cNvPr id="13" name="Shape 10"/>
          <p:cNvSpPr/>
          <p:nvPr/>
        </p:nvSpPr>
        <p:spPr>
          <a:xfrm>
            <a:off x="3100730" y="4050792"/>
            <a:ext cx="146304" cy="0"/>
          </a:xfrm>
          <a:prstGeom prst="line">
            <a:avLst/>
          </a:prstGeom>
          <a:noFill/>
          <a:ln w="28575">
            <a:solidFill>
              <a:srgbClr val="1E2A5C"/>
            </a:solidFill>
            <a:prstDash val="solid"/>
            <a:tailEnd type="triangle"/>
          </a:ln>
        </p:spPr>
      </p:sp>
      <p:sp>
        <p:nvSpPr>
          <p:cNvPr id="14" name="Shape 11"/>
          <p:cNvSpPr/>
          <p:nvPr/>
        </p:nvSpPr>
        <p:spPr>
          <a:xfrm>
            <a:off x="3274466" y="3154680"/>
            <a:ext cx="2563978" cy="384048"/>
          </a:xfrm>
          <a:prstGeom prst="roundRect">
            <a:avLst>
              <a:gd name="adj" fmla="val 11905"/>
            </a:avLst>
          </a:prstGeom>
          <a:solidFill>
            <a:srgbClr val="2E74C6"/>
          </a:solidFill>
          <a:ln/>
        </p:spPr>
      </p:sp>
      <p:sp>
        <p:nvSpPr>
          <p:cNvPr id="15" name="Text 12"/>
          <p:cNvSpPr txBox="1"/>
          <p:nvPr/>
        </p:nvSpPr>
        <p:spPr>
          <a:xfrm>
            <a:off x="3274466" y="3154680"/>
            <a:ext cx="2563978"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② Leiden 묶기</a:t>
            </a:r>
            <a:endParaRPr lang="en-US" sz="1500" dirty="0"/>
          </a:p>
        </p:txBody>
      </p:sp>
      <p:sp>
        <p:nvSpPr>
          <p:cNvPr id="16" name="Shape 13"/>
          <p:cNvSpPr/>
          <p:nvPr/>
        </p:nvSpPr>
        <p:spPr>
          <a:xfrm>
            <a:off x="3274466" y="3593592"/>
            <a:ext cx="2563978" cy="914400"/>
          </a:xfrm>
          <a:prstGeom prst="roundRect">
            <a:avLst>
              <a:gd name="adj" fmla="val 8000"/>
            </a:avLst>
          </a:prstGeom>
          <a:solidFill>
            <a:srgbClr val="EEF3FA"/>
          </a:solidFill>
          <a:ln w="12700">
            <a:solidFill>
              <a:srgbClr val="2E74C6"/>
            </a:solidFill>
            <a:prstDash val="solid"/>
          </a:ln>
        </p:spPr>
      </p:sp>
      <p:sp>
        <p:nvSpPr>
          <p:cNvPr id="17" name="Text 14"/>
          <p:cNvSpPr txBox="1"/>
          <p:nvPr/>
        </p:nvSpPr>
        <p:spPr>
          <a:xfrm>
            <a:off x="3274466" y="3593592"/>
            <a:ext cx="2563978" cy="914400"/>
          </a:xfrm>
          <a:prstGeom prst="rect">
            <a:avLst/>
          </a:prstGeom>
          <a:noFill/>
          <a:ln/>
        </p:spPr>
        <p:txBody>
          <a:bodyPr wrap="square" lIns="635" tIns="635" rIns="635" bIns="635" rtlCol="0" anchor="ctr"/>
          <a:lstStyle/>
          <a:p>
            <a:pPr algn="ctr" indent="0" marL="0">
              <a:spcAft>
                <a:spcPts val="100"/>
              </a:spcAft>
              <a:buNone/>
            </a:pPr>
            <a:r>
              <a:rPr lang="en-US" sz="1400" b="1" dirty="0">
                <a:solidFill>
                  <a:srgbClr val="1E2A5C"/>
                </a:solidFill>
                <a:latin typeface="Pretendard" pitchFamily="34" charset="0"/>
                <a:ea typeface="Pretendard" pitchFamily="34" charset="-122"/>
                <a:cs typeface="Pretendard" pitchFamily="34" charset="-120"/>
              </a:rPr>
              <a:t>GDS가 촘촘한</a:t>
            </a:r>
            <a:endParaRPr lang="en-US" sz="1400" dirty="0"/>
          </a:p>
          <a:p>
            <a:pPr algn="ctr" indent="0" marL="0">
              <a:spcAft>
                <a:spcPts val="100"/>
              </a:spcAft>
              <a:buNone/>
            </a:pPr>
            <a:r>
              <a:rPr lang="en-US" sz="1400" dirty="0">
                <a:solidFill>
                  <a:srgbClr val="1E2A5C"/>
                </a:solidFill>
                <a:latin typeface="Pretendard" pitchFamily="34" charset="0"/>
                <a:ea typeface="Pretendard" pitchFamily="34" charset="-122"/>
                <a:cs typeface="Pretendard" pitchFamily="34" charset="-120"/>
              </a:rPr>
              <a:t>묶음을 찾음</a:t>
            </a:r>
            <a:endParaRPr lang="en-US" sz="1400" dirty="0"/>
          </a:p>
        </p:txBody>
      </p:sp>
      <p:sp>
        <p:nvSpPr>
          <p:cNvPr id="18" name="Shape 15"/>
          <p:cNvSpPr/>
          <p:nvPr/>
        </p:nvSpPr>
        <p:spPr>
          <a:xfrm>
            <a:off x="5865876" y="4050792"/>
            <a:ext cx="146304" cy="0"/>
          </a:xfrm>
          <a:prstGeom prst="line">
            <a:avLst/>
          </a:prstGeom>
          <a:noFill/>
          <a:ln w="28575">
            <a:solidFill>
              <a:srgbClr val="1E2A5C"/>
            </a:solidFill>
            <a:prstDash val="solid"/>
            <a:tailEnd type="triangle"/>
          </a:ln>
        </p:spPr>
      </p:sp>
      <p:sp>
        <p:nvSpPr>
          <p:cNvPr id="19" name="Shape 16"/>
          <p:cNvSpPr/>
          <p:nvPr/>
        </p:nvSpPr>
        <p:spPr>
          <a:xfrm>
            <a:off x="6039612" y="3154680"/>
            <a:ext cx="2563978" cy="384048"/>
          </a:xfrm>
          <a:prstGeom prst="roundRect">
            <a:avLst>
              <a:gd name="adj" fmla="val 11905"/>
            </a:avLst>
          </a:prstGeom>
          <a:solidFill>
            <a:srgbClr val="2E74C6"/>
          </a:solidFill>
          <a:ln/>
        </p:spPr>
      </p:sp>
      <p:sp>
        <p:nvSpPr>
          <p:cNvPr id="20" name="Text 17"/>
          <p:cNvSpPr txBox="1"/>
          <p:nvPr/>
        </p:nvSpPr>
        <p:spPr>
          <a:xfrm>
            <a:off x="6039612" y="3154680"/>
            <a:ext cx="2563978"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③ 보고서 쓰기</a:t>
            </a:r>
            <a:endParaRPr lang="en-US" sz="1500" dirty="0"/>
          </a:p>
        </p:txBody>
      </p:sp>
      <p:sp>
        <p:nvSpPr>
          <p:cNvPr id="21" name="Shape 18"/>
          <p:cNvSpPr/>
          <p:nvPr/>
        </p:nvSpPr>
        <p:spPr>
          <a:xfrm>
            <a:off x="6039612" y="3593592"/>
            <a:ext cx="2563978" cy="914400"/>
          </a:xfrm>
          <a:prstGeom prst="roundRect">
            <a:avLst>
              <a:gd name="adj" fmla="val 8000"/>
            </a:avLst>
          </a:prstGeom>
          <a:solidFill>
            <a:srgbClr val="EEF3FA"/>
          </a:solidFill>
          <a:ln w="12700">
            <a:solidFill>
              <a:srgbClr val="2E74C6"/>
            </a:solidFill>
            <a:prstDash val="solid"/>
          </a:ln>
        </p:spPr>
      </p:sp>
      <p:sp>
        <p:nvSpPr>
          <p:cNvPr id="22" name="Text 19"/>
          <p:cNvSpPr txBox="1"/>
          <p:nvPr/>
        </p:nvSpPr>
        <p:spPr>
          <a:xfrm>
            <a:off x="6039612" y="3593592"/>
            <a:ext cx="2563978" cy="914400"/>
          </a:xfrm>
          <a:prstGeom prst="rect">
            <a:avLst/>
          </a:prstGeom>
          <a:noFill/>
          <a:ln/>
        </p:spPr>
        <p:txBody>
          <a:bodyPr wrap="square" lIns="635" tIns="635" rIns="635" bIns="635" rtlCol="0" anchor="ctr"/>
          <a:lstStyle/>
          <a:p>
            <a:pPr algn="ctr" indent="0" marL="0">
              <a:spcAft>
                <a:spcPts val="100"/>
              </a:spcAft>
              <a:buNone/>
            </a:pPr>
            <a:r>
              <a:rPr lang="en-US" sz="1400" b="1" dirty="0">
                <a:solidFill>
                  <a:srgbClr val="1E2A5C"/>
                </a:solidFill>
                <a:latin typeface="Pretendard" pitchFamily="34" charset="0"/>
                <a:ea typeface="Pretendard" pitchFamily="34" charset="-122"/>
                <a:cs typeface="Pretendard" pitchFamily="34" charset="-120"/>
              </a:rPr>
              <a:t>LLM이 제목, 요약,</a:t>
            </a:r>
            <a:endParaRPr lang="en-US" sz="1400" dirty="0"/>
          </a:p>
          <a:p>
            <a:pPr algn="ctr" indent="0" marL="0">
              <a:spcAft>
                <a:spcPts val="100"/>
              </a:spcAft>
              <a:buNone/>
            </a:pPr>
            <a:r>
              <a:rPr lang="en-US" sz="1400" dirty="0">
                <a:solidFill>
                  <a:srgbClr val="1E2A5C"/>
                </a:solidFill>
                <a:latin typeface="Pretendard" pitchFamily="34" charset="0"/>
                <a:ea typeface="Pretendard" pitchFamily="34" charset="-122"/>
                <a:cs typeface="Pretendard" pitchFamily="34" charset="-120"/>
              </a:rPr>
              <a:t>핵심 사실을 씀</a:t>
            </a:r>
            <a:endParaRPr lang="en-US" sz="1400" dirty="0"/>
          </a:p>
        </p:txBody>
      </p:sp>
      <p:sp>
        <p:nvSpPr>
          <p:cNvPr id="23" name="Shape 20"/>
          <p:cNvSpPr/>
          <p:nvPr/>
        </p:nvSpPr>
        <p:spPr>
          <a:xfrm>
            <a:off x="8631022" y="4050792"/>
            <a:ext cx="146304" cy="0"/>
          </a:xfrm>
          <a:prstGeom prst="line">
            <a:avLst/>
          </a:prstGeom>
          <a:noFill/>
          <a:ln w="28575">
            <a:solidFill>
              <a:srgbClr val="1E2A5C"/>
            </a:solidFill>
            <a:prstDash val="solid"/>
            <a:tailEnd type="triangle"/>
          </a:ln>
        </p:spPr>
      </p:sp>
      <p:sp>
        <p:nvSpPr>
          <p:cNvPr id="24" name="Shape 21"/>
          <p:cNvSpPr/>
          <p:nvPr/>
        </p:nvSpPr>
        <p:spPr>
          <a:xfrm>
            <a:off x="8804758" y="3154680"/>
            <a:ext cx="2563978" cy="384048"/>
          </a:xfrm>
          <a:prstGeom prst="roundRect">
            <a:avLst>
              <a:gd name="adj" fmla="val 11905"/>
            </a:avLst>
          </a:prstGeom>
          <a:solidFill>
            <a:srgbClr val="1E2A5C"/>
          </a:solidFill>
          <a:ln/>
        </p:spPr>
      </p:sp>
      <p:sp>
        <p:nvSpPr>
          <p:cNvPr id="25" name="Text 22"/>
          <p:cNvSpPr txBox="1"/>
          <p:nvPr/>
        </p:nvSpPr>
        <p:spPr>
          <a:xfrm>
            <a:off x="8804758" y="3154680"/>
            <a:ext cx="2563978"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④ 임베딩</a:t>
            </a:r>
            <a:endParaRPr lang="en-US" sz="1500" dirty="0"/>
          </a:p>
        </p:txBody>
      </p:sp>
      <p:sp>
        <p:nvSpPr>
          <p:cNvPr id="26" name="Shape 23"/>
          <p:cNvSpPr/>
          <p:nvPr/>
        </p:nvSpPr>
        <p:spPr>
          <a:xfrm>
            <a:off x="8804758" y="3593592"/>
            <a:ext cx="2563978" cy="914400"/>
          </a:xfrm>
          <a:prstGeom prst="roundRect">
            <a:avLst>
              <a:gd name="adj" fmla="val 8000"/>
            </a:avLst>
          </a:prstGeom>
          <a:solidFill>
            <a:srgbClr val="FFFFFF"/>
          </a:solidFill>
          <a:ln w="12700">
            <a:solidFill>
              <a:srgbClr val="D9E0EC"/>
            </a:solidFill>
            <a:prstDash val="solid"/>
          </a:ln>
        </p:spPr>
      </p:sp>
      <p:sp>
        <p:nvSpPr>
          <p:cNvPr id="27" name="Text 24"/>
          <p:cNvSpPr txBox="1"/>
          <p:nvPr/>
        </p:nvSpPr>
        <p:spPr>
          <a:xfrm>
            <a:off x="8804758" y="3593592"/>
            <a:ext cx="2563978" cy="914400"/>
          </a:xfrm>
          <a:prstGeom prst="rect">
            <a:avLst/>
          </a:prstGeom>
          <a:noFill/>
          <a:ln/>
        </p:spPr>
        <p:txBody>
          <a:bodyPr wrap="square" lIns="635" tIns="635" rIns="635" bIns="635" rtlCol="0" anchor="ctr"/>
          <a:lstStyle/>
          <a:p>
            <a:pPr algn="ctr" indent="0" marL="0">
              <a:spcAft>
                <a:spcPts val="100"/>
              </a:spcAft>
              <a:buNone/>
            </a:pPr>
            <a:r>
              <a:rPr lang="en-US" sz="1400" b="1" dirty="0">
                <a:solidFill>
                  <a:srgbClr val="2B3242"/>
                </a:solidFill>
                <a:latin typeface="Pretendard" pitchFamily="34" charset="0"/>
                <a:ea typeface="Pretendard" pitchFamily="34" charset="-122"/>
                <a:cs typeface="Pretendard" pitchFamily="34" charset="-120"/>
              </a:rPr>
              <a:t>보고서를 KURE-v2로</a:t>
            </a:r>
            <a:endParaRPr lang="en-US" sz="1400" dirty="0"/>
          </a:p>
          <a:p>
            <a:pPr algn="ctr"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벡터로 바꿈</a:t>
            </a:r>
            <a:endParaRPr lang="en-US" sz="1400" dirty="0"/>
          </a:p>
        </p:txBody>
      </p:sp>
      <p:sp>
        <p:nvSpPr>
          <p:cNvPr id="28" name="Shape 25"/>
          <p:cNvSpPr/>
          <p:nvPr/>
        </p:nvSpPr>
        <p:spPr>
          <a:xfrm>
            <a:off x="11396167" y="4050792"/>
            <a:ext cx="146304" cy="0"/>
          </a:xfrm>
          <a:prstGeom prst="line">
            <a:avLst/>
          </a:prstGeom>
          <a:noFill/>
          <a:ln w="28575">
            <a:solidFill>
              <a:srgbClr val="1E2A5C"/>
            </a:solidFill>
            <a:prstDash val="solid"/>
            <a:tailEnd type="triangle"/>
          </a:ln>
        </p:spPr>
      </p:sp>
      <p:sp>
        <p:nvSpPr>
          <p:cNvPr id="29" name="Shape 26"/>
          <p:cNvSpPr/>
          <p:nvPr/>
        </p:nvSpPr>
        <p:spPr>
          <a:xfrm>
            <a:off x="11569903" y="3154680"/>
            <a:ext cx="2563978" cy="384048"/>
          </a:xfrm>
          <a:prstGeom prst="roundRect">
            <a:avLst>
              <a:gd name="adj" fmla="val 11905"/>
            </a:avLst>
          </a:prstGeom>
          <a:solidFill>
            <a:srgbClr val="1E2A5C"/>
          </a:solidFill>
          <a:ln/>
        </p:spPr>
      </p:sp>
      <p:sp>
        <p:nvSpPr>
          <p:cNvPr id="30" name="Text 27"/>
          <p:cNvSpPr txBox="1"/>
          <p:nvPr/>
        </p:nvSpPr>
        <p:spPr>
          <a:xfrm>
            <a:off x="11569903" y="3154680"/>
            <a:ext cx="2563978"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⑤ 적재</a:t>
            </a:r>
            <a:endParaRPr lang="en-US" sz="1500" dirty="0"/>
          </a:p>
        </p:txBody>
      </p:sp>
      <p:sp>
        <p:nvSpPr>
          <p:cNvPr id="31" name="Shape 28"/>
          <p:cNvSpPr/>
          <p:nvPr/>
        </p:nvSpPr>
        <p:spPr>
          <a:xfrm>
            <a:off x="11569903" y="3593592"/>
            <a:ext cx="2563978" cy="914400"/>
          </a:xfrm>
          <a:prstGeom prst="roundRect">
            <a:avLst>
              <a:gd name="adj" fmla="val 8000"/>
            </a:avLst>
          </a:prstGeom>
          <a:solidFill>
            <a:srgbClr val="FFFFFF"/>
          </a:solidFill>
          <a:ln w="12700">
            <a:solidFill>
              <a:srgbClr val="D9E0EC"/>
            </a:solidFill>
            <a:prstDash val="solid"/>
          </a:ln>
        </p:spPr>
      </p:sp>
      <p:sp>
        <p:nvSpPr>
          <p:cNvPr id="32" name="Text 29"/>
          <p:cNvSpPr txBox="1"/>
          <p:nvPr/>
        </p:nvSpPr>
        <p:spPr>
          <a:xfrm>
            <a:off x="11569903" y="3593592"/>
            <a:ext cx="2563978" cy="914400"/>
          </a:xfrm>
          <a:prstGeom prst="rect">
            <a:avLst/>
          </a:prstGeom>
          <a:noFill/>
          <a:ln/>
        </p:spPr>
        <p:txBody>
          <a:bodyPr wrap="square" lIns="635" tIns="635" rIns="635" bIns="635" rtlCol="0" anchor="ctr"/>
          <a:lstStyle/>
          <a:p>
            <a:pPr algn="ctr" indent="0" marL="0">
              <a:spcAft>
                <a:spcPts val="100"/>
              </a:spcAft>
              <a:buNone/>
            </a:pPr>
            <a:r>
              <a:rPr lang="en-US" sz="1400" b="1" dirty="0">
                <a:solidFill>
                  <a:srgbClr val="2B3242"/>
                </a:solidFill>
                <a:latin typeface="Pretendard" pitchFamily="34" charset="0"/>
                <a:ea typeface="Pretendard" pitchFamily="34" charset="-122"/>
                <a:cs typeface="Pretendard" pitchFamily="34" charset="-120"/>
              </a:rPr>
              <a:t>Community 노드와</a:t>
            </a:r>
            <a:endParaRPr lang="en-US" sz="1400" dirty="0"/>
          </a:p>
          <a:p>
            <a:pPr algn="ctr"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IN_COMMUNITY 관계</a:t>
            </a:r>
            <a:endParaRPr lang="en-US" sz="1400" dirty="0"/>
          </a:p>
        </p:txBody>
      </p:sp>
      <p:sp>
        <p:nvSpPr>
          <p:cNvPr id="33" name="Shape 30"/>
          <p:cNvSpPr/>
          <p:nvPr/>
        </p:nvSpPr>
        <p:spPr>
          <a:xfrm>
            <a:off x="509321" y="4782312"/>
            <a:ext cx="3268980" cy="1097280"/>
          </a:xfrm>
          <a:prstGeom prst="roundRect">
            <a:avLst>
              <a:gd name="adj" fmla="val 6667"/>
            </a:avLst>
          </a:prstGeom>
          <a:solidFill>
            <a:srgbClr val="F5F8FC"/>
          </a:solidFill>
          <a:ln w="12700">
            <a:solidFill>
              <a:srgbClr val="D9E0EC"/>
            </a:solidFill>
            <a:prstDash val="solid"/>
          </a:ln>
        </p:spPr>
      </p:sp>
      <p:sp>
        <p:nvSpPr>
          <p:cNvPr id="34" name="Shape 31"/>
          <p:cNvSpPr/>
          <p:nvPr/>
        </p:nvSpPr>
        <p:spPr>
          <a:xfrm>
            <a:off x="619049" y="4892040"/>
            <a:ext cx="310896" cy="310896"/>
          </a:xfrm>
          <a:prstGeom prst="roundRect">
            <a:avLst>
              <a:gd name="adj" fmla="val 14706"/>
            </a:avLst>
          </a:prstGeom>
          <a:solidFill>
            <a:srgbClr val="2E74C6"/>
          </a:solidFill>
          <a:ln/>
        </p:spPr>
      </p:sp>
      <p:sp>
        <p:nvSpPr>
          <p:cNvPr id="35" name="Text 32"/>
          <p:cNvSpPr txBox="1"/>
          <p:nvPr/>
        </p:nvSpPr>
        <p:spPr>
          <a:xfrm>
            <a:off x="619049" y="4892040"/>
            <a:ext cx="310896" cy="310896"/>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36" name="Text 33"/>
          <p:cNvSpPr txBox="1"/>
          <p:nvPr/>
        </p:nvSpPr>
        <p:spPr>
          <a:xfrm>
            <a:off x="1012241" y="4855464"/>
            <a:ext cx="2674620" cy="384048"/>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엔티티만 묶음</a:t>
            </a:r>
            <a:endParaRPr lang="en-US" sz="1500" dirty="0"/>
          </a:p>
        </p:txBody>
      </p:sp>
      <p:sp>
        <p:nvSpPr>
          <p:cNvPr id="37" name="Text 34"/>
          <p:cNvSpPr txBox="1"/>
          <p:nvPr/>
        </p:nvSpPr>
        <p:spPr>
          <a:xfrm>
            <a:off x="646481" y="5285232"/>
            <a:ext cx="2994660" cy="548640"/>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청크 노드를 넣으면 청크 단위로만 뭉침</a:t>
            </a:r>
            <a:endParaRPr lang="en-US" sz="1400" dirty="0"/>
          </a:p>
        </p:txBody>
      </p:sp>
      <p:sp>
        <p:nvSpPr>
          <p:cNvPr id="38" name="Shape 35"/>
          <p:cNvSpPr/>
          <p:nvPr/>
        </p:nvSpPr>
        <p:spPr>
          <a:xfrm>
            <a:off x="3961181" y="4782312"/>
            <a:ext cx="3268980" cy="1097280"/>
          </a:xfrm>
          <a:prstGeom prst="roundRect">
            <a:avLst>
              <a:gd name="adj" fmla="val 6667"/>
            </a:avLst>
          </a:prstGeom>
          <a:solidFill>
            <a:srgbClr val="F5F8FC"/>
          </a:solidFill>
          <a:ln w="12700">
            <a:solidFill>
              <a:srgbClr val="D9E0EC"/>
            </a:solidFill>
            <a:prstDash val="solid"/>
          </a:ln>
        </p:spPr>
      </p:sp>
      <p:sp>
        <p:nvSpPr>
          <p:cNvPr id="39" name="Shape 36"/>
          <p:cNvSpPr/>
          <p:nvPr/>
        </p:nvSpPr>
        <p:spPr>
          <a:xfrm>
            <a:off x="4070909" y="4892040"/>
            <a:ext cx="310896" cy="310896"/>
          </a:xfrm>
          <a:prstGeom prst="roundRect">
            <a:avLst>
              <a:gd name="adj" fmla="val 14706"/>
            </a:avLst>
          </a:prstGeom>
          <a:solidFill>
            <a:srgbClr val="2E74C6"/>
          </a:solidFill>
          <a:ln/>
        </p:spPr>
      </p:sp>
      <p:sp>
        <p:nvSpPr>
          <p:cNvPr id="40" name="Text 37"/>
          <p:cNvSpPr txBox="1"/>
          <p:nvPr/>
        </p:nvSpPr>
        <p:spPr>
          <a:xfrm>
            <a:off x="4070909" y="4892040"/>
            <a:ext cx="310896" cy="310896"/>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41" name="Text 38"/>
          <p:cNvSpPr txBox="1"/>
          <p:nvPr/>
        </p:nvSpPr>
        <p:spPr>
          <a:xfrm>
            <a:off x="4464101" y="4855464"/>
            <a:ext cx="2674620" cy="384048"/>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3개 이상만 요약</a:t>
            </a:r>
            <a:endParaRPr lang="en-US" sz="1500" dirty="0"/>
          </a:p>
        </p:txBody>
      </p:sp>
      <p:sp>
        <p:nvSpPr>
          <p:cNvPr id="42" name="Text 39"/>
          <p:cNvSpPr txBox="1"/>
          <p:nvPr/>
        </p:nvSpPr>
        <p:spPr>
          <a:xfrm>
            <a:off x="4098341" y="5285232"/>
            <a:ext cx="2994660" cy="548640"/>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엔티티 1 ~ 2개 묶음은 보고서를 쓰지 않음</a:t>
            </a:r>
            <a:endParaRPr lang="en-US" sz="1400" dirty="0"/>
          </a:p>
        </p:txBody>
      </p:sp>
      <p:sp>
        <p:nvSpPr>
          <p:cNvPr id="43" name="Shape 40"/>
          <p:cNvSpPr/>
          <p:nvPr/>
        </p:nvSpPr>
        <p:spPr>
          <a:xfrm>
            <a:off x="7413041" y="4782312"/>
            <a:ext cx="3268980" cy="1097280"/>
          </a:xfrm>
          <a:prstGeom prst="roundRect">
            <a:avLst>
              <a:gd name="adj" fmla="val 6667"/>
            </a:avLst>
          </a:prstGeom>
          <a:solidFill>
            <a:srgbClr val="F5F8FC"/>
          </a:solidFill>
          <a:ln w="12700">
            <a:solidFill>
              <a:srgbClr val="D9E0EC"/>
            </a:solidFill>
            <a:prstDash val="solid"/>
          </a:ln>
        </p:spPr>
      </p:sp>
      <p:sp>
        <p:nvSpPr>
          <p:cNvPr id="44" name="Shape 41"/>
          <p:cNvSpPr/>
          <p:nvPr/>
        </p:nvSpPr>
        <p:spPr>
          <a:xfrm>
            <a:off x="7522769" y="4892040"/>
            <a:ext cx="310896" cy="310896"/>
          </a:xfrm>
          <a:prstGeom prst="roundRect">
            <a:avLst>
              <a:gd name="adj" fmla="val 14706"/>
            </a:avLst>
          </a:prstGeom>
          <a:solidFill>
            <a:srgbClr val="2E74C6"/>
          </a:solidFill>
          <a:ln/>
        </p:spPr>
      </p:sp>
      <p:sp>
        <p:nvSpPr>
          <p:cNvPr id="45" name="Text 42"/>
          <p:cNvSpPr txBox="1"/>
          <p:nvPr/>
        </p:nvSpPr>
        <p:spPr>
          <a:xfrm>
            <a:off x="7522769" y="4892040"/>
            <a:ext cx="310896" cy="310896"/>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46" name="Text 43"/>
          <p:cNvSpPr txBox="1"/>
          <p:nvPr/>
        </p:nvSpPr>
        <p:spPr>
          <a:xfrm>
            <a:off x="7915961" y="4855464"/>
            <a:ext cx="2674620" cy="384048"/>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같으면 재사용</a:t>
            </a:r>
            <a:endParaRPr lang="en-US" sz="1500" dirty="0"/>
          </a:p>
        </p:txBody>
      </p:sp>
      <p:sp>
        <p:nvSpPr>
          <p:cNvPr id="47" name="Text 44"/>
          <p:cNvSpPr txBox="1"/>
          <p:nvPr/>
        </p:nvSpPr>
        <p:spPr>
          <a:xfrm>
            <a:off x="7550201" y="5285232"/>
            <a:ext cx="2994660" cy="548640"/>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구성원 지문이 같으면 LLM을 부르지 않음</a:t>
            </a:r>
            <a:endParaRPr lang="en-US" sz="1400" dirty="0"/>
          </a:p>
        </p:txBody>
      </p:sp>
      <p:sp>
        <p:nvSpPr>
          <p:cNvPr id="48" name="Shape 45"/>
          <p:cNvSpPr/>
          <p:nvPr/>
        </p:nvSpPr>
        <p:spPr>
          <a:xfrm>
            <a:off x="10864901" y="4782312"/>
            <a:ext cx="3268980" cy="1097280"/>
          </a:xfrm>
          <a:prstGeom prst="roundRect">
            <a:avLst>
              <a:gd name="adj" fmla="val 6667"/>
            </a:avLst>
          </a:prstGeom>
          <a:solidFill>
            <a:srgbClr val="F5F8FC"/>
          </a:solidFill>
          <a:ln w="12700">
            <a:solidFill>
              <a:srgbClr val="D9E0EC"/>
            </a:solidFill>
            <a:prstDash val="solid"/>
          </a:ln>
        </p:spPr>
      </p:sp>
      <p:sp>
        <p:nvSpPr>
          <p:cNvPr id="49" name="Shape 46"/>
          <p:cNvSpPr/>
          <p:nvPr/>
        </p:nvSpPr>
        <p:spPr>
          <a:xfrm>
            <a:off x="10974629" y="4892040"/>
            <a:ext cx="310896" cy="310896"/>
          </a:xfrm>
          <a:prstGeom prst="roundRect">
            <a:avLst>
              <a:gd name="adj" fmla="val 14706"/>
            </a:avLst>
          </a:prstGeom>
          <a:solidFill>
            <a:srgbClr val="2E74C6"/>
          </a:solidFill>
          <a:ln/>
        </p:spPr>
      </p:sp>
      <p:sp>
        <p:nvSpPr>
          <p:cNvPr id="50" name="Text 47"/>
          <p:cNvSpPr txBox="1"/>
          <p:nvPr/>
        </p:nvSpPr>
        <p:spPr>
          <a:xfrm>
            <a:off x="10974629" y="4892040"/>
            <a:ext cx="310896" cy="310896"/>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4</a:t>
            </a:r>
            <a:endParaRPr lang="en-US" sz="1500" dirty="0"/>
          </a:p>
        </p:txBody>
      </p:sp>
      <p:sp>
        <p:nvSpPr>
          <p:cNvPr id="51" name="Text 48"/>
          <p:cNvSpPr txBox="1"/>
          <p:nvPr/>
        </p:nvSpPr>
        <p:spPr>
          <a:xfrm>
            <a:off x="11367821" y="4855464"/>
            <a:ext cx="2674620" cy="384048"/>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실행 위치</a:t>
            </a:r>
            <a:endParaRPr lang="en-US" sz="1500" dirty="0"/>
          </a:p>
        </p:txBody>
      </p:sp>
      <p:sp>
        <p:nvSpPr>
          <p:cNvPr id="52" name="Text 49"/>
          <p:cNvSpPr txBox="1"/>
          <p:nvPr/>
        </p:nvSpPr>
        <p:spPr>
          <a:xfrm>
            <a:off x="11002061" y="5285232"/>
            <a:ext cx="2994660" cy="548640"/>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전체 재색인은 K6 다음, 증분 색인은 K7 다음</a:t>
            </a:r>
            <a:endParaRPr lang="en-US" sz="1400" dirty="0"/>
          </a:p>
        </p:txBody>
      </p:sp>
      <p:sp>
        <p:nvSpPr>
          <p:cNvPr id="53" name="Shape 50"/>
          <p:cNvSpPr/>
          <p:nvPr/>
        </p:nvSpPr>
        <p:spPr>
          <a:xfrm>
            <a:off x="509321" y="6062472"/>
            <a:ext cx="13624560" cy="1207008"/>
          </a:xfrm>
          <a:prstGeom prst="roundRect">
            <a:avLst>
              <a:gd name="adj" fmla="val 6061"/>
            </a:avLst>
          </a:prstGeom>
          <a:solidFill>
            <a:srgbClr val="1E2A5C"/>
          </a:solidFill>
          <a:ln/>
        </p:spPr>
      </p:sp>
      <p:sp>
        <p:nvSpPr>
          <p:cNvPr id="54" name="Text 51"/>
          <p:cNvSpPr txBox="1"/>
          <p:nvPr/>
        </p:nvSpPr>
        <p:spPr>
          <a:xfrm>
            <a:off x="509321" y="6062472"/>
            <a:ext cx="13624560" cy="1207008"/>
          </a:xfrm>
          <a:prstGeom prst="rect">
            <a:avLst/>
          </a:prstGeom>
          <a:noFill/>
          <a:ln/>
        </p:spPr>
        <p:txBody>
          <a:bodyPr wrap="square" lIns="635" tIns="635" rIns="635" bIns="635" rtlCol="0" anchor="ctr"/>
          <a:lstStyle/>
          <a:p>
            <a:pPr algn="ctr" indent="0" marL="0">
              <a:spcAft>
                <a:spcPts val="100"/>
              </a:spcAft>
              <a:buNone/>
            </a:pPr>
            <a:r>
              <a:rPr lang="en-US" sz="1500" b="1" dirty="0">
                <a:solidFill>
                  <a:srgbClr val="FFFFFF"/>
                </a:solidFill>
                <a:latin typeface="Pretendard" pitchFamily="34" charset="0"/>
                <a:ea typeface="Pretendard" pitchFamily="34" charset="-122"/>
                <a:cs typeface="Pretendard" pitchFamily="34" charset="-120"/>
              </a:rPr>
              <a:t>선택 단계: 실행할 때 --communities 옵션으로 켬</a:t>
            </a:r>
            <a:endParaRPr lang="en-US" sz="1500" dirty="0"/>
          </a:p>
          <a:p>
            <a:pPr algn="ctr" indent="0" marL="0">
              <a:spcAft>
                <a:spcPts val="100"/>
              </a:spcAft>
              <a:buNone/>
            </a:pPr>
            <a:r>
              <a:rPr lang="en-US" sz="1400" dirty="0">
                <a:solidFill>
                  <a:srgbClr val="FFFFFF"/>
                </a:solidFill>
                <a:latin typeface="Pretendard" pitchFamily="34" charset="0"/>
                <a:ea typeface="Pretendard" pitchFamily="34" charset="-122"/>
                <a:cs typeface="Pretendard" pitchFamily="34" charset="-120"/>
              </a:rPr>
              <a:t>Microsoft GraphRAG의 커뮤니티 보고서와 같은 생각. 거시 질문이 없으면 꺼 둠</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2. 인덱싱: KG 구축 – K8. Leiden으로 커뮤니티 찾기 (원리)</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묶음 안 연결은 많고 묶음 사이 연결은 적게 나누는 것이 목표. 옮기기, 다듬기, 합치기를 점수가 더 오르지 않을 때까지 반복</a:t>
            </a:r>
            <a:endParaRPr lang="en-US" sz="1800" dirty="0"/>
          </a:p>
        </p:txBody>
      </p:sp>
      <p:sp>
        <p:nvSpPr>
          <p:cNvPr id="5" name="Text 2"/>
          <p:cNvSpPr txBox="1"/>
          <p:nvPr/>
        </p:nvSpPr>
        <p:spPr>
          <a:xfrm>
            <a:off x="509321" y="1691640"/>
            <a:ext cx="13624560" cy="329184"/>
          </a:xfrm>
          <a:prstGeom prst="rect">
            <a:avLst/>
          </a:prstGeom>
          <a:noFill/>
          <a:ln/>
        </p:spPr>
        <p:txBody>
          <a:bodyPr wrap="square" lIns="762" tIns="762" rIns="762" bIns="762" rtlCol="0" anchor="ctr"/>
          <a:lstStyle/>
          <a:p>
            <a:pPr algn="l" indent="0" marL="0">
              <a:buNone/>
            </a:pPr>
            <a:r>
              <a:rPr lang="en-US" sz="1600" b="1" dirty="0">
                <a:solidFill>
                  <a:srgbClr val="1E2A5C"/>
                </a:solidFill>
                <a:latin typeface="Pretendard" pitchFamily="34" charset="0"/>
                <a:ea typeface="Pretendard" pitchFamily="34" charset="-122"/>
                <a:cs typeface="Pretendard" pitchFamily="34" charset="-120"/>
              </a:rPr>
              <a:t>좋은 나누기의 기준: 모듈성</a:t>
            </a:r>
            <a:endParaRPr lang="en-US" sz="1600" dirty="0"/>
          </a:p>
        </p:txBody>
      </p:sp>
      <p:sp>
        <p:nvSpPr>
          <p:cNvPr id="6" name="Text 3"/>
          <p:cNvSpPr txBox="1"/>
          <p:nvPr/>
        </p:nvSpPr>
        <p:spPr>
          <a:xfrm>
            <a:off x="509321" y="2011680"/>
            <a:ext cx="13624560" cy="310896"/>
          </a:xfrm>
          <a:prstGeom prst="rect">
            <a:avLst/>
          </a:prstGeom>
          <a:noFill/>
          <a:ln/>
        </p:spPr>
        <p:txBody>
          <a:bodyPr wrap="square" lIns="762" tIns="762" rIns="762" bIns="762" rtlCol="0" anchor="ctr"/>
          <a:lstStyle/>
          <a:p>
            <a:pPr algn="l" indent="0" marL="0">
              <a:buNone/>
            </a:pPr>
            <a:r>
              <a:rPr lang="en-US" sz="1400" dirty="0">
                <a:solidFill>
                  <a:srgbClr val="3B4557"/>
                </a:solidFill>
                <a:latin typeface="Pretendard" pitchFamily="34" charset="0"/>
                <a:ea typeface="Pretendard" pitchFamily="34" charset="-122"/>
                <a:cs typeface="Pretendard" pitchFamily="34" charset="-120"/>
              </a:rPr>
              <a:t>묶음 안 연결이 우연히 이어질 때보다 얼마나 더 많은가. 묶음 안은 촘촘하고 묶음 사이는 성길수록 높음</a:t>
            </a:r>
            <a:endParaRPr lang="en-US" sz="1400" dirty="0"/>
          </a:p>
        </p:txBody>
      </p:sp>
      <p:sp>
        <p:nvSpPr>
          <p:cNvPr id="7" name="Shape 4"/>
          <p:cNvSpPr/>
          <p:nvPr/>
        </p:nvSpPr>
        <p:spPr>
          <a:xfrm>
            <a:off x="509321" y="2468880"/>
            <a:ext cx="4358640" cy="3611880"/>
          </a:xfrm>
          <a:prstGeom prst="roundRect">
            <a:avLst>
              <a:gd name="adj" fmla="val 2025"/>
            </a:avLst>
          </a:prstGeom>
          <a:solidFill>
            <a:srgbClr val="FFFFFF"/>
          </a:solidFill>
          <a:ln w="12700">
            <a:solidFill>
              <a:srgbClr val="D9E0EC"/>
            </a:solidFill>
            <a:prstDash val="solid"/>
          </a:ln>
        </p:spPr>
      </p:sp>
      <p:sp>
        <p:nvSpPr>
          <p:cNvPr id="8" name="Shape 5"/>
          <p:cNvSpPr/>
          <p:nvPr/>
        </p:nvSpPr>
        <p:spPr>
          <a:xfrm>
            <a:off x="646481" y="2606040"/>
            <a:ext cx="1417320" cy="365760"/>
          </a:xfrm>
          <a:prstGeom prst="roundRect">
            <a:avLst>
              <a:gd name="adj" fmla="val 12500"/>
            </a:avLst>
          </a:prstGeom>
          <a:solidFill>
            <a:srgbClr val="1E2A5C"/>
          </a:solidFill>
          <a:ln/>
        </p:spPr>
      </p:sp>
      <p:sp>
        <p:nvSpPr>
          <p:cNvPr id="9" name="Text 6"/>
          <p:cNvSpPr txBox="1"/>
          <p:nvPr/>
        </p:nvSpPr>
        <p:spPr>
          <a:xfrm>
            <a:off x="646481" y="2606040"/>
            <a:ext cx="1417320" cy="36576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① 옮기기</a:t>
            </a:r>
            <a:endParaRPr lang="en-US" sz="1500" dirty="0"/>
          </a:p>
        </p:txBody>
      </p:sp>
      <p:sp>
        <p:nvSpPr>
          <p:cNvPr id="10" name="Text 7"/>
          <p:cNvSpPr txBox="1"/>
          <p:nvPr/>
        </p:nvSpPr>
        <p:spPr>
          <a:xfrm>
            <a:off x="646481" y="5367528"/>
            <a:ext cx="4084320" cy="603504"/>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점 하나씩 이웃 묶음으로 옮겨 보고, 점수가 오르면 옮김</a:t>
            </a:r>
            <a:endParaRPr lang="en-US" sz="1400" dirty="0"/>
          </a:p>
        </p:txBody>
      </p:sp>
      <p:sp>
        <p:nvSpPr>
          <p:cNvPr id="11" name="Shape 8"/>
          <p:cNvSpPr/>
          <p:nvPr/>
        </p:nvSpPr>
        <p:spPr>
          <a:xfrm>
            <a:off x="4895393" y="4274820"/>
            <a:ext cx="219456" cy="0"/>
          </a:xfrm>
          <a:prstGeom prst="line">
            <a:avLst/>
          </a:prstGeom>
          <a:noFill/>
          <a:ln w="28575">
            <a:solidFill>
              <a:srgbClr val="1E2A5C"/>
            </a:solidFill>
            <a:prstDash val="solid"/>
            <a:tailEnd type="triangle"/>
          </a:ln>
        </p:spPr>
      </p:sp>
      <p:sp>
        <p:nvSpPr>
          <p:cNvPr id="12" name="Shape 9"/>
          <p:cNvSpPr/>
          <p:nvPr/>
        </p:nvSpPr>
        <p:spPr>
          <a:xfrm>
            <a:off x="5142281" y="2468880"/>
            <a:ext cx="4358640" cy="3611880"/>
          </a:xfrm>
          <a:prstGeom prst="roundRect">
            <a:avLst>
              <a:gd name="adj" fmla="val 2025"/>
            </a:avLst>
          </a:prstGeom>
          <a:solidFill>
            <a:srgbClr val="FFFFFF"/>
          </a:solidFill>
          <a:ln w="12700">
            <a:solidFill>
              <a:srgbClr val="D9E0EC"/>
            </a:solidFill>
            <a:prstDash val="solid"/>
          </a:ln>
        </p:spPr>
      </p:sp>
      <p:sp>
        <p:nvSpPr>
          <p:cNvPr id="13" name="Shape 10"/>
          <p:cNvSpPr/>
          <p:nvPr/>
        </p:nvSpPr>
        <p:spPr>
          <a:xfrm>
            <a:off x="5279441" y="2606040"/>
            <a:ext cx="1417320" cy="365760"/>
          </a:xfrm>
          <a:prstGeom prst="roundRect">
            <a:avLst>
              <a:gd name="adj" fmla="val 12500"/>
            </a:avLst>
          </a:prstGeom>
          <a:solidFill>
            <a:srgbClr val="2E74C6"/>
          </a:solidFill>
          <a:ln/>
        </p:spPr>
      </p:sp>
      <p:sp>
        <p:nvSpPr>
          <p:cNvPr id="14" name="Text 11"/>
          <p:cNvSpPr txBox="1"/>
          <p:nvPr/>
        </p:nvSpPr>
        <p:spPr>
          <a:xfrm>
            <a:off x="5279441" y="2606040"/>
            <a:ext cx="1417320" cy="36576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② 다듬기</a:t>
            </a:r>
            <a:endParaRPr lang="en-US" sz="1500" dirty="0"/>
          </a:p>
        </p:txBody>
      </p:sp>
      <p:sp>
        <p:nvSpPr>
          <p:cNvPr id="15" name="Text 12"/>
          <p:cNvSpPr txBox="1"/>
          <p:nvPr/>
        </p:nvSpPr>
        <p:spPr>
          <a:xfrm>
            <a:off x="5279441" y="5367528"/>
            <a:ext cx="4084320" cy="603504"/>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묶음 안에서 끊어진 조각은 떼어 냄 (Louvain에 없던 단계)</a:t>
            </a:r>
            <a:endParaRPr lang="en-US" sz="1400" dirty="0"/>
          </a:p>
        </p:txBody>
      </p:sp>
      <p:sp>
        <p:nvSpPr>
          <p:cNvPr id="16" name="Shape 13"/>
          <p:cNvSpPr/>
          <p:nvPr/>
        </p:nvSpPr>
        <p:spPr>
          <a:xfrm>
            <a:off x="9528353" y="4274820"/>
            <a:ext cx="219456" cy="0"/>
          </a:xfrm>
          <a:prstGeom prst="line">
            <a:avLst/>
          </a:prstGeom>
          <a:noFill/>
          <a:ln w="28575">
            <a:solidFill>
              <a:srgbClr val="1E2A5C"/>
            </a:solidFill>
            <a:prstDash val="solid"/>
            <a:tailEnd type="triangle"/>
          </a:ln>
        </p:spPr>
      </p:sp>
      <p:sp>
        <p:nvSpPr>
          <p:cNvPr id="17" name="Shape 14"/>
          <p:cNvSpPr/>
          <p:nvPr/>
        </p:nvSpPr>
        <p:spPr>
          <a:xfrm>
            <a:off x="9775241" y="2468880"/>
            <a:ext cx="4358640" cy="3611880"/>
          </a:xfrm>
          <a:prstGeom prst="roundRect">
            <a:avLst>
              <a:gd name="adj" fmla="val 2025"/>
            </a:avLst>
          </a:prstGeom>
          <a:solidFill>
            <a:srgbClr val="FFFFFF"/>
          </a:solidFill>
          <a:ln w="12700">
            <a:solidFill>
              <a:srgbClr val="D9E0EC"/>
            </a:solidFill>
            <a:prstDash val="solid"/>
          </a:ln>
        </p:spPr>
      </p:sp>
      <p:sp>
        <p:nvSpPr>
          <p:cNvPr id="18" name="Shape 15"/>
          <p:cNvSpPr/>
          <p:nvPr/>
        </p:nvSpPr>
        <p:spPr>
          <a:xfrm>
            <a:off x="9912401" y="2606040"/>
            <a:ext cx="1417320" cy="365760"/>
          </a:xfrm>
          <a:prstGeom prst="roundRect">
            <a:avLst>
              <a:gd name="adj" fmla="val 12500"/>
            </a:avLst>
          </a:prstGeom>
          <a:solidFill>
            <a:srgbClr val="1E2A5C"/>
          </a:solidFill>
          <a:ln/>
        </p:spPr>
      </p:sp>
      <p:sp>
        <p:nvSpPr>
          <p:cNvPr id="19" name="Text 16"/>
          <p:cNvSpPr txBox="1"/>
          <p:nvPr/>
        </p:nvSpPr>
        <p:spPr>
          <a:xfrm>
            <a:off x="9912401" y="2606040"/>
            <a:ext cx="1417320" cy="36576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③ 합치기</a:t>
            </a:r>
            <a:endParaRPr lang="en-US" sz="1500" dirty="0"/>
          </a:p>
        </p:txBody>
      </p:sp>
      <p:sp>
        <p:nvSpPr>
          <p:cNvPr id="20" name="Text 17"/>
          <p:cNvSpPr txBox="1"/>
          <p:nvPr/>
        </p:nvSpPr>
        <p:spPr>
          <a:xfrm>
            <a:off x="9912401" y="5367528"/>
            <a:ext cx="4084320" cy="603504"/>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묶음을 점 하나로 보고 ①부터 다시. 점수가 그대로면 끝</a:t>
            </a:r>
            <a:endParaRPr lang="en-US" sz="1400" dirty="0"/>
          </a:p>
        </p:txBody>
      </p:sp>
      <p:sp>
        <p:nvSpPr>
          <p:cNvPr id="21" name="Shape 18"/>
          <p:cNvSpPr/>
          <p:nvPr/>
        </p:nvSpPr>
        <p:spPr>
          <a:xfrm flipV="1">
            <a:off x="1591361" y="3154680"/>
            <a:ext cx="594360" cy="274320"/>
          </a:xfrm>
          <a:prstGeom prst="line">
            <a:avLst/>
          </a:prstGeom>
          <a:noFill/>
          <a:ln w="15875">
            <a:solidFill>
              <a:srgbClr val="4A5364"/>
            </a:solidFill>
            <a:prstDash val="solid"/>
            <a:tailEnd type="none"/>
          </a:ln>
        </p:spPr>
      </p:sp>
      <p:sp>
        <p:nvSpPr>
          <p:cNvPr id="22" name="Shape 19"/>
          <p:cNvSpPr/>
          <p:nvPr/>
        </p:nvSpPr>
        <p:spPr>
          <a:xfrm>
            <a:off x="1591361" y="3429000"/>
            <a:ext cx="274320" cy="640080"/>
          </a:xfrm>
          <a:prstGeom prst="line">
            <a:avLst/>
          </a:prstGeom>
          <a:noFill/>
          <a:ln w="15875">
            <a:solidFill>
              <a:srgbClr val="4A5364"/>
            </a:solidFill>
            <a:prstDash val="solid"/>
            <a:tailEnd type="none"/>
          </a:ln>
        </p:spPr>
      </p:sp>
      <p:sp>
        <p:nvSpPr>
          <p:cNvPr id="23" name="Shape 20"/>
          <p:cNvSpPr/>
          <p:nvPr/>
        </p:nvSpPr>
        <p:spPr>
          <a:xfrm>
            <a:off x="2185721" y="3154680"/>
            <a:ext cx="274320" cy="685800"/>
          </a:xfrm>
          <a:prstGeom prst="line">
            <a:avLst/>
          </a:prstGeom>
          <a:noFill/>
          <a:ln w="15875">
            <a:solidFill>
              <a:srgbClr val="4A5364"/>
            </a:solidFill>
            <a:prstDash val="solid"/>
            <a:tailEnd type="none"/>
          </a:ln>
        </p:spPr>
      </p:sp>
      <p:sp>
        <p:nvSpPr>
          <p:cNvPr id="24" name="Shape 21"/>
          <p:cNvSpPr/>
          <p:nvPr/>
        </p:nvSpPr>
        <p:spPr>
          <a:xfrm flipV="1">
            <a:off x="1865681" y="3840480"/>
            <a:ext cx="594360" cy="228600"/>
          </a:xfrm>
          <a:prstGeom prst="line">
            <a:avLst/>
          </a:prstGeom>
          <a:noFill/>
          <a:ln w="15875">
            <a:solidFill>
              <a:srgbClr val="4A5364"/>
            </a:solidFill>
            <a:prstDash val="solid"/>
            <a:tailEnd type="none"/>
          </a:ln>
        </p:spPr>
      </p:sp>
      <p:sp>
        <p:nvSpPr>
          <p:cNvPr id="25" name="Shape 22"/>
          <p:cNvSpPr/>
          <p:nvPr/>
        </p:nvSpPr>
        <p:spPr>
          <a:xfrm>
            <a:off x="1591361" y="3429000"/>
            <a:ext cx="868680" cy="411480"/>
          </a:xfrm>
          <a:prstGeom prst="line">
            <a:avLst/>
          </a:prstGeom>
          <a:noFill/>
          <a:ln w="15875">
            <a:solidFill>
              <a:srgbClr val="4A5364"/>
            </a:solidFill>
            <a:prstDash val="solid"/>
            <a:tailEnd type="none"/>
          </a:ln>
        </p:spPr>
      </p:sp>
      <p:sp>
        <p:nvSpPr>
          <p:cNvPr id="26" name="Shape 23"/>
          <p:cNvSpPr/>
          <p:nvPr/>
        </p:nvSpPr>
        <p:spPr>
          <a:xfrm>
            <a:off x="3100121" y="3291840"/>
            <a:ext cx="640080" cy="228600"/>
          </a:xfrm>
          <a:prstGeom prst="line">
            <a:avLst/>
          </a:prstGeom>
          <a:noFill/>
          <a:ln w="15875">
            <a:solidFill>
              <a:srgbClr val="4A5364"/>
            </a:solidFill>
            <a:prstDash val="solid"/>
            <a:tailEnd type="none"/>
          </a:ln>
        </p:spPr>
      </p:sp>
      <p:sp>
        <p:nvSpPr>
          <p:cNvPr id="27" name="Shape 24"/>
          <p:cNvSpPr/>
          <p:nvPr/>
        </p:nvSpPr>
        <p:spPr>
          <a:xfrm>
            <a:off x="3100121" y="3291840"/>
            <a:ext cx="228600" cy="822960"/>
          </a:xfrm>
          <a:prstGeom prst="line">
            <a:avLst/>
          </a:prstGeom>
          <a:noFill/>
          <a:ln w="15875">
            <a:solidFill>
              <a:srgbClr val="4A5364"/>
            </a:solidFill>
            <a:prstDash val="solid"/>
            <a:tailEnd type="none"/>
          </a:ln>
        </p:spPr>
      </p:sp>
      <p:sp>
        <p:nvSpPr>
          <p:cNvPr id="28" name="Shape 25"/>
          <p:cNvSpPr/>
          <p:nvPr/>
        </p:nvSpPr>
        <p:spPr>
          <a:xfrm>
            <a:off x="3740201" y="3520440"/>
            <a:ext cx="91440" cy="822960"/>
          </a:xfrm>
          <a:prstGeom prst="line">
            <a:avLst/>
          </a:prstGeom>
          <a:noFill/>
          <a:ln w="15875">
            <a:solidFill>
              <a:srgbClr val="4A5364"/>
            </a:solidFill>
            <a:prstDash val="solid"/>
            <a:tailEnd type="none"/>
          </a:ln>
        </p:spPr>
      </p:sp>
      <p:sp>
        <p:nvSpPr>
          <p:cNvPr id="29" name="Shape 26"/>
          <p:cNvSpPr/>
          <p:nvPr/>
        </p:nvSpPr>
        <p:spPr>
          <a:xfrm>
            <a:off x="3328721" y="4114800"/>
            <a:ext cx="502920" cy="228600"/>
          </a:xfrm>
          <a:prstGeom prst="line">
            <a:avLst/>
          </a:prstGeom>
          <a:noFill/>
          <a:ln w="15875">
            <a:solidFill>
              <a:srgbClr val="4A5364"/>
            </a:solidFill>
            <a:prstDash val="solid"/>
            <a:tailEnd type="none"/>
          </a:ln>
        </p:spPr>
      </p:sp>
      <p:sp>
        <p:nvSpPr>
          <p:cNvPr id="30" name="Shape 27"/>
          <p:cNvSpPr/>
          <p:nvPr/>
        </p:nvSpPr>
        <p:spPr>
          <a:xfrm flipH="1">
            <a:off x="3328721" y="3520440"/>
            <a:ext cx="411480" cy="594360"/>
          </a:xfrm>
          <a:prstGeom prst="line">
            <a:avLst/>
          </a:prstGeom>
          <a:noFill/>
          <a:ln w="15875">
            <a:solidFill>
              <a:srgbClr val="4A5364"/>
            </a:solidFill>
            <a:prstDash val="solid"/>
            <a:tailEnd type="none"/>
          </a:ln>
        </p:spPr>
      </p:sp>
      <p:sp>
        <p:nvSpPr>
          <p:cNvPr id="31" name="Shape 28"/>
          <p:cNvSpPr/>
          <p:nvPr/>
        </p:nvSpPr>
        <p:spPr>
          <a:xfrm flipV="1">
            <a:off x="2460041" y="3291840"/>
            <a:ext cx="640080" cy="548640"/>
          </a:xfrm>
          <a:prstGeom prst="line">
            <a:avLst/>
          </a:prstGeom>
          <a:noFill/>
          <a:ln w="15875">
            <a:solidFill>
              <a:srgbClr val="4A5364"/>
            </a:solidFill>
            <a:prstDash val="solid"/>
            <a:tailEnd type="none"/>
          </a:ln>
        </p:spPr>
      </p:sp>
      <p:sp>
        <p:nvSpPr>
          <p:cNvPr id="32" name="Text 29"/>
          <p:cNvSpPr/>
          <p:nvPr/>
        </p:nvSpPr>
        <p:spPr>
          <a:xfrm>
            <a:off x="1435913" y="3273552"/>
            <a:ext cx="310896" cy="310896"/>
          </a:xfrm>
          <a:prstGeom prst="ellipse">
            <a:avLst/>
          </a:prstGeom>
          <a:solidFill>
            <a:srgbClr val="2E74C6"/>
          </a:solidFill>
          <a:ln w="15875">
            <a:solidFill>
              <a:srgbClr val="2E74C6"/>
            </a:solidFill>
          </a:ln>
        </p:spPr>
        <p:txBody>
          <a:bodyPr wrap="square" lIns="0" tIns="0" rIns="0" bIns="0" rtlCol="0" anchor="ctr"/>
          <a:lstStyle/>
          <a:p>
            <a:pPr algn="ctr" indent="0" marL="0">
              <a:buNone/>
            </a:pPr>
            <a:endParaRPr lang="en-US" sz="1400" dirty="0"/>
          </a:p>
        </p:txBody>
      </p:sp>
      <p:sp>
        <p:nvSpPr>
          <p:cNvPr id="33" name="Text 30"/>
          <p:cNvSpPr/>
          <p:nvPr/>
        </p:nvSpPr>
        <p:spPr>
          <a:xfrm>
            <a:off x="2030273" y="2999232"/>
            <a:ext cx="310896" cy="310896"/>
          </a:xfrm>
          <a:prstGeom prst="ellipse">
            <a:avLst/>
          </a:prstGeom>
          <a:solidFill>
            <a:srgbClr val="2E74C6"/>
          </a:solidFill>
          <a:ln w="15875">
            <a:solidFill>
              <a:srgbClr val="2E74C6"/>
            </a:solidFill>
          </a:ln>
        </p:spPr>
        <p:txBody>
          <a:bodyPr wrap="square" lIns="0" tIns="0" rIns="0" bIns="0" rtlCol="0" anchor="ctr"/>
          <a:lstStyle/>
          <a:p>
            <a:pPr algn="ctr" indent="0" marL="0">
              <a:buNone/>
            </a:pPr>
            <a:endParaRPr lang="en-US" sz="1400" dirty="0"/>
          </a:p>
        </p:txBody>
      </p:sp>
      <p:sp>
        <p:nvSpPr>
          <p:cNvPr id="34" name="Text 31"/>
          <p:cNvSpPr/>
          <p:nvPr/>
        </p:nvSpPr>
        <p:spPr>
          <a:xfrm>
            <a:off x="1710233" y="3913632"/>
            <a:ext cx="310896" cy="310896"/>
          </a:xfrm>
          <a:prstGeom prst="ellipse">
            <a:avLst/>
          </a:prstGeom>
          <a:solidFill>
            <a:srgbClr val="2E74C6"/>
          </a:solidFill>
          <a:ln w="15875">
            <a:solidFill>
              <a:srgbClr val="2E74C6"/>
            </a:solidFill>
          </a:ln>
        </p:spPr>
        <p:txBody>
          <a:bodyPr wrap="square" lIns="0" tIns="0" rIns="0" bIns="0" rtlCol="0" anchor="ctr"/>
          <a:lstStyle/>
          <a:p>
            <a:pPr algn="ctr" indent="0" marL="0">
              <a:buNone/>
            </a:pPr>
            <a:endParaRPr lang="en-US" sz="1400" dirty="0"/>
          </a:p>
        </p:txBody>
      </p:sp>
      <p:sp>
        <p:nvSpPr>
          <p:cNvPr id="35" name="Text 32"/>
          <p:cNvSpPr/>
          <p:nvPr/>
        </p:nvSpPr>
        <p:spPr>
          <a:xfrm>
            <a:off x="2304593" y="3685032"/>
            <a:ext cx="310896" cy="310896"/>
          </a:xfrm>
          <a:prstGeom prst="ellipse">
            <a:avLst/>
          </a:prstGeom>
          <a:solidFill>
            <a:srgbClr val="2E74C6"/>
          </a:solidFill>
          <a:ln w="15875">
            <a:solidFill>
              <a:srgbClr val="2E74C6"/>
            </a:solidFill>
          </a:ln>
        </p:spPr>
        <p:txBody>
          <a:bodyPr wrap="square" lIns="0" tIns="0" rIns="0" bIns="0" rtlCol="0" anchor="ctr"/>
          <a:lstStyle/>
          <a:p>
            <a:pPr algn="ctr" indent="0" marL="0">
              <a:buNone/>
            </a:pPr>
            <a:endParaRPr lang="en-US" sz="1400" dirty="0"/>
          </a:p>
        </p:txBody>
      </p:sp>
      <p:sp>
        <p:nvSpPr>
          <p:cNvPr id="36" name="Text 33"/>
          <p:cNvSpPr/>
          <p:nvPr/>
        </p:nvSpPr>
        <p:spPr>
          <a:xfrm>
            <a:off x="2944673" y="3136392"/>
            <a:ext cx="310896" cy="310896"/>
          </a:xfrm>
          <a:prstGeom prst="ellipse">
            <a:avLst/>
          </a:prstGeom>
          <a:solidFill>
            <a:srgbClr val="E8833A"/>
          </a:solidFill>
          <a:ln w="15875">
            <a:solidFill>
              <a:srgbClr val="E8833A"/>
            </a:solidFill>
          </a:ln>
        </p:spPr>
        <p:txBody>
          <a:bodyPr wrap="square" lIns="0" tIns="0" rIns="0" bIns="0" rtlCol="0" anchor="ctr"/>
          <a:lstStyle/>
          <a:p>
            <a:pPr algn="ctr" indent="0" marL="0">
              <a:buNone/>
            </a:pPr>
            <a:endParaRPr lang="en-US" sz="1400" dirty="0"/>
          </a:p>
        </p:txBody>
      </p:sp>
      <p:sp>
        <p:nvSpPr>
          <p:cNvPr id="37" name="Text 34"/>
          <p:cNvSpPr/>
          <p:nvPr/>
        </p:nvSpPr>
        <p:spPr>
          <a:xfrm>
            <a:off x="3584753" y="3364992"/>
            <a:ext cx="310896" cy="310896"/>
          </a:xfrm>
          <a:prstGeom prst="ellipse">
            <a:avLst/>
          </a:prstGeom>
          <a:solidFill>
            <a:srgbClr val="E8833A"/>
          </a:solidFill>
          <a:ln w="15875">
            <a:solidFill>
              <a:srgbClr val="E8833A"/>
            </a:solidFill>
          </a:ln>
        </p:spPr>
        <p:txBody>
          <a:bodyPr wrap="square" lIns="0" tIns="0" rIns="0" bIns="0" rtlCol="0" anchor="ctr"/>
          <a:lstStyle/>
          <a:p>
            <a:pPr algn="ctr" indent="0" marL="0">
              <a:buNone/>
            </a:pPr>
            <a:endParaRPr lang="en-US" sz="1400" dirty="0"/>
          </a:p>
        </p:txBody>
      </p:sp>
      <p:sp>
        <p:nvSpPr>
          <p:cNvPr id="38" name="Text 35"/>
          <p:cNvSpPr/>
          <p:nvPr/>
        </p:nvSpPr>
        <p:spPr>
          <a:xfrm>
            <a:off x="3173273" y="3959352"/>
            <a:ext cx="310896" cy="310896"/>
          </a:xfrm>
          <a:prstGeom prst="ellipse">
            <a:avLst/>
          </a:prstGeom>
          <a:solidFill>
            <a:srgbClr val="E8833A"/>
          </a:solidFill>
          <a:ln w="15875">
            <a:solidFill>
              <a:srgbClr val="E8833A"/>
            </a:solidFill>
          </a:ln>
        </p:spPr>
        <p:txBody>
          <a:bodyPr wrap="square" lIns="0" tIns="0" rIns="0" bIns="0" rtlCol="0" anchor="ctr"/>
          <a:lstStyle/>
          <a:p>
            <a:pPr algn="ctr" indent="0" marL="0">
              <a:buNone/>
            </a:pPr>
            <a:endParaRPr lang="en-US" sz="1400" dirty="0"/>
          </a:p>
        </p:txBody>
      </p:sp>
      <p:sp>
        <p:nvSpPr>
          <p:cNvPr id="39" name="Text 36"/>
          <p:cNvSpPr/>
          <p:nvPr/>
        </p:nvSpPr>
        <p:spPr>
          <a:xfrm>
            <a:off x="3676193" y="4187952"/>
            <a:ext cx="310896" cy="310896"/>
          </a:xfrm>
          <a:prstGeom prst="ellipse">
            <a:avLst/>
          </a:prstGeom>
          <a:solidFill>
            <a:srgbClr val="E8833A"/>
          </a:solidFill>
          <a:ln w="15875">
            <a:solidFill>
              <a:srgbClr val="E8833A"/>
            </a:solidFill>
          </a:ln>
        </p:spPr>
        <p:txBody>
          <a:bodyPr wrap="square" lIns="0" tIns="0" rIns="0" bIns="0" rtlCol="0" anchor="ctr"/>
          <a:lstStyle/>
          <a:p>
            <a:pPr algn="ctr" indent="0" marL="0">
              <a:buNone/>
            </a:pPr>
            <a:endParaRPr lang="en-US" sz="1400" dirty="0"/>
          </a:p>
        </p:txBody>
      </p:sp>
      <p:sp>
        <p:nvSpPr>
          <p:cNvPr id="40" name="Shape 37"/>
          <p:cNvSpPr/>
          <p:nvPr/>
        </p:nvSpPr>
        <p:spPr>
          <a:xfrm flipH="1" flipV="1">
            <a:off x="2505761" y="4069080"/>
            <a:ext cx="320040" cy="365760"/>
          </a:xfrm>
          <a:prstGeom prst="line">
            <a:avLst/>
          </a:prstGeom>
          <a:noFill/>
          <a:ln w="22225">
            <a:solidFill>
              <a:srgbClr val="2E74C6"/>
            </a:solidFill>
            <a:prstDash val="dash"/>
            <a:tailEnd type="triangle"/>
          </a:ln>
        </p:spPr>
      </p:sp>
      <p:sp>
        <p:nvSpPr>
          <p:cNvPr id="41" name="Text 38"/>
          <p:cNvSpPr txBox="1"/>
          <p:nvPr/>
        </p:nvSpPr>
        <p:spPr>
          <a:xfrm>
            <a:off x="2505761" y="4434840"/>
            <a:ext cx="1737360" cy="274320"/>
          </a:xfrm>
          <a:prstGeom prst="rect">
            <a:avLst/>
          </a:prstGeom>
          <a:noFill/>
          <a:ln/>
        </p:spPr>
        <p:txBody>
          <a:bodyPr wrap="square" lIns="762" tIns="762" rIns="762" bIns="762" rtlCol="0" anchor="ctr"/>
          <a:lstStyle/>
          <a:p>
            <a:pPr algn="l" indent="0" marL="0">
              <a:buNone/>
            </a:pPr>
            <a:r>
              <a:rPr lang="en-US" sz="1400" dirty="0">
                <a:solidFill>
                  <a:srgbClr val="2E74C6"/>
                </a:solidFill>
                <a:latin typeface="Pretendard" pitchFamily="34" charset="0"/>
                <a:ea typeface="Pretendard" pitchFamily="34" charset="-122"/>
                <a:cs typeface="Pretendard" pitchFamily="34" charset="-120"/>
              </a:rPr>
              <a:t>이웃이 많은 쪽으로</a:t>
            </a:r>
            <a:endParaRPr lang="en-US" sz="1400" dirty="0"/>
          </a:p>
        </p:txBody>
      </p:sp>
      <p:sp>
        <p:nvSpPr>
          <p:cNvPr id="42" name="Shape 39"/>
          <p:cNvSpPr/>
          <p:nvPr/>
        </p:nvSpPr>
        <p:spPr>
          <a:xfrm>
            <a:off x="5950001" y="3200400"/>
            <a:ext cx="2743200" cy="1463040"/>
          </a:xfrm>
          <a:prstGeom prst="roundRect">
            <a:avLst>
              <a:gd name="adj" fmla="val 18750"/>
            </a:avLst>
          </a:prstGeom>
          <a:solidFill>
            <a:srgbClr val="FFFFFF"/>
          </a:solidFill>
          <a:ln w="12700">
            <a:solidFill>
              <a:srgbClr val="2E74C6"/>
            </a:solidFill>
            <a:prstDash val="dash"/>
          </a:ln>
        </p:spPr>
      </p:sp>
      <p:sp>
        <p:nvSpPr>
          <p:cNvPr id="43" name="Shape 40"/>
          <p:cNvSpPr/>
          <p:nvPr/>
        </p:nvSpPr>
        <p:spPr>
          <a:xfrm flipV="1">
            <a:off x="6270041" y="3520440"/>
            <a:ext cx="594360" cy="228600"/>
          </a:xfrm>
          <a:prstGeom prst="line">
            <a:avLst/>
          </a:prstGeom>
          <a:noFill/>
          <a:ln w="15875">
            <a:solidFill>
              <a:srgbClr val="4A5364"/>
            </a:solidFill>
            <a:prstDash val="solid"/>
            <a:tailEnd type="none"/>
          </a:ln>
        </p:spPr>
      </p:sp>
      <p:sp>
        <p:nvSpPr>
          <p:cNvPr id="44" name="Shape 41"/>
          <p:cNvSpPr/>
          <p:nvPr/>
        </p:nvSpPr>
        <p:spPr>
          <a:xfrm>
            <a:off x="6270041" y="3749040"/>
            <a:ext cx="320040" cy="548640"/>
          </a:xfrm>
          <a:prstGeom prst="line">
            <a:avLst/>
          </a:prstGeom>
          <a:noFill/>
          <a:ln w="15875">
            <a:solidFill>
              <a:srgbClr val="4A5364"/>
            </a:solidFill>
            <a:prstDash val="solid"/>
            <a:tailEnd type="none"/>
          </a:ln>
        </p:spPr>
      </p:sp>
      <p:sp>
        <p:nvSpPr>
          <p:cNvPr id="45" name="Shape 42"/>
          <p:cNvSpPr/>
          <p:nvPr/>
        </p:nvSpPr>
        <p:spPr>
          <a:xfrm flipH="1">
            <a:off x="6590081" y="3520440"/>
            <a:ext cx="274320" cy="777240"/>
          </a:xfrm>
          <a:prstGeom prst="line">
            <a:avLst/>
          </a:prstGeom>
          <a:noFill/>
          <a:ln w="15875">
            <a:solidFill>
              <a:srgbClr val="4A5364"/>
            </a:solidFill>
            <a:prstDash val="solid"/>
            <a:tailEnd type="none"/>
          </a:ln>
        </p:spPr>
      </p:sp>
      <p:sp>
        <p:nvSpPr>
          <p:cNvPr id="46" name="Shape 43"/>
          <p:cNvSpPr/>
          <p:nvPr/>
        </p:nvSpPr>
        <p:spPr>
          <a:xfrm flipV="1">
            <a:off x="7687361" y="3657600"/>
            <a:ext cx="548640" cy="274320"/>
          </a:xfrm>
          <a:prstGeom prst="line">
            <a:avLst/>
          </a:prstGeom>
          <a:noFill/>
          <a:ln w="15875">
            <a:solidFill>
              <a:srgbClr val="4A5364"/>
            </a:solidFill>
            <a:prstDash val="solid"/>
            <a:tailEnd type="none"/>
          </a:ln>
        </p:spPr>
      </p:sp>
      <p:sp>
        <p:nvSpPr>
          <p:cNvPr id="47" name="Shape 44"/>
          <p:cNvSpPr/>
          <p:nvPr/>
        </p:nvSpPr>
        <p:spPr>
          <a:xfrm>
            <a:off x="7687361" y="3931920"/>
            <a:ext cx="457200" cy="502920"/>
          </a:xfrm>
          <a:prstGeom prst="line">
            <a:avLst/>
          </a:prstGeom>
          <a:noFill/>
          <a:ln w="15875">
            <a:solidFill>
              <a:srgbClr val="4A5364"/>
            </a:solidFill>
            <a:prstDash val="solid"/>
            <a:tailEnd type="none"/>
          </a:ln>
        </p:spPr>
      </p:sp>
      <p:sp>
        <p:nvSpPr>
          <p:cNvPr id="48" name="Shape 45"/>
          <p:cNvSpPr/>
          <p:nvPr/>
        </p:nvSpPr>
        <p:spPr>
          <a:xfrm flipH="1">
            <a:off x="8144561" y="3657600"/>
            <a:ext cx="91440" cy="777240"/>
          </a:xfrm>
          <a:prstGeom prst="line">
            <a:avLst/>
          </a:prstGeom>
          <a:noFill/>
          <a:ln w="15875">
            <a:solidFill>
              <a:srgbClr val="4A5364"/>
            </a:solidFill>
            <a:prstDash val="solid"/>
            <a:tailEnd type="none"/>
          </a:ln>
        </p:spPr>
      </p:sp>
      <p:sp>
        <p:nvSpPr>
          <p:cNvPr id="49" name="Text 46"/>
          <p:cNvSpPr/>
          <p:nvPr/>
        </p:nvSpPr>
        <p:spPr>
          <a:xfrm>
            <a:off x="6114593" y="3593592"/>
            <a:ext cx="310896" cy="310896"/>
          </a:xfrm>
          <a:prstGeom prst="ellipse">
            <a:avLst/>
          </a:prstGeom>
          <a:solidFill>
            <a:srgbClr val="2E74C6"/>
          </a:solidFill>
          <a:ln w="15875">
            <a:solidFill>
              <a:srgbClr val="2E74C6"/>
            </a:solidFill>
          </a:ln>
        </p:spPr>
        <p:txBody>
          <a:bodyPr wrap="square" lIns="0" tIns="0" rIns="0" bIns="0" rtlCol="0" anchor="ctr"/>
          <a:lstStyle/>
          <a:p>
            <a:pPr algn="ctr" indent="0" marL="0">
              <a:buNone/>
            </a:pPr>
            <a:endParaRPr lang="en-US" sz="1400" dirty="0"/>
          </a:p>
        </p:txBody>
      </p:sp>
      <p:sp>
        <p:nvSpPr>
          <p:cNvPr id="50" name="Text 47"/>
          <p:cNvSpPr/>
          <p:nvPr/>
        </p:nvSpPr>
        <p:spPr>
          <a:xfrm>
            <a:off x="6708953" y="3364992"/>
            <a:ext cx="310896" cy="310896"/>
          </a:xfrm>
          <a:prstGeom prst="ellipse">
            <a:avLst/>
          </a:prstGeom>
          <a:solidFill>
            <a:srgbClr val="2E74C6"/>
          </a:solidFill>
          <a:ln w="15875">
            <a:solidFill>
              <a:srgbClr val="2E74C6"/>
            </a:solidFill>
          </a:ln>
        </p:spPr>
        <p:txBody>
          <a:bodyPr wrap="square" lIns="0" tIns="0" rIns="0" bIns="0" rtlCol="0" anchor="ctr"/>
          <a:lstStyle/>
          <a:p>
            <a:pPr algn="ctr" indent="0" marL="0">
              <a:buNone/>
            </a:pPr>
            <a:endParaRPr lang="en-US" sz="1400" dirty="0"/>
          </a:p>
        </p:txBody>
      </p:sp>
      <p:sp>
        <p:nvSpPr>
          <p:cNvPr id="51" name="Text 48"/>
          <p:cNvSpPr/>
          <p:nvPr/>
        </p:nvSpPr>
        <p:spPr>
          <a:xfrm>
            <a:off x="6434633" y="4142232"/>
            <a:ext cx="310896" cy="310896"/>
          </a:xfrm>
          <a:prstGeom prst="ellipse">
            <a:avLst/>
          </a:prstGeom>
          <a:solidFill>
            <a:srgbClr val="2E74C6"/>
          </a:solidFill>
          <a:ln w="15875">
            <a:solidFill>
              <a:srgbClr val="2E74C6"/>
            </a:solidFill>
          </a:ln>
        </p:spPr>
        <p:txBody>
          <a:bodyPr wrap="square" lIns="0" tIns="0" rIns="0" bIns="0" rtlCol="0" anchor="ctr"/>
          <a:lstStyle/>
          <a:p>
            <a:pPr algn="ctr" indent="0" marL="0">
              <a:buNone/>
            </a:pPr>
            <a:endParaRPr lang="en-US" sz="1400" dirty="0"/>
          </a:p>
        </p:txBody>
      </p:sp>
      <p:sp>
        <p:nvSpPr>
          <p:cNvPr id="52" name="Text 49"/>
          <p:cNvSpPr/>
          <p:nvPr/>
        </p:nvSpPr>
        <p:spPr>
          <a:xfrm>
            <a:off x="7531913" y="3776472"/>
            <a:ext cx="310896" cy="310896"/>
          </a:xfrm>
          <a:prstGeom prst="ellipse">
            <a:avLst/>
          </a:prstGeom>
          <a:solidFill>
            <a:srgbClr val="7C8598"/>
          </a:solidFill>
          <a:ln w="15875">
            <a:solidFill>
              <a:srgbClr val="7C8598"/>
            </a:solidFill>
          </a:ln>
        </p:spPr>
        <p:txBody>
          <a:bodyPr wrap="square" lIns="0" tIns="0" rIns="0" bIns="0" rtlCol="0" anchor="ctr"/>
          <a:lstStyle/>
          <a:p>
            <a:pPr algn="ctr" indent="0" marL="0">
              <a:buNone/>
            </a:pPr>
            <a:endParaRPr lang="en-US" sz="1400" dirty="0"/>
          </a:p>
        </p:txBody>
      </p:sp>
      <p:sp>
        <p:nvSpPr>
          <p:cNvPr id="53" name="Text 50"/>
          <p:cNvSpPr/>
          <p:nvPr/>
        </p:nvSpPr>
        <p:spPr>
          <a:xfrm>
            <a:off x="8080553" y="3502152"/>
            <a:ext cx="310896" cy="310896"/>
          </a:xfrm>
          <a:prstGeom prst="ellipse">
            <a:avLst/>
          </a:prstGeom>
          <a:solidFill>
            <a:srgbClr val="7C8598"/>
          </a:solidFill>
          <a:ln w="15875">
            <a:solidFill>
              <a:srgbClr val="7C8598"/>
            </a:solidFill>
          </a:ln>
        </p:spPr>
        <p:txBody>
          <a:bodyPr wrap="square" lIns="0" tIns="0" rIns="0" bIns="0" rtlCol="0" anchor="ctr"/>
          <a:lstStyle/>
          <a:p>
            <a:pPr algn="ctr" indent="0" marL="0">
              <a:buNone/>
            </a:pPr>
            <a:endParaRPr lang="en-US" sz="1400" dirty="0"/>
          </a:p>
        </p:txBody>
      </p:sp>
      <p:sp>
        <p:nvSpPr>
          <p:cNvPr id="54" name="Text 51"/>
          <p:cNvSpPr/>
          <p:nvPr/>
        </p:nvSpPr>
        <p:spPr>
          <a:xfrm>
            <a:off x="7989113" y="4279392"/>
            <a:ext cx="310896" cy="310896"/>
          </a:xfrm>
          <a:prstGeom prst="ellipse">
            <a:avLst/>
          </a:prstGeom>
          <a:solidFill>
            <a:srgbClr val="7C8598"/>
          </a:solidFill>
          <a:ln w="15875">
            <a:solidFill>
              <a:srgbClr val="7C8598"/>
            </a:solidFill>
          </a:ln>
        </p:spPr>
        <p:txBody>
          <a:bodyPr wrap="square" lIns="0" tIns="0" rIns="0" bIns="0" rtlCol="0" anchor="ctr"/>
          <a:lstStyle/>
          <a:p>
            <a:pPr algn="ctr" indent="0" marL="0">
              <a:buNone/>
            </a:pPr>
            <a:endParaRPr lang="en-US" sz="1400" dirty="0"/>
          </a:p>
        </p:txBody>
      </p:sp>
      <p:sp>
        <p:nvSpPr>
          <p:cNvPr id="55" name="Text 52"/>
          <p:cNvSpPr txBox="1"/>
          <p:nvPr/>
        </p:nvSpPr>
        <p:spPr>
          <a:xfrm>
            <a:off x="5279441" y="4782312"/>
            <a:ext cx="4084320" cy="502920"/>
          </a:xfrm>
          <a:prstGeom prst="rect">
            <a:avLst/>
          </a:prstGeom>
          <a:noFill/>
          <a:ln/>
        </p:spPr>
        <p:txBody>
          <a:bodyPr wrap="square" lIns="762" tIns="762" rIns="762" bIns="762" rtlCol="0" anchor="t"/>
          <a:lstStyle/>
          <a:p>
            <a:pPr algn="l" indent="0" marL="0">
              <a:buNone/>
            </a:pPr>
            <a:r>
              <a:rPr lang="en-US" sz="1400" dirty="0">
                <a:solidFill>
                  <a:srgbClr val="7C8598"/>
                </a:solidFill>
                <a:latin typeface="Pretendard" pitchFamily="34" charset="0"/>
                <a:ea typeface="Pretendard" pitchFamily="34" charset="-122"/>
                <a:cs typeface="Pretendard" pitchFamily="34" charset="-120"/>
              </a:rPr>
              <a:t>점선: ①에서 정한 한 묶음. 안이 끊어져 회색 조각을 따로 묶음</a:t>
            </a:r>
            <a:endParaRPr lang="en-US" sz="1400" dirty="0"/>
          </a:p>
        </p:txBody>
      </p:sp>
      <p:sp>
        <p:nvSpPr>
          <p:cNvPr id="56" name="Shape 53"/>
          <p:cNvSpPr/>
          <p:nvPr/>
        </p:nvSpPr>
        <p:spPr>
          <a:xfrm>
            <a:off x="11040161" y="3566160"/>
            <a:ext cx="1005840" cy="640080"/>
          </a:xfrm>
          <a:prstGeom prst="line">
            <a:avLst/>
          </a:prstGeom>
          <a:noFill/>
          <a:ln w="50800">
            <a:solidFill>
              <a:srgbClr val="4A5364"/>
            </a:solidFill>
            <a:prstDash val="solid"/>
            <a:tailEnd type="none"/>
          </a:ln>
        </p:spPr>
      </p:sp>
      <p:sp>
        <p:nvSpPr>
          <p:cNvPr id="57" name="Shape 54"/>
          <p:cNvSpPr/>
          <p:nvPr/>
        </p:nvSpPr>
        <p:spPr>
          <a:xfrm flipV="1">
            <a:off x="12046001" y="3474720"/>
            <a:ext cx="868680" cy="731520"/>
          </a:xfrm>
          <a:prstGeom prst="line">
            <a:avLst/>
          </a:prstGeom>
          <a:noFill/>
          <a:ln w="25400">
            <a:solidFill>
              <a:srgbClr val="4A5364"/>
            </a:solidFill>
            <a:prstDash val="solid"/>
            <a:tailEnd type="none"/>
          </a:ln>
        </p:spPr>
      </p:sp>
      <p:sp>
        <p:nvSpPr>
          <p:cNvPr id="58" name="Text 55"/>
          <p:cNvSpPr/>
          <p:nvPr/>
        </p:nvSpPr>
        <p:spPr>
          <a:xfrm>
            <a:off x="10747553" y="3273552"/>
            <a:ext cx="585216" cy="585216"/>
          </a:xfrm>
          <a:prstGeom prst="ellipse">
            <a:avLst/>
          </a:prstGeom>
          <a:solidFill>
            <a:srgbClr val="2E74C6"/>
          </a:solidFill>
          <a:ln w="15875">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59" name="Text 56"/>
          <p:cNvSpPr/>
          <p:nvPr/>
        </p:nvSpPr>
        <p:spPr>
          <a:xfrm>
            <a:off x="11753393" y="3913632"/>
            <a:ext cx="585216" cy="585216"/>
          </a:xfrm>
          <a:prstGeom prst="ellipse">
            <a:avLst/>
          </a:prstGeom>
          <a:solidFill>
            <a:srgbClr val="7C8598"/>
          </a:solidFill>
          <a:ln w="15875">
            <a:solidFill>
              <a:srgbClr val="7C8598"/>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60" name="Text 57"/>
          <p:cNvSpPr/>
          <p:nvPr/>
        </p:nvSpPr>
        <p:spPr>
          <a:xfrm>
            <a:off x="12622073" y="3182112"/>
            <a:ext cx="585216" cy="585216"/>
          </a:xfrm>
          <a:prstGeom prst="ellipse">
            <a:avLst/>
          </a:prstGeom>
          <a:solidFill>
            <a:srgbClr val="E8833A"/>
          </a:solidFill>
          <a:ln w="15875">
            <a:solidFill>
              <a:srgbClr val="E8833A"/>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61" name="Text 58"/>
          <p:cNvSpPr txBox="1"/>
          <p:nvPr/>
        </p:nvSpPr>
        <p:spPr>
          <a:xfrm>
            <a:off x="9912401" y="4526280"/>
            <a:ext cx="4084320" cy="292608"/>
          </a:xfrm>
          <a:prstGeom prst="rect">
            <a:avLst/>
          </a:prstGeom>
          <a:noFill/>
          <a:ln/>
        </p:spPr>
        <p:txBody>
          <a:bodyPr wrap="square" lIns="762" tIns="762" rIns="762" bIns="762" rtlCol="0" anchor="ctr"/>
          <a:lstStyle/>
          <a:p>
            <a:pPr algn="l" indent="0" marL="0">
              <a:buNone/>
            </a:pPr>
            <a:r>
              <a:rPr lang="en-US" sz="1400" dirty="0">
                <a:solidFill>
                  <a:srgbClr val="7C8598"/>
                </a:solidFill>
                <a:latin typeface="Pretendard" pitchFamily="34" charset="0"/>
                <a:ea typeface="Pretendard" pitchFamily="34" charset="-122"/>
                <a:cs typeface="Pretendard" pitchFamily="34" charset="-120"/>
              </a:rPr>
              <a:t>점 안 숫자: 합쳐진 엔티티 수, 선 굵기: 묶음 사이 연결 수</a:t>
            </a:r>
            <a:endParaRPr lang="en-US" sz="1400" dirty="0"/>
          </a:p>
        </p:txBody>
      </p:sp>
      <p:sp>
        <p:nvSpPr>
          <p:cNvPr id="62" name="Shape 59"/>
          <p:cNvSpPr/>
          <p:nvPr/>
        </p:nvSpPr>
        <p:spPr>
          <a:xfrm>
            <a:off x="509321" y="6263640"/>
            <a:ext cx="13624560" cy="1005840"/>
          </a:xfrm>
          <a:prstGeom prst="roundRect">
            <a:avLst>
              <a:gd name="adj" fmla="val 7273"/>
            </a:avLst>
          </a:prstGeom>
          <a:solidFill>
            <a:srgbClr val="1E2A5C"/>
          </a:solidFill>
          <a:ln/>
        </p:spPr>
      </p:sp>
      <p:sp>
        <p:nvSpPr>
          <p:cNvPr id="63" name="Text 60"/>
          <p:cNvSpPr txBox="1"/>
          <p:nvPr/>
        </p:nvSpPr>
        <p:spPr>
          <a:xfrm>
            <a:off x="509321" y="6263640"/>
            <a:ext cx="13624560" cy="1005840"/>
          </a:xfrm>
          <a:prstGeom prst="rect">
            <a:avLst/>
          </a:prstGeom>
          <a:noFill/>
          <a:ln/>
        </p:spPr>
        <p:txBody>
          <a:bodyPr wrap="square" lIns="635" tIns="635" rIns="635" bIns="635" rtlCol="0" anchor="ctr"/>
          <a:lstStyle/>
          <a:p>
            <a:pPr algn="ctr" indent="0" marL="0">
              <a:spcAft>
                <a:spcPts val="100"/>
              </a:spcAft>
              <a:buNone/>
            </a:pPr>
            <a:r>
              <a:rPr lang="en-US" sz="1500" b="1" dirty="0">
                <a:solidFill>
                  <a:srgbClr val="FFFFFF"/>
                </a:solidFill>
                <a:latin typeface="Pretendard" pitchFamily="34" charset="0"/>
                <a:ea typeface="Pretendard" pitchFamily="34" charset="-122"/>
                <a:cs typeface="Pretendard" pitchFamily="34" charset="-120"/>
              </a:rPr>
              <a:t>같은 그래프면 늘 같은 묶음</a:t>
            </a:r>
            <a:endParaRPr lang="en-US" sz="1500" dirty="0"/>
          </a:p>
          <a:p>
            <a:pPr algn="ctr" indent="0" marL="0">
              <a:spcAft>
                <a:spcPts val="100"/>
              </a:spcAft>
              <a:buNone/>
            </a:pPr>
            <a:r>
              <a:rPr lang="en-US" sz="1400" dirty="0">
                <a:solidFill>
                  <a:srgbClr val="FFFFFF"/>
                </a:solidFill>
                <a:latin typeface="Pretendard" pitchFamily="34" charset="0"/>
                <a:ea typeface="Pretendard" pitchFamily="34" charset="-122"/>
                <a:cs typeface="Pretendard" pitchFamily="34" charset="-120"/>
              </a:rPr>
              <a:t>옮겨 보는 순서에 따라 결과가 달라질 수 있어 씨앗(randomSeed)을 고정하고 병렬 처리를 하나로 둠</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2. 인덱싱: KG 구축 – K8. GDS로 커뮤니티 찾기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Neo4j 안에서 엔티티 그래프를 메모리에 투영하고, gds.leiden.stream으로 묶음 번호를 받은 뒤 투영을 지움</a:t>
            </a:r>
            <a:endParaRPr lang="en-US" sz="1800" dirty="0"/>
          </a:p>
        </p:txBody>
      </p:sp>
      <p:sp>
        <p:nvSpPr>
          <p:cNvPr id="5" name="Shape 2"/>
          <p:cNvSpPr/>
          <p:nvPr/>
        </p:nvSpPr>
        <p:spPr>
          <a:xfrm>
            <a:off x="509321" y="1737360"/>
            <a:ext cx="8275320" cy="4663440"/>
          </a:xfrm>
          <a:prstGeom prst="roundRect">
            <a:avLst>
              <a:gd name="adj" fmla="val 1176"/>
            </a:avLst>
          </a:prstGeom>
          <a:solidFill>
            <a:srgbClr val="F5F8FC"/>
          </a:solidFill>
          <a:ln w="12700">
            <a:solidFill>
              <a:srgbClr val="D9E0EC"/>
            </a:solidFill>
            <a:prstDash val="solid"/>
          </a:ln>
        </p:spPr>
      </p:sp>
      <p:sp>
        <p:nvSpPr>
          <p:cNvPr id="6" name="Text 3"/>
          <p:cNvSpPr txBox="1"/>
          <p:nvPr/>
        </p:nvSpPr>
        <p:spPr>
          <a:xfrm>
            <a:off x="619049" y="1810512"/>
            <a:ext cx="8055864" cy="310896"/>
          </a:xfrm>
          <a:prstGeom prst="rect">
            <a:avLst/>
          </a:prstGeom>
          <a:noFill/>
          <a:ln/>
        </p:spPr>
        <p:txBody>
          <a:bodyPr wrap="square" lIns="762" tIns="762" rIns="762" bIns="762" rtlCol="0" anchor="ctr"/>
          <a:lstStyle/>
          <a:p>
            <a:pPr algn="l" indent="0" marL="0">
              <a:buNone/>
            </a:pPr>
            <a:r>
              <a:rPr lang="en-US" sz="1400" b="1" dirty="0">
                <a:solidFill>
                  <a:srgbClr val="7C8598"/>
                </a:solidFill>
                <a:latin typeface="Pretendard" pitchFamily="34" charset="0"/>
                <a:ea typeface="Pretendard" pitchFamily="34" charset="-122"/>
                <a:cs typeface="Pretendard" pitchFamily="34" charset="-120"/>
              </a:rPr>
              <a:t>detect (community.py 발췌)</a:t>
            </a:r>
            <a:endParaRPr lang="en-US" sz="1400" dirty="0"/>
          </a:p>
        </p:txBody>
      </p:sp>
      <p:sp>
        <p:nvSpPr>
          <p:cNvPr id="7" name="Text 4"/>
          <p:cNvSpPr txBox="1"/>
          <p:nvPr/>
        </p:nvSpPr>
        <p:spPr>
          <a:xfrm>
            <a:off x="619049" y="2139696"/>
            <a:ext cx="8055864" cy="4206240"/>
          </a:xfrm>
          <a:prstGeom prst="rect">
            <a:avLst/>
          </a:prstGeom>
          <a:noFill/>
          <a:ln/>
        </p:spPr>
        <p:txBody>
          <a:bodyPr wrap="square" lIns="254" tIns="254" rIns="254" bIns="254" rtlCol="0" anchor="t"/>
          <a:lstStyle/>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① 투영: 엔티티를 키 순서로 넣고 엔티티 사이 관계만 이음(청크 노드는 없음)</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driver.execute_query(</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"UNWIND $rows AS row MATCH (s) WHERE elementId(s) = $ids[row.s] "</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"OPTIONAL MATCH (t) WHERE row.t IS NOT NULL AND elementId(t) = $ids[row.t] "</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"WITH gds.graph.project($name, s, t, {}, "</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"{undirectedRelationshipTypes: ['*']}) AS g "</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"RETURN g.nodeCount AS n", rows=rows, ids=ids, name=name)</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② Leiden: 씨앗 고정, 병렬 1 → 같은 그래프면 같은 묶음</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records, _, _ = driver.execute_query(</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"CALL gds.leiden.stream($name, {randomSeed: $seed, concurrency: 1}) "</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"YIELD nodeId, communityId "</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"RETURN elementId(gds.util.asNode(nodeId)) AS id, communityId AS c",</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name=name, seed=config.COMMUNITY_SEED)</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③ 투영 그래프는 메모리에만 있으므로 끝나면 반드시 지움</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driver.execute_query(</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"CALL gds.graph.drop($name, false) YIELD graphName "</a:t>
            </a:r>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p:txBody>
      </p:sp>
      <p:sp>
        <p:nvSpPr>
          <p:cNvPr id="8" name="Shape 5"/>
          <p:cNvSpPr/>
          <p:nvPr/>
        </p:nvSpPr>
        <p:spPr>
          <a:xfrm>
            <a:off x="9058961" y="1737360"/>
            <a:ext cx="5074920" cy="1062990"/>
          </a:xfrm>
          <a:prstGeom prst="roundRect">
            <a:avLst>
              <a:gd name="adj" fmla="val 6882"/>
            </a:avLst>
          </a:prstGeom>
          <a:solidFill>
            <a:srgbClr val="EEF3FA"/>
          </a:solidFill>
          <a:ln w="12700">
            <a:solidFill>
              <a:srgbClr val="2E74C6"/>
            </a:solidFill>
            <a:prstDash val="solid"/>
          </a:ln>
        </p:spPr>
      </p:sp>
      <p:sp>
        <p:nvSpPr>
          <p:cNvPr id="9" name="Text 6"/>
          <p:cNvSpPr txBox="1"/>
          <p:nvPr/>
        </p:nvSpPr>
        <p:spPr>
          <a:xfrm>
            <a:off x="9058961" y="1737360"/>
            <a:ext cx="5074920" cy="1062990"/>
          </a:xfrm>
          <a:prstGeom prst="rect">
            <a:avLst/>
          </a:prstGeom>
          <a:noFill/>
          <a:ln/>
        </p:spPr>
        <p:txBody>
          <a:bodyPr wrap="square" lIns="127000" tIns="50800" rIns="127000" bIns="50800" rtlCol="0" anchor="ctr"/>
          <a:lstStyle/>
          <a:p>
            <a:pPr algn="l"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투영 그래프</a:t>
            </a:r>
            <a:endParaRPr lang="en-US" sz="1500" dirty="0"/>
          </a:p>
          <a:p>
            <a:pPr algn="l"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필요한 노드와 관계만 메모리에 복사한 그래프. GDS 알고리즘은 이 위에서 돎</a:t>
            </a:r>
            <a:endParaRPr lang="en-US" sz="1500" dirty="0"/>
          </a:p>
        </p:txBody>
      </p:sp>
      <p:sp>
        <p:nvSpPr>
          <p:cNvPr id="10" name="Shape 7"/>
          <p:cNvSpPr/>
          <p:nvPr/>
        </p:nvSpPr>
        <p:spPr>
          <a:xfrm>
            <a:off x="9058961" y="2937510"/>
            <a:ext cx="5074920" cy="1062990"/>
          </a:xfrm>
          <a:prstGeom prst="roundRect">
            <a:avLst>
              <a:gd name="adj" fmla="val 6882"/>
            </a:avLst>
          </a:prstGeom>
          <a:solidFill>
            <a:srgbClr val="FFFFFF"/>
          </a:solidFill>
          <a:ln w="12700">
            <a:solidFill>
              <a:srgbClr val="D9E0EC"/>
            </a:solidFill>
            <a:prstDash val="solid"/>
          </a:ln>
        </p:spPr>
      </p:sp>
      <p:sp>
        <p:nvSpPr>
          <p:cNvPr id="11" name="Text 8"/>
          <p:cNvSpPr txBox="1"/>
          <p:nvPr/>
        </p:nvSpPr>
        <p:spPr>
          <a:xfrm>
            <a:off x="9058961" y="2937510"/>
            <a:ext cx="5074920" cy="1062990"/>
          </a:xfrm>
          <a:prstGeom prst="rect">
            <a:avLst/>
          </a:prstGeom>
          <a:noFill/>
          <a:ln/>
        </p:spPr>
        <p:txBody>
          <a:bodyPr wrap="square" lIns="127000" tIns="50800" rIns="127000" bIns="50800" rtlCol="0" anchor="ctr"/>
          <a:lstStyle/>
          <a:p>
            <a:pPr algn="l"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무방향</a:t>
            </a:r>
            <a:endParaRPr lang="en-US" sz="1500" dirty="0"/>
          </a:p>
          <a:p>
            <a:pPr algn="l"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관계 방향은 묶음과 상관없어 양쪽으로 봄</a:t>
            </a:r>
            <a:endParaRPr lang="en-US" sz="1500" dirty="0"/>
          </a:p>
        </p:txBody>
      </p:sp>
      <p:sp>
        <p:nvSpPr>
          <p:cNvPr id="12" name="Shape 9"/>
          <p:cNvSpPr/>
          <p:nvPr/>
        </p:nvSpPr>
        <p:spPr>
          <a:xfrm>
            <a:off x="9058961" y="4137660"/>
            <a:ext cx="5074920" cy="1062990"/>
          </a:xfrm>
          <a:prstGeom prst="roundRect">
            <a:avLst>
              <a:gd name="adj" fmla="val 6882"/>
            </a:avLst>
          </a:prstGeom>
          <a:solidFill>
            <a:srgbClr val="FFFFFF"/>
          </a:solidFill>
          <a:ln w="12700">
            <a:solidFill>
              <a:srgbClr val="D9E0EC"/>
            </a:solidFill>
            <a:prstDash val="solid"/>
          </a:ln>
        </p:spPr>
      </p:sp>
      <p:sp>
        <p:nvSpPr>
          <p:cNvPr id="13" name="Text 10"/>
          <p:cNvSpPr txBox="1"/>
          <p:nvPr/>
        </p:nvSpPr>
        <p:spPr>
          <a:xfrm>
            <a:off x="9058961" y="4137660"/>
            <a:ext cx="5074920" cy="1062990"/>
          </a:xfrm>
          <a:prstGeom prst="rect">
            <a:avLst/>
          </a:prstGeom>
          <a:noFill/>
          <a:ln/>
        </p:spPr>
        <p:txBody>
          <a:bodyPr wrap="square" lIns="127000" tIns="50800" rIns="127000" bIns="50800" rtlCol="0" anchor="ctr"/>
          <a:lstStyle/>
          <a:p>
            <a:pPr algn="l"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stream 방식</a:t>
            </a:r>
            <a:endParaRPr lang="en-US" sz="1500" dirty="0"/>
          </a:p>
          <a:p>
            <a:pPr algn="l"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그래프를 고치지 않고 엔티티마다 묶음 번호만 돌려줌</a:t>
            </a:r>
            <a:endParaRPr lang="en-US" sz="1500" dirty="0"/>
          </a:p>
        </p:txBody>
      </p:sp>
      <p:sp>
        <p:nvSpPr>
          <p:cNvPr id="14" name="Shape 11"/>
          <p:cNvSpPr/>
          <p:nvPr/>
        </p:nvSpPr>
        <p:spPr>
          <a:xfrm>
            <a:off x="9058961" y="5337810"/>
            <a:ext cx="5074920" cy="1062990"/>
          </a:xfrm>
          <a:prstGeom prst="roundRect">
            <a:avLst>
              <a:gd name="adj" fmla="val 6882"/>
            </a:avLst>
          </a:prstGeom>
          <a:solidFill>
            <a:srgbClr val="FFFFFF"/>
          </a:solidFill>
          <a:ln w="12700">
            <a:solidFill>
              <a:srgbClr val="D9E0EC"/>
            </a:solidFill>
            <a:prstDash val="solid"/>
          </a:ln>
        </p:spPr>
      </p:sp>
      <p:sp>
        <p:nvSpPr>
          <p:cNvPr id="15" name="Text 12"/>
          <p:cNvSpPr txBox="1"/>
          <p:nvPr/>
        </p:nvSpPr>
        <p:spPr>
          <a:xfrm>
            <a:off x="9058961" y="5337810"/>
            <a:ext cx="5074920" cy="1062990"/>
          </a:xfrm>
          <a:prstGeom prst="rect">
            <a:avLst/>
          </a:prstGeom>
          <a:noFill/>
          <a:ln/>
        </p:spPr>
        <p:txBody>
          <a:bodyPr wrap="square" lIns="127000" tIns="50800" rIns="127000" bIns="50800" rtlCol="0" anchor="ctr"/>
          <a:lstStyle/>
          <a:p>
            <a:pPr algn="l"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Community Edition</a:t>
            </a:r>
            <a:endParaRPr lang="en-US" sz="1500" dirty="0"/>
          </a:p>
          <a:p>
            <a:pPr algn="l"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GDS도 무료. 모든 알고리즘을 쓰고 병렬은 4코어까지</a:t>
            </a:r>
            <a:endParaRPr lang="en-US" sz="1500" dirty="0"/>
          </a:p>
        </p:txBody>
      </p:sp>
      <p:sp>
        <p:nvSpPr>
          <p:cNvPr id="16" name="Shape 13"/>
          <p:cNvSpPr/>
          <p:nvPr/>
        </p:nvSpPr>
        <p:spPr>
          <a:xfrm>
            <a:off x="509321" y="6537960"/>
            <a:ext cx="13624560" cy="731520"/>
          </a:xfrm>
          <a:prstGeom prst="roundRect">
            <a:avLst>
              <a:gd name="adj" fmla="val 10000"/>
            </a:avLst>
          </a:prstGeom>
          <a:solidFill>
            <a:srgbClr val="1E2A5C"/>
          </a:solidFill>
          <a:ln/>
        </p:spPr>
      </p:sp>
      <p:sp>
        <p:nvSpPr>
          <p:cNvPr id="17" name="Text 14"/>
          <p:cNvSpPr txBox="1"/>
          <p:nvPr/>
        </p:nvSpPr>
        <p:spPr>
          <a:xfrm>
            <a:off x="509321" y="6537960"/>
            <a:ext cx="13624560" cy="731520"/>
          </a:xfrm>
          <a:prstGeom prst="rect">
            <a:avLst/>
          </a:prstGeom>
          <a:noFill/>
          <a:ln/>
        </p:spPr>
        <p:txBody>
          <a:bodyPr wrap="square" lIns="635" tIns="635" rIns="635" bIns="635" rtlCol="0" anchor="ctr"/>
          <a:lstStyle/>
          <a:p>
            <a:pPr algn="ctr" indent="0" marL="0">
              <a:spcAft>
                <a:spcPts val="100"/>
              </a:spcAft>
              <a:buNone/>
            </a:pPr>
            <a:r>
              <a:rPr lang="en-US" sz="1500" b="1" dirty="0">
                <a:solidFill>
                  <a:srgbClr val="FFFFFF"/>
                </a:solidFill>
                <a:latin typeface="Pretendard" pitchFamily="34" charset="0"/>
                <a:ea typeface="Pretendard" pitchFamily="34" charset="-122"/>
                <a:cs typeface="Pretendard" pitchFamily="34" charset="-120"/>
              </a:rPr>
              <a:t>v0 전체 재색인: 엔티티 1,663개, 관계 1,527개 → 묶음 144개</a:t>
            </a:r>
            <a:endParaRPr lang="en-US" sz="1500" dirty="0"/>
          </a:p>
          <a:p>
            <a:pPr algn="ctr" indent="0" marL="0">
              <a:spcAft>
                <a:spcPts val="100"/>
              </a:spcAft>
              <a:buNone/>
            </a:pPr>
            <a:r>
              <a:rPr lang="en-US" sz="1400" dirty="0">
                <a:solidFill>
                  <a:srgbClr val="FFFFFF"/>
                </a:solidFill>
                <a:latin typeface="Pretendard" pitchFamily="34" charset="0"/>
                <a:ea typeface="Pretendard" pitchFamily="34" charset="-122"/>
                <a:cs typeface="Pretendard" pitchFamily="34" charset="-120"/>
              </a:rPr>
              <a:t>엔티티 3개 이상 78개 요약. 가장 큰 묶음 147, 37, 32개. 문서 종류가 섞인 묶음 0개</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2. 인덱싱: KG 구축 – K8. 묶음마다 보고서 쓰기 (원리와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묶음의 엔티티 설명과 관계를 LLM에 주고, 근거 엔티티를 단 제목, 요약, 핵심 사실을 받아 임베딩해 저장함</a:t>
            </a:r>
            <a:endParaRPr lang="en-US" sz="1800" dirty="0"/>
          </a:p>
        </p:txBody>
      </p:sp>
      <p:sp>
        <p:nvSpPr>
          <p:cNvPr id="5" name="Shape 2"/>
          <p:cNvSpPr/>
          <p:nvPr/>
        </p:nvSpPr>
        <p:spPr>
          <a:xfrm>
            <a:off x="509321" y="1737360"/>
            <a:ext cx="6400800" cy="2606040"/>
          </a:xfrm>
          <a:prstGeom prst="roundRect">
            <a:avLst>
              <a:gd name="adj" fmla="val 2105"/>
            </a:avLst>
          </a:prstGeom>
          <a:solidFill>
            <a:srgbClr val="F5F8FC"/>
          </a:solidFill>
          <a:ln w="12700">
            <a:solidFill>
              <a:srgbClr val="D9E0EC"/>
            </a:solidFill>
            <a:prstDash val="solid"/>
          </a:ln>
        </p:spPr>
      </p:sp>
      <p:sp>
        <p:nvSpPr>
          <p:cNvPr id="6" name="Text 3"/>
          <p:cNvSpPr txBox="1"/>
          <p:nvPr/>
        </p:nvSpPr>
        <p:spPr>
          <a:xfrm>
            <a:off x="619049" y="1810512"/>
            <a:ext cx="6181344" cy="310896"/>
          </a:xfrm>
          <a:prstGeom prst="rect">
            <a:avLst/>
          </a:prstGeom>
          <a:noFill/>
          <a:ln/>
        </p:spPr>
        <p:txBody>
          <a:bodyPr wrap="square" lIns="762" tIns="762" rIns="762" bIns="762" rtlCol="0" anchor="ctr"/>
          <a:lstStyle/>
          <a:p>
            <a:pPr algn="l" indent="0" marL="0">
              <a:buNone/>
            </a:pPr>
            <a:r>
              <a:rPr lang="en-US" sz="1400" b="1" dirty="0">
                <a:solidFill>
                  <a:srgbClr val="7C8598"/>
                </a:solidFill>
                <a:latin typeface="Pretendard" pitchFamily="34" charset="0"/>
                <a:ea typeface="Pretendard" pitchFamily="34" charset="-122"/>
                <a:cs typeface="Pretendard" pitchFamily="34" charset="-120"/>
              </a:rPr>
              <a:t>LLM 입력과 출력 (프롬프트 요지)</a:t>
            </a:r>
            <a:endParaRPr lang="en-US" sz="1400" dirty="0"/>
          </a:p>
        </p:txBody>
      </p:sp>
      <p:sp>
        <p:nvSpPr>
          <p:cNvPr id="7" name="Text 4"/>
          <p:cNvSpPr txBox="1"/>
          <p:nvPr/>
        </p:nvSpPr>
        <p:spPr>
          <a:xfrm>
            <a:off x="619049" y="2139696"/>
            <a:ext cx="6181344" cy="2148840"/>
          </a:xfrm>
          <a:prstGeom prst="rect">
            <a:avLst/>
          </a:prstGeom>
          <a:noFill/>
          <a:ln/>
        </p:spPr>
        <p:txBody>
          <a:bodyPr wrap="square" lIns="254" tIns="254" rIns="254" bIns="254" rtlCol="0" anchor="t"/>
          <a:lstStyle/>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엔티티:</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e1. Complaint: cause=매달 계산도 부담이고요.</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e2. Complaint: cause=실적을 매번 챙기는 것도 부담이에요.</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관계:</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e9 -[HAS_COMPLAINT]-&gt; e1</a:t>
            </a:r>
            <a:endParaRPr lang="en-US" sz="1400" dirty="0"/>
          </a:p>
          <a:p>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출력(JSON): {"title": "묶음 주제 한 줄", "summary": "3 ~ 5문장",</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"findings": [{"text": "핵심 사실", "entities": ["e1"]}]}</a:t>
            </a:r>
            <a:endParaRPr lang="en-US" sz="1400" dirty="0"/>
          </a:p>
        </p:txBody>
      </p:sp>
      <p:sp>
        <p:nvSpPr>
          <p:cNvPr id="8" name="Shape 5"/>
          <p:cNvSpPr/>
          <p:nvPr/>
        </p:nvSpPr>
        <p:spPr>
          <a:xfrm>
            <a:off x="509321" y="4480560"/>
            <a:ext cx="6400800" cy="1920240"/>
          </a:xfrm>
          <a:prstGeom prst="roundRect">
            <a:avLst>
              <a:gd name="adj" fmla="val 2857"/>
            </a:avLst>
          </a:prstGeom>
          <a:solidFill>
            <a:srgbClr val="F5F8FC"/>
          </a:solidFill>
          <a:ln w="12700">
            <a:solidFill>
              <a:srgbClr val="D9E0EC"/>
            </a:solidFill>
            <a:prstDash val="solid"/>
          </a:ln>
        </p:spPr>
      </p:sp>
      <p:sp>
        <p:nvSpPr>
          <p:cNvPr id="9" name="Text 6"/>
          <p:cNvSpPr txBox="1"/>
          <p:nvPr/>
        </p:nvSpPr>
        <p:spPr>
          <a:xfrm>
            <a:off x="619049" y="4553712"/>
            <a:ext cx="6181344" cy="310896"/>
          </a:xfrm>
          <a:prstGeom prst="rect">
            <a:avLst/>
          </a:prstGeom>
          <a:noFill/>
          <a:ln/>
        </p:spPr>
        <p:txBody>
          <a:bodyPr wrap="square" lIns="762" tIns="762" rIns="762" bIns="762" rtlCol="0" anchor="ctr"/>
          <a:lstStyle/>
          <a:p>
            <a:pPr algn="l" indent="0" marL="0">
              <a:buNone/>
            </a:pPr>
            <a:r>
              <a:rPr lang="en-US" sz="1400" b="1" dirty="0">
                <a:solidFill>
                  <a:srgbClr val="7C8598"/>
                </a:solidFill>
                <a:latin typeface="Pretendard" pitchFamily="34" charset="0"/>
                <a:ea typeface="Pretendard" pitchFamily="34" charset="-122"/>
                <a:cs typeface="Pretendard" pitchFamily="34" charset="-120"/>
              </a:rPr>
              <a:t>⑤ 적재 (community.py 발췌)</a:t>
            </a:r>
            <a:endParaRPr lang="en-US" sz="1400" dirty="0"/>
          </a:p>
        </p:txBody>
      </p:sp>
      <p:sp>
        <p:nvSpPr>
          <p:cNvPr id="10" name="Text 7"/>
          <p:cNvSpPr txBox="1"/>
          <p:nvPr/>
        </p:nvSpPr>
        <p:spPr>
          <a:xfrm>
            <a:off x="619049" y="4882896"/>
            <a:ext cx="6181344" cy="1463040"/>
          </a:xfrm>
          <a:prstGeom prst="rect">
            <a:avLst/>
          </a:prstGeom>
          <a:noFill/>
          <a:ln/>
        </p:spPr>
        <p:txBody>
          <a:bodyPr wrap="square" lIns="254" tIns="254" rIns="254" bIns="254" rtlCol="0" anchor="t"/>
          <a:lstStyle/>
          <a:p>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CREATE (c:Community {community_id, title, summary,</a:t>
            </a:r>
            <a:pPr indent="0" marL="0">
              <a:lnSpc>
                <a:spcPct val="105000"/>
              </a:lnSpc>
              <a:buNone/>
            </a:pPr>
            <a:endParaRPr lang="en-US" sz="1400" dirty="0"/>
          </a:p>
          <a:p>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  findings, member_hash, size, generation, run_id})</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CALL db.create.setNodeVectorProperty(c, 'embedding', row.vec)</a:t>
            </a:r>
            <a:endParaRPr lang="en-US" sz="1400" dirty="0"/>
          </a:p>
          <a:p>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CREATE (e)-[:IN_COMMUNITY]-&gt;(c)</a:t>
            </a:r>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 묶음의 엔티티마다</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CREATE VECTOR INDEX kg_community_embedding …</a:t>
            </a:r>
            <a:endParaRPr lang="en-US" sz="1400" dirty="0"/>
          </a:p>
        </p:txBody>
      </p:sp>
      <p:sp>
        <p:nvSpPr>
          <p:cNvPr id="11" name="Text 8"/>
          <p:cNvSpPr txBox="1"/>
          <p:nvPr/>
        </p:nvSpPr>
        <p:spPr>
          <a:xfrm>
            <a:off x="7184441" y="1737360"/>
            <a:ext cx="6949440" cy="329184"/>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실제 보고서 예 (v0 전체 재색인, 엔티티 23개 묶음)</a:t>
            </a:r>
            <a:endParaRPr lang="en-US" sz="1500" dirty="0"/>
          </a:p>
        </p:txBody>
      </p:sp>
      <p:sp>
        <p:nvSpPr>
          <p:cNvPr id="12" name="Shape 9"/>
          <p:cNvSpPr/>
          <p:nvPr/>
        </p:nvSpPr>
        <p:spPr>
          <a:xfrm>
            <a:off x="7184441" y="2121408"/>
            <a:ext cx="6949440" cy="1600200"/>
          </a:xfrm>
          <a:prstGeom prst="roundRect">
            <a:avLst>
              <a:gd name="adj" fmla="val 4571"/>
            </a:avLst>
          </a:prstGeom>
          <a:solidFill>
            <a:srgbClr val="EEF3FA"/>
          </a:solidFill>
          <a:ln w="12700">
            <a:solidFill>
              <a:srgbClr val="2E74C6"/>
            </a:solidFill>
            <a:prstDash val="solid"/>
          </a:ln>
        </p:spPr>
      </p:sp>
      <p:sp>
        <p:nvSpPr>
          <p:cNvPr id="13" name="Text 10"/>
          <p:cNvSpPr txBox="1"/>
          <p:nvPr/>
        </p:nvSpPr>
        <p:spPr>
          <a:xfrm>
            <a:off x="7184441" y="2121408"/>
            <a:ext cx="6949440" cy="1600200"/>
          </a:xfrm>
          <a:prstGeom prst="rect">
            <a:avLst/>
          </a:prstGeom>
          <a:noFill/>
          <a:ln/>
        </p:spPr>
        <p:txBody>
          <a:bodyPr wrap="square" lIns="127000" tIns="50800" rIns="127000" bIns="50800" rtlCol="0" anchor="t"/>
          <a:lstStyle/>
          <a:p>
            <a:pPr algn="l" indent="0" marL="0">
              <a:spcAft>
                <a:spcPts val="100"/>
              </a:spcAft>
              <a:buNone/>
            </a:pPr>
            <a:r>
              <a:rPr lang="en-US" sz="1500" b="1" dirty="0">
                <a:solidFill>
                  <a:srgbClr val="1E2A5C"/>
                </a:solidFill>
                <a:latin typeface="Pretendard" pitchFamily="34" charset="0"/>
                <a:ea typeface="Pretendard" pitchFamily="34" charset="-122"/>
                <a:cs typeface="Pretendard" pitchFamily="34" charset="-120"/>
              </a:rPr>
              <a:t>연회비 대비 가치에 대한 고객 불만 및 상담 흐름</a:t>
            </a:r>
            <a:endParaRPr lang="en-US" sz="1500" dirty="0"/>
          </a:p>
          <a:p>
            <a:pPr algn="l" indent="0" marL="0">
              <a:spcAft>
                <a:spcPts val="100"/>
              </a:spcAft>
              <a:buNone/>
            </a:pPr>
            <a:r>
              <a:rPr lang="en-US" sz="1400" dirty="0">
                <a:solidFill>
                  <a:srgbClr val="1E2A5C"/>
                </a:solidFill>
                <a:latin typeface="Pretendard" pitchFamily="34" charset="0"/>
                <a:ea typeface="Pretendard" pitchFamily="34" charset="-122"/>
                <a:cs typeface="Pretendard" pitchFamily="34" charset="-120"/>
              </a:rPr>
              <a:t>고객은 연회비에 비해 실질적인 혜택이 부족하다고 불만을 제기하고, 매달 계산과 실적 관리까지 부담을 느낍니다. 이와 관련해 앱 채팅, 영업점 방문, 콜센터 통화를 통해 연회비 대비 가치를 평가하는 상담이 연속적으로 진행되었습니다. 상담 과정에서 결제 수단 변경, 연회비 분납, 비용 확인 등 다양한 제안이 제시되었으며, 일부는 수용되고 일부는 보류·거절되었습니다. 고객은 다음 청구서를 확인한 뒤 최종 결정을 내리겠다고 밝혔습니다.</a:t>
            </a:r>
            <a:endParaRPr lang="en-US" sz="1500" dirty="0"/>
          </a:p>
        </p:txBody>
      </p:sp>
      <p:sp>
        <p:nvSpPr>
          <p:cNvPr id="14" name="Text 11"/>
          <p:cNvSpPr txBox="1"/>
          <p:nvPr/>
        </p:nvSpPr>
        <p:spPr>
          <a:xfrm>
            <a:off x="7184441" y="3840480"/>
            <a:ext cx="6949440" cy="310896"/>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핵심 사실과 근거 엔티티</a:t>
            </a:r>
            <a:endParaRPr lang="en-US" sz="1500" dirty="0"/>
          </a:p>
        </p:txBody>
      </p:sp>
      <p:sp>
        <p:nvSpPr>
          <p:cNvPr id="15" name="Shape 12"/>
          <p:cNvSpPr/>
          <p:nvPr/>
        </p:nvSpPr>
        <p:spPr>
          <a:xfrm>
            <a:off x="7184441" y="4206240"/>
            <a:ext cx="6949440" cy="670560"/>
          </a:xfrm>
          <a:prstGeom prst="roundRect">
            <a:avLst>
              <a:gd name="adj" fmla="val 10909"/>
            </a:avLst>
          </a:prstGeom>
          <a:solidFill>
            <a:srgbClr val="FFFFFF"/>
          </a:solidFill>
          <a:ln w="12700">
            <a:solidFill>
              <a:srgbClr val="D9E0EC"/>
            </a:solidFill>
            <a:prstDash val="solid"/>
          </a:ln>
        </p:spPr>
      </p:sp>
      <p:sp>
        <p:nvSpPr>
          <p:cNvPr id="16" name="Text 13"/>
          <p:cNvSpPr txBox="1"/>
          <p:nvPr/>
        </p:nvSpPr>
        <p:spPr>
          <a:xfrm>
            <a:off x="7257593" y="4206240"/>
            <a:ext cx="6803136" cy="670560"/>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고객은 연회비가 높지만 체감 혜택이 없어 생활비 관리에 부담을 느낀다. [근거: Complaint(연회비 하나 때문에 생활비 관리 방식을 전부 바꾸고 싶지는 않아요.), Complaint(연회비는 그대로인데 제가 받는 혜택이 없다는 게 불만이에요.) …]</a:t>
            </a:r>
            <a:endParaRPr lang="en-US" sz="1400" dirty="0"/>
          </a:p>
        </p:txBody>
      </p:sp>
      <p:sp>
        <p:nvSpPr>
          <p:cNvPr id="17" name="Shape 14"/>
          <p:cNvSpPr/>
          <p:nvPr/>
        </p:nvSpPr>
        <p:spPr>
          <a:xfrm>
            <a:off x="7184441" y="4968240"/>
            <a:ext cx="6949440" cy="670560"/>
          </a:xfrm>
          <a:prstGeom prst="roundRect">
            <a:avLst>
              <a:gd name="adj" fmla="val 10909"/>
            </a:avLst>
          </a:prstGeom>
          <a:solidFill>
            <a:srgbClr val="FFFFFF"/>
          </a:solidFill>
          <a:ln w="12700">
            <a:solidFill>
              <a:srgbClr val="D9E0EC"/>
            </a:solidFill>
            <a:prstDash val="solid"/>
          </a:ln>
        </p:spPr>
      </p:sp>
      <p:sp>
        <p:nvSpPr>
          <p:cNvPr id="18" name="Text 15"/>
          <p:cNvSpPr txBox="1"/>
          <p:nvPr/>
        </p:nvSpPr>
        <p:spPr>
          <a:xfrm>
            <a:off x="7257593" y="4968240"/>
            <a:ext cx="6803136" cy="670560"/>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월별 계산과 실적 추적 요구가 추가적인 스트레스를 유발한다. [근거: Complaint(매달 계산도 부담이고요.), Complaint(실적을 매번 챙기는 것도 부담이에요.) …]</a:t>
            </a:r>
            <a:endParaRPr lang="en-US" sz="1400" dirty="0"/>
          </a:p>
        </p:txBody>
      </p:sp>
      <p:sp>
        <p:nvSpPr>
          <p:cNvPr id="19" name="Shape 16"/>
          <p:cNvSpPr/>
          <p:nvPr/>
        </p:nvSpPr>
        <p:spPr>
          <a:xfrm>
            <a:off x="7184441" y="5730240"/>
            <a:ext cx="6949440" cy="670560"/>
          </a:xfrm>
          <a:prstGeom prst="roundRect">
            <a:avLst>
              <a:gd name="adj" fmla="val 10909"/>
            </a:avLst>
          </a:prstGeom>
          <a:solidFill>
            <a:srgbClr val="FFFFFF"/>
          </a:solidFill>
          <a:ln w="12700">
            <a:solidFill>
              <a:srgbClr val="D9E0EC"/>
            </a:solidFill>
            <a:prstDash val="solid"/>
          </a:ln>
        </p:spPr>
      </p:sp>
      <p:sp>
        <p:nvSpPr>
          <p:cNvPr id="20" name="Text 17"/>
          <p:cNvSpPr txBox="1"/>
          <p:nvPr/>
        </p:nvSpPr>
        <p:spPr>
          <a:xfrm>
            <a:off x="7257593" y="5730240"/>
            <a:ext cx="6803136" cy="670560"/>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앱 채팅, 영업점, 콜센터 등 여러 채널에서 연회비 대비 가치에 대한 상담이 연속적으로 이루어졌다. [근거: Consultation(앱 채팅), Consultation(영업점) …]</a:t>
            </a:r>
            <a:endParaRPr lang="en-US" sz="1400" dirty="0"/>
          </a:p>
        </p:txBody>
      </p:sp>
      <p:sp>
        <p:nvSpPr>
          <p:cNvPr id="21" name="Shape 18"/>
          <p:cNvSpPr/>
          <p:nvPr/>
        </p:nvSpPr>
        <p:spPr>
          <a:xfrm>
            <a:off x="509321" y="6537960"/>
            <a:ext cx="4419600" cy="731520"/>
          </a:xfrm>
          <a:prstGeom prst="roundRect">
            <a:avLst>
              <a:gd name="adj" fmla="val 10000"/>
            </a:avLst>
          </a:prstGeom>
          <a:solidFill>
            <a:srgbClr val="F5F8FC"/>
          </a:solidFill>
          <a:ln w="12700">
            <a:solidFill>
              <a:srgbClr val="D9E0EC"/>
            </a:solidFill>
            <a:prstDash val="solid"/>
          </a:ln>
        </p:spPr>
      </p:sp>
      <p:sp>
        <p:nvSpPr>
          <p:cNvPr id="22" name="Shape 19"/>
          <p:cNvSpPr/>
          <p:nvPr/>
        </p:nvSpPr>
        <p:spPr>
          <a:xfrm>
            <a:off x="619049" y="6629400"/>
            <a:ext cx="310896" cy="310896"/>
          </a:xfrm>
          <a:prstGeom prst="roundRect">
            <a:avLst>
              <a:gd name="adj" fmla="val 14706"/>
            </a:avLst>
          </a:prstGeom>
          <a:solidFill>
            <a:srgbClr val="2E74C6"/>
          </a:solidFill>
          <a:ln/>
        </p:spPr>
      </p:sp>
      <p:sp>
        <p:nvSpPr>
          <p:cNvPr id="23" name="Text 20"/>
          <p:cNvSpPr txBox="1"/>
          <p:nvPr/>
        </p:nvSpPr>
        <p:spPr>
          <a:xfrm>
            <a:off x="619049" y="6629400"/>
            <a:ext cx="310896" cy="310896"/>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24" name="Text 21"/>
          <p:cNvSpPr txBox="1"/>
          <p:nvPr/>
        </p:nvSpPr>
        <p:spPr>
          <a:xfrm>
            <a:off x="1012241" y="6592824"/>
            <a:ext cx="3825240" cy="384048"/>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근거를 단다</a:t>
            </a:r>
            <a:endParaRPr lang="en-US" sz="1500" dirty="0"/>
          </a:p>
        </p:txBody>
      </p:sp>
      <p:sp>
        <p:nvSpPr>
          <p:cNvPr id="25" name="Text 22"/>
          <p:cNvSpPr txBox="1"/>
          <p:nvPr/>
        </p:nvSpPr>
        <p:spPr>
          <a:xfrm>
            <a:off x="646481" y="6958584"/>
            <a:ext cx="4145280" cy="274320"/>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핵심 사실마다 근거 엔티티를 적어 지어낸 내용을 되짚음</a:t>
            </a:r>
            <a:endParaRPr lang="en-US" sz="1400" dirty="0"/>
          </a:p>
        </p:txBody>
      </p:sp>
      <p:sp>
        <p:nvSpPr>
          <p:cNvPr id="26" name="Shape 23"/>
          <p:cNvSpPr/>
          <p:nvPr/>
        </p:nvSpPr>
        <p:spPr>
          <a:xfrm>
            <a:off x="5111801" y="6537960"/>
            <a:ext cx="4419600" cy="731520"/>
          </a:xfrm>
          <a:prstGeom prst="roundRect">
            <a:avLst>
              <a:gd name="adj" fmla="val 10000"/>
            </a:avLst>
          </a:prstGeom>
          <a:solidFill>
            <a:srgbClr val="F5F8FC"/>
          </a:solidFill>
          <a:ln w="12700">
            <a:solidFill>
              <a:srgbClr val="D9E0EC"/>
            </a:solidFill>
            <a:prstDash val="solid"/>
          </a:ln>
        </p:spPr>
      </p:sp>
      <p:sp>
        <p:nvSpPr>
          <p:cNvPr id="27" name="Shape 24"/>
          <p:cNvSpPr/>
          <p:nvPr/>
        </p:nvSpPr>
        <p:spPr>
          <a:xfrm>
            <a:off x="5221529" y="6629400"/>
            <a:ext cx="310896" cy="310896"/>
          </a:xfrm>
          <a:prstGeom prst="roundRect">
            <a:avLst>
              <a:gd name="adj" fmla="val 14706"/>
            </a:avLst>
          </a:prstGeom>
          <a:solidFill>
            <a:srgbClr val="2E74C6"/>
          </a:solidFill>
          <a:ln/>
        </p:spPr>
      </p:sp>
      <p:sp>
        <p:nvSpPr>
          <p:cNvPr id="28" name="Text 25"/>
          <p:cNvSpPr txBox="1"/>
          <p:nvPr/>
        </p:nvSpPr>
        <p:spPr>
          <a:xfrm>
            <a:off x="5221529" y="6629400"/>
            <a:ext cx="310896" cy="310896"/>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29" name="Text 26"/>
          <p:cNvSpPr txBox="1"/>
          <p:nvPr/>
        </p:nvSpPr>
        <p:spPr>
          <a:xfrm>
            <a:off x="5614721" y="6592824"/>
            <a:ext cx="3825240" cy="384048"/>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지문으로 재사용</a:t>
            </a:r>
            <a:endParaRPr lang="en-US" sz="1500" dirty="0"/>
          </a:p>
        </p:txBody>
      </p:sp>
      <p:sp>
        <p:nvSpPr>
          <p:cNvPr id="30" name="Text 27"/>
          <p:cNvSpPr txBox="1"/>
          <p:nvPr/>
        </p:nvSpPr>
        <p:spPr>
          <a:xfrm>
            <a:off x="5248961" y="6958584"/>
            <a:ext cx="4145280" cy="274320"/>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보고서 판, 구성원, 관계가 같으면 LLM을 부르지 않음</a:t>
            </a:r>
            <a:endParaRPr lang="en-US" sz="1400" dirty="0"/>
          </a:p>
        </p:txBody>
      </p:sp>
      <p:sp>
        <p:nvSpPr>
          <p:cNvPr id="31" name="Shape 28"/>
          <p:cNvSpPr/>
          <p:nvPr/>
        </p:nvSpPr>
        <p:spPr>
          <a:xfrm>
            <a:off x="9714281" y="6537960"/>
            <a:ext cx="4419600" cy="731520"/>
          </a:xfrm>
          <a:prstGeom prst="roundRect">
            <a:avLst>
              <a:gd name="adj" fmla="val 10000"/>
            </a:avLst>
          </a:prstGeom>
          <a:solidFill>
            <a:srgbClr val="F5F8FC"/>
          </a:solidFill>
          <a:ln w="12700">
            <a:solidFill>
              <a:srgbClr val="D9E0EC"/>
            </a:solidFill>
            <a:prstDash val="solid"/>
          </a:ln>
        </p:spPr>
      </p:sp>
      <p:sp>
        <p:nvSpPr>
          <p:cNvPr id="32" name="Shape 29"/>
          <p:cNvSpPr/>
          <p:nvPr/>
        </p:nvSpPr>
        <p:spPr>
          <a:xfrm>
            <a:off x="9824009" y="6629400"/>
            <a:ext cx="310896" cy="310896"/>
          </a:xfrm>
          <a:prstGeom prst="roundRect">
            <a:avLst>
              <a:gd name="adj" fmla="val 14706"/>
            </a:avLst>
          </a:prstGeom>
          <a:solidFill>
            <a:srgbClr val="2E74C6"/>
          </a:solidFill>
          <a:ln/>
        </p:spPr>
      </p:sp>
      <p:sp>
        <p:nvSpPr>
          <p:cNvPr id="33" name="Text 30"/>
          <p:cNvSpPr txBox="1"/>
          <p:nvPr/>
        </p:nvSpPr>
        <p:spPr>
          <a:xfrm>
            <a:off x="9824009" y="6629400"/>
            <a:ext cx="310896" cy="310896"/>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34" name="Text 31"/>
          <p:cNvSpPr txBox="1"/>
          <p:nvPr/>
        </p:nvSpPr>
        <p:spPr>
          <a:xfrm>
            <a:off x="10217201" y="6592824"/>
            <a:ext cx="3825240" cy="384048"/>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엔티티가 아님</a:t>
            </a:r>
            <a:endParaRPr lang="en-US" sz="1500" dirty="0"/>
          </a:p>
        </p:txBody>
      </p:sp>
      <p:sp>
        <p:nvSpPr>
          <p:cNvPr id="35" name="Text 32"/>
          <p:cNvSpPr txBox="1"/>
          <p:nvPr/>
        </p:nvSpPr>
        <p:spPr>
          <a:xfrm>
            <a:off x="9851441" y="6958584"/>
            <a:ext cx="4145280" cy="274320"/>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Community 노드에는 엔티티 라벨을 붙이지 않음</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2. 인덱싱: KG 구축 – K8. 커뮤니티 보고서로 거시 검색하기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질문과 가까운 보고서를 벡터로 찾고, 그 보고서들만 근거로 LLM이 답을 씀 (Microsoft GraphRAG의 Global Search 방식)</a:t>
            </a:r>
            <a:endParaRPr lang="en-US" sz="1800" dirty="0"/>
          </a:p>
        </p:txBody>
      </p:sp>
      <p:sp>
        <p:nvSpPr>
          <p:cNvPr id="5" name="Text 2"/>
          <p:cNvSpPr txBox="1"/>
          <p:nvPr/>
        </p:nvSpPr>
        <p:spPr>
          <a:xfrm>
            <a:off x="509321" y="1737360"/>
            <a:ext cx="13624560" cy="329184"/>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질문 예: 「고객군별로 고객들이 말한 불만을 주제별로 나눠 주세요」</a:t>
            </a:r>
            <a:endParaRPr lang="en-US" sz="1500" dirty="0"/>
          </a:p>
        </p:txBody>
      </p:sp>
      <p:sp>
        <p:nvSpPr>
          <p:cNvPr id="6" name="Shape 3"/>
          <p:cNvSpPr/>
          <p:nvPr/>
        </p:nvSpPr>
        <p:spPr>
          <a:xfrm>
            <a:off x="509321" y="2148840"/>
            <a:ext cx="3255264" cy="384048"/>
          </a:xfrm>
          <a:prstGeom prst="roundRect">
            <a:avLst>
              <a:gd name="adj" fmla="val 11905"/>
            </a:avLst>
          </a:prstGeom>
          <a:solidFill>
            <a:srgbClr val="1E2A5C"/>
          </a:solidFill>
          <a:ln/>
        </p:spPr>
      </p:sp>
      <p:sp>
        <p:nvSpPr>
          <p:cNvPr id="7" name="Text 4"/>
          <p:cNvSpPr txBox="1"/>
          <p:nvPr/>
        </p:nvSpPr>
        <p:spPr>
          <a:xfrm>
            <a:off x="509321" y="2148840"/>
            <a:ext cx="3255264"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① 질문 임베딩</a:t>
            </a:r>
            <a:endParaRPr lang="en-US" sz="1500" dirty="0"/>
          </a:p>
        </p:txBody>
      </p:sp>
      <p:sp>
        <p:nvSpPr>
          <p:cNvPr id="8" name="Shape 5"/>
          <p:cNvSpPr/>
          <p:nvPr/>
        </p:nvSpPr>
        <p:spPr>
          <a:xfrm>
            <a:off x="509321" y="2587752"/>
            <a:ext cx="3255264" cy="1161288"/>
          </a:xfrm>
          <a:prstGeom prst="roundRect">
            <a:avLst>
              <a:gd name="adj" fmla="val 6299"/>
            </a:avLst>
          </a:prstGeom>
          <a:solidFill>
            <a:srgbClr val="FFFFFF"/>
          </a:solidFill>
          <a:ln w="12700">
            <a:solidFill>
              <a:srgbClr val="D9E0EC"/>
            </a:solidFill>
            <a:prstDash val="solid"/>
          </a:ln>
        </p:spPr>
      </p:sp>
      <p:sp>
        <p:nvSpPr>
          <p:cNvPr id="9" name="Text 6"/>
          <p:cNvSpPr txBox="1"/>
          <p:nvPr/>
        </p:nvSpPr>
        <p:spPr>
          <a:xfrm>
            <a:off x="509321" y="2587752"/>
            <a:ext cx="3255264" cy="1161288"/>
          </a:xfrm>
          <a:prstGeom prst="rect">
            <a:avLst/>
          </a:prstGeom>
          <a:noFill/>
          <a:ln/>
        </p:spPr>
        <p:txBody>
          <a:bodyPr wrap="square" lIns="635" tIns="635" rIns="635" bIns="635" rtlCol="0" anchor="ctr"/>
          <a:lstStyle/>
          <a:p>
            <a:pPr algn="ctr"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KURE-v2로</a:t>
            </a:r>
            <a:endParaRPr lang="en-US" sz="1500" dirty="0"/>
          </a:p>
          <a:p>
            <a:pPr algn="ctr"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질문을 벡터로 바꿈</a:t>
            </a:r>
            <a:endParaRPr lang="en-US" sz="1500" dirty="0"/>
          </a:p>
        </p:txBody>
      </p:sp>
      <p:sp>
        <p:nvSpPr>
          <p:cNvPr id="10" name="Shape 7"/>
          <p:cNvSpPr/>
          <p:nvPr/>
        </p:nvSpPr>
        <p:spPr>
          <a:xfrm>
            <a:off x="3792017" y="3168396"/>
            <a:ext cx="146304" cy="0"/>
          </a:xfrm>
          <a:prstGeom prst="line">
            <a:avLst/>
          </a:prstGeom>
          <a:noFill/>
          <a:ln w="28575">
            <a:solidFill>
              <a:srgbClr val="1E2A5C"/>
            </a:solidFill>
            <a:prstDash val="solid"/>
            <a:tailEnd type="triangle"/>
          </a:ln>
        </p:spPr>
      </p:sp>
      <p:sp>
        <p:nvSpPr>
          <p:cNvPr id="11" name="Shape 8"/>
          <p:cNvSpPr/>
          <p:nvPr/>
        </p:nvSpPr>
        <p:spPr>
          <a:xfrm>
            <a:off x="3965753" y="2148840"/>
            <a:ext cx="3255264" cy="384048"/>
          </a:xfrm>
          <a:prstGeom prst="roundRect">
            <a:avLst>
              <a:gd name="adj" fmla="val 11905"/>
            </a:avLst>
          </a:prstGeom>
          <a:solidFill>
            <a:srgbClr val="2E74C6"/>
          </a:solidFill>
          <a:ln/>
        </p:spPr>
      </p:sp>
      <p:sp>
        <p:nvSpPr>
          <p:cNvPr id="12" name="Text 9"/>
          <p:cNvSpPr txBox="1"/>
          <p:nvPr/>
        </p:nvSpPr>
        <p:spPr>
          <a:xfrm>
            <a:off x="3965753" y="2148840"/>
            <a:ext cx="3255264"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② 보고서 찾기</a:t>
            </a:r>
            <a:endParaRPr lang="en-US" sz="1500" dirty="0"/>
          </a:p>
        </p:txBody>
      </p:sp>
      <p:sp>
        <p:nvSpPr>
          <p:cNvPr id="13" name="Shape 10"/>
          <p:cNvSpPr/>
          <p:nvPr/>
        </p:nvSpPr>
        <p:spPr>
          <a:xfrm>
            <a:off x="3965753" y="2587752"/>
            <a:ext cx="3255264" cy="1161288"/>
          </a:xfrm>
          <a:prstGeom prst="roundRect">
            <a:avLst>
              <a:gd name="adj" fmla="val 6299"/>
            </a:avLst>
          </a:prstGeom>
          <a:solidFill>
            <a:srgbClr val="EEF3FA"/>
          </a:solidFill>
          <a:ln w="12700">
            <a:solidFill>
              <a:srgbClr val="2E74C6"/>
            </a:solidFill>
            <a:prstDash val="solid"/>
          </a:ln>
        </p:spPr>
      </p:sp>
      <p:sp>
        <p:nvSpPr>
          <p:cNvPr id="14" name="Text 11"/>
          <p:cNvSpPr txBox="1"/>
          <p:nvPr/>
        </p:nvSpPr>
        <p:spPr>
          <a:xfrm>
            <a:off x="3965753" y="2587752"/>
            <a:ext cx="3255264" cy="1161288"/>
          </a:xfrm>
          <a:prstGeom prst="rect">
            <a:avLst/>
          </a:prstGeom>
          <a:noFill/>
          <a:ln/>
        </p:spPr>
        <p:txBody>
          <a:bodyPr wrap="square" lIns="635" tIns="635" rIns="635" bIns="635" rtlCol="0" anchor="ctr"/>
          <a:lstStyle/>
          <a:p>
            <a:pPr algn="ctr" indent="0" marL="0">
              <a:spcAft>
                <a:spcPts val="100"/>
              </a:spcAft>
              <a:buNone/>
            </a:pPr>
            <a:r>
              <a:rPr lang="en-US" sz="1500" b="1" dirty="0">
                <a:solidFill>
                  <a:srgbClr val="1E2A5C"/>
                </a:solidFill>
                <a:latin typeface="Pretendard" pitchFamily="34" charset="0"/>
                <a:ea typeface="Pretendard" pitchFamily="34" charset="-122"/>
                <a:cs typeface="Pretendard" pitchFamily="34" charset="-120"/>
              </a:rPr>
              <a:t>kg_community_embedding</a:t>
            </a:r>
            <a:endParaRPr lang="en-US" sz="1500" dirty="0"/>
          </a:p>
          <a:p>
            <a:pPr algn="ctr" indent="0" marL="0">
              <a:spcAft>
                <a:spcPts val="100"/>
              </a:spcAft>
              <a:buNone/>
            </a:pPr>
            <a:r>
              <a:rPr lang="en-US" sz="1400" dirty="0">
                <a:solidFill>
                  <a:srgbClr val="1E2A5C"/>
                </a:solidFill>
                <a:latin typeface="Pretendard" pitchFamily="34" charset="0"/>
                <a:ea typeface="Pretendard" pitchFamily="34" charset="-122"/>
                <a:cs typeface="Pretendard" pitchFamily="34" charset="-120"/>
              </a:rPr>
              <a:t>가까운 보고서 상위 5개</a:t>
            </a:r>
            <a:endParaRPr lang="en-US" sz="1500" dirty="0"/>
          </a:p>
        </p:txBody>
      </p:sp>
      <p:sp>
        <p:nvSpPr>
          <p:cNvPr id="15" name="Shape 12"/>
          <p:cNvSpPr/>
          <p:nvPr/>
        </p:nvSpPr>
        <p:spPr>
          <a:xfrm>
            <a:off x="7248449" y="3168396"/>
            <a:ext cx="146304" cy="0"/>
          </a:xfrm>
          <a:prstGeom prst="line">
            <a:avLst/>
          </a:prstGeom>
          <a:noFill/>
          <a:ln w="28575">
            <a:solidFill>
              <a:srgbClr val="1E2A5C"/>
            </a:solidFill>
            <a:prstDash val="solid"/>
            <a:tailEnd type="triangle"/>
          </a:ln>
        </p:spPr>
      </p:sp>
      <p:sp>
        <p:nvSpPr>
          <p:cNvPr id="16" name="Shape 13"/>
          <p:cNvSpPr/>
          <p:nvPr/>
        </p:nvSpPr>
        <p:spPr>
          <a:xfrm>
            <a:off x="7422185" y="2148840"/>
            <a:ext cx="3255264" cy="384048"/>
          </a:xfrm>
          <a:prstGeom prst="roundRect">
            <a:avLst>
              <a:gd name="adj" fmla="val 11905"/>
            </a:avLst>
          </a:prstGeom>
          <a:solidFill>
            <a:srgbClr val="2E74C6"/>
          </a:solidFill>
          <a:ln/>
        </p:spPr>
      </p:sp>
      <p:sp>
        <p:nvSpPr>
          <p:cNvPr id="17" name="Text 14"/>
          <p:cNvSpPr txBox="1"/>
          <p:nvPr/>
        </p:nvSpPr>
        <p:spPr>
          <a:xfrm>
            <a:off x="7422185" y="2148840"/>
            <a:ext cx="3255264"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③ 보고서로 답 쓰기</a:t>
            </a:r>
            <a:endParaRPr lang="en-US" sz="1500" dirty="0"/>
          </a:p>
        </p:txBody>
      </p:sp>
      <p:sp>
        <p:nvSpPr>
          <p:cNvPr id="18" name="Shape 15"/>
          <p:cNvSpPr/>
          <p:nvPr/>
        </p:nvSpPr>
        <p:spPr>
          <a:xfrm>
            <a:off x="7422185" y="2587752"/>
            <a:ext cx="3255264" cy="1161288"/>
          </a:xfrm>
          <a:prstGeom prst="roundRect">
            <a:avLst>
              <a:gd name="adj" fmla="val 6299"/>
            </a:avLst>
          </a:prstGeom>
          <a:solidFill>
            <a:srgbClr val="EEF3FA"/>
          </a:solidFill>
          <a:ln w="12700">
            <a:solidFill>
              <a:srgbClr val="2E74C6"/>
            </a:solidFill>
            <a:prstDash val="solid"/>
          </a:ln>
        </p:spPr>
      </p:sp>
      <p:sp>
        <p:nvSpPr>
          <p:cNvPr id="19" name="Text 16"/>
          <p:cNvSpPr txBox="1"/>
          <p:nvPr/>
        </p:nvSpPr>
        <p:spPr>
          <a:xfrm>
            <a:off x="7422185" y="2587752"/>
            <a:ext cx="3255264" cy="1161288"/>
          </a:xfrm>
          <a:prstGeom prst="rect">
            <a:avLst/>
          </a:prstGeom>
          <a:noFill/>
          <a:ln/>
        </p:spPr>
        <p:txBody>
          <a:bodyPr wrap="square" lIns="635" tIns="635" rIns="635" bIns="635" rtlCol="0" anchor="ctr"/>
          <a:lstStyle/>
          <a:p>
            <a:pPr algn="ctr" indent="0" marL="0">
              <a:spcAft>
                <a:spcPts val="100"/>
              </a:spcAft>
              <a:buNone/>
            </a:pPr>
            <a:r>
              <a:rPr lang="en-US" sz="1500" b="1" dirty="0">
                <a:solidFill>
                  <a:srgbClr val="1E2A5C"/>
                </a:solidFill>
                <a:latin typeface="Pretendard" pitchFamily="34" charset="0"/>
                <a:ea typeface="Pretendard" pitchFamily="34" charset="-122"/>
                <a:cs typeface="Pretendard" pitchFamily="34" charset="-120"/>
              </a:rPr>
              <a:t>LLM이 보고서만 근거로</a:t>
            </a:r>
            <a:endParaRPr lang="en-US" sz="1500" dirty="0"/>
          </a:p>
          <a:p>
            <a:pPr algn="ctr" indent="0" marL="0">
              <a:spcAft>
                <a:spcPts val="100"/>
              </a:spcAft>
              <a:buNone/>
            </a:pPr>
            <a:r>
              <a:rPr lang="en-US" sz="1400" dirty="0">
                <a:solidFill>
                  <a:srgbClr val="1E2A5C"/>
                </a:solidFill>
                <a:latin typeface="Pretendard" pitchFamily="34" charset="0"/>
                <a:ea typeface="Pretendard" pitchFamily="34" charset="-122"/>
                <a:cs typeface="Pretendard" pitchFamily="34" charset="-120"/>
              </a:rPr>
              <a:t>없는 내용은 없다고 씀</a:t>
            </a:r>
            <a:endParaRPr lang="en-US" sz="1500" dirty="0"/>
          </a:p>
        </p:txBody>
      </p:sp>
      <p:sp>
        <p:nvSpPr>
          <p:cNvPr id="20" name="Shape 17"/>
          <p:cNvSpPr/>
          <p:nvPr/>
        </p:nvSpPr>
        <p:spPr>
          <a:xfrm>
            <a:off x="10704881" y="3168396"/>
            <a:ext cx="146304" cy="0"/>
          </a:xfrm>
          <a:prstGeom prst="line">
            <a:avLst/>
          </a:prstGeom>
          <a:noFill/>
          <a:ln w="28575">
            <a:solidFill>
              <a:srgbClr val="1E2A5C"/>
            </a:solidFill>
            <a:prstDash val="solid"/>
            <a:tailEnd type="triangle"/>
          </a:ln>
        </p:spPr>
      </p:sp>
      <p:sp>
        <p:nvSpPr>
          <p:cNvPr id="21" name="Shape 18"/>
          <p:cNvSpPr/>
          <p:nvPr/>
        </p:nvSpPr>
        <p:spPr>
          <a:xfrm>
            <a:off x="10878617" y="2148840"/>
            <a:ext cx="3255264" cy="384048"/>
          </a:xfrm>
          <a:prstGeom prst="roundRect">
            <a:avLst>
              <a:gd name="adj" fmla="val 11905"/>
            </a:avLst>
          </a:prstGeom>
          <a:solidFill>
            <a:srgbClr val="1E2A5C"/>
          </a:solidFill>
          <a:ln/>
        </p:spPr>
      </p:sp>
      <p:sp>
        <p:nvSpPr>
          <p:cNvPr id="22" name="Text 19"/>
          <p:cNvSpPr txBox="1"/>
          <p:nvPr/>
        </p:nvSpPr>
        <p:spPr>
          <a:xfrm>
            <a:off x="10878617" y="2148840"/>
            <a:ext cx="3255264"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④ 답</a:t>
            </a:r>
            <a:endParaRPr lang="en-US" sz="1500" dirty="0"/>
          </a:p>
        </p:txBody>
      </p:sp>
      <p:sp>
        <p:nvSpPr>
          <p:cNvPr id="23" name="Shape 20"/>
          <p:cNvSpPr/>
          <p:nvPr/>
        </p:nvSpPr>
        <p:spPr>
          <a:xfrm>
            <a:off x="10878617" y="2587752"/>
            <a:ext cx="3255264" cy="1161288"/>
          </a:xfrm>
          <a:prstGeom prst="roundRect">
            <a:avLst>
              <a:gd name="adj" fmla="val 6299"/>
            </a:avLst>
          </a:prstGeom>
          <a:solidFill>
            <a:srgbClr val="FFFFFF"/>
          </a:solidFill>
          <a:ln w="12700">
            <a:solidFill>
              <a:srgbClr val="D9E0EC"/>
            </a:solidFill>
            <a:prstDash val="solid"/>
          </a:ln>
        </p:spPr>
      </p:sp>
      <p:sp>
        <p:nvSpPr>
          <p:cNvPr id="24" name="Text 21"/>
          <p:cNvSpPr txBox="1"/>
          <p:nvPr/>
        </p:nvSpPr>
        <p:spPr>
          <a:xfrm>
            <a:off x="10878617" y="2587752"/>
            <a:ext cx="3255264" cy="1161288"/>
          </a:xfrm>
          <a:prstGeom prst="rect">
            <a:avLst/>
          </a:prstGeom>
          <a:noFill/>
          <a:ln/>
        </p:spPr>
        <p:txBody>
          <a:bodyPr wrap="square" lIns="635" tIns="635" rIns="635" bIns="635" rtlCol="0" anchor="ctr"/>
          <a:lstStyle/>
          <a:p>
            <a:pPr algn="ctr"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정답 요점 0 / 7</a:t>
            </a:r>
            <a:endParaRPr lang="en-US" sz="1500" dirty="0"/>
          </a:p>
          <a:p>
            <a:pPr algn="ctr"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상위 5에 있던 요점 4 / 7</a:t>
            </a:r>
            <a:endParaRPr lang="en-US" sz="1500" dirty="0"/>
          </a:p>
        </p:txBody>
      </p:sp>
      <p:sp>
        <p:nvSpPr>
          <p:cNvPr id="25" name="Text 22"/>
          <p:cNvSpPr txBox="1"/>
          <p:nvPr/>
        </p:nvSpPr>
        <p:spPr>
          <a:xfrm>
            <a:off x="509321" y="3931920"/>
            <a:ext cx="6035040" cy="310896"/>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Q23으로 찾은 상위 보고서</a:t>
            </a:r>
            <a:endParaRPr lang="en-US" sz="1500" dirty="0"/>
          </a:p>
        </p:txBody>
      </p:sp>
      <p:sp>
        <p:nvSpPr>
          <p:cNvPr id="26" name="Shape 23"/>
          <p:cNvSpPr/>
          <p:nvPr/>
        </p:nvSpPr>
        <p:spPr>
          <a:xfrm>
            <a:off x="509321" y="4315968"/>
            <a:ext cx="6035040" cy="384048"/>
          </a:xfrm>
          <a:prstGeom prst="roundRect">
            <a:avLst>
              <a:gd name="adj" fmla="val 19048"/>
            </a:avLst>
          </a:prstGeom>
          <a:solidFill>
            <a:srgbClr val="F5F8FC"/>
          </a:solidFill>
          <a:ln w="12700">
            <a:solidFill>
              <a:srgbClr val="D9E0EC"/>
            </a:solidFill>
            <a:prstDash val="solid"/>
          </a:ln>
        </p:spPr>
      </p:sp>
      <p:sp>
        <p:nvSpPr>
          <p:cNvPr id="27" name="Text 24"/>
          <p:cNvSpPr txBox="1"/>
          <p:nvPr/>
        </p:nvSpPr>
        <p:spPr>
          <a:xfrm>
            <a:off x="600761" y="4315968"/>
            <a:ext cx="4754880" cy="384048"/>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1. 광고 알림 과다 수신에 대한 고객 불만 및 상담…</a:t>
            </a:r>
            <a:endParaRPr lang="en-US" sz="1400" dirty="0"/>
          </a:p>
        </p:txBody>
      </p:sp>
      <p:sp>
        <p:nvSpPr>
          <p:cNvPr id="28" name="Text 25"/>
          <p:cNvSpPr txBox="1"/>
          <p:nvPr/>
        </p:nvSpPr>
        <p:spPr>
          <a:xfrm>
            <a:off x="5264201" y="4315968"/>
            <a:ext cx="1188720" cy="384048"/>
          </a:xfrm>
          <a:prstGeom prst="rect">
            <a:avLst/>
          </a:prstGeom>
          <a:noFill/>
          <a:ln/>
        </p:spPr>
        <p:txBody>
          <a:bodyPr wrap="square" lIns="762" tIns="762" rIns="762" bIns="762"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consult_log</a:t>
            </a:r>
            <a:endParaRPr lang="en-US" sz="1400" dirty="0"/>
          </a:p>
        </p:txBody>
      </p:sp>
      <p:sp>
        <p:nvSpPr>
          <p:cNvPr id="29" name="Shape 26"/>
          <p:cNvSpPr/>
          <p:nvPr/>
        </p:nvSpPr>
        <p:spPr>
          <a:xfrm>
            <a:off x="509321" y="4773168"/>
            <a:ext cx="6035040" cy="384048"/>
          </a:xfrm>
          <a:prstGeom prst="roundRect">
            <a:avLst>
              <a:gd name="adj" fmla="val 19048"/>
            </a:avLst>
          </a:prstGeom>
          <a:solidFill>
            <a:srgbClr val="FFFFFF"/>
          </a:solidFill>
          <a:ln w="12700">
            <a:solidFill>
              <a:srgbClr val="D9E0EC"/>
            </a:solidFill>
            <a:prstDash val="solid"/>
          </a:ln>
        </p:spPr>
      </p:sp>
      <p:sp>
        <p:nvSpPr>
          <p:cNvPr id="30" name="Text 27"/>
          <p:cNvSpPr txBox="1"/>
          <p:nvPr/>
        </p:nvSpPr>
        <p:spPr>
          <a:xfrm>
            <a:off x="600761" y="4773168"/>
            <a:ext cx="4754880" cy="384048"/>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2. 민원 처리 경과 부재와 대기 사유 불명확에 대한…</a:t>
            </a:r>
            <a:endParaRPr lang="en-US" sz="1400" dirty="0"/>
          </a:p>
        </p:txBody>
      </p:sp>
      <p:sp>
        <p:nvSpPr>
          <p:cNvPr id="31" name="Text 28"/>
          <p:cNvSpPr txBox="1"/>
          <p:nvPr/>
        </p:nvSpPr>
        <p:spPr>
          <a:xfrm>
            <a:off x="5264201" y="4773168"/>
            <a:ext cx="1188720" cy="384048"/>
          </a:xfrm>
          <a:prstGeom prst="rect">
            <a:avLst/>
          </a:prstGeom>
          <a:noFill/>
          <a:ln/>
        </p:spPr>
        <p:txBody>
          <a:bodyPr wrap="square" lIns="762" tIns="762" rIns="762" bIns="762"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consult_log</a:t>
            </a:r>
            <a:endParaRPr lang="en-US" sz="1400" dirty="0"/>
          </a:p>
        </p:txBody>
      </p:sp>
      <p:sp>
        <p:nvSpPr>
          <p:cNvPr id="32" name="Shape 29"/>
          <p:cNvSpPr/>
          <p:nvPr/>
        </p:nvSpPr>
        <p:spPr>
          <a:xfrm>
            <a:off x="509321" y="5230368"/>
            <a:ext cx="6035040" cy="384048"/>
          </a:xfrm>
          <a:prstGeom prst="roundRect">
            <a:avLst>
              <a:gd name="adj" fmla="val 19048"/>
            </a:avLst>
          </a:prstGeom>
          <a:solidFill>
            <a:srgbClr val="F5F8FC"/>
          </a:solidFill>
          <a:ln w="12700">
            <a:solidFill>
              <a:srgbClr val="D9E0EC"/>
            </a:solidFill>
            <a:prstDash val="solid"/>
          </a:ln>
        </p:spPr>
      </p:sp>
      <p:sp>
        <p:nvSpPr>
          <p:cNvPr id="33" name="Text 30"/>
          <p:cNvSpPr txBox="1"/>
          <p:nvPr/>
        </p:nvSpPr>
        <p:spPr>
          <a:xfrm>
            <a:off x="600761" y="5230368"/>
            <a:ext cx="4754880" cy="384048"/>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3. 카드 중복 문제에 대한 다채널 상담 및 제안 흐름</a:t>
            </a:r>
            <a:endParaRPr lang="en-US" sz="1400" dirty="0"/>
          </a:p>
        </p:txBody>
      </p:sp>
      <p:sp>
        <p:nvSpPr>
          <p:cNvPr id="34" name="Text 31"/>
          <p:cNvSpPr txBox="1"/>
          <p:nvPr/>
        </p:nvSpPr>
        <p:spPr>
          <a:xfrm>
            <a:off x="5264201" y="5230368"/>
            <a:ext cx="1188720" cy="384048"/>
          </a:xfrm>
          <a:prstGeom prst="rect">
            <a:avLst/>
          </a:prstGeom>
          <a:noFill/>
          <a:ln/>
        </p:spPr>
        <p:txBody>
          <a:bodyPr wrap="square" lIns="762" tIns="762" rIns="762" bIns="762"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consult_log</a:t>
            </a:r>
            <a:endParaRPr lang="en-US" sz="1400" dirty="0"/>
          </a:p>
        </p:txBody>
      </p:sp>
      <p:sp>
        <p:nvSpPr>
          <p:cNvPr id="35" name="Shape 32"/>
          <p:cNvSpPr/>
          <p:nvPr/>
        </p:nvSpPr>
        <p:spPr>
          <a:xfrm>
            <a:off x="509321" y="5687568"/>
            <a:ext cx="6035040" cy="384048"/>
          </a:xfrm>
          <a:prstGeom prst="roundRect">
            <a:avLst>
              <a:gd name="adj" fmla="val 19048"/>
            </a:avLst>
          </a:prstGeom>
          <a:solidFill>
            <a:srgbClr val="FFFFFF"/>
          </a:solidFill>
          <a:ln w="12700">
            <a:solidFill>
              <a:srgbClr val="D9E0EC"/>
            </a:solidFill>
            <a:prstDash val="solid"/>
          </a:ln>
        </p:spPr>
      </p:sp>
      <p:sp>
        <p:nvSpPr>
          <p:cNvPr id="36" name="Text 33"/>
          <p:cNvSpPr txBox="1"/>
          <p:nvPr/>
        </p:nvSpPr>
        <p:spPr>
          <a:xfrm>
            <a:off x="600761" y="5687568"/>
            <a:ext cx="4754880" cy="384048"/>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4. 생활비 절약을 위한 구매 분류 및 알림 관리 상담</a:t>
            </a:r>
            <a:endParaRPr lang="en-US" sz="1400" dirty="0"/>
          </a:p>
        </p:txBody>
      </p:sp>
      <p:sp>
        <p:nvSpPr>
          <p:cNvPr id="37" name="Text 34"/>
          <p:cNvSpPr txBox="1"/>
          <p:nvPr/>
        </p:nvSpPr>
        <p:spPr>
          <a:xfrm>
            <a:off x="5264201" y="5687568"/>
            <a:ext cx="1188720" cy="384048"/>
          </a:xfrm>
          <a:prstGeom prst="rect">
            <a:avLst/>
          </a:prstGeom>
          <a:noFill/>
          <a:ln/>
        </p:spPr>
        <p:txBody>
          <a:bodyPr wrap="square" lIns="762" tIns="762" rIns="762" bIns="762"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consult_log</a:t>
            </a:r>
            <a:endParaRPr lang="en-US" sz="1400" dirty="0"/>
          </a:p>
        </p:txBody>
      </p:sp>
      <p:sp>
        <p:nvSpPr>
          <p:cNvPr id="38" name="Shape 35"/>
          <p:cNvSpPr/>
          <p:nvPr/>
        </p:nvSpPr>
        <p:spPr>
          <a:xfrm>
            <a:off x="509321" y="6144768"/>
            <a:ext cx="6035040" cy="384048"/>
          </a:xfrm>
          <a:prstGeom prst="roundRect">
            <a:avLst>
              <a:gd name="adj" fmla="val 19048"/>
            </a:avLst>
          </a:prstGeom>
          <a:solidFill>
            <a:srgbClr val="F5F8FC"/>
          </a:solidFill>
          <a:ln w="12700">
            <a:solidFill>
              <a:srgbClr val="D9E0EC"/>
            </a:solidFill>
            <a:prstDash val="solid"/>
          </a:ln>
        </p:spPr>
      </p:sp>
      <p:sp>
        <p:nvSpPr>
          <p:cNvPr id="39" name="Text 36"/>
          <p:cNvSpPr txBox="1"/>
          <p:nvPr/>
        </p:nvSpPr>
        <p:spPr>
          <a:xfrm>
            <a:off x="600761" y="6144768"/>
            <a:ext cx="4754880" cy="384048"/>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5. 연회비 대비 가치에 대한 고객 불만 및 상담 흐름</a:t>
            </a:r>
            <a:endParaRPr lang="en-US" sz="1400" dirty="0"/>
          </a:p>
        </p:txBody>
      </p:sp>
      <p:sp>
        <p:nvSpPr>
          <p:cNvPr id="40" name="Text 37"/>
          <p:cNvSpPr txBox="1"/>
          <p:nvPr/>
        </p:nvSpPr>
        <p:spPr>
          <a:xfrm>
            <a:off x="5264201" y="6144768"/>
            <a:ext cx="1188720" cy="384048"/>
          </a:xfrm>
          <a:prstGeom prst="rect">
            <a:avLst/>
          </a:prstGeom>
          <a:noFill/>
          <a:ln/>
        </p:spPr>
        <p:txBody>
          <a:bodyPr wrap="square" lIns="762" tIns="762" rIns="762" bIns="762"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consult_log</a:t>
            </a:r>
            <a:endParaRPr lang="en-US" sz="1400" dirty="0"/>
          </a:p>
        </p:txBody>
      </p:sp>
      <p:sp>
        <p:nvSpPr>
          <p:cNvPr id="41" name="Text 38"/>
          <p:cNvSpPr txBox="1"/>
          <p:nvPr/>
        </p:nvSpPr>
        <p:spPr>
          <a:xfrm>
            <a:off x="6818681" y="3931920"/>
            <a:ext cx="7315200" cy="310896"/>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거시 질문 3개 결과 (정답 요점 수)</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18681" y="4315968"/>
          <a:ext cx="7315200" cy="914400"/>
        </p:xfrm>
        <a:graphic>
          <a:graphicData uri="http://schemas.openxmlformats.org/drawingml/2006/table">
            <a:tbl>
              <a:tblPr/>
              <a:tblGrid>
                <a:gridCol w="4023360"/>
                <a:gridCol w="1188720"/>
                <a:gridCol w="1005840"/>
                <a:gridCol w="1097280"/>
              </a:tblGrid>
              <a:tr h="411480">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질문</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보고서 전체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상위 5</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답</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11480">
                <a:tc>
                  <a:txBody>
                    <a:bodyPr/>
                    <a:lstStyle/>
                    <a:p>
                      <a:pPr indent="0" marL="0">
                        <a:buNone/>
                      </a:pPr>
                      <a:r>
                        <a:rPr lang="en-US" sz="1400" b="1" dirty="0">
                          <a:solidFill>
                            <a:srgbClr val="3B4557"/>
                          </a:solidFill>
                          <a:latin typeface="Pretendard" pitchFamily="34" charset="0"/>
                          <a:ea typeface="Pretendard" pitchFamily="34" charset="-122"/>
                          <a:cs typeface="Pretendard" pitchFamily="34" charset="-120"/>
                        </a:rPr>
                        <a:t>Q23 고객군별 불만 주제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6 / 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4 / 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0 / 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rgbClr val="3B4557"/>
                          </a:solidFill>
                          <a:latin typeface="Pretendard" pitchFamily="34" charset="0"/>
                          <a:ea typeface="Pretendard" pitchFamily="34" charset="-122"/>
                          <a:cs typeface="Pretendard" pitchFamily="34" charset="-120"/>
                        </a:rPr>
                        <a:t>Q24 받아들여진 제안의 공통점</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4 / 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4 / 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0 / 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11480">
                <a:tc>
                  <a:txBody>
                    <a:bodyPr/>
                    <a:lstStyle/>
                    <a:p>
                      <a:pPr indent="0" marL="0">
                        <a:buNone/>
                      </a:pPr>
                      <a:r>
                        <a:rPr lang="en-US" sz="1400" b="1" dirty="0">
                          <a:solidFill>
                            <a:srgbClr val="3B4557"/>
                          </a:solidFill>
                          <a:latin typeface="Pretendard" pitchFamily="34" charset="0"/>
                          <a:ea typeface="Pretendard" pitchFamily="34" charset="-122"/>
                          <a:cs typeface="Pretendard" pitchFamily="34" charset="-120"/>
                        </a:rPr>
                        <a:t>Q25 불만별 약관 조항과 혜택</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2 / 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0 / 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0 / 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43" name="Shape 39"/>
          <p:cNvSpPr/>
          <p:nvPr/>
        </p:nvSpPr>
        <p:spPr>
          <a:xfrm>
            <a:off x="6818681" y="6099048"/>
            <a:ext cx="7315200" cy="1170432"/>
          </a:xfrm>
          <a:prstGeom prst="roundRect">
            <a:avLst>
              <a:gd name="adj" fmla="val 6250"/>
            </a:avLst>
          </a:prstGeom>
          <a:solidFill>
            <a:srgbClr val="EEF3FA"/>
          </a:solidFill>
          <a:ln w="12700">
            <a:solidFill>
              <a:srgbClr val="2E74C6"/>
            </a:solidFill>
            <a:prstDash val="solid"/>
          </a:ln>
        </p:spPr>
      </p:sp>
      <p:sp>
        <p:nvSpPr>
          <p:cNvPr id="44" name="Text 40"/>
          <p:cNvSpPr txBox="1"/>
          <p:nvPr/>
        </p:nvSpPr>
        <p:spPr>
          <a:xfrm>
            <a:off x="6818681" y="6099048"/>
            <a:ext cx="7315200" cy="1170432"/>
          </a:xfrm>
          <a:prstGeom prst="rect">
            <a:avLst/>
          </a:prstGeom>
          <a:noFill/>
          <a:ln/>
        </p:spPr>
        <p:txBody>
          <a:bodyPr wrap="square" lIns="127000" tIns="50800" rIns="127000" bIns="50800" rtlCol="0" anchor="t"/>
          <a:lstStyle/>
          <a:p>
            <a:pPr algn="l" indent="0" marL="0">
              <a:spcAft>
                <a:spcPts val="100"/>
              </a:spcAft>
              <a:buNone/>
            </a:pPr>
            <a:r>
              <a:rPr lang="en-US" sz="1500" b="1" dirty="0">
                <a:solidFill>
                  <a:srgbClr val="1E2A5C"/>
                </a:solidFill>
                <a:latin typeface="Pretendard" pitchFamily="34" charset="0"/>
                <a:ea typeface="Pretendard" pitchFamily="34" charset="-122"/>
                <a:cs typeface="Pretendard" pitchFamily="34" charset="-120"/>
              </a:rPr>
              <a:t>찾기는 되지만 답이 약함</a:t>
            </a:r>
            <a:endParaRPr lang="en-US" sz="1500" dirty="0"/>
          </a:p>
          <a:p>
            <a:pPr algn="l" indent="0" marL="0">
              <a:spcAft>
                <a:spcPts val="100"/>
              </a:spcAft>
              <a:buNone/>
            </a:pPr>
            <a:r>
              <a:rPr lang="en-US" sz="1400" dirty="0">
                <a:solidFill>
                  <a:srgbClr val="1E2A5C"/>
                </a:solidFill>
                <a:latin typeface="Pretendard" pitchFamily="34" charset="0"/>
                <a:ea typeface="Pretendard" pitchFamily="34" charset="-122"/>
                <a:cs typeface="Pretendard" pitchFamily="34" charset="-120"/>
              </a:rPr>
              <a:t>Q23: 불만 주제 6개가 보고서 전체에 모두 있고 상위 5개에 4개가 있으나, 그래프에 고객군 정보가 없어 LLM이 「보고서에 없음」으로 답함. Q25: 묶음 78개가 모두 한 문서 종류 안에서만 생기고 약관 보고서에 조항 번호가 없어 조항을 잇지 못함</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2026-10-23T09:29:48Z</dcterms:created>
  <dcterms:modified xsi:type="dcterms:W3CDTF">2026-10-23T09:29:48Z</dcterms:modified>
</cp:coreProperties>
</file>