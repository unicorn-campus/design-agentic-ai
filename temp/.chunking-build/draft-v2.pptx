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청크는 하나의 검색 단위입니다. 메타데이터는 출처 표시, 필터링, 접근 범위 판단에 쓰이고 본문은 검색 및 답변 근거에 쓰입니다. 화면의 약관 파일과 문구는 설명을 위한 가상 예시이며 실제 규정이 아닙니다. 본문에서 계산한 임베딩 벡터를 색인에 함께 저장할 수 있지만 이 장은 사용자가 요청한 본문과 메타데이터에 초점을 맞춥니다. 상품명 등은 의미 검색을 위해 본문에, 정확한 필터를 위해 메타데이터에도 둘 수 있습니다. LangChain Document의 page_content와 metadata에 대응합니다.
출처: https://github.com/langchain-ai/langchain/blob/master/libs/text-splitters/langchain_text_splitters/base.py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청킹 설계는 숫자 두 개만 정하는 일이 아닙니다. 먼저 검색과 출처 표시에 필요한 메타데이터의 필드, 자료형, 필수 여부를 정합니다. 공통값은 상속하고 청크 범위에 따라 달라지는 값은 구조나 위치를 보고 계산합니다. 명확한 구분자가 있으면 그 경계를 우선하며 너무 긴 단위를 어떻게 추가 분할할지도 정합니다. 크기 단위는 문자와 토큰을 구분하고 토큰을 사용한다면 모델에 맞는 측정기를 정합니다. 오버랩은 앞 청크의 일부를 다음 청크에도 넣어 경계의 문맥을 이어주는 것입니다. 도식의 400/100토큰과 A–G 구간은 설명용 가정이며 권장 최적값이 아닙니다. 정제 규칙이 필요한 구조 정보를 보존한다면 청킹 전에 정제할 수 있습니다. 처리 시점은 설계 결정이며 특정 프레임워크가 강제하는 표준 순서가 아닙니다. 검사는 최종 본문과 메타데이터를 대상으로 하고, 검색 품질은 평가 질문으로 확인합니다.
출처: https://github.com/langchain-ai/langchain/blob/master/libs/text-splitters/langchain_text_splitters/base.py
https://github.com/langchain-ai/langchain/blob/master/libs/text-splitters/langchain_text_splitters/character.py
https://learn.microsoft.com/en-us/azure/search/vector-search-how-to-chunk-documents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LangChain의 TextSplitter는 split_documents에서 입력 문서의 본문과 metadata를 전달하고 create_documents에서 각 분할 청크에 metadata를 deepcopy합니다. source/page를 가진 입력 문서는 설명용 가상 예시입니다. 한 쪽에서 읽은 문서가 나뉘면 동일한 page를 상속할 수 있지만 여러 쪽을 합친 경우에는 페이지 범위를 별도로 계산해야 합니다. RecursiveCharacterTextSplitter는 지정한 구분자 우선순위로 긴 단위를 더 나눕니다.
Anthropic의 Contextual Retrieval은 문서 전체와 해당 청크를 LLM에 주어 청크별 짧은 문맥 설명을 생성합니다. 공식 사례에서 설명 길이는 보통 50~100토큰입니다. 이 설명을 원래 청크 앞에 붙인 텍스트로 임베딩과 BM25 색인을 모두 구성하여, 청크만 읽으면 빠지는 주체나 시점 등의 문맥을 보완합니다. 이는 문서 메타데이터를 복사하는 방식과 구별되는 색인 전 본문 보강입니다. 이 슬라이드는 방법을 설명하며 프로젝트 적용 효과를 측정한 결과가 아닙니다.
Azure AI Search는 512토큰 크기와 25%인 128토큰 중첩을 초기 출발점으로 권고합니다. 보편적 최적값이 아니며 문서 구조와 평가 질문에 맞게 조정합니다.
정제·개인정보 처리 시점은 이와 별도로 설계하고 최종 입력을 검증합니다.
출처 확인일: 2026-10-01
LangChain TextSplitter: https://github.com/langchain-ai/langchain/blob/master/libs/text-splitters/langchain_text_splitters/base.py
RecursiveCharacterTextSplitter: https://github.com/langchain-ai/langchain/blob/master/libs/text-splitters/langchain_text_splitters/character.py
Microsoft Azure AI Search: https://learn.microsoft.com/en-us/azure/search/vector-search-how-to-chunk-documents
Anthropic Introducing Contextual Retrieval (2024-09-19): https://www.anthropic.com/engineering/contextual-retrieval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0040"/>
            <a:ext cx="1188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인덱싱  ›  청킹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12064" y="704088"/>
            <a:ext cx="1360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청크의 구성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12064" y="1472184"/>
            <a:ext cx="13606272" cy="3200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72184"/>
            <a:ext cx="1901952" cy="3200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73352"/>
            <a:ext cx="1360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청크는 검색할 본문과, 그 본문의 출처·조건을 함께 담습니다.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" y="7790688"/>
            <a:ext cx="13606272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900416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아키텍처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0" y="78821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87752" y="2496312"/>
            <a:ext cx="9454896" cy="3986784"/>
          </a:xfrm>
          <a:prstGeom prst="rect">
            <a:avLst/>
          </a:prstGeom>
          <a:solidFill>
            <a:srgbClr val="FFFFFF"/>
          </a:solidFill>
          <a:ln w="21590">
            <a:solidFill>
              <a:srgbClr val="1E2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2496312"/>
            <a:ext cx="9454896" cy="475488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2542032"/>
            <a:ext cx="90891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01   ·   가상 약관 예시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587752" y="2971800"/>
            <a:ext cx="4114800" cy="3511296"/>
          </a:xfrm>
          <a:prstGeom prst="rect">
            <a:avLst/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02552" y="2971800"/>
            <a:ext cx="0" cy="3511296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3255264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880360" y="37307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검색 조건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80360" y="4306824"/>
            <a:ext cx="36118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카드약관.pdf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쪽  12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 제3조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등급  public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31736" y="3255264"/>
            <a:ext cx="4526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31736" y="373075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답을 찾는 내용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31736" y="4306824"/>
            <a:ext cx="45354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제3조 연회비 반환</a:t>
            </a:r>
            <a:endParaRPr lang="en-US" sz="2300" dirty="0"/>
          </a:p>
          <a:p>
            <a:pPr algn="l" indent="0" marL="0">
              <a:buNone/>
            </a:pP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카드를 해지하면 남은 기간에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해당하는 연회비를 반환합니다.</a:t>
            </a:r>
            <a:endParaRPr lang="en-US" sz="2300" dirty="0"/>
          </a:p>
          <a:p>
            <a:pPr algn="l" indent="0" marL="0">
              <a:buNone/>
            </a:pPr>
            <a:r>
              <a:rPr lang="en-US" sz="2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다만, 발급 비용은 제외합니다.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12064" y="33741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왔나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" y="3886200"/>
            <a:ext cx="1783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표시하고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범위를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좁힙니다.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231136" y="4553712"/>
            <a:ext cx="274320" cy="0"/>
          </a:xfrm>
          <a:prstGeom prst="line">
            <a:avLst/>
          </a:prstGeom>
          <a:noFill/>
          <a:ln w="2286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2426696" y="3374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답하나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426696" y="3886200"/>
            <a:ext cx="17190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내용을 찾고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답변의 근거로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사용합니다.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2124944" y="4553712"/>
            <a:ext cx="256032" cy="0"/>
          </a:xfrm>
          <a:prstGeom prst="line">
            <a:avLst/>
          </a:prstGeom>
          <a:noFill/>
          <a:ln w="2286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587752" y="6839712"/>
            <a:ext cx="945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메타데이터와 본문은 같은 청크에 연결됩니다.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1874520" y="731520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상품명처럼 검색과 필터에 모두 필요한 값은 양쪽에 둘 수 있습니다.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0040"/>
            <a:ext cx="1188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인덱싱  ›  청킹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12064" y="704088"/>
            <a:ext cx="1360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설계의 결정 항목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12064" y="1472184"/>
            <a:ext cx="13606272" cy="3200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72184"/>
            <a:ext cx="1901952" cy="3200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73352"/>
            <a:ext cx="1360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물려주고, 어디서 나누며, 얼마나 겹칠지 함께 정합니다.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" y="7790688"/>
            <a:ext cx="13606272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900416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아키텍처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0" y="78821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395728"/>
          <a:ext cx="725119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528523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항목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정의할 내용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메타데이터 구조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필드·자료형·필수 여부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공통값 상속 / 범위별 값 계산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조항·문단·발화 등 경계 우선순위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 보존과 긴 단위의 추가 분할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청킹 크기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목표·최대 크기와 단위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측정기·모델 입력 한도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오버랩 크기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반복할 문맥의 크기와 단위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중첩을 적용할 경계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정제·가명처리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규칙과 청킹 전·후 시점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본문·메타데이터 처리 범위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검증·평가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개인정보 잔존·필수값·최종 길이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 질문의 정답 근거 검색 여부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5448" marR="155448" marT="64008" marB="64008" anchor="ctr">
                    <a:lnL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275320" y="2441448"/>
            <a:ext cx="57972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크기와 오버랩의 관계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275320" y="2971800"/>
            <a:ext cx="5797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설명용 예시: 크기 400토큰, 중첩 100토큰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293608" y="351129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9360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11656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1656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93952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3952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762488" y="3931920"/>
            <a:ext cx="811987" cy="493776"/>
          </a:xfrm>
          <a:prstGeom prst="rect">
            <a:avLst/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76248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1158544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8544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1240840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40840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3231368" y="3931920"/>
            <a:ext cx="811987" cy="493776"/>
          </a:xfrm>
          <a:prstGeom prst="rect">
            <a:avLst/>
          </a:prstGeom>
          <a:solidFill>
            <a:srgbClr val="F5F8FC"/>
          </a:solidFill>
          <a:ln w="9525">
            <a:solidFill>
              <a:srgbClr val="D9E0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231368" y="3995928"/>
            <a:ext cx="8119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293608" y="4663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1   400토큰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8293608" y="5120640"/>
            <a:ext cx="3291840" cy="640080"/>
          </a:xfrm>
          <a:prstGeom prst="rect">
            <a:avLst/>
          </a:prstGeom>
          <a:solidFill>
            <a:srgbClr val="EEF3FA"/>
          </a:solidFill>
          <a:ln w="15240">
            <a:solidFill>
              <a:srgbClr val="1E2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62488" y="5120640"/>
            <a:ext cx="822960" cy="64008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57616" y="523951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    B     C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0762488" y="52395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11695176" y="6025896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2   400토큰</a:t>
            </a:r>
            <a:endParaRPr lang="en-US" sz="1900" dirty="0"/>
          </a:p>
        </p:txBody>
      </p:sp>
      <p:sp>
        <p:nvSpPr>
          <p:cNvPr id="34" name="Shape 31"/>
          <p:cNvSpPr/>
          <p:nvPr/>
        </p:nvSpPr>
        <p:spPr>
          <a:xfrm>
            <a:off x="10762488" y="6473952"/>
            <a:ext cx="3291840" cy="640080"/>
          </a:xfrm>
          <a:prstGeom prst="rect">
            <a:avLst/>
          </a:prstGeom>
          <a:solidFill>
            <a:srgbClr val="EEF3FA"/>
          </a:solidFill>
          <a:ln w="15240">
            <a:solidFill>
              <a:srgbClr val="1E2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762488" y="6473952"/>
            <a:ext cx="822960" cy="64008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762488" y="66019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11603736" y="660196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     F     G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11173968" y="5769864"/>
            <a:ext cx="0" cy="658368"/>
          </a:xfrm>
          <a:prstGeom prst="line">
            <a:avLst/>
          </a:prstGeom>
          <a:noFill/>
          <a:ln w="2159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8293608" y="5943600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구간을 두 청크에 포함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중첩 100토큰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8275320" y="7296912"/>
            <a:ext cx="5760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A–G는 각각 100토큰인 가상의 구간입니다.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512064" y="7342632"/>
            <a:ext cx="7251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크기와 중첩의 단위를 명시하고, 정제 후 최종 청크를 검증합니다.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320040"/>
            <a:ext cx="1188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인덱싱  ›  청킹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12064" y="704088"/>
            <a:ext cx="1360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Best Practice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12064" y="1472184"/>
            <a:ext cx="13606272" cy="32004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72184"/>
            <a:ext cx="1901952" cy="32004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73352"/>
            <a:ext cx="1360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상속, 청크 문맥 보강, 크기·중첩 조정의 세 가지 사례입니다.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" y="7790688"/>
            <a:ext cx="13606272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7900416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AI 아키텍처 설계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350240" y="7882128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2404872"/>
            <a:ext cx="0" cy="3904488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414016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" y="2907792"/>
            <a:ext cx="6364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메타데이터를 청크마다 복사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673352" y="3483864"/>
            <a:ext cx="4014216" cy="841248"/>
          </a:xfrm>
          <a:prstGeom prst="rect">
            <a:avLst/>
          </a:prstGeom>
          <a:solidFill>
            <a:srgbClr val="EEF3FA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358444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문서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856232" y="3977640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약관.pdf   page: 12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685032" y="4334256"/>
            <a:ext cx="0" cy="210312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4544568"/>
            <a:ext cx="3493008" cy="0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8528" y="4544568"/>
            <a:ext cx="0" cy="210312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31536" y="4544568"/>
            <a:ext cx="0" cy="210312"/>
          </a:xfrm>
          <a:prstGeom prst="line">
            <a:avLst/>
          </a:prstGeom>
          <a:noFill/>
          <a:ln w="1778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9496" y="4800600"/>
            <a:ext cx="2798064" cy="1124712"/>
          </a:xfrm>
          <a:prstGeom prst="rect">
            <a:avLst/>
          </a:prstGeom>
          <a:solidFill>
            <a:srgbClr val="FFFFFF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" y="4800600"/>
            <a:ext cx="2798064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83717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source·page 유지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" y="531266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본문 A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032504" y="4800600"/>
            <a:ext cx="2798064" cy="1124712"/>
          </a:xfrm>
          <a:prstGeom prst="rect">
            <a:avLst/>
          </a:prstGeom>
          <a:solidFill>
            <a:srgbClr val="FFFFFF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32504" y="4800600"/>
            <a:ext cx="2798064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483717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source·page 유지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23944" y="531266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본문 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2064" y="6053328"/>
            <a:ext cx="6364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구분자 우선순위를 정하고, 긴 단위를 더 나눕니다.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18120" y="2414016"/>
            <a:ext cx="6300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818120" y="2907792"/>
            <a:ext cx="6300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Contextual Retrieval: 청크 문맥 보강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7818120" y="3483864"/>
            <a:ext cx="2587752" cy="667512"/>
          </a:xfrm>
          <a:prstGeom prst="rect">
            <a:avLst/>
          </a:prstGeom>
          <a:solidFill>
            <a:srgbClr val="EEF3FA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3630168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전체 + 해당 청크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515600" y="3813048"/>
            <a:ext cx="530352" cy="0"/>
          </a:xfrm>
          <a:prstGeom prst="line">
            <a:avLst/>
          </a:prstGeom>
          <a:noFill/>
          <a:ln w="2032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1155680" y="3483864"/>
            <a:ext cx="2962656" cy="667512"/>
          </a:xfrm>
          <a:prstGeom prst="rect">
            <a:avLst/>
          </a:prstGeom>
          <a:solidFill>
            <a:srgbClr val="EEF3FA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65408" y="36301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문맥 설명 생성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637008" y="4160520"/>
            <a:ext cx="0" cy="201168"/>
          </a:xfrm>
          <a:prstGeom prst="line">
            <a:avLst/>
          </a:prstGeom>
          <a:noFill/>
          <a:ln w="2032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818120" y="4425696"/>
            <a:ext cx="6300216" cy="1005840"/>
          </a:xfrm>
          <a:prstGeom prst="rect">
            <a:avLst/>
          </a:prstGeom>
          <a:solidFill>
            <a:srgbClr val="FFFFFF"/>
          </a:solidFill>
          <a:ln w="13970">
            <a:solidFill>
              <a:srgbClr val="1E2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18120" y="4425696"/>
            <a:ext cx="6300216" cy="493776"/>
          </a:xfrm>
          <a:prstGeom prst="rect">
            <a:avLst/>
          </a:prstGeom>
          <a:solidFill>
            <a:srgbClr val="E2EEF9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4507992"/>
            <a:ext cx="5934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문맥 설명  (보통 50 ~ 100토큰)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001000" y="5020056"/>
            <a:ext cx="5934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청크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10972800" y="5449824"/>
            <a:ext cx="0" cy="201168"/>
          </a:xfrm>
          <a:prstGeom prst="line">
            <a:avLst/>
          </a:prstGeom>
          <a:noFill/>
          <a:ln w="2032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7818120" y="5742432"/>
            <a:ext cx="6300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문맥 설명을 앞에 붙여 임베딩·BM25 색인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818120" y="6153912"/>
            <a:ext cx="6300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청크가 문서의 어떤 내용을 다루는지 보완합니다.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512064" y="6601968"/>
            <a:ext cx="13606272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6848856"/>
            <a:ext cx="3447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Azure AI Search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4288536" y="6830568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512토큰, 중첩 128토큰(25%)에서 시작합니다.</a:t>
            </a:r>
            <a:endParaRPr lang="en-US" sz="2300" dirty="0"/>
          </a:p>
        </p:txBody>
      </p:sp>
      <p:sp>
        <p:nvSpPr>
          <p:cNvPr id="47" name="Text 45"/>
          <p:cNvSpPr/>
          <p:nvPr/>
        </p:nvSpPr>
        <p:spPr>
          <a:xfrm>
            <a:off x="4288536" y="7306056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구조와 평가 질문에 맞춰 크기와 중첩을 조정합니다.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design-agentic-ai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청킹 설계와 Best Practice</dc:title>
  <dc:subject>청크 구성과 청킹 설계 및 공식 사례</dc:subject>
  <dc:creator>design-agentic-ai</dc:creator>
  <cp:lastModifiedBy>design-agentic-ai</cp:lastModifiedBy>
  <cp:revision>1</cp:revision>
  <dcterms:created xsi:type="dcterms:W3CDTF">2026-10-01T12:25:17Z</dcterms:created>
  <dcterms:modified xsi:type="dcterms:W3CDTF">2026-10-01T12:25:17Z</dcterms:modified>
</cp:coreProperties>
</file>