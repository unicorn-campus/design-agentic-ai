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패턴을 미리 그려 둔 분기로 붙이면 워크플로우이고, 다음 행동을 LLM이 실행 중에 고르면 Agentic임. 기준은 '몇 개 합쳤나'가 아니라 '흐름의 운전대를 누가 잡았나'임.
예시 「올해 비용 면제와 포인트 적립 조건을 함께 알려주세요」: 계획에서 하위 질문 2개로 분해 → ① 연회비 면제 검색, 채점 정확 → ② 포인트 적립 검색, 채점 애매 → rewrite 후 재검색, 채점 정확 → 근거 모두 확보 → 답변 생성 → 근거 검증 통과.
지금 워크플로우는 질문을 미리 쪼개 한 번에 검색하지만, Agentic은 ②의 결과를 보고 나서 재검색을 고른다는 점이 다름.
분해는 질문 문장만 보고 판단 가능하므로 계획 단계에서 미리 수행. rewrite·HyDE·step-back은 결과가 나쁠 때만 의미가 있으므로 관찰 이후에 사용.
가드레일 1번이 가장 먼저 부딪히는 제약임. 도입 전 평가셋으로 정답 수와 LLM 호출 수를 함께 비교해야 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7754112"/>
            <a:ext cx="13624560" cy="18288"/>
          </a:xfrm>
          <a:prstGeom prst="rect">
            <a:avLst/>
          </a:prstGeom>
          <a:solidFill>
            <a:srgbClr val="E9ECF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8181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design-agentic-ai  ·  Agentic RAG 적용 방안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578840" y="781812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578840" y="781812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cna-bootcamp/aistudy/blob/main/agentic-ai/textbook/10.RAG.md" TargetMode="External"/><Relationship Id="rId2" Type="http://schemas.openxmlformats.org/officeDocument/2006/relationships/hyperlink" Target="https://arxiv.org/abs/2210.03629" TargetMode="External"/><Relationship Id="rId3" Type="http://schemas.openxmlformats.org/officeDocument/2006/relationships/hyperlink" Target="https://arxiv.org/abs/2403.14403" TargetMode="External"/><Relationship Id="rId4" Type="http://schemas.openxmlformats.org/officeDocument/2006/relationships/hyperlink" Target="https://docs.langchain.com/oss/python/langgraph/agentic-rag" TargetMode="External"/><Relationship Id="rId5" Type="http://schemas.openxmlformats.org/officeDocument/2006/relationships/hyperlink" Target="https://www.anthropic.com/engineering/building-effective-agents" TargetMode="Externa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Ⅲ. 문서 검색 아키텍처 › 4. Agentic RAG 적용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280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Agentic RAG 적용 방안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3624560" cy="36576"/>
          </a:xfrm>
          <a:prstGeom prst="rect">
            <a:avLst/>
          </a:prstGeom>
          <a:solidFill>
            <a:srgbClr val="D9E0E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389888"/>
            <a:ext cx="1920240" cy="36576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99616"/>
            <a:ext cx="1362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부품(검색·질문 변환·근거 검증)을 도구로 감싸고 에이전트가 골라 쓰게 함 — Self-RAG·Adaptive·CRAG는 판단과 도구 안으로 들어감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2057400"/>
            <a:ext cx="7589520" cy="45720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574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흐름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02920" y="2606040"/>
            <a:ext cx="7589520" cy="4590288"/>
          </a:xfrm>
          <a:prstGeom prst="roundRect">
            <a:avLst>
              <a:gd name="adj" fmla="val 1992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886200"/>
            <a:ext cx="3383280" cy="1801368"/>
          </a:xfrm>
          <a:prstGeom prst="roundRect">
            <a:avLst>
              <a:gd name="adj" fmla="val 4061"/>
            </a:avLst>
          </a:prstGeom>
          <a:solidFill>
            <a:srgbClr val="FFFFFF"/>
          </a:solidFill>
          <a:ln w="15875">
            <a:solidFill>
              <a:srgbClr val="404155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777240" y="39227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(상한 있음)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68880" y="3108960"/>
            <a:ext cx="0" cy="146304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468880" y="3712464"/>
            <a:ext cx="0" cy="54864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468880" y="4626864"/>
            <a:ext cx="0" cy="109728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468880" y="5102352"/>
            <a:ext cx="0" cy="109728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468880" y="5577840"/>
            <a:ext cx="0" cy="27432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468880" y="6217920"/>
            <a:ext cx="0" cy="128016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51560" y="2743200"/>
            <a:ext cx="28346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1E2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24712" y="2743200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+ 역할(agent/auditor)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51560" y="3255264"/>
            <a:ext cx="2834640" cy="45720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 w="15875">
            <a:solidFill>
              <a:srgbClr val="1E2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24712" y="3255264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 — 질문 분석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051560" y="4261104"/>
            <a:ext cx="28346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1E2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24712" y="4261104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행동 </a:t>
            </a:r>
            <a:pPr algn="ctr" indent="0" marL="0">
              <a:buNone/>
            </a:pPr>
            <a:r>
              <a:rPr lang="en-US" sz="15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search_docs 호출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051560" y="4736592"/>
            <a:ext cx="28346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1E2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24712" y="4736592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 </a:t>
            </a:r>
            <a:pPr algn="ctr" indent="0" marL="0">
              <a:buNone/>
            </a:pPr>
            <a:r>
              <a:rPr lang="en-US" sz="15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grade_results 채점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051560" y="5212080"/>
            <a:ext cx="28346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1E2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24712" y="5212080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</a:t>
            </a:r>
            <a:pPr algn="ctr" indent="0" marL="0">
              <a:buNone/>
            </a:pPr>
            <a:r>
              <a:rPr lang="en-US" sz="15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근거를 다 모았나?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051560" y="5852160"/>
            <a:ext cx="28346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1E2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24712" y="5852160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 생성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051560" y="6345936"/>
            <a:ext cx="28346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1E2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24712" y="6345936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검증 </a:t>
            </a:r>
            <a:pPr algn="ctr" indent="0" marL="0">
              <a:buNone/>
            </a:pPr>
            <a:r>
              <a:rPr lang="en-US" sz="15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verify_evidence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 flipH="1">
            <a:off x="850392" y="5394960"/>
            <a:ext cx="201168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850392" y="4443984"/>
            <a:ext cx="0" cy="950976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0392" y="4443984"/>
            <a:ext cx="201168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H="1">
            <a:off x="850392" y="6528816"/>
            <a:ext cx="201168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 flipV="1">
            <a:off x="850392" y="6035040"/>
            <a:ext cx="0" cy="493776"/>
          </a:xfrm>
          <a:prstGeom prst="line">
            <a:avLst/>
          </a:prstGeom>
          <a:noFill/>
          <a:ln w="19050">
            <a:solidFill>
              <a:srgbClr val="4A5364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850392" y="6035040"/>
            <a:ext cx="201168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dash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206240" y="3090672"/>
            <a:ext cx="3703320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C3CE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79392" y="3090672"/>
            <a:ext cx="35570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Self-RAG  </a:t>
            </a:r>
            <a:pPr algn="l"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인사·잡담은 검색 없이 답변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Adaptive  </a:t>
            </a:r>
            <a:pPr algn="l"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복합 질문 → 미리 분해(+원 질문)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3886200" y="3483864"/>
            <a:ext cx="320040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206240" y="4206240"/>
            <a:ext cx="370332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5875">
            <a:solidFill>
              <a:srgbClr val="C3CE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79392" y="4206240"/>
            <a:ext cx="355701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CRAG  </a:t>
            </a:r>
            <a:pPr algn="l"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채점 결과에 따라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 → 근거로 쌓음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애매 → transform_query(rewrite) 후 재검색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부정확 → web_search(선택) / 근거 부족 표시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3886200" y="4919472"/>
            <a:ext cx="320040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206240" y="5358384"/>
            <a:ext cx="3703320" cy="329184"/>
          </a:xfrm>
          <a:prstGeom prst="roundRect">
            <a:avLst>
              <a:gd name="adj" fmla="val 16667"/>
            </a:avLst>
          </a:prstGeom>
          <a:solidFill>
            <a:srgbClr val="F5F8FC"/>
          </a:solidFill>
          <a:ln w="15875">
            <a:solidFill>
              <a:srgbClr val="D9E0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79392" y="5358384"/>
            <a:ext cx="3557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아니오 </a:t>
            </a:r>
            <a:pPr algn="l"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다음 질문(Multi-hop)  ·  </a:t>
            </a:r>
            <a:pPr algn="l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 </a:t>
            </a:r>
            <a:pPr algn="l"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답변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4206240" y="6345936"/>
            <a:ext cx="2036826" cy="365760"/>
          </a:xfrm>
          <a:prstGeom prst="roundRect">
            <a:avLst>
              <a:gd name="adj" fmla="val 15000"/>
            </a:avLst>
          </a:prstGeom>
          <a:solidFill>
            <a:srgbClr val="F5F8FC"/>
          </a:solidFill>
          <a:ln w="15875">
            <a:solidFill>
              <a:srgbClr val="1E2A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79392" y="6345936"/>
            <a:ext cx="18905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답변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3886200" y="6528816"/>
            <a:ext cx="320040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3904488" y="61264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통과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85800" y="678484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↺ 실패 시 답변 재작성(최대 2회)  ·  끝내 근거가 부족하면 </a:t>
            </a:r>
            <a:pPr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「확인 필요」로 종료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8366760" y="2057400"/>
            <a:ext cx="576072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/>
        </p:spPr>
      </p:sp>
      <p:sp>
        <p:nvSpPr>
          <p:cNvPr id="52" name="Text 50"/>
          <p:cNvSpPr/>
          <p:nvPr/>
        </p:nvSpPr>
        <p:spPr>
          <a:xfrm>
            <a:off x="8366760" y="2057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도구와 가드레일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8366760" y="2633472"/>
            <a:ext cx="5760720" cy="384048"/>
          </a:xfrm>
          <a:prstGeom prst="roundRect">
            <a:avLst>
              <a:gd name="adj" fmla="val 11905"/>
            </a:avLst>
          </a:prstGeom>
          <a:solidFill>
            <a:srgbClr val="404155"/>
          </a:solidFill>
          <a:ln/>
        </p:spPr>
      </p:sp>
      <p:sp>
        <p:nvSpPr>
          <p:cNvPr id="54" name="Text 52"/>
          <p:cNvSpPr/>
          <p:nvPr/>
        </p:nvSpPr>
        <p:spPr>
          <a:xfrm>
            <a:off x="8503920" y="263347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 — 기존 부품을 감쌈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0" y="3090672"/>
          <a:ext cx="57607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103120"/>
                <a:gridCol w="1371600"/>
                <a:gridCol w="6858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도구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하는 일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담당 패턴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search_docs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Vector·Hybrid·Rerank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검색 부품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기존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transform_query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재작성·분해 등 5종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CRAG·Adaptive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기존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grade_results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정확·애매·부정확 채점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CRAG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verify_evidence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인용문 원문 대조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Self-RAG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기존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web_search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문서 밖 정보 보충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CRAG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" name="Shape 53"/>
          <p:cNvSpPr/>
          <p:nvPr/>
        </p:nvSpPr>
        <p:spPr>
          <a:xfrm>
            <a:off x="8366760" y="5559552"/>
            <a:ext cx="5760720" cy="384048"/>
          </a:xfrm>
          <a:prstGeom prst="roundRect">
            <a:avLst>
              <a:gd name="adj" fmla="val 11905"/>
            </a:avLst>
          </a:prstGeom>
          <a:solidFill>
            <a:srgbClr val="404155"/>
          </a:solidFill>
          <a:ln/>
        </p:spPr>
      </p:sp>
      <p:sp>
        <p:nvSpPr>
          <p:cNvPr id="57" name="Text 54"/>
          <p:cNvSpPr/>
          <p:nvPr/>
        </p:nvSpPr>
        <p:spPr>
          <a:xfrm>
            <a:off x="8503920" y="555955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 시 반드시 붙일 가드레일</a:t>
            </a:r>
            <a:endParaRPr lang="en-US" sz="1500" dirty="0"/>
          </a:p>
        </p:txBody>
      </p:sp>
      <p:sp>
        <p:nvSpPr>
          <p:cNvPr id="58" name="Shape 55"/>
          <p:cNvSpPr/>
          <p:nvPr/>
        </p:nvSpPr>
        <p:spPr>
          <a:xfrm>
            <a:off x="8385048" y="6016752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1E2A5C"/>
          </a:solidFill>
          <a:ln/>
        </p:spPr>
      </p:sp>
      <p:sp>
        <p:nvSpPr>
          <p:cNvPr id="59" name="Text 56"/>
          <p:cNvSpPr/>
          <p:nvPr/>
        </p:nvSpPr>
        <p:spPr>
          <a:xfrm>
            <a:off x="8385048" y="601675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60" name="Text 57"/>
          <p:cNvSpPr/>
          <p:nvPr/>
        </p:nvSpPr>
        <p:spPr>
          <a:xfrm>
            <a:off x="8714232" y="5998464"/>
            <a:ext cx="5413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호출 상한 재설정</a:t>
            </a:r>
            <a:pPr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현재 요청당 2회로는 루프가 못 돎</a:t>
            </a:r>
            <a:endParaRPr lang="en-US" sz="1400" dirty="0"/>
          </a:p>
        </p:txBody>
      </p:sp>
      <p:sp>
        <p:nvSpPr>
          <p:cNvPr id="61" name="Shape 58"/>
          <p:cNvSpPr/>
          <p:nvPr/>
        </p:nvSpPr>
        <p:spPr>
          <a:xfrm>
            <a:off x="8385048" y="631850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2E74C6"/>
          </a:solidFill>
          <a:ln/>
        </p:spPr>
      </p:sp>
      <p:sp>
        <p:nvSpPr>
          <p:cNvPr id="62" name="Text 59"/>
          <p:cNvSpPr/>
          <p:nvPr/>
        </p:nvSpPr>
        <p:spPr>
          <a:xfrm>
            <a:off x="8385048" y="631850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63" name="Text 60"/>
          <p:cNvSpPr/>
          <p:nvPr/>
        </p:nvSpPr>
        <p:spPr>
          <a:xfrm>
            <a:off x="8714232" y="6300216"/>
            <a:ext cx="5413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권한은 도구 안에서 강제</a:t>
            </a:r>
            <a:pPr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LLM이 판단하지 않고 서버(인증값)가 권한 주입</a:t>
            </a:r>
            <a:endParaRPr lang="en-US" sz="1400" dirty="0"/>
          </a:p>
        </p:txBody>
      </p:sp>
      <p:sp>
        <p:nvSpPr>
          <p:cNvPr id="64" name="Shape 61"/>
          <p:cNvSpPr/>
          <p:nvPr/>
        </p:nvSpPr>
        <p:spPr>
          <a:xfrm>
            <a:off x="8385048" y="6620256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2E74C6"/>
          </a:solidFill>
          <a:ln/>
        </p:spPr>
      </p:sp>
      <p:sp>
        <p:nvSpPr>
          <p:cNvPr id="65" name="Text 62"/>
          <p:cNvSpPr/>
          <p:nvPr/>
        </p:nvSpPr>
        <p:spPr>
          <a:xfrm>
            <a:off x="8385048" y="662025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66" name="Text 63"/>
          <p:cNvSpPr/>
          <p:nvPr/>
        </p:nvSpPr>
        <p:spPr>
          <a:xfrm>
            <a:off x="8714232" y="6601968"/>
            <a:ext cx="5413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결정적 관문 유지</a:t>
            </a:r>
            <a:pPr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점수 기준·인용문 대조는 규칙으로</a:t>
            </a:r>
            <a:endParaRPr lang="en-US" sz="1400" dirty="0"/>
          </a:p>
        </p:txBody>
      </p:sp>
      <p:sp>
        <p:nvSpPr>
          <p:cNvPr id="67" name="Shape 64"/>
          <p:cNvSpPr/>
          <p:nvPr/>
        </p:nvSpPr>
        <p:spPr>
          <a:xfrm>
            <a:off x="8385048" y="6922008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2E74C6"/>
          </a:solidFill>
          <a:ln/>
        </p:spPr>
      </p:sp>
      <p:sp>
        <p:nvSpPr>
          <p:cNvPr id="68" name="Text 65"/>
          <p:cNvSpPr/>
          <p:nvPr/>
        </p:nvSpPr>
        <p:spPr>
          <a:xfrm>
            <a:off x="8385048" y="692200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69" name="Text 66"/>
          <p:cNvSpPr/>
          <p:nvPr/>
        </p:nvSpPr>
        <p:spPr>
          <a:xfrm>
            <a:off x="8714232" y="6903720"/>
            <a:ext cx="5413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부족 시 「확인 필요」 종료</a:t>
            </a:r>
            <a:pPr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답을 지어내지 않음</a:t>
            </a:r>
            <a:endParaRPr lang="en-US" sz="1400" dirty="0"/>
          </a:p>
        </p:txBody>
      </p:sp>
      <p:sp>
        <p:nvSpPr>
          <p:cNvPr id="70" name="Text 67"/>
          <p:cNvSpPr/>
          <p:nvPr/>
        </p:nvSpPr>
        <p:spPr>
          <a:xfrm>
            <a:off x="502920" y="7296912"/>
            <a:ext cx="1362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 </a:t>
            </a:r>
            <a:pPr indent="0" marL="0">
              <a:buNone/>
            </a:pPr>
            <a:r>
              <a:rPr lang="en-US" sz="1400" u="sng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교재 「10. RAG」 5.4·5.5절</a:t>
            </a:r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</a:t>
            </a:r>
            <a:pPr indent="0" marL="0">
              <a:buNone/>
            </a:pPr>
            <a:r>
              <a:rPr lang="en-US" sz="1400" u="sng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ReAct, Yao et al.(2022)</a:t>
            </a:r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</a:t>
            </a:r>
            <a:pPr indent="0" marL="0">
              <a:buNone/>
            </a:pPr>
            <a:r>
              <a:rPr lang="en-US" sz="1400" u="sng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Adaptive-RAG, Jeong et al.(2024)</a:t>
            </a:r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</a:t>
            </a:r>
            <a:pPr indent="0" marL="0">
              <a:buNone/>
            </a:pPr>
            <a:r>
              <a:rPr lang="en-US" sz="1400" u="sng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LangGraph Agentic RAG</a:t>
            </a:r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</a:t>
            </a:r>
            <a:pPr indent="0" marL="0">
              <a:buNone/>
            </a:pPr>
            <a:r>
              <a:rPr lang="en-US" sz="1400" u="sng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Anthropic, Building effective agents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578840" y="781812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RAG 적용 방안</dc:title>
  <dc:subject>PptxGenJS Presentation</dc:subject>
  <dc:creator>PptxGenJS</dc:creator>
  <cp:lastModifiedBy>PptxGenJS</cp:lastModifiedBy>
  <cp:revision>1</cp:revision>
  <dcterms:created xsi:type="dcterms:W3CDTF">2026-10-02T07:52:13Z</dcterms:created>
  <dcterms:modified xsi:type="dcterms:W3CDTF">2026-10-02T07:52:13Z</dcterms:modified>
</cp:coreProperties>
</file>